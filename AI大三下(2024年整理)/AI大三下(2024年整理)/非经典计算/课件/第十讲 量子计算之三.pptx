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98"/>
  </p:handoutMasterIdLst>
  <p:sldIdLst>
    <p:sldId id="257" r:id="rId3"/>
    <p:sldId id="435" r:id="rId4"/>
    <p:sldId id="402" r:id="rId5"/>
    <p:sldId id="437" r:id="rId6"/>
    <p:sldId id="293" r:id="rId7"/>
    <p:sldId id="388" r:id="rId8"/>
    <p:sldId id="307" r:id="rId9"/>
    <p:sldId id="389" r:id="rId10"/>
    <p:sldId id="308" r:id="rId11"/>
    <p:sldId id="390" r:id="rId12"/>
    <p:sldId id="309" r:id="rId13"/>
    <p:sldId id="310" r:id="rId14"/>
    <p:sldId id="311" r:id="rId15"/>
    <p:sldId id="313" r:id="rId16"/>
    <p:sldId id="348" r:id="rId17"/>
    <p:sldId id="391" r:id="rId18"/>
    <p:sldId id="275" r:id="rId19"/>
    <p:sldId id="276" r:id="rId20"/>
    <p:sldId id="392" r:id="rId21"/>
    <p:sldId id="278" r:id="rId22"/>
    <p:sldId id="350" r:id="rId23"/>
    <p:sldId id="393" r:id="rId24"/>
    <p:sldId id="353" r:id="rId25"/>
    <p:sldId id="394" r:id="rId26"/>
    <p:sldId id="280" r:id="rId27"/>
    <p:sldId id="395" r:id="rId28"/>
    <p:sldId id="351" r:id="rId29"/>
    <p:sldId id="341" r:id="rId30"/>
    <p:sldId id="396" r:id="rId31"/>
    <p:sldId id="283" r:id="rId32"/>
    <p:sldId id="397" r:id="rId33"/>
    <p:sldId id="398" r:id="rId34"/>
    <p:sldId id="352" r:id="rId35"/>
    <p:sldId id="436" r:id="rId36"/>
    <p:sldId id="342" r:id="rId37"/>
    <p:sldId id="355" r:id="rId39"/>
    <p:sldId id="356" r:id="rId40"/>
    <p:sldId id="357" r:id="rId41"/>
    <p:sldId id="358" r:id="rId42"/>
    <p:sldId id="359" r:id="rId43"/>
    <p:sldId id="360" r:id="rId44"/>
    <p:sldId id="361" r:id="rId45"/>
    <p:sldId id="343" r:id="rId46"/>
    <p:sldId id="362" r:id="rId47"/>
    <p:sldId id="344" r:id="rId48"/>
    <p:sldId id="399" r:id="rId49"/>
    <p:sldId id="346" r:id="rId50"/>
    <p:sldId id="347" r:id="rId51"/>
    <p:sldId id="400" r:id="rId52"/>
    <p:sldId id="401" r:id="rId53"/>
    <p:sldId id="366" r:id="rId54"/>
    <p:sldId id="367" r:id="rId55"/>
    <p:sldId id="354" r:id="rId56"/>
    <p:sldId id="256" r:id="rId57"/>
    <p:sldId id="408" r:id="rId58"/>
    <p:sldId id="258" r:id="rId59"/>
    <p:sldId id="259" r:id="rId60"/>
    <p:sldId id="288" r:id="rId61"/>
    <p:sldId id="289" r:id="rId62"/>
    <p:sldId id="290" r:id="rId63"/>
    <p:sldId id="409" r:id="rId64"/>
    <p:sldId id="425" r:id="rId65"/>
    <p:sldId id="426" r:id="rId66"/>
    <p:sldId id="410" r:id="rId67"/>
    <p:sldId id="411" r:id="rId68"/>
    <p:sldId id="412" r:id="rId69"/>
    <p:sldId id="413" r:id="rId70"/>
    <p:sldId id="286" r:id="rId71"/>
    <p:sldId id="287" r:id="rId72"/>
    <p:sldId id="292" r:id="rId73"/>
    <p:sldId id="430" r:id="rId74"/>
    <p:sldId id="429" r:id="rId75"/>
    <p:sldId id="431" r:id="rId76"/>
    <p:sldId id="432" r:id="rId77"/>
    <p:sldId id="433" r:id="rId78"/>
    <p:sldId id="434" r:id="rId79"/>
    <p:sldId id="291" r:id="rId80"/>
    <p:sldId id="260" r:id="rId81"/>
    <p:sldId id="261" r:id="rId82"/>
    <p:sldId id="262" r:id="rId83"/>
    <p:sldId id="263" r:id="rId84"/>
    <p:sldId id="414" r:id="rId85"/>
    <p:sldId id="415" r:id="rId86"/>
    <p:sldId id="416" r:id="rId87"/>
    <p:sldId id="417" r:id="rId88"/>
    <p:sldId id="418" r:id="rId89"/>
    <p:sldId id="419" r:id="rId90"/>
    <p:sldId id="420" r:id="rId91"/>
    <p:sldId id="421" r:id="rId92"/>
    <p:sldId id="422" r:id="rId93"/>
    <p:sldId id="423" r:id="rId94"/>
    <p:sldId id="424" r:id="rId95"/>
    <p:sldId id="428" r:id="rId96"/>
    <p:sldId id="527" r:id="rId97"/>
  </p:sldIdLst>
  <p:sldSz cx="9144000" cy="6858000" type="screen4x3"/>
  <p:notesSz cx="6797675" cy="9928225"/>
  <p:custDataLst>
    <p:tags r:id="rId102"/>
  </p:custDataLst>
  <p:defaultTextStyle>
    <a:defPPr>
      <a:defRPr lang="zh-CN"/>
    </a:defPPr>
    <a:lvl1pPr algn="ctr" rtl="0" fontAlgn="base">
      <a:spcBef>
        <a:spcPct val="0"/>
      </a:spcBef>
      <a:spcAft>
        <a:spcPct val="0"/>
      </a:spcAft>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5pPr>
    <a:lvl6pPr marL="2286000" algn="l" defTabSz="914400" rtl="0" eaLnBrk="1" latinLnBrk="0" hangingPunct="1">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6pPr>
    <a:lvl7pPr marL="2743200" algn="l" defTabSz="914400" rtl="0" eaLnBrk="1" latinLnBrk="0" hangingPunct="1">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7pPr>
    <a:lvl8pPr marL="3200400" algn="l" defTabSz="914400" rtl="0" eaLnBrk="1" latinLnBrk="0" hangingPunct="1">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8pPr>
    <a:lvl9pPr marL="3657600" algn="l" defTabSz="914400" rtl="0" eaLnBrk="1" latinLnBrk="0" hangingPunct="1">
      <a:defRPr sz="4800" kern="120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3300"/>
    <a:srgbClr val="F8F8F8"/>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46" autoAdjust="0"/>
    <p:restoredTop sz="71278" autoAdjust="0"/>
  </p:normalViewPr>
  <p:slideViewPr>
    <p:cSldViewPr>
      <p:cViewPr>
        <p:scale>
          <a:sx n="50" d="100"/>
          <a:sy n="50" d="100"/>
        </p:scale>
        <p:origin x="3930" y="74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1308"/>
    </p:cViewPr>
  </p:sorterViewPr>
  <p:notesViewPr>
    <p:cSldViewPr>
      <p:cViewPr varScale="1">
        <p:scale>
          <a:sx n="69" d="100"/>
          <a:sy n="69" d="100"/>
        </p:scale>
        <p:origin x="-3258"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gs" Target="tags/tag2.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200">
                <a:solidFill>
                  <a:schemeClr val="tx1"/>
                </a:solidFill>
                <a:effectLst/>
              </a:defRPr>
            </a:lvl1pPr>
          </a:lstStyle>
          <a:p>
            <a:pPr>
              <a:defRPr/>
            </a:pPr>
            <a:endParaRPr lang="en-US" altLang="zh-CN"/>
          </a:p>
        </p:txBody>
      </p:sp>
      <p:sp>
        <p:nvSpPr>
          <p:cNvPr id="75779" name="Rectangle 3"/>
          <p:cNvSpPr>
            <a:spLocks noGrp="1" noChangeArrowheads="1"/>
          </p:cNvSpPr>
          <p:nvPr>
            <p:ph type="dt" sz="quarter" idx="1"/>
          </p:nvPr>
        </p:nvSpPr>
        <p:spPr bwMode="auto">
          <a:xfrm>
            <a:off x="3850443" y="0"/>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solidFill>
                  <a:schemeClr val="tx1"/>
                </a:solidFill>
                <a:effectLst/>
              </a:defRPr>
            </a:lvl1pPr>
          </a:lstStyle>
          <a:p>
            <a:pPr>
              <a:defRPr/>
            </a:pPr>
            <a:endParaRPr lang="en-US" altLang="zh-CN"/>
          </a:p>
        </p:txBody>
      </p:sp>
      <p:sp>
        <p:nvSpPr>
          <p:cNvPr id="75780" name="Rectangle 4"/>
          <p:cNvSpPr>
            <a:spLocks noGrp="1" noChangeArrowheads="1"/>
          </p:cNvSpPr>
          <p:nvPr>
            <p:ph type="ftr" sz="quarter" idx="2"/>
          </p:nvPr>
        </p:nvSpPr>
        <p:spPr bwMode="auto">
          <a:xfrm>
            <a:off x="0"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sz="1200">
                <a:solidFill>
                  <a:schemeClr val="tx1"/>
                </a:solidFill>
                <a:effectLst/>
              </a:defRPr>
            </a:lvl1pPr>
          </a:lstStyle>
          <a:p>
            <a:pPr>
              <a:defRPr/>
            </a:pPr>
            <a:endParaRPr lang="en-US" altLang="zh-CN"/>
          </a:p>
        </p:txBody>
      </p:sp>
      <p:sp>
        <p:nvSpPr>
          <p:cNvPr id="75781" name="Rectangle 5"/>
          <p:cNvSpPr>
            <a:spLocks noGrp="1" noChangeArrowheads="1"/>
          </p:cNvSpPr>
          <p:nvPr>
            <p:ph type="sldNum" sz="quarter" idx="3"/>
          </p:nvPr>
        </p:nvSpPr>
        <p:spPr bwMode="auto">
          <a:xfrm>
            <a:off x="3850443" y="9430091"/>
            <a:ext cx="2945659"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solidFill>
                  <a:schemeClr val="tx1"/>
                </a:solidFill>
                <a:effectLst/>
              </a:defRPr>
            </a:lvl1pPr>
          </a:lstStyle>
          <a:p>
            <a:pPr>
              <a:defRPr/>
            </a:pPr>
            <a:fld id="{750147A0-95B9-4C91-8DC7-F31BB9DBFDD8}"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pPr>
              <a:defRPr/>
            </a:pPr>
            <a:fld id="{6A722712-C3DE-4AED-854C-A663D1367D41}"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pPr>
              <a:defRPr/>
            </a:pPr>
            <a:fld id="{F4CB781F-E8A7-44DB-A06F-347A98304830}"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模仿游戏，我们的祖师爷图灵破译</a:t>
            </a:r>
            <a:r>
              <a:rPr lang="en-US" altLang="zh-CN" dirty="0"/>
              <a:t>Enigma</a:t>
            </a:r>
            <a:r>
              <a:rPr lang="zh-CN" altLang="en-US" dirty="0"/>
              <a:t>。现代密码已经发生了翻天覆地的变化，现在先把要发送的信息变成数字，然后再随机弄一个加密的密匙，用加密算法把密匙和要发送的信息给变换一下，或者说搅在一起。这样，即便别人把这段密文拿到了，也不知道他在说什么。接受密码的一方呢，有一个解密的密匙，他用这个密匙在配合解密算法，就可以把信息还原出来。如果中间的人一直弄不出来内容，或者花了好大劲弄出来，但是时效性也过了，那这个加密就是成功的了。</a:t>
            </a:r>
            <a:endParaRPr lang="en-US" altLang="zh-CN" dirty="0"/>
          </a:p>
          <a:p>
            <a:endParaRPr lang="en-US" altLang="zh-CN" dirty="0"/>
          </a:p>
          <a:p>
            <a:r>
              <a:rPr lang="zh-CN" altLang="en-US" dirty="0"/>
              <a:t>目前这个加密分两个体系，一个是对称密钥，读。。。加密的地方，用一组数字，进行加密，到了目的地，用相同的一组数字就可以解开米密文。。间谍能不能破呢？如果你加密的手段很弱，或者间谍都是比图灵还厉害，那时有可能，但是，现在的手法是什么：用二进制密匙与明文异或得到密文，这里必须等长，然后再用相同的二进制密匙，跟密文异或，这样就得到内容了。我们数字逻辑考过这个东西（是什么？格雷码），每个密匙用一次后销毁掉；数学上证明，就是拥有无限的计算资源，也搞不定。就是用量子计算机，也搞不定。</a:t>
            </a:r>
            <a:endParaRPr lang="en-US" altLang="zh-CN" dirty="0"/>
          </a:p>
          <a:p>
            <a:r>
              <a:rPr lang="zh-CN" altLang="en-US" dirty="0"/>
              <a:t>问题是什么：需要大量的密钥，可以用密码本的形式来保存，但是一次一密消耗太大了，用完了，怎么办，要寄过去，寄过来，我可以复制呀，经典密码本，都可以复制的呀，所以，虽然不可破，数学上完备，但是运行起来有漏洞。</a:t>
            </a:r>
            <a:endParaRPr lang="en-US" altLang="zh-CN" dirty="0"/>
          </a:p>
          <a:p>
            <a:endParaRPr lang="en-US" altLang="zh-CN" dirty="0"/>
          </a:p>
          <a:p>
            <a:r>
              <a:rPr lang="zh-CN" altLang="en-US" dirty="0"/>
              <a:t>有没有不需要密钥更换的方式呢。非对称方式，加密，解密不相同。有一个公开密钥，接收方有个只有自己才知道的密钥，用公开密钥加密，然后用非公开解密。有没有可能在知道，公开密钥和算法的情况下，猜出不公开的密钥。</a:t>
            </a:r>
            <a:endParaRPr lang="en-US" altLang="zh-CN" dirty="0"/>
          </a:p>
          <a:p>
            <a:r>
              <a:rPr lang="zh-CN" altLang="en-US" dirty="0"/>
              <a:t>理论上可以，但是需要非常大的计算资源。但是，但是，量子计算机出来了，这个就没有用啦。</a:t>
            </a:r>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129</a:t>
            </a:r>
            <a:r>
              <a:rPr lang="zh-CN" altLang="en-US" dirty="0"/>
              <a:t>位数，分解成</a:t>
            </a:r>
            <a:r>
              <a:rPr lang="en-US" altLang="zh-CN" dirty="0"/>
              <a:t>64</a:t>
            </a:r>
            <a:r>
              <a:rPr lang="zh-CN" altLang="en-US" dirty="0"/>
              <a:t>位素数*</a:t>
            </a:r>
            <a:r>
              <a:rPr lang="en-US" altLang="zh-CN" dirty="0"/>
              <a:t>64</a:t>
            </a:r>
            <a:r>
              <a:rPr lang="zh-CN" altLang="en-US" dirty="0"/>
              <a:t>素数</a:t>
            </a:r>
            <a:endParaRPr lang="en-US" altLang="zh-CN"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1977 400</a:t>
            </a:r>
            <a:r>
              <a:rPr lang="zh-CN" altLang="en-US" dirty="0"/>
              <a:t>万年</a:t>
            </a:r>
            <a:endParaRPr lang="zh-CN" altLang="en-US"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为了应对量子计算机的破解能力，我们需要无条件安全，一次一密，</a:t>
            </a:r>
            <a:endParaRPr lang="en-US" altLang="zh-CN" dirty="0"/>
          </a:p>
          <a:p>
            <a:endParaRPr lang="en-US" altLang="zh-CN" dirty="0"/>
          </a:p>
          <a:p>
            <a:r>
              <a:rPr lang="zh-CN" altLang="en-US" dirty="0"/>
              <a:t>还要应对密码本的传递，也就是密钥的分发问题，还们还要借助量子力学的力量</a:t>
            </a:r>
            <a:endParaRPr lang="en-US" altLang="zh-CN" dirty="0"/>
          </a:p>
          <a:p>
            <a:endParaRPr lang="en-US" altLang="zh-CN" dirty="0"/>
          </a:p>
          <a:p>
            <a:r>
              <a:rPr lang="zh-CN" altLang="en-US" dirty="0"/>
              <a:t>问题集中在了密钥的传递上，</a:t>
            </a:r>
            <a:endParaRPr lang="en-US" altLang="zh-CN" dirty="0"/>
          </a:p>
          <a:p>
            <a:endParaRPr lang="en-US" altLang="zh-CN" dirty="0"/>
          </a:p>
          <a:p>
            <a:r>
              <a:rPr lang="zh-CN" altLang="en-US" dirty="0"/>
              <a:t>有了测不准原理，无论接受者和间谍都不知道我具体要传递的是什么，</a:t>
            </a:r>
            <a:endParaRPr lang="en-US" altLang="zh-CN" dirty="0"/>
          </a:p>
          <a:p>
            <a:r>
              <a:rPr lang="zh-CN" altLang="en-US" dirty="0"/>
              <a:t>有了无法克隆，或者说坍缩性质，要传递的量子无法被复制，即便被复制了也被被探出出来。  这样招就了，绝对安全的加密方法。量子计算机也搞不定啊 </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第一个已经放弃了</a:t>
            </a:r>
            <a:endParaRPr lang="en-US" altLang="zh-CN" dirty="0"/>
          </a:p>
          <a:p>
            <a:endParaRPr lang="en-US" altLang="zh-CN" dirty="0"/>
          </a:p>
          <a:p>
            <a:r>
              <a:rPr lang="zh-CN" altLang="en-US" dirty="0"/>
              <a:t>第二已经成功了</a:t>
            </a:r>
            <a:endParaRPr lang="en-US" altLang="zh-CN" dirty="0"/>
          </a:p>
          <a:p>
            <a:endParaRPr lang="en-US" altLang="zh-CN" dirty="0"/>
          </a:p>
          <a:p>
            <a:r>
              <a:rPr lang="zh-CN" altLang="en-US" dirty="0"/>
              <a:t>第三个如果实现现有的经典计算机可以容易集成</a:t>
            </a:r>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国科学院在上海举办了新闻发布会，宣布了一个振奋人心的消息：世界上第一台超越早期经典计算机的光量子计算机诞生了。而它的研发者，是中国科学技术大学潘建伟教授及其同事陆朝阳、朱晓波等，其中还包含了与浙江大学王浩华教授研究组联合攻关突破的成果。</a:t>
            </a:r>
            <a:endParaRPr lang="zh-CN" altLang="en-US" dirty="0"/>
          </a:p>
          <a:p>
            <a:endParaRPr lang="zh-CN" altLang="en-US" dirty="0"/>
          </a:p>
          <a:p>
            <a:r>
              <a:rPr lang="zh-CN" altLang="en-US" dirty="0"/>
              <a:t>我们可以自豪地说，在量子计算机这条路上，中国走在了世界最前沿！</a:t>
            </a:r>
            <a:endParaRPr lang="zh-CN" altLang="en-US" dirty="0"/>
          </a:p>
          <a:p>
            <a:endParaRPr lang="zh-CN" altLang="en-US" dirty="0"/>
          </a:p>
          <a:p>
            <a:r>
              <a:rPr lang="zh-CN" altLang="en-US" dirty="0"/>
              <a:t>据说这台计算机的取样速度比国际同行类似的实验加快至少</a:t>
            </a:r>
            <a:r>
              <a:rPr lang="en-US" altLang="zh-CN" dirty="0"/>
              <a:t>24000</a:t>
            </a:r>
            <a:r>
              <a:rPr lang="zh-CN" altLang="en-US" dirty="0"/>
              <a:t>倍，超过了人类历史上第一台电子管计算机</a:t>
            </a:r>
            <a:r>
              <a:rPr lang="en-US" altLang="zh-CN" dirty="0"/>
              <a:t>(ENIAC)</a:t>
            </a:r>
            <a:r>
              <a:rPr lang="zh-CN" altLang="en-US" dirty="0"/>
              <a:t>和第一台晶体管计算机</a:t>
            </a:r>
            <a:r>
              <a:rPr lang="en-US" altLang="zh-CN" dirty="0"/>
              <a:t>(TRADIC)</a:t>
            </a:r>
            <a:r>
              <a:rPr lang="zh-CN" altLang="en-US" dirty="0"/>
              <a:t>的运行速度，这也是量子计算机第一次真正超越了经典电子计算机的计算能力。</a:t>
            </a:r>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r>
              <a:rPr lang="zh-CN" altLang="en-US" dirty="0"/>
              <a:t>量子芯片：硬件，用什么物理体系来做量子芯片，来实现量子运算。</a:t>
            </a:r>
            <a:endParaRPr lang="en-US" altLang="zh-CN" dirty="0"/>
          </a:p>
          <a:p>
            <a:endParaRPr lang="en-US" altLang="zh-CN" dirty="0"/>
          </a:p>
          <a:p>
            <a:r>
              <a:rPr lang="zh-CN" altLang="en-US" dirty="0"/>
              <a:t>第二个编码，我们学到的二进制编码，就是在经典计算机中的用处，我的计算机都是用晶体管来实现的，最基本的运算就是电路的通和断，带来的是电路中产生高电平和低电平，没有办法直接用十进制数来计算，我们人用十进制数来算，是因为我们有十个手指头。量子计算，用的是量子相干性，叠加啊，纠缠啊。但是量子相干性非常脆弱。所以要用特定的编码来做。</a:t>
            </a:r>
            <a:endParaRPr lang="en-US" altLang="zh-CN" dirty="0"/>
          </a:p>
          <a:p>
            <a:endParaRPr lang="en-US" altLang="zh-CN" dirty="0"/>
          </a:p>
          <a:p>
            <a:r>
              <a:rPr lang="zh-CN" altLang="en-US" dirty="0"/>
              <a:t>算法不用说了，学就学了两种算法了，但是学了算法没用啊，现在都是模拟的，用经典计算机模拟的，我这边有个问题问同学，量子遗传算法，为什么效果好啊，我再经典计算下面做的，为什么模拟一下量子就效果好了呢？</a:t>
            </a:r>
            <a:endParaRPr lang="en-US" altLang="zh-CN" dirty="0"/>
          </a:p>
          <a:p>
            <a:endParaRPr lang="en-US" altLang="zh-CN" dirty="0"/>
          </a:p>
          <a:p>
            <a:r>
              <a:rPr lang="zh-CN" altLang="en-US" dirty="0"/>
              <a:t>所以，目前有两大问题我们还过不去，一个是硬件，一个是编码</a:t>
            </a:r>
            <a:endParaRPr lang="en-US" altLang="zh-CN" dirty="0"/>
          </a:p>
        </p:txBody>
      </p:sp>
      <p:sp>
        <p:nvSpPr>
          <p:cNvPr id="4" name="灯片编号占位符 3"/>
          <p:cNvSpPr>
            <a:spLocks noGrp="1"/>
          </p:cNvSpPr>
          <p:nvPr>
            <p:ph type="sldNum" sz="quarter" idx="10"/>
          </p:nvPr>
        </p:nvSpPr>
        <p:spPr/>
        <p:txBody>
          <a:bodyPr/>
          <a:lstStyle/>
          <a:p>
            <a:fld id="{74E2F847-C977-412E-9F77-BD3B845BAB7C}"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，太大，不好实现</a:t>
            </a:r>
            <a:endParaRPr lang="en-US" altLang="zh-CN" dirty="0"/>
          </a:p>
          <a:p>
            <a:r>
              <a:rPr lang="en-US" altLang="zh-CN" dirty="0"/>
              <a:t>2</a:t>
            </a:r>
            <a:r>
              <a:rPr lang="zh-CN" altLang="en-US" dirty="0"/>
              <a:t>，做小型的可以，多了很难扩展，所以多是演示，</a:t>
            </a:r>
            <a:r>
              <a:rPr lang="en-US" altLang="zh-CN" dirty="0"/>
              <a:t>10</a:t>
            </a:r>
            <a:r>
              <a:rPr lang="zh-CN" altLang="en-US" dirty="0"/>
              <a:t>个，十几个很好做，再多，就不行了</a:t>
            </a:r>
            <a:endParaRPr lang="en-US" altLang="zh-CN" dirty="0"/>
          </a:p>
          <a:p>
            <a:r>
              <a:rPr lang="en-US" altLang="zh-CN" dirty="0"/>
              <a:t>3. </a:t>
            </a:r>
            <a:r>
              <a:rPr lang="zh-CN" altLang="en-US" dirty="0"/>
              <a:t>在高纯度的桂中，掺加自旋为</a:t>
            </a:r>
            <a:r>
              <a:rPr lang="en-US" altLang="zh-CN" dirty="0"/>
              <a:t>1/2</a:t>
            </a:r>
            <a:r>
              <a:rPr lang="zh-CN" altLang="en-US" dirty="0"/>
              <a:t>的粒子，用电来操作。可以理工高效的半导体技术</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另外，这次研究团队自主研发了</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比特超导量子线路样品，通过发展全局纠缠操作，成功实现了目前世界上最大数目的超导量子比特的纠缠和完整的测量。更进一步的是，研究团队利用超导量子线路演示了求解线性方程组的量子算法，证明了通过量子计算的并行性加速求解线性方程组的可行性。</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个比特超导线路，也让该团队在超导体系打破了之前由谷歌、美国航天航空局和加州大学圣芭芭拉分校创下的</a:t>
            </a:r>
            <a:r>
              <a:rPr lang="en-US" altLang="zh-CN" sz="1200" b="0" i="0" kern="1200" dirty="0">
                <a:solidFill>
                  <a:schemeClr val="tx1"/>
                </a:solidFill>
                <a:effectLst/>
                <a:latin typeface="+mn-lt"/>
                <a:ea typeface="+mn-ea"/>
                <a:cs typeface="+mn-cs"/>
              </a:rPr>
              <a:t>9</a:t>
            </a:r>
            <a:r>
              <a:rPr lang="zh-CN" altLang="en-US" sz="1200" b="0" i="0" kern="1200" dirty="0">
                <a:solidFill>
                  <a:schemeClr val="tx1"/>
                </a:solidFill>
                <a:effectLst/>
                <a:latin typeface="+mn-lt"/>
                <a:ea typeface="+mn-ea"/>
                <a:cs typeface="+mn-cs"/>
              </a:rPr>
              <a:t>个超导量子比特的操纵记录</a:t>
            </a:r>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经过努力，潘建伟教授及其同事陆朝阳、朱晓波等，联合浙江大学王浩华教授研究组，把比特数目扩展到</a:t>
            </a:r>
            <a:r>
              <a:rPr lang="en-US" altLang="zh-CN" dirty="0"/>
              <a:t>10</a:t>
            </a:r>
            <a:r>
              <a:rPr lang="zh-CN" altLang="en-US" dirty="0"/>
              <a:t>个，并制备了</a:t>
            </a:r>
            <a:r>
              <a:rPr lang="en-US" altLang="zh-CN" dirty="0"/>
              <a:t>10</a:t>
            </a:r>
            <a:r>
              <a:rPr lang="zh-CN" altLang="en-US" dirty="0"/>
              <a:t>比特的纠缠</a:t>
            </a:r>
            <a:r>
              <a:rPr lang="en-US" altLang="zh-CN" dirty="0"/>
              <a:t>GHZ</a:t>
            </a:r>
            <a:r>
              <a:rPr lang="zh-CN" altLang="en-US" dirty="0"/>
              <a:t>态，保真度大于</a:t>
            </a:r>
            <a:r>
              <a:rPr lang="en-US" altLang="zh-CN" dirty="0"/>
              <a:t>66%</a:t>
            </a:r>
            <a:r>
              <a:rPr lang="zh-CN" altLang="en-US" dirty="0"/>
              <a:t>，据介绍，在目前公开的结果中，这是超导量子比特系统中纠缠的数目最多的。</a:t>
            </a:r>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问：有些同学讲了量子</a:t>
            </a:r>
            <a:r>
              <a:rPr lang="en-US" altLang="zh-CN" dirty="0"/>
              <a:t>GA</a:t>
            </a:r>
            <a:r>
              <a:rPr lang="zh-CN" altLang="en-US" dirty="0"/>
              <a:t>算法，为什么</a:t>
            </a:r>
            <a:endParaRPr lang="zh-CN" altLang="en-US" dirty="0"/>
          </a:p>
        </p:txBody>
      </p:sp>
      <p:sp>
        <p:nvSpPr>
          <p:cNvPr id="4" name="灯片编号占位符 3"/>
          <p:cNvSpPr>
            <a:spLocks noGrp="1"/>
          </p:cNvSpPr>
          <p:nvPr>
            <p:ph type="sldNum" sz="quarter" idx="10"/>
          </p:nvPr>
        </p:nvSpPr>
        <p:spPr/>
        <p:txBody>
          <a:bodyPr/>
          <a:lstStyle/>
          <a:p>
            <a:fld id="{907F5493-D7C5-43BF-9010-FFA98332901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4CB781F-E8A7-44DB-A06F-347A9830483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30" name="日期占位符 29"/>
          <p:cNvSpPr>
            <a:spLocks noGrp="1"/>
          </p:cNvSpPr>
          <p:nvPr>
            <p:ph type="dt" sz="half" idx="10"/>
          </p:nvPr>
        </p:nvSpPr>
        <p:spPr/>
        <p:txBody>
          <a:bodyPr/>
          <a:lstStyle/>
          <a:p>
            <a:pPr>
              <a:defRPr/>
            </a:pPr>
            <a:endParaRPr lang="en-US" altLang="zh-CN"/>
          </a:p>
        </p:txBody>
      </p:sp>
      <p:sp>
        <p:nvSpPr>
          <p:cNvPr id="19" name="页脚占位符 18"/>
          <p:cNvSpPr>
            <a:spLocks noGrp="1"/>
          </p:cNvSpPr>
          <p:nvPr>
            <p:ph type="ftr" sz="quarter" idx="11"/>
          </p:nvPr>
        </p:nvSpPr>
        <p:spPr/>
        <p:txBody>
          <a:bodyPr/>
          <a:lstStyle/>
          <a:p>
            <a:pPr>
              <a:defRPr/>
            </a:pPr>
            <a:endParaRPr lang="en-US" altLang="zh-CN"/>
          </a:p>
        </p:txBody>
      </p:sp>
      <p:sp>
        <p:nvSpPr>
          <p:cNvPr id="27" name="灯片编号占位符 26"/>
          <p:cNvSpPr>
            <a:spLocks noGrp="1"/>
          </p:cNvSpPr>
          <p:nvPr>
            <p:ph type="sldNum" sz="quarter" idx="12"/>
          </p:nvPr>
        </p:nvSpPr>
        <p:spPr/>
        <p:txBody>
          <a:bodyPr/>
          <a:lstStyle/>
          <a:p>
            <a:pPr>
              <a:defRPr/>
            </a:pPr>
            <a:fld id="{6F6FE2D5-F940-4583-A39A-2A7FF651BB83}" type="slidenum">
              <a:rPr lang="en-US" altLang="zh-CN" smtClean="0"/>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043BB144-F230-47BD-A8BC-D071FAFF0C4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pPr>
              <a:defRPr/>
            </a:pPr>
            <a:endParaRPr lang="en-US"/>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BE01CE94-45CF-4ADD-ABA9-BE1D367D73EA}"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a:defRPr/>
            </a:pPr>
            <a:endParaRPr lang="en-US"/>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CD7C04BF-4E08-4491-862D-7CAFB8F1A46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tIns="45720" anchor="b"/>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a:defRPr/>
            </a:pPr>
            <a:endParaRPr lang="en-US"/>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50E7CB49-FF37-4EB7-9744-DAEE10AA66F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en-US"/>
          </a:p>
        </p:txBody>
      </p:sp>
      <p:sp>
        <p:nvSpPr>
          <p:cNvPr id="4" name="页脚占位符 3"/>
          <p:cNvSpPr>
            <a:spLocks noGrp="1"/>
          </p:cNvSpPr>
          <p:nvPr>
            <p:ph type="ftr" sz="quarter" idx="11"/>
          </p:nvPr>
        </p:nvSpPr>
        <p:spPr/>
        <p:txBody>
          <a:bodyPr/>
          <a:lstStyle/>
          <a:p>
            <a:pPr>
              <a:defRPr/>
            </a:pPr>
            <a:endParaRPr lang="en-US" altLang="zh-CN"/>
          </a:p>
        </p:txBody>
      </p:sp>
      <p:sp>
        <p:nvSpPr>
          <p:cNvPr id="5" name="灯片编号占位符 4"/>
          <p:cNvSpPr>
            <a:spLocks noGrp="1"/>
          </p:cNvSpPr>
          <p:nvPr>
            <p:ph type="sldNum" sz="quarter" idx="12"/>
          </p:nvPr>
        </p:nvSpPr>
        <p:spPr/>
        <p:txBody>
          <a:bodyPr/>
          <a:lstStyle/>
          <a:p>
            <a:pPr>
              <a:defRPr/>
            </a:pPr>
            <a:fld id="{70DCB411-FF57-4C55-AB63-DDC4CEB6E82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C36F0833-FE56-4B6A-B3D2-BF42542E909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a:defRPr/>
            </a:pPr>
            <a:endParaRPr lang="en-US"/>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986F038A-5C40-442D-96AF-6C6F990902F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9" name="单圆角矩形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直角三角形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pPr>
              <a:defRPr/>
            </a:pPr>
            <a:endParaRPr lang="en-US"/>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a:xfrm>
            <a:off x="8077200" y="6356350"/>
            <a:ext cx="609600" cy="365125"/>
          </a:xfrm>
        </p:spPr>
        <p:txBody>
          <a:bodyPr/>
          <a:lstStyle/>
          <a:p>
            <a:pPr>
              <a:defRPr/>
            </a:pPr>
            <a:fld id="{0298758E-568A-4A21-A56D-E13B30AE82DA}" type="slidenum">
              <a:rPr lang="en-US" smtClean="0"/>
            </a:fld>
            <a:endParaRPr 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zh-CN" altLang="en-US"/>
              <a:t>单击图标添加图片</a:t>
            </a:r>
            <a:endParaRPr kumimoji="0" lang="en-US" dirty="0"/>
          </a:p>
        </p:txBody>
      </p:sp>
      <p:sp>
        <p:nvSpPr>
          <p:cNvPr id="10" name="任意多边形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任意多边形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D1282C97-1390-4FC9-8646-A0E66681F7A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914401"/>
            <a:ext cx="6019800" cy="5211763"/>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a:defRPr/>
            </a:pPr>
            <a:endParaRPr lang="en-US"/>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EA9220F8-AEF9-4635-B005-63BEBB687F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任意多边形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标题占位符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solidFill>
                <a:schemeClr val="tx1">
                  <a:shade val="50000"/>
                </a:schemeClr>
              </a:solidFill>
            </a:endParaRPr>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3184BCEB-1D6E-4AF0-8A42-24EB4C33AA57}" type="slidenum">
              <a:rPr lang="en-US" smtClean="0"/>
            </a:fld>
            <a:endParaRPr lang="en-US" dirty="0">
              <a:solidFill>
                <a:schemeClr val="tx1">
                  <a:shade val="50000"/>
                </a:schemeClr>
              </a:solidFill>
            </a:endParaRPr>
          </a:p>
        </p:txBody>
      </p:sp>
      <p:grpSp>
        <p:nvGrpSpPr>
          <p:cNvPr id="2" name="组合 1"/>
          <p:cNvGrpSpPr/>
          <p:nvPr/>
        </p:nvGrpSpPr>
        <p:grpSpPr>
          <a:xfrm>
            <a:off x="-19017" y="202408"/>
            <a:ext cx="9180548" cy="649224"/>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emf"/></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emf"/></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53.jpeg"/><Relationship Id="rId1" Type="http://schemas.openxmlformats.org/officeDocument/2006/relationships/hyperlink" Target="http://photo.blog.sina.com.cn/showpic.html#blogid=5420e00001019eiv&amp;url=http://s4.sinaimg.cn/orignal/5420e000tcc22cda912e3"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58.GIF"/></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GI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mp.weixin.qq.com/s/xRSV4oo-AFrfsX0pBhgmLw" TargetMode="External"/><Relationship Id="rId2" Type="http://schemas.openxmlformats.org/officeDocument/2006/relationships/image" Target="../media/image74.png"/><Relationship Id="rId1" Type="http://schemas.openxmlformats.org/officeDocument/2006/relationships/image" Target="../media/image7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image" Target="../media/image75.png"/></Relationships>
</file>

<file path=ppt/slides/_rels/slide7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hyperlink" Target="https://en.wikipedia.org/wiki/Space_complexity" TargetMode="External"/><Relationship Id="rId4" Type="http://schemas.openxmlformats.org/officeDocument/2006/relationships/hyperlink" Target="https://en.wikipedia.org/wiki/Polynomial" TargetMode="External"/><Relationship Id="rId3" Type="http://schemas.openxmlformats.org/officeDocument/2006/relationships/hyperlink" Target="https://en.wikipedia.org/wiki/Turing_machine" TargetMode="External"/><Relationship Id="rId2" Type="http://schemas.openxmlformats.org/officeDocument/2006/relationships/hyperlink" Target="https://en.wikipedia.org/wiki/Decision_problem" TargetMode="External"/><Relationship Id="rId1" Type="http://schemas.openxmlformats.org/officeDocument/2006/relationships/image" Target="../media/image77.jpe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9.GIF"/><Relationship Id="rId1" Type="http://schemas.openxmlformats.org/officeDocument/2006/relationships/image" Target="../media/image78.GIF"/></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1.GIF"/><Relationship Id="rId1" Type="http://schemas.openxmlformats.org/officeDocument/2006/relationships/image" Target="../media/image80.wmf"/></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4.GIF"/><Relationship Id="rId2" Type="http://schemas.openxmlformats.org/officeDocument/2006/relationships/image" Target="../media/image83.wmf"/><Relationship Id="rId1" Type="http://schemas.openxmlformats.org/officeDocument/2006/relationships/image" Target="../media/image82.GI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90.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7.xml"/><Relationship Id="rId7" Type="http://schemas.openxmlformats.org/officeDocument/2006/relationships/image" Target="../media/image96.emf"/><Relationship Id="rId6" Type="http://schemas.openxmlformats.org/officeDocument/2006/relationships/oleObject" Target="../embeddings/oleObject3.bin"/><Relationship Id="rId5" Type="http://schemas.openxmlformats.org/officeDocument/2006/relationships/image" Target="../media/image95.emf"/><Relationship Id="rId4" Type="http://schemas.openxmlformats.org/officeDocument/2006/relationships/oleObject" Target="../embeddings/oleObject2.bin"/><Relationship Id="rId3" Type="http://schemas.openxmlformats.org/officeDocument/2006/relationships/image" Target="../media/image94.emf"/><Relationship Id="rId2" Type="http://schemas.openxmlformats.org/officeDocument/2006/relationships/oleObject" Target="../embeddings/oleObject1.bin"/><Relationship Id="rId1" Type="http://schemas.openxmlformats.org/officeDocument/2006/relationships/image" Target="../media/image93.GIF"/></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wmf"/></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defRPr/>
            </a:pPr>
            <a:r>
              <a:rPr lang="zh-CN" altLang="en-US" dirty="0"/>
              <a:t>量子计算之三 </a:t>
            </a:r>
            <a:endParaRPr lang="zh-CN" altLang="en-US" dirty="0"/>
          </a:p>
        </p:txBody>
      </p:sp>
      <p:sp>
        <p:nvSpPr>
          <p:cNvPr id="3" name="Text Box 7"/>
          <p:cNvSpPr txBox="1">
            <a:spLocks noChangeArrowheads="1"/>
          </p:cNvSpPr>
          <p:nvPr/>
        </p:nvSpPr>
        <p:spPr bwMode="auto">
          <a:xfrm>
            <a:off x="1691680" y="3501008"/>
            <a:ext cx="6629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ClrTx/>
              <a:buSzTx/>
              <a:buFontTx/>
              <a:buNone/>
            </a:pPr>
            <a:r>
              <a:rPr lang="en-US" altLang="zh-CN" sz="3600" dirty="0">
                <a:latin typeface="Times New Roman" panose="02020603050405020304" pitchFamily="18" charset="0"/>
              </a:rPr>
              <a:t> Quantum Computation</a:t>
            </a:r>
            <a:r>
              <a:rPr lang="zh-CN" altLang="en-US" sz="3600" dirty="0">
                <a:latin typeface="Times New Roman" panose="02020603050405020304" pitchFamily="18" charset="0"/>
              </a:rPr>
              <a:t>，</a:t>
            </a:r>
            <a:r>
              <a:rPr lang="en-US" altLang="zh-CN" sz="3600" dirty="0">
                <a:latin typeface="Times New Roman" panose="02020603050405020304" pitchFamily="18" charset="0"/>
              </a:rPr>
              <a:t>QC</a:t>
            </a:r>
            <a:endParaRPr lang="en-US" altLang="zh-CN" sz="3600" dirty="0">
              <a:latin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量子信息</a:t>
            </a:r>
            <a:endParaRPr lang="zh-CN" altLang="en-US" dirty="0"/>
          </a:p>
        </p:txBody>
      </p:sp>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pic>
        <p:nvPicPr>
          <p:cNvPr id="7" name="图片 6"/>
          <p:cNvPicPr>
            <a:picLocks noChangeAspect="1"/>
          </p:cNvPicPr>
          <p:nvPr/>
        </p:nvPicPr>
        <p:blipFill>
          <a:blip r:embed="rId1"/>
          <a:stretch>
            <a:fillRect/>
          </a:stretch>
        </p:blipFill>
        <p:spPr>
          <a:xfrm>
            <a:off x="3059832" y="2809004"/>
            <a:ext cx="4572396" cy="34292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511" name="Group 15"/>
          <p:cNvGrpSpPr/>
          <p:nvPr/>
        </p:nvGrpSpPr>
        <p:grpSpPr bwMode="auto">
          <a:xfrm>
            <a:off x="323850" y="836712"/>
            <a:ext cx="8064574" cy="4679851"/>
            <a:chOff x="204" y="754"/>
            <a:chExt cx="4944" cy="2812"/>
          </a:xfrm>
          <a:solidFill>
            <a:srgbClr val="FFFF66"/>
          </a:solidFill>
        </p:grpSpPr>
        <p:sp>
          <p:nvSpPr>
            <p:cNvPr id="106506" name="AutoShape 10"/>
            <p:cNvSpPr>
              <a:spLocks noChangeArrowheads="1"/>
            </p:cNvSpPr>
            <p:nvPr/>
          </p:nvSpPr>
          <p:spPr bwMode="auto">
            <a:xfrm>
              <a:off x="204" y="754"/>
              <a:ext cx="4944" cy="2812"/>
            </a:xfrm>
            <a:prstGeom prst="flowChartMultidocumen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6504" name="Rectangle 8"/>
            <p:cNvSpPr>
              <a:spLocks noChangeArrowheads="1"/>
            </p:cNvSpPr>
            <p:nvPr/>
          </p:nvSpPr>
          <p:spPr bwMode="auto">
            <a:xfrm>
              <a:off x="308" y="1275"/>
              <a:ext cx="4038" cy="177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cs typeface="+mn-cs"/>
                </a:rPr>
                <a:t>       </a:t>
              </a:r>
              <a:r>
                <a:rPr kumimoji="0" lang="zh-CN" altLang="en-US" sz="18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rPr>
                <a:t>用量子比特存储量子态表示信息是量子信息的出发点。量子力学理论描述量子信息演绎的行为。薛定谔方程制约着量子态信息的每一步演变，线性代数的幺正变换约束着可逆的量子态信息计算；量子信息的传输是由量子通道端点上量子纠缠集合状态的变化（微观客体的关联具有非局域的性质，且可以延伸到很远的距离），结果信息的获取便是在得到输出态之后，量子计算机对输出态进行一定的测量后给出的结果。 </a:t>
              </a:r>
              <a:endParaRPr kumimoji="0" lang="zh-CN" altLang="en-US" sz="1800" b="1" i="0" u="none" strike="noStrike" kern="1200" cap="none" spc="0" normalizeH="0" baseline="0" noProof="0" dirty="0">
                <a:ln>
                  <a:noFill/>
                </a:ln>
                <a:solidFill>
                  <a:srgbClr val="0000FF"/>
                </a:solidFill>
                <a:effectLst/>
                <a:uLnTx/>
                <a:uFillTx/>
                <a:latin typeface="华文楷体" panose="02010600040101010101" pitchFamily="2" charset="-122"/>
                <a:ea typeface="华文楷体" panose="02010600040101010101" pitchFamily="2" charset="-122"/>
                <a:cs typeface="+mn-cs"/>
              </a:endParaRPr>
            </a:p>
          </p:txBody>
        </p:sp>
        <p:sp>
          <p:nvSpPr>
            <p:cNvPr id="106508" name="Rectangle 12"/>
            <p:cNvSpPr>
              <a:spLocks noChangeArrowheads="1"/>
            </p:cNvSpPr>
            <p:nvPr/>
          </p:nvSpPr>
          <p:spPr bwMode="auto">
            <a:xfrm>
              <a:off x="1020" y="999"/>
              <a:ext cx="3572" cy="2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3399FF"/>
                  </a:solidFill>
                  <a:effectLst/>
                  <a:uLnTx/>
                  <a:uFillTx/>
                  <a:latin typeface="Comic Sans MS" panose="030F0702030302020204" pitchFamily="66" charset="0"/>
                  <a:ea typeface="华文楷体" panose="02010600040101010101" pitchFamily="2" charset="-122"/>
                  <a:cs typeface="+mn-cs"/>
                </a:rPr>
                <a:t>用量子比特存储量子态表示信息是量子信息的出发点。</a:t>
              </a:r>
              <a:endParaRPr kumimoji="0" lang="zh-CN" altLang="en-US" sz="1800" b="1" i="0" u="none" strike="noStrike" kern="1200" cap="none" spc="0" normalizeH="0" baseline="0" noProof="0" dirty="0">
                <a:ln>
                  <a:noFill/>
                </a:ln>
                <a:solidFill>
                  <a:srgbClr val="3399FF"/>
                </a:solidFill>
                <a:effectLst/>
                <a:uLnTx/>
                <a:uFillTx/>
                <a:latin typeface="Comic Sans MS" panose="030F0702030302020204" pitchFamily="66" charset="0"/>
                <a:ea typeface="华文楷体" panose="02010600040101010101" pitchFamily="2" charset="-122"/>
                <a:cs typeface="+mn-cs"/>
              </a:endParaRPr>
            </a:p>
          </p:txBody>
        </p:sp>
        <p:sp>
          <p:nvSpPr>
            <p:cNvPr id="106509" name="Rectangle 13"/>
            <p:cNvSpPr>
              <a:spLocks noChangeArrowheads="1"/>
            </p:cNvSpPr>
            <p:nvPr/>
          </p:nvSpPr>
          <p:spPr bwMode="auto">
            <a:xfrm>
              <a:off x="1338" y="762"/>
              <a:ext cx="3572" cy="2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66CCFF"/>
                  </a:solidFill>
                  <a:effectLst/>
                  <a:uLnTx/>
                  <a:uFillTx/>
                  <a:latin typeface="Comic Sans MS" panose="030F0702030302020204" pitchFamily="66" charset="0"/>
                  <a:ea typeface="华文楷体" panose="02010600040101010101" pitchFamily="2" charset="-122"/>
                  <a:cs typeface="+mn-cs"/>
                </a:rPr>
                <a:t>用量子比特存储量子态表示信息是量子信息的出发点。</a:t>
              </a:r>
              <a:endParaRPr kumimoji="0" lang="zh-CN" altLang="en-US" sz="1800" b="1" i="0" u="none" strike="noStrike" kern="1200" cap="none" spc="0" normalizeH="0" baseline="0" noProof="0">
                <a:ln>
                  <a:noFill/>
                </a:ln>
                <a:solidFill>
                  <a:srgbClr val="66CCFF"/>
                </a:solidFill>
                <a:effectLst/>
                <a:uLnTx/>
                <a:uFillTx/>
                <a:latin typeface="Comic Sans MS" panose="030F0702030302020204" pitchFamily="66" charset="0"/>
                <a:ea typeface="华文楷体" panose="02010600040101010101" pitchFamily="2" charset="-122"/>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量子态</a:t>
            </a:r>
            <a:endParaRPr lang="zh-CN" altLang="en-US" dirty="0"/>
          </a:p>
        </p:txBody>
      </p:sp>
      <p:sp>
        <p:nvSpPr>
          <p:cNvPr id="3" name="内容占位符 2"/>
          <p:cNvSpPr>
            <a:spLocks noGrp="1"/>
          </p:cNvSpPr>
          <p:nvPr>
            <p:ph idx="1"/>
          </p:nvPr>
        </p:nvSpPr>
        <p:spPr/>
        <p:txBody>
          <a:bodyPr/>
          <a:lstStyle/>
          <a:p>
            <a:r>
              <a:rPr lang="zh-CN" altLang="en-US" dirty="0"/>
              <a:t>在经典力学中，一个拥有    自由度的物理系统及其随时间的发展，可以通过    对正则坐标             完全决定。在量子力学中，两个相互共轭的可观察量，从原则上，就无法无限精确地被测量。因此，如何相应有意义地，定义一个量子物理学的系统，是一个非常基本的问题。</a:t>
            </a:r>
            <a:endParaRPr lang="en-US" altLang="zh-CN" dirty="0"/>
          </a:p>
          <a:p>
            <a:r>
              <a:rPr lang="zh-CN" altLang="en-US" dirty="0"/>
              <a:t>在量子力学中，一个物理系统仅通过同时可以被测量的可观察量来定义，是它与经典力学最主要的区别。只有通过彻底地使用这样的状态定义，才能够理论性地描写许多量子物理现象。</a:t>
            </a:r>
            <a:endParaRPr lang="zh-CN" altLang="en-US" dirty="0"/>
          </a:p>
        </p:txBody>
      </p:sp>
      <p:pic>
        <p:nvPicPr>
          <p:cNvPr id="1028" name="Picture 4" descr="C:\Users\Administrator\AppData\Roaming\Tencent\Users\3969052\QQ\WinTemp\RichOle\AKB2J}}EJVLLX557U)@Y9)M.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00753" y="2373264"/>
            <a:ext cx="966488" cy="39992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Administrator\AppData\Roaming\Tencent\Users\3969052\QQ\WinTemp\RichOle\AN4~_DI[2CVO[M~UU32SMZ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322" y="1916832"/>
            <a:ext cx="278126" cy="4310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Administrator\AppData\Roaming\Tencent\Users\3969052\QQ\WinTemp\RichOle\AN4~_DI[2CVO[M~UU32SMZ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9858" y="2349833"/>
            <a:ext cx="278126" cy="431095"/>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量子态</a:t>
            </a:r>
            <a:endParaRPr lang="zh-CN" altLang="en-US" dirty="0"/>
          </a:p>
        </p:txBody>
      </p:sp>
      <p:sp>
        <p:nvSpPr>
          <p:cNvPr id="3" name="内容占位符 2"/>
          <p:cNvSpPr>
            <a:spLocks noGrp="1"/>
          </p:cNvSpPr>
          <p:nvPr>
            <p:ph idx="1"/>
          </p:nvPr>
        </p:nvSpPr>
        <p:spPr>
          <a:xfrm>
            <a:off x="457200" y="1935480"/>
            <a:ext cx="8229600" cy="4733880"/>
          </a:xfrm>
        </p:spPr>
        <p:txBody>
          <a:bodyPr>
            <a:normAutofit fontScale="92500" lnSpcReduction="10000"/>
          </a:bodyPr>
          <a:lstStyle/>
          <a:p>
            <a:r>
              <a:rPr lang="zh-CN" altLang="en-US" dirty="0"/>
              <a:t>在量子力学中，一个物理状态      由最多                            个同时可以被测量的可观察量定义。这些同时可以被测量的可观察量，称为相容可观察量。</a:t>
            </a:r>
            <a:endParaRPr lang="en-US" altLang="zh-CN" dirty="0"/>
          </a:p>
          <a:p>
            <a:r>
              <a:rPr lang="zh-CN" altLang="en-US" dirty="0"/>
              <a:t>在测量时，一个可观察量，可以拥有一定的值。可能获得的测量值    ，被称为可观察量的本征值。根据系统的不同，它可以是离散的，也可以是连续的。属于这些本征值的状态，被称为该可观察量的本征态。</a:t>
            </a:r>
            <a:endParaRPr lang="en-US" altLang="zh-CN" dirty="0"/>
          </a:p>
          <a:p>
            <a:r>
              <a:rPr lang="zh-CN" altLang="en-US" dirty="0"/>
              <a:t>由于上面的定义中的可观察量，是相容的，因此它们互相之间不影响。通过使用适当的过滤，一个已知的量子物理系统，可以被预备到一个一定的状态。以上相容可观察量的本征态为</a:t>
            </a:r>
            <a:endParaRPr lang="zh-CN" altLang="en-US" dirty="0"/>
          </a:p>
          <a:p>
            <a:endParaRPr lang="zh-CN" altLang="en-US" dirty="0"/>
          </a:p>
          <a:p>
            <a:r>
              <a:rPr lang="zh-CN" altLang="en-US" dirty="0"/>
              <a:t>这样的状态常被称为“纯量子状态”。</a:t>
            </a:r>
            <a:endParaRPr lang="zh-CN" altLang="en-US" dirty="0"/>
          </a:p>
        </p:txBody>
      </p:sp>
      <p:pic>
        <p:nvPicPr>
          <p:cNvPr id="2049" name="Picture 1" descr="C:\Users\Administrator\AppData\Roaming\Tencent\Users\3969052\QQ\WinTemp\RichOle\]RM7N3R72X`7`8W9@LL{ZXI.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80575" y="1916832"/>
            <a:ext cx="476743" cy="43204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Users\Administrator\AppData\Roaming\Tencent\Users\3969052\QQ\WinTemp\RichOle\L[W0CTE}ST`V0~0YQ)FOPV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1916832"/>
            <a:ext cx="2246650" cy="43204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Administrator\AppData\Roaming\Tencent\Users\3969052\QQ\WinTemp\RichOle\%7}6L`(2R]06~RVZ{2RIS7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978" y="3356992"/>
            <a:ext cx="316835" cy="28803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Administrator\AppData\Roaming\Tencent\Users\3969052\QQ\WinTemp\RichOle\6PS%%1L_CD8O8431)XK7AI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5445224"/>
            <a:ext cx="2921467" cy="576064"/>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1000"/>
                                        <p:tgtEl>
                                          <p:spTgt spid="2049"/>
                                        </p:tgtEl>
                                      </p:cBhvr>
                                    </p:animEffect>
                                    <p:anim calcmode="lin" valueType="num">
                                      <p:cBhvr>
                                        <p:cTn id="8" dur="1000" fill="hold"/>
                                        <p:tgtEl>
                                          <p:spTgt spid="2049"/>
                                        </p:tgtEl>
                                        <p:attrNameLst>
                                          <p:attrName>ppt_x</p:attrName>
                                        </p:attrNameLst>
                                      </p:cBhvr>
                                      <p:tavLst>
                                        <p:tav tm="0">
                                          <p:val>
                                            <p:strVal val="#ppt_x"/>
                                          </p:val>
                                        </p:tav>
                                        <p:tav tm="100000">
                                          <p:val>
                                            <p:strVal val="#ppt_x"/>
                                          </p:val>
                                        </p:tav>
                                      </p:tavLst>
                                    </p:anim>
                                    <p:anim calcmode="lin" valueType="num">
                                      <p:cBhvr>
                                        <p:cTn id="9" dur="1000" fill="hold"/>
                                        <p:tgtEl>
                                          <p:spTgt spid="204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1000"/>
                                        <p:tgtEl>
                                          <p:spTgt spid="2050"/>
                                        </p:tgtEl>
                                      </p:cBhvr>
                                    </p:animEffect>
                                    <p:anim calcmode="lin" valueType="num">
                                      <p:cBhvr>
                                        <p:cTn id="13" dur="1000" fill="hold"/>
                                        <p:tgtEl>
                                          <p:spTgt spid="2050"/>
                                        </p:tgtEl>
                                        <p:attrNameLst>
                                          <p:attrName>ppt_x</p:attrName>
                                        </p:attrNameLst>
                                      </p:cBhvr>
                                      <p:tavLst>
                                        <p:tav tm="0">
                                          <p:val>
                                            <p:strVal val="#ppt_x"/>
                                          </p:val>
                                        </p:tav>
                                        <p:tav tm="100000">
                                          <p:val>
                                            <p:strVal val="#ppt_x"/>
                                          </p:val>
                                        </p:tav>
                                      </p:tavLst>
                                    </p:anim>
                                    <p:anim calcmode="lin" valueType="num">
                                      <p:cBhvr>
                                        <p:cTn id="14" dur="1000" fill="hold"/>
                                        <p:tgtEl>
                                          <p:spTgt spid="205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051"/>
                                        </p:tgtEl>
                                        <p:attrNameLst>
                                          <p:attrName>style.visibility</p:attrName>
                                        </p:attrNameLst>
                                      </p:cBhvr>
                                      <p:to>
                                        <p:strVal val="visible"/>
                                      </p:to>
                                    </p:set>
                                    <p:animEffect transition="in" filter="fade">
                                      <p:cBhvr>
                                        <p:cTn id="29" dur="1000"/>
                                        <p:tgtEl>
                                          <p:spTgt spid="2051"/>
                                        </p:tgtEl>
                                      </p:cBhvr>
                                    </p:animEffect>
                                    <p:anim calcmode="lin" valueType="num">
                                      <p:cBhvr>
                                        <p:cTn id="30" dur="1000" fill="hold"/>
                                        <p:tgtEl>
                                          <p:spTgt spid="2051"/>
                                        </p:tgtEl>
                                        <p:attrNameLst>
                                          <p:attrName>ppt_x</p:attrName>
                                        </p:attrNameLst>
                                      </p:cBhvr>
                                      <p:tavLst>
                                        <p:tav tm="0">
                                          <p:val>
                                            <p:strVal val="#ppt_x"/>
                                          </p:val>
                                        </p:tav>
                                        <p:tav tm="100000">
                                          <p:val>
                                            <p:strVal val="#ppt_x"/>
                                          </p:val>
                                        </p:tav>
                                      </p:tavLst>
                                    </p:anim>
                                    <p:anim calcmode="lin" valueType="num">
                                      <p:cBhvr>
                                        <p:cTn id="31" dur="1000" fill="hold"/>
                                        <p:tgtEl>
                                          <p:spTgt spid="205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animEffect transition="in" filter="fade">
                                      <p:cBhvr>
                                        <p:cTn id="36" dur="1000"/>
                                        <p:tgtEl>
                                          <p:spTgt spid="3">
                                            <p:txEl>
                                              <p:pRg st="2" end="2"/>
                                            </p:txEl>
                                          </p:spTgt>
                                        </p:tgtEl>
                                      </p:cBhvr>
                                    </p:animEffect>
                                    <p:anim calcmode="lin" valueType="num">
                                      <p:cBhvr>
                                        <p:cTn id="3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052"/>
                                        </p:tgtEl>
                                        <p:attrNameLst>
                                          <p:attrName>style.visibility</p:attrName>
                                        </p:attrNameLst>
                                      </p:cBhvr>
                                      <p:to>
                                        <p:strVal val="visible"/>
                                      </p:to>
                                    </p:set>
                                    <p:animEffect transition="in" filter="fade">
                                      <p:cBhvr>
                                        <p:cTn id="41" dur="1000"/>
                                        <p:tgtEl>
                                          <p:spTgt spid="2052"/>
                                        </p:tgtEl>
                                      </p:cBhvr>
                                    </p:animEffect>
                                    <p:anim calcmode="lin" valueType="num">
                                      <p:cBhvr>
                                        <p:cTn id="42" dur="1000" fill="hold"/>
                                        <p:tgtEl>
                                          <p:spTgt spid="2052"/>
                                        </p:tgtEl>
                                        <p:attrNameLst>
                                          <p:attrName>ppt_x</p:attrName>
                                        </p:attrNameLst>
                                      </p:cBhvr>
                                      <p:tavLst>
                                        <p:tav tm="0">
                                          <p:val>
                                            <p:strVal val="#ppt_x"/>
                                          </p:val>
                                        </p:tav>
                                        <p:tav tm="100000">
                                          <p:val>
                                            <p:strVal val="#ppt_x"/>
                                          </p:val>
                                        </p:tav>
                                      </p:tavLst>
                                    </p:anim>
                                    <p:anim calcmode="lin" valueType="num">
                                      <p:cBhvr>
                                        <p:cTn id="43"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4" end="4"/>
                                            </p:txEl>
                                          </p:spTgt>
                                        </p:tgtEl>
                                        <p:attrNameLst>
                                          <p:attrName>style.visibility</p:attrName>
                                        </p:attrNameLst>
                                      </p:cBhvr>
                                      <p:to>
                                        <p:strVal val="visible"/>
                                      </p:to>
                                    </p:set>
                                    <p:animEffect transition="in" filter="fade">
                                      <p:cBhvr>
                                        <p:cTn id="48" dur="1000"/>
                                        <p:tgtEl>
                                          <p:spTgt spid="3">
                                            <p:txEl>
                                              <p:pRg st="4" end="4"/>
                                            </p:txEl>
                                          </p:spTgt>
                                        </p:tgtEl>
                                      </p:cBhvr>
                                    </p:animEffect>
                                    <p:anim calcmode="lin" valueType="num">
                                      <p:cBhvr>
                                        <p:cTn id="4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量子比特</a:t>
            </a:r>
            <a:endParaRPr lang="zh-CN" altLang="en-US" dirty="0"/>
          </a:p>
        </p:txBody>
      </p:sp>
      <p:sp>
        <p:nvSpPr>
          <p:cNvPr id="3" name="内容占位符 2"/>
          <p:cNvSpPr>
            <a:spLocks noGrp="1"/>
          </p:cNvSpPr>
          <p:nvPr>
            <p:ph idx="1"/>
          </p:nvPr>
        </p:nvSpPr>
        <p:spPr>
          <a:xfrm>
            <a:off x="457200" y="1935480"/>
            <a:ext cx="8507288" cy="4805888"/>
          </a:xfrm>
        </p:spPr>
        <p:txBody>
          <a:bodyPr>
            <a:normAutofit/>
          </a:bodyPr>
          <a:lstStyle/>
          <a:p>
            <a:r>
              <a:rPr lang="zh-CN" altLang="en-US" dirty="0"/>
              <a:t>例如一个量子比特能够处在以下状态：</a:t>
            </a:r>
            <a:endParaRPr lang="en-US" altLang="zh-CN" dirty="0"/>
          </a:p>
          <a:p>
            <a:endParaRPr lang="en-US" altLang="zh-CN" dirty="0"/>
          </a:p>
          <a:p>
            <a:endParaRPr lang="en-US" altLang="zh-CN" dirty="0"/>
          </a:p>
          <a:p>
            <a:pPr>
              <a:lnSpc>
                <a:spcPct val="125000"/>
              </a:lnSpc>
            </a:pPr>
            <a:r>
              <a:rPr lang="zh-CN" altLang="en-US" dirty="0"/>
              <a:t>当我们测量这个量子比特时，测量的瞬间其</a:t>
            </a:r>
            <a:r>
              <a:rPr lang="en-US" altLang="zh-CN" dirty="0"/>
              <a:t>50%(        )</a:t>
            </a:r>
            <a:r>
              <a:rPr lang="zh-CN" altLang="en-US" dirty="0"/>
              <a:t>的结果是</a:t>
            </a:r>
            <a:r>
              <a:rPr lang="en-US" altLang="zh-CN" dirty="0"/>
              <a:t>0</a:t>
            </a:r>
            <a:r>
              <a:rPr lang="zh-CN" altLang="en-US" dirty="0"/>
              <a:t>，还有</a:t>
            </a:r>
            <a:r>
              <a:rPr lang="en-US" altLang="zh-CN" dirty="0"/>
              <a:t>50%(        )</a:t>
            </a:r>
            <a:r>
              <a:rPr lang="zh-CN" altLang="en-US" dirty="0"/>
              <a:t>的结果是</a:t>
            </a:r>
            <a:r>
              <a:rPr lang="en-US" altLang="zh-CN" dirty="0"/>
              <a:t>1</a:t>
            </a:r>
            <a:r>
              <a:rPr lang="zh-CN" altLang="en-US" dirty="0"/>
              <a:t>。由此可见一个量子比特在每种状态上出现的概率</a:t>
            </a:r>
            <a:r>
              <a:rPr lang="en-US" altLang="zh-CN" dirty="0"/>
              <a:t>p=|c|</a:t>
            </a:r>
            <a:r>
              <a:rPr lang="en-US" altLang="zh-CN" baseline="30000" dirty="0"/>
              <a:t>2</a:t>
            </a:r>
            <a:r>
              <a:rPr lang="zh-CN" altLang="en-US" dirty="0"/>
              <a:t>是由复系数</a:t>
            </a:r>
            <a:r>
              <a:rPr lang="en-US" altLang="zh-CN" dirty="0"/>
              <a:t>c=α</a:t>
            </a:r>
            <a:r>
              <a:rPr lang="zh-CN" altLang="en-US" dirty="0"/>
              <a:t>，</a:t>
            </a:r>
            <a:r>
              <a:rPr lang="en-US" altLang="zh-CN" dirty="0"/>
              <a:t>β</a:t>
            </a:r>
            <a:r>
              <a:rPr lang="zh-CN" altLang="en-US" dirty="0"/>
              <a:t>确定。需要指出，这种的叠加态具有明显的量子相干特性，经典概率</a:t>
            </a:r>
            <a:r>
              <a:rPr lang="en-US" altLang="zh-CN" dirty="0"/>
              <a:t>p=|c|</a:t>
            </a:r>
            <a:r>
              <a:rPr lang="en-US" altLang="zh-CN" baseline="30000" dirty="0"/>
              <a:t>2</a:t>
            </a:r>
            <a:r>
              <a:rPr lang="zh-CN" altLang="en-US" dirty="0"/>
              <a:t>不足以描写这个叠加态，</a:t>
            </a:r>
            <a:r>
              <a:rPr lang="en-US" altLang="zh-CN" dirty="0"/>
              <a:t>α</a:t>
            </a:r>
            <a:r>
              <a:rPr lang="zh-CN" altLang="en-US" dirty="0"/>
              <a:t>和</a:t>
            </a:r>
            <a:r>
              <a:rPr lang="en-US" altLang="zh-CN" dirty="0"/>
              <a:t>β</a:t>
            </a:r>
            <a:r>
              <a:rPr lang="zh-CN" altLang="en-US" dirty="0"/>
              <a:t>相对的位相在量子信息过程中起着至关重要的作用。</a:t>
            </a: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5736" y="2348880"/>
            <a:ext cx="2052836" cy="903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368" y="3372872"/>
            <a:ext cx="576064" cy="560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876928"/>
            <a:ext cx="576064" cy="560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8" name="Rectangle 4"/>
          <p:cNvSpPr>
            <a:spLocks noGrp="1" noChangeArrowheads="1"/>
          </p:cNvSpPr>
          <p:nvPr>
            <p:ph type="title"/>
          </p:nvPr>
        </p:nvSpPr>
        <p:spPr/>
        <p:txBody>
          <a:bodyPr/>
          <a:lstStyle/>
          <a:p>
            <a:r>
              <a:rPr lang="zh-CN" altLang="en-US" dirty="0"/>
              <a:t>量子比特</a:t>
            </a:r>
            <a:endParaRPr lang="zh-CN" altLang="en-US" dirty="0"/>
          </a:p>
        </p:txBody>
      </p:sp>
      <p:sp>
        <p:nvSpPr>
          <p:cNvPr id="369669" name="Rectangle 5"/>
          <p:cNvSpPr>
            <a:spLocks noGrp="1" noChangeArrowheads="1"/>
          </p:cNvSpPr>
          <p:nvPr>
            <p:ph idx="1"/>
          </p:nvPr>
        </p:nvSpPr>
        <p:spPr>
          <a:xfrm>
            <a:off x="457200" y="1935480"/>
            <a:ext cx="8229600" cy="4356000"/>
          </a:xfrm>
        </p:spPr>
        <p:txBody>
          <a:bodyPr/>
          <a:lstStyle/>
          <a:p>
            <a:pPr>
              <a:lnSpc>
                <a:spcPct val="150000"/>
              </a:lnSpc>
            </a:pPr>
            <a:r>
              <a:rPr lang="zh-CN" altLang="en-US" dirty="0"/>
              <a:t>通过测量或与其它物体发生相互作用而呈现出“</a:t>
            </a:r>
            <a:r>
              <a:rPr lang="en-US" altLang="zh-CN" dirty="0"/>
              <a:t>0”</a:t>
            </a:r>
            <a:r>
              <a:rPr lang="zh-CN" altLang="en-US" dirty="0"/>
              <a:t>态或“</a:t>
            </a:r>
            <a:r>
              <a:rPr lang="en-US" altLang="zh-CN" dirty="0"/>
              <a:t>1”</a:t>
            </a:r>
            <a:r>
              <a:rPr lang="zh-CN" altLang="en-US" dirty="0"/>
              <a:t>态</a:t>
            </a:r>
            <a:r>
              <a:rPr lang="en-US" altLang="zh-CN" dirty="0"/>
              <a:t>. </a:t>
            </a:r>
            <a:r>
              <a:rPr lang="zh-CN" altLang="en-US" dirty="0"/>
              <a:t>任何两态的量子系统都可用来实现量子位</a:t>
            </a:r>
            <a:r>
              <a:rPr lang="en-US" altLang="zh-CN" dirty="0"/>
              <a:t>, </a:t>
            </a:r>
            <a:r>
              <a:rPr lang="zh-CN" altLang="en-US" dirty="0"/>
              <a:t>例如氢原子中的电子的基态</a:t>
            </a:r>
            <a:r>
              <a:rPr lang="en-US" altLang="zh-CN" dirty="0"/>
              <a:t>(ground state) </a:t>
            </a:r>
            <a:r>
              <a:rPr lang="zh-CN" altLang="en-US" dirty="0"/>
              <a:t>和第</a:t>
            </a:r>
            <a:r>
              <a:rPr lang="en-US" altLang="zh-CN" dirty="0"/>
              <a:t>1 </a:t>
            </a:r>
            <a:r>
              <a:rPr lang="zh-CN" altLang="en-US" dirty="0"/>
              <a:t>激发态</a:t>
            </a:r>
            <a:r>
              <a:rPr lang="en-US" altLang="zh-CN" dirty="0"/>
              <a:t>(first excited state)</a:t>
            </a:r>
            <a:r>
              <a:rPr lang="zh-CN" altLang="en-US" dirty="0"/>
              <a:t>、质子自旋在任意方向的</a:t>
            </a:r>
            <a:r>
              <a:rPr lang="en-US" altLang="zh-CN" dirty="0"/>
              <a:t>+ 1/2 </a:t>
            </a:r>
            <a:r>
              <a:rPr lang="zh-CN" altLang="en-US" dirty="0"/>
              <a:t>分量和</a:t>
            </a:r>
            <a:r>
              <a:rPr lang="en-US" altLang="zh-CN" dirty="0"/>
              <a:t>- 1/2 </a:t>
            </a:r>
            <a:r>
              <a:rPr lang="zh-CN" altLang="en-US" dirty="0"/>
              <a:t>分量、圆偏振光的左旋和右旋等</a:t>
            </a:r>
            <a:r>
              <a:rPr lang="en-US" altLang="zh-CN" dirty="0"/>
              <a:t>.</a:t>
            </a:r>
            <a:endParaRPr lang="en-US" altLang="zh-CN" dirty="0"/>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量子比特</a:t>
            </a:r>
            <a:endParaRPr lang="zh-CN" altLang="en-US" dirty="0"/>
          </a:p>
        </p:txBody>
      </p:sp>
      <p:sp>
        <p:nvSpPr>
          <p:cNvPr id="3" name="内容占位符 2"/>
          <p:cNvSpPr>
            <a:spLocks noGrp="1"/>
          </p:cNvSpPr>
          <p:nvPr>
            <p:ph idx="1"/>
          </p:nvPr>
        </p:nvSpPr>
        <p:spPr/>
        <p:txBody>
          <a:bodyPr/>
          <a:lstStyle/>
          <a:p>
            <a:r>
              <a:rPr lang="zh-CN" altLang="en-US" dirty="0"/>
              <a:t>量子比特的物理载体：任意二态的量子体系，如光子、原子、电子、原子核等。</a:t>
            </a:r>
            <a:endParaRPr lang="en-US" altLang="zh-CN" dirty="0"/>
          </a:p>
          <a:p>
            <a:r>
              <a:rPr lang="zh-CN" altLang="en-US" dirty="0"/>
              <a:t>一个量子比特表示多少信息？</a:t>
            </a:r>
            <a:endParaRPr lang="en-US" altLang="zh-CN" dirty="0"/>
          </a:p>
          <a:p>
            <a:pPr lvl="1"/>
            <a:r>
              <a:rPr lang="zh-CN" altLang="en-US" dirty="0"/>
              <a:t>若对｜</a:t>
            </a:r>
            <a:r>
              <a:rPr lang="en-US" altLang="zh-CN" i="1" dirty="0">
                <a:cs typeface="Arial" panose="020B0604020202020204" pitchFamily="34" charset="0"/>
              </a:rPr>
              <a:t>ψ</a:t>
            </a:r>
            <a:r>
              <a:rPr lang="en-US" altLang="zh-CN" dirty="0"/>
              <a:t>〉</a:t>
            </a:r>
            <a:r>
              <a:rPr lang="zh-CN" altLang="en-US" dirty="0"/>
              <a:t>进行一次测量，只能给出</a:t>
            </a:r>
            <a:r>
              <a:rPr lang="en-US" altLang="zh-CN" dirty="0"/>
              <a:t>0</a:t>
            </a:r>
            <a:r>
              <a:rPr lang="zh-CN" altLang="en-US" dirty="0"/>
              <a:t>或</a:t>
            </a:r>
            <a:r>
              <a:rPr lang="en-US" altLang="zh-CN" dirty="0"/>
              <a:t>1</a:t>
            </a:r>
            <a:r>
              <a:rPr lang="zh-CN" altLang="en-US" dirty="0"/>
              <a:t>，量子比特的测量后的态为｜</a:t>
            </a:r>
            <a:r>
              <a:rPr lang="en-US" altLang="zh-CN" i="1" dirty="0">
                <a:cs typeface="Arial" panose="020B0604020202020204" pitchFamily="34" charset="0"/>
              </a:rPr>
              <a:t>0</a:t>
            </a:r>
            <a:r>
              <a:rPr lang="en-US" altLang="zh-CN" dirty="0"/>
              <a:t>〉</a:t>
            </a:r>
            <a:r>
              <a:rPr lang="zh-CN" altLang="en-US" dirty="0"/>
              <a:t>或｜</a:t>
            </a:r>
            <a:r>
              <a:rPr lang="en-US" altLang="zh-CN" i="1" dirty="0">
                <a:cs typeface="Arial" panose="020B0604020202020204" pitchFamily="34" charset="0"/>
              </a:rPr>
              <a:t>1</a:t>
            </a:r>
            <a:r>
              <a:rPr lang="en-US" altLang="zh-CN" dirty="0"/>
              <a:t>〉</a:t>
            </a:r>
            <a:r>
              <a:rPr lang="zh-CN" altLang="en-US" dirty="0"/>
              <a:t>。因此，从一次测量，人们只能获得关于量子比特态的一个比特的信息。</a:t>
            </a:r>
            <a:endParaRPr lang="en-US" altLang="zh-CN"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r>
              <a:rPr lang="zh-CN" altLang="en-US" dirty="0"/>
              <a:t>量子比特</a:t>
            </a:r>
            <a:endParaRPr lang="zh-CN" altLang="en-US" dirty="0"/>
          </a:p>
        </p:txBody>
      </p:sp>
      <p:sp>
        <p:nvSpPr>
          <p:cNvPr id="374787" name="Rectangle 3"/>
          <p:cNvSpPr>
            <a:spLocks noGrp="1" noChangeArrowheads="1"/>
          </p:cNvSpPr>
          <p:nvPr>
            <p:ph idx="1"/>
          </p:nvPr>
        </p:nvSpPr>
        <p:spPr/>
        <p:txBody>
          <a:bodyPr/>
          <a:lstStyle/>
          <a:p>
            <a:r>
              <a:rPr lang="zh-CN" altLang="en-US" dirty="0"/>
              <a:t>在常规计算机中</a:t>
            </a:r>
            <a:r>
              <a:rPr lang="en-US" altLang="zh-CN" dirty="0"/>
              <a:t>, </a:t>
            </a:r>
            <a:r>
              <a:rPr lang="zh-CN" altLang="en-US" dirty="0"/>
              <a:t>一个数位的态是确定性的</a:t>
            </a:r>
            <a:r>
              <a:rPr lang="en-US" altLang="zh-CN" dirty="0"/>
              <a:t>(deterministic) , </a:t>
            </a:r>
            <a:r>
              <a:rPr lang="zh-CN" altLang="en-US" dirty="0"/>
              <a:t>而在量子计算机中</a:t>
            </a:r>
            <a:r>
              <a:rPr lang="en-US" altLang="zh-CN" dirty="0"/>
              <a:t>, </a:t>
            </a:r>
            <a:r>
              <a:rPr lang="zh-CN" altLang="en-US" dirty="0"/>
              <a:t>量子位的叠加态不是确定性的</a:t>
            </a:r>
            <a:r>
              <a:rPr lang="en-US" altLang="zh-CN" dirty="0"/>
              <a:t>, </a:t>
            </a:r>
            <a:r>
              <a:rPr lang="zh-CN" altLang="en-US" dirty="0"/>
              <a:t>而是概率性的</a:t>
            </a:r>
            <a:r>
              <a:rPr lang="en-US" altLang="zh-CN" dirty="0"/>
              <a:t>(probabilistic)</a:t>
            </a:r>
            <a:endParaRPr lang="en-US" altLang="zh-CN" dirty="0"/>
          </a:p>
          <a:p>
            <a:r>
              <a:rPr lang="zh-CN" altLang="en-US" dirty="0"/>
              <a:t>对处于叠加态的量子位进行观察或测量时</a:t>
            </a:r>
            <a:r>
              <a:rPr lang="en-US" altLang="zh-CN" dirty="0"/>
              <a:t>, </a:t>
            </a:r>
            <a:r>
              <a:rPr lang="zh-CN" altLang="en-US" dirty="0"/>
              <a:t>叠加态将受到干扰</a:t>
            </a:r>
            <a:r>
              <a:rPr lang="en-US" altLang="zh-CN" dirty="0"/>
              <a:t>, </a:t>
            </a:r>
            <a:r>
              <a:rPr lang="zh-CN" altLang="en-US" dirty="0"/>
              <a:t>并发生变化</a:t>
            </a:r>
            <a:r>
              <a:rPr lang="en-US" altLang="zh-CN" dirty="0"/>
              <a:t>, </a:t>
            </a:r>
            <a:r>
              <a:rPr lang="zh-CN" altLang="en-US" dirty="0"/>
              <a:t>这种变化称为坍缩</a:t>
            </a:r>
            <a:r>
              <a:rPr lang="en-US" altLang="zh-CN" dirty="0"/>
              <a:t>. </a:t>
            </a:r>
            <a:r>
              <a:rPr lang="zh-CN" altLang="en-US" dirty="0"/>
              <a:t>一旦测量，则为坍缩基本态。</a:t>
            </a:r>
            <a:endParaRPr lang="zh-CN" altLang="en-US" dirty="0"/>
          </a:p>
          <a:p>
            <a:r>
              <a:rPr lang="zh-CN" altLang="en-US" dirty="0"/>
              <a:t>如果不进行测量，一个量子比特代表多少信息？</a:t>
            </a:r>
            <a:endParaRPr lang="zh-CN" altLang="en-US" dirty="0"/>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4787">
                                            <p:txEl>
                                              <p:pRg st="0" end="0"/>
                                            </p:txEl>
                                          </p:spTgt>
                                        </p:tgtEl>
                                        <p:attrNameLst>
                                          <p:attrName>style.visibility</p:attrName>
                                        </p:attrNameLst>
                                      </p:cBhvr>
                                      <p:to>
                                        <p:strVal val="visible"/>
                                      </p:to>
                                    </p:set>
                                    <p:animEffect transition="in" filter="barn(inVertical)">
                                      <p:cBhvr>
                                        <p:cTn id="7" dur="500"/>
                                        <p:tgtEl>
                                          <p:spTgt spid="374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74787">
                                            <p:txEl>
                                              <p:pRg st="1" end="1"/>
                                            </p:txEl>
                                          </p:spTgt>
                                        </p:tgtEl>
                                        <p:attrNameLst>
                                          <p:attrName>style.visibility</p:attrName>
                                        </p:attrNameLst>
                                      </p:cBhvr>
                                      <p:to>
                                        <p:strVal val="visible"/>
                                      </p:to>
                                    </p:set>
                                    <p:animEffect transition="in" filter="barn(inVertical)">
                                      <p:cBhvr>
                                        <p:cTn id="12" dur="500"/>
                                        <p:tgtEl>
                                          <p:spTgt spid="374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74787">
                                            <p:txEl>
                                              <p:pRg st="2" end="2"/>
                                            </p:txEl>
                                          </p:spTgt>
                                        </p:tgtEl>
                                        <p:attrNameLst>
                                          <p:attrName>style.visibility</p:attrName>
                                        </p:attrNameLst>
                                      </p:cBhvr>
                                      <p:to>
                                        <p:strVal val="visible"/>
                                      </p:to>
                                    </p:set>
                                    <p:animEffect transition="in" filter="barn(inVertical)">
                                      <p:cBhvr>
                                        <p:cTn id="17" dur="500"/>
                                        <p:tgtEl>
                                          <p:spTgt spid="374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量子比特</a:t>
            </a:r>
            <a:endParaRPr lang="zh-CN" altLang="en-US" dirty="0"/>
          </a:p>
        </p:txBody>
      </p:sp>
      <p:sp>
        <p:nvSpPr>
          <p:cNvPr id="3" name="内容占位符 2"/>
          <p:cNvSpPr>
            <a:spLocks noGrp="1"/>
          </p:cNvSpPr>
          <p:nvPr>
            <p:ph idx="1"/>
          </p:nvPr>
        </p:nvSpPr>
        <p:spPr/>
        <p:txBody>
          <a:bodyPr>
            <a:normAutofit/>
          </a:bodyPr>
          <a:lstStyle/>
          <a:p>
            <a:r>
              <a:rPr lang="zh-CN" altLang="en-US" dirty="0"/>
              <a:t>这是个微妙的问题。如果不进行测量，人们如何度量信息呢？尽管如此，这里仍有重要概念性问题存在。</a:t>
            </a:r>
            <a:endParaRPr lang="en-US" altLang="zh-CN" dirty="0"/>
          </a:p>
          <a:p>
            <a:r>
              <a:rPr lang="zh-CN" altLang="en-US" dirty="0"/>
              <a:t>因为当演化量子比特的封闭量子系统，不做任何“测量”，它显然会保持住用于描述该态的全部连续变量（如</a:t>
            </a:r>
            <a:r>
              <a:rPr lang="en-US" altLang="zh-CN" dirty="0"/>
              <a:t>α</a:t>
            </a:r>
            <a:r>
              <a:rPr lang="zh-CN" altLang="en-US" dirty="0"/>
              <a:t>和</a:t>
            </a:r>
            <a:r>
              <a:rPr lang="en-US" altLang="zh-CN" dirty="0"/>
              <a:t>β</a:t>
            </a:r>
            <a:r>
              <a:rPr lang="zh-CN" altLang="en-US" dirty="0"/>
              <a:t>）的踪迹。</a:t>
            </a:r>
            <a:endParaRPr lang="en-US" altLang="zh-CN" dirty="0"/>
          </a:p>
          <a:p>
            <a:r>
              <a:rPr lang="zh-CN" altLang="en-US" dirty="0"/>
              <a:t>在某种意义上讲，在一个量子比特中，隐藏有大量的“</a:t>
            </a:r>
            <a:r>
              <a:rPr lang="en-US" altLang="zh-CN" dirty="0"/>
              <a:t>hidden information</a:t>
            </a:r>
            <a:r>
              <a:rPr lang="zh-CN" altLang="en-US" dirty="0"/>
              <a:t>”（隐信息），更有趣的是，这种额外“信息”的数量随着量子比特的数目指数增加。如何理解这类隐信息正是我们要致力研究的问题，也是量子力学之所以成为信息处理强有力工具的核心。</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双量子比特</a:t>
            </a:r>
            <a:endParaRPr lang="zh-CN" altLang="en-US" dirty="0"/>
          </a:p>
        </p:txBody>
      </p:sp>
      <p:sp>
        <p:nvSpPr>
          <p:cNvPr id="3" name="内容占位符 2"/>
          <p:cNvSpPr>
            <a:spLocks noGrp="1"/>
          </p:cNvSpPr>
          <p:nvPr>
            <p:ph idx="1"/>
          </p:nvPr>
        </p:nvSpPr>
        <p:spPr>
          <a:xfrm>
            <a:off x="457200" y="1935480"/>
            <a:ext cx="8229600" cy="4661872"/>
          </a:xfrm>
        </p:spPr>
        <p:txBody>
          <a:bodyPr/>
          <a:lstStyle/>
          <a:p>
            <a:r>
              <a:rPr lang="zh-CN" altLang="en-US" dirty="0"/>
              <a:t>两个经典比特，有</a:t>
            </a:r>
            <a:r>
              <a:rPr lang="en-US" altLang="zh-CN" dirty="0"/>
              <a:t>4</a:t>
            </a:r>
            <a:r>
              <a:rPr lang="zh-CN" altLang="en-US" dirty="0"/>
              <a:t>种可能状态：</a:t>
            </a:r>
            <a:r>
              <a:rPr lang="en-US" altLang="zh-CN" dirty="0"/>
              <a:t>00,01,10,11</a:t>
            </a:r>
            <a:endParaRPr lang="en-US" altLang="zh-CN" dirty="0"/>
          </a:p>
          <a:p>
            <a:r>
              <a:rPr lang="zh-CN" altLang="en-US" dirty="0"/>
              <a:t>两个量子比特也有</a:t>
            </a:r>
            <a:r>
              <a:rPr lang="en-US" altLang="zh-CN" dirty="0"/>
              <a:t>4</a:t>
            </a:r>
            <a:r>
              <a:rPr lang="zh-CN" altLang="en-US" dirty="0"/>
              <a:t>种计算基态：</a:t>
            </a:r>
            <a:br>
              <a:rPr lang="en-US" altLang="zh-CN" dirty="0"/>
            </a:br>
            <a:r>
              <a:rPr lang="zh-CN" altLang="en-US" dirty="0"/>
              <a:t>｜</a:t>
            </a:r>
            <a:r>
              <a:rPr lang="en-US" altLang="zh-CN" i="1" dirty="0">
                <a:cs typeface="Arial" panose="020B0604020202020204" pitchFamily="34" charset="0"/>
              </a:rPr>
              <a:t>00</a:t>
            </a:r>
            <a:r>
              <a:rPr lang="en-US" altLang="zh-CN" dirty="0"/>
              <a:t>〉,</a:t>
            </a:r>
            <a:r>
              <a:rPr lang="zh-CN" altLang="en-US" dirty="0"/>
              <a:t>｜</a:t>
            </a:r>
            <a:r>
              <a:rPr lang="en-US" altLang="zh-CN" i="1" dirty="0">
                <a:cs typeface="Arial" panose="020B0604020202020204" pitchFamily="34" charset="0"/>
              </a:rPr>
              <a:t>01</a:t>
            </a:r>
            <a:r>
              <a:rPr lang="en-US" altLang="zh-CN" dirty="0"/>
              <a:t>〉,</a:t>
            </a:r>
            <a:r>
              <a:rPr lang="zh-CN" altLang="en-US" dirty="0"/>
              <a:t>｜</a:t>
            </a:r>
            <a:r>
              <a:rPr lang="en-US" altLang="zh-CN" dirty="0"/>
              <a:t>1</a:t>
            </a:r>
            <a:r>
              <a:rPr lang="en-US" altLang="zh-CN" i="1" dirty="0">
                <a:cs typeface="Arial" panose="020B0604020202020204" pitchFamily="34" charset="0"/>
              </a:rPr>
              <a:t>0</a:t>
            </a:r>
            <a:r>
              <a:rPr lang="en-US" altLang="zh-CN" dirty="0"/>
              <a:t>〉,</a:t>
            </a:r>
            <a:r>
              <a:rPr lang="zh-CN" altLang="en-US" dirty="0"/>
              <a:t>｜</a:t>
            </a:r>
            <a:r>
              <a:rPr lang="en-US" altLang="zh-CN" dirty="0"/>
              <a:t>11〉</a:t>
            </a:r>
            <a:r>
              <a:rPr lang="zh-CN" altLang="en-US" dirty="0"/>
              <a:t>。</a:t>
            </a:r>
            <a:endParaRPr lang="en-US" altLang="zh-CN" dirty="0"/>
          </a:p>
          <a:p>
            <a:r>
              <a:rPr lang="zh-CN" altLang="en-US" dirty="0"/>
              <a:t>两个量子比特也可以处于这</a:t>
            </a:r>
            <a:r>
              <a:rPr lang="en-US" altLang="zh-CN" dirty="0"/>
              <a:t>4</a:t>
            </a:r>
            <a:r>
              <a:rPr lang="zh-CN" altLang="en-US" dirty="0"/>
              <a:t>个基本状态的叠加，可表示为：</a:t>
            </a:r>
            <a:endParaRPr lang="en-US" altLang="zh-CN" dirty="0"/>
          </a:p>
          <a:p>
            <a:endParaRPr lang="en-US" altLang="zh-CN" dirty="0"/>
          </a:p>
          <a:p>
            <a:pPr marL="0" indent="0">
              <a:buNone/>
            </a:pPr>
            <a:r>
              <a:rPr lang="en-US" altLang="zh-CN" dirty="0"/>
              <a:t>	</a:t>
            </a:r>
            <a:r>
              <a:rPr lang="zh-CN" altLang="en-US" dirty="0"/>
              <a:t>归一化条件为：</a:t>
            </a:r>
            <a:endParaRPr lang="en-US" altLang="zh-CN" dirty="0"/>
          </a:p>
          <a:p>
            <a:pPr marL="0" indent="0">
              <a:buNone/>
            </a:pPr>
            <a:endParaRPr lang="en-US" altLang="zh-CN" dirty="0"/>
          </a:p>
          <a:p>
            <a:pPr marL="0" indent="0">
              <a:buNone/>
            </a:pPr>
            <a:endParaRPr lang="en-US" altLang="zh-CN" dirty="0"/>
          </a:p>
          <a:p>
            <a:pPr marL="0" indent="0">
              <a:buNone/>
            </a:pPr>
            <a:r>
              <a:rPr lang="en-US" altLang="zh-CN" dirty="0"/>
              <a:t>           {0,1}</a:t>
            </a:r>
            <a:r>
              <a:rPr lang="en-US" altLang="zh-CN" baseline="30000" dirty="0"/>
              <a:t>2</a:t>
            </a:r>
            <a:r>
              <a:rPr lang="zh-CN" altLang="en-US" dirty="0"/>
              <a:t>代表长为</a:t>
            </a:r>
            <a:r>
              <a:rPr lang="en-US" altLang="zh-CN" dirty="0"/>
              <a:t>2</a:t>
            </a:r>
            <a:r>
              <a:rPr lang="zh-CN" altLang="en-US" dirty="0"/>
              <a:t>的字符串集合，每个字符取</a:t>
            </a:r>
            <a:r>
              <a:rPr lang="en-US" altLang="zh-CN" dirty="0"/>
              <a:t>0</a:t>
            </a:r>
            <a:r>
              <a:rPr lang="zh-CN" altLang="en-US" dirty="0"/>
              <a:t>或</a:t>
            </a:r>
            <a:r>
              <a:rPr lang="en-US" altLang="zh-CN" dirty="0"/>
              <a:t>1.</a:t>
            </a: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4103966"/>
            <a:ext cx="5818246"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5225961"/>
            <a:ext cx="4349952" cy="795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双量子比特</a:t>
            </a:r>
            <a:endParaRPr lang="zh-CN" altLang="en-US" dirty="0"/>
          </a:p>
        </p:txBody>
      </p:sp>
      <p:sp>
        <p:nvSpPr>
          <p:cNvPr id="3" name="内容占位符 2"/>
          <p:cNvSpPr>
            <a:spLocks noGrp="1"/>
          </p:cNvSpPr>
          <p:nvPr>
            <p:ph idx="1"/>
          </p:nvPr>
        </p:nvSpPr>
        <p:spPr>
          <a:xfrm>
            <a:off x="457200" y="1935480"/>
            <a:ext cx="8435280" cy="4733880"/>
          </a:xfrm>
        </p:spPr>
        <p:txBody>
          <a:bodyPr/>
          <a:lstStyle/>
          <a:p>
            <a:r>
              <a:rPr lang="zh-CN" altLang="en-US" dirty="0"/>
              <a:t>若测量子集（第一个量子比特），测得</a:t>
            </a:r>
            <a:r>
              <a:rPr lang="en-US" altLang="zh-CN" dirty="0"/>
              <a:t>0</a:t>
            </a:r>
            <a:r>
              <a:rPr lang="zh-CN" altLang="en-US" dirty="0"/>
              <a:t>的几率为</a:t>
            </a:r>
            <a:br>
              <a:rPr lang="en-US" altLang="zh-CN" dirty="0"/>
            </a:br>
            <a:r>
              <a:rPr lang="en-US" altLang="zh-CN" dirty="0"/>
              <a:t>                        </a:t>
            </a:r>
            <a:r>
              <a:rPr lang="zh-CN" altLang="en-US" dirty="0"/>
              <a:t>，测量后的量子态为（归一化）</a:t>
            </a:r>
            <a:endParaRPr lang="en-US" altLang="zh-CN" dirty="0"/>
          </a:p>
          <a:p>
            <a:pPr marL="0" indent="0">
              <a:buNone/>
            </a:pPr>
            <a:r>
              <a:rPr lang="en-US" altLang="zh-CN" dirty="0"/>
              <a:t>  </a:t>
            </a:r>
            <a:endParaRPr lang="en-US" altLang="zh-CN" dirty="0"/>
          </a:p>
          <a:p>
            <a:pPr marL="0" indent="0">
              <a:buNone/>
            </a:pPr>
            <a:endParaRPr lang="en-US" altLang="zh-CN" dirty="0"/>
          </a:p>
          <a:p>
            <a:pPr marL="0" indent="0">
              <a:buNone/>
            </a:pPr>
            <a:endParaRPr lang="en-US" altLang="zh-CN" dirty="0"/>
          </a:p>
          <a:p>
            <a:r>
              <a:rPr lang="zh-CN" altLang="en-US" dirty="0"/>
              <a:t>而得到</a:t>
            </a:r>
            <a:r>
              <a:rPr lang="en-US" altLang="zh-CN" dirty="0"/>
              <a:t>1</a:t>
            </a:r>
            <a:r>
              <a:rPr lang="zh-CN" altLang="en-US" dirty="0"/>
              <a:t>的概率为                        ，测量后状态为</a:t>
            </a:r>
            <a:endParaRPr lang="en-US" altLang="zh-CN" dirty="0"/>
          </a:p>
          <a:p>
            <a:endParaRPr lang="en-US" altLang="zh-CN" dirty="0"/>
          </a:p>
          <a:p>
            <a:endParaRPr lang="en-US" altLang="zh-CN" dirty="0"/>
          </a:p>
          <a:p>
            <a:r>
              <a:rPr lang="zh-CN" altLang="en-US" dirty="0"/>
              <a:t>两量子比特的重要量子态是</a:t>
            </a:r>
            <a:r>
              <a:rPr lang="en-US" altLang="zh-CN" dirty="0"/>
              <a:t>Bell</a:t>
            </a:r>
            <a:r>
              <a:rPr lang="zh-CN" altLang="en-US" dirty="0"/>
              <a:t>态或</a:t>
            </a:r>
            <a:r>
              <a:rPr lang="en-US" altLang="zh-CN" dirty="0"/>
              <a:t>EPR</a:t>
            </a:r>
            <a:r>
              <a:rPr lang="zh-CN" altLang="en-US" dirty="0"/>
              <a:t>对，如</a:t>
            </a:r>
            <a:br>
              <a:rPr lang="en-US" altLang="zh-CN" dirty="0"/>
            </a:br>
            <a:r>
              <a:rPr lang="zh-CN" altLang="en-US" dirty="0"/>
              <a:t>两量子比特之间存在量子关联。</a:t>
            </a:r>
            <a:endParaRPr lang="en-US" altLang="zh-C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4175" y="2348880"/>
            <a:ext cx="1742472" cy="411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5411" y="2890839"/>
            <a:ext cx="3122318" cy="898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4263467"/>
            <a:ext cx="1952857"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4869160"/>
            <a:ext cx="2813278"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6336" y="5589240"/>
            <a:ext cx="1512975" cy="599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par>
                                <p:cTn id="8" presetID="16" presetClass="entr" presetSubtype="21" fill="hold" nodeType="withEffect">
                                  <p:stCondLst>
                                    <p:cond delay="0"/>
                                  </p:stCondLst>
                                  <p:childTnLst>
                                    <p:set>
                                      <p:cBhvr>
                                        <p:cTn id="9" dur="1" fill="hold">
                                          <p:stCondLst>
                                            <p:cond delay="0"/>
                                          </p:stCondLst>
                                        </p:cTn>
                                        <p:tgtEl>
                                          <p:spTgt spid="2051"/>
                                        </p:tgtEl>
                                        <p:attrNameLst>
                                          <p:attrName>style.visibility</p:attrName>
                                        </p:attrNameLst>
                                      </p:cBhvr>
                                      <p:to>
                                        <p:strVal val="visible"/>
                                      </p:to>
                                    </p:set>
                                    <p:animEffect transition="in" filter="barn(inVertical)">
                                      <p:cBhvr>
                                        <p:cTn id="10" dur="500"/>
                                        <p:tgtEl>
                                          <p:spTgt spid="205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2053"/>
                                        </p:tgtEl>
                                        <p:attrNameLst>
                                          <p:attrName>style.visibility</p:attrName>
                                        </p:attrNameLst>
                                      </p:cBhvr>
                                      <p:to>
                                        <p:strVal val="visible"/>
                                      </p:to>
                                    </p:set>
                                    <p:animEffect transition="in" filter="barn(inVertical)">
                                      <p:cBhvr>
                                        <p:cTn id="24" dur="500"/>
                                        <p:tgtEl>
                                          <p:spTgt spid="2053"/>
                                        </p:tgtEl>
                                      </p:cBhvr>
                                    </p:animEffect>
                                  </p:childTnLst>
                                </p:cTn>
                              </p:par>
                              <p:par>
                                <p:cTn id="25" presetID="16" presetClass="entr" presetSubtype="21" fill="hold" nodeType="withEffect">
                                  <p:stCondLst>
                                    <p:cond delay="0"/>
                                  </p:stCondLst>
                                  <p:childTnLst>
                                    <p:set>
                                      <p:cBhvr>
                                        <p:cTn id="26" dur="1" fill="hold">
                                          <p:stCondLst>
                                            <p:cond delay="0"/>
                                          </p:stCondLst>
                                        </p:cTn>
                                        <p:tgtEl>
                                          <p:spTgt spid="2052"/>
                                        </p:tgtEl>
                                        <p:attrNameLst>
                                          <p:attrName>style.visibility</p:attrName>
                                        </p:attrNameLst>
                                      </p:cBhvr>
                                      <p:to>
                                        <p:strVal val="visible"/>
                                      </p:to>
                                    </p:set>
                                    <p:animEffect transition="in" filter="barn(inVertical)">
                                      <p:cBhvr>
                                        <p:cTn id="27" dur="500"/>
                                        <p:tgtEl>
                                          <p:spTgt spid="205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arn(inVertical)">
                                      <p:cBhvr>
                                        <p:cTn id="32" dur="500"/>
                                        <p:tgtEl>
                                          <p:spTgt spid="3">
                                            <p:txEl>
                                              <p:pRg st="7" end="7"/>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2054"/>
                                        </p:tgtEl>
                                        <p:attrNameLst>
                                          <p:attrName>style.visibility</p:attrName>
                                        </p:attrNameLst>
                                      </p:cBhvr>
                                      <p:to>
                                        <p:strVal val="visible"/>
                                      </p:to>
                                    </p:set>
                                    <p:animEffect transition="in" filter="barn(inVertical)">
                                      <p:cBhvr>
                                        <p:cTn id="35"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双量子比特</a:t>
            </a:r>
            <a:endParaRPr lang="zh-CN" altLang="en-US" dirty="0"/>
          </a:p>
        </p:txBody>
      </p:sp>
      <p:sp>
        <p:nvSpPr>
          <p:cNvPr id="3" name="内容占位符 2"/>
          <p:cNvSpPr>
            <a:spLocks noGrp="1"/>
          </p:cNvSpPr>
          <p:nvPr>
            <p:ph idx="1"/>
          </p:nvPr>
        </p:nvSpPr>
        <p:spPr/>
        <p:txBody>
          <a:bodyPr/>
          <a:lstStyle/>
          <a:p>
            <a:r>
              <a:rPr lang="zh-CN" altLang="en-US" dirty="0"/>
              <a:t>同理，单独测量第</a:t>
            </a:r>
            <a:r>
              <a:rPr lang="en-US" altLang="zh-CN" dirty="0"/>
              <a:t>2</a:t>
            </a:r>
            <a:r>
              <a:rPr lang="zh-CN" altLang="en-US" dirty="0"/>
              <a:t>个量子比特，得到</a:t>
            </a:r>
            <a:r>
              <a:rPr lang="en-US" altLang="zh-CN" dirty="0"/>
              <a:t>0</a:t>
            </a:r>
            <a:r>
              <a:rPr lang="zh-CN" altLang="en-US" dirty="0"/>
              <a:t>的概率为</a:t>
            </a:r>
            <a:br>
              <a:rPr lang="en-US" altLang="zh-CN" dirty="0"/>
            </a:br>
            <a:r>
              <a:rPr lang="en-US" altLang="zh-CN" dirty="0"/>
              <a:t>                     </a:t>
            </a:r>
            <a:r>
              <a:rPr lang="zh-CN" altLang="en-US" dirty="0"/>
              <a:t>，测量后状态为</a:t>
            </a:r>
            <a:endParaRPr lang="en-US" altLang="zh-CN" dirty="0"/>
          </a:p>
          <a:p>
            <a:endParaRPr lang="en-US" altLang="zh-CN" dirty="0"/>
          </a:p>
          <a:p>
            <a:endParaRPr lang="en-US" altLang="zh-CN" dirty="0"/>
          </a:p>
          <a:p>
            <a:r>
              <a:rPr lang="zh-CN" altLang="en-US" dirty="0"/>
              <a:t>而得到</a:t>
            </a:r>
            <a:r>
              <a:rPr lang="en-US" altLang="zh-CN" dirty="0"/>
              <a:t>1</a:t>
            </a:r>
            <a:r>
              <a:rPr lang="zh-CN" altLang="en-US" dirty="0"/>
              <a:t>的概率为                  ，测量后状态为</a:t>
            </a:r>
            <a:endParaRPr lang="en-US" altLang="zh-CN" dirty="0"/>
          </a:p>
          <a:p>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2348880"/>
            <a:ext cx="1656184"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7890" y="2936244"/>
            <a:ext cx="2575235" cy="70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3853764"/>
            <a:ext cx="1368152" cy="36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4365104"/>
            <a:ext cx="2304256" cy="65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en-US" dirty="0"/>
              <a:t>个量子比特系统</a:t>
            </a:r>
            <a:endParaRPr lang="zh-CN" altLang="en-US" dirty="0"/>
          </a:p>
        </p:txBody>
      </p:sp>
      <p:sp>
        <p:nvSpPr>
          <p:cNvPr id="3" name="灯片编号占位符 2"/>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560541" y="1847955"/>
            <a:ext cx="7776864" cy="47673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en-US" dirty="0"/>
              <a:t>个量子比特系统</a:t>
            </a:r>
            <a:endParaRPr lang="zh-CN" alt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1844824"/>
            <a:ext cx="8103482"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zh-CN" altLang="en-US" dirty="0"/>
              <a:t>量子计算</a:t>
            </a:r>
            <a:endParaRPr lang="zh-CN" altLang="en-US" dirty="0"/>
          </a:p>
        </p:txBody>
      </p:sp>
      <p:pic>
        <p:nvPicPr>
          <p:cNvPr id="375812" name="Picture 4"/>
          <p:cNvPicPr>
            <a:picLocks noChangeAspect="1" noChangeArrowheads="1"/>
          </p:cNvPicPr>
          <p:nvPr/>
        </p:nvPicPr>
        <p:blipFill>
          <a:blip r:embed="rId1">
            <a:lum bright="-36000" contrast="54000"/>
            <a:extLst>
              <a:ext uri="{28A0092B-C50C-407E-A947-70E740481C1C}">
                <a14:useLocalDpi xmlns:a14="http://schemas.microsoft.com/office/drawing/2010/main" val="0"/>
              </a:ext>
            </a:extLst>
          </a:blip>
          <a:srcRect/>
          <a:stretch>
            <a:fillRect/>
          </a:stretch>
        </p:blipFill>
        <p:spPr bwMode="auto">
          <a:xfrm>
            <a:off x="258067" y="2060848"/>
            <a:ext cx="8634413" cy="402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zh-CN" altLang="en-US" dirty="0"/>
              <a:t>量子计算</a:t>
            </a:r>
            <a:endParaRPr lang="zh-CN" altLang="en-US" dirty="0"/>
          </a:p>
        </p:txBody>
      </p:sp>
      <p:pic>
        <p:nvPicPr>
          <p:cNvPr id="377860" name="Picture 4"/>
          <p:cNvPicPr>
            <a:picLocks noChangeAspect="1" noChangeArrowheads="1"/>
          </p:cNvPicPr>
          <p:nvPr/>
        </p:nvPicPr>
        <p:blipFill>
          <a:blip r:embed="rId1">
            <a:lum bright="-30000" contrast="48000"/>
            <a:extLst>
              <a:ext uri="{28A0092B-C50C-407E-A947-70E740481C1C}">
                <a14:useLocalDpi xmlns:a14="http://schemas.microsoft.com/office/drawing/2010/main" val="0"/>
              </a:ext>
            </a:extLst>
          </a:blip>
          <a:srcRect/>
          <a:stretch>
            <a:fillRect/>
          </a:stretch>
        </p:blipFill>
        <p:spPr bwMode="auto">
          <a:xfrm>
            <a:off x="1493862" y="2174081"/>
            <a:ext cx="588645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7861" name="Picture 5"/>
          <p:cNvPicPr>
            <a:picLocks noChangeAspect="1" noChangeArrowheads="1"/>
          </p:cNvPicPr>
          <p:nvPr/>
        </p:nvPicPr>
        <p:blipFill>
          <a:blip r:embed="rId2">
            <a:lum bright="-30000" contrast="48000"/>
            <a:extLst>
              <a:ext uri="{28A0092B-C50C-407E-A947-70E740481C1C}">
                <a14:useLocalDpi xmlns:a14="http://schemas.microsoft.com/office/drawing/2010/main" val="0"/>
              </a:ext>
            </a:extLst>
          </a:blip>
          <a:srcRect/>
          <a:stretch>
            <a:fillRect/>
          </a:stretch>
        </p:blipFill>
        <p:spPr bwMode="auto">
          <a:xfrm>
            <a:off x="2001862" y="3626643"/>
            <a:ext cx="44958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7862" name="Picture 6"/>
          <p:cNvPicPr>
            <a:picLocks noChangeAspect="1" noChangeArrowheads="1"/>
          </p:cNvPicPr>
          <p:nvPr/>
        </p:nvPicPr>
        <p:blipFill>
          <a:blip r:embed="rId3">
            <a:lum bright="-30000" contrast="48000"/>
            <a:extLst>
              <a:ext uri="{28A0092B-C50C-407E-A947-70E740481C1C}">
                <a14:useLocalDpi xmlns:a14="http://schemas.microsoft.com/office/drawing/2010/main" val="0"/>
              </a:ext>
            </a:extLst>
          </a:blip>
          <a:srcRect/>
          <a:stretch>
            <a:fillRect/>
          </a:stretch>
        </p:blipFill>
        <p:spPr bwMode="auto">
          <a:xfrm>
            <a:off x="2109812" y="5190331"/>
            <a:ext cx="49911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3" name="Rectangle 3"/>
          <p:cNvSpPr>
            <a:spLocks noGrp="1" noChangeArrowheads="1"/>
          </p:cNvSpPr>
          <p:nvPr>
            <p:ph idx="1"/>
          </p:nvPr>
        </p:nvSpPr>
        <p:spPr>
          <a:xfrm>
            <a:off x="323528" y="1935480"/>
            <a:ext cx="8229600" cy="4389120"/>
          </a:xfrm>
        </p:spPr>
        <p:txBody>
          <a:bodyPr/>
          <a:lstStyle/>
          <a:p>
            <a:r>
              <a:rPr lang="zh-CN" altLang="en-US" dirty="0"/>
              <a:t>内积</a:t>
            </a:r>
            <a:endParaRPr lang="zh-CN" altLang="en-US" dirty="0"/>
          </a:p>
          <a:p>
            <a:endParaRPr lang="zh-CN" altLang="en-US" dirty="0"/>
          </a:p>
          <a:p>
            <a:endParaRPr lang="zh-CN" altLang="en-US" dirty="0"/>
          </a:p>
          <a:p>
            <a:r>
              <a:rPr lang="zh-CN" altLang="en-US" dirty="0"/>
              <a:t>外积</a:t>
            </a:r>
            <a:endParaRPr lang="zh-CN" altLang="en-US" dirty="0"/>
          </a:p>
        </p:txBody>
      </p:sp>
      <p:pic>
        <p:nvPicPr>
          <p:cNvPr id="378884" name="Picture 4"/>
          <p:cNvPicPr>
            <a:picLocks noChangeAspect="1" noChangeArrowheads="1"/>
          </p:cNvPicPr>
          <p:nvPr/>
        </p:nvPicPr>
        <p:blipFill>
          <a:blip r:embed="rId1">
            <a:lum bright="-48000" contrast="66000"/>
            <a:extLst>
              <a:ext uri="{28A0092B-C50C-407E-A947-70E740481C1C}">
                <a14:useLocalDpi xmlns:a14="http://schemas.microsoft.com/office/drawing/2010/main" val="0"/>
              </a:ext>
            </a:extLst>
          </a:blip>
          <a:srcRect/>
          <a:stretch>
            <a:fillRect/>
          </a:stretch>
        </p:blipFill>
        <p:spPr bwMode="auto">
          <a:xfrm>
            <a:off x="1752600" y="1916832"/>
            <a:ext cx="34671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885" name="Picture 5"/>
          <p:cNvPicPr>
            <a:picLocks noChangeAspect="1" noChangeArrowheads="1"/>
          </p:cNvPicPr>
          <p:nvPr/>
        </p:nvPicPr>
        <p:blipFill>
          <a:blip r:embed="rId2">
            <a:lum bright="-48000" contrast="66000"/>
            <a:extLst>
              <a:ext uri="{28A0092B-C50C-407E-A947-70E740481C1C}">
                <a14:useLocalDpi xmlns:a14="http://schemas.microsoft.com/office/drawing/2010/main" val="0"/>
              </a:ext>
            </a:extLst>
          </a:blip>
          <a:srcRect/>
          <a:stretch>
            <a:fillRect/>
          </a:stretch>
        </p:blipFill>
        <p:spPr bwMode="auto">
          <a:xfrm>
            <a:off x="1752600" y="2643549"/>
            <a:ext cx="73914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886" name="Picture 6"/>
          <p:cNvPicPr>
            <a:picLocks noChangeAspect="1" noChangeArrowheads="1"/>
          </p:cNvPicPr>
          <p:nvPr/>
        </p:nvPicPr>
        <p:blipFill>
          <a:blip r:embed="rId3">
            <a:lum bright="-48000" contrast="66000"/>
            <a:extLst>
              <a:ext uri="{28A0092B-C50C-407E-A947-70E740481C1C}">
                <a14:useLocalDpi xmlns:a14="http://schemas.microsoft.com/office/drawing/2010/main" val="0"/>
              </a:ext>
            </a:extLst>
          </a:blip>
          <a:srcRect/>
          <a:stretch>
            <a:fillRect/>
          </a:stretch>
        </p:blipFill>
        <p:spPr bwMode="auto">
          <a:xfrm>
            <a:off x="1752600" y="3308899"/>
            <a:ext cx="122872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887" name="Picture 7"/>
          <p:cNvPicPr>
            <a:picLocks noChangeAspect="1" noChangeArrowheads="1"/>
          </p:cNvPicPr>
          <p:nvPr/>
        </p:nvPicPr>
        <p:blipFill>
          <a:blip r:embed="rId4">
            <a:lum bright="-48000" contrast="66000"/>
            <a:extLst>
              <a:ext uri="{28A0092B-C50C-407E-A947-70E740481C1C}">
                <a14:useLocalDpi xmlns:a14="http://schemas.microsoft.com/office/drawing/2010/main" val="0"/>
              </a:ext>
            </a:extLst>
          </a:blip>
          <a:srcRect/>
          <a:stretch>
            <a:fillRect/>
          </a:stretch>
        </p:blipFill>
        <p:spPr bwMode="auto">
          <a:xfrm>
            <a:off x="1752600" y="4005064"/>
            <a:ext cx="5800725"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
        <p:nvSpPr>
          <p:cNvPr id="10" name="Rectangle 2"/>
          <p:cNvSpPr>
            <a:spLocks noGrp="1" noChangeArrowheads="1"/>
          </p:cNvSpPr>
          <p:nvPr>
            <p:ph type="title"/>
          </p:nvPr>
        </p:nvSpPr>
        <p:spPr>
          <a:xfrm>
            <a:off x="457200" y="704088"/>
            <a:ext cx="8229600" cy="1143000"/>
          </a:xfrm>
        </p:spPr>
        <p:txBody>
          <a:bodyPr/>
          <a:lstStyle/>
          <a:p>
            <a:r>
              <a:rPr lang="zh-CN" altLang="en-US" dirty="0"/>
              <a:t>量子计算</a:t>
            </a:r>
            <a:endParaRPr lang="zh-CN" altLang="en-US" dirty="0"/>
          </a:p>
        </p:txBody>
      </p:sp>
      <p:pic>
        <p:nvPicPr>
          <p:cNvPr id="9" name="Picture 5"/>
          <p:cNvPicPr>
            <a:picLocks noChangeAspect="1" noChangeArrowheads="1"/>
          </p:cNvPicPr>
          <p:nvPr/>
        </p:nvPicPr>
        <p:blipFill>
          <a:blip r:embed="rId5">
            <a:lum bright="-30000" contrast="48000"/>
            <a:extLst>
              <a:ext uri="{28A0092B-C50C-407E-A947-70E740481C1C}">
                <a14:useLocalDpi xmlns:a14="http://schemas.microsoft.com/office/drawing/2010/main" val="0"/>
              </a:ext>
            </a:extLst>
          </a:blip>
          <a:srcRect/>
          <a:stretch>
            <a:fillRect/>
          </a:stretch>
        </p:blipFill>
        <p:spPr bwMode="auto">
          <a:xfrm>
            <a:off x="5652119" y="20424"/>
            <a:ext cx="3407995" cy="96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6">
            <a:lum bright="-30000" contrast="48000"/>
            <a:extLst>
              <a:ext uri="{28A0092B-C50C-407E-A947-70E740481C1C}">
                <a14:useLocalDpi xmlns:a14="http://schemas.microsoft.com/office/drawing/2010/main" val="0"/>
              </a:ext>
            </a:extLst>
          </a:blip>
          <a:srcRect/>
          <a:stretch>
            <a:fillRect/>
          </a:stretch>
        </p:blipFill>
        <p:spPr bwMode="auto">
          <a:xfrm>
            <a:off x="5497089" y="1035557"/>
            <a:ext cx="3646911" cy="396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zh-CN" altLang="en-US"/>
              <a:t>量子计算</a:t>
            </a:r>
            <a:endParaRPr lang="zh-CN" altLang="en-US"/>
          </a:p>
        </p:txBody>
      </p:sp>
      <p:sp>
        <p:nvSpPr>
          <p:cNvPr id="379907" name="Rectangle 3"/>
          <p:cNvSpPr>
            <a:spLocks noGrp="1" noChangeArrowheads="1"/>
          </p:cNvSpPr>
          <p:nvPr>
            <p:ph idx="1"/>
          </p:nvPr>
        </p:nvSpPr>
        <p:spPr/>
        <p:txBody>
          <a:bodyPr/>
          <a:lstStyle/>
          <a:p>
            <a:r>
              <a:rPr lang="zh-CN" altLang="en-US" dirty="0"/>
              <a:t>量子寄存器</a:t>
            </a:r>
            <a:endParaRPr lang="zh-CN" altLang="en-US" dirty="0"/>
          </a:p>
          <a:p>
            <a:pPr lvl="1"/>
            <a:r>
              <a:rPr lang="en-US" altLang="zh-CN" dirty="0"/>
              <a:t>n </a:t>
            </a:r>
            <a:r>
              <a:rPr lang="zh-CN" altLang="en-US" dirty="0"/>
              <a:t>个量子位的有序集合称为</a:t>
            </a:r>
            <a:r>
              <a:rPr lang="en-US" altLang="zh-CN" dirty="0"/>
              <a:t>n </a:t>
            </a:r>
            <a:r>
              <a:rPr lang="zh-CN" altLang="en-US" dirty="0"/>
              <a:t>位量子寄存器</a:t>
            </a:r>
            <a:r>
              <a:rPr lang="en-US" altLang="zh-CN" dirty="0"/>
              <a:t>.</a:t>
            </a:r>
            <a:endParaRPr lang="en-US" altLang="zh-CN" dirty="0"/>
          </a:p>
          <a:p>
            <a:pPr lvl="1"/>
            <a:r>
              <a:rPr lang="zh-CN" altLang="en-US" dirty="0"/>
              <a:t>它的态是</a:t>
            </a:r>
            <a:r>
              <a:rPr lang="en-US" altLang="zh-CN" dirty="0"/>
              <a:t>n </a:t>
            </a:r>
            <a:r>
              <a:rPr lang="zh-CN" altLang="en-US" dirty="0"/>
              <a:t>个量子位的态的张量积</a:t>
            </a:r>
            <a:r>
              <a:rPr lang="en-US" altLang="zh-CN" dirty="0"/>
              <a:t>( tensor product)</a:t>
            </a:r>
            <a:r>
              <a:rPr lang="zh-CN" altLang="en-US" dirty="0"/>
              <a:t>（直积）</a:t>
            </a:r>
            <a:r>
              <a:rPr lang="en-US" altLang="zh-CN" dirty="0"/>
              <a:t>.</a:t>
            </a:r>
            <a:endParaRPr lang="en-US" altLang="zh-CN" dirty="0"/>
          </a:p>
        </p:txBody>
      </p:sp>
      <p:sp>
        <p:nvSpPr>
          <p:cNvPr id="6" name="灯片编号占位符 5"/>
          <p:cNvSpPr>
            <a:spLocks noGrp="1"/>
          </p:cNvSpPr>
          <p:nvPr>
            <p:ph type="sldNum" sz="quarter" idx="12"/>
          </p:nvPr>
        </p:nvSpPr>
        <p:spPr/>
        <p:txBody>
          <a:bodyPr/>
          <a:lstStyle/>
          <a:p>
            <a:fld id="{A46BC0EA-BDAF-490E-8DA5-6446927129E6}" type="slidenum">
              <a:rPr lang="en-US" altLang="zh-CN"/>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6FC1E28-8304-43C1-A85A-CB991C2A06AF}" type="slidenum">
              <a:rPr lang="en-US" altLang="zh-CN"/>
            </a:fld>
            <a:endParaRPr lang="en-US" altLang="zh-CN"/>
          </a:p>
        </p:txBody>
      </p:sp>
      <p:pic>
        <p:nvPicPr>
          <p:cNvPr id="2" name="图片 1"/>
          <p:cNvPicPr>
            <a:picLocks noChangeAspect="1"/>
          </p:cNvPicPr>
          <p:nvPr/>
        </p:nvPicPr>
        <p:blipFill>
          <a:blip r:embed="rId1"/>
          <a:stretch>
            <a:fillRect/>
          </a:stretch>
        </p:blipFill>
        <p:spPr>
          <a:xfrm>
            <a:off x="179512" y="1585873"/>
            <a:ext cx="7419975" cy="50958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6FC1E28-8304-43C1-A85A-CB991C2A06AF}" type="slidenum">
              <a:rPr lang="en-US" altLang="zh-CN"/>
            </a:fld>
            <a:endParaRPr lang="en-US" altLang="zh-CN"/>
          </a:p>
        </p:txBody>
      </p:sp>
      <p:pic>
        <p:nvPicPr>
          <p:cNvPr id="4"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620688"/>
            <a:ext cx="4615245"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zh-CN" altLang="en-US"/>
              <a:t>量子计算</a:t>
            </a:r>
            <a:endParaRPr lang="zh-CN" altLang="en-US"/>
          </a:p>
        </p:txBody>
      </p:sp>
      <p:sp>
        <p:nvSpPr>
          <p:cNvPr id="5" name="灯片编号占位符 5"/>
          <p:cNvSpPr>
            <a:spLocks noGrp="1"/>
          </p:cNvSpPr>
          <p:nvPr>
            <p:ph type="sldNum" sz="quarter" idx="12"/>
          </p:nvPr>
        </p:nvSpPr>
        <p:spPr/>
        <p:txBody>
          <a:bodyPr/>
          <a:lstStyle/>
          <a:p>
            <a:fld id="{E93AEDA7-92D8-4BE5-AC30-19121E6BDD66}" type="slidenum">
              <a:rPr lang="en-US" altLang="zh-CN"/>
            </a:fld>
            <a:endParaRPr lang="en-US" altLang="zh-CN"/>
          </a:p>
        </p:txBody>
      </p:sp>
      <p:pic>
        <p:nvPicPr>
          <p:cNvPr id="4" name="图片 3"/>
          <p:cNvPicPr>
            <a:picLocks noChangeAspect="1"/>
          </p:cNvPicPr>
          <p:nvPr/>
        </p:nvPicPr>
        <p:blipFill>
          <a:blip r:embed="rId1"/>
          <a:stretch>
            <a:fillRect/>
          </a:stretch>
        </p:blipFill>
        <p:spPr>
          <a:xfrm>
            <a:off x="457200" y="1988840"/>
            <a:ext cx="6762750" cy="476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zh-CN" altLang="en-US"/>
              <a:t>量子计算</a:t>
            </a:r>
            <a:endParaRPr lang="zh-CN" altLang="en-US"/>
          </a:p>
        </p:txBody>
      </p:sp>
      <p:sp>
        <p:nvSpPr>
          <p:cNvPr id="5" name="灯片编号占位符 5"/>
          <p:cNvSpPr>
            <a:spLocks noGrp="1"/>
          </p:cNvSpPr>
          <p:nvPr>
            <p:ph type="sldNum" sz="quarter" idx="12"/>
          </p:nvPr>
        </p:nvSpPr>
        <p:spPr/>
        <p:txBody>
          <a:bodyPr/>
          <a:lstStyle/>
          <a:p>
            <a:fld id="{E93AEDA7-92D8-4BE5-AC30-19121E6BDD66}" type="slidenum">
              <a:rPr lang="en-US" altLang="zh-CN"/>
            </a:fld>
            <a:endParaRPr lang="en-US" altLang="zh-CN"/>
          </a:p>
        </p:txBody>
      </p:sp>
      <p:pic>
        <p:nvPicPr>
          <p:cNvPr id="362500" name="Picture 4"/>
          <p:cNvPicPr>
            <a:picLocks noChangeAspect="1" noChangeArrowheads="1"/>
          </p:cNvPicPr>
          <p:nvPr/>
        </p:nvPicPr>
        <p:blipFill>
          <a:blip r:embed="rId1">
            <a:lum bright="-30000" contrast="48000"/>
            <a:extLst>
              <a:ext uri="{28A0092B-C50C-407E-A947-70E740481C1C}">
                <a14:useLocalDpi xmlns:a14="http://schemas.microsoft.com/office/drawing/2010/main" val="0"/>
              </a:ext>
            </a:extLst>
          </a:blip>
          <a:srcRect/>
          <a:stretch>
            <a:fillRect/>
          </a:stretch>
        </p:blipFill>
        <p:spPr bwMode="auto">
          <a:xfrm>
            <a:off x="512763" y="1245641"/>
            <a:ext cx="8045450" cy="491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627784" y="980728"/>
            <a:ext cx="3810000" cy="3876675"/>
          </a:xfrm>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
        <p:nvSpPr>
          <p:cNvPr id="6" name="矩形 5"/>
          <p:cNvSpPr/>
          <p:nvPr/>
        </p:nvSpPr>
        <p:spPr>
          <a:xfrm>
            <a:off x="1547664" y="5173951"/>
            <a:ext cx="5544616" cy="1569660"/>
          </a:xfrm>
          <a:prstGeom prst="rect">
            <a:avLst/>
          </a:prstGeom>
        </p:spPr>
        <p:txBody>
          <a:bodyPr wrap="square">
            <a:spAutoFit/>
          </a:bodyPr>
          <a:lstStyle/>
          <a:p>
            <a:r>
              <a:rPr lang="en-US" altLang="zh-CN" sz="2400" dirty="0">
                <a:solidFill>
                  <a:srgbClr val="1A1A1A"/>
                </a:solidFill>
                <a:latin typeface="-apple-system"/>
              </a:rPr>
              <a:t>|a&gt;=|0101&gt;</a:t>
            </a:r>
            <a:r>
              <a:rPr lang="zh-CN" altLang="en-US" sz="2400" dirty="0">
                <a:solidFill>
                  <a:srgbClr val="1A1A1A"/>
                </a:solidFill>
                <a:latin typeface="-apple-system"/>
              </a:rPr>
              <a:t>，而</a:t>
            </a:r>
            <a:r>
              <a:rPr lang="en-US" altLang="zh-CN" sz="2400" dirty="0">
                <a:solidFill>
                  <a:srgbClr val="1A1A1A"/>
                </a:solidFill>
                <a:latin typeface="-apple-system"/>
              </a:rPr>
              <a:t>|b&gt;=|0101&gt;+|0101&gt;</a:t>
            </a:r>
            <a:r>
              <a:rPr lang="zh-CN" altLang="en-US" sz="2400" dirty="0">
                <a:solidFill>
                  <a:srgbClr val="1A1A1A"/>
                </a:solidFill>
                <a:latin typeface="-apple-system"/>
              </a:rPr>
              <a:t>，后者就是</a:t>
            </a:r>
            <a:r>
              <a:rPr lang="en-US" altLang="zh-CN" sz="2400" dirty="0">
                <a:solidFill>
                  <a:srgbClr val="1A1A1A"/>
                </a:solidFill>
                <a:latin typeface="-apple-system"/>
              </a:rPr>
              <a:t>4</a:t>
            </a:r>
            <a:r>
              <a:rPr lang="zh-CN" altLang="en-US" sz="2400" dirty="0">
                <a:solidFill>
                  <a:srgbClr val="1A1A1A"/>
                </a:solidFill>
                <a:latin typeface="-apple-system"/>
              </a:rPr>
              <a:t>和</a:t>
            </a:r>
            <a:r>
              <a:rPr lang="en-US" altLang="zh-CN" sz="2400" dirty="0">
                <a:solidFill>
                  <a:srgbClr val="1A1A1A"/>
                </a:solidFill>
                <a:latin typeface="-apple-system"/>
              </a:rPr>
              <a:t>5</a:t>
            </a:r>
            <a:r>
              <a:rPr lang="zh-CN" altLang="en-US" sz="2400" dirty="0">
                <a:solidFill>
                  <a:srgbClr val="1A1A1A"/>
                </a:solidFill>
                <a:latin typeface="-apple-system"/>
              </a:rPr>
              <a:t>的叠加态，其实后者还可以成为更多的态的叠加态，说明了量子态的存储能力的强大。</a:t>
            </a:r>
            <a:endParaRPr lang="zh-CN"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zh-CN" altLang="en-US"/>
              <a:t>量子计算</a:t>
            </a:r>
            <a:endParaRPr lang="zh-CN" altLang="en-US"/>
          </a:p>
        </p:txBody>
      </p:sp>
      <p:sp>
        <p:nvSpPr>
          <p:cNvPr id="381955" name="Rectangle 3"/>
          <p:cNvSpPr>
            <a:spLocks noGrp="1" noChangeArrowheads="1"/>
          </p:cNvSpPr>
          <p:nvPr>
            <p:ph idx="1"/>
          </p:nvPr>
        </p:nvSpPr>
        <p:spPr/>
        <p:txBody>
          <a:bodyPr/>
          <a:lstStyle/>
          <a:p>
            <a:r>
              <a:rPr lang="zh-CN" altLang="en-US" dirty="0"/>
              <a:t>在测量量子寄存器的态时</a:t>
            </a:r>
            <a:r>
              <a:rPr lang="en-US" altLang="zh-CN" dirty="0"/>
              <a:t>, </a:t>
            </a:r>
            <a:r>
              <a:rPr lang="zh-CN" altLang="en-US" dirty="0"/>
              <a:t>其叠加态将坍缩。</a:t>
            </a:r>
            <a:r>
              <a:rPr lang="en-US" altLang="zh-CN" dirty="0"/>
              <a:t> n </a:t>
            </a:r>
            <a:r>
              <a:rPr lang="zh-CN" altLang="en-US" dirty="0"/>
              <a:t>位量子寄存器虽然可以存储</a:t>
            </a:r>
            <a:r>
              <a:rPr lang="en-US" altLang="zh-CN" dirty="0"/>
              <a:t>2</a:t>
            </a:r>
            <a:r>
              <a:rPr lang="en-US" altLang="zh-CN" baseline="30000" dirty="0"/>
              <a:t>n</a:t>
            </a:r>
            <a:r>
              <a:rPr lang="en-US" altLang="zh-CN" dirty="0"/>
              <a:t> </a:t>
            </a:r>
            <a:r>
              <a:rPr lang="zh-CN" altLang="en-US" dirty="0"/>
              <a:t>个</a:t>
            </a:r>
            <a:r>
              <a:rPr lang="en-US" altLang="zh-CN" dirty="0"/>
              <a:t>n </a:t>
            </a:r>
            <a:r>
              <a:rPr lang="zh-CN" altLang="en-US" dirty="0"/>
              <a:t>位数</a:t>
            </a:r>
            <a:r>
              <a:rPr lang="en-US" altLang="zh-CN" dirty="0"/>
              <a:t>, </a:t>
            </a:r>
            <a:r>
              <a:rPr lang="zh-CN" altLang="en-US" dirty="0"/>
              <a:t>但在测量</a:t>
            </a:r>
            <a:r>
              <a:rPr lang="en-US" altLang="zh-CN" dirty="0"/>
              <a:t>(</a:t>
            </a:r>
            <a:r>
              <a:rPr lang="zh-CN" altLang="en-US" dirty="0"/>
              <a:t>即读出</a:t>
            </a:r>
            <a:r>
              <a:rPr lang="en-US" altLang="zh-CN" dirty="0"/>
              <a:t>) </a:t>
            </a:r>
            <a:r>
              <a:rPr lang="zh-CN" altLang="en-US" dirty="0"/>
              <a:t>时</a:t>
            </a:r>
            <a:r>
              <a:rPr lang="en-US" altLang="zh-CN" dirty="0"/>
              <a:t>, </a:t>
            </a:r>
            <a:r>
              <a:rPr lang="zh-CN" altLang="en-US" dirty="0"/>
              <a:t>只能测得某一个</a:t>
            </a:r>
            <a:r>
              <a:rPr lang="en-US" altLang="zh-CN" dirty="0"/>
              <a:t>n </a:t>
            </a:r>
            <a:r>
              <a:rPr lang="zh-CN" altLang="en-US" dirty="0"/>
              <a:t>位数</a:t>
            </a:r>
            <a:r>
              <a:rPr lang="en-US" altLang="zh-CN" dirty="0"/>
              <a:t>.</a:t>
            </a:r>
            <a:endParaRPr lang="en-US" altLang="zh-CN" dirty="0"/>
          </a:p>
          <a:p>
            <a:endParaRPr lang="en-US" altLang="zh-CN" dirty="0"/>
          </a:p>
        </p:txBody>
      </p:sp>
      <p:sp>
        <p:nvSpPr>
          <p:cNvPr id="5" name="灯片编号占位符 5"/>
          <p:cNvSpPr>
            <a:spLocks noGrp="1"/>
          </p:cNvSpPr>
          <p:nvPr>
            <p:ph type="sldNum" sz="quarter" idx="12"/>
          </p:nvPr>
        </p:nvSpPr>
        <p:spPr/>
        <p:txBody>
          <a:bodyPr/>
          <a:lstStyle/>
          <a:p>
            <a:fld id="{10335D44-BF88-4826-8942-7FD8B88C5556}" type="slidenum">
              <a:rPr lang="en-US" altLang="zh-CN"/>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90B70D1-B083-4213-AEDF-D2DEE0738140}" type="slidenum">
              <a:rPr lang="en-US" altLang="zh-CN"/>
            </a:fld>
            <a:endParaRPr lang="en-US" altLang="zh-CN"/>
          </a:p>
        </p:txBody>
      </p:sp>
      <p:pic>
        <p:nvPicPr>
          <p:cNvPr id="2" name="图片 1"/>
          <p:cNvPicPr>
            <a:picLocks noChangeAspect="1"/>
          </p:cNvPicPr>
          <p:nvPr/>
        </p:nvPicPr>
        <p:blipFill>
          <a:blip r:embed="rId1"/>
          <a:stretch>
            <a:fillRect/>
          </a:stretch>
        </p:blipFill>
        <p:spPr>
          <a:xfrm>
            <a:off x="499729" y="836712"/>
            <a:ext cx="8187071" cy="5400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657592" y="704088"/>
            <a:ext cx="7266743" cy="549694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5559896"/>
          </a:xfrm>
        </p:spPr>
        <p:txBody>
          <a:bodyPr/>
          <a:lstStyle/>
          <a:p>
            <a:r>
              <a:rPr lang="zh-CN" altLang="en-US" dirty="0"/>
              <a:t>对于十进制整数，例如十进制数</a:t>
            </a:r>
            <a:r>
              <a:rPr lang="en-US" altLang="zh-CN" dirty="0"/>
              <a:t>10</a:t>
            </a:r>
            <a:r>
              <a:rPr lang="zh-CN" altLang="en-US" dirty="0"/>
              <a:t>和</a:t>
            </a:r>
            <a:r>
              <a:rPr lang="en-US" altLang="zh-CN" dirty="0"/>
              <a:t>5</a:t>
            </a:r>
            <a:r>
              <a:rPr lang="zh-CN" altLang="en-US" dirty="0"/>
              <a:t>，若用量子比特来表示，则可分别写为：</a:t>
            </a:r>
            <a:endParaRPr lang="en-US" altLang="zh-CN" dirty="0"/>
          </a:p>
          <a:p>
            <a:endParaRPr lang="en-US" altLang="zh-CN" dirty="0"/>
          </a:p>
          <a:p>
            <a:endParaRPr lang="en-US" altLang="zh-CN" dirty="0"/>
          </a:p>
          <a:p>
            <a:endParaRPr lang="en-US" altLang="zh-CN" dirty="0"/>
          </a:p>
          <a:p>
            <a:r>
              <a:rPr lang="zh-CN" altLang="en-US" dirty="0"/>
              <a:t>取它们的叠加态：</a:t>
            </a:r>
            <a:endParaRPr lang="en-US" altLang="zh-CN" dirty="0"/>
          </a:p>
          <a:p>
            <a:endParaRPr lang="en-US" altLang="zh-CN" dirty="0"/>
          </a:p>
          <a:p>
            <a:r>
              <a:rPr lang="zh-CN" altLang="en-US" dirty="0"/>
              <a:t>针对它们的叠加态就可以利用量子算法同时处理十进制整数的</a:t>
            </a:r>
            <a:r>
              <a:rPr lang="en-US" altLang="zh-CN" dirty="0"/>
              <a:t>10</a:t>
            </a:r>
            <a:r>
              <a:rPr lang="zh-CN" altLang="en-US" dirty="0"/>
              <a:t>和</a:t>
            </a:r>
            <a:r>
              <a:rPr lang="en-US" altLang="zh-CN" dirty="0"/>
              <a:t>5</a:t>
            </a:r>
            <a:r>
              <a:rPr lang="zh-CN" altLang="en-US" dirty="0"/>
              <a:t>。显然状态的各量子位是纠缠态，我们可以对这个叠加状态实施各种运算，其结果如同时对</a:t>
            </a:r>
            <a:r>
              <a:rPr lang="en-US" altLang="zh-CN" dirty="0"/>
              <a:t>10</a:t>
            </a:r>
            <a:r>
              <a:rPr lang="zh-CN" altLang="en-US" dirty="0"/>
              <a:t>和</a:t>
            </a:r>
            <a:r>
              <a:rPr lang="en-US" altLang="zh-CN" dirty="0"/>
              <a:t>5</a:t>
            </a:r>
            <a:r>
              <a:rPr lang="zh-CN" altLang="en-US" dirty="0"/>
              <a:t>进行计算，最后通过测量即可分别获得</a:t>
            </a:r>
            <a:r>
              <a:rPr lang="en-US" altLang="zh-CN" dirty="0"/>
              <a:t>10</a:t>
            </a:r>
            <a:r>
              <a:rPr lang="zh-CN" altLang="en-US" dirty="0"/>
              <a:t>和</a:t>
            </a:r>
            <a:r>
              <a:rPr lang="en-US" altLang="zh-CN" dirty="0"/>
              <a:t>5</a:t>
            </a:r>
            <a:r>
              <a:rPr lang="zh-CN" altLang="en-US" dirty="0"/>
              <a:t>的结果，实现两个数物理上的并行计算。</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1707321"/>
            <a:ext cx="3168352" cy="957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8510" y="2809875"/>
            <a:ext cx="3945942" cy="1051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8399B8F8-8956-4D28-9145-A8F6E61E9361}" type="slidenum">
              <a:rPr lang="en-US" altLang="zh-CN"/>
            </a:fld>
            <a:endParaRPr lang="en-US" altLang="zh-CN"/>
          </a:p>
        </p:txBody>
      </p:sp>
      <p:pic>
        <p:nvPicPr>
          <p:cNvPr id="2" name="图片 1"/>
          <p:cNvPicPr>
            <a:picLocks noChangeAspect="1"/>
          </p:cNvPicPr>
          <p:nvPr/>
        </p:nvPicPr>
        <p:blipFill>
          <a:blip r:embed="rId1"/>
          <a:stretch>
            <a:fillRect/>
          </a:stretch>
        </p:blipFill>
        <p:spPr>
          <a:xfrm>
            <a:off x="683568" y="764704"/>
            <a:ext cx="8122040" cy="591613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r>
              <a:rPr lang="zh-CN" altLang="en-US"/>
              <a:t>量子计算</a:t>
            </a:r>
            <a:endParaRPr lang="zh-CN" altLang="en-US"/>
          </a:p>
        </p:txBody>
      </p:sp>
      <p:sp>
        <p:nvSpPr>
          <p:cNvPr id="384003" name="Rectangle 3"/>
          <p:cNvSpPr>
            <a:spLocks noGrp="1" noChangeArrowheads="1"/>
          </p:cNvSpPr>
          <p:nvPr>
            <p:ph idx="1"/>
          </p:nvPr>
        </p:nvSpPr>
        <p:spPr/>
        <p:txBody>
          <a:bodyPr/>
          <a:lstStyle/>
          <a:p>
            <a:r>
              <a:rPr lang="zh-CN" altLang="en-US"/>
              <a:t>对量子位的态进行变换</a:t>
            </a:r>
            <a:r>
              <a:rPr lang="en-US" altLang="zh-CN"/>
              <a:t>, </a:t>
            </a:r>
            <a:r>
              <a:rPr lang="zh-CN" altLang="en-US"/>
              <a:t>可以实现某些逻辑功能</a:t>
            </a:r>
            <a:r>
              <a:rPr lang="en-US" altLang="zh-CN"/>
              <a:t>. </a:t>
            </a:r>
            <a:r>
              <a:rPr lang="zh-CN" altLang="en-US"/>
              <a:t>变换所起的作用相当于逻辑门所起的作用</a:t>
            </a:r>
            <a:r>
              <a:rPr lang="en-US" altLang="zh-CN"/>
              <a:t>, </a:t>
            </a:r>
            <a:r>
              <a:rPr lang="zh-CN" altLang="en-US"/>
              <a:t>在一定的时间间隔内实现逻辑变换的量子装置称为量子逻辑门</a:t>
            </a:r>
            <a:r>
              <a:rPr lang="en-US" altLang="zh-CN"/>
              <a:t>. </a:t>
            </a:r>
            <a:endParaRPr lang="en-US" altLang="zh-CN"/>
          </a:p>
          <a:p>
            <a:r>
              <a:rPr lang="zh-CN" altLang="en-US"/>
              <a:t>量子逻辑网络由多个量子逻辑门组成</a:t>
            </a:r>
            <a:r>
              <a:rPr lang="en-US" altLang="zh-CN"/>
              <a:t>, </a:t>
            </a:r>
            <a:r>
              <a:rPr lang="zh-CN" altLang="en-US"/>
              <a:t>这些量子逻辑门的操作在时间上同步</a:t>
            </a:r>
            <a:r>
              <a:rPr lang="en-US" altLang="zh-CN"/>
              <a:t>.</a:t>
            </a:r>
            <a:endParaRPr lang="en-US" altLang="zh-CN"/>
          </a:p>
          <a:p>
            <a:endParaRPr lang="en-US" altLang="zh-CN"/>
          </a:p>
        </p:txBody>
      </p:sp>
      <p:sp>
        <p:nvSpPr>
          <p:cNvPr id="5" name="灯片编号占位符 5"/>
          <p:cNvSpPr>
            <a:spLocks noGrp="1"/>
          </p:cNvSpPr>
          <p:nvPr>
            <p:ph type="sldNum" sz="quarter" idx="12"/>
          </p:nvPr>
        </p:nvSpPr>
        <p:spPr/>
        <p:txBody>
          <a:bodyPr/>
          <a:lstStyle/>
          <a:p>
            <a:fld id="{3BE1BD55-C22D-40D7-8C04-895F2DC7C93C}" type="slidenum">
              <a:rPr lang="en-US" altLang="zh-CN"/>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r>
              <a:rPr lang="zh-CN" altLang="en-US"/>
              <a:t>量子计算</a:t>
            </a:r>
            <a:endParaRPr lang="zh-CN" altLang="en-US"/>
          </a:p>
        </p:txBody>
      </p:sp>
      <p:sp>
        <p:nvSpPr>
          <p:cNvPr id="385027" name="Rectangle 3"/>
          <p:cNvSpPr>
            <a:spLocks noGrp="1" noChangeArrowheads="1"/>
          </p:cNvSpPr>
          <p:nvPr>
            <p:ph idx="1"/>
          </p:nvPr>
        </p:nvSpPr>
        <p:spPr/>
        <p:txBody>
          <a:bodyPr/>
          <a:lstStyle/>
          <a:p>
            <a:r>
              <a:rPr lang="zh-CN" altLang="en-US"/>
              <a:t>对一个量子位的态进行变换的算符为</a:t>
            </a:r>
            <a:r>
              <a:rPr lang="en-US" altLang="zh-CN"/>
              <a:t>2×2</a:t>
            </a:r>
            <a:r>
              <a:rPr lang="zh-CN" altLang="en-US"/>
              <a:t>的幺正矩阵</a:t>
            </a:r>
            <a:r>
              <a:rPr lang="en-US" altLang="zh-CN"/>
              <a:t>(Unitary)</a:t>
            </a:r>
            <a:endParaRPr lang="en-US" altLang="zh-CN"/>
          </a:p>
          <a:p>
            <a:r>
              <a:rPr lang="zh-CN" altLang="en-US"/>
              <a:t>在常规计算机中</a:t>
            </a:r>
            <a:r>
              <a:rPr lang="en-US" altLang="zh-CN"/>
              <a:t>,</a:t>
            </a:r>
            <a:r>
              <a:rPr lang="en-US" altLang="zh-CN">
                <a:latin typeface="Times New Roman" panose="02020603050405020304"/>
              </a:rPr>
              <a:t>“</a:t>
            </a:r>
            <a:r>
              <a:rPr lang="zh-CN" altLang="en-US"/>
              <a:t>与</a:t>
            </a:r>
            <a:r>
              <a:rPr lang="zh-CN" altLang="en-US">
                <a:latin typeface="Times New Roman" panose="02020603050405020304"/>
              </a:rPr>
              <a:t>”</a:t>
            </a:r>
            <a:r>
              <a:rPr lang="zh-CN" altLang="en-US"/>
              <a:t>门、</a:t>
            </a:r>
            <a:r>
              <a:rPr lang="zh-CN" altLang="en-US">
                <a:latin typeface="Times New Roman" panose="02020603050405020304"/>
              </a:rPr>
              <a:t>“</a:t>
            </a:r>
            <a:r>
              <a:rPr lang="zh-CN" altLang="en-US"/>
              <a:t>或</a:t>
            </a:r>
            <a:r>
              <a:rPr lang="zh-CN" altLang="en-US">
                <a:latin typeface="Times New Roman" panose="02020603050405020304"/>
              </a:rPr>
              <a:t>”</a:t>
            </a:r>
            <a:r>
              <a:rPr lang="zh-CN" altLang="en-US"/>
              <a:t>门等是不可逆的</a:t>
            </a:r>
            <a:r>
              <a:rPr lang="en-US" altLang="zh-CN"/>
              <a:t>, </a:t>
            </a:r>
            <a:r>
              <a:rPr lang="zh-CN" altLang="en-US"/>
              <a:t>而量子逻辑门却是可逆的</a:t>
            </a:r>
            <a:r>
              <a:rPr lang="en-US" altLang="zh-CN"/>
              <a:t>. </a:t>
            </a:r>
            <a:r>
              <a:rPr lang="zh-CN" altLang="en-US"/>
              <a:t>量子逻辑门的可逆性是量子计算机的又一个特点</a:t>
            </a:r>
            <a:r>
              <a:rPr lang="en-US" altLang="zh-CN"/>
              <a:t>.</a:t>
            </a:r>
            <a:endParaRPr lang="en-US" altLang="zh-CN"/>
          </a:p>
        </p:txBody>
      </p:sp>
      <p:sp>
        <p:nvSpPr>
          <p:cNvPr id="5" name="灯片编号占位符 5"/>
          <p:cNvSpPr>
            <a:spLocks noGrp="1"/>
          </p:cNvSpPr>
          <p:nvPr>
            <p:ph type="sldNum" sz="quarter" idx="12"/>
          </p:nvPr>
        </p:nvSpPr>
        <p:spPr/>
        <p:txBody>
          <a:bodyPr/>
          <a:lstStyle/>
          <a:p>
            <a:fld id="{093D6800-DBC2-450E-B1B3-C9CA6E13891B}" type="slidenum">
              <a:rPr lang="en-US" altLang="zh-CN"/>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zh-CN" altLang="en-US" dirty="0"/>
              <a:t>量子计算</a:t>
            </a:r>
            <a:endParaRPr lang="zh-CN" altLang="en-US" dirty="0"/>
          </a:p>
        </p:txBody>
      </p:sp>
      <p:sp>
        <p:nvSpPr>
          <p:cNvPr id="387075" name="Rectangle 3"/>
          <p:cNvSpPr>
            <a:spLocks noGrp="1" noChangeArrowheads="1"/>
          </p:cNvSpPr>
          <p:nvPr>
            <p:ph idx="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3C6CAFDC-C319-4877-9CEB-069C7C188217}" type="slidenum">
              <a:rPr lang="en-US" altLang="zh-CN"/>
            </a:fld>
            <a:endParaRPr lang="en-US" altLang="zh-CN"/>
          </a:p>
        </p:txBody>
      </p:sp>
      <p:pic>
        <p:nvPicPr>
          <p:cNvPr id="2" name="图片 1"/>
          <p:cNvPicPr>
            <a:picLocks noChangeAspect="1"/>
          </p:cNvPicPr>
          <p:nvPr/>
        </p:nvPicPr>
        <p:blipFill>
          <a:blip r:embed="rId1"/>
          <a:stretch>
            <a:fillRect/>
          </a:stretch>
        </p:blipFill>
        <p:spPr>
          <a:xfrm>
            <a:off x="107504" y="1847088"/>
            <a:ext cx="8839200" cy="49720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1"/>
          <a:stretch>
            <a:fillRect/>
          </a:stretch>
        </p:blipFill>
        <p:spPr>
          <a:xfrm>
            <a:off x="501745" y="691600"/>
            <a:ext cx="8140509" cy="5914903"/>
          </a:xfrm>
          <a:prstGeom prst="rect">
            <a:avLst/>
          </a:prstGeom>
        </p:spPr>
      </p:pic>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量子密码</a:t>
            </a:r>
            <a:endParaRPr lang="zh-CN" altLang="en-US" dirty="0"/>
          </a:p>
        </p:txBody>
      </p:sp>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3" name="内容占位符 2"/>
          <p:cNvSpPr>
            <a:spLocks noGrp="1"/>
          </p:cNvSpPr>
          <p:nvPr>
            <p:ph idx="1"/>
          </p:nvPr>
        </p:nvSpPr>
        <p:spPr/>
        <p:txBody>
          <a:bodyPr/>
          <a:lstStyle/>
          <a:p>
            <a:r>
              <a:rPr lang="zh-CN" altLang="en-US" dirty="0"/>
              <a:t>两种加密方式</a:t>
            </a:r>
            <a:endParaRPr lang="en-US" altLang="zh-CN" dirty="0"/>
          </a:p>
          <a:p>
            <a:pPr lvl="1"/>
            <a:r>
              <a:rPr lang="zh-CN" altLang="en-US" dirty="0"/>
              <a:t>对称密钥 加密密钥</a:t>
            </a:r>
            <a:r>
              <a:rPr lang="en-US" altLang="zh-CN" dirty="0"/>
              <a:t>=</a:t>
            </a:r>
            <a:r>
              <a:rPr lang="zh-CN" altLang="en-US" dirty="0"/>
              <a:t>解密密钥 （一次一密）</a:t>
            </a:r>
            <a:endParaRPr lang="en-US" altLang="zh-CN" dirty="0"/>
          </a:p>
          <a:p>
            <a:pPr lvl="1"/>
            <a:r>
              <a:rPr lang="zh-CN" altLang="en-US" dirty="0"/>
              <a:t>非对称密钥 加密密钥≠加密密钥 （大数因子分解）</a:t>
            </a:r>
            <a:endParaRPr lang="en-US" altLang="zh-CN" dirty="0"/>
          </a:p>
          <a:p>
            <a:r>
              <a:rPr lang="zh-CN" altLang="en-US" dirty="0"/>
              <a:t>密码安全性</a:t>
            </a:r>
            <a:endParaRPr lang="en-US" altLang="zh-CN" dirty="0"/>
          </a:p>
          <a:p>
            <a:pPr lvl="1"/>
            <a:r>
              <a:rPr lang="zh-CN" altLang="en-US" dirty="0"/>
              <a:t>无条件安全</a:t>
            </a:r>
            <a:endParaRPr lang="en-US" altLang="zh-CN" dirty="0"/>
          </a:p>
          <a:p>
            <a:pPr lvl="1"/>
            <a:r>
              <a:rPr lang="zh-CN" altLang="en-US" dirty="0"/>
              <a:t>计算安全性</a:t>
            </a:r>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加密基本思想</a:t>
            </a:r>
            <a:endParaRPr lang="zh-CN" altLang="en-US" dirty="0"/>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96528" y="1896028"/>
            <a:ext cx="8750944" cy="482544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加密体制分类</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56828" y="2078907"/>
            <a:ext cx="8430344" cy="410226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加密体制分类</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23528" y="2074363"/>
            <a:ext cx="8177361" cy="411135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a:t>
            </a:r>
            <a:r>
              <a:rPr lang="en-US" altLang="zh-CN" dirty="0"/>
              <a:t>-</a:t>
            </a:r>
            <a:r>
              <a:rPr lang="zh-CN" altLang="en-US" dirty="0"/>
              <a:t>量子密码</a:t>
            </a:r>
            <a:endParaRPr lang="zh-CN" altLang="en-US" dirty="0"/>
          </a:p>
        </p:txBody>
      </p:sp>
      <p:sp>
        <p:nvSpPr>
          <p:cNvPr id="3" name="内容占位符 2"/>
          <p:cNvSpPr>
            <a:spLocks noGrp="1"/>
          </p:cNvSpPr>
          <p:nvPr>
            <p:ph idx="1"/>
          </p:nvPr>
        </p:nvSpPr>
        <p:spPr/>
        <p:txBody>
          <a:bodyPr/>
          <a:lstStyle/>
          <a:p>
            <a:r>
              <a:rPr lang="zh-CN" altLang="en-US" dirty="0"/>
              <a:t>两种加密方式</a:t>
            </a:r>
            <a:endParaRPr lang="en-US" altLang="zh-CN" dirty="0"/>
          </a:p>
          <a:p>
            <a:pPr lvl="1"/>
            <a:r>
              <a:rPr lang="zh-CN" altLang="en-US" dirty="0"/>
              <a:t>对称密钥 加密密钥</a:t>
            </a:r>
            <a:r>
              <a:rPr lang="en-US" altLang="zh-CN" dirty="0"/>
              <a:t>=</a:t>
            </a:r>
            <a:r>
              <a:rPr lang="zh-CN" altLang="en-US" dirty="0"/>
              <a:t>解密密钥 （一次一密）</a:t>
            </a:r>
            <a:endParaRPr lang="en-US" altLang="zh-CN" dirty="0"/>
          </a:p>
          <a:p>
            <a:pPr lvl="1"/>
            <a:r>
              <a:rPr lang="zh-CN" altLang="en-US" dirty="0"/>
              <a:t>非对称密钥 加密密钥≠加密密钥 （大数因子分解）</a:t>
            </a:r>
            <a:endParaRPr lang="en-US" altLang="zh-CN" dirty="0"/>
          </a:p>
          <a:p>
            <a:r>
              <a:rPr lang="zh-CN" altLang="en-US" dirty="0"/>
              <a:t>密码安全性</a:t>
            </a:r>
            <a:endParaRPr lang="en-US" altLang="zh-CN" dirty="0"/>
          </a:p>
          <a:p>
            <a:pPr lvl="1"/>
            <a:r>
              <a:rPr lang="zh-CN" altLang="en-US" dirty="0"/>
              <a:t>无条件安全</a:t>
            </a:r>
            <a:endParaRPr lang="en-US" altLang="zh-CN" dirty="0"/>
          </a:p>
          <a:p>
            <a:pPr lvl="2"/>
            <a:r>
              <a:rPr lang="zh-CN" altLang="en-US" dirty="0"/>
              <a:t>原理上不可破译，无论窃听者能力如何强大</a:t>
            </a:r>
            <a:endParaRPr lang="en-US" altLang="zh-CN" dirty="0"/>
          </a:p>
          <a:p>
            <a:pPr lvl="1"/>
            <a:r>
              <a:rPr lang="zh-CN" altLang="en-US" dirty="0"/>
              <a:t>计算安全性</a:t>
            </a:r>
            <a:endParaRPr lang="en-US" altLang="zh-CN" dirty="0"/>
          </a:p>
          <a:p>
            <a:pPr lvl="2"/>
            <a:r>
              <a:rPr lang="zh-CN" altLang="en-US" dirty="0"/>
              <a:t>原理上可破译，但需要耗费极大量的时间和资源</a:t>
            </a:r>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07504" y="1772816"/>
            <a:ext cx="8964488" cy="388951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无条件安全性</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33184" y="1935698"/>
            <a:ext cx="8495364" cy="358153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核心问题</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57200" y="1903730"/>
            <a:ext cx="8431450" cy="43486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3" name="内容占位符 2"/>
          <p:cNvSpPr>
            <a:spLocks noGrp="1"/>
          </p:cNvSpPr>
          <p:nvPr>
            <p:ph idx="1"/>
          </p:nvPr>
        </p:nvSpPr>
        <p:spPr/>
        <p:txBody>
          <a:bodyPr/>
          <a:lstStyle/>
          <a:p>
            <a:r>
              <a:rPr lang="zh-CN" altLang="en-US" dirty="0"/>
              <a:t>量子密码的基础</a:t>
            </a:r>
            <a:r>
              <a:rPr lang="en-US" altLang="zh-CN" dirty="0"/>
              <a:t>-</a:t>
            </a:r>
            <a:r>
              <a:rPr lang="zh-CN" altLang="en-US" dirty="0"/>
              <a:t>利用量子技术传递加密密匙</a:t>
            </a:r>
            <a:endParaRPr lang="en-US" altLang="zh-CN" dirty="0"/>
          </a:p>
          <a:p>
            <a:pPr lvl="1"/>
            <a:r>
              <a:rPr lang="zh-CN" altLang="en-US" dirty="0"/>
              <a:t>无条件安全性</a:t>
            </a:r>
            <a:endParaRPr lang="en-US" altLang="zh-CN" dirty="0"/>
          </a:p>
          <a:p>
            <a:pPr lvl="1"/>
            <a:r>
              <a:rPr lang="zh-CN" altLang="en-US" dirty="0"/>
              <a:t>密钥分配的安全性</a:t>
            </a:r>
            <a:endParaRPr lang="en-US" altLang="zh-CN" dirty="0"/>
          </a:p>
          <a:p>
            <a:pPr lvl="2"/>
            <a:r>
              <a:rPr lang="zh-CN" altLang="en-US" dirty="0"/>
              <a:t>对窃听的可侦查性</a:t>
            </a:r>
            <a:endParaRPr lang="en-US" altLang="zh-CN" dirty="0"/>
          </a:p>
          <a:p>
            <a:r>
              <a:rPr lang="zh-CN" altLang="en-US" dirty="0"/>
              <a:t>如何保障</a:t>
            </a:r>
            <a:endParaRPr lang="en-US" altLang="zh-CN" dirty="0"/>
          </a:p>
          <a:p>
            <a:pPr lvl="1"/>
            <a:r>
              <a:rPr lang="zh-CN" altLang="en-US" dirty="0"/>
              <a:t>测不准原理</a:t>
            </a:r>
            <a:endParaRPr lang="en-US" altLang="zh-CN" dirty="0"/>
          </a:p>
          <a:p>
            <a:pPr lvl="1"/>
            <a:r>
              <a:rPr lang="zh-CN" altLang="en-US" dirty="0"/>
              <a:t>不可克隆</a:t>
            </a:r>
            <a:endParaRPr lang="en-US" altLang="zh-CN" dirty="0"/>
          </a:p>
          <a:p>
            <a:r>
              <a:rPr lang="en-US" altLang="zh-CN" dirty="0"/>
              <a:t>1984</a:t>
            </a:r>
            <a:r>
              <a:rPr lang="zh-CN" altLang="en-US" dirty="0"/>
              <a:t>年，提出的</a:t>
            </a:r>
            <a:r>
              <a:rPr lang="en-US" altLang="zh-CN" dirty="0"/>
              <a:t>BB84</a:t>
            </a:r>
            <a:r>
              <a:rPr lang="zh-CN" altLang="en-US" dirty="0"/>
              <a:t>协议，标志着量子技术的开端</a:t>
            </a:r>
            <a:endParaRPr lang="en-US" altLang="zh-CN" dirty="0"/>
          </a:p>
          <a:p>
            <a:pPr lvl="1"/>
            <a:r>
              <a:rPr lang="zh-CN" altLang="en-US" dirty="0"/>
              <a:t>量子保密，量子认证，量子安全协议，量子密码分析</a:t>
            </a:r>
            <a:endParaRPr lang="en-US" altLang="zh-CN" dirty="0"/>
          </a:p>
          <a:p>
            <a:pPr marL="393065" lvl="1" indent="0">
              <a:buNone/>
            </a:pP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量子密码安全性保障</a:t>
            </a:r>
            <a:r>
              <a:rPr lang="en-US" altLang="zh-CN" dirty="0"/>
              <a:t>-</a:t>
            </a:r>
            <a:r>
              <a:rPr lang="zh-CN" altLang="en-US" dirty="0"/>
              <a:t>量子力学</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115616" y="1847088"/>
            <a:ext cx="6059016" cy="2662391"/>
          </a:xfrm>
          <a:prstGeom prst="rect">
            <a:avLst/>
          </a:prstGeom>
        </p:spPr>
      </p:pic>
      <p:pic>
        <p:nvPicPr>
          <p:cNvPr id="7" name="图片 6"/>
          <p:cNvPicPr>
            <a:picLocks noChangeAspect="1"/>
          </p:cNvPicPr>
          <p:nvPr/>
        </p:nvPicPr>
        <p:blipFill>
          <a:blip r:embed="rId2"/>
          <a:stretch>
            <a:fillRect/>
          </a:stretch>
        </p:blipFill>
        <p:spPr>
          <a:xfrm>
            <a:off x="1121609" y="4537314"/>
            <a:ext cx="6131024" cy="226016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3" name="内容占位符 2"/>
          <p:cNvSpPr>
            <a:spLocks noGrp="1"/>
          </p:cNvSpPr>
          <p:nvPr>
            <p:ph idx="1"/>
          </p:nvPr>
        </p:nvSpPr>
        <p:spPr>
          <a:xfrm>
            <a:off x="457200" y="1847089"/>
            <a:ext cx="8229600" cy="4874386"/>
          </a:xfrm>
        </p:spPr>
        <p:txBody>
          <a:bodyPr>
            <a:normAutofit/>
          </a:bodyPr>
          <a:lstStyle/>
          <a:p>
            <a:pPr marL="393065" lvl="1" indent="0">
              <a:buNone/>
            </a:pPr>
            <a:r>
              <a:rPr lang="en-US" altLang="zh-CN" dirty="0"/>
              <a:t>0				</a:t>
            </a:r>
            <a:r>
              <a:rPr lang="zh-CN" altLang="en-US" dirty="0"/>
              <a:t>测量仪器</a:t>
            </a:r>
            <a:endParaRPr lang="en-US" altLang="zh-CN" dirty="0"/>
          </a:p>
          <a:p>
            <a:pPr marL="393065" lvl="1" indent="0">
              <a:buNone/>
            </a:pPr>
            <a:endParaRPr lang="en-US" altLang="zh-CN" dirty="0"/>
          </a:p>
          <a:p>
            <a:pPr marL="393065" lvl="1" indent="0">
              <a:buNone/>
            </a:pPr>
            <a:endParaRPr lang="en-US" altLang="zh-CN" dirty="0"/>
          </a:p>
          <a:p>
            <a:pPr marL="393065" lvl="1" indent="0">
              <a:buNone/>
            </a:pPr>
            <a:endParaRPr lang="en-US" altLang="zh-CN" dirty="0"/>
          </a:p>
          <a:p>
            <a:pPr marL="393065" lvl="1" indent="0">
              <a:buNone/>
            </a:pPr>
            <a:r>
              <a:rPr lang="en-US" altLang="zh-CN" dirty="0"/>
              <a:t>1</a:t>
            </a:r>
            <a:endParaRPr lang="en-US" altLang="zh-CN" dirty="0"/>
          </a:p>
          <a:p>
            <a:pPr marL="393065" lvl="1" indent="0">
              <a:buNone/>
            </a:pPr>
            <a:endParaRPr lang="en-US" altLang="zh-CN" dirty="0"/>
          </a:p>
          <a:p>
            <a:pPr marL="393065" lvl="1" indent="0">
              <a:buNone/>
            </a:pPr>
            <a:r>
              <a:rPr lang="zh-CN" altLang="en-US" dirty="0"/>
              <a:t>或者</a:t>
            </a:r>
            <a:endParaRPr lang="en-US" altLang="zh-CN" dirty="0"/>
          </a:p>
          <a:p>
            <a:pPr marL="393065" lvl="1" indent="0">
              <a:buNone/>
            </a:pPr>
            <a:r>
              <a:rPr lang="en-US" altLang="zh-CN" dirty="0"/>
              <a:t>0</a:t>
            </a:r>
            <a:endParaRPr lang="en-US" altLang="zh-CN" dirty="0"/>
          </a:p>
          <a:p>
            <a:pPr marL="393065" lvl="1" indent="0">
              <a:buNone/>
            </a:pPr>
            <a:endParaRPr lang="en-US" altLang="zh-CN" dirty="0"/>
          </a:p>
          <a:p>
            <a:pPr marL="393065" lvl="1" indent="0">
              <a:buNone/>
            </a:pPr>
            <a:endParaRPr lang="en-US" altLang="zh-CN" dirty="0"/>
          </a:p>
          <a:p>
            <a:pPr marL="393065" lvl="1" indent="0">
              <a:buNone/>
            </a:pPr>
            <a:r>
              <a:rPr lang="en-US" altLang="zh-CN" dirty="0"/>
              <a:t>1</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
        <p:nvSpPr>
          <p:cNvPr id="5" name="左右箭头 4"/>
          <p:cNvSpPr/>
          <p:nvPr/>
        </p:nvSpPr>
        <p:spPr>
          <a:xfrm>
            <a:off x="1907704" y="1935480"/>
            <a:ext cx="1216152"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上下箭头 5"/>
          <p:cNvSpPr/>
          <p:nvPr/>
        </p:nvSpPr>
        <p:spPr>
          <a:xfrm>
            <a:off x="2273464" y="2583180"/>
            <a:ext cx="484632" cy="12161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上下箭头 6"/>
          <p:cNvSpPr/>
          <p:nvPr/>
        </p:nvSpPr>
        <p:spPr>
          <a:xfrm rot="2746594">
            <a:off x="2276771" y="4101060"/>
            <a:ext cx="484632" cy="12161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上下箭头 7"/>
          <p:cNvSpPr/>
          <p:nvPr/>
        </p:nvSpPr>
        <p:spPr>
          <a:xfrm rot="18787648">
            <a:off x="2278417" y="5465135"/>
            <a:ext cx="484632" cy="121615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5868144" y="2583180"/>
            <a:ext cx="1512168" cy="1421513"/>
            <a:chOff x="6084168" y="1935479"/>
            <a:chExt cx="1512168" cy="1421513"/>
          </a:xfrm>
        </p:grpSpPr>
        <p:sp>
          <p:nvSpPr>
            <p:cNvPr id="9" name="矩形 8"/>
            <p:cNvSpPr/>
            <p:nvPr/>
          </p:nvSpPr>
          <p:spPr>
            <a:xfrm>
              <a:off x="6084168" y="1935479"/>
              <a:ext cx="1512168" cy="1421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十字形 9"/>
            <p:cNvSpPr/>
            <p:nvPr/>
          </p:nvSpPr>
          <p:spPr>
            <a:xfrm>
              <a:off x="6449928" y="2214187"/>
              <a:ext cx="900100" cy="864095"/>
            </a:xfrm>
            <a:prstGeom prst="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6084168" y="4589205"/>
            <a:ext cx="1512168" cy="1421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十字形 12"/>
          <p:cNvSpPr/>
          <p:nvPr/>
        </p:nvSpPr>
        <p:spPr>
          <a:xfrm rot="2681679">
            <a:off x="6449928" y="4867913"/>
            <a:ext cx="900100" cy="864095"/>
          </a:xfrm>
          <a:prstGeom prst="pl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947904" y="5896"/>
            <a:ext cx="5088592" cy="1815882"/>
          </a:xfrm>
          <a:prstGeom prst="rect">
            <a:avLst/>
          </a:prstGeom>
          <a:solidFill>
            <a:schemeClr val="accent3">
              <a:lumMod val="20000"/>
              <a:lumOff val="80000"/>
            </a:schemeClr>
          </a:solidFill>
        </p:spPr>
        <p:txBody>
          <a:bodyPr wrap="square">
            <a:spAutoFit/>
          </a:bodyPr>
          <a:lstStyle/>
          <a:p>
            <a:r>
              <a:rPr lang="zh-CN" altLang="zh-CN" sz="1400" b="1" dirty="0">
                <a:effectLst/>
              </a:rPr>
              <a:t>以激光发出单一光子，光子会以两种模式中的其中一种偏振</a:t>
            </a:r>
            <a:r>
              <a:rPr lang="zh-CN" altLang="zh-CN" sz="1400" dirty="0">
                <a:effectLst/>
              </a:rPr>
              <a:t>。光子的第一种偏振方向是垂直或平行（直线模式）；第二种则是与垂直呈</a:t>
            </a:r>
            <a:r>
              <a:rPr lang="en-US" altLang="zh-CN" sz="1400" dirty="0">
                <a:effectLst/>
              </a:rPr>
              <a:t>45</a:t>
            </a:r>
            <a:r>
              <a:rPr lang="zh-CN" altLang="zh-CN" sz="1400" dirty="0">
                <a:effectLst/>
              </a:rPr>
              <a:t>度角（对角模式）。不管是哪一种模式，光子的不同指向分别代表</a:t>
            </a:r>
            <a:r>
              <a:rPr lang="en-US" altLang="zh-CN" sz="1400" dirty="0">
                <a:effectLst/>
              </a:rPr>
              <a:t>0</a:t>
            </a:r>
            <a:r>
              <a:rPr lang="zh-CN" altLang="zh-CN" sz="1400" dirty="0">
                <a:effectLst/>
              </a:rPr>
              <a:t>或</a:t>
            </a:r>
            <a:r>
              <a:rPr lang="en-US" altLang="zh-CN" sz="1400" dirty="0">
                <a:effectLst/>
              </a:rPr>
              <a:t>1</a:t>
            </a:r>
            <a:r>
              <a:rPr lang="zh-CN" altLang="zh-CN" sz="1400" dirty="0">
                <a:effectLst/>
              </a:rPr>
              <a:t>这两个数字。</a:t>
            </a:r>
            <a:r>
              <a:rPr lang="zh-CN" altLang="en-US" sz="1400" dirty="0">
                <a:effectLst/>
              </a:rPr>
              <a:t>这边是用测量仪器来测量光子的偏振。如果用第一种仪器测前两个，结果都是正确的，用后一个仪器测前两个，都是错误的，或者反过来。也就是说，一个信号过来，有一半的几率被用错误的探测器测量。还有一半的几率被测错，所以这样有</a:t>
            </a:r>
            <a:r>
              <a:rPr lang="en-US" altLang="zh-CN" sz="1400" dirty="0">
                <a:effectLst/>
              </a:rPr>
              <a:t>25%</a:t>
            </a:r>
            <a:r>
              <a:rPr lang="zh-CN" altLang="en-US" sz="1400" dirty="0">
                <a:effectLst/>
              </a:rPr>
              <a:t>的几率是错误的。</a:t>
            </a:r>
            <a:endParaRPr lang="en-US" altLang="zh-CN" sz="1400" dirty="0">
              <a:effectLs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611560" y="2095427"/>
            <a:ext cx="4726949" cy="4443485"/>
          </a:xfrm>
          <a:prstGeom prst="rect">
            <a:avLst/>
          </a:prstGeom>
        </p:spPr>
      </p:pic>
      <p:sp>
        <p:nvSpPr>
          <p:cNvPr id="3" name="矩形 2"/>
          <p:cNvSpPr/>
          <p:nvPr/>
        </p:nvSpPr>
        <p:spPr>
          <a:xfrm>
            <a:off x="5724128" y="1477032"/>
            <a:ext cx="3168352" cy="4708981"/>
          </a:xfrm>
          <a:prstGeom prst="rect">
            <a:avLst/>
          </a:prstGeom>
        </p:spPr>
        <p:txBody>
          <a:bodyPr wrap="square">
            <a:spAutoFit/>
          </a:bodyPr>
          <a:lstStyle/>
          <a:p>
            <a:r>
              <a:rPr lang="zh-CN" altLang="zh-CN" sz="2000" dirty="0">
                <a:effectLst/>
              </a:rPr>
              <a:t>依惯例，密码学者通常称发送者为</a:t>
            </a:r>
            <a:r>
              <a:rPr lang="en-US" altLang="zh-CN" sz="2000" dirty="0">
                <a:effectLst/>
              </a:rPr>
              <a:t>Alice</a:t>
            </a:r>
            <a:r>
              <a:rPr lang="zh-CN" altLang="zh-CN" sz="2000" dirty="0">
                <a:effectLst/>
              </a:rPr>
              <a:t>，她随机地以直线或对角模式送出光子，发射出一串位。至于接收者则称为</a:t>
            </a:r>
            <a:r>
              <a:rPr lang="en-US" altLang="zh-CN" sz="2000" dirty="0">
                <a:effectLst/>
              </a:rPr>
              <a:t>Bob</a:t>
            </a:r>
            <a:r>
              <a:rPr lang="zh-CN" altLang="zh-CN" sz="2000" dirty="0">
                <a:effectLst/>
              </a:rPr>
              <a:t>，他也随机决定以两种模式之一来测量射入的光子。根据海森堡的测不准原理，他只能以一种模式来测量位，而不能用两种。如果</a:t>
            </a:r>
            <a:r>
              <a:rPr lang="en-US" altLang="zh-CN" sz="2000" dirty="0">
                <a:effectLst/>
              </a:rPr>
              <a:t> Bob</a:t>
            </a:r>
            <a:r>
              <a:rPr lang="zh-CN" altLang="zh-CN" sz="2000" dirty="0">
                <a:effectLst/>
              </a:rPr>
              <a:t>所使用的测量方法和</a:t>
            </a:r>
            <a:r>
              <a:rPr lang="en-US" altLang="zh-CN" sz="2000" dirty="0">
                <a:effectLst/>
              </a:rPr>
              <a:t>Alice</a:t>
            </a:r>
            <a:r>
              <a:rPr lang="zh-CN" altLang="zh-CN" sz="2000" dirty="0">
                <a:effectLst/>
              </a:rPr>
              <a:t>相同，那么他会得到</a:t>
            </a:r>
            <a:r>
              <a:rPr lang="en-US" altLang="zh-CN" sz="2000" dirty="0">
                <a:effectLst/>
              </a:rPr>
              <a:t>Alice</a:t>
            </a:r>
            <a:r>
              <a:rPr lang="zh-CN" altLang="zh-CN" sz="2000" dirty="0">
                <a:effectLst/>
              </a:rPr>
              <a:t>所送的值；如果</a:t>
            </a:r>
            <a:r>
              <a:rPr lang="en-US" altLang="zh-CN" sz="2000" dirty="0">
                <a:effectLst/>
              </a:rPr>
              <a:t>Bob</a:t>
            </a:r>
            <a:r>
              <a:rPr lang="zh-CN" altLang="zh-CN" sz="2000" dirty="0">
                <a:effectLst/>
              </a:rPr>
              <a:t>所使用的测量方法与</a:t>
            </a:r>
            <a:r>
              <a:rPr lang="en-US" altLang="zh-CN" sz="2000" dirty="0">
                <a:effectLst/>
              </a:rPr>
              <a:t>Alice</a:t>
            </a:r>
            <a:r>
              <a:rPr lang="zh-CN" altLang="zh-CN" sz="2000" dirty="0">
                <a:effectLst/>
              </a:rPr>
              <a:t>的不同，所得到的值就不一</a:t>
            </a:r>
            <a:endParaRPr lang="zh-CN" altLang="en-US" sz="2000" dirty="0">
              <a:effectLs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descr="量子密码入门">
            <a:hlinkClick r:id="rId1" tgtFrame="&quot;_blank&quo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35694" y="1773948"/>
            <a:ext cx="5812659" cy="3310104"/>
          </a:xfrm>
          <a:prstGeom prst="rect">
            <a:avLst/>
          </a:prstGeom>
          <a:noFill/>
          <a:ln>
            <a:noFill/>
          </a:ln>
        </p:spPr>
      </p:pic>
      <p:sp>
        <p:nvSpPr>
          <p:cNvPr id="3" name="矩形 2"/>
          <p:cNvSpPr/>
          <p:nvPr/>
        </p:nvSpPr>
        <p:spPr>
          <a:xfrm>
            <a:off x="1855351" y="5103674"/>
            <a:ext cx="6650744" cy="1754326"/>
          </a:xfrm>
          <a:prstGeom prst="rect">
            <a:avLst/>
          </a:prstGeom>
        </p:spPr>
        <p:txBody>
          <a:bodyPr wrap="square">
            <a:spAutoFit/>
          </a:bodyPr>
          <a:lstStyle/>
          <a:p>
            <a:pPr algn="l"/>
            <a:r>
              <a:rPr lang="en-US" altLang="zh-CN" sz="1800" dirty="0"/>
              <a:t>1.Alice</a:t>
            </a:r>
            <a:r>
              <a:rPr lang="zh-CN" altLang="zh-CN" sz="1800" dirty="0"/>
              <a:t>随机选择一个偏振态光子传出</a:t>
            </a:r>
            <a:br>
              <a:rPr lang="en-US" altLang="zh-CN" sz="1800" dirty="0"/>
            </a:br>
            <a:r>
              <a:rPr lang="en-US" altLang="zh-CN" sz="1800" dirty="0"/>
              <a:t>2.Bob </a:t>
            </a:r>
            <a:r>
              <a:rPr lang="zh-CN" altLang="zh-CN" sz="1800" dirty="0"/>
              <a:t>随机选择一组偏振基同步测量</a:t>
            </a:r>
            <a:br>
              <a:rPr lang="en-US" altLang="zh-CN" sz="1800" dirty="0"/>
            </a:br>
            <a:r>
              <a:rPr lang="en-US" altLang="zh-CN" sz="1800" dirty="0"/>
              <a:t>3.Bob</a:t>
            </a:r>
            <a:r>
              <a:rPr lang="zh-CN" altLang="zh-CN" sz="1800" dirty="0"/>
              <a:t>实际测得的偏振光子（只</a:t>
            </a:r>
            <a:r>
              <a:rPr lang="en-US" altLang="zh-CN" sz="1800" dirty="0"/>
              <a:t>Bob</a:t>
            </a:r>
            <a:r>
              <a:rPr lang="zh-CN" altLang="zh-CN" sz="1800" dirty="0"/>
              <a:t>知道）</a:t>
            </a:r>
            <a:br>
              <a:rPr lang="en-US" altLang="zh-CN" sz="1800" dirty="0"/>
            </a:br>
            <a:r>
              <a:rPr lang="en-US" altLang="zh-CN" sz="1800" dirty="0"/>
              <a:t>4.Bob</a:t>
            </a:r>
            <a:r>
              <a:rPr lang="zh-CN" altLang="zh-CN" sz="1800" dirty="0"/>
              <a:t>通知</a:t>
            </a:r>
            <a:r>
              <a:rPr lang="en-US" altLang="zh-CN" sz="1800" dirty="0"/>
              <a:t>Alice</a:t>
            </a:r>
            <a:r>
              <a:rPr lang="zh-CN" altLang="zh-CN" sz="1800" dirty="0"/>
              <a:t>测量到光子用的</a:t>
            </a:r>
            <a:r>
              <a:rPr lang="zh-CN" altLang="zh-CN" sz="1800" b="1" dirty="0"/>
              <a:t>偏振基（不是态）</a:t>
            </a:r>
            <a:br>
              <a:rPr lang="en-US" altLang="zh-CN" sz="1800" b="1" dirty="0"/>
            </a:br>
            <a:r>
              <a:rPr lang="en-US" altLang="zh-CN" sz="1800" dirty="0"/>
              <a:t>5.Alice</a:t>
            </a:r>
            <a:r>
              <a:rPr lang="zh-CN" altLang="zh-CN" sz="1800" dirty="0"/>
              <a:t>告诉</a:t>
            </a:r>
            <a:r>
              <a:rPr lang="en-US" altLang="zh-CN" sz="1800" dirty="0"/>
              <a:t>Bob</a:t>
            </a:r>
            <a:r>
              <a:rPr lang="zh-CN" altLang="zh-CN" sz="1800" dirty="0"/>
              <a:t>那些选择是正确的</a:t>
            </a:r>
            <a:br>
              <a:rPr lang="en-US" altLang="zh-CN" sz="1800" dirty="0"/>
            </a:br>
            <a:r>
              <a:rPr lang="en-US" altLang="zh-CN" sz="1800" dirty="0"/>
              <a:t>6.</a:t>
            </a:r>
            <a:r>
              <a:rPr lang="zh-CN" altLang="zh-CN" sz="1800" dirty="0"/>
              <a:t>双方安约定转换成</a:t>
            </a:r>
            <a:r>
              <a:rPr lang="en-US" altLang="zh-CN" sz="1800" dirty="0"/>
              <a:t>0</a:t>
            </a:r>
            <a:r>
              <a:rPr lang="zh-CN" altLang="zh-CN" sz="1800" dirty="0"/>
              <a:t>、</a:t>
            </a:r>
            <a:r>
              <a:rPr lang="en-US" altLang="zh-CN" sz="1800" dirty="0"/>
              <a:t>1</a:t>
            </a:r>
            <a:r>
              <a:rPr lang="zh-CN" altLang="zh-CN" sz="1800" dirty="0"/>
              <a:t>（</a:t>
            </a:r>
            <a:r>
              <a:rPr lang="zh-CN" altLang="zh-CN" sz="1800" b="1" dirty="0"/>
              <a:t>比如上例中，</a:t>
            </a:r>
            <a:r>
              <a:rPr lang="en-US" altLang="zh-CN" sz="1800" b="1" dirty="0"/>
              <a:t>-/</a:t>
            </a:r>
            <a:r>
              <a:rPr lang="zh-CN" altLang="zh-CN" sz="1800" b="1" dirty="0"/>
              <a:t>代表</a:t>
            </a:r>
            <a:r>
              <a:rPr lang="en-US" altLang="zh-CN" sz="1800" b="1" dirty="0"/>
              <a:t>0</a:t>
            </a:r>
            <a:r>
              <a:rPr lang="zh-CN" altLang="zh-CN" sz="1800" b="1" dirty="0"/>
              <a:t>，</a:t>
            </a:r>
            <a:r>
              <a:rPr lang="en-US" altLang="zh-CN" sz="1800" b="1" dirty="0"/>
              <a:t>|\</a:t>
            </a:r>
            <a:r>
              <a:rPr lang="zh-CN" altLang="zh-CN" sz="1800" b="1" dirty="0"/>
              <a:t>代表</a:t>
            </a:r>
            <a:r>
              <a:rPr lang="en-US" altLang="zh-CN" sz="1800" b="1" dirty="0"/>
              <a:t>1</a:t>
            </a:r>
            <a:r>
              <a:rPr lang="zh-CN" altLang="zh-CN" sz="1800" dirty="0"/>
              <a:t>）</a:t>
            </a:r>
            <a:endParaRPr lang="zh-CN" alt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量子密码</a:t>
            </a:r>
            <a:endParaRPr lang="zh-CN" altLang="en-US" dirty="0"/>
          </a:p>
        </p:txBody>
      </p:sp>
      <p:sp>
        <p:nvSpPr>
          <p:cNvPr id="3" name="内容占位符 2"/>
          <p:cNvSpPr>
            <a:spLocks noGrp="1"/>
          </p:cNvSpPr>
          <p:nvPr>
            <p:ph idx="1"/>
          </p:nvPr>
        </p:nvSpPr>
        <p:spPr/>
        <p:txBody>
          <a:bodyPr/>
          <a:lstStyle/>
          <a:p>
            <a:r>
              <a:rPr lang="zh-CN" altLang="en-US" dirty="0"/>
              <a:t>如何探测测听</a:t>
            </a:r>
            <a:endParaRPr lang="en-US" altLang="zh-CN" dirty="0"/>
          </a:p>
          <a:p>
            <a:pPr lvl="1"/>
            <a:r>
              <a:rPr lang="zh-CN" altLang="en-US" dirty="0"/>
              <a:t>将收到的密匙中的一本分与发送方进行确认</a:t>
            </a:r>
            <a:endParaRPr lang="en-US" altLang="zh-CN" dirty="0"/>
          </a:p>
          <a:p>
            <a:pPr lvl="1"/>
            <a:r>
              <a:rPr lang="zh-CN" altLang="en-US" dirty="0"/>
              <a:t>如果没有窃听者两边的密钥应该是相同的</a:t>
            </a:r>
            <a:endParaRPr lang="en-US" altLang="zh-CN" dirty="0"/>
          </a:p>
          <a:p>
            <a:pPr lvl="1"/>
            <a:r>
              <a:rPr lang="zh-CN" altLang="en-US" dirty="0"/>
              <a:t>如果有窃听者，会出现误码</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179512" y="1484783"/>
            <a:ext cx="8714787" cy="469951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有人窃听</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536303" y="2102297"/>
            <a:ext cx="8150497" cy="405548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有人窃听</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576089" y="1935480"/>
            <a:ext cx="7991822" cy="421561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理论安全性</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81037" y="1962545"/>
            <a:ext cx="7714257" cy="360252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思考的点</a:t>
            </a:r>
            <a:endParaRPr lang="zh-CN" altLang="en-US" dirty="0"/>
          </a:p>
        </p:txBody>
      </p:sp>
      <p:sp>
        <p:nvSpPr>
          <p:cNvPr id="3" name="内容占位符 2"/>
          <p:cNvSpPr>
            <a:spLocks noGrp="1"/>
          </p:cNvSpPr>
          <p:nvPr>
            <p:ph idx="1"/>
          </p:nvPr>
        </p:nvSpPr>
        <p:spPr/>
        <p:txBody>
          <a:bodyPr/>
          <a:lstStyle/>
          <a:p>
            <a:r>
              <a:rPr lang="zh-CN" altLang="en-US" dirty="0"/>
              <a:t>量子门电路</a:t>
            </a:r>
            <a:endParaRPr lang="en-US" altLang="zh-CN" dirty="0"/>
          </a:p>
          <a:p>
            <a:r>
              <a:rPr lang="zh-CN" altLang="en-US"/>
              <a:t>量子编码</a:t>
            </a:r>
            <a:endParaRPr lang="en-US" altLang="zh-CN" dirty="0"/>
          </a:p>
          <a:p>
            <a:r>
              <a:rPr lang="zh-CN" altLang="en-US" dirty="0"/>
              <a:t>量子密码的攻击方式</a:t>
            </a:r>
            <a:endParaRPr lang="en-US" altLang="zh-CN" dirty="0"/>
          </a:p>
          <a:p>
            <a:r>
              <a:rPr lang="zh-CN" altLang="en-US" dirty="0"/>
              <a:t>量子通信的实际应用</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l"/>
            <a:r>
              <a:rPr lang="zh-CN" altLang="en-US" dirty="0"/>
              <a:t>量子计算机</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Rectangle 4"/>
          <p:cNvSpPr>
            <a:spLocks noChangeArrowheads="1"/>
          </p:cNvSpPr>
          <p:nvPr/>
        </p:nvSpPr>
        <p:spPr bwMode="auto">
          <a:xfrm>
            <a:off x="899592" y="764704"/>
            <a:ext cx="5746750" cy="8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5000" dirty="0">
                <a:solidFill>
                  <a:srgbClr val="04617B"/>
                </a:solidFill>
                <a:latin typeface="Calibri" panose="020F0502020204030204"/>
                <a:ea typeface="隶书" panose="02010509060101010101" charset="-122"/>
                <a:cs typeface="+mj-cs"/>
              </a:rPr>
              <a:t>量子计算机</a:t>
            </a:r>
            <a:endParaRPr kumimoji="1" lang="zh-CN" altLang="en-US" sz="4000" b="1" dirty="0">
              <a:solidFill>
                <a:srgbClr val="CC0099"/>
              </a:solidFill>
              <a:latin typeface="仿宋_GB2312" panose="02010609030101010101" pitchFamily="49" charset="-122"/>
              <a:ea typeface="仿宋_GB2312" panose="02010609030101010101" pitchFamily="49" charset="-122"/>
              <a:sym typeface="Wingdings 2" panose="05020102010507070707" pitchFamily="18" charset="2"/>
            </a:endParaRPr>
          </a:p>
        </p:txBody>
      </p:sp>
      <p:grpSp>
        <p:nvGrpSpPr>
          <p:cNvPr id="169989" name="Group 5"/>
          <p:cNvGrpSpPr/>
          <p:nvPr/>
        </p:nvGrpSpPr>
        <p:grpSpPr bwMode="auto">
          <a:xfrm>
            <a:off x="1212850" y="1609725"/>
            <a:ext cx="5638800" cy="1905000"/>
            <a:chOff x="720" y="768"/>
            <a:chExt cx="3552" cy="1200"/>
          </a:xfrm>
        </p:grpSpPr>
        <p:sp>
          <p:nvSpPr>
            <p:cNvPr id="169990" name="Rectangle 6"/>
            <p:cNvSpPr>
              <a:spLocks noChangeArrowheads="1"/>
            </p:cNvSpPr>
            <p:nvPr/>
          </p:nvSpPr>
          <p:spPr bwMode="auto">
            <a:xfrm>
              <a:off x="720" y="1296"/>
              <a:ext cx="672" cy="288"/>
            </a:xfrm>
            <a:prstGeom prst="rect">
              <a:avLst/>
            </a:prstGeom>
            <a:solidFill>
              <a:srgbClr val="00008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99"/>
                  </a:solidFill>
                  <a:latin typeface="Times New Roman" panose="02020603050405020304" pitchFamily="18" charset="0"/>
                  <a:ea typeface="仿宋_GB2312" panose="02010609030101010101" pitchFamily="49" charset="-122"/>
                </a:rPr>
                <a:t>经典</a:t>
              </a:r>
              <a:endParaRPr kumimoji="1" lang="zh-CN" altLang="en-US" sz="2400" b="1">
                <a:solidFill>
                  <a:srgbClr val="FFFF99"/>
                </a:solidFill>
                <a:latin typeface="Times New Roman" panose="02020603050405020304" pitchFamily="18" charset="0"/>
                <a:ea typeface="仿宋_GB2312" panose="02010609030101010101" pitchFamily="49" charset="-122"/>
              </a:endParaRPr>
            </a:p>
          </p:txBody>
        </p:sp>
        <p:sp>
          <p:nvSpPr>
            <p:cNvPr id="169991" name="Rectangle 7"/>
            <p:cNvSpPr>
              <a:spLocks noChangeArrowheads="1"/>
            </p:cNvSpPr>
            <p:nvPr/>
          </p:nvSpPr>
          <p:spPr bwMode="auto">
            <a:xfrm>
              <a:off x="720" y="1680"/>
              <a:ext cx="672" cy="288"/>
            </a:xfrm>
            <a:prstGeom prst="rect">
              <a:avLst/>
            </a:prstGeom>
            <a:solidFill>
              <a:srgbClr val="6666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CCCC"/>
                  </a:solidFill>
                  <a:latin typeface="Times New Roman" panose="02020603050405020304" pitchFamily="18" charset="0"/>
                  <a:ea typeface="仿宋_GB2312" panose="02010609030101010101" pitchFamily="49" charset="-122"/>
                </a:rPr>
                <a:t>量子</a:t>
              </a:r>
              <a:endParaRPr kumimoji="1" lang="zh-CN" altLang="en-US" sz="2400" b="1">
                <a:solidFill>
                  <a:srgbClr val="FFCCCC"/>
                </a:solidFill>
                <a:latin typeface="Times New Roman" panose="02020603050405020304" pitchFamily="18" charset="0"/>
                <a:ea typeface="仿宋_GB2312" panose="02010609030101010101" pitchFamily="49" charset="-122"/>
              </a:endParaRPr>
            </a:p>
          </p:txBody>
        </p:sp>
        <p:sp>
          <p:nvSpPr>
            <p:cNvPr id="169992" name="Text Box 8"/>
            <p:cNvSpPr txBox="1">
              <a:spLocks noChangeArrowheads="1"/>
            </p:cNvSpPr>
            <p:nvPr/>
          </p:nvSpPr>
          <p:spPr bwMode="auto">
            <a:xfrm>
              <a:off x="1536" y="1296"/>
              <a:ext cx="2736"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dirty="0">
                  <a:latin typeface="+mn-ea"/>
                </a:rPr>
                <a:t>可存储</a:t>
              </a:r>
              <a:r>
                <a:rPr kumimoji="1" lang="en-US" altLang="zh-CN" sz="2400" dirty="0">
                  <a:latin typeface="+mn-ea"/>
                </a:rPr>
                <a:t>0</a:t>
              </a:r>
              <a:r>
                <a:rPr kumimoji="1" lang="zh-CN" altLang="en-US" sz="2400" dirty="0">
                  <a:latin typeface="+mn-ea"/>
                </a:rPr>
                <a:t>或</a:t>
              </a:r>
              <a:r>
                <a:rPr kumimoji="1" lang="en-US" altLang="zh-CN" sz="2400" dirty="0">
                  <a:latin typeface="+mn-ea"/>
                </a:rPr>
                <a:t>1</a:t>
              </a:r>
              <a:r>
                <a:rPr kumimoji="1" lang="zh-CN" altLang="en-US" sz="2400" dirty="0">
                  <a:latin typeface="+mn-ea"/>
                </a:rPr>
                <a:t>（一个数）</a:t>
              </a:r>
              <a:endParaRPr kumimoji="1" lang="zh-CN" altLang="en-US" sz="2400" dirty="0">
                <a:latin typeface="+mn-ea"/>
              </a:endParaRPr>
            </a:p>
            <a:p>
              <a:pPr eaLnBrk="1" hangingPunct="1">
                <a:spcBef>
                  <a:spcPct val="50000"/>
                </a:spcBef>
              </a:pPr>
              <a:r>
                <a:rPr kumimoji="1" lang="zh-CN" altLang="en-US" sz="2400" dirty="0">
                  <a:latin typeface="+mn-ea"/>
                </a:rPr>
                <a:t>可同时存储</a:t>
              </a:r>
              <a:r>
                <a:rPr kumimoji="1" lang="en-US" altLang="zh-CN" sz="2400" dirty="0">
                  <a:latin typeface="+mn-ea"/>
                </a:rPr>
                <a:t>0</a:t>
              </a:r>
              <a:r>
                <a:rPr kumimoji="1" lang="zh-CN" altLang="en-US" sz="2400" dirty="0">
                  <a:latin typeface="+mn-ea"/>
                </a:rPr>
                <a:t>和</a:t>
              </a:r>
              <a:r>
                <a:rPr kumimoji="1" lang="en-US" altLang="zh-CN" sz="2400" dirty="0">
                  <a:latin typeface="+mn-ea"/>
                </a:rPr>
                <a:t>1</a:t>
              </a:r>
              <a:r>
                <a:rPr kumimoji="1" lang="zh-CN" altLang="en-US" sz="2400" dirty="0">
                  <a:latin typeface="+mn-ea"/>
                </a:rPr>
                <a:t>（两个数）</a:t>
              </a:r>
              <a:endParaRPr kumimoji="1" lang="zh-CN" altLang="en-US" sz="2400" dirty="0">
                <a:latin typeface="+mn-ea"/>
              </a:endParaRPr>
            </a:p>
          </p:txBody>
        </p:sp>
        <p:sp>
          <p:nvSpPr>
            <p:cNvPr id="169993" name="AutoShape 9"/>
            <p:cNvSpPr>
              <a:spLocks noChangeArrowheads="1"/>
            </p:cNvSpPr>
            <p:nvPr/>
          </p:nvSpPr>
          <p:spPr bwMode="auto">
            <a:xfrm>
              <a:off x="768" y="768"/>
              <a:ext cx="1920" cy="384"/>
            </a:xfrm>
            <a:prstGeom prst="cloudCallout">
              <a:avLst>
                <a:gd name="adj1" fmla="val -47032"/>
                <a:gd name="adj2" fmla="val 70051"/>
              </a:avLst>
            </a:prstGeom>
            <a:solidFill>
              <a:srgbClr val="33CC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400" b="1">
                  <a:solidFill>
                    <a:schemeClr val="tx2"/>
                  </a:solidFill>
                  <a:latin typeface="Times New Roman" panose="02020603050405020304" pitchFamily="18" charset="0"/>
                  <a:ea typeface="仿宋_GB2312" panose="02010609030101010101" pitchFamily="49" charset="-122"/>
                </a:rPr>
                <a:t>一个存储器</a:t>
              </a:r>
              <a:endParaRPr kumimoji="1" lang="zh-CN" altLang="en-US" sz="2400" b="1">
                <a:solidFill>
                  <a:schemeClr val="tx2"/>
                </a:solidFill>
                <a:latin typeface="Times New Roman" panose="02020603050405020304" pitchFamily="18" charset="0"/>
                <a:ea typeface="仿宋_GB2312" panose="02010609030101010101" pitchFamily="49" charset="-122"/>
              </a:endParaRPr>
            </a:p>
          </p:txBody>
        </p:sp>
      </p:grpSp>
      <p:grpSp>
        <p:nvGrpSpPr>
          <p:cNvPr id="169994" name="Group 10"/>
          <p:cNvGrpSpPr/>
          <p:nvPr/>
        </p:nvGrpSpPr>
        <p:grpSpPr bwMode="auto">
          <a:xfrm>
            <a:off x="1212850" y="3743325"/>
            <a:ext cx="7010400" cy="2133600"/>
            <a:chOff x="816" y="2112"/>
            <a:chExt cx="4416" cy="1344"/>
          </a:xfrm>
        </p:grpSpPr>
        <p:sp>
          <p:nvSpPr>
            <p:cNvPr id="169995" name="AutoShape 11"/>
            <p:cNvSpPr>
              <a:spLocks noChangeArrowheads="1"/>
            </p:cNvSpPr>
            <p:nvPr/>
          </p:nvSpPr>
          <p:spPr bwMode="auto">
            <a:xfrm>
              <a:off x="912" y="2112"/>
              <a:ext cx="1920" cy="384"/>
            </a:xfrm>
            <a:prstGeom prst="cloudCallout">
              <a:avLst>
                <a:gd name="adj1" fmla="val -47185"/>
                <a:gd name="adj2" fmla="val 92708"/>
              </a:avLst>
            </a:prstGeom>
            <a:solidFill>
              <a:srgbClr val="33CCCC"/>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400" b="1">
                  <a:solidFill>
                    <a:schemeClr val="tx2"/>
                  </a:solidFill>
                  <a:latin typeface="Times New Roman" panose="02020603050405020304" pitchFamily="18" charset="0"/>
                  <a:ea typeface="仿宋_GB2312" panose="02010609030101010101" pitchFamily="49" charset="-122"/>
                </a:rPr>
                <a:t>两个存储器</a:t>
              </a:r>
              <a:endParaRPr kumimoji="1" lang="zh-CN" altLang="en-US" sz="2400" b="1">
                <a:solidFill>
                  <a:schemeClr val="tx2"/>
                </a:solidFill>
                <a:latin typeface="Times New Roman" panose="02020603050405020304" pitchFamily="18" charset="0"/>
                <a:ea typeface="仿宋_GB2312" panose="02010609030101010101" pitchFamily="49" charset="-122"/>
              </a:endParaRPr>
            </a:p>
          </p:txBody>
        </p:sp>
        <p:sp>
          <p:nvSpPr>
            <p:cNvPr id="169996" name="Rectangle 12"/>
            <p:cNvSpPr>
              <a:spLocks noChangeArrowheads="1"/>
            </p:cNvSpPr>
            <p:nvPr/>
          </p:nvSpPr>
          <p:spPr bwMode="auto">
            <a:xfrm>
              <a:off x="816" y="2784"/>
              <a:ext cx="672" cy="288"/>
            </a:xfrm>
            <a:prstGeom prst="rect">
              <a:avLst/>
            </a:prstGeom>
            <a:solidFill>
              <a:srgbClr val="00008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99"/>
                  </a:solidFill>
                  <a:latin typeface="Times New Roman" panose="02020603050405020304" pitchFamily="18" charset="0"/>
                  <a:ea typeface="仿宋_GB2312" panose="02010609030101010101" pitchFamily="49" charset="-122"/>
                </a:rPr>
                <a:t>经</a:t>
              </a:r>
              <a:endParaRPr kumimoji="1" lang="zh-CN" altLang="en-US" sz="2400" b="1">
                <a:solidFill>
                  <a:srgbClr val="FFFF99"/>
                </a:solidFill>
                <a:latin typeface="Times New Roman" panose="02020603050405020304" pitchFamily="18" charset="0"/>
                <a:ea typeface="仿宋_GB2312" panose="02010609030101010101" pitchFamily="49" charset="-122"/>
              </a:endParaRPr>
            </a:p>
          </p:txBody>
        </p:sp>
        <p:sp>
          <p:nvSpPr>
            <p:cNvPr id="169997" name="Rectangle 13"/>
            <p:cNvSpPr>
              <a:spLocks noChangeArrowheads="1"/>
            </p:cNvSpPr>
            <p:nvPr/>
          </p:nvSpPr>
          <p:spPr bwMode="auto">
            <a:xfrm>
              <a:off x="816" y="3168"/>
              <a:ext cx="672" cy="288"/>
            </a:xfrm>
            <a:prstGeom prst="rect">
              <a:avLst/>
            </a:prstGeom>
            <a:solidFill>
              <a:srgbClr val="6666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CCCC"/>
                  </a:solidFill>
                  <a:latin typeface="Times New Roman" panose="02020603050405020304" pitchFamily="18" charset="0"/>
                  <a:ea typeface="仿宋_GB2312" panose="02010609030101010101" pitchFamily="49" charset="-122"/>
                </a:rPr>
                <a:t>量</a:t>
              </a:r>
              <a:endParaRPr kumimoji="1" lang="zh-CN" altLang="en-US" sz="2400" b="1">
                <a:solidFill>
                  <a:srgbClr val="FFCCCC"/>
                </a:solidFill>
                <a:latin typeface="Times New Roman" panose="02020603050405020304" pitchFamily="18" charset="0"/>
                <a:ea typeface="仿宋_GB2312" panose="02010609030101010101" pitchFamily="49" charset="-122"/>
              </a:endParaRPr>
            </a:p>
          </p:txBody>
        </p:sp>
        <p:sp>
          <p:nvSpPr>
            <p:cNvPr id="169998" name="Rectangle 14"/>
            <p:cNvSpPr>
              <a:spLocks noChangeArrowheads="1"/>
            </p:cNvSpPr>
            <p:nvPr/>
          </p:nvSpPr>
          <p:spPr bwMode="auto">
            <a:xfrm>
              <a:off x="1536" y="2784"/>
              <a:ext cx="672" cy="288"/>
            </a:xfrm>
            <a:prstGeom prst="rect">
              <a:avLst/>
            </a:prstGeom>
            <a:solidFill>
              <a:srgbClr val="00008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99"/>
                  </a:solidFill>
                  <a:latin typeface="Times New Roman" panose="02020603050405020304" pitchFamily="18" charset="0"/>
                  <a:ea typeface="仿宋_GB2312" panose="02010609030101010101" pitchFamily="49" charset="-122"/>
                </a:rPr>
                <a:t>典</a:t>
              </a:r>
              <a:endParaRPr kumimoji="1" lang="zh-CN" altLang="en-US" sz="2400" b="1">
                <a:solidFill>
                  <a:srgbClr val="FFFF99"/>
                </a:solidFill>
                <a:latin typeface="Times New Roman" panose="02020603050405020304" pitchFamily="18" charset="0"/>
                <a:ea typeface="仿宋_GB2312" panose="02010609030101010101" pitchFamily="49" charset="-122"/>
              </a:endParaRPr>
            </a:p>
          </p:txBody>
        </p:sp>
        <p:sp>
          <p:nvSpPr>
            <p:cNvPr id="169999" name="Rectangle 15"/>
            <p:cNvSpPr>
              <a:spLocks noChangeArrowheads="1"/>
            </p:cNvSpPr>
            <p:nvPr/>
          </p:nvSpPr>
          <p:spPr bwMode="auto">
            <a:xfrm>
              <a:off x="1536" y="3168"/>
              <a:ext cx="672" cy="288"/>
            </a:xfrm>
            <a:prstGeom prst="rect">
              <a:avLst/>
            </a:prstGeom>
            <a:solidFill>
              <a:srgbClr val="6666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CCCC"/>
                  </a:solidFill>
                  <a:latin typeface="Times New Roman" panose="02020603050405020304" pitchFamily="18" charset="0"/>
                  <a:ea typeface="仿宋_GB2312" panose="02010609030101010101" pitchFamily="49" charset="-122"/>
                </a:rPr>
                <a:t>子</a:t>
              </a:r>
              <a:endParaRPr kumimoji="1" lang="zh-CN" altLang="en-US" sz="2400" b="1">
                <a:solidFill>
                  <a:srgbClr val="FFCCCC"/>
                </a:solidFill>
                <a:latin typeface="Times New Roman" panose="02020603050405020304" pitchFamily="18" charset="0"/>
                <a:ea typeface="仿宋_GB2312" panose="02010609030101010101" pitchFamily="49" charset="-122"/>
              </a:endParaRPr>
            </a:p>
          </p:txBody>
        </p:sp>
        <p:sp>
          <p:nvSpPr>
            <p:cNvPr id="170000" name="Text Box 16"/>
            <p:cNvSpPr txBox="1">
              <a:spLocks noChangeArrowheads="1"/>
            </p:cNvSpPr>
            <p:nvPr/>
          </p:nvSpPr>
          <p:spPr bwMode="auto">
            <a:xfrm>
              <a:off x="2352" y="2784"/>
              <a:ext cx="2880"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dirty="0">
                  <a:latin typeface="+mn-ea"/>
                </a:rPr>
                <a:t>可存储</a:t>
              </a:r>
              <a:r>
                <a:rPr kumimoji="1" lang="en-US" altLang="zh-CN" sz="2400" dirty="0">
                  <a:latin typeface="+mn-ea"/>
                </a:rPr>
                <a:t>00,01,10</a:t>
              </a:r>
              <a:r>
                <a:rPr kumimoji="1" lang="zh-CN" altLang="en-US" sz="2400" dirty="0">
                  <a:latin typeface="+mn-ea"/>
                </a:rPr>
                <a:t>或</a:t>
              </a:r>
              <a:r>
                <a:rPr kumimoji="1" lang="en-US" altLang="zh-CN" sz="2400" dirty="0">
                  <a:latin typeface="+mn-ea"/>
                </a:rPr>
                <a:t>11(</a:t>
              </a:r>
              <a:r>
                <a:rPr kumimoji="1" lang="zh-CN" altLang="en-US" sz="2400" dirty="0">
                  <a:latin typeface="+mn-ea"/>
                </a:rPr>
                <a:t>一个数</a:t>
              </a:r>
              <a:r>
                <a:rPr kumimoji="1" lang="en-US" altLang="zh-CN" sz="2400" dirty="0">
                  <a:latin typeface="+mn-ea"/>
                </a:rPr>
                <a:t>)</a:t>
              </a:r>
              <a:endParaRPr kumimoji="1" lang="en-US" altLang="zh-CN" sz="2400" dirty="0">
                <a:latin typeface="+mn-ea"/>
              </a:endParaRPr>
            </a:p>
            <a:p>
              <a:pPr eaLnBrk="1" hangingPunct="1">
                <a:spcBef>
                  <a:spcPct val="50000"/>
                </a:spcBef>
              </a:pPr>
              <a:r>
                <a:rPr kumimoji="1" lang="zh-CN" altLang="en-US" sz="2400" dirty="0">
                  <a:latin typeface="+mn-ea"/>
                </a:rPr>
                <a:t>可同时存储</a:t>
              </a:r>
              <a:r>
                <a:rPr kumimoji="1" lang="en-US" altLang="zh-CN" sz="2400" dirty="0">
                  <a:latin typeface="+mn-ea"/>
                </a:rPr>
                <a:t>00,01,10,11(</a:t>
              </a:r>
              <a:r>
                <a:rPr kumimoji="1" lang="zh-CN" altLang="en-US" sz="2400" dirty="0">
                  <a:latin typeface="+mn-ea"/>
                </a:rPr>
                <a:t>四个数</a:t>
              </a:r>
              <a:r>
                <a:rPr kumimoji="1" lang="en-US" altLang="zh-CN" sz="2400" dirty="0">
                  <a:latin typeface="+mn-ea"/>
                </a:rPr>
                <a:t>)</a:t>
              </a:r>
              <a:endParaRPr kumimoji="1" lang="en-US" altLang="zh-CN" sz="2400" dirty="0">
                <a:latin typeface="+mn-ea"/>
              </a:endParaRPr>
            </a:p>
          </p:txBody>
        </p:sp>
      </p:grpSp>
      <p:pic>
        <p:nvPicPr>
          <p:cNvPr id="170001" name="Picture 17" descr="p"/>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6470650" y="2676525"/>
            <a:ext cx="1468438" cy="134620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69988"/>
                                        </p:tgtEl>
                                        <p:attrNameLst>
                                          <p:attrName>style.visibility</p:attrName>
                                        </p:attrNameLst>
                                      </p:cBhvr>
                                      <p:to>
                                        <p:strVal val="visible"/>
                                      </p:to>
                                    </p:set>
                                    <p:anim calcmode="lin" valueType="num">
                                      <p:cBhvr additive="base">
                                        <p:cTn id="7" dur="500" fill="hold"/>
                                        <p:tgtEl>
                                          <p:spTgt spid="169988"/>
                                        </p:tgtEl>
                                        <p:attrNameLst>
                                          <p:attrName>ppt_x</p:attrName>
                                        </p:attrNameLst>
                                      </p:cBhvr>
                                      <p:tavLst>
                                        <p:tav tm="0">
                                          <p:val>
                                            <p:strVal val="#ppt_x"/>
                                          </p:val>
                                        </p:tav>
                                        <p:tav tm="100000">
                                          <p:val>
                                            <p:strVal val="#ppt_x"/>
                                          </p:val>
                                        </p:tav>
                                      </p:tavLst>
                                    </p:anim>
                                    <p:anim calcmode="lin" valueType="num">
                                      <p:cBhvr additive="base">
                                        <p:cTn id="8" dur="500" fill="hold"/>
                                        <p:tgtEl>
                                          <p:spTgt spid="16998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169989"/>
                                        </p:tgtEl>
                                        <p:attrNameLst>
                                          <p:attrName>style.visibility</p:attrName>
                                        </p:attrNameLst>
                                      </p:cBhvr>
                                      <p:to>
                                        <p:strVal val="visible"/>
                                      </p:to>
                                    </p:set>
                                    <p:animEffect transition="in" filter="dissolve">
                                      <p:cBhvr>
                                        <p:cTn id="12" dur="500"/>
                                        <p:tgtEl>
                                          <p:spTgt spid="169989"/>
                                        </p:tgtEl>
                                      </p:cBhvr>
                                    </p:animEffect>
                                  </p:childTnLst>
                                </p:cTn>
                              </p:par>
                            </p:childTnLst>
                          </p:cTn>
                        </p:par>
                        <p:par>
                          <p:cTn id="13" fill="hold">
                            <p:stCondLst>
                              <p:cond delay="1000"/>
                            </p:stCondLst>
                            <p:childTnLst>
                              <p:par>
                                <p:cTn id="14" presetID="14" presetClass="entr" presetSubtype="5" fill="hold" nodeType="afterEffect">
                                  <p:stCondLst>
                                    <p:cond delay="0"/>
                                  </p:stCondLst>
                                  <p:childTnLst>
                                    <p:set>
                                      <p:cBhvr>
                                        <p:cTn id="15" dur="1" fill="hold">
                                          <p:stCondLst>
                                            <p:cond delay="0"/>
                                          </p:stCondLst>
                                        </p:cTn>
                                        <p:tgtEl>
                                          <p:spTgt spid="170001"/>
                                        </p:tgtEl>
                                        <p:attrNameLst>
                                          <p:attrName>style.visibility</p:attrName>
                                        </p:attrNameLst>
                                      </p:cBhvr>
                                      <p:to>
                                        <p:strVal val="visible"/>
                                      </p:to>
                                    </p:set>
                                    <p:animEffect transition="in" filter="randombar(vertical)">
                                      <p:cBhvr>
                                        <p:cTn id="16" dur="500"/>
                                        <p:tgtEl>
                                          <p:spTgt spid="170001"/>
                                        </p:tgtEl>
                                      </p:cBhvr>
                                    </p:animEffect>
                                  </p:childTnLst>
                                </p:cTn>
                              </p:par>
                            </p:childTnLst>
                          </p:cTn>
                        </p:par>
                        <p:par>
                          <p:cTn id="17" fill="hold">
                            <p:stCondLst>
                              <p:cond delay="1500"/>
                            </p:stCondLst>
                            <p:childTnLst>
                              <p:par>
                                <p:cTn id="18" presetID="9" presetClass="entr" presetSubtype="0" fill="hold" nodeType="afterEffect">
                                  <p:stCondLst>
                                    <p:cond delay="0"/>
                                  </p:stCondLst>
                                  <p:childTnLst>
                                    <p:set>
                                      <p:cBhvr>
                                        <p:cTn id="19" dur="1" fill="hold">
                                          <p:stCondLst>
                                            <p:cond delay="0"/>
                                          </p:stCondLst>
                                        </p:cTn>
                                        <p:tgtEl>
                                          <p:spTgt spid="169994"/>
                                        </p:tgtEl>
                                        <p:attrNameLst>
                                          <p:attrName>style.visibility</p:attrName>
                                        </p:attrNameLst>
                                      </p:cBhvr>
                                      <p:to>
                                        <p:strVal val="visible"/>
                                      </p:to>
                                    </p:set>
                                    <p:animEffect transition="in" filter="dissolve">
                                      <p:cBhvr>
                                        <p:cTn id="20" dur="500"/>
                                        <p:tgtEl>
                                          <p:spTgt spid="169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4"/>
          <p:cNvSpPr>
            <a:spLocks noChangeArrowheads="1"/>
          </p:cNvSpPr>
          <p:nvPr/>
        </p:nvSpPr>
        <p:spPr bwMode="auto">
          <a:xfrm>
            <a:off x="677416" y="916236"/>
            <a:ext cx="4614664" cy="92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sz="5000" dirty="0">
                <a:solidFill>
                  <a:srgbClr val="04617B"/>
                </a:solidFill>
                <a:latin typeface="Calibri" panose="020F0502020204030204"/>
                <a:ea typeface="隶书" panose="02010509060101010101" charset="-122"/>
                <a:cs typeface="+mj-cs"/>
              </a:rPr>
              <a:t>N</a:t>
            </a:r>
            <a:r>
              <a:rPr lang="zh-CN" altLang="en-US" sz="5000" dirty="0">
                <a:solidFill>
                  <a:srgbClr val="04617B"/>
                </a:solidFill>
                <a:latin typeface="Calibri" panose="020F0502020204030204"/>
                <a:ea typeface="隶书" panose="02010509060101010101" charset="-122"/>
                <a:cs typeface="+mj-cs"/>
              </a:rPr>
              <a:t>个存储器</a:t>
            </a:r>
            <a:endParaRPr lang="zh-CN" altLang="en-US" sz="5000" dirty="0">
              <a:solidFill>
                <a:srgbClr val="04617B"/>
              </a:solidFill>
              <a:latin typeface="Calibri" panose="020F0502020204030204"/>
              <a:ea typeface="隶书" panose="02010509060101010101" charset="-122"/>
              <a:cs typeface="+mj-cs"/>
            </a:endParaRPr>
          </a:p>
        </p:txBody>
      </p:sp>
      <p:sp>
        <p:nvSpPr>
          <p:cNvPr id="171013" name="Text Box 5"/>
          <p:cNvSpPr txBox="1">
            <a:spLocks noChangeArrowheads="1"/>
          </p:cNvSpPr>
          <p:nvPr/>
        </p:nvSpPr>
        <p:spPr bwMode="auto">
          <a:xfrm>
            <a:off x="1066800" y="1917700"/>
            <a:ext cx="73215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dirty="0">
                <a:latin typeface="仿宋_GB2312" panose="02010609030101010101" pitchFamily="49" charset="-122"/>
                <a:ea typeface="仿宋_GB2312" panose="02010609030101010101" pitchFamily="49" charset="-122"/>
              </a:rPr>
              <a:t>经典：可存储一个数（</a:t>
            </a:r>
            <a:r>
              <a:rPr kumimoji="1" lang="en-US" altLang="zh-CN" sz="2400" b="1" dirty="0">
                <a:latin typeface="仿宋_GB2312" panose="02010609030101010101" pitchFamily="49" charset="-122"/>
                <a:ea typeface="仿宋_GB2312" panose="02010609030101010101" pitchFamily="49" charset="-122"/>
              </a:rPr>
              <a:t>2</a:t>
            </a:r>
            <a:r>
              <a:rPr kumimoji="1" lang="en-US" altLang="zh-CN" sz="2400" b="1" i="1" baseline="30000" dirty="0">
                <a:latin typeface="仿宋_GB2312" panose="02010609030101010101" pitchFamily="49" charset="-122"/>
                <a:ea typeface="仿宋_GB2312" panose="02010609030101010101" pitchFamily="49" charset="-122"/>
              </a:rPr>
              <a:t>N</a:t>
            </a:r>
            <a:r>
              <a:rPr kumimoji="1" lang="zh-CN" altLang="en-US" sz="2400" b="1" dirty="0">
                <a:latin typeface="仿宋_GB2312" panose="02010609030101010101" pitchFamily="49" charset="-122"/>
                <a:ea typeface="仿宋_GB2312" panose="02010609030101010101" pitchFamily="49" charset="-122"/>
              </a:rPr>
              <a:t>个可能的数之中的一个数）</a:t>
            </a:r>
            <a:endParaRPr kumimoji="1" lang="zh-CN" altLang="en-US" sz="2400" b="1" dirty="0">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dirty="0">
                <a:latin typeface="仿宋_GB2312" panose="02010609030101010101" pitchFamily="49" charset="-122"/>
                <a:ea typeface="仿宋_GB2312" panose="02010609030101010101" pitchFamily="49" charset="-122"/>
              </a:rPr>
              <a:t>量子：可同时存储</a:t>
            </a:r>
            <a:r>
              <a:rPr kumimoji="1" lang="en-US" altLang="zh-CN" sz="2400" b="1" dirty="0">
                <a:latin typeface="仿宋_GB2312" panose="02010609030101010101" pitchFamily="49" charset="-122"/>
                <a:ea typeface="仿宋_GB2312" panose="02010609030101010101" pitchFamily="49" charset="-122"/>
              </a:rPr>
              <a:t>2</a:t>
            </a:r>
            <a:r>
              <a:rPr kumimoji="1" lang="en-US" altLang="zh-CN" sz="2400" b="1" i="1" baseline="30000" dirty="0">
                <a:latin typeface="仿宋_GB2312" panose="02010609030101010101" pitchFamily="49" charset="-122"/>
                <a:ea typeface="仿宋_GB2312" panose="02010609030101010101" pitchFamily="49" charset="-122"/>
              </a:rPr>
              <a:t>N</a:t>
            </a:r>
            <a:r>
              <a:rPr kumimoji="1" lang="zh-CN" altLang="en-US" sz="2400" b="1" dirty="0">
                <a:latin typeface="仿宋_GB2312" panose="02010609030101010101" pitchFamily="49" charset="-122"/>
                <a:ea typeface="仿宋_GB2312" panose="02010609030101010101" pitchFamily="49" charset="-122"/>
              </a:rPr>
              <a:t>个数</a:t>
            </a:r>
            <a:endParaRPr kumimoji="1" lang="zh-CN" altLang="en-US" sz="2400" b="1" i="1" dirty="0">
              <a:latin typeface="仿宋_GB2312" panose="02010609030101010101" pitchFamily="49" charset="-122"/>
              <a:ea typeface="仿宋_GB2312" panose="02010609030101010101" pitchFamily="49" charset="-122"/>
            </a:endParaRPr>
          </a:p>
        </p:txBody>
      </p:sp>
      <p:sp>
        <p:nvSpPr>
          <p:cNvPr id="171014" name="Text Box 6"/>
          <p:cNvSpPr txBox="1">
            <a:spLocks noChangeArrowheads="1"/>
          </p:cNvSpPr>
          <p:nvPr/>
        </p:nvSpPr>
        <p:spPr bwMode="auto">
          <a:xfrm>
            <a:off x="914400" y="3289300"/>
            <a:ext cx="7239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latin typeface="仿宋_GB2312" panose="02010609030101010101" pitchFamily="49" charset="-122"/>
                <a:ea typeface="仿宋_GB2312" panose="02010609030101010101" pitchFamily="49" charset="-122"/>
              </a:rPr>
              <a:t>    </a:t>
            </a:r>
            <a:r>
              <a:rPr kumimoji="1" lang="zh-CN" altLang="en-US" sz="2400" b="1">
                <a:latin typeface="仿宋_GB2312" panose="02010609030101010101" pitchFamily="49" charset="-122"/>
                <a:ea typeface="仿宋_GB2312" panose="02010609030101010101" pitchFamily="49" charset="-122"/>
              </a:rPr>
              <a:t>因此，量子存储器的存储数据能力是经典的</a:t>
            </a:r>
            <a:r>
              <a:rPr kumimoji="1" lang="en-US" altLang="zh-CN" sz="2400" b="1">
                <a:latin typeface="仿宋_GB2312" panose="02010609030101010101" pitchFamily="49" charset="-122"/>
                <a:ea typeface="仿宋_GB2312" panose="02010609030101010101" pitchFamily="49" charset="-122"/>
              </a:rPr>
              <a:t>2</a:t>
            </a:r>
            <a:r>
              <a:rPr kumimoji="1" lang="en-US" altLang="zh-CN" sz="2400" b="1" i="1" baseline="30000">
                <a:latin typeface="仿宋_GB2312" panose="02010609030101010101" pitchFamily="49" charset="-122"/>
                <a:ea typeface="仿宋_GB2312" panose="02010609030101010101" pitchFamily="49" charset="-122"/>
              </a:rPr>
              <a:t>N</a:t>
            </a:r>
            <a:r>
              <a:rPr kumimoji="1" lang="zh-CN" altLang="en-US" sz="2400" b="1">
                <a:latin typeface="仿宋_GB2312" panose="02010609030101010101" pitchFamily="49" charset="-122"/>
                <a:ea typeface="仿宋_GB2312" panose="02010609030101010101" pitchFamily="49" charset="-122"/>
              </a:rPr>
              <a:t>倍，且随</a:t>
            </a:r>
            <a:r>
              <a:rPr kumimoji="1" lang="en-US" altLang="zh-CN" sz="2400" b="1">
                <a:latin typeface="仿宋_GB2312" panose="02010609030101010101" pitchFamily="49" charset="-122"/>
                <a:ea typeface="仿宋_GB2312" panose="02010609030101010101" pitchFamily="49" charset="-122"/>
              </a:rPr>
              <a:t>N</a:t>
            </a:r>
            <a:r>
              <a:rPr kumimoji="1" lang="zh-CN" altLang="en-US" sz="2400" b="1">
                <a:latin typeface="仿宋_GB2312" panose="02010609030101010101" pitchFamily="49" charset="-122"/>
                <a:ea typeface="仿宋_GB2312" panose="02010609030101010101" pitchFamily="49" charset="-122"/>
              </a:rPr>
              <a:t>指数增长。</a:t>
            </a:r>
            <a:endParaRPr kumimoji="1" lang="zh-CN" altLang="en-US" sz="2400" b="1" i="1" baseline="30000">
              <a:latin typeface="仿宋_GB2312" panose="02010609030101010101" pitchFamily="49" charset="-122"/>
              <a:ea typeface="仿宋_GB2312" panose="02010609030101010101" pitchFamily="49" charset="-122"/>
            </a:endParaRPr>
          </a:p>
        </p:txBody>
      </p:sp>
      <p:pic>
        <p:nvPicPr>
          <p:cNvPr id="171015" name="Picture 7" descr="5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762000" y="4279900"/>
            <a:ext cx="1325563" cy="1165225"/>
          </a:xfrm>
          <a:prstGeom prst="rect">
            <a:avLst/>
          </a:prstGeom>
          <a:noFill/>
          <a:extLst>
            <a:ext uri="{909E8E84-426E-40DD-AFC4-6F175D3DCCD1}">
              <a14:hiddenFill xmlns:a14="http://schemas.microsoft.com/office/drawing/2010/main">
                <a:solidFill>
                  <a:srgbClr val="FFFFFF"/>
                </a:solidFill>
              </a14:hiddenFill>
            </a:ext>
          </a:extLst>
        </p:spPr>
      </p:pic>
      <p:sp>
        <p:nvSpPr>
          <p:cNvPr id="171016" name="Text Box 8"/>
          <p:cNvSpPr txBox="1">
            <a:spLocks noChangeArrowheads="1"/>
          </p:cNvSpPr>
          <p:nvPr/>
        </p:nvSpPr>
        <p:spPr bwMode="auto">
          <a:xfrm>
            <a:off x="2362200" y="4508500"/>
            <a:ext cx="5867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dirty="0">
                <a:latin typeface="Times New Roman" panose="02020603050405020304" pitchFamily="18" charset="0"/>
              </a:rPr>
              <a:t>        </a:t>
            </a:r>
            <a:r>
              <a:rPr kumimoji="1" lang="zh-CN" altLang="en-US" sz="2400" b="1" dirty="0">
                <a:latin typeface="仿宋_GB2312" panose="02010609030101010101" pitchFamily="49" charset="-122"/>
                <a:ea typeface="仿宋_GB2312" panose="02010609030101010101" pitchFamily="49" charset="-122"/>
              </a:rPr>
              <a:t>例如，</a:t>
            </a:r>
            <a:r>
              <a:rPr kumimoji="1" lang="en-US" altLang="zh-CN" sz="2400" b="1" dirty="0">
                <a:latin typeface="仿宋_GB2312" panose="02010609030101010101" pitchFamily="49" charset="-122"/>
                <a:ea typeface="仿宋_GB2312" panose="02010609030101010101" pitchFamily="49" charset="-122"/>
              </a:rPr>
              <a:t>N=500,</a:t>
            </a:r>
            <a:r>
              <a:rPr kumimoji="1" lang="zh-CN" altLang="en-US" sz="2400" b="1" dirty="0">
                <a:latin typeface="仿宋_GB2312" panose="02010609030101010101" pitchFamily="49" charset="-122"/>
                <a:ea typeface="仿宋_GB2312" panose="02010609030101010101" pitchFamily="49" charset="-122"/>
              </a:rPr>
              <a:t>量子存储器可同时存储比宇宙中原子数目还要多的数据。</a:t>
            </a:r>
            <a:endParaRPr kumimoji="1" lang="zh-CN" altLang="en-US" sz="2400" b="1" dirty="0">
              <a:latin typeface="仿宋_GB2312" panose="02010609030101010101" pitchFamily="49" charset="-122"/>
              <a:ea typeface="仿宋_GB2312" panose="02010609030101010101" pitchFamily="49" charset="-122"/>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6" name="Picture 4" descr="j023410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594475" y="3449638"/>
            <a:ext cx="2009775" cy="2159000"/>
          </a:xfrm>
          <a:prstGeom prst="rect">
            <a:avLst/>
          </a:prstGeom>
          <a:noFill/>
          <a:extLst>
            <a:ext uri="{909E8E84-426E-40DD-AFC4-6F175D3DCCD1}">
              <a14:hiddenFill xmlns:a14="http://schemas.microsoft.com/office/drawing/2010/main">
                <a:solidFill>
                  <a:srgbClr val="FFFFFF"/>
                </a:solidFill>
              </a14:hiddenFill>
            </a:ext>
          </a:extLst>
        </p:spPr>
      </p:pic>
      <p:sp>
        <p:nvSpPr>
          <p:cNvPr id="172037" name="Rectangle 5"/>
          <p:cNvSpPr>
            <a:spLocks noChangeArrowheads="1"/>
          </p:cNvSpPr>
          <p:nvPr/>
        </p:nvSpPr>
        <p:spPr bwMode="auto">
          <a:xfrm>
            <a:off x="1412875" y="858838"/>
            <a:ext cx="3810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800" b="1">
                <a:solidFill>
                  <a:srgbClr val="CC3399"/>
                </a:solidFill>
                <a:latin typeface="Times New Roman" panose="02020603050405020304" pitchFamily="18" charset="0"/>
                <a:ea typeface="仿宋_GB2312" panose="02010609030101010101" pitchFamily="49" charset="-122"/>
              </a:rPr>
              <a:t>计算是对数据的变换。</a:t>
            </a:r>
            <a:endParaRPr kumimoji="1" lang="zh-CN" altLang="en-US" sz="2800" b="1">
              <a:solidFill>
                <a:srgbClr val="CC3399"/>
              </a:solidFill>
              <a:latin typeface="Times New Roman" panose="02020603050405020304" pitchFamily="18" charset="0"/>
              <a:ea typeface="仿宋_GB2312" panose="02010609030101010101" pitchFamily="49" charset="-122"/>
            </a:endParaRPr>
          </a:p>
        </p:txBody>
      </p:sp>
      <p:grpSp>
        <p:nvGrpSpPr>
          <p:cNvPr id="172038" name="Group 6"/>
          <p:cNvGrpSpPr/>
          <p:nvPr/>
        </p:nvGrpSpPr>
        <p:grpSpPr bwMode="auto">
          <a:xfrm>
            <a:off x="879475" y="1468438"/>
            <a:ext cx="7620000" cy="838200"/>
            <a:chOff x="480" y="960"/>
            <a:chExt cx="4800" cy="528"/>
          </a:xfrm>
        </p:grpSpPr>
        <p:sp>
          <p:nvSpPr>
            <p:cNvPr id="172039" name="AutoShape 7"/>
            <p:cNvSpPr>
              <a:spLocks noChangeArrowheads="1"/>
            </p:cNvSpPr>
            <p:nvPr/>
          </p:nvSpPr>
          <p:spPr bwMode="auto">
            <a:xfrm>
              <a:off x="480" y="960"/>
              <a:ext cx="1056" cy="528"/>
            </a:xfrm>
            <a:prstGeom prst="rightArrow">
              <a:avLst>
                <a:gd name="adj1" fmla="val 50000"/>
                <a:gd name="adj2" fmla="val 50000"/>
              </a:avLst>
            </a:prstGeom>
            <a:solidFill>
              <a:srgbClr val="3333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000" b="1">
                  <a:solidFill>
                    <a:srgbClr val="FFFF00"/>
                  </a:solidFill>
                  <a:latin typeface="Times New Roman" panose="02020603050405020304" pitchFamily="18" charset="0"/>
                  <a:ea typeface="仿宋_GB2312" panose="02010609030101010101" pitchFamily="49" charset="-122"/>
                </a:rPr>
                <a:t>经典计算机</a:t>
              </a:r>
              <a:endParaRPr kumimoji="1" lang="zh-CN" altLang="en-US" sz="2000" b="1">
                <a:solidFill>
                  <a:srgbClr val="FFFF00"/>
                </a:solidFill>
                <a:latin typeface="Times New Roman" panose="02020603050405020304" pitchFamily="18" charset="0"/>
                <a:ea typeface="仿宋_GB2312" panose="02010609030101010101" pitchFamily="49" charset="-122"/>
              </a:endParaRPr>
            </a:p>
          </p:txBody>
        </p:sp>
        <p:sp>
          <p:nvSpPr>
            <p:cNvPr id="172040" name="Text Box 8"/>
            <p:cNvSpPr txBox="1">
              <a:spLocks noChangeArrowheads="1"/>
            </p:cNvSpPr>
            <p:nvPr/>
          </p:nvSpPr>
          <p:spPr bwMode="auto">
            <a:xfrm>
              <a:off x="1536" y="1056"/>
              <a:ext cx="37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chemeClr val="accent2"/>
                  </a:solidFill>
                  <a:latin typeface="仿宋_GB2312" panose="02010609030101010101" pitchFamily="49" charset="-122"/>
                  <a:ea typeface="仿宋_GB2312" panose="02010609030101010101" pitchFamily="49" charset="-122"/>
                </a:rPr>
                <a:t>对</a:t>
              </a:r>
              <a:r>
                <a:rPr kumimoji="1" lang="en-US" altLang="zh-CN" sz="2400" b="1">
                  <a:solidFill>
                    <a:schemeClr val="accent2"/>
                  </a:solidFill>
                  <a:latin typeface="Times New Roman" panose="02020603050405020304" pitchFamily="18" charset="0"/>
                  <a:ea typeface="仿宋_GB2312" panose="02010609030101010101" pitchFamily="49" charset="-122"/>
                </a:rPr>
                <a:t>N</a:t>
              </a:r>
              <a:r>
                <a:rPr kumimoji="1" lang="zh-CN" altLang="en-US" sz="2400" b="1">
                  <a:solidFill>
                    <a:schemeClr val="accent2"/>
                  </a:solidFill>
                  <a:latin typeface="仿宋_GB2312" panose="02010609030101010101" pitchFamily="49" charset="-122"/>
                  <a:ea typeface="仿宋_GB2312" panose="02010609030101010101" pitchFamily="49" charset="-122"/>
                </a:rPr>
                <a:t>个存储器运算一次，只变换一个数据。</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grpSp>
      <p:grpSp>
        <p:nvGrpSpPr>
          <p:cNvPr id="172041" name="Group 9"/>
          <p:cNvGrpSpPr/>
          <p:nvPr/>
        </p:nvGrpSpPr>
        <p:grpSpPr bwMode="auto">
          <a:xfrm>
            <a:off x="900113" y="2492375"/>
            <a:ext cx="7620000" cy="974725"/>
            <a:chOff x="480" y="2016"/>
            <a:chExt cx="4800" cy="614"/>
          </a:xfrm>
        </p:grpSpPr>
        <p:sp>
          <p:nvSpPr>
            <p:cNvPr id="172042" name="AutoShape 10"/>
            <p:cNvSpPr>
              <a:spLocks noChangeArrowheads="1"/>
            </p:cNvSpPr>
            <p:nvPr/>
          </p:nvSpPr>
          <p:spPr bwMode="auto">
            <a:xfrm>
              <a:off x="480" y="2016"/>
              <a:ext cx="1056" cy="528"/>
            </a:xfrm>
            <a:prstGeom prst="rightArrow">
              <a:avLst>
                <a:gd name="adj1" fmla="val 50000"/>
                <a:gd name="adj2" fmla="val 50000"/>
              </a:avLst>
            </a:prstGeom>
            <a:solidFill>
              <a:srgbClr val="6666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2000">
                  <a:solidFill>
                    <a:srgbClr val="99FF66"/>
                  </a:solidFill>
                  <a:latin typeface="Times New Roman" panose="02020603050405020304" pitchFamily="18" charset="0"/>
                  <a:ea typeface="仿宋_GB2312" panose="02010609030101010101" pitchFamily="49" charset="-122"/>
                </a:rPr>
                <a:t> </a:t>
              </a:r>
              <a:r>
                <a:rPr kumimoji="1" lang="zh-CN" altLang="en-US" sz="2000" b="1">
                  <a:solidFill>
                    <a:srgbClr val="99FF66"/>
                  </a:solidFill>
                  <a:latin typeface="Times New Roman" panose="02020603050405020304" pitchFamily="18" charset="0"/>
                  <a:ea typeface="仿宋_GB2312" panose="02010609030101010101" pitchFamily="49" charset="-122"/>
                </a:rPr>
                <a:t>量子计算机</a:t>
              </a:r>
              <a:endParaRPr kumimoji="1" lang="zh-CN" altLang="en-US" sz="2000" b="1">
                <a:solidFill>
                  <a:srgbClr val="99FF66"/>
                </a:solidFill>
                <a:latin typeface="Times New Roman" panose="02020603050405020304" pitchFamily="18" charset="0"/>
                <a:ea typeface="仿宋_GB2312" panose="02010609030101010101" pitchFamily="49" charset="-122"/>
              </a:endParaRPr>
            </a:p>
          </p:txBody>
        </p:sp>
        <p:sp>
          <p:nvSpPr>
            <p:cNvPr id="172043" name="Text Box 11"/>
            <p:cNvSpPr txBox="1">
              <a:spLocks noChangeArrowheads="1"/>
            </p:cNvSpPr>
            <p:nvPr/>
          </p:nvSpPr>
          <p:spPr bwMode="auto">
            <a:xfrm>
              <a:off x="1536" y="2112"/>
              <a:ext cx="374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rgbClr val="006600"/>
                  </a:solidFill>
                  <a:latin typeface="仿宋_GB2312" panose="02010609030101010101" pitchFamily="49" charset="-122"/>
                  <a:ea typeface="仿宋_GB2312" panose="02010609030101010101" pitchFamily="49" charset="-122"/>
                </a:rPr>
                <a:t>对</a:t>
              </a:r>
              <a:r>
                <a:rPr kumimoji="1" lang="en-US" altLang="zh-CN" sz="2400" b="1">
                  <a:solidFill>
                    <a:srgbClr val="006600"/>
                  </a:solidFill>
                  <a:latin typeface="Times New Roman" panose="02020603050405020304" pitchFamily="18" charset="0"/>
                  <a:ea typeface="仿宋_GB2312" panose="02010609030101010101" pitchFamily="49" charset="-122"/>
                </a:rPr>
                <a:t>N</a:t>
              </a:r>
              <a:r>
                <a:rPr kumimoji="1" lang="zh-CN" altLang="en-US" sz="2400" b="1">
                  <a:solidFill>
                    <a:srgbClr val="006600"/>
                  </a:solidFill>
                  <a:latin typeface="仿宋_GB2312" panose="02010609030101010101" pitchFamily="49" charset="-122"/>
                  <a:ea typeface="仿宋_GB2312" panose="02010609030101010101" pitchFamily="49" charset="-122"/>
                </a:rPr>
                <a:t>个存储器运算一次，同时变换</a:t>
              </a:r>
              <a:r>
                <a:rPr kumimoji="1" lang="en-US" altLang="zh-CN" sz="2400" b="1">
                  <a:solidFill>
                    <a:srgbClr val="006600"/>
                  </a:solidFill>
                  <a:latin typeface="仿宋_GB2312" panose="02010609030101010101" pitchFamily="49" charset="-122"/>
                  <a:ea typeface="仿宋_GB2312" panose="02010609030101010101" pitchFamily="49" charset="-122"/>
                </a:rPr>
                <a:t>2</a:t>
              </a:r>
              <a:r>
                <a:rPr kumimoji="1" lang="en-US" altLang="zh-CN" sz="2400" b="1" i="1" baseline="30000">
                  <a:solidFill>
                    <a:srgbClr val="006600"/>
                  </a:solidFill>
                  <a:latin typeface="仿宋_GB2312" panose="02010609030101010101" pitchFamily="49" charset="-122"/>
                  <a:ea typeface="仿宋_GB2312" panose="02010609030101010101" pitchFamily="49" charset="-122"/>
                </a:rPr>
                <a:t>N</a:t>
              </a:r>
              <a:r>
                <a:rPr kumimoji="1" lang="zh-CN" altLang="en-US" sz="2400" b="1">
                  <a:solidFill>
                    <a:srgbClr val="006600"/>
                  </a:solidFill>
                  <a:latin typeface="仿宋_GB2312" panose="02010609030101010101" pitchFamily="49" charset="-122"/>
                  <a:ea typeface="仿宋_GB2312" panose="02010609030101010101" pitchFamily="49" charset="-122"/>
                </a:rPr>
                <a:t>个数据。</a:t>
              </a:r>
              <a:endParaRPr kumimoji="1" lang="zh-CN" altLang="en-US" sz="2400" b="1">
                <a:solidFill>
                  <a:srgbClr val="006600"/>
                </a:solidFill>
                <a:latin typeface="仿宋_GB2312" panose="02010609030101010101" pitchFamily="49" charset="-122"/>
                <a:ea typeface="仿宋_GB2312" panose="02010609030101010101" pitchFamily="49" charset="-122"/>
              </a:endParaRPr>
            </a:p>
          </p:txBody>
        </p:sp>
      </p:grpSp>
      <p:sp>
        <p:nvSpPr>
          <p:cNvPr id="172044" name="Text Box 12"/>
          <p:cNvSpPr txBox="1">
            <a:spLocks noChangeArrowheads="1"/>
          </p:cNvSpPr>
          <p:nvPr/>
        </p:nvSpPr>
        <p:spPr bwMode="auto">
          <a:xfrm>
            <a:off x="727075" y="3444875"/>
            <a:ext cx="6172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solidFill>
                  <a:schemeClr val="hlink"/>
                </a:solidFill>
                <a:latin typeface="仿宋_GB2312" panose="02010609030101010101" pitchFamily="49" charset="-122"/>
                <a:ea typeface="仿宋_GB2312" panose="02010609030101010101" pitchFamily="49" charset="-122"/>
              </a:rPr>
              <a:t>    </a:t>
            </a:r>
            <a:r>
              <a:rPr kumimoji="1" lang="zh-CN" altLang="en-US" sz="2400" b="1">
                <a:solidFill>
                  <a:srgbClr val="FF3300"/>
                </a:solidFill>
                <a:latin typeface="仿宋_GB2312" panose="02010609030101010101" pitchFamily="49" charset="-122"/>
                <a:ea typeface="仿宋_GB2312" panose="02010609030101010101" pitchFamily="49" charset="-122"/>
              </a:rPr>
              <a:t>可见：对</a:t>
            </a:r>
            <a:r>
              <a:rPr kumimoji="1" lang="en-US" altLang="zh-CN" sz="2400" b="1">
                <a:solidFill>
                  <a:srgbClr val="FF3300"/>
                </a:solidFill>
                <a:latin typeface="仿宋_GB2312" panose="02010609030101010101" pitchFamily="49" charset="-122"/>
                <a:ea typeface="仿宋_GB2312" panose="02010609030101010101" pitchFamily="49" charset="-122"/>
              </a:rPr>
              <a:t>N</a:t>
            </a:r>
            <a:r>
              <a:rPr kumimoji="1" lang="zh-CN" altLang="en-US" sz="2400" b="1">
                <a:solidFill>
                  <a:srgbClr val="FF3300"/>
                </a:solidFill>
                <a:latin typeface="仿宋_GB2312" panose="02010609030101010101" pitchFamily="49" charset="-122"/>
                <a:ea typeface="仿宋_GB2312" panose="02010609030101010101" pitchFamily="49" charset="-122"/>
              </a:rPr>
              <a:t>个量子存储器实行一次操作，其效果相当于对经典存储器进行</a:t>
            </a:r>
            <a:r>
              <a:rPr kumimoji="1" lang="en-US" altLang="zh-CN" sz="2400" b="1">
                <a:solidFill>
                  <a:srgbClr val="FF3300"/>
                </a:solidFill>
                <a:latin typeface="仿宋_GB2312" panose="02010609030101010101" pitchFamily="49" charset="-122"/>
                <a:ea typeface="仿宋_GB2312" panose="02010609030101010101" pitchFamily="49" charset="-122"/>
              </a:rPr>
              <a:t>2</a:t>
            </a:r>
            <a:r>
              <a:rPr kumimoji="1" lang="en-US" altLang="zh-CN" sz="2400" b="1" i="1" baseline="30000">
                <a:solidFill>
                  <a:srgbClr val="FF3300"/>
                </a:solidFill>
                <a:latin typeface="仿宋_GB2312" panose="02010609030101010101" pitchFamily="49" charset="-122"/>
                <a:ea typeface="仿宋_GB2312" panose="02010609030101010101" pitchFamily="49" charset="-122"/>
              </a:rPr>
              <a:t>N</a:t>
            </a:r>
            <a:r>
              <a:rPr kumimoji="1" lang="zh-CN" altLang="en-US" sz="2400" b="1">
                <a:solidFill>
                  <a:srgbClr val="FF3300"/>
                </a:solidFill>
                <a:latin typeface="仿宋_GB2312" panose="02010609030101010101" pitchFamily="49" charset="-122"/>
                <a:ea typeface="仿宋_GB2312" panose="02010609030101010101" pitchFamily="49" charset="-122"/>
              </a:rPr>
              <a:t>次操作。</a:t>
            </a:r>
            <a:endParaRPr kumimoji="1" lang="zh-CN" altLang="en-US" sz="2400" b="1">
              <a:solidFill>
                <a:srgbClr val="FF3300"/>
              </a:solidFill>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a:solidFill>
                  <a:schemeClr val="hlink"/>
                </a:solidFill>
                <a:latin typeface="仿宋_GB2312" panose="02010609030101010101" pitchFamily="49" charset="-122"/>
                <a:ea typeface="仿宋_GB2312" panose="02010609030101010101" pitchFamily="49" charset="-122"/>
              </a:rPr>
              <a:t>    </a:t>
            </a:r>
            <a:r>
              <a:rPr kumimoji="1" lang="zh-CN" altLang="en-US" sz="2400" b="1">
                <a:solidFill>
                  <a:srgbClr val="006600"/>
                </a:solidFill>
                <a:latin typeface="仿宋_GB2312" panose="02010609030101010101" pitchFamily="49" charset="-122"/>
                <a:ea typeface="仿宋_GB2312" panose="02010609030101010101" pitchFamily="49" charset="-122"/>
              </a:rPr>
              <a:t>这就是量子计算机的巨大并行运算能力。</a:t>
            </a:r>
            <a:endParaRPr kumimoji="1" lang="zh-CN" altLang="en-US" sz="2400" b="1">
              <a:solidFill>
                <a:srgbClr val="006600"/>
              </a:solidFill>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a:solidFill>
                  <a:srgbClr val="FFFF99"/>
                </a:solidFill>
                <a:latin typeface="仿宋_GB2312" panose="02010609030101010101" pitchFamily="49" charset="-122"/>
                <a:ea typeface="仿宋_GB2312" panose="02010609030101010101" pitchFamily="49" charset="-122"/>
              </a:rPr>
              <a:t>    </a:t>
            </a:r>
            <a:r>
              <a:rPr kumimoji="1" lang="zh-CN" altLang="en-US" sz="2400" b="1">
                <a:solidFill>
                  <a:srgbClr val="D60093"/>
                </a:solidFill>
                <a:latin typeface="仿宋_GB2312" panose="02010609030101010101" pitchFamily="49" charset="-122"/>
                <a:ea typeface="仿宋_GB2312" panose="02010609030101010101" pitchFamily="49" charset="-122"/>
              </a:rPr>
              <a:t>采用合适的量子算法，这个能力可以大大地提高计算机的运算速度。</a:t>
            </a:r>
            <a:endParaRPr kumimoji="1" lang="zh-CN" altLang="en-US" sz="2400" b="1">
              <a:solidFill>
                <a:srgbClr val="D60093"/>
              </a:solidFill>
              <a:latin typeface="仿宋_GB2312" panose="02010609030101010101" pitchFamily="49" charset="-122"/>
              <a:ea typeface="仿宋_GB2312" panose="02010609030101010101" pitchFamily="49" charset="-122"/>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2038"/>
                                        </p:tgtEl>
                                        <p:attrNameLst>
                                          <p:attrName>style.visibility</p:attrName>
                                        </p:attrNameLst>
                                      </p:cBhvr>
                                      <p:to>
                                        <p:strVal val="visible"/>
                                      </p:to>
                                    </p:set>
                                    <p:animEffect transition="in" filter="dissolve">
                                      <p:cBhvr>
                                        <p:cTn id="7" dur="500"/>
                                        <p:tgtEl>
                                          <p:spTgt spid="17203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72041"/>
                                        </p:tgtEl>
                                        <p:attrNameLst>
                                          <p:attrName>style.visibility</p:attrName>
                                        </p:attrNameLst>
                                      </p:cBhvr>
                                      <p:to>
                                        <p:strVal val="visible"/>
                                      </p:to>
                                    </p:set>
                                    <p:animEffect transition="in" filter="dissolve">
                                      <p:cBhvr>
                                        <p:cTn id="11" dur="500"/>
                                        <p:tgtEl>
                                          <p:spTgt spid="172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30647" y="1988840"/>
            <a:ext cx="8282706" cy="3947405"/>
          </a:xfrm>
          <a:prstGeom prst="rect">
            <a:avLst/>
          </a:prstGeom>
        </p:spPr>
      </p:pic>
      <p:sp>
        <p:nvSpPr>
          <p:cNvPr id="3" name="Rectangle 4"/>
          <p:cNvSpPr>
            <a:spLocks noChangeArrowheads="1"/>
          </p:cNvSpPr>
          <p:nvPr/>
        </p:nvSpPr>
        <p:spPr bwMode="auto">
          <a:xfrm>
            <a:off x="899592" y="764704"/>
            <a:ext cx="7344816" cy="8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5000" dirty="0">
                <a:solidFill>
                  <a:srgbClr val="04617B"/>
                </a:solidFill>
                <a:latin typeface="Calibri" panose="020F0502020204030204"/>
                <a:ea typeface="隶书" panose="02010509060101010101" charset="-122"/>
                <a:cs typeface="+mj-cs"/>
              </a:rPr>
              <a:t>量子计算机</a:t>
            </a:r>
            <a:r>
              <a:rPr lang="en-US" altLang="zh-CN" sz="5000" dirty="0">
                <a:solidFill>
                  <a:srgbClr val="04617B"/>
                </a:solidFill>
                <a:latin typeface="Calibri" panose="020F0502020204030204"/>
                <a:ea typeface="隶书" panose="02010509060101010101" charset="-122"/>
                <a:cs typeface="+mj-cs"/>
              </a:rPr>
              <a:t>-</a:t>
            </a:r>
            <a:r>
              <a:rPr lang="zh-CN" altLang="en-US" sz="5000" dirty="0">
                <a:solidFill>
                  <a:srgbClr val="04617B"/>
                </a:solidFill>
                <a:latin typeface="Calibri" panose="020F0502020204030204"/>
                <a:ea typeface="隶书" panose="02010509060101010101" charset="-122"/>
                <a:cs typeface="+mj-cs"/>
              </a:rPr>
              <a:t>物理载体</a:t>
            </a:r>
            <a:endParaRPr kumimoji="1" lang="zh-CN" altLang="en-US" sz="4000" b="1" dirty="0">
              <a:solidFill>
                <a:srgbClr val="CC0099"/>
              </a:solidFill>
              <a:latin typeface="仿宋_GB2312" panose="02010609030101010101" pitchFamily="49" charset="-122"/>
              <a:ea typeface="仿宋_GB2312" panose="02010609030101010101" pitchFamily="49" charset="-122"/>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02059" y="2132856"/>
            <a:ext cx="8539881" cy="3526530"/>
          </a:xfrm>
          <a:prstGeom prst="rect">
            <a:avLst/>
          </a:prstGeom>
        </p:spPr>
      </p:pic>
      <p:sp>
        <p:nvSpPr>
          <p:cNvPr id="3" name="Rectangle 4"/>
          <p:cNvSpPr>
            <a:spLocks noChangeArrowheads="1"/>
          </p:cNvSpPr>
          <p:nvPr/>
        </p:nvSpPr>
        <p:spPr bwMode="auto">
          <a:xfrm>
            <a:off x="899592" y="764704"/>
            <a:ext cx="7344816" cy="8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5000" dirty="0">
                <a:solidFill>
                  <a:srgbClr val="04617B"/>
                </a:solidFill>
                <a:latin typeface="Calibri" panose="020F0502020204030204"/>
                <a:ea typeface="隶书" panose="02010509060101010101" charset="-122"/>
                <a:cs typeface="+mj-cs"/>
              </a:rPr>
              <a:t>量子计算机</a:t>
            </a:r>
            <a:r>
              <a:rPr lang="en-US" altLang="zh-CN" sz="5000" dirty="0">
                <a:solidFill>
                  <a:srgbClr val="04617B"/>
                </a:solidFill>
                <a:latin typeface="Calibri" panose="020F0502020204030204"/>
                <a:ea typeface="隶书" panose="02010509060101010101" charset="-122"/>
                <a:cs typeface="+mj-cs"/>
              </a:rPr>
              <a:t>-</a:t>
            </a:r>
            <a:r>
              <a:rPr lang="zh-CN" altLang="en-US" sz="5000" dirty="0">
                <a:solidFill>
                  <a:srgbClr val="04617B"/>
                </a:solidFill>
                <a:latin typeface="Calibri" panose="020F0502020204030204"/>
                <a:ea typeface="隶书" panose="02010509060101010101" charset="-122"/>
                <a:cs typeface="+mj-cs"/>
              </a:rPr>
              <a:t>路线图</a:t>
            </a:r>
            <a:endParaRPr kumimoji="1" lang="zh-CN" altLang="en-US" sz="4000" b="1" dirty="0">
              <a:solidFill>
                <a:srgbClr val="CC0099"/>
              </a:solidFill>
              <a:latin typeface="仿宋_GB2312" panose="02010609030101010101" pitchFamily="49" charset="-122"/>
              <a:ea typeface="仿宋_GB2312" panose="02010609030101010101" pitchFamily="49" charset="-122"/>
              <a:sym typeface="Wingdings 2" panose="050201020105070707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899592" y="764704"/>
            <a:ext cx="7344816" cy="86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5000" dirty="0">
                <a:solidFill>
                  <a:srgbClr val="04617B"/>
                </a:solidFill>
                <a:latin typeface="Calibri" panose="020F0502020204030204"/>
                <a:ea typeface="隶书" panose="02010509060101010101" charset="-122"/>
                <a:cs typeface="+mj-cs"/>
              </a:rPr>
              <a:t>量子计算机</a:t>
            </a:r>
            <a:r>
              <a:rPr lang="en-US" altLang="zh-CN" sz="5000" dirty="0">
                <a:solidFill>
                  <a:srgbClr val="04617B"/>
                </a:solidFill>
                <a:latin typeface="Calibri" panose="020F0502020204030204"/>
                <a:ea typeface="隶书" panose="02010509060101010101" charset="-122"/>
                <a:cs typeface="+mj-cs"/>
              </a:rPr>
              <a:t>-</a:t>
            </a:r>
            <a:r>
              <a:rPr lang="zh-CN" altLang="en-US" sz="5000" dirty="0">
                <a:solidFill>
                  <a:srgbClr val="04617B"/>
                </a:solidFill>
                <a:latin typeface="Calibri" panose="020F0502020204030204"/>
                <a:ea typeface="隶书" panose="02010509060101010101" charset="-122"/>
                <a:cs typeface="+mj-cs"/>
              </a:rPr>
              <a:t>量子编码</a:t>
            </a:r>
            <a:endParaRPr kumimoji="1" lang="zh-CN" altLang="en-US" sz="4000" b="1" dirty="0">
              <a:solidFill>
                <a:srgbClr val="CC0099"/>
              </a:solidFill>
              <a:latin typeface="仿宋_GB2312" panose="02010609030101010101" pitchFamily="49" charset="-122"/>
              <a:ea typeface="仿宋_GB2312" panose="02010609030101010101" pitchFamily="49" charset="-122"/>
              <a:sym typeface="Wingdings 2" panose="05020102010507070707" pitchFamily="18" charset="2"/>
            </a:endParaRPr>
          </a:p>
        </p:txBody>
      </p:sp>
      <p:pic>
        <p:nvPicPr>
          <p:cNvPr id="4" name="图片 3"/>
          <p:cNvPicPr>
            <a:picLocks noChangeAspect="1"/>
          </p:cNvPicPr>
          <p:nvPr/>
        </p:nvPicPr>
        <p:blipFill>
          <a:blip r:embed="rId1"/>
          <a:stretch>
            <a:fillRect/>
          </a:stretch>
        </p:blipFill>
        <p:spPr>
          <a:xfrm>
            <a:off x="176808" y="1772816"/>
            <a:ext cx="8790384" cy="44108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http://mmbiz.qpic.cn/mmbiz_jpg/N2EssTUQcOOcAB6jqhiaEjjDBwv33JP7AiaRs8QmmJiaNdjOMIG1mkSnJtvk7jYdMpd10txwBevFBLs81RWpbFL5A/640?wx_fmt=jpeg&amp;tp=webp&amp;wxfrom=5&amp;wx_lazy=1"/>
          <p:cNvSpPr>
            <a:spLocks noChangeAspect="1" noChangeArrowheads="1"/>
          </p:cNvSpPr>
          <p:nvPr/>
        </p:nvSpPr>
        <p:spPr bwMode="auto">
          <a:xfrm>
            <a:off x="4419600" y="3276600"/>
            <a:ext cx="3464768" cy="34647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4" name="图片 3"/>
          <p:cNvPicPr>
            <a:picLocks noChangeAspect="1"/>
          </p:cNvPicPr>
          <p:nvPr/>
        </p:nvPicPr>
        <p:blipFill>
          <a:blip r:embed="rId1"/>
          <a:stretch>
            <a:fillRect/>
          </a:stretch>
        </p:blipFill>
        <p:spPr>
          <a:xfrm>
            <a:off x="4574242" y="3501008"/>
            <a:ext cx="4365565" cy="3274174"/>
          </a:xfrm>
          <a:prstGeom prst="rect">
            <a:avLst/>
          </a:prstGeom>
        </p:spPr>
      </p:pic>
      <p:pic>
        <p:nvPicPr>
          <p:cNvPr id="6" name="图片 5"/>
          <p:cNvPicPr>
            <a:picLocks noChangeAspect="1"/>
          </p:cNvPicPr>
          <p:nvPr/>
        </p:nvPicPr>
        <p:blipFill>
          <a:blip r:embed="rId2"/>
          <a:stretch>
            <a:fillRect/>
          </a:stretch>
        </p:blipFill>
        <p:spPr>
          <a:xfrm>
            <a:off x="4606883" y="217501"/>
            <a:ext cx="4332924" cy="3249693"/>
          </a:xfrm>
          <a:prstGeom prst="rect">
            <a:avLst/>
          </a:prstGeom>
        </p:spPr>
      </p:pic>
      <p:pic>
        <p:nvPicPr>
          <p:cNvPr id="7" name="图片 6"/>
          <p:cNvPicPr>
            <a:picLocks noChangeAspect="1"/>
          </p:cNvPicPr>
          <p:nvPr/>
        </p:nvPicPr>
        <p:blipFill>
          <a:blip r:embed="rId3"/>
          <a:stretch>
            <a:fillRect/>
          </a:stretch>
        </p:blipFill>
        <p:spPr>
          <a:xfrm>
            <a:off x="55984" y="225607"/>
            <a:ext cx="4322116" cy="3241587"/>
          </a:xfrm>
          <a:prstGeom prst="rect">
            <a:avLst/>
          </a:prstGeom>
        </p:spPr>
      </p:pic>
      <p:sp>
        <p:nvSpPr>
          <p:cNvPr id="2" name="矩形 1"/>
          <p:cNvSpPr/>
          <p:nvPr/>
        </p:nvSpPr>
        <p:spPr>
          <a:xfrm>
            <a:off x="347273" y="4824318"/>
            <a:ext cx="4006225" cy="646331"/>
          </a:xfrm>
          <a:prstGeom prst="rect">
            <a:avLst/>
          </a:prstGeom>
        </p:spPr>
        <p:txBody>
          <a:bodyPr wrap="none">
            <a:spAutoFit/>
          </a:bodyPr>
          <a:lstStyle/>
          <a:p>
            <a:r>
              <a:rPr lang="zh-CN" altLang="en-US" sz="1800" dirty="0"/>
              <a:t>占地不足</a:t>
            </a:r>
            <a:r>
              <a:rPr lang="en-US" altLang="zh-CN" sz="1800" dirty="0"/>
              <a:t>3</a:t>
            </a:r>
            <a:r>
              <a:rPr lang="zh-CN" altLang="en-US" sz="1800" dirty="0"/>
              <a:t>平米的“量子计算机”样机</a:t>
            </a:r>
            <a:endParaRPr lang="en-US" altLang="zh-CN" sz="1800" dirty="0"/>
          </a:p>
          <a:p>
            <a:r>
              <a:rPr lang="zh-CN" altLang="en-US" sz="1800" b="1" dirty="0"/>
              <a:t>中国量子计算机</a:t>
            </a:r>
            <a:r>
              <a:rPr lang="en-US" altLang="zh-CN" sz="1800" dirty="0"/>
              <a:t>2017.5</a:t>
            </a:r>
            <a:endParaRPr lang="zh-CN" altLang="en-US" sz="18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量子计算机</a:t>
            </a:r>
            <a:endParaRPr lang="zh-CN" altLang="en-US" dirty="0"/>
          </a:p>
        </p:txBody>
      </p:sp>
      <p:sp>
        <p:nvSpPr>
          <p:cNvPr id="3" name="内容占位符 2"/>
          <p:cNvSpPr>
            <a:spLocks noGrp="1"/>
          </p:cNvSpPr>
          <p:nvPr>
            <p:ph idx="1"/>
          </p:nvPr>
        </p:nvSpPr>
        <p:spPr/>
        <p:txBody>
          <a:bodyPr/>
          <a:lstStyle/>
          <a:p>
            <a:r>
              <a:rPr lang="zh-CN" altLang="en-US" dirty="0"/>
              <a:t>实现量子计算机要解决的三大问题</a:t>
            </a:r>
            <a:endParaRPr lang="en-US" altLang="zh-CN" dirty="0"/>
          </a:p>
          <a:p>
            <a:pPr lvl="1"/>
            <a:r>
              <a:rPr lang="zh-CN" altLang="en-US" dirty="0"/>
              <a:t>量子芯片</a:t>
            </a:r>
            <a:endParaRPr lang="en-US" altLang="zh-CN" dirty="0"/>
          </a:p>
          <a:p>
            <a:pPr lvl="1"/>
            <a:r>
              <a:rPr lang="zh-CN" altLang="en-US" dirty="0"/>
              <a:t>量子编码</a:t>
            </a:r>
            <a:endParaRPr lang="en-US" altLang="zh-CN" dirty="0"/>
          </a:p>
          <a:p>
            <a:pPr lvl="1"/>
            <a:r>
              <a:rPr lang="zh-CN" altLang="en-US" dirty="0"/>
              <a:t>量子算法</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solidFill>
                  <a:srgbClr val="04617B">
                    <a:shade val="90000"/>
                  </a:srgbClr>
                </a:solidFill>
              </a:rPr>
            </a:fld>
            <a:endParaRPr lang="zh-CN" altLang="en-US">
              <a:solidFill>
                <a:srgbClr val="04617B">
                  <a:shade val="90000"/>
                </a:srgbClr>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量子计算机</a:t>
            </a:r>
            <a:r>
              <a:rPr lang="en-US" altLang="zh-CN" dirty="0"/>
              <a:t>-</a:t>
            </a:r>
            <a:r>
              <a:rPr lang="zh-CN" altLang="en-US" dirty="0"/>
              <a:t>量子芯片</a:t>
            </a:r>
            <a:endParaRPr lang="zh-CN" altLang="en-US" dirty="0"/>
          </a:p>
        </p:txBody>
      </p:sp>
      <p:sp>
        <p:nvSpPr>
          <p:cNvPr id="3" name="内容占位符 2"/>
          <p:cNvSpPr>
            <a:spLocks noGrp="1"/>
          </p:cNvSpPr>
          <p:nvPr>
            <p:ph idx="1"/>
          </p:nvPr>
        </p:nvSpPr>
        <p:spPr/>
        <p:txBody>
          <a:bodyPr/>
          <a:lstStyle/>
          <a:p>
            <a:r>
              <a:rPr lang="zh-CN" altLang="en-US" dirty="0"/>
              <a:t>量子比特</a:t>
            </a:r>
            <a:r>
              <a:rPr lang="en-US" altLang="zh-CN" dirty="0"/>
              <a:t>-》</a:t>
            </a:r>
            <a:r>
              <a:rPr lang="zh-CN" altLang="en-US" dirty="0"/>
              <a:t>量子芯片</a:t>
            </a:r>
            <a:r>
              <a:rPr lang="en-US" altLang="zh-CN" dirty="0"/>
              <a:t>-》</a:t>
            </a:r>
            <a:r>
              <a:rPr lang="zh-CN" altLang="en-US" dirty="0"/>
              <a:t>量子计算机</a:t>
            </a:r>
            <a:endParaRPr lang="en-US" altLang="zh-CN" dirty="0"/>
          </a:p>
          <a:p>
            <a:r>
              <a:rPr lang="zh-CN" altLang="en-US" dirty="0"/>
              <a:t>第一种方案：核磁共振计算机，利用自旋向上和向下来表示</a:t>
            </a:r>
            <a:r>
              <a:rPr lang="en-US" altLang="zh-CN" dirty="0"/>
              <a:t>0</a:t>
            </a:r>
            <a:r>
              <a:rPr lang="zh-CN" altLang="en-US" dirty="0"/>
              <a:t>或者</a:t>
            </a:r>
            <a:r>
              <a:rPr lang="en-US" altLang="zh-CN" dirty="0"/>
              <a:t>1</a:t>
            </a:r>
            <a:r>
              <a:rPr lang="zh-CN" altLang="en-US" dirty="0"/>
              <a:t>态。</a:t>
            </a:r>
            <a:endParaRPr lang="en-US" altLang="zh-CN" dirty="0"/>
          </a:p>
          <a:p>
            <a:r>
              <a:rPr lang="zh-CN" altLang="en-US" dirty="0"/>
              <a:t>第二种方案：离子阱计算机，用激光来控制粒子的自旋</a:t>
            </a:r>
            <a:endParaRPr lang="en-US" altLang="zh-CN" dirty="0"/>
          </a:p>
          <a:p>
            <a:r>
              <a:rPr lang="zh-CN" altLang="en-US" dirty="0"/>
              <a:t>第三种方案：量子点计算机，最有希望的方向</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solidFill>
                  <a:srgbClr val="04617B">
                    <a:shade val="90000"/>
                  </a:srgbClr>
                </a:solidFill>
              </a:rPr>
            </a:fld>
            <a:endParaRPr lang="zh-CN" altLang="en-US">
              <a:solidFill>
                <a:srgbClr val="04617B">
                  <a:shade val="90000"/>
                </a:srgbClr>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39552" y="836712"/>
            <a:ext cx="7632848" cy="573157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9512" y="548680"/>
            <a:ext cx="8424936" cy="632636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548680"/>
            <a:ext cx="8244408" cy="6190801"/>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79511" y="620688"/>
            <a:ext cx="8151027" cy="612068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79511" y="620688"/>
            <a:ext cx="8151027" cy="612068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07504" y="476672"/>
            <a:ext cx="8424936" cy="6326361"/>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b="1" dirty="0"/>
          </a:p>
          <a:p>
            <a:r>
              <a:rPr lang="en-US" altLang="zh-CN" b="1" dirty="0"/>
              <a:t>2018</a:t>
            </a:r>
            <a:r>
              <a:rPr lang="zh-CN" altLang="en-US" b="1" dirty="0"/>
              <a:t>年</a:t>
            </a:r>
            <a:r>
              <a:rPr lang="en-US" altLang="zh-CN" b="1" dirty="0"/>
              <a:t>5</a:t>
            </a:r>
            <a:r>
              <a:rPr lang="zh-CN" altLang="en-US" b="1" dirty="0"/>
              <a:t>月</a:t>
            </a:r>
            <a:r>
              <a:rPr lang="en-US" altLang="zh-CN" b="1" dirty="0"/>
              <a:t>8</a:t>
            </a:r>
            <a:r>
              <a:rPr lang="zh-CN" altLang="en-US" b="1" dirty="0"/>
              <a:t>日，阿里巴巴量子实验室施尧耘团队宣布于近日成功研制当前世界最强的量子电路模拟器，名为“太章”。</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solidFill>
                  <a:srgbClr val="04617B">
                    <a:shade val="90000"/>
                  </a:srgbClr>
                </a:solidFill>
              </a:rPr>
            </a:fld>
            <a:endParaRPr lang="zh-CN" altLang="en-US">
              <a:solidFill>
                <a:srgbClr val="04617B">
                  <a:shade val="90000"/>
                </a:srgbClr>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量子算法</a:t>
            </a:r>
            <a:endParaRPr lang="zh-CN" altLang="en-US" dirty="0"/>
          </a:p>
        </p:txBody>
      </p:sp>
      <p:sp>
        <p:nvSpPr>
          <p:cNvPr id="4" name="文本占位符 3"/>
          <p:cNvSpPr>
            <a:spLocks noGrp="1"/>
          </p:cNvSpPr>
          <p:nvPr>
            <p:ph type="body" idx="1"/>
          </p:nvPr>
        </p:nvSpPr>
        <p:spPr/>
        <p:txBody>
          <a:bodyPr/>
          <a:lstStyle/>
          <a:p>
            <a:r>
              <a:rPr lang="en-US" altLang="zh-CN" dirty="0"/>
              <a:t>http://quantumalgorithmzoo.org/</a:t>
            </a:r>
            <a:endParaRPr lang="zh-CN" altLang="en-US" dirty="0"/>
          </a:p>
        </p:txBody>
      </p:sp>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grpSp>
        <p:nvGrpSpPr>
          <p:cNvPr id="6" name="组合 5"/>
          <p:cNvGrpSpPr/>
          <p:nvPr/>
        </p:nvGrpSpPr>
        <p:grpSpPr>
          <a:xfrm>
            <a:off x="614362" y="671512"/>
            <a:ext cx="7915275" cy="5514975"/>
            <a:chOff x="614362" y="671512"/>
            <a:chExt cx="7915275" cy="5514975"/>
          </a:xfrm>
        </p:grpSpPr>
        <p:pic>
          <p:nvPicPr>
            <p:cNvPr id="4" name="图片 3"/>
            <p:cNvPicPr>
              <a:picLocks noChangeAspect="1"/>
            </p:cNvPicPr>
            <p:nvPr/>
          </p:nvPicPr>
          <p:blipFill>
            <a:blip r:embed="rId1"/>
            <a:stretch>
              <a:fillRect/>
            </a:stretch>
          </p:blipFill>
          <p:spPr>
            <a:xfrm>
              <a:off x="614362" y="671512"/>
              <a:ext cx="7915275" cy="5514975"/>
            </a:xfrm>
            <a:prstGeom prst="rect">
              <a:avLst/>
            </a:prstGeom>
          </p:spPr>
        </p:pic>
        <p:pic>
          <p:nvPicPr>
            <p:cNvPr id="5" name="图片 4"/>
            <p:cNvPicPr>
              <a:picLocks noChangeAspect="1"/>
            </p:cNvPicPr>
            <p:nvPr/>
          </p:nvPicPr>
          <p:blipFill>
            <a:blip r:embed="rId2"/>
            <a:stretch>
              <a:fillRect/>
            </a:stretch>
          </p:blipFill>
          <p:spPr>
            <a:xfrm>
              <a:off x="7092280" y="5714206"/>
              <a:ext cx="1224136" cy="371475"/>
            </a:xfrm>
            <a:prstGeom prst="rect">
              <a:avLst/>
            </a:prstGeom>
          </p:spPr>
        </p:pic>
      </p:grpSp>
      <p:sp>
        <p:nvSpPr>
          <p:cNvPr id="7" name="矩形 6"/>
          <p:cNvSpPr/>
          <p:nvPr/>
        </p:nvSpPr>
        <p:spPr>
          <a:xfrm>
            <a:off x="3924279" y="6356350"/>
            <a:ext cx="4572000" cy="307777"/>
          </a:xfrm>
          <a:prstGeom prst="rect">
            <a:avLst/>
          </a:prstGeom>
        </p:spPr>
        <p:txBody>
          <a:bodyPr>
            <a:spAutoFit/>
          </a:bodyPr>
          <a:lstStyle/>
          <a:p>
            <a:r>
              <a:rPr lang="en-US" altLang="zh-CN" sz="1400" dirty="0">
                <a:solidFill>
                  <a:schemeClr val="tx1"/>
                </a:solidFill>
                <a:hlinkClick r:id="rId3"/>
              </a:rPr>
              <a:t>https://mp.weixin.qq.com/s/xRSV4oo-AFrfsX0pBhgmLw</a:t>
            </a:r>
            <a:endParaRPr lang="zh-CN" altLang="en-US" sz="1400" dirty="0">
              <a:solidFill>
                <a:schemeClr val="tx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sp>
        <p:nvSpPr>
          <p:cNvPr id="3" name="矩形 2"/>
          <p:cNvSpPr/>
          <p:nvPr/>
        </p:nvSpPr>
        <p:spPr>
          <a:xfrm>
            <a:off x="395536" y="980728"/>
            <a:ext cx="8352928" cy="4647426"/>
          </a:xfrm>
          <a:prstGeom prst="rect">
            <a:avLst/>
          </a:prstGeom>
        </p:spPr>
        <p:txBody>
          <a:bodyPr wrap="square">
            <a:spAutoFit/>
          </a:bodyPr>
          <a:lstStyle/>
          <a:p>
            <a:pPr marL="457200" indent="-457200" algn="just">
              <a:buAutoNum type="arabicParenBoth"/>
            </a:pPr>
            <a:r>
              <a:rPr lang="zh-CN" altLang="en-US" sz="3200" b="1" dirty="0">
                <a:solidFill>
                  <a:srgbClr val="00D5FF"/>
                </a:solidFill>
                <a:effectLst/>
                <a:latin typeface="Optima-Regular"/>
              </a:rPr>
              <a:t>量子算法的第一阶段（</a:t>
            </a:r>
            <a:r>
              <a:rPr lang="en-US" altLang="zh-CN" sz="3200" b="1" dirty="0">
                <a:solidFill>
                  <a:srgbClr val="00D5FF"/>
                </a:solidFill>
                <a:effectLst/>
                <a:latin typeface="Optima-Regular"/>
              </a:rPr>
              <a:t>1985-1994</a:t>
            </a:r>
            <a:r>
              <a:rPr lang="zh-CN" altLang="en-US" sz="3200" b="1" dirty="0">
                <a:solidFill>
                  <a:srgbClr val="00D5FF"/>
                </a:solidFill>
                <a:effectLst/>
                <a:latin typeface="Optima-Regular"/>
              </a:rPr>
              <a:t>）</a:t>
            </a:r>
            <a:endParaRPr lang="en-US" altLang="zh-CN" sz="3200" b="1" dirty="0">
              <a:solidFill>
                <a:srgbClr val="00D5FF"/>
              </a:solidFill>
              <a:effectLst/>
              <a:latin typeface="Optima-Regular"/>
            </a:endParaRPr>
          </a:p>
          <a:p>
            <a:pPr algn="just"/>
            <a:br>
              <a:rPr lang="zh-CN" altLang="en-US" sz="2000" b="1" dirty="0">
                <a:solidFill>
                  <a:srgbClr val="00D5FF"/>
                </a:solidFill>
                <a:effectLst/>
                <a:latin typeface="Optima-Regular"/>
              </a:rPr>
            </a:br>
            <a:r>
              <a:rPr lang="zh-CN" altLang="en-US" sz="2000" b="1" dirty="0">
                <a:solidFill>
                  <a:srgbClr val="00D5FF"/>
                </a:solidFill>
                <a:effectLst/>
                <a:latin typeface="Optima-Regular"/>
              </a:rPr>
              <a:t>        </a:t>
            </a:r>
            <a:r>
              <a:rPr lang="zh-CN" altLang="en-US" sz="2000" b="1" dirty="0">
                <a:solidFill>
                  <a:srgbClr val="333333"/>
                </a:solidFill>
                <a:effectLst/>
                <a:latin typeface="Optima-Regular"/>
              </a:rPr>
              <a:t>我们称之为初始阶段，其特点是为量子而问题</a:t>
            </a:r>
            <a:r>
              <a:rPr lang="zh-CN" altLang="en-US" sz="2000" dirty="0">
                <a:solidFill>
                  <a:srgbClr val="333333"/>
                </a:solidFill>
                <a:effectLst/>
                <a:latin typeface="Optima-Regular"/>
              </a:rPr>
              <a:t>，即为了展示量子计算优势而构造了一些数学问题并为之设计量子算法，这些问题在当时可能并没有多少实用价值。最早的量子算法可以追溯到</a:t>
            </a:r>
            <a:r>
              <a:rPr lang="en-US" altLang="zh-CN" sz="2000" dirty="0">
                <a:solidFill>
                  <a:srgbClr val="333333"/>
                </a:solidFill>
                <a:effectLst/>
                <a:latin typeface="Optima-Regular"/>
              </a:rPr>
              <a:t>1985</a:t>
            </a:r>
            <a:r>
              <a:rPr lang="zh-CN" altLang="en-US" sz="2000" dirty="0">
                <a:solidFill>
                  <a:srgbClr val="333333"/>
                </a:solidFill>
                <a:effectLst/>
                <a:latin typeface="Optima-Regular"/>
              </a:rPr>
              <a:t>年的</a:t>
            </a:r>
            <a:r>
              <a:rPr lang="en-US" altLang="zh-CN" sz="2000" dirty="0">
                <a:solidFill>
                  <a:srgbClr val="333333"/>
                </a:solidFill>
                <a:effectLst/>
                <a:latin typeface="Optima-Regular"/>
              </a:rPr>
              <a:t>Deutsch</a:t>
            </a:r>
            <a:r>
              <a:rPr lang="zh-CN" altLang="en-US" sz="2000" dirty="0">
                <a:solidFill>
                  <a:srgbClr val="333333"/>
                </a:solidFill>
                <a:effectLst/>
                <a:latin typeface="Optima-Regular"/>
              </a:rPr>
              <a:t>算法。</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1985</a:t>
            </a:r>
            <a:r>
              <a:rPr lang="zh-CN" altLang="en-US" sz="2000" dirty="0">
                <a:solidFill>
                  <a:srgbClr val="333333"/>
                </a:solidFill>
                <a:effectLst/>
                <a:latin typeface="Optima-Regular"/>
              </a:rPr>
              <a:t>年</a:t>
            </a:r>
            <a:r>
              <a:rPr lang="en-US" altLang="zh-CN" sz="2000" dirty="0">
                <a:solidFill>
                  <a:srgbClr val="333333"/>
                </a:solidFill>
                <a:effectLst/>
                <a:latin typeface="Optima-Regular"/>
              </a:rPr>
              <a:t>David Deutsch</a:t>
            </a:r>
            <a:r>
              <a:rPr lang="zh-CN" altLang="en-US" sz="2000" dirty="0">
                <a:solidFill>
                  <a:srgbClr val="333333"/>
                </a:solidFill>
                <a:effectLst/>
                <a:latin typeface="Optima-Regular"/>
              </a:rPr>
              <a:t>在其关于量子图灵机的开创性论文中给出了一个简单问题，并为之设计了一个量子计算过程，通过利用量子叠加和干涉现象展现出了量子计算可能超越经典计算的优势，这为后续量子算法设计埋下了思想的种子。</a:t>
            </a:r>
            <a:endParaRPr lang="en-US" altLang="zh-CN" sz="2000" dirty="0">
              <a:solidFill>
                <a:srgbClr val="333333"/>
              </a:solidFill>
              <a:effectLst/>
              <a:latin typeface="Optima-Regular"/>
            </a:endParaRPr>
          </a:p>
          <a:p>
            <a:pPr algn="just"/>
            <a:r>
              <a:rPr lang="en-US" altLang="zh-CN" sz="2000" b="1" dirty="0">
                <a:solidFill>
                  <a:srgbClr val="333333"/>
                </a:solidFill>
                <a:effectLst/>
                <a:latin typeface="Optima-Regular"/>
              </a:rPr>
              <a:t>        </a:t>
            </a:r>
            <a:r>
              <a:rPr lang="zh-CN" altLang="en-US" sz="2000" b="1" dirty="0">
                <a:solidFill>
                  <a:srgbClr val="333333"/>
                </a:solidFill>
                <a:effectLst/>
                <a:latin typeface="Optima-Regular"/>
              </a:rPr>
              <a:t>虽然今天看来，</a:t>
            </a:r>
            <a:r>
              <a:rPr lang="en-US" altLang="zh-CN" sz="2000" b="1" dirty="0">
                <a:solidFill>
                  <a:srgbClr val="333333"/>
                </a:solidFill>
                <a:effectLst/>
                <a:latin typeface="Optima-Regular"/>
              </a:rPr>
              <a:t>Deutsch</a:t>
            </a:r>
            <a:r>
              <a:rPr lang="zh-CN" altLang="en-US" sz="2000" b="1" dirty="0">
                <a:solidFill>
                  <a:srgbClr val="333333"/>
                </a:solidFill>
                <a:effectLst/>
                <a:latin typeface="Optima-Regular"/>
              </a:rPr>
              <a:t>算法非常简单，甚至会觉得一切都是理所当然的，但是在那前无古人的年代把第一个量子算法雏形设计出来是非常需要洞察力和创造力的。</a:t>
            </a:r>
            <a:r>
              <a:rPr lang="zh-CN" altLang="en-US" sz="2000" dirty="0">
                <a:solidFill>
                  <a:srgbClr val="333333"/>
                </a:solidFill>
                <a:effectLst/>
                <a:latin typeface="Optima-Regular"/>
              </a:rPr>
              <a:t>后来的</a:t>
            </a:r>
            <a:r>
              <a:rPr lang="en-US" altLang="zh-CN" sz="2000" dirty="0">
                <a:solidFill>
                  <a:srgbClr val="333333"/>
                </a:solidFill>
                <a:effectLst/>
                <a:latin typeface="Optima-Regular"/>
              </a:rPr>
              <a:t>Deutsch-</a:t>
            </a:r>
            <a:r>
              <a:rPr lang="en-US" altLang="zh-CN" sz="2000" dirty="0" err="1">
                <a:solidFill>
                  <a:srgbClr val="333333"/>
                </a:solidFill>
                <a:effectLst/>
                <a:latin typeface="Optima-Regular"/>
              </a:rPr>
              <a:t>Jozsa</a:t>
            </a:r>
            <a:r>
              <a:rPr lang="zh-CN" altLang="en-US" sz="2000" dirty="0">
                <a:solidFill>
                  <a:srgbClr val="333333"/>
                </a:solidFill>
                <a:effectLst/>
                <a:latin typeface="Optima-Regular"/>
              </a:rPr>
              <a:t>算法、</a:t>
            </a:r>
            <a:r>
              <a:rPr lang="en-US" altLang="zh-CN" sz="2000" dirty="0">
                <a:solidFill>
                  <a:srgbClr val="333333"/>
                </a:solidFill>
                <a:effectLst/>
                <a:latin typeface="Optima-Regular"/>
              </a:rPr>
              <a:t>Simon</a:t>
            </a:r>
            <a:r>
              <a:rPr lang="zh-CN" altLang="en-US" sz="2000" dirty="0">
                <a:solidFill>
                  <a:srgbClr val="333333"/>
                </a:solidFill>
                <a:effectLst/>
                <a:latin typeface="Optima-Regular"/>
              </a:rPr>
              <a:t>算法等进一步考虑更复杂的问题并在某种意义下展现出了量子计算相对于经典计算的指数加速优势。</a:t>
            </a:r>
            <a:endParaRPr lang="zh-CN" altLang="en-US" sz="2000" dirty="0">
              <a:solidFill>
                <a:srgbClr val="333333"/>
              </a:solidFill>
              <a:effectLst/>
              <a:latin typeface="-apple-system-fon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sp>
        <p:nvSpPr>
          <p:cNvPr id="3" name="矩形 2"/>
          <p:cNvSpPr/>
          <p:nvPr/>
        </p:nvSpPr>
        <p:spPr>
          <a:xfrm>
            <a:off x="575556" y="1105287"/>
            <a:ext cx="7992888" cy="4647426"/>
          </a:xfrm>
          <a:prstGeom prst="rect">
            <a:avLst/>
          </a:prstGeom>
        </p:spPr>
        <p:txBody>
          <a:bodyPr wrap="square">
            <a:spAutoFit/>
          </a:bodyPr>
          <a:lstStyle/>
          <a:p>
            <a:pPr algn="just"/>
            <a:r>
              <a:rPr lang="en-US" altLang="zh-CN" sz="3200" b="1" dirty="0">
                <a:solidFill>
                  <a:srgbClr val="00D5FF"/>
                </a:solidFill>
                <a:effectLst/>
                <a:latin typeface="Optima-Regular"/>
              </a:rPr>
              <a:t>(2) </a:t>
            </a:r>
            <a:r>
              <a:rPr lang="zh-CN" altLang="en-US" sz="3200" b="1" dirty="0">
                <a:solidFill>
                  <a:srgbClr val="00D5FF"/>
                </a:solidFill>
                <a:effectLst/>
                <a:latin typeface="Optima-Regular"/>
              </a:rPr>
              <a:t>量子算法的第二阶段（</a:t>
            </a:r>
            <a:r>
              <a:rPr lang="en-US" altLang="zh-CN" sz="3200" b="1" dirty="0">
                <a:solidFill>
                  <a:srgbClr val="00D5FF"/>
                </a:solidFill>
                <a:effectLst/>
                <a:latin typeface="Optima-Regular"/>
              </a:rPr>
              <a:t>1994-2009</a:t>
            </a:r>
            <a:r>
              <a:rPr lang="zh-CN" altLang="en-US" sz="3200" b="1" dirty="0">
                <a:solidFill>
                  <a:srgbClr val="00D5FF"/>
                </a:solidFill>
                <a:effectLst/>
                <a:latin typeface="Optima-Regular"/>
              </a:rPr>
              <a:t>）</a:t>
            </a:r>
            <a:endParaRPr lang="en-US" altLang="zh-CN" sz="3200" b="1" dirty="0">
              <a:solidFill>
                <a:srgbClr val="00D5FF"/>
              </a:solidFill>
              <a:effectLst/>
              <a:latin typeface="Optima-Regular"/>
            </a:endParaRPr>
          </a:p>
          <a:p>
            <a:pPr algn="just"/>
            <a:br>
              <a:rPr lang="zh-CN" altLang="en-US" sz="2400" b="1" dirty="0">
                <a:solidFill>
                  <a:srgbClr val="00D5FF"/>
                </a:solidFill>
                <a:effectLst/>
                <a:latin typeface="Optima-Regular"/>
              </a:rPr>
            </a:br>
            <a:r>
              <a:rPr lang="zh-CN" altLang="en-US" sz="2000" b="1" dirty="0">
                <a:solidFill>
                  <a:srgbClr val="00D5FF"/>
                </a:solidFill>
                <a:effectLst/>
                <a:latin typeface="Optima-Regular"/>
              </a:rPr>
              <a:t>        </a:t>
            </a:r>
            <a:r>
              <a:rPr lang="zh-CN" altLang="en-US" sz="2000" b="1" dirty="0">
                <a:solidFill>
                  <a:srgbClr val="333333"/>
                </a:solidFill>
                <a:effectLst/>
                <a:latin typeface="Optima-Regular"/>
              </a:rPr>
              <a:t>我们称之为质变阶段，其特点是为问题而量子</a:t>
            </a:r>
            <a:r>
              <a:rPr lang="zh-CN" altLang="en-US" sz="2000" dirty="0">
                <a:solidFill>
                  <a:srgbClr val="333333"/>
                </a:solidFill>
                <a:effectLst/>
                <a:latin typeface="Optima-Regular"/>
              </a:rPr>
              <a:t>，即针对具有重要应用价值的问题而设计量子算法。</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1994</a:t>
            </a:r>
            <a:r>
              <a:rPr lang="zh-CN" altLang="en-US" sz="2000" dirty="0">
                <a:solidFill>
                  <a:srgbClr val="333333"/>
                </a:solidFill>
                <a:effectLst/>
                <a:latin typeface="Optima-Regular"/>
              </a:rPr>
              <a:t>年，</a:t>
            </a:r>
            <a:r>
              <a:rPr lang="en-US" altLang="zh-CN" sz="2000" dirty="0">
                <a:solidFill>
                  <a:srgbClr val="333333"/>
                </a:solidFill>
                <a:effectLst/>
                <a:latin typeface="Optima-Regular"/>
              </a:rPr>
              <a:t>Shor</a:t>
            </a:r>
            <a:r>
              <a:rPr lang="zh-CN" altLang="en-US" sz="2000" dirty="0">
                <a:solidFill>
                  <a:srgbClr val="333333"/>
                </a:solidFill>
                <a:effectLst/>
                <a:latin typeface="Optima-Regular"/>
              </a:rPr>
              <a:t>算法展示了大数分解问题可以被量子计算机在多项式时间内解决，而该问题在经典计算机下的难解性是</a:t>
            </a:r>
            <a:r>
              <a:rPr lang="en-US" altLang="zh-CN" sz="2000" dirty="0">
                <a:solidFill>
                  <a:srgbClr val="333333"/>
                </a:solidFill>
                <a:effectLst/>
                <a:latin typeface="Optima-Regular"/>
              </a:rPr>
              <a:t>RSA</a:t>
            </a:r>
            <a:r>
              <a:rPr lang="zh-CN" altLang="en-US" sz="2000" dirty="0">
                <a:solidFill>
                  <a:srgbClr val="333333"/>
                </a:solidFill>
                <a:effectLst/>
                <a:latin typeface="Optima-Regular"/>
              </a:rPr>
              <a:t>公钥密码系统安全性的理论基础。</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a:t>
            </a:r>
            <a:r>
              <a:rPr lang="zh-CN" altLang="en-US" sz="2000" dirty="0">
                <a:solidFill>
                  <a:srgbClr val="333333"/>
                </a:solidFill>
                <a:effectLst/>
                <a:latin typeface="Optima-Regular"/>
              </a:rPr>
              <a:t>随后，</a:t>
            </a:r>
            <a:r>
              <a:rPr lang="en-US" altLang="zh-CN" sz="2000" dirty="0">
                <a:solidFill>
                  <a:srgbClr val="333333"/>
                </a:solidFill>
                <a:effectLst/>
                <a:latin typeface="Optima-Regular"/>
              </a:rPr>
              <a:t>1996</a:t>
            </a:r>
            <a:r>
              <a:rPr lang="zh-CN" altLang="en-US" sz="2000" dirty="0">
                <a:solidFill>
                  <a:srgbClr val="333333"/>
                </a:solidFill>
                <a:effectLst/>
                <a:latin typeface="Optima-Regular"/>
              </a:rPr>
              <a:t>年</a:t>
            </a:r>
            <a:r>
              <a:rPr lang="en-US" altLang="zh-CN" sz="2000" dirty="0">
                <a:solidFill>
                  <a:srgbClr val="333333"/>
                </a:solidFill>
                <a:effectLst/>
                <a:latin typeface="Optima-Regular"/>
              </a:rPr>
              <a:t>Grover</a:t>
            </a:r>
            <a:r>
              <a:rPr lang="zh-CN" altLang="en-US" sz="2000" dirty="0">
                <a:solidFill>
                  <a:srgbClr val="333333"/>
                </a:solidFill>
                <a:effectLst/>
                <a:latin typeface="Optima-Regular"/>
              </a:rPr>
              <a:t>发现了无序数据库搜索的平方加速量子算法，使得在无序数据库中“大海捞针”成为可能。由于这些算法所解决的问题具有广泛的应用价值，使得这些算法备受关注，从而也大大推动了整个量子计算领域的发展。</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a:t>
            </a:r>
            <a:r>
              <a:rPr lang="zh-CN" altLang="en-US" sz="2000" dirty="0">
                <a:solidFill>
                  <a:srgbClr val="333333"/>
                </a:solidFill>
                <a:effectLst/>
                <a:latin typeface="Optima-Regular"/>
              </a:rPr>
              <a:t>后续不少研究就是聚焦于如何把以上两个算法映射到更多具有实际价值的问题。另外，此阶段提出的量子游走也是一类进行量子算法设计的重要工具。</a:t>
            </a:r>
            <a:endParaRPr lang="zh-CN" altLang="en-US" sz="2000" b="0" i="0" dirty="0">
              <a:solidFill>
                <a:srgbClr val="333333"/>
              </a:solidFill>
              <a:effectLst/>
              <a:latin typeface="-apple-system-fon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sp>
        <p:nvSpPr>
          <p:cNvPr id="3" name="矩形 2"/>
          <p:cNvSpPr/>
          <p:nvPr/>
        </p:nvSpPr>
        <p:spPr>
          <a:xfrm>
            <a:off x="589856" y="1196752"/>
            <a:ext cx="8075240" cy="3662541"/>
          </a:xfrm>
          <a:prstGeom prst="rect">
            <a:avLst/>
          </a:prstGeom>
        </p:spPr>
        <p:txBody>
          <a:bodyPr wrap="square">
            <a:spAutoFit/>
          </a:bodyPr>
          <a:lstStyle/>
          <a:p>
            <a:pPr algn="just"/>
            <a:r>
              <a:rPr lang="en-US" altLang="zh-CN" sz="3200" b="1" dirty="0">
                <a:solidFill>
                  <a:srgbClr val="00D5FF"/>
                </a:solidFill>
                <a:effectLst/>
                <a:latin typeface="Optima-Regular"/>
              </a:rPr>
              <a:t>(3) </a:t>
            </a:r>
            <a:r>
              <a:rPr lang="zh-CN" altLang="en-US" sz="3200" b="1" dirty="0">
                <a:solidFill>
                  <a:srgbClr val="00D5FF"/>
                </a:solidFill>
                <a:effectLst/>
                <a:latin typeface="Optima-Regular"/>
              </a:rPr>
              <a:t>量子算法的第三个阶段（</a:t>
            </a:r>
            <a:r>
              <a:rPr lang="en-US" altLang="zh-CN" sz="3200" b="1" dirty="0">
                <a:solidFill>
                  <a:srgbClr val="00D5FF"/>
                </a:solidFill>
                <a:effectLst/>
                <a:latin typeface="Optima-Regular"/>
              </a:rPr>
              <a:t>2009-</a:t>
            </a:r>
            <a:r>
              <a:rPr lang="zh-CN" altLang="en-US" sz="3200" b="1" dirty="0">
                <a:solidFill>
                  <a:srgbClr val="00D5FF"/>
                </a:solidFill>
                <a:effectLst/>
                <a:latin typeface="Optima-Regular"/>
              </a:rPr>
              <a:t>至今）</a:t>
            </a:r>
            <a:endParaRPr lang="en-US" altLang="zh-CN" sz="3200" b="1" dirty="0">
              <a:solidFill>
                <a:srgbClr val="00D5FF"/>
              </a:solidFill>
              <a:effectLst/>
              <a:latin typeface="Optima-Regular"/>
            </a:endParaRPr>
          </a:p>
          <a:p>
            <a:pPr algn="just"/>
            <a:br>
              <a:rPr lang="zh-CN" altLang="en-US" sz="2000" dirty="0"/>
            </a:br>
            <a:r>
              <a:rPr lang="zh-CN" altLang="en-US" sz="2000" dirty="0"/>
              <a:t>       </a:t>
            </a:r>
            <a:r>
              <a:rPr lang="zh-CN" altLang="en-US" sz="2000" b="1" dirty="0">
                <a:solidFill>
                  <a:srgbClr val="333333"/>
                </a:solidFill>
                <a:effectLst/>
                <a:latin typeface="Optima-Regular"/>
              </a:rPr>
              <a:t>我们称之为新的发展阶段，其特点是面向大数据环境</a:t>
            </a:r>
            <a:r>
              <a:rPr lang="zh-CN" altLang="en-US" sz="2000" dirty="0">
                <a:solidFill>
                  <a:srgbClr val="333333"/>
                </a:solidFill>
                <a:effectLst/>
                <a:latin typeface="Optima-Regular"/>
              </a:rPr>
              <a:t>。</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2009</a:t>
            </a:r>
            <a:r>
              <a:rPr lang="zh-CN" altLang="en-US" sz="2000" dirty="0">
                <a:solidFill>
                  <a:srgbClr val="333333"/>
                </a:solidFill>
                <a:effectLst/>
                <a:latin typeface="Optima-Regular"/>
              </a:rPr>
              <a:t>年解线性方程组量子算法（</a:t>
            </a:r>
            <a:r>
              <a:rPr lang="en-US" altLang="zh-CN" sz="2000" dirty="0">
                <a:solidFill>
                  <a:srgbClr val="333333"/>
                </a:solidFill>
                <a:effectLst/>
                <a:latin typeface="Optima-Regular"/>
              </a:rPr>
              <a:t>HHL</a:t>
            </a:r>
            <a:r>
              <a:rPr lang="zh-CN" altLang="en-US" sz="2000" dirty="0">
                <a:solidFill>
                  <a:srgbClr val="333333"/>
                </a:solidFill>
                <a:effectLst/>
                <a:latin typeface="Optima-Regular"/>
              </a:rPr>
              <a:t>算法）的提出标志着量子算法进入了第三阶段。或许</a:t>
            </a:r>
            <a:r>
              <a:rPr lang="en-US" altLang="zh-CN" sz="2000" dirty="0">
                <a:solidFill>
                  <a:srgbClr val="333333"/>
                </a:solidFill>
                <a:effectLst/>
                <a:latin typeface="Optima-Regular"/>
              </a:rPr>
              <a:t>HHL</a:t>
            </a:r>
            <a:r>
              <a:rPr lang="zh-CN" altLang="en-US" sz="2000" dirty="0">
                <a:solidFill>
                  <a:srgbClr val="333333"/>
                </a:solidFill>
                <a:effectLst/>
                <a:latin typeface="Optima-Regular"/>
              </a:rPr>
              <a:t>算法并不能与</a:t>
            </a:r>
            <a:r>
              <a:rPr lang="en-US" altLang="zh-CN" sz="2000" dirty="0">
                <a:solidFill>
                  <a:srgbClr val="333333"/>
                </a:solidFill>
                <a:effectLst/>
                <a:latin typeface="Optima-Regular"/>
              </a:rPr>
              <a:t>Shor</a:t>
            </a:r>
            <a:r>
              <a:rPr lang="zh-CN" altLang="en-US" sz="2000" dirty="0">
                <a:solidFill>
                  <a:srgbClr val="333333"/>
                </a:solidFill>
                <a:effectLst/>
                <a:latin typeface="Optima-Regular"/>
              </a:rPr>
              <a:t>算法或</a:t>
            </a:r>
            <a:r>
              <a:rPr lang="en-US" altLang="zh-CN" sz="2000" dirty="0">
                <a:solidFill>
                  <a:srgbClr val="333333"/>
                </a:solidFill>
                <a:effectLst/>
                <a:latin typeface="Optima-Regular"/>
              </a:rPr>
              <a:t>Grover</a:t>
            </a:r>
            <a:r>
              <a:rPr lang="zh-CN" altLang="en-US" sz="2000" dirty="0">
                <a:solidFill>
                  <a:srgbClr val="333333"/>
                </a:solidFill>
                <a:effectLst/>
                <a:latin typeface="Optima-Regular"/>
              </a:rPr>
              <a:t>算法媲美，但是在大家苦苦等待新的量子算法出现达</a:t>
            </a:r>
            <a:r>
              <a:rPr lang="en-US" altLang="zh-CN" sz="2000" dirty="0">
                <a:solidFill>
                  <a:srgbClr val="333333"/>
                </a:solidFill>
                <a:effectLst/>
                <a:latin typeface="Optima-Regular"/>
              </a:rPr>
              <a:t>10</a:t>
            </a:r>
            <a:r>
              <a:rPr lang="zh-CN" altLang="en-US" sz="2000" dirty="0">
                <a:solidFill>
                  <a:srgbClr val="333333"/>
                </a:solidFill>
                <a:effectLst/>
                <a:latin typeface="Optima-Regular"/>
              </a:rPr>
              <a:t>多年之久，</a:t>
            </a:r>
            <a:r>
              <a:rPr lang="en-US" altLang="zh-CN" sz="2000" dirty="0">
                <a:solidFill>
                  <a:srgbClr val="333333"/>
                </a:solidFill>
                <a:effectLst/>
                <a:latin typeface="Optima-Regular"/>
              </a:rPr>
              <a:t>HHL</a:t>
            </a:r>
            <a:r>
              <a:rPr lang="zh-CN" altLang="en-US" sz="2000" dirty="0">
                <a:solidFill>
                  <a:srgbClr val="333333"/>
                </a:solidFill>
                <a:effectLst/>
                <a:latin typeface="Optima-Regular"/>
              </a:rPr>
              <a:t>算法不失为量子算法设计提供了一条新路径，它或许是把量子模拟应用于数据处理的范例。</a:t>
            </a:r>
            <a:endParaRPr lang="en-US" altLang="zh-CN" sz="2000" dirty="0">
              <a:solidFill>
                <a:srgbClr val="333333"/>
              </a:solidFill>
              <a:effectLst/>
              <a:latin typeface="Optima-Regular"/>
            </a:endParaRPr>
          </a:p>
          <a:p>
            <a:pPr algn="just"/>
            <a:r>
              <a:rPr lang="en-US" altLang="zh-CN" sz="2000" dirty="0">
                <a:solidFill>
                  <a:srgbClr val="333333"/>
                </a:solidFill>
                <a:effectLst/>
                <a:latin typeface="Optima-Regular"/>
              </a:rPr>
              <a:t>        </a:t>
            </a:r>
            <a:r>
              <a:rPr lang="zh-CN" altLang="en-US" sz="2000" dirty="0">
                <a:solidFill>
                  <a:srgbClr val="333333"/>
                </a:solidFill>
                <a:effectLst/>
                <a:latin typeface="Optima-Regular"/>
              </a:rPr>
              <a:t>量子模拟是量子计算的一个重要方面，也涉及各种模拟算法的研究，不过由于其与物理过程更相关，而本文更侧重于利用量子技术进行经典数据处理，所以此处不作重点介绍。</a:t>
            </a:r>
            <a:endParaRPr lang="zh-CN" altLang="en-US" sz="2000" b="0" i="0" dirty="0">
              <a:solidFill>
                <a:srgbClr val="333333"/>
              </a:solidFill>
              <a:effectLst/>
              <a:latin typeface="-apple-system-fon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6F0833-FE56-4B6A-B3D2-BF42542E9095}" type="slidenum">
              <a:rPr lang="en-US" smtClean="0"/>
            </a:fld>
            <a:endParaRPr lang="en-US"/>
          </a:p>
        </p:txBody>
      </p:sp>
      <p:grpSp>
        <p:nvGrpSpPr>
          <p:cNvPr id="6" name="组合 5"/>
          <p:cNvGrpSpPr/>
          <p:nvPr/>
        </p:nvGrpSpPr>
        <p:grpSpPr>
          <a:xfrm>
            <a:off x="619125" y="461962"/>
            <a:ext cx="7905750" cy="5934075"/>
            <a:chOff x="619125" y="461962"/>
            <a:chExt cx="7905750" cy="5934075"/>
          </a:xfrm>
        </p:grpSpPr>
        <p:pic>
          <p:nvPicPr>
            <p:cNvPr id="4" name="图片 3"/>
            <p:cNvPicPr>
              <a:picLocks noChangeAspect="1"/>
            </p:cNvPicPr>
            <p:nvPr/>
          </p:nvPicPr>
          <p:blipFill>
            <a:blip r:embed="rId1"/>
            <a:stretch>
              <a:fillRect/>
            </a:stretch>
          </p:blipFill>
          <p:spPr>
            <a:xfrm>
              <a:off x="619125" y="461962"/>
              <a:ext cx="7905750" cy="5934075"/>
            </a:xfrm>
            <a:prstGeom prst="rect">
              <a:avLst/>
            </a:prstGeom>
          </p:spPr>
        </p:pic>
        <p:pic>
          <p:nvPicPr>
            <p:cNvPr id="5" name="图片 4"/>
            <p:cNvPicPr>
              <a:picLocks noChangeAspect="1"/>
            </p:cNvPicPr>
            <p:nvPr/>
          </p:nvPicPr>
          <p:blipFill>
            <a:blip r:embed="rId2"/>
            <a:stretch>
              <a:fillRect/>
            </a:stretch>
          </p:blipFill>
          <p:spPr>
            <a:xfrm>
              <a:off x="7177080" y="5923391"/>
              <a:ext cx="1139190" cy="365125"/>
            </a:xfrm>
            <a:prstGeom prst="rect">
              <a:avLst/>
            </a:prstGeom>
          </p:spPr>
        </p:pic>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7975" y="260648"/>
            <a:ext cx="8084264" cy="584775"/>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r>
              <a:rPr lang="en-US" altLang="zh-CN" sz="3200" b="1" dirty="0">
                <a:solidFill>
                  <a:schemeClr val="bg1"/>
                </a:solidFill>
                <a:latin typeface="Arial" panose="020B0604020202020204" pitchFamily="34" charset="0"/>
              </a:rPr>
              <a:t>bounded-error quantum polynomial time</a:t>
            </a:r>
            <a:endParaRPr lang="zh-CN" altLang="en-US" sz="3200" b="1" dirty="0">
              <a:solidFill>
                <a:schemeClr val="bg1"/>
              </a:solidFill>
            </a:endParaRPr>
          </a:p>
        </p:txBody>
      </p:sp>
      <p:sp>
        <p:nvSpPr>
          <p:cNvPr id="3" name="矩形 2"/>
          <p:cNvSpPr/>
          <p:nvPr/>
        </p:nvSpPr>
        <p:spPr>
          <a:xfrm>
            <a:off x="687486" y="921494"/>
            <a:ext cx="7950449" cy="923330"/>
          </a:xfrm>
          <a:prstGeom prst="rect">
            <a:avLst/>
          </a:prstGeom>
        </p:spPr>
        <p:txBody>
          <a:bodyPr wrap="square">
            <a:spAutoFit/>
          </a:bodyPr>
          <a:lstStyle/>
          <a:p>
            <a:r>
              <a:rPr lang="en-US" altLang="zh-CN" sz="1800" dirty="0">
                <a:solidFill>
                  <a:srgbClr val="1A1A1A"/>
                </a:solidFill>
                <a:latin typeface="-apple-system"/>
              </a:rPr>
              <a:t>BQP</a:t>
            </a:r>
            <a:r>
              <a:rPr lang="zh-CN" altLang="en-US" sz="1800" dirty="0">
                <a:solidFill>
                  <a:srgbClr val="1A1A1A"/>
                </a:solidFill>
                <a:latin typeface="-apple-system"/>
              </a:rPr>
              <a:t>是量子计算机可以在多项式时间内解决的问题，一般认为</a:t>
            </a:r>
            <a:r>
              <a:rPr lang="en-US" altLang="zh-CN" sz="1800" dirty="0">
                <a:solidFill>
                  <a:srgbClr val="1A1A1A"/>
                </a:solidFill>
                <a:latin typeface="-apple-system"/>
              </a:rPr>
              <a:t>BQP</a:t>
            </a:r>
            <a:r>
              <a:rPr lang="zh-CN" altLang="en-US" sz="1800" dirty="0">
                <a:solidFill>
                  <a:srgbClr val="1A1A1A"/>
                </a:solidFill>
                <a:latin typeface="-apple-system"/>
              </a:rPr>
              <a:t>大于</a:t>
            </a:r>
            <a:r>
              <a:rPr lang="en-US" altLang="zh-CN" sz="1800" dirty="0">
                <a:solidFill>
                  <a:srgbClr val="1A1A1A"/>
                </a:solidFill>
                <a:latin typeface="-apple-system"/>
              </a:rPr>
              <a:t>P</a:t>
            </a:r>
            <a:r>
              <a:rPr lang="zh-CN" altLang="en-US" sz="1800" dirty="0">
                <a:solidFill>
                  <a:srgbClr val="1A1A1A"/>
                </a:solidFill>
                <a:latin typeface="-apple-system"/>
              </a:rPr>
              <a:t>但小于</a:t>
            </a:r>
            <a:r>
              <a:rPr lang="en-US" altLang="zh-CN" sz="1800" dirty="0">
                <a:solidFill>
                  <a:srgbClr val="1A1A1A"/>
                </a:solidFill>
                <a:latin typeface="-apple-system"/>
              </a:rPr>
              <a:t>NP</a:t>
            </a:r>
            <a:r>
              <a:rPr lang="zh-CN" altLang="en-US" sz="1800" dirty="0">
                <a:solidFill>
                  <a:srgbClr val="1A1A1A"/>
                </a:solidFill>
                <a:latin typeface="-apple-system"/>
              </a:rPr>
              <a:t>，比如质因数分解暂时可以认为是一个</a:t>
            </a:r>
            <a:r>
              <a:rPr lang="en-US" altLang="zh-CN" sz="1800" dirty="0">
                <a:solidFill>
                  <a:srgbClr val="1A1A1A"/>
                </a:solidFill>
                <a:latin typeface="-apple-system"/>
              </a:rPr>
              <a:t>NP</a:t>
            </a:r>
            <a:r>
              <a:rPr lang="zh-CN" altLang="en-US" sz="1800" dirty="0">
                <a:solidFill>
                  <a:srgbClr val="1A1A1A"/>
                </a:solidFill>
                <a:latin typeface="-apple-system"/>
              </a:rPr>
              <a:t>问题（学术界没有定论），那么</a:t>
            </a:r>
            <a:r>
              <a:rPr lang="en-US" altLang="zh-CN" sz="1800" dirty="0">
                <a:solidFill>
                  <a:srgbClr val="1A1A1A"/>
                </a:solidFill>
                <a:latin typeface="-apple-system"/>
              </a:rPr>
              <a:t>Shor</a:t>
            </a:r>
            <a:r>
              <a:rPr lang="zh-CN" altLang="en-US" sz="1800" dirty="0">
                <a:solidFill>
                  <a:srgbClr val="1A1A1A"/>
                </a:solidFill>
                <a:latin typeface="-apple-system"/>
              </a:rPr>
              <a:t>算法解决的就是</a:t>
            </a:r>
            <a:r>
              <a:rPr lang="en-US" altLang="zh-CN" sz="1800" dirty="0">
                <a:solidFill>
                  <a:srgbClr val="1A1A1A"/>
                </a:solidFill>
                <a:latin typeface="-apple-system"/>
              </a:rPr>
              <a:t>BQP</a:t>
            </a:r>
            <a:r>
              <a:rPr lang="zh-CN" altLang="en-US" sz="1800" dirty="0">
                <a:solidFill>
                  <a:srgbClr val="1A1A1A"/>
                </a:solidFill>
                <a:latin typeface="-apple-system"/>
              </a:rPr>
              <a:t>中不在</a:t>
            </a:r>
            <a:r>
              <a:rPr lang="en-US" altLang="zh-CN" sz="1800" dirty="0">
                <a:solidFill>
                  <a:srgbClr val="1A1A1A"/>
                </a:solidFill>
                <a:latin typeface="-apple-system"/>
              </a:rPr>
              <a:t>P problem</a:t>
            </a:r>
            <a:r>
              <a:rPr lang="zh-CN" altLang="en-US" sz="1800" dirty="0">
                <a:solidFill>
                  <a:srgbClr val="1A1A1A"/>
                </a:solidFill>
                <a:latin typeface="-apple-system"/>
              </a:rPr>
              <a:t>那个范围内的问题</a:t>
            </a:r>
            <a:endParaRPr lang="zh-CN" altLang="en-US" sz="1800"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95736" y="2829129"/>
            <a:ext cx="4933950" cy="3943350"/>
          </a:xfrm>
          <a:prstGeom prst="rect">
            <a:avLst/>
          </a:prstGeom>
        </p:spPr>
      </p:pic>
      <p:sp>
        <p:nvSpPr>
          <p:cNvPr id="10" name="矩形 9"/>
          <p:cNvSpPr/>
          <p:nvPr/>
        </p:nvSpPr>
        <p:spPr>
          <a:xfrm>
            <a:off x="1259632" y="2013811"/>
            <a:ext cx="6984776" cy="6463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r>
              <a:rPr lang="en-US" altLang="zh-CN" sz="1800" b="1" dirty="0">
                <a:solidFill>
                  <a:srgbClr val="222222"/>
                </a:solidFill>
                <a:latin typeface="Arial" panose="020B0604020202020204" pitchFamily="34" charset="0"/>
              </a:rPr>
              <a:t>PSPACE</a:t>
            </a:r>
            <a:r>
              <a:rPr lang="en-US" altLang="zh-CN" sz="1800" dirty="0">
                <a:solidFill>
                  <a:srgbClr val="222222"/>
                </a:solidFill>
                <a:latin typeface="Arial" panose="020B0604020202020204" pitchFamily="34" charset="0"/>
              </a:rPr>
              <a:t> is the set of all </a:t>
            </a:r>
            <a:r>
              <a:rPr lang="en-US" altLang="zh-CN" sz="1800" dirty="0">
                <a:solidFill>
                  <a:srgbClr val="0B0080"/>
                </a:solidFill>
                <a:latin typeface="Arial" panose="020B0604020202020204" pitchFamily="34" charset="0"/>
                <a:hlinkClick r:id="rId2" tooltip="Decision problem"/>
              </a:rPr>
              <a:t>decision problems</a:t>
            </a:r>
            <a:r>
              <a:rPr lang="en-US" altLang="zh-CN" sz="1800" dirty="0">
                <a:solidFill>
                  <a:srgbClr val="222222"/>
                </a:solidFill>
                <a:latin typeface="Arial" panose="020B0604020202020204" pitchFamily="34" charset="0"/>
              </a:rPr>
              <a:t> that can be solved by a </a:t>
            </a:r>
            <a:r>
              <a:rPr lang="en-US" altLang="zh-CN" sz="1800" dirty="0">
                <a:solidFill>
                  <a:srgbClr val="0B0080"/>
                </a:solidFill>
                <a:latin typeface="Arial" panose="020B0604020202020204" pitchFamily="34" charset="0"/>
                <a:hlinkClick r:id="rId3" tooltip="Turing machine"/>
              </a:rPr>
              <a:t>Turing machine</a:t>
            </a:r>
            <a:r>
              <a:rPr lang="en-US" altLang="zh-CN" sz="1800" dirty="0">
                <a:solidFill>
                  <a:srgbClr val="222222"/>
                </a:solidFill>
                <a:latin typeface="Arial" panose="020B0604020202020204" pitchFamily="34" charset="0"/>
              </a:rPr>
              <a:t> using a </a:t>
            </a:r>
            <a:r>
              <a:rPr lang="en-US" altLang="zh-CN" sz="1800" dirty="0">
                <a:solidFill>
                  <a:srgbClr val="0B0080"/>
                </a:solidFill>
                <a:latin typeface="Arial" panose="020B0604020202020204" pitchFamily="34" charset="0"/>
                <a:hlinkClick r:id="rId4" tooltip="Polynomial"/>
              </a:rPr>
              <a:t>polynomial</a:t>
            </a:r>
            <a:r>
              <a:rPr lang="en-US" altLang="zh-CN" sz="1800" dirty="0">
                <a:solidFill>
                  <a:srgbClr val="222222"/>
                </a:solidFill>
                <a:latin typeface="Arial" panose="020B0604020202020204" pitchFamily="34" charset="0"/>
              </a:rPr>
              <a:t> </a:t>
            </a:r>
            <a:r>
              <a:rPr lang="en-US" altLang="zh-CN" sz="1800" dirty="0">
                <a:solidFill>
                  <a:srgbClr val="0B0080"/>
                </a:solidFill>
                <a:latin typeface="Arial" panose="020B0604020202020204" pitchFamily="34" charset="0"/>
                <a:hlinkClick r:id="rId5" tooltip="Space complexity"/>
              </a:rPr>
              <a:t>amount of space</a:t>
            </a:r>
            <a:r>
              <a:rPr lang="en-US" altLang="zh-CN" sz="1800" dirty="0">
                <a:solidFill>
                  <a:srgbClr val="222222"/>
                </a:solidFill>
                <a:latin typeface="Arial" panose="020B0604020202020204" pitchFamily="34" charset="0"/>
              </a:rPr>
              <a:t>.</a:t>
            </a:r>
            <a:endParaRPr lang="zh-CN" alt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0" name="Text Box 4"/>
          <p:cNvSpPr txBox="1">
            <a:spLocks noChangeArrowheads="1"/>
          </p:cNvSpPr>
          <p:nvPr/>
        </p:nvSpPr>
        <p:spPr bwMode="auto">
          <a:xfrm>
            <a:off x="914400" y="2967038"/>
            <a:ext cx="8001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solidFill>
                  <a:srgbClr val="FFFFCC"/>
                </a:solidFill>
                <a:latin typeface="仿宋_GB2312" panose="02010609030101010101" pitchFamily="49" charset="-122"/>
                <a:ea typeface="仿宋_GB2312" panose="02010609030101010101" pitchFamily="49" charset="-122"/>
              </a:rPr>
              <a:t>    </a:t>
            </a:r>
            <a:r>
              <a:rPr kumimoji="1" lang="zh-CN" altLang="en-US" sz="2400" b="1">
                <a:solidFill>
                  <a:schemeClr val="accent2"/>
                </a:solidFill>
                <a:latin typeface="仿宋_GB2312" panose="02010609030101010101" pitchFamily="49" charset="-122"/>
                <a:ea typeface="仿宋_GB2312" panose="02010609030101010101" pitchFamily="49" charset="-122"/>
              </a:rPr>
              <a:t>现在广泛使用的</a:t>
            </a:r>
            <a:r>
              <a:rPr kumimoji="1" lang="en-US" altLang="zh-CN" sz="2400" b="1">
                <a:solidFill>
                  <a:schemeClr val="accent2"/>
                </a:solidFill>
                <a:latin typeface="Times New Roman" panose="02020603050405020304" pitchFamily="18" charset="0"/>
                <a:ea typeface="仿宋_GB2312" panose="02010609030101010101" pitchFamily="49" charset="-122"/>
              </a:rPr>
              <a:t>RSA</a:t>
            </a:r>
            <a:r>
              <a:rPr kumimoji="1" lang="zh-CN" altLang="en-US" sz="2400" b="1">
                <a:solidFill>
                  <a:schemeClr val="accent2"/>
                </a:solidFill>
                <a:latin typeface="仿宋_GB2312" panose="02010609030101010101" pitchFamily="49" charset="-122"/>
                <a:ea typeface="仿宋_GB2312" panose="02010609030101010101" pitchFamily="49" charset="-122"/>
              </a:rPr>
              <a:t>公开密钥：加密密钥、加密变换、解密变换均是公开的，但解密密钥是保密的。</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sp>
        <p:nvSpPr>
          <p:cNvPr id="173061" name="Rectangle 5"/>
          <p:cNvSpPr>
            <a:spLocks noChangeArrowheads="1"/>
          </p:cNvSpPr>
          <p:nvPr/>
        </p:nvSpPr>
        <p:spPr bwMode="auto">
          <a:xfrm>
            <a:off x="1447800" y="774700"/>
            <a:ext cx="42037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3200" b="1" dirty="0">
                <a:solidFill>
                  <a:srgbClr val="9900CC"/>
                </a:solidFill>
                <a:latin typeface="Times New Roman" panose="02020603050405020304" pitchFamily="18" charset="0"/>
                <a:sym typeface="Wingdings 2" panose="05020102010507070707" pitchFamily="18" charset="2"/>
              </a:rPr>
              <a:t>①</a:t>
            </a:r>
            <a:r>
              <a:rPr kumimoji="1" lang="en-US" altLang="zh-CN" sz="2800" b="1" dirty="0">
                <a:solidFill>
                  <a:srgbClr val="66CCFF"/>
                </a:solidFill>
                <a:latin typeface="仿宋_GB2312" panose="02010609030101010101" pitchFamily="49" charset="-122"/>
                <a:ea typeface="仿宋_GB2312" panose="02010609030101010101" pitchFamily="49" charset="-122"/>
                <a:sym typeface="Wingdings 2" panose="05020102010507070707" pitchFamily="18" charset="2"/>
              </a:rPr>
              <a:t> </a:t>
            </a:r>
            <a:r>
              <a:rPr kumimoji="1" lang="en-US" altLang="zh-CN" sz="2800" b="1" dirty="0" err="1">
                <a:solidFill>
                  <a:srgbClr val="9900CC"/>
                </a:solidFill>
                <a:latin typeface="Times New Roman" panose="02020603050405020304" pitchFamily="18" charset="0"/>
                <a:ea typeface="仿宋_GB2312" panose="02010609030101010101" pitchFamily="49" charset="-122"/>
                <a:sym typeface="Wingdings 2" panose="05020102010507070707" pitchFamily="18" charset="2"/>
              </a:rPr>
              <a:t>Shor</a:t>
            </a:r>
            <a:r>
              <a:rPr kumimoji="1" lang="en-US" altLang="zh-CN" sz="2800" b="1" dirty="0">
                <a:solidFill>
                  <a:srgbClr val="9900CC"/>
                </a:solidFill>
                <a:latin typeface="Times New Roman" panose="02020603050405020304" pitchFamily="18" charset="0"/>
                <a:ea typeface="仿宋_GB2312" panose="02010609030101010101" pitchFamily="49" charset="-122"/>
                <a:sym typeface="Wingdings 2" panose="05020102010507070707" pitchFamily="18" charset="2"/>
              </a:rPr>
              <a:t> </a:t>
            </a:r>
            <a:r>
              <a:rPr kumimoji="1" lang="zh-CN" altLang="en-US" sz="2800" b="1" dirty="0">
                <a:solidFill>
                  <a:srgbClr val="9900CC"/>
                </a:solidFill>
                <a:latin typeface="仿宋_GB2312" panose="02010609030101010101" pitchFamily="49" charset="-122"/>
                <a:ea typeface="仿宋_GB2312" panose="02010609030101010101" pitchFamily="49" charset="-122"/>
                <a:sym typeface="Wingdings 2" panose="05020102010507070707" pitchFamily="18" charset="2"/>
              </a:rPr>
              <a:t>量子并行算法</a:t>
            </a:r>
            <a:endParaRPr kumimoji="1" lang="zh-CN" altLang="en-US" sz="2800" b="1" dirty="0">
              <a:solidFill>
                <a:srgbClr val="9900CC"/>
              </a:solidFill>
              <a:latin typeface="仿宋_GB2312" panose="02010609030101010101" pitchFamily="49" charset="-122"/>
              <a:ea typeface="仿宋_GB2312" panose="02010609030101010101" pitchFamily="49" charset="-122"/>
              <a:sym typeface="Wingdings 2" panose="05020102010507070707" pitchFamily="18" charset="2"/>
            </a:endParaRPr>
          </a:p>
        </p:txBody>
      </p:sp>
      <p:pic>
        <p:nvPicPr>
          <p:cNvPr id="173062" name="Picture 6" descr="j0163120"/>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7010400" y="1231900"/>
            <a:ext cx="1085850" cy="1074738"/>
          </a:xfrm>
          <a:prstGeom prst="rect">
            <a:avLst/>
          </a:prstGeom>
          <a:noFill/>
          <a:extLst>
            <a:ext uri="{909E8E84-426E-40DD-AFC4-6F175D3DCCD1}">
              <a14:hiddenFill xmlns:a14="http://schemas.microsoft.com/office/drawing/2010/main">
                <a:solidFill>
                  <a:srgbClr val="FFFFFF"/>
                </a:solidFill>
              </a14:hiddenFill>
            </a:ext>
          </a:extLst>
        </p:spPr>
      </p:pic>
      <p:sp>
        <p:nvSpPr>
          <p:cNvPr id="173063" name="Text Box 7"/>
          <p:cNvSpPr txBox="1">
            <a:spLocks noChangeArrowheads="1"/>
          </p:cNvSpPr>
          <p:nvPr/>
        </p:nvSpPr>
        <p:spPr bwMode="auto">
          <a:xfrm>
            <a:off x="1143000" y="1454150"/>
            <a:ext cx="5943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b="1">
                <a:solidFill>
                  <a:schemeClr val="accent2"/>
                </a:solidFill>
                <a:latin typeface="Times New Roman" panose="02020603050405020304"/>
                <a:ea typeface="仿宋_GB2312" panose="02010609030101010101" pitchFamily="49" charset="-122"/>
              </a:rPr>
              <a:t>——</a:t>
            </a:r>
            <a:r>
              <a:rPr kumimoji="1" lang="en-US" altLang="zh-CN" sz="2400" b="1">
                <a:solidFill>
                  <a:schemeClr val="accent2"/>
                </a:solidFill>
                <a:latin typeface="Times New Roman" panose="02020603050405020304" pitchFamily="18" charset="0"/>
                <a:ea typeface="仿宋_GB2312" panose="02010609030101010101" pitchFamily="49" charset="-122"/>
              </a:rPr>
              <a:t>1994</a:t>
            </a:r>
            <a:r>
              <a:rPr kumimoji="1" lang="zh-CN" altLang="en-US" sz="2400" b="1">
                <a:solidFill>
                  <a:schemeClr val="accent2"/>
                </a:solidFill>
                <a:latin typeface="仿宋_GB2312" panose="02010609030101010101" pitchFamily="49" charset="-122"/>
                <a:ea typeface="仿宋_GB2312" panose="02010609030101010101" pitchFamily="49" charset="-122"/>
              </a:rPr>
              <a:t>年，量子信息领域的里程碑工作，获</a:t>
            </a:r>
            <a:r>
              <a:rPr kumimoji="1" lang="en-US" altLang="zh-CN" sz="2400" b="1">
                <a:solidFill>
                  <a:schemeClr val="accent2"/>
                </a:solidFill>
                <a:latin typeface="Times New Roman" panose="02020603050405020304" pitchFamily="18" charset="0"/>
                <a:ea typeface="仿宋_GB2312" panose="02010609030101010101" pitchFamily="49" charset="-122"/>
              </a:rPr>
              <a:t>1998</a:t>
            </a:r>
            <a:r>
              <a:rPr kumimoji="1" lang="zh-CN" altLang="en-US" sz="2400" b="1">
                <a:solidFill>
                  <a:schemeClr val="accent2"/>
                </a:solidFill>
                <a:latin typeface="仿宋_GB2312" panose="02010609030101010101" pitchFamily="49" charset="-122"/>
                <a:ea typeface="仿宋_GB2312" panose="02010609030101010101" pitchFamily="49" charset="-122"/>
              </a:rPr>
              <a:t>年世界数学家大会最高奖。</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sp>
        <p:nvSpPr>
          <p:cNvPr id="173064" name="Text Box 8"/>
          <p:cNvSpPr txBox="1">
            <a:spLocks noChangeArrowheads="1"/>
          </p:cNvSpPr>
          <p:nvPr/>
        </p:nvSpPr>
        <p:spPr bwMode="auto">
          <a:xfrm>
            <a:off x="838200" y="2333625"/>
            <a:ext cx="6705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800" b="1">
                <a:solidFill>
                  <a:srgbClr val="006600"/>
                </a:solidFill>
                <a:latin typeface="Times New Roman" panose="02020603050405020304" pitchFamily="18" charset="0"/>
                <a:ea typeface="仿宋_GB2312" panose="02010609030101010101" pitchFamily="49" charset="-122"/>
              </a:rPr>
              <a:t>这个算法可以求解“大数因子分解”难题。</a:t>
            </a:r>
            <a:endParaRPr kumimoji="1" lang="zh-CN" altLang="en-US" sz="2800" b="1">
              <a:solidFill>
                <a:srgbClr val="006600"/>
              </a:solidFill>
              <a:latin typeface="Times New Roman" panose="02020603050405020304" pitchFamily="18" charset="0"/>
              <a:ea typeface="仿宋_GB2312" panose="02010609030101010101" pitchFamily="49" charset="-122"/>
            </a:endParaRPr>
          </a:p>
        </p:txBody>
      </p:sp>
      <p:pic>
        <p:nvPicPr>
          <p:cNvPr id="173065" name="Picture 9" descr="j0189204"/>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975100"/>
            <a:ext cx="1635125" cy="846138"/>
          </a:xfrm>
          <a:prstGeom prst="rect">
            <a:avLst/>
          </a:prstGeom>
          <a:noFill/>
          <a:extLst>
            <a:ext uri="{909E8E84-426E-40DD-AFC4-6F175D3DCCD1}">
              <a14:hiddenFill xmlns:a14="http://schemas.microsoft.com/office/drawing/2010/main">
                <a:solidFill>
                  <a:srgbClr val="FFFFFF"/>
                </a:solidFill>
              </a14:hiddenFill>
            </a:ext>
          </a:extLst>
        </p:spPr>
      </p:pic>
      <p:sp>
        <p:nvSpPr>
          <p:cNvPr id="173066" name="Text Box 10"/>
          <p:cNvSpPr txBox="1">
            <a:spLocks noChangeArrowheads="1"/>
          </p:cNvSpPr>
          <p:nvPr/>
        </p:nvSpPr>
        <p:spPr bwMode="auto">
          <a:xfrm>
            <a:off x="1066800" y="5492750"/>
            <a:ext cx="7537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latin typeface="仿宋_GB2312" panose="02010609030101010101" pitchFamily="49" charset="-122"/>
                <a:ea typeface="仿宋_GB2312" panose="02010609030101010101" pitchFamily="49" charset="-122"/>
              </a:rPr>
              <a:t>  </a:t>
            </a:r>
            <a:r>
              <a:rPr kumimoji="1" lang="zh-CN" altLang="en-US" sz="2400" b="1">
                <a:solidFill>
                  <a:srgbClr val="006600"/>
                </a:solidFill>
                <a:latin typeface="仿宋_GB2312" panose="02010609030101010101" pitchFamily="49" charset="-122"/>
                <a:ea typeface="仿宋_GB2312" panose="02010609030101010101" pitchFamily="49" charset="-122"/>
              </a:rPr>
              <a:t>这类大数因子分解是个难解的数学问题</a:t>
            </a:r>
            <a:r>
              <a:rPr kumimoji="1" lang="en-US" altLang="zh-CN" sz="2400" b="1">
                <a:solidFill>
                  <a:srgbClr val="006600"/>
                </a:solidFill>
                <a:latin typeface="Times New Roman" panose="02020603050405020304" pitchFamily="18" charset="0"/>
                <a:ea typeface="仿宋_GB2312" panose="02010609030101010101" pitchFamily="49" charset="-122"/>
              </a:rPr>
              <a:t>(NP</a:t>
            </a:r>
            <a:r>
              <a:rPr kumimoji="1" lang="zh-CN" altLang="en-US" sz="2400" b="1">
                <a:solidFill>
                  <a:srgbClr val="006600"/>
                </a:solidFill>
                <a:latin typeface="仿宋_GB2312" panose="02010609030101010101" pitchFamily="49" charset="-122"/>
                <a:ea typeface="仿宋_GB2312" panose="02010609030101010101" pitchFamily="49" charset="-122"/>
              </a:rPr>
              <a:t>问题</a:t>
            </a:r>
            <a:r>
              <a:rPr kumimoji="1" lang="en-US" altLang="zh-CN" sz="2400" b="1">
                <a:solidFill>
                  <a:srgbClr val="006600"/>
                </a:solidFill>
                <a:latin typeface="Times New Roman" panose="02020603050405020304" pitchFamily="18" charset="0"/>
                <a:ea typeface="仿宋_GB2312" panose="02010609030101010101" pitchFamily="49" charset="-122"/>
              </a:rPr>
              <a:t>)</a:t>
            </a:r>
            <a:r>
              <a:rPr kumimoji="1" lang="zh-CN" altLang="en-US" sz="2400" b="1">
                <a:solidFill>
                  <a:srgbClr val="006600"/>
                </a:solidFill>
                <a:latin typeface="仿宋_GB2312" panose="02010609030101010101" pitchFamily="49" charset="-122"/>
                <a:ea typeface="仿宋_GB2312" panose="02010609030101010101" pitchFamily="49" charset="-122"/>
              </a:rPr>
              <a:t>。</a:t>
            </a:r>
            <a:endParaRPr kumimoji="1" lang="zh-CN" altLang="en-US" sz="2400" b="1">
              <a:solidFill>
                <a:srgbClr val="006600"/>
              </a:solidFill>
              <a:latin typeface="Times New Roman" panose="02020603050405020304" pitchFamily="18" charset="0"/>
            </a:endParaRPr>
          </a:p>
        </p:txBody>
      </p:sp>
      <p:sp>
        <p:nvSpPr>
          <p:cNvPr id="173067" name="Text Box 11"/>
          <p:cNvSpPr txBox="1">
            <a:spLocks noChangeArrowheads="1"/>
          </p:cNvSpPr>
          <p:nvPr/>
        </p:nvSpPr>
        <p:spPr bwMode="auto">
          <a:xfrm>
            <a:off x="3276600" y="3892550"/>
            <a:ext cx="4267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dirty="0">
                <a:solidFill>
                  <a:srgbClr val="9933FF"/>
                </a:solidFill>
                <a:latin typeface="仿宋_GB2312" panose="02010609030101010101" pitchFamily="49" charset="-122"/>
                <a:ea typeface="仿宋_GB2312" panose="02010609030101010101" pitchFamily="49" charset="-122"/>
              </a:rPr>
              <a:t>其安全性依赖于</a:t>
            </a:r>
            <a:r>
              <a:rPr kumimoji="1" lang="zh-CN" altLang="en-US" sz="2400" b="1" dirty="0">
                <a:solidFill>
                  <a:srgbClr val="9933FF"/>
                </a:solidFill>
                <a:latin typeface="Times New Roman" panose="02020603050405020304"/>
                <a:ea typeface="仿宋_GB2312" panose="02010609030101010101" pitchFamily="49" charset="-122"/>
              </a:rPr>
              <a:t>“</a:t>
            </a:r>
            <a:r>
              <a:rPr kumimoji="1" lang="zh-CN" altLang="en-US" sz="2400" b="1" dirty="0">
                <a:solidFill>
                  <a:srgbClr val="9933FF"/>
                </a:solidFill>
                <a:latin typeface="仿宋_GB2312" panose="02010609030101010101" pitchFamily="49" charset="-122"/>
                <a:ea typeface="仿宋_GB2312" panose="02010609030101010101" pitchFamily="49" charset="-122"/>
              </a:rPr>
              <a:t>单向</a:t>
            </a:r>
            <a:r>
              <a:rPr kumimoji="1" lang="zh-CN" altLang="en-US" sz="2400" b="1" dirty="0">
                <a:solidFill>
                  <a:srgbClr val="9933FF"/>
                </a:solidFill>
                <a:latin typeface="Times New Roman" panose="02020603050405020304"/>
                <a:ea typeface="仿宋_GB2312" panose="02010609030101010101" pitchFamily="49" charset="-122"/>
              </a:rPr>
              <a:t>”</a:t>
            </a:r>
            <a:r>
              <a:rPr kumimoji="1" lang="zh-CN" altLang="en-US" sz="2400" b="1" dirty="0">
                <a:solidFill>
                  <a:srgbClr val="9933FF"/>
                </a:solidFill>
                <a:latin typeface="仿宋_GB2312" panose="02010609030101010101" pitchFamily="49" charset="-122"/>
                <a:ea typeface="仿宋_GB2312" panose="02010609030101010101" pitchFamily="49" charset="-122"/>
              </a:rPr>
              <a:t>函数</a:t>
            </a:r>
            <a:endParaRPr kumimoji="1" lang="zh-CN" altLang="en-US" sz="2400" b="1" dirty="0">
              <a:solidFill>
                <a:srgbClr val="9933FF"/>
              </a:solidFill>
              <a:latin typeface="仿宋_GB2312" panose="02010609030101010101" pitchFamily="49" charset="-122"/>
              <a:ea typeface="仿宋_GB2312" panose="02010609030101010101" pitchFamily="49" charset="-122"/>
            </a:endParaRPr>
          </a:p>
          <a:p>
            <a:pPr eaLnBrk="1" hangingPunct="1">
              <a:spcBef>
                <a:spcPct val="50000"/>
              </a:spcBef>
            </a:pPr>
            <a:r>
              <a:rPr kumimoji="1" lang="en-US" altLang="zh-CN" sz="2400" b="1" dirty="0">
                <a:solidFill>
                  <a:srgbClr val="9933FF"/>
                </a:solidFill>
                <a:latin typeface="Times New Roman" panose="02020603050405020304" pitchFamily="18" charset="0"/>
                <a:ea typeface="仿宋_GB2312" panose="02010609030101010101" pitchFamily="49" charset="-122"/>
              </a:rPr>
              <a:t>127</a:t>
            </a:r>
            <a:r>
              <a:rPr kumimoji="1" lang="en-US" altLang="zh-CN" sz="2400" b="1" dirty="0">
                <a:solidFill>
                  <a:srgbClr val="9933FF"/>
                </a:solidFill>
                <a:latin typeface="仿宋_GB2312" panose="02010609030101010101" pitchFamily="49" charset="-122"/>
                <a:ea typeface="仿宋_GB2312" panose="02010609030101010101" pitchFamily="49" charset="-122"/>
              </a:rPr>
              <a:t>×</a:t>
            </a:r>
            <a:r>
              <a:rPr kumimoji="1" lang="en-US" altLang="zh-CN" sz="2400" b="1" dirty="0">
                <a:solidFill>
                  <a:srgbClr val="9933FF"/>
                </a:solidFill>
                <a:latin typeface="Times New Roman" panose="02020603050405020304" pitchFamily="18" charset="0"/>
                <a:ea typeface="仿宋_GB2312" panose="02010609030101010101" pitchFamily="49" charset="-122"/>
              </a:rPr>
              <a:t>229</a:t>
            </a:r>
            <a:r>
              <a:rPr kumimoji="1" lang="zh-CN" altLang="en-US" sz="2400" b="1" dirty="0">
                <a:solidFill>
                  <a:srgbClr val="9933FF"/>
                </a:solidFill>
                <a:latin typeface="仿宋_GB2312" panose="02010609030101010101" pitchFamily="49" charset="-122"/>
                <a:ea typeface="仿宋_GB2312" panose="02010609030101010101" pitchFamily="49" charset="-122"/>
              </a:rPr>
              <a:t>＝？   很容易计算</a:t>
            </a:r>
            <a:endParaRPr kumimoji="1" lang="zh-CN" altLang="en-US" sz="2400" b="1" dirty="0">
              <a:solidFill>
                <a:srgbClr val="9933FF"/>
              </a:solidFill>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dirty="0">
                <a:solidFill>
                  <a:srgbClr val="9933FF"/>
                </a:solidFill>
                <a:latin typeface="仿宋_GB2312" panose="02010609030101010101" pitchFamily="49" charset="-122"/>
                <a:ea typeface="仿宋_GB2312" panose="02010609030101010101" pitchFamily="49" charset="-122"/>
              </a:rPr>
              <a:t>？</a:t>
            </a:r>
            <a:r>
              <a:rPr kumimoji="1" lang="en-US" altLang="zh-CN" sz="2400" b="1" dirty="0">
                <a:solidFill>
                  <a:srgbClr val="9933FF"/>
                </a:solidFill>
                <a:latin typeface="仿宋_GB2312" panose="02010609030101010101" pitchFamily="49" charset="-122"/>
                <a:ea typeface="仿宋_GB2312" panose="02010609030101010101" pitchFamily="49" charset="-122"/>
              </a:rPr>
              <a:t>×</a:t>
            </a:r>
            <a:r>
              <a:rPr kumimoji="1" lang="zh-CN" altLang="en-US" sz="2400" b="1" dirty="0">
                <a:solidFill>
                  <a:srgbClr val="9933FF"/>
                </a:solidFill>
                <a:latin typeface="仿宋_GB2312" panose="02010609030101010101" pitchFamily="49" charset="-122"/>
                <a:ea typeface="仿宋_GB2312" panose="02010609030101010101" pitchFamily="49" charset="-122"/>
              </a:rPr>
              <a:t>？＝</a:t>
            </a:r>
            <a:r>
              <a:rPr kumimoji="1" lang="en-US" altLang="zh-CN" sz="2400" b="1" dirty="0">
                <a:solidFill>
                  <a:srgbClr val="9933FF"/>
                </a:solidFill>
                <a:latin typeface="Times New Roman" panose="02020603050405020304" pitchFamily="18" charset="0"/>
                <a:ea typeface="仿宋_GB2312" panose="02010609030101010101" pitchFamily="49" charset="-122"/>
              </a:rPr>
              <a:t>29083</a:t>
            </a:r>
            <a:r>
              <a:rPr kumimoji="1" lang="en-US" altLang="zh-CN" sz="2400" b="1" dirty="0">
                <a:solidFill>
                  <a:srgbClr val="9933FF"/>
                </a:solidFill>
                <a:latin typeface="仿宋_GB2312" panose="02010609030101010101" pitchFamily="49" charset="-122"/>
                <a:ea typeface="仿宋_GB2312" panose="02010609030101010101" pitchFamily="49" charset="-122"/>
              </a:rPr>
              <a:t>  </a:t>
            </a:r>
            <a:r>
              <a:rPr kumimoji="1" lang="zh-CN" altLang="en-US" sz="2400" b="1" dirty="0">
                <a:solidFill>
                  <a:srgbClr val="9933FF"/>
                </a:solidFill>
                <a:latin typeface="仿宋_GB2312" panose="02010609030101010101" pitchFamily="49" charset="-122"/>
                <a:ea typeface="仿宋_GB2312" panose="02010609030101010101" pitchFamily="49" charset="-122"/>
              </a:rPr>
              <a:t>很难计算</a:t>
            </a:r>
            <a:endParaRPr kumimoji="1" lang="zh-CN" altLang="en-US" sz="2400" b="1" dirty="0">
              <a:solidFill>
                <a:srgbClr val="9933FF"/>
              </a:solidFill>
              <a:latin typeface="仿宋_GB2312" panose="02010609030101010101" pitchFamily="49" charset="-122"/>
              <a:ea typeface="仿宋_GB2312" panose="02010609030101010101" pitchFamily="49" charset="-122"/>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4" name="Text Box 4"/>
          <p:cNvSpPr txBox="1">
            <a:spLocks noChangeArrowheads="1"/>
          </p:cNvSpPr>
          <p:nvPr/>
        </p:nvSpPr>
        <p:spPr bwMode="auto">
          <a:xfrm>
            <a:off x="2286000" y="1798638"/>
            <a:ext cx="6172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latin typeface="Times New Roman" panose="02020603050405020304" pitchFamily="18" charset="0"/>
              </a:rPr>
              <a:t>         </a:t>
            </a:r>
            <a:r>
              <a:rPr kumimoji="1" lang="zh-CN" altLang="en-US" sz="2400" b="1">
                <a:solidFill>
                  <a:schemeClr val="accent2"/>
                </a:solidFill>
                <a:latin typeface="仿宋_GB2312" panose="02010609030101010101" pitchFamily="49" charset="-122"/>
                <a:ea typeface="仿宋_GB2312" panose="02010609030101010101" pitchFamily="49" charset="-122"/>
              </a:rPr>
              <a:t>分解</a:t>
            </a:r>
            <a:r>
              <a:rPr kumimoji="1" lang="en-US" altLang="zh-CN" sz="2400" b="1" i="1">
                <a:solidFill>
                  <a:schemeClr val="accent2"/>
                </a:solidFill>
                <a:latin typeface="Times New Roman" panose="02020603050405020304" pitchFamily="18" charset="0"/>
                <a:ea typeface="仿宋_GB2312" panose="02010609030101010101" pitchFamily="49" charset="-122"/>
              </a:rPr>
              <a:t>N </a:t>
            </a:r>
            <a:r>
              <a:rPr kumimoji="1" lang="zh-CN" altLang="en-US" sz="2400" b="1">
                <a:solidFill>
                  <a:schemeClr val="accent2"/>
                </a:solidFill>
                <a:latin typeface="仿宋_GB2312" panose="02010609030101010101" pitchFamily="49" charset="-122"/>
                <a:ea typeface="仿宋_GB2312" panose="02010609030101010101" pitchFamily="49" charset="-122"/>
              </a:rPr>
              <a:t>运算步骤（时间）随输入长度</a:t>
            </a:r>
            <a:r>
              <a:rPr kumimoji="1" lang="en-US" altLang="zh-CN" sz="2400" b="1">
                <a:solidFill>
                  <a:schemeClr val="accent2"/>
                </a:solidFill>
                <a:latin typeface="Times New Roman" panose="02020603050405020304" pitchFamily="18" charset="0"/>
                <a:ea typeface="仿宋_GB2312" panose="02010609030101010101" pitchFamily="49" charset="-122"/>
              </a:rPr>
              <a:t>log</a:t>
            </a:r>
            <a:r>
              <a:rPr kumimoji="1" lang="en-US" altLang="zh-CN" sz="2400" b="1" i="1">
                <a:solidFill>
                  <a:schemeClr val="accent2"/>
                </a:solidFill>
                <a:latin typeface="Times New Roman" panose="02020603050405020304" pitchFamily="18" charset="0"/>
                <a:ea typeface="仿宋_GB2312" panose="02010609030101010101" pitchFamily="49" charset="-122"/>
              </a:rPr>
              <a:t>N </a:t>
            </a:r>
            <a:r>
              <a:rPr kumimoji="1" lang="zh-CN" altLang="en-US" sz="2400" b="1">
                <a:solidFill>
                  <a:schemeClr val="accent2"/>
                </a:solidFill>
                <a:latin typeface="仿宋_GB2312" panose="02010609030101010101" pitchFamily="49" charset="-122"/>
                <a:ea typeface="仿宋_GB2312" panose="02010609030101010101" pitchFamily="49" charset="-122"/>
              </a:rPr>
              <a:t>指数增长，用经典计算是难以计算的。</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pic>
        <p:nvPicPr>
          <p:cNvPr id="174085" name="Picture 5" descr="j029200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9600" y="1341438"/>
            <a:ext cx="1854200" cy="1709737"/>
          </a:xfrm>
          <a:prstGeom prst="rect">
            <a:avLst/>
          </a:prstGeom>
          <a:noFill/>
          <a:extLst>
            <a:ext uri="{909E8E84-426E-40DD-AFC4-6F175D3DCCD1}">
              <a14:hiddenFill xmlns:a14="http://schemas.microsoft.com/office/drawing/2010/main">
                <a:solidFill>
                  <a:srgbClr val="FFFFFF"/>
                </a:solidFill>
              </a14:hiddenFill>
            </a:ext>
          </a:extLst>
        </p:spPr>
      </p:pic>
      <p:sp>
        <p:nvSpPr>
          <p:cNvPr id="174086" name="Oval 6"/>
          <p:cNvSpPr>
            <a:spLocks noChangeArrowheads="1"/>
          </p:cNvSpPr>
          <p:nvPr/>
        </p:nvSpPr>
        <p:spPr bwMode="auto">
          <a:xfrm>
            <a:off x="609600" y="3398838"/>
            <a:ext cx="609600" cy="609600"/>
          </a:xfrm>
          <a:prstGeom prst="ellipse">
            <a:avLst/>
          </a:prstGeom>
          <a:solidFill>
            <a:srgbClr val="0000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00"/>
                </a:solidFill>
                <a:latin typeface="Times New Roman" panose="02020603050405020304" pitchFamily="18" charset="0"/>
              </a:rPr>
              <a:t>例</a:t>
            </a:r>
            <a:endParaRPr kumimoji="1" lang="zh-CN" altLang="en-US" sz="2400" b="1">
              <a:solidFill>
                <a:srgbClr val="FFFF00"/>
              </a:solidFill>
              <a:latin typeface="Times New Roman" panose="02020603050405020304" pitchFamily="18" charset="0"/>
            </a:endParaRPr>
          </a:p>
        </p:txBody>
      </p:sp>
      <p:sp>
        <p:nvSpPr>
          <p:cNvPr id="174087" name="Text Box 7"/>
          <p:cNvSpPr txBox="1">
            <a:spLocks noChangeArrowheads="1"/>
          </p:cNvSpPr>
          <p:nvPr/>
        </p:nvSpPr>
        <p:spPr bwMode="auto">
          <a:xfrm>
            <a:off x="1295400" y="4440238"/>
            <a:ext cx="55626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rgbClr val="006600"/>
                </a:solidFill>
                <a:latin typeface="仿宋_GB2312" panose="02010609030101010101" pitchFamily="49" charset="-122"/>
                <a:ea typeface="仿宋_GB2312" panose="02010609030101010101" pitchFamily="49" charset="-122"/>
              </a:rPr>
              <a:t>若</a:t>
            </a:r>
            <a:r>
              <a:rPr kumimoji="1" lang="en-US" altLang="zh-CN" sz="2400" b="1">
                <a:solidFill>
                  <a:srgbClr val="006600"/>
                </a:solidFill>
                <a:latin typeface="Times New Roman" panose="02020603050405020304" pitchFamily="18" charset="0"/>
                <a:ea typeface="仿宋_GB2312" panose="02010609030101010101" pitchFamily="49" charset="-122"/>
              </a:rPr>
              <a:t>N=250</a:t>
            </a:r>
            <a:r>
              <a:rPr kumimoji="1" lang="zh-CN" altLang="en-US" sz="2400" b="1">
                <a:solidFill>
                  <a:srgbClr val="006600"/>
                </a:solidFill>
                <a:latin typeface="仿宋_GB2312" panose="02010609030101010101" pitchFamily="49" charset="-122"/>
                <a:ea typeface="仿宋_GB2312" panose="02010609030101010101" pitchFamily="49" charset="-122"/>
              </a:rPr>
              <a:t>， 要用</a:t>
            </a:r>
            <a:r>
              <a:rPr kumimoji="1" lang="en-US" altLang="zh-CN" sz="2400" b="1">
                <a:solidFill>
                  <a:srgbClr val="006600"/>
                </a:solidFill>
                <a:latin typeface="Times New Roman" panose="02020603050405020304" pitchFamily="18" charset="0"/>
                <a:ea typeface="仿宋_GB2312" panose="02010609030101010101" pitchFamily="49" charset="-122"/>
              </a:rPr>
              <a:t>8×10</a:t>
            </a:r>
            <a:r>
              <a:rPr kumimoji="1" lang="en-US" altLang="zh-CN" sz="2400" b="1" baseline="30000">
                <a:solidFill>
                  <a:srgbClr val="006600"/>
                </a:solidFill>
                <a:latin typeface="Times New Roman" panose="02020603050405020304" pitchFamily="18" charset="0"/>
                <a:ea typeface="仿宋_GB2312" panose="02010609030101010101" pitchFamily="49" charset="-122"/>
              </a:rPr>
              <a:t>5</a:t>
            </a:r>
            <a:r>
              <a:rPr kumimoji="1" lang="zh-CN" altLang="en-US" sz="2400" b="1">
                <a:solidFill>
                  <a:srgbClr val="006600"/>
                </a:solidFill>
                <a:latin typeface="仿宋_GB2312" panose="02010609030101010101" pitchFamily="49" charset="-122"/>
                <a:ea typeface="仿宋_GB2312" panose="02010609030101010101" pitchFamily="49" charset="-122"/>
              </a:rPr>
              <a:t>年</a:t>
            </a:r>
            <a:endParaRPr kumimoji="1" lang="zh-CN" altLang="en-US" sz="2400" b="1">
              <a:solidFill>
                <a:srgbClr val="006600"/>
              </a:solidFill>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a:solidFill>
                  <a:srgbClr val="006600"/>
                </a:solidFill>
                <a:latin typeface="仿宋_GB2312" panose="02010609030101010101" pitchFamily="49" charset="-122"/>
                <a:ea typeface="仿宋_GB2312" panose="02010609030101010101" pitchFamily="49" charset="-122"/>
              </a:rPr>
              <a:t>  </a:t>
            </a:r>
            <a:r>
              <a:rPr kumimoji="1" lang="en-US" altLang="zh-CN" sz="2400" b="1">
                <a:solidFill>
                  <a:srgbClr val="006600"/>
                </a:solidFill>
                <a:latin typeface="Times New Roman" panose="02020603050405020304" pitchFamily="18" charset="0"/>
                <a:ea typeface="仿宋_GB2312" panose="02010609030101010101" pitchFamily="49" charset="-122"/>
              </a:rPr>
              <a:t>N=1000</a:t>
            </a:r>
            <a:r>
              <a:rPr kumimoji="1" lang="zh-CN" altLang="en-US" sz="2400" b="1">
                <a:solidFill>
                  <a:srgbClr val="006600"/>
                </a:solidFill>
                <a:latin typeface="仿宋_GB2312" panose="02010609030101010101" pitchFamily="49" charset="-122"/>
                <a:ea typeface="仿宋_GB2312" panose="02010609030101010101" pitchFamily="49" charset="-122"/>
              </a:rPr>
              <a:t>，要用</a:t>
            </a:r>
            <a:r>
              <a:rPr kumimoji="1" lang="en-US" altLang="zh-CN" sz="2400" b="1">
                <a:solidFill>
                  <a:srgbClr val="006600"/>
                </a:solidFill>
                <a:latin typeface="Times New Roman" panose="02020603050405020304" pitchFamily="18" charset="0"/>
                <a:ea typeface="仿宋_GB2312" panose="02010609030101010101" pitchFamily="49" charset="-122"/>
              </a:rPr>
              <a:t>10</a:t>
            </a:r>
            <a:r>
              <a:rPr kumimoji="1" lang="en-US" altLang="zh-CN" sz="2400" b="1" baseline="30000">
                <a:solidFill>
                  <a:srgbClr val="006600"/>
                </a:solidFill>
                <a:latin typeface="Times New Roman" panose="02020603050405020304" pitchFamily="18" charset="0"/>
                <a:ea typeface="仿宋_GB2312" panose="02010609030101010101" pitchFamily="49" charset="-122"/>
              </a:rPr>
              <a:t>25</a:t>
            </a:r>
            <a:r>
              <a:rPr kumimoji="1" lang="zh-CN" altLang="en-US" sz="2400" b="1">
                <a:solidFill>
                  <a:srgbClr val="006600"/>
                </a:solidFill>
                <a:latin typeface="仿宋_GB2312" panose="02010609030101010101" pitchFamily="49" charset="-122"/>
                <a:ea typeface="仿宋_GB2312" panose="02010609030101010101" pitchFamily="49" charset="-122"/>
              </a:rPr>
              <a:t>年</a:t>
            </a:r>
            <a:r>
              <a:rPr kumimoji="1" lang="en-US" altLang="zh-CN" sz="2400" b="1">
                <a:solidFill>
                  <a:srgbClr val="006600"/>
                </a:solidFill>
                <a:latin typeface="仿宋_GB2312" panose="02010609030101010101" pitchFamily="49" charset="-122"/>
                <a:ea typeface="仿宋_GB2312" panose="02010609030101010101" pitchFamily="49" charset="-122"/>
              </a:rPr>
              <a:t>(</a:t>
            </a:r>
            <a:r>
              <a:rPr kumimoji="1" lang="zh-CN" altLang="en-US" sz="2400" b="1">
                <a:solidFill>
                  <a:srgbClr val="006600"/>
                </a:solidFill>
                <a:latin typeface="仿宋_GB2312" panose="02010609030101010101" pitchFamily="49" charset="-122"/>
                <a:ea typeface="仿宋_GB2312" panose="02010609030101010101" pitchFamily="49" charset="-122"/>
              </a:rPr>
              <a:t>比宇宙年龄还长</a:t>
            </a:r>
            <a:r>
              <a:rPr kumimoji="1" lang="en-US" altLang="zh-CN" sz="2400" b="1">
                <a:solidFill>
                  <a:srgbClr val="006600"/>
                </a:solidFill>
                <a:latin typeface="仿宋_GB2312" panose="02010609030101010101" pitchFamily="49" charset="-122"/>
                <a:ea typeface="仿宋_GB2312" panose="02010609030101010101" pitchFamily="49" charset="-122"/>
              </a:rPr>
              <a:t>)</a:t>
            </a:r>
            <a:endParaRPr kumimoji="1" lang="en-US" altLang="zh-CN" sz="2400" b="1">
              <a:solidFill>
                <a:srgbClr val="006600"/>
              </a:solidFill>
              <a:latin typeface="Times New Roman" panose="02020603050405020304" pitchFamily="18" charset="0"/>
            </a:endParaRPr>
          </a:p>
        </p:txBody>
      </p:sp>
      <p:sp>
        <p:nvSpPr>
          <p:cNvPr id="174088" name="Rectangle 8"/>
          <p:cNvSpPr>
            <a:spLocks noChangeArrowheads="1"/>
          </p:cNvSpPr>
          <p:nvPr/>
        </p:nvSpPr>
        <p:spPr bwMode="auto">
          <a:xfrm>
            <a:off x="1295400" y="3475038"/>
            <a:ext cx="73802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2400" b="1">
                <a:solidFill>
                  <a:schemeClr val="accent2"/>
                </a:solidFill>
                <a:latin typeface="Times New Roman" panose="02020603050405020304" pitchFamily="18" charset="0"/>
                <a:ea typeface="仿宋_GB2312" panose="02010609030101010101" pitchFamily="49" charset="-122"/>
              </a:rPr>
              <a:t>N=129</a:t>
            </a:r>
            <a:r>
              <a:rPr kumimoji="1" lang="zh-CN" altLang="en-US" sz="2400" b="1">
                <a:solidFill>
                  <a:schemeClr val="accent2"/>
                </a:solidFill>
                <a:latin typeface="仿宋_GB2312" panose="02010609030101010101" pitchFamily="49" charset="-122"/>
                <a:ea typeface="仿宋_GB2312" panose="02010609030101010101" pitchFamily="49" charset="-122"/>
              </a:rPr>
              <a:t>位，</a:t>
            </a:r>
            <a:r>
              <a:rPr kumimoji="1" lang="en-US" altLang="zh-CN" sz="2400" b="1">
                <a:solidFill>
                  <a:schemeClr val="accent2"/>
                </a:solidFill>
                <a:latin typeface="Times New Roman" panose="02020603050405020304" pitchFamily="18" charset="0"/>
                <a:ea typeface="仿宋_GB2312" panose="02010609030101010101" pitchFamily="49" charset="-122"/>
              </a:rPr>
              <a:t>1994</a:t>
            </a:r>
            <a:r>
              <a:rPr kumimoji="1" lang="zh-CN" altLang="en-US" sz="2400" b="1">
                <a:solidFill>
                  <a:schemeClr val="accent2"/>
                </a:solidFill>
                <a:latin typeface="仿宋_GB2312" panose="02010609030101010101" pitchFamily="49" charset="-122"/>
                <a:ea typeface="仿宋_GB2312" panose="02010609030101010101" pitchFamily="49" charset="-122"/>
              </a:rPr>
              <a:t>年</a:t>
            </a:r>
            <a:r>
              <a:rPr kumimoji="1" lang="en-US" altLang="zh-CN" sz="2400" b="1">
                <a:solidFill>
                  <a:schemeClr val="accent2"/>
                </a:solidFill>
                <a:latin typeface="Times New Roman" panose="02020603050405020304" pitchFamily="18" charset="0"/>
                <a:ea typeface="仿宋_GB2312" panose="02010609030101010101" pitchFamily="49" charset="-122"/>
              </a:rPr>
              <a:t>1600</a:t>
            </a:r>
            <a:r>
              <a:rPr kumimoji="1" lang="zh-CN" altLang="en-US" sz="2400" b="1">
                <a:solidFill>
                  <a:schemeClr val="accent2"/>
                </a:solidFill>
                <a:latin typeface="仿宋_GB2312" panose="02010609030101010101" pitchFamily="49" charset="-122"/>
                <a:ea typeface="仿宋_GB2312" panose="02010609030101010101" pitchFamily="49" charset="-122"/>
              </a:rPr>
              <a:t>台工作站花了</a:t>
            </a:r>
            <a:r>
              <a:rPr kumimoji="1" lang="en-US" altLang="zh-CN" sz="2400" b="1">
                <a:solidFill>
                  <a:schemeClr val="accent2"/>
                </a:solidFill>
                <a:latin typeface="Times New Roman" panose="02020603050405020304" pitchFamily="18" charset="0"/>
                <a:ea typeface="仿宋_GB2312" panose="02010609030101010101" pitchFamily="49" charset="-122"/>
              </a:rPr>
              <a:t>8</a:t>
            </a:r>
            <a:r>
              <a:rPr kumimoji="1" lang="zh-CN" altLang="en-US" sz="2400" b="1">
                <a:solidFill>
                  <a:schemeClr val="accent2"/>
                </a:solidFill>
                <a:latin typeface="仿宋_GB2312" panose="02010609030101010101" pitchFamily="49" charset="-122"/>
                <a:ea typeface="仿宋_GB2312" panose="02010609030101010101" pitchFamily="49" charset="-122"/>
              </a:rPr>
              <a:t>个月分解成功。</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pic>
        <p:nvPicPr>
          <p:cNvPr id="174089" name="Picture 9" descr="j0234760"/>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4084638"/>
            <a:ext cx="1189038" cy="1497012"/>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8" name="Picture 4" descr="j029694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3222625"/>
            <a:ext cx="857250" cy="674688"/>
          </a:xfrm>
          <a:prstGeom prst="rect">
            <a:avLst/>
          </a:prstGeom>
          <a:noFill/>
          <a:extLst>
            <a:ext uri="{909E8E84-426E-40DD-AFC4-6F175D3DCCD1}">
              <a14:hiddenFill xmlns:a14="http://schemas.microsoft.com/office/drawing/2010/main">
                <a:solidFill>
                  <a:srgbClr val="FFFFFF"/>
                </a:solidFill>
              </a14:hiddenFill>
            </a:ext>
          </a:extLst>
        </p:spPr>
      </p:pic>
      <p:pic>
        <p:nvPicPr>
          <p:cNvPr id="175109" name="Picture 5" descr="j028575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1268413"/>
            <a:ext cx="1824038" cy="1120775"/>
          </a:xfrm>
          <a:prstGeom prst="rect">
            <a:avLst/>
          </a:prstGeom>
          <a:noFill/>
          <a:extLst>
            <a:ext uri="{909E8E84-426E-40DD-AFC4-6F175D3DCCD1}">
              <a14:hiddenFill xmlns:a14="http://schemas.microsoft.com/office/drawing/2010/main">
                <a:solidFill>
                  <a:srgbClr val="FFFFFF"/>
                </a:solidFill>
              </a14:hiddenFill>
            </a:ext>
          </a:extLst>
        </p:spPr>
      </p:pic>
      <p:sp>
        <p:nvSpPr>
          <p:cNvPr id="175110" name="Text Box 6"/>
          <p:cNvSpPr txBox="1">
            <a:spLocks noChangeArrowheads="1"/>
          </p:cNvSpPr>
          <p:nvPr/>
        </p:nvSpPr>
        <p:spPr bwMode="auto">
          <a:xfrm>
            <a:off x="914400" y="981075"/>
            <a:ext cx="56737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latin typeface="Times New Roman" panose="02020603050405020304" pitchFamily="18" charset="0"/>
              </a:rPr>
              <a:t>        </a:t>
            </a:r>
            <a:r>
              <a:rPr kumimoji="1" lang="en-US" altLang="zh-CN" sz="2800" b="1">
                <a:solidFill>
                  <a:schemeClr val="accent2"/>
                </a:solidFill>
                <a:latin typeface="Times New Roman" panose="02020603050405020304" pitchFamily="18" charset="0"/>
                <a:ea typeface="仿宋_GB2312" panose="02010609030101010101" pitchFamily="49" charset="-122"/>
              </a:rPr>
              <a:t>Shor</a:t>
            </a:r>
            <a:r>
              <a:rPr kumimoji="1" lang="zh-CN" altLang="en-US" sz="2800" b="1">
                <a:solidFill>
                  <a:schemeClr val="accent2"/>
                </a:solidFill>
                <a:latin typeface="仿宋_GB2312" panose="02010609030101010101" pitchFamily="49" charset="-122"/>
                <a:ea typeface="仿宋_GB2312" panose="02010609030101010101" pitchFamily="49" charset="-122"/>
              </a:rPr>
              <a:t>算法证明，采用量子计算机并行计算，分解</a:t>
            </a:r>
            <a:r>
              <a:rPr kumimoji="1" lang="en-US" altLang="zh-CN" sz="2800" b="1">
                <a:solidFill>
                  <a:schemeClr val="accent2"/>
                </a:solidFill>
                <a:latin typeface="仿宋_GB2312" panose="02010609030101010101" pitchFamily="49" charset="-122"/>
                <a:ea typeface="仿宋_GB2312" panose="02010609030101010101" pitchFamily="49" charset="-122"/>
              </a:rPr>
              <a:t>N</a:t>
            </a:r>
            <a:r>
              <a:rPr kumimoji="1" lang="zh-CN" altLang="en-US" sz="2800" b="1">
                <a:solidFill>
                  <a:schemeClr val="accent2"/>
                </a:solidFill>
                <a:latin typeface="仿宋_GB2312" panose="02010609030101010101" pitchFamily="49" charset="-122"/>
                <a:ea typeface="仿宋_GB2312" panose="02010609030101010101" pitchFamily="49" charset="-122"/>
              </a:rPr>
              <a:t>的时间随</a:t>
            </a:r>
            <a:r>
              <a:rPr kumimoji="1" lang="en-US" altLang="zh-CN" sz="2800" b="1">
                <a:solidFill>
                  <a:schemeClr val="accent2"/>
                </a:solidFill>
                <a:latin typeface="Times New Roman" panose="02020603050405020304" pitchFamily="18" charset="0"/>
                <a:ea typeface="仿宋_GB2312" panose="02010609030101010101" pitchFamily="49" charset="-122"/>
              </a:rPr>
              <a:t>log</a:t>
            </a:r>
            <a:r>
              <a:rPr kumimoji="1" lang="en-US" altLang="zh-CN" sz="2800" b="1" i="1">
                <a:solidFill>
                  <a:schemeClr val="accent2"/>
                </a:solidFill>
                <a:latin typeface="Times New Roman" panose="02020603050405020304" pitchFamily="18" charset="0"/>
                <a:ea typeface="仿宋_GB2312" panose="02010609030101010101" pitchFamily="49" charset="-122"/>
              </a:rPr>
              <a:t>N </a:t>
            </a:r>
            <a:r>
              <a:rPr kumimoji="1" lang="zh-CN" altLang="en-US" sz="2800" b="1">
                <a:solidFill>
                  <a:schemeClr val="accent2"/>
                </a:solidFill>
                <a:latin typeface="仿宋_GB2312" panose="02010609030101010101" pitchFamily="49" charset="-122"/>
                <a:ea typeface="仿宋_GB2312" panose="02010609030101010101" pitchFamily="49" charset="-122"/>
              </a:rPr>
              <a:t>的多项式增长</a:t>
            </a:r>
            <a:r>
              <a:rPr kumimoji="1" lang="en-US" altLang="zh-CN" sz="2800" b="1">
                <a:solidFill>
                  <a:schemeClr val="accent2"/>
                </a:solidFill>
                <a:latin typeface="Times New Roman" panose="02020603050405020304" pitchFamily="18" charset="0"/>
                <a:ea typeface="仿宋_GB2312" panose="02010609030101010101" pitchFamily="49" charset="-122"/>
              </a:rPr>
              <a:t>(</a:t>
            </a:r>
            <a:r>
              <a:rPr kumimoji="1" lang="zh-CN" altLang="en-US" sz="2800" b="1">
                <a:solidFill>
                  <a:schemeClr val="accent2"/>
                </a:solidFill>
                <a:latin typeface="仿宋_GB2312" panose="02010609030101010101" pitchFamily="49" charset="-122"/>
                <a:ea typeface="仿宋_GB2312" panose="02010609030101010101" pitchFamily="49" charset="-122"/>
              </a:rPr>
              <a:t>即可解问题</a:t>
            </a:r>
            <a:r>
              <a:rPr kumimoji="1" lang="en-US" altLang="zh-CN" sz="2800" b="1">
                <a:solidFill>
                  <a:schemeClr val="accent2"/>
                </a:solidFill>
                <a:latin typeface="Times New Roman" panose="02020603050405020304" pitchFamily="18" charset="0"/>
                <a:ea typeface="仿宋_GB2312" panose="02010609030101010101" pitchFamily="49" charset="-122"/>
              </a:rPr>
              <a:t>)</a:t>
            </a:r>
            <a:r>
              <a:rPr kumimoji="1" lang="zh-CN" altLang="en-US" sz="2800" b="1">
                <a:solidFill>
                  <a:schemeClr val="accent2"/>
                </a:solidFill>
                <a:latin typeface="仿宋_GB2312" panose="02010609030101010101" pitchFamily="49" charset="-122"/>
                <a:ea typeface="仿宋_GB2312" panose="02010609030101010101" pitchFamily="49" charset="-122"/>
              </a:rPr>
              <a:t>。</a:t>
            </a:r>
            <a:endParaRPr kumimoji="1" lang="zh-CN" altLang="en-US" sz="2800" b="1">
              <a:solidFill>
                <a:schemeClr val="accent2"/>
              </a:solidFill>
              <a:latin typeface="仿宋_GB2312" panose="02010609030101010101" pitchFamily="49" charset="-122"/>
              <a:ea typeface="仿宋_GB2312" panose="02010609030101010101" pitchFamily="49" charset="-122"/>
            </a:endParaRPr>
          </a:p>
        </p:txBody>
      </p:sp>
      <p:sp>
        <p:nvSpPr>
          <p:cNvPr id="175111" name="Text Box 7"/>
          <p:cNvSpPr txBox="1">
            <a:spLocks noChangeArrowheads="1"/>
          </p:cNvSpPr>
          <p:nvPr/>
        </p:nvSpPr>
        <p:spPr bwMode="auto">
          <a:xfrm>
            <a:off x="1981200" y="3573463"/>
            <a:ext cx="5867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800">
                <a:solidFill>
                  <a:srgbClr val="FFFFFF"/>
                </a:solidFill>
                <a:latin typeface="仿宋_GB2312" panose="02010609030101010101" pitchFamily="49" charset="-122"/>
                <a:ea typeface="仿宋_GB2312" panose="02010609030101010101" pitchFamily="49" charset="-122"/>
              </a:rPr>
              <a:t>    </a:t>
            </a:r>
            <a:r>
              <a:rPr kumimoji="1" lang="zh-CN" altLang="en-US" sz="2800" b="1">
                <a:solidFill>
                  <a:srgbClr val="008000"/>
                </a:solidFill>
                <a:latin typeface="仿宋_GB2312" panose="02010609030101010101" pitchFamily="49" charset="-122"/>
                <a:ea typeface="仿宋_GB2312" panose="02010609030101010101" pitchFamily="49" charset="-122"/>
              </a:rPr>
              <a:t>一旦量子计算机研制成功，现有的</a:t>
            </a:r>
            <a:r>
              <a:rPr kumimoji="1" lang="en-US" altLang="zh-CN" sz="2800" b="1">
                <a:solidFill>
                  <a:srgbClr val="008000"/>
                </a:solidFill>
                <a:latin typeface="仿宋_GB2312" panose="02010609030101010101" pitchFamily="49" charset="-122"/>
                <a:ea typeface="仿宋_GB2312" panose="02010609030101010101" pitchFamily="49" charset="-122"/>
              </a:rPr>
              <a:t>RSA</a:t>
            </a:r>
            <a:r>
              <a:rPr kumimoji="1" lang="zh-CN" altLang="en-US" sz="2800" b="1">
                <a:solidFill>
                  <a:srgbClr val="008000"/>
                </a:solidFill>
                <a:latin typeface="仿宋_GB2312" panose="02010609030101010101" pitchFamily="49" charset="-122"/>
                <a:ea typeface="仿宋_GB2312" panose="02010609030101010101" pitchFamily="49" charset="-122"/>
              </a:rPr>
              <a:t>密钥将无密可保。</a:t>
            </a:r>
            <a:endParaRPr kumimoji="1" lang="zh-CN" altLang="en-US" sz="2800" b="1">
              <a:solidFill>
                <a:srgbClr val="008000"/>
              </a:solidFill>
              <a:latin typeface="仿宋_GB2312" panose="02010609030101010101" pitchFamily="49" charset="-122"/>
              <a:ea typeface="仿宋_GB2312" panose="02010609030101010101" pitchFamily="49" charset="-122"/>
            </a:endParaRPr>
          </a:p>
        </p:txBody>
      </p:sp>
      <p:pic>
        <p:nvPicPr>
          <p:cNvPr id="175112" name="Picture 8" descr="j023476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4441825"/>
            <a:ext cx="1406525" cy="1508125"/>
          </a:xfrm>
          <a:prstGeom prst="rect">
            <a:avLst/>
          </a:prstGeom>
          <a:noFill/>
          <a:extLst>
            <a:ext uri="{909E8E84-426E-40DD-AFC4-6F175D3DCCD1}">
              <a14:hiddenFill xmlns:a14="http://schemas.microsoft.com/office/drawing/2010/main">
                <a:solidFill>
                  <a:srgbClr val="FFFFFF"/>
                </a:solidFill>
              </a14:hiddenFill>
            </a:ext>
          </a:extLst>
        </p:spPr>
      </p:pic>
      <p:sp>
        <p:nvSpPr>
          <p:cNvPr id="175114" name="Rectangle 10"/>
          <p:cNvSpPr>
            <a:spLocks noChangeArrowheads="1"/>
          </p:cNvSpPr>
          <p:nvPr/>
        </p:nvSpPr>
        <p:spPr bwMode="auto">
          <a:xfrm>
            <a:off x="2051050" y="2492375"/>
            <a:ext cx="61928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800" b="1">
                <a:solidFill>
                  <a:srgbClr val="990099"/>
                </a:solidFill>
              </a:rPr>
              <a:t>      </a:t>
            </a:r>
            <a:r>
              <a:rPr kumimoji="1" lang="zh-CN" altLang="en-US" sz="2800" b="1">
                <a:solidFill>
                  <a:srgbClr val="990099"/>
                </a:solidFill>
                <a:latin typeface="仿宋_GB2312" panose="02010609030101010101" pitchFamily="49" charset="-122"/>
                <a:ea typeface="仿宋_GB2312" panose="02010609030101010101" pitchFamily="49" charset="-122"/>
              </a:rPr>
              <a:t>目前在实验上，一个推广了的</a:t>
            </a:r>
            <a:r>
              <a:rPr kumimoji="1" lang="en-US" altLang="zh-CN" sz="2800" b="1">
                <a:solidFill>
                  <a:srgbClr val="990099"/>
                </a:solidFill>
                <a:latin typeface="仿宋_GB2312" panose="02010609030101010101" pitchFamily="49" charset="-122"/>
                <a:ea typeface="仿宋_GB2312" panose="02010609030101010101" pitchFamily="49" charset="-122"/>
              </a:rPr>
              <a:t>Shor</a:t>
            </a:r>
            <a:r>
              <a:rPr kumimoji="1" lang="zh-CN" altLang="en-US" sz="2800" b="1">
                <a:solidFill>
                  <a:srgbClr val="990099"/>
                </a:solidFill>
                <a:latin typeface="仿宋_GB2312" panose="02010609030101010101" pitchFamily="49" charset="-122"/>
                <a:ea typeface="仿宋_GB2312" panose="02010609030101010101" pitchFamily="49" charset="-122"/>
              </a:rPr>
              <a:t>算法已经在核磁共振中得到实现。</a:t>
            </a:r>
            <a:endParaRPr kumimoji="1" lang="zh-CN" altLang="en-US" sz="2800" b="1">
              <a:solidFill>
                <a:srgbClr val="990099"/>
              </a:solidFill>
              <a:latin typeface="仿宋_GB2312" panose="02010609030101010101" pitchFamily="49" charset="-122"/>
              <a:ea typeface="仿宋_GB2312" panose="02010609030101010101" pitchFamily="49" charset="-122"/>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err="1"/>
              <a:t>Shor</a:t>
            </a:r>
            <a:r>
              <a:rPr lang="en-US" altLang="zh-CN" dirty="0"/>
              <a:t> </a:t>
            </a:r>
            <a:r>
              <a:rPr lang="zh-CN" altLang="en-US" dirty="0"/>
              <a:t>量子并行算法</a:t>
            </a:r>
            <a:endParaRPr lang="zh-CN" altLang="en-US" dirty="0"/>
          </a:p>
        </p:txBody>
      </p:sp>
      <p:sp>
        <p:nvSpPr>
          <p:cNvPr id="3" name="内容占位符 2"/>
          <p:cNvSpPr>
            <a:spLocks noGrp="1"/>
          </p:cNvSpPr>
          <p:nvPr>
            <p:ph idx="1"/>
          </p:nvPr>
        </p:nvSpPr>
        <p:spPr/>
        <p:txBody>
          <a:bodyPr/>
          <a:lstStyle/>
          <a:p>
            <a:r>
              <a:rPr lang="zh-CN" altLang="en-US" dirty="0"/>
              <a:t>例如，为了对一个</a:t>
            </a:r>
            <a:r>
              <a:rPr lang="en-US" altLang="zh-CN" dirty="0"/>
              <a:t>400</a:t>
            </a:r>
            <a:r>
              <a:rPr lang="zh-CN" altLang="en-US" dirty="0"/>
              <a:t>位的阿拉伯数字进行因子分解，目前最快的超级计算机将耗时上百亿年，这几乎等于宇宙的整个寿命；而具有相同时钟脉冲速度的量子计算机只需要大约一分钟。</a:t>
            </a:r>
            <a:endParaRPr lang="zh-CN" altLang="en-US" dirty="0"/>
          </a:p>
          <a:p>
            <a:pPr marL="0" indent="0">
              <a:buNone/>
            </a:pPr>
            <a:endParaRPr lang="zh-CN" altLang="en-US"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896D86A-F7FD-4BE6-9011-E6038FF055D7}" type="slidenum">
              <a:rPr lang="zh-CN" altLang="en-US" smtClean="0"/>
            </a:fld>
            <a:endParaRPr lang="zh-CN" altLang="en-US"/>
          </a:p>
        </p:txBody>
      </p:sp>
      <mc:AlternateContent xmlns:mc="http://schemas.openxmlformats.org/markup-compatibility/2006">
        <mc:Choice xmlns:a14="http://schemas.microsoft.com/office/drawing/2010/main" Requires="a14">
          <p:sp>
            <p:nvSpPr>
              <p:cNvPr id="2" name="TextBox 1"/>
              <p:cNvSpPr txBox="1"/>
              <p:nvPr/>
            </p:nvSpPr>
            <p:spPr>
              <a:xfrm>
                <a:off x="728834" y="2038266"/>
                <a:ext cx="7875614" cy="3478966"/>
              </a:xfrm>
              <a:prstGeom prst="rect">
                <a:avLst/>
              </a:prstGeom>
              <a:noFill/>
            </p:spPr>
            <p:txBody>
              <a:bodyPr wrap="square" rtlCol="0">
                <a:spAutoFit/>
              </a:bodyPr>
              <a:lstStyle/>
              <a:p>
                <a:pPr marL="274320" indent="-274320">
                  <a:spcBef>
                    <a:spcPct val="20000"/>
                  </a:spcBef>
                  <a:buClr>
                    <a:schemeClr val="accent3"/>
                  </a:buClr>
                  <a:buSzPct val="95000"/>
                  <a:buFont typeface="Wingdings 2" panose="05020102010507070707"/>
                  <a:buChar char=""/>
                </a:pPr>
                <a:r>
                  <a:rPr lang="zh-CN" altLang="en-US" sz="2200" dirty="0"/>
                  <a:t>进行</a:t>
                </a:r>
                <a:r>
                  <a:rPr lang="en-US" altLang="zh-CN" sz="2200" dirty="0"/>
                  <a:t>4</a:t>
                </a:r>
                <a:r>
                  <a:rPr lang="zh-CN" altLang="en-US" sz="2200" dirty="0"/>
                  <a:t>位数乘</a:t>
                </a:r>
                <a:r>
                  <a:rPr lang="en-US" altLang="zh-CN" sz="2200" dirty="0"/>
                  <a:t>4</a:t>
                </a:r>
                <a:r>
                  <a:rPr lang="zh-CN" altLang="en-US" sz="2200" dirty="0"/>
                  <a:t>位数的乘法计算，最多只需二、三十步（即步数是</a:t>
                </a:r>
                <a:r>
                  <a:rPr lang="en-US" altLang="zh-CN" sz="2200" dirty="0"/>
                  <a:t>4</a:t>
                </a:r>
                <a:r>
                  <a:rPr lang="zh-CN" altLang="en-US" sz="2200" dirty="0"/>
                  <a:t>的多项式）即可完成</a:t>
                </a:r>
                <a:endParaRPr lang="en-US" altLang="zh-CN" sz="2200" dirty="0"/>
              </a:p>
              <a:p>
                <a:pPr marL="274320" indent="-274320">
                  <a:spcBef>
                    <a:spcPct val="20000"/>
                  </a:spcBef>
                  <a:buClr>
                    <a:schemeClr val="accent3"/>
                  </a:buClr>
                  <a:buSzPct val="95000"/>
                  <a:buFont typeface="Wingdings 2" panose="05020102010507070707"/>
                  <a:buChar char=""/>
                </a:pPr>
                <a:r>
                  <a:rPr lang="zh-CN" altLang="en-US" sz="2200" dirty="0"/>
                  <a:t>如果是</a:t>
                </a:r>
                <a:r>
                  <a:rPr lang="en-US" altLang="zh-CN" sz="2200" dirty="0"/>
                  <a:t>8</a:t>
                </a:r>
                <a:r>
                  <a:rPr lang="zh-CN" altLang="en-US" sz="2200" dirty="0"/>
                  <a:t>位数乘</a:t>
                </a:r>
                <a:r>
                  <a:rPr lang="en-US" altLang="zh-CN" sz="2200" dirty="0"/>
                  <a:t>8</a:t>
                </a:r>
                <a:r>
                  <a:rPr lang="zh-CN" altLang="en-US" sz="2200" dirty="0"/>
                  <a:t>位数，即几亿的数量级，给你一个上亿的数字让你做因子分解？！</a:t>
                </a:r>
                <a:endParaRPr lang="en-US" altLang="zh-CN" sz="2200" dirty="0"/>
              </a:p>
              <a:p>
                <a:pPr marL="274320" indent="-274320">
                  <a:spcBef>
                    <a:spcPct val="20000"/>
                  </a:spcBef>
                  <a:buClr>
                    <a:schemeClr val="accent3"/>
                  </a:buClr>
                  <a:buSzPct val="95000"/>
                  <a:buFont typeface="Wingdings 2" panose="05020102010507070707"/>
                  <a:buChar char=""/>
                </a:pPr>
                <a:r>
                  <a:rPr lang="zh-CN" altLang="en-US" sz="2200" dirty="0"/>
                  <a:t>一般是除了逐个用小于</a:t>
                </a:r>
                <a14:m>
                  <m:oMath xmlns:m="http://schemas.openxmlformats.org/officeDocument/2006/math">
                    <m:rad>
                      <m:radPr>
                        <m:degHide m:val="on"/>
                        <m:ctrlPr>
                          <a:rPr lang="en-US" altLang="zh-CN" sz="2200" i="1">
                            <a:latin typeface="Cambria Math" panose="02040503050406030204" pitchFamily="18" charset="0"/>
                          </a:rPr>
                        </m:ctrlPr>
                      </m:radPr>
                      <m:deg/>
                      <m:e>
                        <m:r>
                          <a:rPr lang="en-US" altLang="zh-CN" sz="2200">
                            <a:latin typeface="Cambria Math" panose="02040503050406030204"/>
                          </a:rPr>
                          <m:t>𝑁</m:t>
                        </m:r>
                      </m:e>
                    </m:rad>
                  </m:oMath>
                </a14:m>
                <a:r>
                  <a:rPr lang="zh-CN" altLang="en-US" sz="2200" dirty="0"/>
                  <a:t>的素数试着去除它。这样的素数有</a:t>
                </a:r>
                <a14:m>
                  <m:oMath xmlns:m="http://schemas.openxmlformats.org/officeDocument/2006/math">
                    <m:sSup>
                      <m:sSupPr>
                        <m:ctrlPr>
                          <a:rPr lang="en-US" altLang="zh-CN" sz="2200" i="1">
                            <a:latin typeface="Cambria Math" panose="02040503050406030204" pitchFamily="18" charset="0"/>
                          </a:rPr>
                        </m:ctrlPr>
                      </m:sSupPr>
                      <m:e>
                        <m:r>
                          <a:rPr lang="en-US" altLang="zh-CN" sz="2200">
                            <a:latin typeface="Cambria Math" panose="02040503050406030204"/>
                          </a:rPr>
                          <m:t>10</m:t>
                        </m:r>
                      </m:e>
                      <m:sup>
                        <m:r>
                          <a:rPr lang="en-US" altLang="zh-CN" sz="2200">
                            <a:latin typeface="Cambria Math" panose="02040503050406030204"/>
                          </a:rPr>
                          <m:t>4</m:t>
                        </m:r>
                      </m:sup>
                    </m:sSup>
                  </m:oMath>
                </a14:m>
                <a:r>
                  <a:rPr lang="zh-CN" altLang="en-US" sz="2200" dirty="0"/>
                  <a:t>，即上万个，一个一个的去试除要花相当一段时间</a:t>
                </a:r>
                <a:endParaRPr lang="en-US" altLang="zh-CN" sz="2200" dirty="0"/>
              </a:p>
              <a:p>
                <a:pPr marL="274320" indent="-274320">
                  <a:spcBef>
                    <a:spcPct val="20000"/>
                  </a:spcBef>
                  <a:buClr>
                    <a:schemeClr val="accent3"/>
                  </a:buClr>
                  <a:buSzPct val="95000"/>
                  <a:buFont typeface="Wingdings 2" panose="05020102010507070707"/>
                  <a:buChar char=""/>
                </a:pPr>
                <a:r>
                  <a:rPr lang="en-US" altLang="zh-CN" sz="2200" dirty="0"/>
                  <a:t>1994</a:t>
                </a:r>
                <a:r>
                  <a:rPr lang="zh-CN" altLang="en-US" sz="2200" dirty="0"/>
                  <a:t>年</a:t>
                </a:r>
                <a:r>
                  <a:rPr lang="en-US" altLang="zh-CN" sz="2200" dirty="0" err="1"/>
                  <a:t>Shor</a:t>
                </a:r>
                <a:r>
                  <a:rPr lang="zh-CN" altLang="en-US" sz="2200" dirty="0"/>
                  <a:t>等人提出了一宗大因数分解的量子多项式算法</a:t>
                </a:r>
                <a:endParaRPr lang="en-US" altLang="zh-CN" sz="2200" dirty="0"/>
              </a:p>
              <a:p>
                <a:pPr marL="274320" indent="-274320">
                  <a:spcBef>
                    <a:spcPct val="20000"/>
                  </a:spcBef>
                  <a:buClr>
                    <a:schemeClr val="accent3"/>
                  </a:buClr>
                  <a:buSzPct val="95000"/>
                  <a:buFont typeface="Wingdings 2" panose="05020102010507070707"/>
                  <a:buChar char=""/>
                </a:pPr>
                <a:r>
                  <a:rPr lang="en-US" altLang="zh-CN" sz="2200" dirty="0" err="1"/>
                  <a:t>Shor</a:t>
                </a:r>
                <a:r>
                  <a:rPr lang="zh-CN" altLang="en-US" sz="2200" dirty="0"/>
                  <a:t>算法的核心是利用数论中的一些定理，将大数因子分解转化为求某个函数的周期</a:t>
                </a:r>
                <a:endParaRPr lang="zh-CN" altLang="en-US" sz="2200" dirty="0"/>
              </a:p>
            </p:txBody>
          </p:sp>
        </mc:Choice>
        <mc:Fallback>
          <p:sp>
            <p:nvSpPr>
              <p:cNvPr id="2" name="TextBox 1"/>
              <p:cNvSpPr txBox="1">
                <a:spLocks noRot="1" noChangeAspect="1" noMove="1" noResize="1" noEditPoints="1" noAdjustHandles="1" noChangeArrowheads="1" noChangeShapeType="1" noTextEdit="1"/>
              </p:cNvSpPr>
              <p:nvPr/>
            </p:nvSpPr>
            <p:spPr>
              <a:xfrm>
                <a:off x="728834" y="2038266"/>
                <a:ext cx="7875614" cy="3478966"/>
              </a:xfrm>
              <a:prstGeom prst="rect">
                <a:avLst/>
              </a:prstGeom>
              <a:blipFill rotWithShape="1">
                <a:blip r:embed="rId1"/>
                <a:stretch>
                  <a:fillRect l="-6" t="-16" r="3" b="10"/>
                </a:stretch>
              </a:blipFill>
            </p:spPr>
            <p:txBody>
              <a:bodyPr/>
              <a:lstStyle/>
              <a:p>
                <a:r>
                  <a:rPr lang="zh-CN" altLang="en-US">
                    <a:noFill/>
                  </a:rPr>
                  <a:t> </a:t>
                </a:r>
              </a:p>
            </p:txBody>
          </p:sp>
        </mc:Fallback>
      </mc:AlternateContent>
      <p:sp>
        <p:nvSpPr>
          <p:cNvPr id="6" name="标题 1"/>
          <p:cNvSpPr>
            <a:spLocks noGrp="1"/>
          </p:cNvSpPr>
          <p:nvPr>
            <p:ph type="title"/>
          </p:nvPr>
        </p:nvSpPr>
        <p:spPr>
          <a:xfrm>
            <a:off x="457200" y="704088"/>
            <a:ext cx="8229600" cy="1143000"/>
          </a:xfrm>
        </p:spPr>
        <p:txBody>
          <a:bodyPr>
            <a:normAutofit/>
          </a:bodyPr>
          <a:lstStyle/>
          <a:p>
            <a:r>
              <a:rPr lang="en-US" altLang="zh-CN" dirty="0" err="1"/>
              <a:t>Shor</a:t>
            </a:r>
            <a:r>
              <a:rPr lang="en-US" altLang="zh-CN" dirty="0"/>
              <a:t> </a:t>
            </a:r>
            <a:r>
              <a:rPr lang="zh-CN" altLang="en-US" dirty="0"/>
              <a:t>量子并行算法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052736"/>
            <a:ext cx="7560840" cy="546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496" y="1124744"/>
            <a:ext cx="9004082"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836712"/>
            <a:ext cx="8280920" cy="5918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908720"/>
            <a:ext cx="7992888" cy="5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1196752"/>
            <a:ext cx="8288514"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836712"/>
            <a:ext cx="5976664" cy="5847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340768"/>
            <a:ext cx="7974125"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2" name="Rectangle 4"/>
          <p:cNvSpPr>
            <a:spLocks noChangeArrowheads="1"/>
          </p:cNvSpPr>
          <p:nvPr/>
        </p:nvSpPr>
        <p:spPr bwMode="auto">
          <a:xfrm>
            <a:off x="827088" y="1196975"/>
            <a:ext cx="453707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en-US" altLang="zh-CN" sz="4400" b="1" dirty="0">
                <a:solidFill>
                  <a:srgbClr val="9900CC"/>
                </a:solidFill>
                <a:latin typeface="Times New Roman" panose="02020603050405020304" pitchFamily="18" charset="0"/>
                <a:sym typeface="Wingdings 2" panose="05020102010507070707" pitchFamily="18" charset="2"/>
              </a:rPr>
              <a:t>②</a:t>
            </a:r>
            <a:r>
              <a:rPr kumimoji="1" lang="en-US" altLang="zh-CN" sz="2800" b="1" dirty="0">
                <a:solidFill>
                  <a:srgbClr val="66CCFF"/>
                </a:solidFill>
                <a:latin typeface="仿宋_GB2312" panose="02010609030101010101" pitchFamily="49" charset="-122"/>
                <a:ea typeface="仿宋_GB2312" panose="02010609030101010101" pitchFamily="49" charset="-122"/>
                <a:sym typeface="Wingdings 2" panose="05020102010507070707" pitchFamily="18" charset="2"/>
              </a:rPr>
              <a:t> </a:t>
            </a:r>
            <a:r>
              <a:rPr kumimoji="1" lang="en-US" altLang="zh-CN" sz="2800" b="1" dirty="0">
                <a:solidFill>
                  <a:srgbClr val="9900CC"/>
                </a:solidFill>
                <a:latin typeface="Times New Roman" panose="02020603050405020304" pitchFamily="18" charset="0"/>
                <a:ea typeface="仿宋_GB2312" panose="02010609030101010101" pitchFamily="49" charset="-122"/>
                <a:sym typeface="Wingdings 2" panose="05020102010507070707" pitchFamily="18" charset="2"/>
              </a:rPr>
              <a:t>Grove</a:t>
            </a:r>
            <a:r>
              <a:rPr kumimoji="1" lang="zh-CN" altLang="en-US" sz="2800" b="1" dirty="0">
                <a:solidFill>
                  <a:srgbClr val="9900CC"/>
                </a:solidFill>
                <a:latin typeface="仿宋_GB2312" panose="02010609030101010101" pitchFamily="49" charset="-122"/>
                <a:ea typeface="仿宋_GB2312" panose="02010609030101010101" pitchFamily="49" charset="-122"/>
                <a:sym typeface="Wingdings 2" panose="05020102010507070707" pitchFamily="18" charset="2"/>
              </a:rPr>
              <a:t>量子搜寻算法</a:t>
            </a:r>
            <a:endParaRPr kumimoji="1" lang="zh-CN" altLang="en-US" sz="2800" b="1" dirty="0">
              <a:solidFill>
                <a:srgbClr val="9900CC"/>
              </a:solidFill>
              <a:latin typeface="仿宋_GB2312" panose="02010609030101010101" pitchFamily="49" charset="-122"/>
              <a:ea typeface="仿宋_GB2312" panose="02010609030101010101" pitchFamily="49" charset="-122"/>
              <a:sym typeface="Wingdings 2" panose="05020102010507070707" pitchFamily="18" charset="2"/>
            </a:endParaRPr>
          </a:p>
        </p:txBody>
      </p:sp>
      <p:sp>
        <p:nvSpPr>
          <p:cNvPr id="176133" name="Text Box 5"/>
          <p:cNvSpPr txBox="1">
            <a:spLocks noChangeArrowheads="1"/>
          </p:cNvSpPr>
          <p:nvPr/>
        </p:nvSpPr>
        <p:spPr bwMode="auto">
          <a:xfrm>
            <a:off x="979488" y="1987550"/>
            <a:ext cx="73914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rgbClr val="D60093"/>
                </a:solidFill>
                <a:latin typeface="Times New Roman" panose="02020603050405020304" pitchFamily="18" charset="0"/>
                <a:ea typeface="仿宋_GB2312" panose="02010609030101010101" pitchFamily="49" charset="-122"/>
              </a:rPr>
              <a:t>问题：从</a:t>
            </a:r>
            <a:r>
              <a:rPr kumimoji="1" lang="en-US" altLang="zh-CN" sz="2400" b="1">
                <a:solidFill>
                  <a:srgbClr val="D60093"/>
                </a:solidFill>
                <a:latin typeface="Times New Roman" panose="02020603050405020304" pitchFamily="18" charset="0"/>
                <a:ea typeface="仿宋_GB2312" panose="02010609030101010101" pitchFamily="49" charset="-122"/>
              </a:rPr>
              <a:t>N</a:t>
            </a:r>
            <a:r>
              <a:rPr kumimoji="1" lang="zh-CN" altLang="en-US" sz="2400" b="1">
                <a:solidFill>
                  <a:srgbClr val="D60093"/>
                </a:solidFill>
                <a:latin typeface="Times New Roman" panose="02020603050405020304" pitchFamily="18" charset="0"/>
                <a:ea typeface="仿宋_GB2312" panose="02010609030101010101" pitchFamily="49" charset="-122"/>
              </a:rPr>
              <a:t>个未分类的客体中寻找出某个特定客体。</a:t>
            </a:r>
            <a:endParaRPr kumimoji="1" lang="zh-CN" altLang="en-US" sz="2400" b="1">
              <a:solidFill>
                <a:srgbClr val="D60093"/>
              </a:solidFill>
              <a:latin typeface="Times New Roman" panose="02020603050405020304" pitchFamily="18" charset="0"/>
              <a:ea typeface="仿宋_GB2312" panose="02010609030101010101" pitchFamily="49" charset="-122"/>
            </a:endParaRPr>
          </a:p>
          <a:p>
            <a:pPr eaLnBrk="1" hangingPunct="1">
              <a:spcBef>
                <a:spcPct val="50000"/>
              </a:spcBef>
            </a:pPr>
            <a:r>
              <a:rPr kumimoji="1" lang="zh-CN" altLang="en-US" sz="2400" b="1">
                <a:solidFill>
                  <a:srgbClr val="D60093"/>
                </a:solidFill>
                <a:latin typeface="Times New Roman" panose="02020603050405020304" pitchFamily="18" charset="0"/>
                <a:ea typeface="仿宋_GB2312" panose="02010609030101010101" pitchFamily="49" charset="-122"/>
              </a:rPr>
              <a:t>例如，从按姓序排列的</a:t>
            </a:r>
            <a:r>
              <a:rPr kumimoji="1" lang="en-US" altLang="zh-CN" sz="2400" b="1">
                <a:solidFill>
                  <a:srgbClr val="D60093"/>
                </a:solidFill>
                <a:latin typeface="Times New Roman" panose="02020603050405020304" pitchFamily="18" charset="0"/>
                <a:ea typeface="仿宋_GB2312" panose="02010609030101010101" pitchFamily="49" charset="-122"/>
              </a:rPr>
              <a:t>10</a:t>
            </a:r>
            <a:r>
              <a:rPr kumimoji="1" lang="en-US" altLang="zh-CN" sz="2400" b="1" baseline="30000">
                <a:solidFill>
                  <a:srgbClr val="D60093"/>
                </a:solidFill>
                <a:latin typeface="Times New Roman" panose="02020603050405020304" pitchFamily="18" charset="0"/>
                <a:ea typeface="仿宋_GB2312" panose="02010609030101010101" pitchFamily="49" charset="-122"/>
              </a:rPr>
              <a:t>6</a:t>
            </a:r>
            <a:r>
              <a:rPr kumimoji="1" lang="zh-CN" altLang="en-US" sz="2400" b="1">
                <a:solidFill>
                  <a:srgbClr val="D60093"/>
                </a:solidFill>
                <a:latin typeface="Times New Roman" panose="02020603050405020304" pitchFamily="18" charset="0"/>
                <a:ea typeface="仿宋_GB2312" panose="02010609030101010101" pitchFamily="49" charset="-122"/>
              </a:rPr>
              <a:t>个电话号码中找出某个特定的号码。</a:t>
            </a:r>
            <a:endParaRPr kumimoji="1" lang="zh-CN" altLang="en-US" sz="2400" b="1">
              <a:solidFill>
                <a:srgbClr val="D60093"/>
              </a:solidFill>
              <a:latin typeface="Times New Roman" panose="02020603050405020304" pitchFamily="18" charset="0"/>
              <a:ea typeface="仿宋_GB2312" panose="02010609030101010101" pitchFamily="49" charset="-122"/>
            </a:endParaRPr>
          </a:p>
        </p:txBody>
      </p:sp>
      <p:pic>
        <p:nvPicPr>
          <p:cNvPr id="176134" name="Picture 6" descr="j0213493"/>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6923088" y="4425950"/>
            <a:ext cx="1235075" cy="1450975"/>
          </a:xfrm>
          <a:prstGeom prst="rect">
            <a:avLst/>
          </a:prstGeom>
          <a:noFill/>
          <a:extLst>
            <a:ext uri="{909E8E84-426E-40DD-AFC4-6F175D3DCCD1}">
              <a14:hiddenFill xmlns:a14="http://schemas.microsoft.com/office/drawing/2010/main">
                <a:solidFill>
                  <a:srgbClr val="FFFFFF"/>
                </a:solidFill>
              </a14:hiddenFill>
            </a:ext>
          </a:extLst>
        </p:spPr>
      </p:pic>
      <p:sp>
        <p:nvSpPr>
          <p:cNvPr id="176136" name="AutoShape 8"/>
          <p:cNvSpPr>
            <a:spLocks noChangeArrowheads="1"/>
          </p:cNvSpPr>
          <p:nvPr/>
        </p:nvSpPr>
        <p:spPr bwMode="auto">
          <a:xfrm>
            <a:off x="979488" y="3587750"/>
            <a:ext cx="1828800" cy="609600"/>
          </a:xfrm>
          <a:prstGeom prst="roundRect">
            <a:avLst>
              <a:gd name="adj" fmla="val 16667"/>
            </a:avLst>
          </a:prstGeom>
          <a:solidFill>
            <a:srgbClr val="00008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99"/>
                </a:solidFill>
                <a:latin typeface="Times New Roman" panose="02020603050405020304" pitchFamily="18" charset="0"/>
                <a:ea typeface="仿宋_GB2312" panose="02010609030101010101" pitchFamily="49" charset="-122"/>
              </a:rPr>
              <a:t>经典计算机</a:t>
            </a:r>
            <a:endParaRPr kumimoji="1" lang="zh-CN" altLang="en-US" sz="2400" b="1">
              <a:solidFill>
                <a:srgbClr val="FFFF99"/>
              </a:solidFill>
              <a:latin typeface="Times New Roman" panose="02020603050405020304" pitchFamily="18" charset="0"/>
              <a:ea typeface="仿宋_GB2312" panose="02010609030101010101" pitchFamily="49" charset="-122"/>
            </a:endParaRPr>
          </a:p>
        </p:txBody>
      </p:sp>
      <p:sp>
        <p:nvSpPr>
          <p:cNvPr id="176137" name="Text Box 9"/>
          <p:cNvSpPr txBox="1">
            <a:spLocks noChangeArrowheads="1"/>
          </p:cNvSpPr>
          <p:nvPr/>
        </p:nvSpPr>
        <p:spPr bwMode="auto">
          <a:xfrm>
            <a:off x="2884488" y="3435350"/>
            <a:ext cx="56483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dirty="0">
                <a:solidFill>
                  <a:schemeClr val="accent2"/>
                </a:solidFill>
                <a:latin typeface="仿宋_GB2312" panose="02010609030101010101" pitchFamily="49" charset="-122"/>
                <a:ea typeface="仿宋_GB2312" panose="02010609030101010101" pitchFamily="49" charset="-122"/>
              </a:rPr>
              <a:t>一个个查询，直到找到所要的号码。平均讲，要查   次，找到的几率为 。</a:t>
            </a:r>
            <a:endParaRPr kumimoji="1" lang="zh-CN" altLang="en-US" sz="2400" b="1" dirty="0">
              <a:solidFill>
                <a:schemeClr val="accent2"/>
              </a:solidFill>
              <a:latin typeface="仿宋_GB2312" panose="02010609030101010101" pitchFamily="49" charset="-122"/>
              <a:ea typeface="仿宋_GB2312" panose="02010609030101010101" pitchFamily="49" charset="-122"/>
            </a:endParaRPr>
          </a:p>
        </p:txBody>
      </p:sp>
      <p:graphicFrame>
        <p:nvGraphicFramePr>
          <p:cNvPr id="176138" name="Object 10"/>
          <p:cNvGraphicFramePr>
            <a:graphicFrameLocks noChangeAspect="1"/>
          </p:cNvGraphicFramePr>
          <p:nvPr/>
        </p:nvGraphicFramePr>
        <p:xfrm>
          <a:off x="4454192" y="3853033"/>
          <a:ext cx="319961" cy="355512"/>
        </p:xfrm>
        <a:graphic>
          <a:graphicData uri="http://schemas.openxmlformats.org/presentationml/2006/ole">
            <mc:AlternateContent xmlns:mc="http://schemas.openxmlformats.org/markup-compatibility/2006">
              <mc:Choice xmlns:v="urn:schemas-microsoft-com:vml" Requires="v">
                <p:oleObj spid="_x0000_s2" name="Equation" r:id="rId2" imgW="469900" imgH="673100" progId="Equation.3">
                  <p:embed/>
                </p:oleObj>
              </mc:Choice>
              <mc:Fallback>
                <p:oleObj name="Equation" r:id="rId2" imgW="469900" imgH="67310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192" y="3853033"/>
                        <a:ext cx="319961" cy="355512"/>
                      </a:xfrm>
                      <a:prstGeom prst="rect">
                        <a:avLst/>
                      </a:prstGeom>
                      <a:solidFill>
                        <a:srgbClr val="0000FF"/>
                      </a:solidFill>
                      <a:ln>
                        <a:noFill/>
                      </a:ln>
                      <a:effectLst/>
                    </p:spPr>
                  </p:pic>
                </p:oleObj>
              </mc:Fallback>
            </mc:AlternateContent>
          </a:graphicData>
        </a:graphic>
      </p:graphicFrame>
      <p:graphicFrame>
        <p:nvGraphicFramePr>
          <p:cNvPr id="176139" name="Object 11"/>
          <p:cNvGraphicFramePr>
            <a:graphicFrameLocks noChangeAspect="1"/>
          </p:cNvGraphicFramePr>
          <p:nvPr/>
        </p:nvGraphicFramePr>
        <p:xfrm>
          <a:off x="7212727" y="3836134"/>
          <a:ext cx="167585" cy="372411"/>
        </p:xfrm>
        <a:graphic>
          <a:graphicData uri="http://schemas.openxmlformats.org/presentationml/2006/ole">
            <mc:AlternateContent xmlns:mc="http://schemas.openxmlformats.org/markup-compatibility/2006">
              <mc:Choice xmlns:v="urn:schemas-microsoft-com:vml" Requires="v">
                <p:oleObj spid="_x0000_s3" name="Equation" r:id="rId4" imgW="215900" imgH="673100" progId="Equation.3">
                  <p:embed/>
                </p:oleObj>
              </mc:Choice>
              <mc:Fallback>
                <p:oleObj name="Equation" r:id="rId4" imgW="215900" imgH="6731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2727" y="3836134"/>
                        <a:ext cx="167585" cy="372411"/>
                      </a:xfrm>
                      <a:prstGeom prst="rect">
                        <a:avLst/>
                      </a:prstGeom>
                      <a:solidFill>
                        <a:srgbClr val="0000FF"/>
                      </a:solidFill>
                      <a:ln>
                        <a:noFill/>
                      </a:ln>
                      <a:effectLst/>
                    </p:spPr>
                  </p:pic>
                </p:oleObj>
              </mc:Fallback>
            </mc:AlternateContent>
          </a:graphicData>
        </a:graphic>
      </p:graphicFrame>
      <p:grpSp>
        <p:nvGrpSpPr>
          <p:cNvPr id="176140" name="Group 12"/>
          <p:cNvGrpSpPr/>
          <p:nvPr/>
        </p:nvGrpSpPr>
        <p:grpSpPr bwMode="auto">
          <a:xfrm>
            <a:off x="981049" y="4615033"/>
            <a:ext cx="5867400" cy="1187450"/>
            <a:chOff x="528" y="2448"/>
            <a:chExt cx="3696" cy="748"/>
          </a:xfrm>
        </p:grpSpPr>
        <p:sp>
          <p:nvSpPr>
            <p:cNvPr id="176141" name="AutoShape 13"/>
            <p:cNvSpPr>
              <a:spLocks noChangeArrowheads="1"/>
            </p:cNvSpPr>
            <p:nvPr/>
          </p:nvSpPr>
          <p:spPr bwMode="auto">
            <a:xfrm>
              <a:off x="528" y="2448"/>
              <a:ext cx="1152" cy="384"/>
            </a:xfrm>
            <a:prstGeom prst="roundRect">
              <a:avLst>
                <a:gd name="adj" fmla="val 16667"/>
              </a:avLst>
            </a:prstGeom>
            <a:solidFill>
              <a:srgbClr val="666699"/>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sz="2400" b="1">
                  <a:solidFill>
                    <a:srgbClr val="FFFF99"/>
                  </a:solidFill>
                  <a:latin typeface="Times New Roman" panose="02020603050405020304" pitchFamily="18" charset="0"/>
                  <a:ea typeface="仿宋_GB2312" panose="02010609030101010101" pitchFamily="49" charset="-122"/>
                </a:rPr>
                <a:t>量子计算机</a:t>
              </a:r>
              <a:endParaRPr kumimoji="1" lang="zh-CN" altLang="en-US" sz="2400" b="1">
                <a:solidFill>
                  <a:srgbClr val="FFFF99"/>
                </a:solidFill>
                <a:latin typeface="Times New Roman" panose="02020603050405020304" pitchFamily="18" charset="0"/>
                <a:ea typeface="仿宋_GB2312" panose="02010609030101010101" pitchFamily="49" charset="-122"/>
              </a:endParaRPr>
            </a:p>
          </p:txBody>
        </p:sp>
        <p:sp>
          <p:nvSpPr>
            <p:cNvPr id="176142" name="Text Box 14"/>
            <p:cNvSpPr txBox="1">
              <a:spLocks noChangeArrowheads="1"/>
            </p:cNvSpPr>
            <p:nvPr/>
          </p:nvSpPr>
          <p:spPr bwMode="auto">
            <a:xfrm>
              <a:off x="1824" y="2448"/>
              <a:ext cx="240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rgbClr val="006600"/>
                  </a:solidFill>
                  <a:latin typeface="Times New Roman" panose="02020603050405020304" pitchFamily="18" charset="0"/>
                  <a:ea typeface="仿宋_GB2312" panose="02010609030101010101" pitchFamily="49" charset="-122"/>
                </a:rPr>
                <a:t>采用并行处理，只需       次，找到的几率接近</a:t>
              </a:r>
              <a:r>
                <a:rPr kumimoji="1" lang="en-US" altLang="zh-CN" sz="2400" b="1">
                  <a:solidFill>
                    <a:srgbClr val="006600"/>
                  </a:solidFill>
                  <a:latin typeface="Times New Roman" panose="02020603050405020304" pitchFamily="18" charset="0"/>
                  <a:ea typeface="仿宋_GB2312" panose="02010609030101010101" pitchFamily="49" charset="-122"/>
                </a:rPr>
                <a:t>100</a:t>
              </a:r>
              <a:r>
                <a:rPr kumimoji="1" lang="zh-CN" altLang="en-US" sz="2400" b="1">
                  <a:solidFill>
                    <a:srgbClr val="006600"/>
                  </a:solidFill>
                  <a:latin typeface="Times New Roman" panose="02020603050405020304" pitchFamily="18" charset="0"/>
                  <a:ea typeface="仿宋_GB2312" panose="02010609030101010101" pitchFamily="49" charset="-122"/>
                </a:rPr>
                <a:t>％</a:t>
              </a:r>
              <a:r>
                <a:rPr kumimoji="1" lang="en-US" altLang="zh-CN" sz="2400" b="1">
                  <a:solidFill>
                    <a:srgbClr val="006600"/>
                  </a:solidFill>
                  <a:latin typeface="Times New Roman" panose="02020603050405020304" pitchFamily="18" charset="0"/>
                  <a:ea typeface="仿宋_GB2312" panose="02010609030101010101" pitchFamily="49" charset="-122"/>
                </a:rPr>
                <a:t>(Grover</a:t>
              </a:r>
              <a:r>
                <a:rPr kumimoji="1" lang="zh-CN" altLang="en-US" sz="2400" b="1">
                  <a:solidFill>
                    <a:srgbClr val="006600"/>
                  </a:solidFill>
                  <a:latin typeface="Times New Roman" panose="02020603050405020304" pitchFamily="18" charset="0"/>
                  <a:ea typeface="仿宋_GB2312" panose="02010609030101010101" pitchFamily="49" charset="-122"/>
                </a:rPr>
                <a:t>算法</a:t>
              </a:r>
              <a:r>
                <a:rPr kumimoji="1" lang="en-US" altLang="zh-CN" sz="2400" b="1">
                  <a:solidFill>
                    <a:srgbClr val="006600"/>
                  </a:solidFill>
                  <a:latin typeface="Times New Roman" panose="02020603050405020304" pitchFamily="18" charset="0"/>
                  <a:ea typeface="仿宋_GB2312" panose="02010609030101010101" pitchFamily="49" charset="-122"/>
                </a:rPr>
                <a:t>)</a:t>
              </a:r>
              <a:r>
                <a:rPr kumimoji="1" lang="zh-CN" altLang="en-US" sz="2400" b="1">
                  <a:solidFill>
                    <a:srgbClr val="006600"/>
                  </a:solidFill>
                  <a:latin typeface="Times New Roman" panose="02020603050405020304" pitchFamily="18" charset="0"/>
                  <a:ea typeface="仿宋_GB2312" panose="02010609030101010101" pitchFamily="49" charset="-122"/>
                </a:rPr>
                <a:t>。</a:t>
              </a:r>
              <a:endParaRPr kumimoji="1" lang="zh-CN" altLang="en-US" sz="2400" b="1">
                <a:solidFill>
                  <a:srgbClr val="006600"/>
                </a:solidFill>
                <a:latin typeface="Times New Roman" panose="02020603050405020304" pitchFamily="18" charset="0"/>
                <a:ea typeface="仿宋_GB2312" panose="02010609030101010101" pitchFamily="49" charset="-122"/>
              </a:endParaRPr>
            </a:p>
          </p:txBody>
        </p:sp>
        <p:graphicFrame>
          <p:nvGraphicFramePr>
            <p:cNvPr id="176143" name="Object 15"/>
            <p:cNvGraphicFramePr>
              <a:graphicFrameLocks noChangeAspect="1"/>
            </p:cNvGraphicFramePr>
            <p:nvPr/>
          </p:nvGraphicFramePr>
          <p:xfrm>
            <a:off x="3600" y="2496"/>
            <a:ext cx="336" cy="240"/>
          </p:xfrm>
          <a:graphic>
            <a:graphicData uri="http://schemas.openxmlformats.org/presentationml/2006/ole">
              <mc:AlternateContent xmlns:mc="http://schemas.openxmlformats.org/markup-compatibility/2006">
                <mc:Choice xmlns:v="urn:schemas-microsoft-com:vml" Requires="v">
                  <p:oleObj spid="_x0000_s4" name="Equation" r:id="rId6" imgW="495300" imgH="355600" progId="Equation.3">
                    <p:embed/>
                  </p:oleObj>
                </mc:Choice>
                <mc:Fallback>
                  <p:oleObj name="Equation" r:id="rId6" imgW="495300" imgH="3556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0" y="2496"/>
                          <a:ext cx="336" cy="240"/>
                        </a:xfrm>
                        <a:prstGeom prst="rect">
                          <a:avLst/>
                        </a:prstGeom>
                        <a:solidFill>
                          <a:srgbClr val="008000"/>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 name="灯片编号占位符 4"/>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6140"/>
                                        </p:tgtEl>
                                        <p:attrNameLst>
                                          <p:attrName>style.visibility</p:attrName>
                                        </p:attrNameLst>
                                      </p:cBhvr>
                                      <p:to>
                                        <p:strVal val="visible"/>
                                      </p:to>
                                    </p:set>
                                    <p:animEffect transition="in" filter="dissolve">
                                      <p:cBhvr>
                                        <p:cTn id="7" dur="500"/>
                                        <p:tgtEl>
                                          <p:spTgt spid="176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161" name="Group 9"/>
          <p:cNvGrpSpPr/>
          <p:nvPr/>
        </p:nvGrpSpPr>
        <p:grpSpPr bwMode="auto">
          <a:xfrm>
            <a:off x="1042988" y="692150"/>
            <a:ext cx="7543800" cy="4984750"/>
            <a:chOff x="441" y="653"/>
            <a:chExt cx="4752" cy="3140"/>
          </a:xfrm>
        </p:grpSpPr>
        <p:sp>
          <p:nvSpPr>
            <p:cNvPr id="177156" name="Rectangle 4"/>
            <p:cNvSpPr>
              <a:spLocks noChangeArrowheads="1"/>
            </p:cNvSpPr>
            <p:nvPr/>
          </p:nvSpPr>
          <p:spPr bwMode="auto">
            <a:xfrm>
              <a:off x="441" y="653"/>
              <a:ext cx="19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kumimoji="1" lang="zh-CN" altLang="en-US" sz="2400" b="1">
                  <a:solidFill>
                    <a:srgbClr val="9900CC"/>
                  </a:solidFill>
                  <a:latin typeface="Times New Roman" panose="02020603050405020304" pitchFamily="18" charset="0"/>
                  <a:ea typeface="仿宋_GB2312" panose="02010609030101010101" pitchFamily="49" charset="-122"/>
                </a:rPr>
                <a:t>这个算法应用广泛：</a:t>
              </a:r>
              <a:endParaRPr kumimoji="1" lang="zh-CN" altLang="en-US" sz="2400" b="1">
                <a:solidFill>
                  <a:srgbClr val="9900CC"/>
                </a:solidFill>
                <a:latin typeface="Times New Roman" panose="02020603050405020304" pitchFamily="18" charset="0"/>
                <a:ea typeface="仿宋_GB2312" panose="02010609030101010101" pitchFamily="49" charset="-122"/>
              </a:endParaRPr>
            </a:p>
          </p:txBody>
        </p:sp>
        <p:sp>
          <p:nvSpPr>
            <p:cNvPr id="177157" name="Text Box 5"/>
            <p:cNvSpPr txBox="1">
              <a:spLocks noChangeArrowheads="1"/>
            </p:cNvSpPr>
            <p:nvPr/>
          </p:nvSpPr>
          <p:spPr bwMode="auto">
            <a:xfrm>
              <a:off x="825" y="1037"/>
              <a:ext cx="37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2400" b="1">
                  <a:solidFill>
                    <a:schemeClr val="accent2"/>
                  </a:solidFill>
                  <a:latin typeface="Times New Roman" panose="02020603050405020304" pitchFamily="18" charset="0"/>
                  <a:ea typeface="仿宋_GB2312" panose="02010609030101010101" pitchFamily="49" charset="-122"/>
                </a:rPr>
                <a:t>寻找最大值，最小值，平均值，下棋，</a:t>
              </a:r>
              <a:r>
                <a:rPr kumimoji="1" lang="en-US" altLang="zh-CN" sz="2400" b="1">
                  <a:solidFill>
                    <a:schemeClr val="accent2"/>
                  </a:solidFill>
                  <a:latin typeface="Times New Roman" panose="02020603050405020304" pitchFamily="18" charset="0"/>
                  <a:ea typeface="仿宋_GB2312" panose="02010609030101010101" pitchFamily="49" charset="-122"/>
                </a:rPr>
                <a:t>……</a:t>
              </a:r>
              <a:endParaRPr kumimoji="1" lang="en-US" altLang="zh-CN" sz="2400" b="1">
                <a:solidFill>
                  <a:schemeClr val="accent2"/>
                </a:solidFill>
                <a:latin typeface="Times New Roman" panose="02020603050405020304" pitchFamily="18" charset="0"/>
                <a:ea typeface="仿宋_GB2312" panose="02010609030101010101" pitchFamily="49" charset="-122"/>
              </a:endParaRPr>
            </a:p>
          </p:txBody>
        </p:sp>
        <p:sp>
          <p:nvSpPr>
            <p:cNvPr id="177158" name="Text Box 6"/>
            <p:cNvSpPr txBox="1">
              <a:spLocks noChangeArrowheads="1"/>
            </p:cNvSpPr>
            <p:nvPr/>
          </p:nvSpPr>
          <p:spPr bwMode="auto">
            <a:xfrm>
              <a:off x="489" y="1421"/>
              <a:ext cx="4704" cy="1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solidFill>
                    <a:srgbClr val="FFFFCC"/>
                  </a:solidFill>
                  <a:latin typeface="Times New Roman" panose="02020603050405020304" pitchFamily="18" charset="0"/>
                  <a:ea typeface="仿宋_GB2312" panose="02010609030101010101" pitchFamily="49" charset="-122"/>
                </a:rPr>
                <a:t>        </a:t>
              </a:r>
              <a:r>
                <a:rPr kumimoji="1" lang="zh-CN" altLang="en-US" sz="2400" b="1">
                  <a:solidFill>
                    <a:schemeClr val="accent2"/>
                  </a:solidFill>
                  <a:latin typeface="Times New Roman" panose="02020603050405020304" pitchFamily="18" charset="0"/>
                  <a:ea typeface="仿宋_GB2312" panose="02010609030101010101" pitchFamily="49" charset="-122"/>
                </a:rPr>
                <a:t>例</a:t>
              </a:r>
              <a:r>
                <a:rPr kumimoji="1" lang="en-US" altLang="zh-CN" sz="2400" b="1">
                  <a:solidFill>
                    <a:schemeClr val="accent2"/>
                  </a:solidFill>
                  <a:latin typeface="Times New Roman" panose="02020603050405020304" pitchFamily="18" charset="0"/>
                  <a:ea typeface="仿宋_GB2312" panose="02010609030101010101" pitchFamily="49" charset="-122"/>
                </a:rPr>
                <a:t>:</a:t>
              </a:r>
              <a:r>
                <a:rPr kumimoji="1" lang="zh-CN" altLang="en-US" sz="2400" b="1">
                  <a:solidFill>
                    <a:schemeClr val="accent2"/>
                  </a:solidFill>
                  <a:latin typeface="Times New Roman" panose="02020603050405020304" pitchFamily="18" charset="0"/>
                  <a:ea typeface="仿宋_GB2312" panose="02010609030101010101" pitchFamily="49" charset="-122"/>
                </a:rPr>
                <a:t>可以有效地攻破</a:t>
              </a:r>
              <a:r>
                <a:rPr kumimoji="1" lang="en-US" altLang="zh-CN" sz="2400" b="1">
                  <a:solidFill>
                    <a:schemeClr val="accent2"/>
                  </a:solidFill>
                  <a:latin typeface="Times New Roman" panose="02020603050405020304" pitchFamily="18" charset="0"/>
                  <a:ea typeface="仿宋_GB2312" panose="02010609030101010101" pitchFamily="49" charset="-122"/>
                </a:rPr>
                <a:t>DES(the data encryption standard)</a:t>
              </a:r>
              <a:r>
                <a:rPr kumimoji="1" lang="zh-CN" altLang="en-US" sz="2400" b="1">
                  <a:solidFill>
                    <a:schemeClr val="accent2"/>
                  </a:solidFill>
                  <a:latin typeface="Times New Roman" panose="02020603050405020304" pitchFamily="18" charset="0"/>
                  <a:ea typeface="仿宋_GB2312" panose="02010609030101010101" pitchFamily="49" charset="-122"/>
                </a:rPr>
                <a:t>密码体系</a:t>
              </a:r>
              <a:r>
                <a:rPr kumimoji="1" lang="en-US" altLang="zh-CN" sz="2400" b="1">
                  <a:solidFill>
                    <a:schemeClr val="accent2"/>
                  </a:solidFill>
                  <a:latin typeface="Times New Roman" panose="02020603050405020304" pitchFamily="18" charset="0"/>
                  <a:ea typeface="仿宋_GB2312" panose="02010609030101010101" pitchFamily="49" charset="-122"/>
                </a:rPr>
                <a:t>(</a:t>
              </a:r>
              <a:r>
                <a:rPr kumimoji="1" lang="zh-CN" altLang="en-US" sz="2400" b="1">
                  <a:solidFill>
                    <a:schemeClr val="accent2"/>
                  </a:solidFill>
                  <a:latin typeface="Times New Roman" panose="02020603050405020304" pitchFamily="18" charset="0"/>
                  <a:ea typeface="仿宋_GB2312" panose="02010609030101010101" pitchFamily="49" charset="-122"/>
                </a:rPr>
                <a:t>问题的本质是从</a:t>
              </a:r>
              <a:r>
                <a:rPr kumimoji="1" lang="en-US" altLang="zh-CN" sz="2400" b="1">
                  <a:solidFill>
                    <a:schemeClr val="accent2"/>
                  </a:solidFill>
                  <a:latin typeface="Times New Roman" panose="02020603050405020304" pitchFamily="18" charset="0"/>
                  <a:ea typeface="仿宋_GB2312" panose="02010609030101010101" pitchFamily="49" charset="-122"/>
                </a:rPr>
                <a:t>2</a:t>
              </a:r>
              <a:r>
                <a:rPr kumimoji="1" lang="en-US" altLang="zh-CN" sz="2400" b="1" baseline="30000">
                  <a:solidFill>
                    <a:schemeClr val="accent2"/>
                  </a:solidFill>
                  <a:latin typeface="Times New Roman" panose="02020603050405020304" pitchFamily="18" charset="0"/>
                  <a:ea typeface="仿宋_GB2312" panose="02010609030101010101" pitchFamily="49" charset="-122"/>
                </a:rPr>
                <a:t>56</a:t>
              </a:r>
              <a:r>
                <a:rPr kumimoji="1" lang="en-US" altLang="zh-CN" sz="2400" b="1">
                  <a:solidFill>
                    <a:schemeClr val="accent2"/>
                  </a:solidFill>
                  <a:latin typeface="Times New Roman" panose="02020603050405020304" pitchFamily="18" charset="0"/>
                  <a:ea typeface="仿宋_GB2312" panose="02010609030101010101" pitchFamily="49" charset="-122"/>
                </a:rPr>
                <a:t>=7×10</a:t>
              </a:r>
              <a:r>
                <a:rPr kumimoji="1" lang="en-US" altLang="zh-CN" sz="2400" b="1" baseline="30000">
                  <a:solidFill>
                    <a:schemeClr val="accent2"/>
                  </a:solidFill>
                  <a:latin typeface="Times New Roman" panose="02020603050405020304" pitchFamily="18" charset="0"/>
                  <a:ea typeface="仿宋_GB2312" panose="02010609030101010101" pitchFamily="49" charset="-122"/>
                </a:rPr>
                <a:t>16</a:t>
              </a:r>
              <a:r>
                <a:rPr kumimoji="1" lang="zh-CN" altLang="en-US" sz="2400" b="1">
                  <a:solidFill>
                    <a:schemeClr val="accent2"/>
                  </a:solidFill>
                  <a:latin typeface="Times New Roman" panose="02020603050405020304" pitchFamily="18" charset="0"/>
                  <a:ea typeface="仿宋_GB2312" panose="02010609030101010101" pitchFamily="49" charset="-122"/>
                </a:rPr>
                <a:t>可能的密钥中寻找一个正确的密钥</a:t>
              </a:r>
              <a:r>
                <a:rPr kumimoji="1" lang="en-US" altLang="zh-CN" sz="2400" b="1">
                  <a:solidFill>
                    <a:schemeClr val="accent2"/>
                  </a:solidFill>
                  <a:latin typeface="Times New Roman" panose="02020603050405020304" pitchFamily="18" charset="0"/>
                  <a:ea typeface="仿宋_GB2312" panose="02010609030101010101" pitchFamily="49" charset="-122"/>
                </a:rPr>
                <a:t>)</a:t>
              </a:r>
              <a:r>
                <a:rPr kumimoji="1" lang="zh-CN" altLang="en-US" sz="2400" b="1">
                  <a:solidFill>
                    <a:schemeClr val="accent2"/>
                  </a:solidFill>
                  <a:latin typeface="Times New Roman" panose="02020603050405020304" pitchFamily="18" charset="0"/>
                  <a:ea typeface="仿宋_GB2312" panose="02010609030101010101" pitchFamily="49" charset="-122"/>
                </a:rPr>
                <a:t>。</a:t>
              </a:r>
              <a:endParaRPr kumimoji="1" lang="zh-CN" altLang="en-US" sz="2400" b="1">
                <a:solidFill>
                  <a:schemeClr val="accent2"/>
                </a:solidFill>
                <a:latin typeface="Times New Roman" panose="02020603050405020304" pitchFamily="18" charset="0"/>
                <a:ea typeface="仿宋_GB2312" panose="02010609030101010101" pitchFamily="49" charset="-122"/>
              </a:endParaRPr>
            </a:p>
            <a:p>
              <a:pPr eaLnBrk="1" hangingPunct="1">
                <a:spcBef>
                  <a:spcPct val="50000"/>
                </a:spcBef>
              </a:pPr>
              <a:r>
                <a:rPr kumimoji="1" lang="zh-CN" altLang="en-US" sz="2400" b="1">
                  <a:solidFill>
                    <a:srgbClr val="FFFFCC"/>
                  </a:solidFill>
                  <a:latin typeface="Times New Roman" panose="02020603050405020304" pitchFamily="18" charset="0"/>
                  <a:ea typeface="仿宋_GB2312" panose="02010609030101010101" pitchFamily="49" charset="-122"/>
                </a:rPr>
                <a:t>        </a:t>
              </a:r>
              <a:r>
                <a:rPr kumimoji="1" lang="zh-CN" altLang="en-US" sz="2400" b="1">
                  <a:solidFill>
                    <a:schemeClr val="accent2"/>
                  </a:solidFill>
                  <a:latin typeface="Times New Roman" panose="02020603050405020304" pitchFamily="18" charset="0"/>
                  <a:ea typeface="仿宋_GB2312" panose="02010609030101010101" pitchFamily="49" charset="-122"/>
                </a:rPr>
                <a:t>若以每秒</a:t>
              </a:r>
              <a:r>
                <a:rPr kumimoji="1" lang="en-US" altLang="zh-CN" sz="2400" b="1">
                  <a:solidFill>
                    <a:schemeClr val="accent2"/>
                  </a:solidFill>
                  <a:latin typeface="Times New Roman" panose="02020603050405020304" pitchFamily="18" charset="0"/>
                  <a:ea typeface="仿宋_GB2312" panose="02010609030101010101" pitchFamily="49" charset="-122"/>
                </a:rPr>
                <a:t>10</a:t>
              </a:r>
              <a:r>
                <a:rPr kumimoji="1" lang="en-US" altLang="zh-CN" sz="2400" b="1" baseline="30000">
                  <a:solidFill>
                    <a:schemeClr val="accent2"/>
                  </a:solidFill>
                  <a:latin typeface="Times New Roman" panose="02020603050405020304" pitchFamily="18" charset="0"/>
                  <a:ea typeface="仿宋_GB2312" panose="02010609030101010101" pitchFamily="49" charset="-122"/>
                </a:rPr>
                <a:t>6</a:t>
              </a:r>
              <a:r>
                <a:rPr kumimoji="1" lang="zh-CN" altLang="en-US" sz="2400" b="1">
                  <a:solidFill>
                    <a:schemeClr val="accent2"/>
                  </a:solidFill>
                  <a:latin typeface="Times New Roman" panose="02020603050405020304" pitchFamily="18" charset="0"/>
                  <a:ea typeface="仿宋_GB2312" panose="02010609030101010101" pitchFamily="49" charset="-122"/>
                </a:rPr>
                <a:t>次的运算速率，经典计算机要花</a:t>
              </a:r>
              <a:r>
                <a:rPr kumimoji="1" lang="en-US" altLang="zh-CN" sz="2400" b="1">
                  <a:solidFill>
                    <a:schemeClr val="accent2"/>
                  </a:solidFill>
                  <a:latin typeface="Times New Roman" panose="02020603050405020304" pitchFamily="18" charset="0"/>
                  <a:ea typeface="仿宋_GB2312" panose="02010609030101010101" pitchFamily="49" charset="-122"/>
                </a:rPr>
                <a:t>1000</a:t>
              </a:r>
              <a:r>
                <a:rPr kumimoji="1" lang="zh-CN" altLang="en-US" sz="2400" b="1">
                  <a:solidFill>
                    <a:schemeClr val="accent2"/>
                  </a:solidFill>
                  <a:latin typeface="Times New Roman" panose="02020603050405020304" pitchFamily="18" charset="0"/>
                  <a:ea typeface="仿宋_GB2312" panose="02010609030101010101" pitchFamily="49" charset="-122"/>
                </a:rPr>
                <a:t>年，而量子计算机采用</a:t>
              </a:r>
              <a:r>
                <a:rPr kumimoji="1" lang="en-US" altLang="zh-CN" sz="2400" b="1">
                  <a:solidFill>
                    <a:schemeClr val="accent2"/>
                  </a:solidFill>
                  <a:latin typeface="Times New Roman" panose="02020603050405020304" pitchFamily="18" charset="0"/>
                  <a:ea typeface="仿宋_GB2312" panose="02010609030101010101" pitchFamily="49" charset="-122"/>
                </a:rPr>
                <a:t>Grove</a:t>
              </a:r>
              <a:r>
                <a:rPr kumimoji="1" lang="zh-CN" altLang="en-US" sz="2400" b="1">
                  <a:solidFill>
                    <a:schemeClr val="accent2"/>
                  </a:solidFill>
                  <a:latin typeface="Times New Roman" panose="02020603050405020304" pitchFamily="18" charset="0"/>
                  <a:ea typeface="仿宋_GB2312" panose="02010609030101010101" pitchFamily="49" charset="-122"/>
                </a:rPr>
                <a:t>算法，则低于</a:t>
              </a:r>
              <a:r>
                <a:rPr kumimoji="1" lang="en-US" altLang="zh-CN" sz="2400" b="1">
                  <a:solidFill>
                    <a:schemeClr val="accent2"/>
                  </a:solidFill>
                  <a:latin typeface="Times New Roman" panose="02020603050405020304" pitchFamily="18" charset="0"/>
                  <a:ea typeface="仿宋_GB2312" panose="02010609030101010101" pitchFamily="49" charset="-122"/>
                </a:rPr>
                <a:t>4</a:t>
              </a:r>
              <a:r>
                <a:rPr kumimoji="1" lang="zh-CN" altLang="en-US" sz="2400" b="1">
                  <a:solidFill>
                    <a:schemeClr val="accent2"/>
                  </a:solidFill>
                  <a:latin typeface="Times New Roman" panose="02020603050405020304" pitchFamily="18" charset="0"/>
                  <a:ea typeface="仿宋_GB2312" panose="02010609030101010101" pitchFamily="49" charset="-122"/>
                </a:rPr>
                <a:t>分钟。</a:t>
              </a:r>
              <a:endParaRPr kumimoji="1" lang="zh-CN" altLang="en-US" sz="2400" b="1">
                <a:solidFill>
                  <a:schemeClr val="accent2"/>
                </a:solidFill>
                <a:latin typeface="Times New Roman" panose="02020603050405020304" pitchFamily="18" charset="0"/>
                <a:ea typeface="仿宋_GB2312" panose="02010609030101010101" pitchFamily="49" charset="-122"/>
              </a:endParaRPr>
            </a:p>
          </p:txBody>
        </p:sp>
        <p:pic>
          <p:nvPicPr>
            <p:cNvPr id="177159"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61" y="2765"/>
              <a:ext cx="1488" cy="1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7160" name="Text Box 8"/>
            <p:cNvSpPr txBox="1">
              <a:spLocks noChangeArrowheads="1"/>
            </p:cNvSpPr>
            <p:nvPr/>
          </p:nvSpPr>
          <p:spPr bwMode="auto">
            <a:xfrm>
              <a:off x="537" y="2813"/>
              <a:ext cx="3072"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en-US" altLang="zh-CN" sz="2400">
                  <a:solidFill>
                    <a:srgbClr val="FFFFFF"/>
                  </a:solidFill>
                  <a:latin typeface="Times New Roman" panose="02020603050405020304" pitchFamily="18" charset="0"/>
                  <a:ea typeface="仿宋_GB2312" panose="02010609030101010101" pitchFamily="49" charset="-122"/>
                </a:rPr>
                <a:t>        </a:t>
              </a:r>
              <a:r>
                <a:rPr kumimoji="1" lang="en-US" altLang="zh-CN" sz="2800" b="1">
                  <a:solidFill>
                    <a:schemeClr val="accent2"/>
                  </a:solidFill>
                  <a:latin typeface="仿宋_GB2312" panose="02010609030101010101" pitchFamily="49" charset="-122"/>
                  <a:ea typeface="仿宋_GB2312" panose="02010609030101010101" pitchFamily="49" charset="-122"/>
                </a:rPr>
                <a:t>Grove</a:t>
              </a:r>
              <a:r>
                <a:rPr kumimoji="1" lang="zh-CN" altLang="en-US" sz="2800" b="1">
                  <a:solidFill>
                    <a:schemeClr val="accent2"/>
                  </a:solidFill>
                  <a:latin typeface="仿宋_GB2312" panose="02010609030101010101" pitchFamily="49" charset="-122"/>
                  <a:ea typeface="仿宋_GB2312" panose="02010609030101010101" pitchFamily="49" charset="-122"/>
                </a:rPr>
                <a:t>算法：</a:t>
              </a:r>
              <a:r>
                <a:rPr kumimoji="1" lang="zh-CN" altLang="en-US" sz="2800" b="1">
                  <a:solidFill>
                    <a:schemeClr val="accent2"/>
                  </a:solidFill>
                  <a:latin typeface="Times New Roman" panose="02020603050405020304"/>
                  <a:ea typeface="仿宋_GB2312" panose="02010609030101010101" pitchFamily="49" charset="-122"/>
                </a:rPr>
                <a:t>“</a:t>
              </a:r>
              <a:r>
                <a:rPr kumimoji="1" lang="zh-CN" altLang="en-US" sz="2800" b="1">
                  <a:solidFill>
                    <a:schemeClr val="accent2"/>
                  </a:solidFill>
                  <a:latin typeface="仿宋_GB2312" panose="02010609030101010101" pitchFamily="49" charset="-122"/>
                  <a:ea typeface="仿宋_GB2312" panose="02010609030101010101" pitchFamily="49" charset="-122"/>
                </a:rPr>
                <a:t>可以在稻草堆里发现一根针！</a:t>
              </a:r>
              <a:r>
                <a:rPr kumimoji="1" lang="zh-CN" altLang="en-US" sz="2800" b="1">
                  <a:solidFill>
                    <a:schemeClr val="accent2"/>
                  </a:solidFill>
                  <a:latin typeface="Times New Roman" panose="02020603050405020304"/>
                  <a:ea typeface="仿宋_GB2312" panose="02010609030101010101" pitchFamily="49" charset="-122"/>
                </a:rPr>
                <a:t>”</a:t>
              </a:r>
              <a:endParaRPr kumimoji="1" lang="zh-CN" altLang="en-US" sz="2800" b="1">
                <a:solidFill>
                  <a:schemeClr val="accent2"/>
                </a:solidFill>
                <a:latin typeface="仿宋_GB2312" panose="02010609030101010101" pitchFamily="49" charset="-122"/>
                <a:ea typeface="仿宋_GB2312" panose="02010609030101010101" pitchFamily="49" charset="-122"/>
              </a:endParaRPr>
            </a:p>
          </p:txBody>
        </p:sp>
      </p:grpSp>
      <p:sp>
        <p:nvSpPr>
          <p:cNvPr id="177162" name="Rectangle 10"/>
          <p:cNvSpPr>
            <a:spLocks noChangeArrowheads="1"/>
          </p:cNvSpPr>
          <p:nvPr/>
        </p:nvSpPr>
        <p:spPr bwMode="auto">
          <a:xfrm>
            <a:off x="1187450" y="5143500"/>
            <a:ext cx="495935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pPr>
            <a:r>
              <a:rPr kumimoji="1" lang="en-US" altLang="zh-CN" sz="1800" b="1">
                <a:solidFill>
                  <a:srgbClr val="0066FF"/>
                </a:solidFill>
              </a:rPr>
              <a:t>          </a:t>
            </a:r>
            <a:r>
              <a:rPr kumimoji="1" lang="zh-CN" altLang="en-US" sz="2400" b="1">
                <a:solidFill>
                  <a:schemeClr val="accent2"/>
                </a:solidFill>
                <a:latin typeface="仿宋_GB2312" panose="02010609030101010101" pitchFamily="49" charset="-122"/>
                <a:ea typeface="仿宋_GB2312" panose="02010609030101010101" pitchFamily="49" charset="-122"/>
              </a:rPr>
              <a:t>目前，</a:t>
            </a:r>
            <a:r>
              <a:rPr kumimoji="1" lang="en-US" altLang="zh-CN" sz="2400" b="1">
                <a:solidFill>
                  <a:schemeClr val="accent2"/>
                </a:solidFill>
                <a:latin typeface="仿宋_GB2312" panose="02010609030101010101" pitchFamily="49" charset="-122"/>
                <a:ea typeface="仿宋_GB2312" panose="02010609030101010101" pitchFamily="49" charset="-122"/>
              </a:rPr>
              <a:t>Grove</a:t>
            </a:r>
            <a:r>
              <a:rPr kumimoji="1" lang="zh-CN" altLang="en-US" sz="2400" b="1">
                <a:solidFill>
                  <a:schemeClr val="accent2"/>
                </a:solidFill>
                <a:latin typeface="仿宋_GB2312" panose="02010609030101010101" pitchFamily="49" charset="-122"/>
                <a:ea typeface="仿宋_GB2312" panose="02010609030101010101" pitchFamily="49" charset="-122"/>
              </a:rPr>
              <a:t>算法已经在核磁共</a:t>
            </a:r>
            <a:endParaRPr kumimoji="1" lang="zh-CN" altLang="en-US" sz="2400" b="1">
              <a:solidFill>
                <a:schemeClr val="accent2"/>
              </a:solidFill>
              <a:latin typeface="仿宋_GB2312" panose="02010609030101010101" pitchFamily="49" charset="-122"/>
              <a:ea typeface="仿宋_GB2312" panose="02010609030101010101" pitchFamily="49" charset="-122"/>
            </a:endParaRPr>
          </a:p>
          <a:p>
            <a:pPr eaLnBrk="1" hangingPunct="1">
              <a:spcBef>
                <a:spcPct val="50000"/>
              </a:spcBef>
            </a:pPr>
            <a:r>
              <a:rPr kumimoji="1" lang="zh-CN" altLang="en-US" sz="2400" b="1">
                <a:solidFill>
                  <a:schemeClr val="accent2"/>
                </a:solidFill>
                <a:latin typeface="仿宋_GB2312" panose="02010609030101010101" pitchFamily="49" charset="-122"/>
                <a:ea typeface="仿宋_GB2312" panose="02010609030101010101" pitchFamily="49" charset="-122"/>
              </a:rPr>
              <a:t>振和光学系统中实现。</a:t>
            </a:r>
            <a:endParaRPr kumimoji="1" lang="zh-CN" altLang="en-US" sz="2400" b="1">
              <a:solidFill>
                <a:schemeClr val="accent2"/>
              </a:solidFill>
              <a:latin typeface="仿宋_GB2312" panose="02010609030101010101" pitchFamily="49" charset="-122"/>
              <a:ea typeface="仿宋_GB2312" panose="02010609030101010101" pitchFamily="49" charset="-122"/>
            </a:endParaRPr>
          </a:p>
        </p:txBody>
      </p:sp>
      <p:sp>
        <p:nvSpPr>
          <p:cNvPr id="2" name="灯片编号占位符 1"/>
          <p:cNvSpPr>
            <a:spLocks noGrp="1"/>
          </p:cNvSpPr>
          <p:nvPr>
            <p:ph type="sldNum" sz="quarter" idx="12"/>
          </p:nvPr>
        </p:nvSpPr>
        <p:spPr/>
        <p:txBody>
          <a:bodyPr/>
          <a:lstStyle/>
          <a:p>
            <a:fld id="{F896D86A-F7FD-4BE6-9011-E6038FF055D7}"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412776"/>
            <a:ext cx="8640960" cy="4370427"/>
          </a:xfrm>
          <a:prstGeom prst="rect">
            <a:avLst/>
          </a:prstGeom>
        </p:spPr>
        <p:txBody>
          <a:bodyPr wrap="square">
            <a:spAutoFit/>
          </a:bodyPr>
          <a:lstStyle/>
          <a:p>
            <a:r>
              <a:rPr lang="en-US" altLang="zh-CN" sz="2000" dirty="0">
                <a:solidFill>
                  <a:srgbClr val="333333"/>
                </a:solidFill>
                <a:latin typeface="Arial" panose="020B0604020202020204" pitchFamily="34" charset="0"/>
              </a:rPr>
              <a:t>Grover</a:t>
            </a:r>
            <a:r>
              <a:rPr lang="zh-CN" altLang="en-US" sz="2000" dirty="0">
                <a:solidFill>
                  <a:srgbClr val="333333"/>
                </a:solidFill>
                <a:latin typeface="Arial" panose="020B0604020202020204" pitchFamily="34" charset="0"/>
              </a:rPr>
              <a:t>提出了一种算法</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利用量子态的纠缠特性和量子并行计算原理</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可以用最多</a:t>
            </a:r>
            <a:r>
              <a:rPr lang="en-US" altLang="zh-CN" sz="2000" dirty="0">
                <a:solidFill>
                  <a:srgbClr val="333333"/>
                </a:solidFill>
                <a:latin typeface="Arial" panose="020B0604020202020204" pitchFamily="34" charset="0"/>
              </a:rPr>
              <a:t>n</a:t>
            </a:r>
            <a:r>
              <a:rPr lang="zh-CN" altLang="en-US" sz="2000" dirty="0">
                <a:solidFill>
                  <a:srgbClr val="333333"/>
                </a:solidFill>
                <a:latin typeface="Arial" panose="020B0604020202020204" pitchFamily="34" charset="0"/>
              </a:rPr>
              <a:t>步的搜索寻找到所需项。</a:t>
            </a:r>
            <a:endParaRPr lang="en-US" altLang="zh-CN" sz="2000" dirty="0">
              <a:solidFill>
                <a:srgbClr val="333333"/>
              </a:solidFill>
              <a:latin typeface="Arial" panose="020B0604020202020204" pitchFamily="34" charset="0"/>
            </a:endParaRPr>
          </a:p>
          <a:p>
            <a:r>
              <a:rPr lang="en-US" altLang="zh-CN" sz="2000" b="1" dirty="0">
                <a:solidFill>
                  <a:srgbClr val="333333"/>
                </a:solidFill>
                <a:latin typeface="Arial" panose="020B0604020202020204" pitchFamily="34" charset="0"/>
              </a:rPr>
              <a:t>Grover</a:t>
            </a:r>
            <a:r>
              <a:rPr lang="zh-CN" altLang="en-US" sz="2000" b="1" dirty="0">
                <a:solidFill>
                  <a:srgbClr val="333333"/>
                </a:solidFill>
                <a:latin typeface="Arial" panose="020B0604020202020204" pitchFamily="34" charset="0"/>
              </a:rPr>
              <a:t>算法的思想极为简单</a:t>
            </a:r>
            <a:r>
              <a:rPr lang="en-US" altLang="zh-CN" sz="2000" b="1" dirty="0">
                <a:solidFill>
                  <a:srgbClr val="333333"/>
                </a:solidFill>
                <a:latin typeface="Arial" panose="020B0604020202020204" pitchFamily="34" charset="0"/>
              </a:rPr>
              <a:t>,</a:t>
            </a:r>
            <a:r>
              <a:rPr lang="zh-CN" altLang="en-US" sz="2000" b="1" dirty="0">
                <a:solidFill>
                  <a:srgbClr val="333333"/>
                </a:solidFill>
                <a:latin typeface="Arial" panose="020B0604020202020204" pitchFamily="34" charset="0"/>
              </a:rPr>
              <a:t>可用一句话“振幅平均后翻转”来概括。具体说来是以下几个基本步骤</a:t>
            </a:r>
            <a:r>
              <a:rPr lang="en-US" altLang="zh-CN" sz="2000" b="1" dirty="0">
                <a:solidFill>
                  <a:srgbClr val="333333"/>
                </a:solidFill>
                <a:latin typeface="Arial" panose="020B0604020202020204" pitchFamily="34" charset="0"/>
              </a:rPr>
              <a:t>:</a:t>
            </a:r>
            <a:br>
              <a:rPr lang="zh-CN" altLang="en-US" sz="2000" dirty="0"/>
            </a:br>
            <a:r>
              <a:rPr lang="zh-CN" altLang="en-US" sz="2000" dirty="0">
                <a:solidFill>
                  <a:srgbClr val="333333"/>
                </a:solidFill>
                <a:latin typeface="Arial" panose="020B0604020202020204" pitchFamily="34" charset="0"/>
              </a:rPr>
              <a:t>①初态的制备。运用</a:t>
            </a:r>
            <a:r>
              <a:rPr lang="en-US" altLang="zh-CN" sz="2000" dirty="0" err="1">
                <a:solidFill>
                  <a:srgbClr val="333333"/>
                </a:solidFill>
                <a:latin typeface="Arial" panose="020B0604020202020204" pitchFamily="34" charset="0"/>
              </a:rPr>
              <a:t>Hadamard</a:t>
            </a:r>
            <a:r>
              <a:rPr lang="zh-CN" altLang="en-US" sz="2000" dirty="0">
                <a:solidFill>
                  <a:srgbClr val="333333"/>
                </a:solidFill>
                <a:latin typeface="Arial" panose="020B0604020202020204" pitchFamily="34" charset="0"/>
              </a:rPr>
              <a:t>门将处于态</a:t>
            </a:r>
            <a:r>
              <a:rPr lang="en-US" altLang="zh-CN" sz="2000" dirty="0">
                <a:solidFill>
                  <a:srgbClr val="333333"/>
                </a:solidFill>
                <a:latin typeface="Arial" panose="020B0604020202020204" pitchFamily="34" charset="0"/>
              </a:rPr>
              <a:t>|0&gt;</a:t>
            </a:r>
            <a:r>
              <a:rPr lang="zh-CN" altLang="en-US" sz="2000" dirty="0">
                <a:solidFill>
                  <a:srgbClr val="333333"/>
                </a:solidFill>
                <a:latin typeface="Arial" panose="020B0604020202020204" pitchFamily="34" charset="0"/>
              </a:rPr>
              <a:t>和</a:t>
            </a:r>
            <a:r>
              <a:rPr lang="en-US" altLang="zh-CN" sz="2000" dirty="0">
                <a:solidFill>
                  <a:srgbClr val="333333"/>
                </a:solidFill>
                <a:latin typeface="Arial" panose="020B0604020202020204" pitchFamily="34" charset="0"/>
              </a:rPr>
              <a:t>|1&gt;</a:t>
            </a:r>
            <a:r>
              <a:rPr lang="zh-CN" altLang="en-US" sz="2000" dirty="0">
                <a:solidFill>
                  <a:srgbClr val="333333"/>
                </a:solidFill>
                <a:latin typeface="Arial" panose="020B0604020202020204" pitchFamily="34" charset="0"/>
              </a:rPr>
              <a:t>的各量子比特转化为等幅迭加态。</a:t>
            </a:r>
            <a:br>
              <a:rPr lang="zh-CN" altLang="en-US" sz="2000" dirty="0"/>
            </a:br>
            <a:r>
              <a:rPr lang="zh-CN" altLang="en-US" sz="2000" dirty="0">
                <a:solidFill>
                  <a:srgbClr val="333333"/>
                </a:solidFill>
                <a:latin typeface="Arial" panose="020B0604020202020204" pitchFamily="34" charset="0"/>
              </a:rPr>
              <a:t>②设数据库为</a:t>
            </a:r>
            <a:r>
              <a:rPr lang="en-US" altLang="zh-CN" sz="2000" dirty="0">
                <a:solidFill>
                  <a:srgbClr val="333333"/>
                </a:solidFill>
                <a:latin typeface="Arial" panose="020B0604020202020204" pitchFamily="34" charset="0"/>
              </a:rPr>
              <a:t>T[1,2,,N]</a:t>
            </a:r>
            <a:r>
              <a:rPr lang="zh-CN" altLang="en-US" sz="2000" dirty="0">
                <a:solidFill>
                  <a:srgbClr val="333333"/>
                </a:solidFill>
                <a:latin typeface="Arial" panose="020B0604020202020204" pitchFamily="34" charset="0"/>
              </a:rPr>
              <a:t>共</a:t>
            </a:r>
            <a:r>
              <a:rPr lang="en-US" altLang="zh-CN" sz="2000" dirty="0">
                <a:solidFill>
                  <a:srgbClr val="333333"/>
                </a:solidFill>
                <a:latin typeface="Arial" panose="020B0604020202020204" pitchFamily="34" charset="0"/>
              </a:rPr>
              <a:t>,n</a:t>
            </a:r>
            <a:r>
              <a:rPr lang="zh-CN" altLang="en-US" sz="2000" dirty="0">
                <a:solidFill>
                  <a:srgbClr val="333333"/>
                </a:solidFill>
                <a:latin typeface="Arial" panose="020B0604020202020204" pitchFamily="34" charset="0"/>
              </a:rPr>
              <a:t>项。设其中满足我们要求的那一项标记为</a:t>
            </a:r>
            <a:r>
              <a:rPr lang="en-US" altLang="zh-CN" sz="2000" dirty="0">
                <a:solidFill>
                  <a:srgbClr val="333333"/>
                </a:solidFill>
                <a:latin typeface="Arial" panose="020B0604020202020204" pitchFamily="34" charset="0"/>
              </a:rPr>
              <a:t>A</a:t>
            </a:r>
            <a:r>
              <a:rPr lang="zh-CN" altLang="en-US" sz="2000" dirty="0">
                <a:solidFill>
                  <a:srgbClr val="333333"/>
                </a:solidFill>
                <a:latin typeface="Arial" panose="020B0604020202020204" pitchFamily="34" charset="0"/>
              </a:rPr>
              <a:t>。于是在</a:t>
            </a:r>
            <a:r>
              <a:rPr lang="en-US" altLang="zh-CN" sz="2000" dirty="0">
                <a:solidFill>
                  <a:srgbClr val="333333"/>
                </a:solidFill>
                <a:latin typeface="Arial" panose="020B0604020202020204" pitchFamily="34" charset="0"/>
              </a:rPr>
              <a:t>T</a:t>
            </a:r>
            <a:r>
              <a:rPr lang="zh-CN" altLang="en-US" sz="2000" dirty="0">
                <a:solidFill>
                  <a:srgbClr val="333333"/>
                </a:solidFill>
                <a:latin typeface="Arial" panose="020B0604020202020204" pitchFamily="34" charset="0"/>
              </a:rPr>
              <a:t>中搜索</a:t>
            </a:r>
            <a:r>
              <a:rPr lang="en-US" altLang="zh-CN" sz="2000" dirty="0">
                <a:solidFill>
                  <a:srgbClr val="333333"/>
                </a:solidFill>
                <a:latin typeface="Arial" panose="020B0604020202020204" pitchFamily="34" charset="0"/>
              </a:rPr>
              <a:t>A</a:t>
            </a:r>
            <a:r>
              <a:rPr lang="zh-CN" altLang="en-US" sz="2000" dirty="0">
                <a:solidFill>
                  <a:srgbClr val="333333"/>
                </a:solidFill>
                <a:latin typeface="Arial" panose="020B0604020202020204" pitchFamily="34" charset="0"/>
              </a:rPr>
              <a:t>类似于求解一个单调函数的根。运用量子并行计算可以将</a:t>
            </a:r>
            <a:r>
              <a:rPr lang="en-US" altLang="zh-CN" sz="2000" dirty="0">
                <a:solidFill>
                  <a:srgbClr val="333333"/>
                </a:solidFill>
                <a:latin typeface="Arial" panose="020B0604020202020204" pitchFamily="34" charset="0"/>
              </a:rPr>
              <a:t>A</a:t>
            </a:r>
            <a:r>
              <a:rPr lang="zh-CN" altLang="en-US" sz="2000" dirty="0">
                <a:solidFill>
                  <a:srgbClr val="333333"/>
                </a:solidFill>
                <a:latin typeface="Arial" panose="020B0604020202020204" pitchFamily="34" charset="0"/>
              </a:rPr>
              <a:t>所在态的相位旋转</a:t>
            </a:r>
            <a:r>
              <a:rPr lang="en-US" altLang="zh-CN" sz="2000" dirty="0">
                <a:solidFill>
                  <a:srgbClr val="333333"/>
                </a:solidFill>
                <a:latin typeface="Arial" panose="020B0604020202020204" pitchFamily="34" charset="0"/>
              </a:rPr>
              <a:t>180°,</a:t>
            </a:r>
            <a:r>
              <a:rPr lang="zh-CN" altLang="en-US" sz="2000" dirty="0">
                <a:solidFill>
                  <a:srgbClr val="333333"/>
                </a:solidFill>
                <a:latin typeface="Arial" panose="020B0604020202020204" pitchFamily="34" charset="0"/>
              </a:rPr>
              <a:t>其余各态保持不变。即当</a:t>
            </a:r>
            <a:r>
              <a:rPr lang="en-US" altLang="zh-CN" sz="2000" dirty="0">
                <a:solidFill>
                  <a:srgbClr val="333333"/>
                </a:solidFill>
                <a:latin typeface="Arial" panose="020B0604020202020204" pitchFamily="34" charset="0"/>
              </a:rPr>
              <a:t>T[</a:t>
            </a:r>
            <a:r>
              <a:rPr lang="en-US" altLang="zh-CN" sz="2000" dirty="0" err="1">
                <a:solidFill>
                  <a:srgbClr val="333333"/>
                </a:solidFill>
                <a:latin typeface="Arial" panose="020B0604020202020204" pitchFamily="34" charset="0"/>
              </a:rPr>
              <a:t>i</a:t>
            </a:r>
            <a:r>
              <a:rPr lang="en-US" altLang="zh-CN" sz="2000" dirty="0">
                <a:solidFill>
                  <a:srgbClr val="333333"/>
                </a:solidFill>
                <a:latin typeface="Arial" panose="020B0604020202020204" pitchFamily="34" charset="0"/>
              </a:rPr>
              <a:t>]=A</a:t>
            </a:r>
            <a:r>
              <a:rPr lang="zh-CN" altLang="en-US" sz="2000" dirty="0">
                <a:solidFill>
                  <a:srgbClr val="333333"/>
                </a:solidFill>
                <a:latin typeface="Arial" panose="020B0604020202020204" pitchFamily="34" charset="0"/>
              </a:rPr>
              <a:t>时</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增加一个相位</a:t>
            </a:r>
            <a:r>
              <a:rPr lang="en-US" altLang="zh-CN" sz="2000" dirty="0" err="1">
                <a:solidFill>
                  <a:srgbClr val="333333"/>
                </a:solidFill>
                <a:latin typeface="Arial" panose="020B0604020202020204" pitchFamily="34" charset="0"/>
              </a:rPr>
              <a:t>ei</a:t>
            </a:r>
            <a:r>
              <a:rPr lang="en-US" altLang="zh-CN" sz="2000" dirty="0">
                <a:solidFill>
                  <a:srgbClr val="333333"/>
                </a:solidFill>
                <a:latin typeface="Arial" panose="020B0604020202020204" pitchFamily="34" charset="0"/>
              </a:rPr>
              <a:t>π</a:t>
            </a:r>
            <a:r>
              <a:rPr lang="zh-CN" altLang="en-US" sz="2000" dirty="0">
                <a:solidFill>
                  <a:srgbClr val="333333"/>
                </a:solidFill>
                <a:latin typeface="Arial" panose="020B0604020202020204" pitchFamily="34" charset="0"/>
              </a:rPr>
              <a:t>。</a:t>
            </a:r>
            <a:br>
              <a:rPr lang="zh-CN" altLang="en-US" sz="2000" dirty="0"/>
            </a:br>
            <a:r>
              <a:rPr lang="zh-CN" altLang="en-US" sz="2000" dirty="0">
                <a:solidFill>
                  <a:srgbClr val="333333"/>
                </a:solidFill>
                <a:latin typeface="Arial" panose="020B0604020202020204" pitchFamily="34" charset="0"/>
              </a:rPr>
              <a:t>③相对各态的振幅的平均值作翻转。这一操作由幺正矩阵</a:t>
            </a:r>
            <a:r>
              <a:rPr lang="en-US" altLang="zh-CN" sz="2000" dirty="0">
                <a:solidFill>
                  <a:srgbClr val="333333"/>
                </a:solidFill>
                <a:latin typeface="Arial" panose="020B0604020202020204" pitchFamily="34" charset="0"/>
              </a:rPr>
              <a:t>k1,k2…</a:t>
            </a:r>
            <a:r>
              <a:rPr lang="en-US" altLang="zh-CN" sz="2000" dirty="0" err="1">
                <a:solidFill>
                  <a:srgbClr val="333333"/>
                </a:solidFill>
                <a:latin typeface="Arial" panose="020B0604020202020204" pitchFamily="34" charset="0"/>
              </a:rPr>
              <a:t>knD</a:t>
            </a:r>
            <a:r>
              <a:rPr lang="zh-CN" altLang="en-US" sz="2000" dirty="0">
                <a:solidFill>
                  <a:srgbClr val="333333"/>
                </a:solidFill>
                <a:latin typeface="Arial" panose="020B0604020202020204" pitchFamily="34" charset="0"/>
              </a:rPr>
              <a:t>完成</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其表达式为</a:t>
            </a:r>
            <a:r>
              <a:rPr lang="en-US" altLang="zh-CN" sz="2000" dirty="0" err="1">
                <a:solidFill>
                  <a:srgbClr val="333333"/>
                </a:solidFill>
                <a:latin typeface="Arial" panose="020B0604020202020204" pitchFamily="34" charset="0"/>
              </a:rPr>
              <a:t>Dij</a:t>
            </a:r>
            <a:r>
              <a:rPr lang="en-US" altLang="zh-CN" sz="2000" dirty="0">
                <a:solidFill>
                  <a:srgbClr val="333333"/>
                </a:solidFill>
                <a:latin typeface="Arial" panose="020B0604020202020204" pitchFamily="34" charset="0"/>
              </a:rPr>
              <a:t>=2/</a:t>
            </a:r>
            <a:r>
              <a:rPr lang="en-US" altLang="zh-CN" sz="2000" dirty="0" err="1">
                <a:solidFill>
                  <a:srgbClr val="333333"/>
                </a:solidFill>
                <a:latin typeface="Arial" panose="020B0604020202020204" pitchFamily="34" charset="0"/>
              </a:rPr>
              <a:t>N,Dij</a:t>
            </a:r>
            <a:r>
              <a:rPr lang="en-US" altLang="zh-CN" sz="2000" dirty="0">
                <a:solidFill>
                  <a:srgbClr val="333333"/>
                </a:solidFill>
                <a:latin typeface="Arial" panose="020B0604020202020204" pitchFamily="34" charset="0"/>
              </a:rPr>
              <a:t>=-1+2/N</a:t>
            </a:r>
            <a:r>
              <a:rPr lang="zh-CN" altLang="en-US" sz="2000" dirty="0">
                <a:solidFill>
                  <a:srgbClr val="333333"/>
                </a:solidFill>
                <a:latin typeface="Arial" panose="020B0604020202020204" pitchFamily="34" charset="0"/>
              </a:rPr>
              <a:t>。</a:t>
            </a:r>
            <a:br>
              <a:rPr lang="zh-CN" altLang="en-US" sz="2000" dirty="0"/>
            </a:br>
            <a:r>
              <a:rPr lang="zh-CN" altLang="en-US" sz="2000" dirty="0">
                <a:solidFill>
                  <a:srgbClr val="333333"/>
                </a:solidFill>
                <a:latin typeface="Arial" panose="020B0604020202020204" pitchFamily="34" charset="0"/>
              </a:rPr>
              <a:t>④以上②③两步可以反复进行</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每进行一次</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称为一次搜索。可以证明</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最多只需搜索</a:t>
            </a:r>
            <a:r>
              <a:rPr lang="en-US" altLang="zh-CN" sz="2000" dirty="0">
                <a:solidFill>
                  <a:srgbClr val="333333"/>
                </a:solidFill>
                <a:latin typeface="Arial" panose="020B0604020202020204" pitchFamily="34" charset="0"/>
              </a:rPr>
              <a:t>N</a:t>
            </a:r>
            <a:r>
              <a:rPr lang="zh-CN" altLang="en-US" sz="2000" dirty="0">
                <a:solidFill>
                  <a:srgbClr val="333333"/>
                </a:solidFill>
                <a:latin typeface="Arial" panose="020B0604020202020204" pitchFamily="34" charset="0"/>
              </a:rPr>
              <a:t>次</a:t>
            </a:r>
            <a:r>
              <a:rPr lang="en-US" altLang="zh-CN" sz="2000" dirty="0">
                <a:solidFill>
                  <a:srgbClr val="333333"/>
                </a:solidFill>
                <a:latin typeface="Arial" panose="020B0604020202020204" pitchFamily="34" charset="0"/>
              </a:rPr>
              <a:t>,</a:t>
            </a:r>
            <a:r>
              <a:rPr lang="zh-CN" altLang="en-US" sz="2000" dirty="0">
                <a:solidFill>
                  <a:srgbClr val="333333"/>
                </a:solidFill>
                <a:latin typeface="Arial" panose="020B0604020202020204" pitchFamily="34" charset="0"/>
              </a:rPr>
              <a:t>便能以大于</a:t>
            </a:r>
            <a:r>
              <a:rPr lang="en-US" altLang="zh-CN" sz="2000" dirty="0">
                <a:solidFill>
                  <a:srgbClr val="333333"/>
                </a:solidFill>
                <a:latin typeface="Arial" panose="020B0604020202020204" pitchFamily="34" charset="0"/>
              </a:rPr>
              <a:t>0.5</a:t>
            </a:r>
            <a:r>
              <a:rPr lang="zh-CN" altLang="en-US" sz="2000" dirty="0">
                <a:solidFill>
                  <a:srgbClr val="333333"/>
                </a:solidFill>
                <a:latin typeface="Arial" panose="020B0604020202020204" pitchFamily="34" charset="0"/>
              </a:rPr>
              <a:t>的几率找到我们要找的数据项。</a:t>
            </a:r>
            <a:endParaRPr lang="en-US" altLang="zh-CN" sz="2000" dirty="0">
              <a:solidFill>
                <a:srgbClr val="333333"/>
              </a:solidFill>
              <a:latin typeface="Arial" panose="020B0604020202020204" pitchFamily="34" charset="0"/>
            </a:endParaRPr>
          </a:p>
          <a:p>
            <a:endParaRPr lang="en-US" altLang="zh-CN" dirty="0">
              <a:solidFill>
                <a:srgbClr val="333333"/>
              </a:solidFill>
              <a:latin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量子计算应用</a:t>
            </a:r>
            <a:endParaRPr lang="zh-CN" altLang="en-US" dirty="0"/>
          </a:p>
        </p:txBody>
      </p:sp>
      <p:sp>
        <p:nvSpPr>
          <p:cNvPr id="3" name="内容占位符 2"/>
          <p:cNvSpPr>
            <a:spLocks noGrp="1"/>
          </p:cNvSpPr>
          <p:nvPr>
            <p:ph idx="1"/>
          </p:nvPr>
        </p:nvSpPr>
        <p:spPr/>
        <p:txBody>
          <a:bodyPr/>
          <a:lstStyle/>
          <a:p>
            <a:r>
              <a:rPr lang="zh-CN" altLang="en-US" dirty="0"/>
              <a:t>解决经典计算难题</a:t>
            </a:r>
            <a:endParaRPr lang="en-US" altLang="zh-CN" dirty="0"/>
          </a:p>
          <a:p>
            <a:r>
              <a:rPr lang="zh-CN" altLang="en-US" dirty="0"/>
              <a:t>量子搜索</a:t>
            </a:r>
            <a:endParaRPr lang="en-US" altLang="zh-CN" dirty="0"/>
          </a:p>
          <a:p>
            <a:r>
              <a:rPr lang="zh-CN" altLang="en-US" dirty="0"/>
              <a:t>量子密码学</a:t>
            </a:r>
            <a:endParaRPr lang="en-US" altLang="zh-CN" dirty="0"/>
          </a:p>
          <a:p>
            <a:r>
              <a:rPr lang="zh-CN" altLang="en-US" dirty="0"/>
              <a:t>量子智能计算</a:t>
            </a:r>
            <a:endParaRPr lang="en-US" altLang="zh-CN" dirty="0"/>
          </a:p>
          <a:p>
            <a:pPr lvl="1"/>
            <a:r>
              <a:rPr lang="zh-CN" altLang="en-US" dirty="0"/>
              <a:t>量子遗传算法</a:t>
            </a:r>
            <a:endParaRPr lang="en-US" altLang="zh-CN" dirty="0"/>
          </a:p>
          <a:p>
            <a:pPr lvl="1"/>
            <a:r>
              <a:rPr lang="zh-CN" altLang="en-US" dirty="0"/>
              <a:t>量子神经网络</a:t>
            </a:r>
            <a:endParaRPr lang="zh-CN" altLang="en-US" dirty="0"/>
          </a:p>
        </p:txBody>
      </p:sp>
      <p:sp>
        <p:nvSpPr>
          <p:cNvPr id="4" name="灯片编号占位符 3"/>
          <p:cNvSpPr>
            <a:spLocks noGrp="1"/>
          </p:cNvSpPr>
          <p:nvPr>
            <p:ph type="sldNum" sz="quarter" idx="12"/>
          </p:nvPr>
        </p:nvSpPr>
        <p:spPr/>
        <p:txBody>
          <a:bodyPr/>
          <a:lstStyle/>
          <a:p>
            <a:fld id="{F896D86A-F7FD-4BE6-9011-E6038FF055D7}" type="slidenum">
              <a:rPr lang="zh-CN" altLang="en-US" smtClean="0">
                <a:solidFill>
                  <a:srgbClr val="04617B">
                    <a:shade val="90000"/>
                  </a:srgbClr>
                </a:solidFill>
              </a:rPr>
            </a:fld>
            <a:endParaRPr lang="zh-CN" altLang="en-US">
              <a:solidFill>
                <a:srgbClr val="04617B">
                  <a:shade val="90000"/>
                </a:srgbClr>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本周任务</a:t>
            </a:r>
            <a:endParaRPr lang="zh-CN" altLang="en-US"/>
          </a:p>
        </p:txBody>
      </p:sp>
      <p:sp>
        <p:nvSpPr>
          <p:cNvPr id="3" name="内容占位符 2"/>
          <p:cNvSpPr>
            <a:spLocks noGrp="1"/>
          </p:cNvSpPr>
          <p:nvPr>
            <p:ph idx="1"/>
          </p:nvPr>
        </p:nvSpPr>
        <p:spPr/>
        <p:txBody>
          <a:bodyPr/>
          <a:p>
            <a:r>
              <a:rPr lang="zh-CN" altLang="en-US"/>
              <a:t>请做好报告</a:t>
            </a:r>
            <a:r>
              <a:rPr lang="zh-CN" altLang="en-US"/>
              <a:t>准备</a:t>
            </a:r>
            <a:endParaRPr lang="zh-CN" altLang="en-US"/>
          </a:p>
        </p:txBody>
      </p:sp>
      <p:sp>
        <p:nvSpPr>
          <p:cNvPr id="4" name="灯片编号占位符 3"/>
          <p:cNvSpPr>
            <a:spLocks noGrp="1"/>
          </p:cNvSpPr>
          <p:nvPr>
            <p:ph type="sldNum" sz="quarter" idx="12"/>
          </p:nvPr>
        </p:nvSpPr>
        <p:spPr/>
        <p:txBody>
          <a:bodyPr/>
          <a:p>
            <a:pPr>
              <a:defRPr/>
            </a:pPr>
            <a:fld id="{043BB144-F230-47BD-A8BC-D071FAFF0C48}" type="slidenum">
              <a:rPr lang="en-US" smtClean="0"/>
            </a:fld>
            <a:endParaRPr lang="en-US"/>
          </a:p>
        </p:txBody>
      </p:sp>
    </p:spTree>
  </p:cSld>
  <p:clrMapOvr>
    <a:masterClrMapping/>
  </p:clrMapOvr>
</p:sld>
</file>

<file path=ppt/tags/tag1.xml><?xml version="1.0" encoding="utf-8"?>
<p:tagLst xmlns:p="http://schemas.openxmlformats.org/presentationml/2006/main">
  <p:tag name="TIMING" val="|1.8"/>
</p:tagLst>
</file>

<file path=ppt/tags/tag2.xml><?xml version="1.0" encoding="utf-8"?>
<p:tagLst xmlns:p="http://schemas.openxmlformats.org/presentationml/2006/main">
  <p:tag name="commondata" val="eyJoZGlkIjoiYjMxOWQ1YmZiOTEyY2U1ZjA5ZjFkMTU0MTdjNTNiNW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7294</Words>
  <Application>WPS 演示</Application>
  <PresentationFormat>全屏显示(4:3)</PresentationFormat>
  <Paragraphs>580</Paragraphs>
  <Slides>94</Slides>
  <Notes>16</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3</vt:i4>
      </vt:variant>
      <vt:variant>
        <vt:lpstr>幻灯片标题</vt:lpstr>
      </vt:variant>
      <vt:variant>
        <vt:i4>94</vt:i4>
      </vt:variant>
    </vt:vector>
  </HeadingPairs>
  <TitlesOfParts>
    <vt:vector size="120" baseType="lpstr">
      <vt:lpstr>Arial</vt:lpstr>
      <vt:lpstr>宋体</vt:lpstr>
      <vt:lpstr>Wingdings</vt:lpstr>
      <vt:lpstr>Wingdings 2</vt:lpstr>
      <vt:lpstr>Times New Roman</vt:lpstr>
      <vt:lpstr>Comic Sans MS</vt:lpstr>
      <vt:lpstr>华文楷体</vt:lpstr>
      <vt:lpstr>Constantia</vt:lpstr>
      <vt:lpstr>隶书</vt:lpstr>
      <vt:lpstr>Calibri</vt:lpstr>
      <vt:lpstr>微软雅黑</vt:lpstr>
      <vt:lpstr>Arial Unicode MS</vt:lpstr>
      <vt:lpstr>-apple-system</vt:lpstr>
      <vt:lpstr>Segoe Print</vt:lpstr>
      <vt:lpstr>Times New Roman</vt:lpstr>
      <vt:lpstr>Calibri</vt:lpstr>
      <vt:lpstr>仿宋_GB2312</vt:lpstr>
      <vt:lpstr>Wingdings 2</vt:lpstr>
      <vt:lpstr>Optima-Regular</vt:lpstr>
      <vt:lpstr>-apple-system-font</vt:lpstr>
      <vt:lpstr>Cambria Math</vt:lpstr>
      <vt:lpstr>Cambria Math</vt:lpstr>
      <vt:lpstr>流畅</vt:lpstr>
      <vt:lpstr>Equation.3</vt:lpstr>
      <vt:lpstr>Equation.3</vt:lpstr>
      <vt:lpstr>Equation.3</vt:lpstr>
      <vt:lpstr>量子计算之三 </vt:lpstr>
      <vt:lpstr>量子信息</vt:lpstr>
      <vt:lpstr>PowerPoint 演示文稿</vt:lpstr>
      <vt:lpstr>量子态</vt:lpstr>
      <vt:lpstr>量子态</vt:lpstr>
      <vt:lpstr>量子比特</vt:lpstr>
      <vt:lpstr>量子比特</vt:lpstr>
      <vt:lpstr>量子比特</vt:lpstr>
      <vt:lpstr>量子比特</vt:lpstr>
      <vt:lpstr>量子比特</vt:lpstr>
      <vt:lpstr>双量子比特</vt:lpstr>
      <vt:lpstr>双量子比特</vt:lpstr>
      <vt:lpstr>双量子比特</vt:lpstr>
      <vt:lpstr>n个量子比特系统</vt:lpstr>
      <vt:lpstr>n个量子比特系统</vt:lpstr>
      <vt:lpstr>量子计算</vt:lpstr>
      <vt:lpstr>量子计算</vt:lpstr>
      <vt:lpstr>量子计算</vt:lpstr>
      <vt:lpstr>量子计算</vt:lpstr>
      <vt:lpstr>PowerPoint 演示文稿</vt:lpstr>
      <vt:lpstr>PowerPoint 演示文稿</vt:lpstr>
      <vt:lpstr>量子计算</vt:lpstr>
      <vt:lpstr>量子计算</vt:lpstr>
      <vt:lpstr>PowerPoint 演示文稿</vt:lpstr>
      <vt:lpstr>量子计算</vt:lpstr>
      <vt:lpstr>PowerPoint 演示文稿</vt:lpstr>
      <vt:lpstr>PowerPoint 演示文稿</vt:lpstr>
      <vt:lpstr>PowerPoint 演示文稿</vt:lpstr>
      <vt:lpstr>PowerPoint 演示文稿</vt:lpstr>
      <vt:lpstr>量子计算</vt:lpstr>
      <vt:lpstr>量子计算</vt:lpstr>
      <vt:lpstr>量子计算</vt:lpstr>
      <vt:lpstr>PowerPoint 演示文稿</vt:lpstr>
      <vt:lpstr>量子密码</vt:lpstr>
      <vt:lpstr>量子密码</vt:lpstr>
      <vt:lpstr>加密基本思想</vt:lpstr>
      <vt:lpstr>加密体制分类</vt:lpstr>
      <vt:lpstr>加密体制分类</vt:lpstr>
      <vt:lpstr>量子计算-量子密码</vt:lpstr>
      <vt:lpstr>PowerPoint 演示文稿</vt:lpstr>
      <vt:lpstr>无条件安全性</vt:lpstr>
      <vt:lpstr>核心问题</vt:lpstr>
      <vt:lpstr>量子密码</vt:lpstr>
      <vt:lpstr>量子密码安全性保障-量子力学</vt:lpstr>
      <vt:lpstr>量子密码</vt:lpstr>
      <vt:lpstr>量子密码</vt:lpstr>
      <vt:lpstr>量子密码</vt:lpstr>
      <vt:lpstr>量子密码</vt:lpstr>
      <vt:lpstr>PowerPoint 演示文稿</vt:lpstr>
      <vt:lpstr>有人窃听</vt:lpstr>
      <vt:lpstr>有人窃听</vt:lpstr>
      <vt:lpstr>理论安全性</vt:lpstr>
      <vt:lpstr>思考的点</vt:lpstr>
      <vt:lpstr>量子计算机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量子计算机</vt:lpstr>
      <vt:lpstr>量子计算机-量子芯片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量子算法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Shor 量子并行算法</vt:lpstr>
      <vt:lpstr>Shor 量子并行算法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量子计算应用</vt:lpstr>
      <vt:lpstr>本周任务</vt:lpstr>
    </vt:vector>
  </TitlesOfParts>
  <Company>xmu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大话量子力学</dc:title>
  <dc:creator/>
  <cp:lastModifiedBy>eye</cp:lastModifiedBy>
  <cp:revision>151</cp:revision>
  <cp:lastPrinted>2018-05-08T01:52:00Z</cp:lastPrinted>
  <dcterms:created xsi:type="dcterms:W3CDTF">2009-07-08T13:25:00Z</dcterms:created>
  <dcterms:modified xsi:type="dcterms:W3CDTF">2024-02-22T16:34:34Z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7B68BF3CF55441A6BED8C72077ED2526</vt:lpwstr>
  </property>
  <property fmtid="{D5CDD505-2E9C-101B-9397-08002B2CF9AE}" pid="3" name="KSOProductBuildVer">
    <vt:lpwstr>2052-12.1.0.16388</vt:lpwstr>
  </property>
</Properties>
</file>