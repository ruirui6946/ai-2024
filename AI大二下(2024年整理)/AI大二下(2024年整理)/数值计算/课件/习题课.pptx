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6" r:id="rId2"/>
    <p:sldId id="263" r:id="rId3"/>
    <p:sldId id="257" r:id="rId4"/>
    <p:sldId id="264" r:id="rId5"/>
    <p:sldId id="265" r:id="rId6"/>
    <p:sldId id="266" r:id="rId7"/>
    <p:sldId id="267" r:id="rId8"/>
    <p:sldId id="268" r:id="rId9"/>
    <p:sldId id="270" r:id="rId10"/>
    <p:sldId id="269" r:id="rId11"/>
    <p:sldId id="272" r:id="rId12"/>
    <p:sldId id="271" r:id="rId13"/>
    <p:sldId id="273" r:id="rId14"/>
    <p:sldId id="275" r:id="rId15"/>
    <p:sldId id="276" r:id="rId16"/>
    <p:sldId id="277" r:id="rId17"/>
    <p:sldId id="370" r:id="rId18"/>
    <p:sldId id="278" r:id="rId19"/>
    <p:sldId id="279" r:id="rId20"/>
    <p:sldId id="261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1" r:id="rId31"/>
    <p:sldId id="289" r:id="rId32"/>
    <p:sldId id="290" r:id="rId33"/>
    <p:sldId id="295" r:id="rId34"/>
    <p:sldId id="293" r:id="rId35"/>
    <p:sldId id="296" r:id="rId36"/>
    <p:sldId id="292" r:id="rId37"/>
    <p:sldId id="297" r:id="rId38"/>
    <p:sldId id="299" r:id="rId39"/>
    <p:sldId id="294" r:id="rId40"/>
    <p:sldId id="298" r:id="rId41"/>
    <p:sldId id="300" r:id="rId42"/>
    <p:sldId id="302" r:id="rId43"/>
    <p:sldId id="303" r:id="rId44"/>
    <p:sldId id="304" r:id="rId45"/>
    <p:sldId id="310" r:id="rId46"/>
    <p:sldId id="311" r:id="rId47"/>
    <p:sldId id="312" r:id="rId48"/>
    <p:sldId id="314" r:id="rId49"/>
    <p:sldId id="313" r:id="rId50"/>
    <p:sldId id="315" r:id="rId51"/>
    <p:sldId id="305" r:id="rId52"/>
    <p:sldId id="306" r:id="rId53"/>
    <p:sldId id="316" r:id="rId54"/>
    <p:sldId id="317" r:id="rId55"/>
    <p:sldId id="307" r:id="rId56"/>
    <p:sldId id="308" r:id="rId57"/>
    <p:sldId id="309" r:id="rId58"/>
    <p:sldId id="318" r:id="rId59"/>
    <p:sldId id="357" r:id="rId60"/>
    <p:sldId id="325" r:id="rId61"/>
    <p:sldId id="320" r:id="rId62"/>
    <p:sldId id="355" r:id="rId63"/>
    <p:sldId id="356" r:id="rId64"/>
    <p:sldId id="323" r:id="rId65"/>
    <p:sldId id="329" r:id="rId66"/>
    <p:sldId id="335" r:id="rId67"/>
    <p:sldId id="360" r:id="rId68"/>
    <p:sldId id="361" r:id="rId69"/>
    <p:sldId id="331" r:id="rId70"/>
    <p:sldId id="330" r:id="rId71"/>
    <p:sldId id="358" r:id="rId72"/>
    <p:sldId id="373" r:id="rId73"/>
    <p:sldId id="334" r:id="rId74"/>
    <p:sldId id="337" r:id="rId75"/>
    <p:sldId id="365" r:id="rId76"/>
    <p:sldId id="367" r:id="rId77"/>
    <p:sldId id="369" r:id="rId78"/>
    <p:sldId id="366" r:id="rId79"/>
    <p:sldId id="336" r:id="rId80"/>
    <p:sldId id="338" r:id="rId81"/>
    <p:sldId id="339" r:id="rId82"/>
    <p:sldId id="371" r:id="rId83"/>
    <p:sldId id="341" r:id="rId84"/>
    <p:sldId id="343" r:id="rId85"/>
    <p:sldId id="344" r:id="rId86"/>
    <p:sldId id="342" r:id="rId87"/>
    <p:sldId id="375" r:id="rId88"/>
    <p:sldId id="345" r:id="rId89"/>
    <p:sldId id="348" r:id="rId90"/>
    <p:sldId id="349" r:id="rId91"/>
    <p:sldId id="350" r:id="rId92"/>
    <p:sldId id="353" r:id="rId93"/>
    <p:sldId id="354" r:id="rId94"/>
    <p:sldId id="346" r:id="rId95"/>
    <p:sldId id="347" r:id="rId9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221" autoAdjust="0"/>
  </p:normalViewPr>
  <p:slideViewPr>
    <p:cSldViewPr snapToGrid="0">
      <p:cViewPr varScale="1">
        <p:scale>
          <a:sx n="56" d="100"/>
          <a:sy n="56" d="100"/>
        </p:scale>
        <p:origin x="10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0B971-5CDF-4DF0-BDCE-89C5EC9408F1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88C13-C1B6-4908-A856-3FC18228B5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66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74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492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235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86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71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465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419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525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119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082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86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658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825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301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17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466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244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838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886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255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868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9173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3521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615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1337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9522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287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217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297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2882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6803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4079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74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3648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4494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5087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636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7014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9680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2766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800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5972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604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323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8967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1203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2364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8220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5067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8529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4376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88565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3955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0135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7685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2408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4095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72661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88686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0583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230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1172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61598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074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6526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82448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893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52709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5704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83643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75327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09900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8810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78651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9698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73372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4653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09630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40677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18991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8579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91417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33815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20567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6356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93162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51711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6511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61586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91656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12287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53096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88C13-C1B6-4908-A856-3FC18228B5EB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490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09277-AE62-4B42-A1BD-A98103D99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8FF9FE-7D45-485C-92E0-ACDB59A7E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73ED7-9B0E-4D6E-8624-68D3E2F9B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A13BF-A065-49BD-86C7-95F785B5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0D01F1-69B1-4D3C-B9ED-1718DB61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4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E04E4-9AB8-4396-8A27-A21E83C1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B8048A-C0D3-4DD2-9D31-5CECDBC57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D5D774-E2CC-470C-8F08-C1B8FDDC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CAF249-4806-452C-ADFB-8F30026F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9DB71-B79C-49E4-85D6-07588506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42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E1DF0-7DC6-4FC3-B242-37194CE4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682FC1-9BA7-4CD1-B20E-83D58B02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6B662-C6F8-4740-8A9C-018F71A1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458A7-DC15-4B5E-B809-BCBE955E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C29728-4B13-434D-BF91-0642BEE0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83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2AA13-C03E-44D7-B018-36C17BDA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4425E6-19E7-4577-BDF7-E9B8740E7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E33160-9383-46AA-AFE0-33D3D1E52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2F8756-D9BB-4AE9-965C-5AA066A1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9E21D7-9370-4D6F-924B-A55701D7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EFE9B9-1ADD-45BE-B371-EF40EBA5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65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0D6E0-5519-4645-9EA0-5925C740A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587BEE-6CFC-4894-B836-FE9B418D7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44B21B-F4EC-4832-8B04-D98262B0E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B681C3-CF0F-42FC-806D-1A861DAAC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34BC40-1397-4F9A-9C13-9FC4BBB1C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D688AC-03CC-4C96-A3B2-EE8130EA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4074CD-8A37-4F5C-939B-9778079E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4BE22D-2B45-484A-B8EB-EC9DE3FB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51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C07E3-4668-4191-A3E7-2B719926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149693-BA2B-46B6-8C7B-DF708294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F9AE79-2F7B-46AB-9344-B68F271E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1D1C81-23B6-48DF-BEBD-5CA9154E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11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9488EB-DAA7-4EC9-A0AD-1A1E6438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0BF1C9-FFAD-4291-A524-E66683C74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1D9E1E-1339-4665-A782-CC945AFA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84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01439-8AE9-41DF-B3FB-6AA8142A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E8C9D1-9427-473B-B9E0-73047DA83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790313-9D11-49C1-8A4D-BFE7731A6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6F9E9-636F-42D7-951A-9031C2B4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8C32AB-E53D-4E47-8A75-BB081A318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AF1B7B-2437-43E6-82A0-B11F8F3A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8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604C0-D105-4895-BB36-87F59B360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8973C8-BE88-44BD-B9D3-75945331E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157E17-BFBB-42D2-B739-516DAA06D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5C4D5D-9F7B-4901-99A4-0C8E63F1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914C65-9222-486C-AAFF-FD237D3F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8D7FA-FCCE-46BC-A73B-0F17DBF3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12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790F2-106E-4264-978A-15AA938D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1D9D19-6C8D-46BB-8272-315472A23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70298-62F2-4CEE-8287-DB250761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7336B-87E3-4583-8F56-9D384BC4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AB750-A90D-41F6-9269-5F7559F4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01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442012-1A59-42A5-B794-951CDAE4E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B71313-0103-4A16-BB7B-939312133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9EC33-6AFE-400C-AF1E-C28BFF55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A16B3-ABA8-4023-B16C-6BD1A0E7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61F067-094F-48E0-8C88-FB20BFB8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72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B63455-5303-4177-827F-7821C09B8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66A042-E1F6-435B-AB8C-10EFFE7D5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2C500E-2FCB-40DF-ABEF-B04C05548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2765B-D3FD-434F-B091-D36436F0E414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C15D81-A4BB-46EE-A2F4-20E84217E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A8DA4-7645-4EAB-A4FA-6AAF2C43B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6B878-6ECE-43B7-964B-B0B980DD7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80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2.wmf"/><Relationship Id="rId18" Type="http://schemas.openxmlformats.org/officeDocument/2006/relationships/image" Target="../media/image16.png"/><Relationship Id="rId3" Type="http://schemas.openxmlformats.org/officeDocument/2006/relationships/image" Target="../media/image7.png"/><Relationship Id="rId21" Type="http://schemas.openxmlformats.org/officeDocument/2006/relationships/image" Target="../media/image18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5.png"/><Relationship Id="rId25" Type="http://schemas.openxmlformats.org/officeDocument/2006/relationships/image" Target="../media/image20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1.wmf"/><Relationship Id="rId24" Type="http://schemas.openxmlformats.org/officeDocument/2006/relationships/oleObject" Target="../embeddings/oleObject9.bin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23" Type="http://schemas.openxmlformats.org/officeDocument/2006/relationships/image" Target="../media/image19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7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16.png"/><Relationship Id="rId5" Type="http://schemas.openxmlformats.org/officeDocument/2006/relationships/image" Target="../media/image26.png"/><Relationship Id="rId10" Type="http://schemas.openxmlformats.org/officeDocument/2006/relationships/image" Target="../media/image29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3.png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37.wmf"/><Relationship Id="rId4" Type="http://schemas.openxmlformats.org/officeDocument/2006/relationships/image" Target="../media/image34.png"/><Relationship Id="rId9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2.png"/><Relationship Id="rId7" Type="http://schemas.openxmlformats.org/officeDocument/2006/relationships/oleObject" Target="../embeddings/oleObject2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wmf"/><Relationship Id="rId4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72.png"/><Relationship Id="rId7" Type="http://schemas.openxmlformats.org/officeDocument/2006/relationships/image" Target="../media/image7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7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wmf"/><Relationship Id="rId4" Type="http://schemas.openxmlformats.org/officeDocument/2006/relationships/oleObject" Target="../embeddings/oleObject2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oleObject" Target="../embeddings/oleObject31.bin"/><Relationship Id="rId18" Type="http://schemas.openxmlformats.org/officeDocument/2006/relationships/oleObject" Target="../embeddings/oleObject33.bin"/><Relationship Id="rId3" Type="http://schemas.openxmlformats.org/officeDocument/2006/relationships/oleObject" Target="../embeddings/oleObject27.bin"/><Relationship Id="rId21" Type="http://schemas.openxmlformats.org/officeDocument/2006/relationships/image" Target="../media/image98.wmf"/><Relationship Id="rId7" Type="http://schemas.openxmlformats.org/officeDocument/2006/relationships/image" Target="../media/image90.wmf"/><Relationship Id="rId12" Type="http://schemas.openxmlformats.org/officeDocument/2006/relationships/image" Target="../media/image93.wmf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95.wmf"/><Relationship Id="rId20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11" Type="http://schemas.openxmlformats.org/officeDocument/2006/relationships/oleObject" Target="../embeddings/oleObject30.bin"/><Relationship Id="rId5" Type="http://schemas.openxmlformats.org/officeDocument/2006/relationships/image" Target="../media/image89.png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92.png"/><Relationship Id="rId19" Type="http://schemas.openxmlformats.org/officeDocument/2006/relationships/image" Target="../media/image97.wmf"/><Relationship Id="rId4" Type="http://schemas.openxmlformats.org/officeDocument/2006/relationships/image" Target="../media/image88.wmf"/><Relationship Id="rId9" Type="http://schemas.openxmlformats.org/officeDocument/2006/relationships/image" Target="../media/image91.wmf"/><Relationship Id="rId14" Type="http://schemas.openxmlformats.org/officeDocument/2006/relationships/image" Target="../media/image9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1.png"/><Relationship Id="rId3" Type="http://schemas.openxmlformats.org/officeDocument/2006/relationships/oleObject" Target="../embeddings/oleObject35.bin"/><Relationship Id="rId7" Type="http://schemas.openxmlformats.org/officeDocument/2006/relationships/image" Target="../media/image107.png"/><Relationship Id="rId12" Type="http://schemas.openxmlformats.org/officeDocument/2006/relationships/image" Target="../media/image110.wmf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1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109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1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118.png"/><Relationship Id="rId7" Type="http://schemas.openxmlformats.org/officeDocument/2006/relationships/image" Target="../media/image121.png"/><Relationship Id="rId12" Type="http://schemas.openxmlformats.org/officeDocument/2006/relationships/image" Target="../media/image124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123.png"/><Relationship Id="rId4" Type="http://schemas.openxmlformats.org/officeDocument/2006/relationships/image" Target="../media/image119.png"/><Relationship Id="rId9" Type="http://schemas.openxmlformats.org/officeDocument/2006/relationships/image" Target="../media/image122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135.wmf"/><Relationship Id="rId18" Type="http://schemas.openxmlformats.org/officeDocument/2006/relationships/oleObject" Target="../embeddings/oleObject50.bin"/><Relationship Id="rId3" Type="http://schemas.openxmlformats.org/officeDocument/2006/relationships/image" Target="../media/image130.png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137.wmf"/><Relationship Id="rId2" Type="http://schemas.openxmlformats.org/officeDocument/2006/relationships/notesSlide" Target="../notesSlides/notesSlide40.xml"/><Relationship Id="rId16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5" Type="http://schemas.openxmlformats.org/officeDocument/2006/relationships/image" Target="../media/image136.wmf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138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4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139.png"/><Relationship Id="rId7" Type="http://schemas.openxmlformats.org/officeDocument/2006/relationships/image" Target="../media/image141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140.wmf"/><Relationship Id="rId10" Type="http://schemas.openxmlformats.org/officeDocument/2006/relationships/image" Target="../media/image143.png"/><Relationship Id="rId4" Type="http://schemas.openxmlformats.org/officeDocument/2006/relationships/oleObject" Target="../embeddings/oleObject51.bin"/><Relationship Id="rId9" Type="http://schemas.openxmlformats.org/officeDocument/2006/relationships/image" Target="../media/image14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14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147.png"/><Relationship Id="rId7" Type="http://schemas.openxmlformats.org/officeDocument/2006/relationships/image" Target="../media/image149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151.wmf"/><Relationship Id="rId5" Type="http://schemas.openxmlformats.org/officeDocument/2006/relationships/image" Target="../media/image148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150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175.wmf"/><Relationship Id="rId3" Type="http://schemas.openxmlformats.org/officeDocument/2006/relationships/image" Target="../media/image168.png"/><Relationship Id="rId7" Type="http://schemas.openxmlformats.org/officeDocument/2006/relationships/image" Target="../media/image170.png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63.bin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17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11" Type="http://schemas.openxmlformats.org/officeDocument/2006/relationships/oleObject" Target="../embeddings/oleObject60.bin"/><Relationship Id="rId5" Type="http://schemas.openxmlformats.org/officeDocument/2006/relationships/image" Target="../media/image165.png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172.wmf"/><Relationship Id="rId4" Type="http://schemas.openxmlformats.org/officeDocument/2006/relationships/image" Target="../media/image169.png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173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66.png"/><Relationship Id="rId12" Type="http://schemas.openxmlformats.org/officeDocument/2006/relationships/image" Target="../media/image18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1" Type="http://schemas.openxmlformats.org/officeDocument/2006/relationships/image" Target="../media/image183.wmf"/><Relationship Id="rId5" Type="http://schemas.openxmlformats.org/officeDocument/2006/relationships/image" Target="../media/image182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179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85.png"/><Relationship Id="rId7" Type="http://schemas.openxmlformats.org/officeDocument/2006/relationships/image" Target="../media/image186.wmf"/><Relationship Id="rId12" Type="http://schemas.openxmlformats.org/officeDocument/2006/relationships/image" Target="../media/image188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.bin"/><Relationship Id="rId11" Type="http://schemas.openxmlformats.org/officeDocument/2006/relationships/oleObject" Target="../embeddings/oleObject68.bin"/><Relationship Id="rId5" Type="http://schemas.openxmlformats.org/officeDocument/2006/relationships/image" Target="../media/image1850.png"/><Relationship Id="rId10" Type="http://schemas.openxmlformats.org/officeDocument/2006/relationships/image" Target="../media/image187.wmf"/><Relationship Id="rId9" Type="http://schemas.openxmlformats.org/officeDocument/2006/relationships/oleObject" Target="../embeddings/oleObject6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7" Type="http://schemas.openxmlformats.org/officeDocument/2006/relationships/image" Target="../media/image190.w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18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20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png"/><Relationship Id="rId5" Type="http://schemas.openxmlformats.org/officeDocument/2006/relationships/image" Target="../media/image214.png"/><Relationship Id="rId4" Type="http://schemas.openxmlformats.org/officeDocument/2006/relationships/image" Target="../media/image21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7" Type="http://schemas.openxmlformats.org/officeDocument/2006/relationships/image" Target="../media/image24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png"/><Relationship Id="rId5" Type="http://schemas.openxmlformats.org/officeDocument/2006/relationships/image" Target="../media/image247.png"/><Relationship Id="rId4" Type="http://schemas.openxmlformats.org/officeDocument/2006/relationships/image" Target="../media/image24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59.png"/><Relationship Id="rId4" Type="http://schemas.openxmlformats.org/officeDocument/2006/relationships/image" Target="../media/image258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266.wmf"/><Relationship Id="rId3" Type="http://schemas.openxmlformats.org/officeDocument/2006/relationships/image" Target="../media/image261.png"/><Relationship Id="rId7" Type="http://schemas.openxmlformats.org/officeDocument/2006/relationships/image" Target="../media/image263.wmf"/><Relationship Id="rId12" Type="http://schemas.openxmlformats.org/officeDocument/2006/relationships/oleObject" Target="../embeddings/oleObject74.bin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265.wmf"/><Relationship Id="rId5" Type="http://schemas.openxmlformats.org/officeDocument/2006/relationships/image" Target="../media/image260.png"/><Relationship Id="rId10" Type="http://schemas.openxmlformats.org/officeDocument/2006/relationships/oleObject" Target="../embeddings/oleObject73.bin"/><Relationship Id="rId4" Type="http://schemas.openxmlformats.org/officeDocument/2006/relationships/image" Target="../media/image262.png"/><Relationship Id="rId9" Type="http://schemas.openxmlformats.org/officeDocument/2006/relationships/image" Target="../media/image264.wmf"/><Relationship Id="rId14" Type="http://schemas.openxmlformats.org/officeDocument/2006/relationships/image" Target="../media/image267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273.wmf"/><Relationship Id="rId3" Type="http://schemas.openxmlformats.org/officeDocument/2006/relationships/image" Target="../media/image268.png"/><Relationship Id="rId7" Type="http://schemas.openxmlformats.org/officeDocument/2006/relationships/image" Target="../media/image270.wmf"/><Relationship Id="rId12" Type="http://schemas.openxmlformats.org/officeDocument/2006/relationships/oleObject" Target="../embeddings/oleObject79.bin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272.wmf"/><Relationship Id="rId5" Type="http://schemas.openxmlformats.org/officeDocument/2006/relationships/image" Target="../media/image269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271.w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5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268.png"/><Relationship Id="rId7" Type="http://schemas.openxmlformats.org/officeDocument/2006/relationships/image" Target="../media/image272.wm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276.wmf"/><Relationship Id="rId10" Type="http://schemas.openxmlformats.org/officeDocument/2006/relationships/image" Target="../media/image277.png"/><Relationship Id="rId4" Type="http://schemas.openxmlformats.org/officeDocument/2006/relationships/oleObject" Target="../embeddings/oleObject80.bin"/><Relationship Id="rId9" Type="http://schemas.openxmlformats.org/officeDocument/2006/relationships/image" Target="../media/image273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3" Type="http://schemas.openxmlformats.org/officeDocument/2006/relationships/image" Target="../media/image278.png"/><Relationship Id="rId7" Type="http://schemas.openxmlformats.org/officeDocument/2006/relationships/oleObject" Target="../embeddings/oleObject84.bin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w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282.wmf"/><Relationship Id="rId4" Type="http://schemas.openxmlformats.org/officeDocument/2006/relationships/image" Target="../media/image279.png"/><Relationship Id="rId9" Type="http://schemas.openxmlformats.org/officeDocument/2006/relationships/oleObject" Target="../embeddings/oleObject85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4" Type="http://schemas.openxmlformats.org/officeDocument/2006/relationships/image" Target="../media/image28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5.png"/><Relationship Id="rId4" Type="http://schemas.openxmlformats.org/officeDocument/2006/relationships/image" Target="../media/image29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7" Type="http://schemas.openxmlformats.org/officeDocument/2006/relationships/image" Target="../media/image30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299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3" Type="http://schemas.openxmlformats.org/officeDocument/2006/relationships/image" Target="../media/image303.png"/><Relationship Id="rId7" Type="http://schemas.openxmlformats.org/officeDocument/2006/relationships/image" Target="../media/image305.wm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304.wmf"/><Relationship Id="rId4" Type="http://schemas.openxmlformats.org/officeDocument/2006/relationships/oleObject" Target="../embeddings/oleObject86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9.png"/><Relationship Id="rId4" Type="http://schemas.openxmlformats.org/officeDocument/2006/relationships/image" Target="../media/image3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1E793-6F55-4F93-9F00-2E2EF4767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6399"/>
            <a:ext cx="9144000" cy="928128"/>
          </a:xfrm>
        </p:spPr>
        <p:txBody>
          <a:bodyPr/>
          <a:lstStyle/>
          <a:p>
            <a:r>
              <a:rPr lang="zh-CN" altLang="en-US" dirty="0"/>
              <a:t>数值计算习题课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238EBD-FAF7-47A0-80C8-8A2CA9E02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2023.06.14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34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14229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误差的度量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E0A7617-E2B6-44EB-B37A-4F2B58DEC977}"/>
              </a:ext>
            </a:extLst>
          </p:cNvPr>
          <p:cNvGrpSpPr/>
          <p:nvPr/>
        </p:nvGrpSpPr>
        <p:grpSpPr>
          <a:xfrm>
            <a:off x="634363" y="1515956"/>
            <a:ext cx="11142857" cy="1685714"/>
            <a:chOff x="685936" y="1410601"/>
            <a:chExt cx="11142857" cy="168571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0BD7D35-E483-4C61-82E8-225B9194E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936" y="1410601"/>
              <a:ext cx="11142857" cy="168571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29479EA-BF86-42EC-8967-44EDB80A35C3}"/>
                </a:ext>
              </a:extLst>
            </p:cNvPr>
            <p:cNvSpPr/>
            <p:nvPr/>
          </p:nvSpPr>
          <p:spPr>
            <a:xfrm>
              <a:off x="8283388" y="1416424"/>
              <a:ext cx="1443318" cy="36755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1A837A5-9E9A-43CB-A310-1C8DC124AB11}"/>
                </a:ext>
              </a:extLst>
            </p:cNvPr>
            <p:cNvSpPr/>
            <p:nvPr/>
          </p:nvSpPr>
          <p:spPr>
            <a:xfrm>
              <a:off x="4787151" y="2253458"/>
              <a:ext cx="2456331" cy="42882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126D5C3-38DE-408B-8E0F-F429FEAFD71B}"/>
              </a:ext>
            </a:extLst>
          </p:cNvPr>
          <p:cNvGrpSpPr/>
          <p:nvPr/>
        </p:nvGrpSpPr>
        <p:grpSpPr>
          <a:xfrm>
            <a:off x="634363" y="3532158"/>
            <a:ext cx="10761905" cy="1132411"/>
            <a:chOff x="620555" y="3384934"/>
            <a:chExt cx="10761905" cy="113241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BD88BB8-9166-425F-A09F-DF639EBFB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555" y="3460202"/>
              <a:ext cx="10761905" cy="105714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FD82BDD-BADE-4ED7-927A-9DF090F9D020}"/>
                </a:ext>
              </a:extLst>
            </p:cNvPr>
            <p:cNvSpPr/>
            <p:nvPr/>
          </p:nvSpPr>
          <p:spPr>
            <a:xfrm>
              <a:off x="8041341" y="3384934"/>
              <a:ext cx="2303930" cy="72986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FC8F6E64-6F8A-4751-9596-8CB288CCD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0" y="4664569"/>
            <a:ext cx="10723809" cy="180952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F0FF43E-6A81-4006-B7D6-25002A42944C}"/>
              </a:ext>
            </a:extLst>
          </p:cNvPr>
          <p:cNvSpPr/>
          <p:nvPr/>
        </p:nvSpPr>
        <p:spPr>
          <a:xfrm>
            <a:off x="6902824" y="4664569"/>
            <a:ext cx="1622611" cy="6545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B6D86F-325E-48DA-9E4E-1B22B7BC869B}"/>
              </a:ext>
            </a:extLst>
          </p:cNvPr>
          <p:cNvSpPr/>
          <p:nvPr/>
        </p:nvSpPr>
        <p:spPr>
          <a:xfrm>
            <a:off x="5683623" y="5345139"/>
            <a:ext cx="2743201" cy="8154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2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14229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误差的度量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F9C5D66-25B7-43BC-8A5E-5056AB9C9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83" y="1410873"/>
            <a:ext cx="10509033" cy="7329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19CE451-FE87-42AC-AE62-825854767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65" y="2284834"/>
            <a:ext cx="10838095" cy="240744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F7BE35D-A646-4D6C-9028-1C20C543F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51" y="4877809"/>
            <a:ext cx="10838095" cy="1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07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1.1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0E5913D-6250-45F6-8A60-3DB8EE6501B1}"/>
              </a:ext>
            </a:extLst>
          </p:cNvPr>
          <p:cNvGrpSpPr/>
          <p:nvPr/>
        </p:nvGrpSpPr>
        <p:grpSpPr>
          <a:xfrm>
            <a:off x="471695" y="1354948"/>
            <a:ext cx="10277357" cy="1103370"/>
            <a:chOff x="471695" y="1448995"/>
            <a:chExt cx="10277357" cy="110337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B4B84CA-EEE2-479E-B2D3-D91531B36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695" y="1448995"/>
              <a:ext cx="10277357" cy="1103370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D0688AA-0F44-488E-BBD1-E90982EA7D45}"/>
                </a:ext>
              </a:extLst>
            </p:cNvPr>
            <p:cNvCxnSpPr/>
            <p:nvPr/>
          </p:nvCxnSpPr>
          <p:spPr>
            <a:xfrm>
              <a:off x="3487271" y="1791793"/>
              <a:ext cx="2390316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0CF8798-BC88-44A1-874F-9CBE1EB6872B}"/>
              </a:ext>
            </a:extLst>
          </p:cNvPr>
          <p:cNvGrpSpPr/>
          <p:nvPr/>
        </p:nvGrpSpPr>
        <p:grpSpPr>
          <a:xfrm>
            <a:off x="4070118" y="2700948"/>
            <a:ext cx="7118517" cy="384086"/>
            <a:chOff x="1183529" y="2670830"/>
            <a:chExt cx="7118517" cy="384086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6C57FBC-C7EE-4C29-85AA-6533CAFADA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9182158"/>
                </p:ext>
              </p:extLst>
            </p:nvPr>
          </p:nvGraphicFramePr>
          <p:xfrm>
            <a:off x="1183529" y="2685584"/>
            <a:ext cx="402685" cy="362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3800" imgH="228600" progId="Equation.DSMT4">
                    <p:embed/>
                  </p:oleObj>
                </mc:Choice>
                <mc:Fallback>
                  <p:oleObj name="Equation" r:id="rId4" imgW="2538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83529" y="2685584"/>
                          <a:ext cx="402685" cy="3624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6A63D8C-9188-4139-B8AE-11C96D3D073A}"/>
                </a:ext>
              </a:extLst>
            </p:cNvPr>
            <p:cNvSpPr txBox="1"/>
            <p:nvPr/>
          </p:nvSpPr>
          <p:spPr>
            <a:xfrm>
              <a:off x="1586214" y="2685584"/>
              <a:ext cx="19908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位有效数字，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1DB78D5-3A9E-4D48-85BD-7D1C2B1612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3452979"/>
                </p:ext>
              </p:extLst>
            </p:nvPr>
          </p:nvGraphicFramePr>
          <p:xfrm>
            <a:off x="3487271" y="2678812"/>
            <a:ext cx="42227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6400" imgH="228600" progId="Equation.DSMT4">
                    <p:embed/>
                  </p:oleObj>
                </mc:Choice>
                <mc:Fallback>
                  <p:oleObj name="Equation" r:id="rId6" imgW="266400" imgH="2286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B6C57FBC-C7EE-4C29-85AA-6533CAFADA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87271" y="2678812"/>
                          <a:ext cx="422275" cy="361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B5DC2DF-00DD-4B52-9D48-11AB3800E83A}"/>
                </a:ext>
              </a:extLst>
            </p:cNvPr>
            <p:cNvSpPr txBox="1"/>
            <p:nvPr/>
          </p:nvSpPr>
          <p:spPr>
            <a:xfrm>
              <a:off x="3889956" y="2678668"/>
              <a:ext cx="19908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位有效数字，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87DE7A1-9C98-4ADC-9FC6-941EEF85E1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3754550"/>
                </p:ext>
              </p:extLst>
            </p:nvPr>
          </p:nvGraphicFramePr>
          <p:xfrm>
            <a:off x="5908470" y="2670830"/>
            <a:ext cx="402685" cy="362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3800" imgH="228600" progId="Equation.DSMT4">
                    <p:embed/>
                  </p:oleObj>
                </mc:Choice>
                <mc:Fallback>
                  <p:oleObj name="Equation" r:id="rId8" imgW="253800" imgH="2286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B6C57FBC-C7EE-4C29-85AA-6533CAFADAC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908470" y="2670830"/>
                          <a:ext cx="402685" cy="3624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043C53D-B37B-47E6-AAD6-4593C8BAD7C7}"/>
                </a:ext>
              </a:extLst>
            </p:cNvPr>
            <p:cNvSpPr txBox="1"/>
            <p:nvPr/>
          </p:nvSpPr>
          <p:spPr>
            <a:xfrm>
              <a:off x="6311155" y="2670830"/>
              <a:ext cx="19908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位有效数字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B9FF69D-5913-4F7A-8DDC-33CB25825E15}"/>
              </a:ext>
            </a:extLst>
          </p:cNvPr>
          <p:cNvGrpSpPr/>
          <p:nvPr/>
        </p:nvGrpSpPr>
        <p:grpSpPr>
          <a:xfrm>
            <a:off x="4031763" y="4712908"/>
            <a:ext cx="7848500" cy="468313"/>
            <a:chOff x="3250868" y="3717318"/>
            <a:chExt cx="7848500" cy="468313"/>
          </a:xfrm>
        </p:grpSpPr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E447CDAC-685E-4FF8-8FA5-E34FAC1123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3178816"/>
                </p:ext>
              </p:extLst>
            </p:nvPr>
          </p:nvGraphicFramePr>
          <p:xfrm>
            <a:off x="3250868" y="3717319"/>
            <a:ext cx="2205037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854000" imgH="393480" progId="Equation.DSMT4">
                    <p:embed/>
                  </p:oleObj>
                </mc:Choice>
                <mc:Fallback>
                  <p:oleObj name="Equation" r:id="rId10" imgW="185400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250868" y="3717319"/>
                          <a:ext cx="2205037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A11F4A3-CED8-4FA9-B14A-85FCB57B8F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6211705"/>
                </p:ext>
              </p:extLst>
            </p:nvPr>
          </p:nvGraphicFramePr>
          <p:xfrm>
            <a:off x="5689268" y="3717319"/>
            <a:ext cx="2295525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30320" imgH="393480" progId="Equation.DSMT4">
                    <p:embed/>
                  </p:oleObj>
                </mc:Choice>
                <mc:Fallback>
                  <p:oleObj name="Equation" r:id="rId12" imgW="1930320" imgH="3934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E447CDAC-685E-4FF8-8FA5-E34FAC1123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689268" y="3717319"/>
                          <a:ext cx="2295525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3E5D422-3182-4A28-91D3-7E3AC12C7D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6979335"/>
                </p:ext>
              </p:extLst>
            </p:nvPr>
          </p:nvGraphicFramePr>
          <p:xfrm>
            <a:off x="8305368" y="3717318"/>
            <a:ext cx="2794000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349360" imgH="393480" progId="Equation.DSMT4">
                    <p:embed/>
                  </p:oleObj>
                </mc:Choice>
                <mc:Fallback>
                  <p:oleObj name="Equation" r:id="rId14" imgW="2349360" imgH="3934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7A11F4A3-CED8-4FA9-B14A-85FCB57B8F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305368" y="3717318"/>
                          <a:ext cx="2794000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8E6B142-6E5E-4662-A603-29C5AC9FA663}"/>
              </a:ext>
            </a:extLst>
          </p:cNvPr>
          <p:cNvSpPr txBox="1"/>
          <p:nvPr/>
        </p:nvSpPr>
        <p:spPr>
          <a:xfrm>
            <a:off x="1279917" y="2761733"/>
            <a:ext cx="1990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四舍五入：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52D1668-85DA-44C5-A1F1-D0D42150ED9A}"/>
              </a:ext>
            </a:extLst>
          </p:cNvPr>
          <p:cNvGrpSpPr/>
          <p:nvPr/>
        </p:nvGrpSpPr>
        <p:grpSpPr>
          <a:xfrm>
            <a:off x="372714" y="3422928"/>
            <a:ext cx="2592664" cy="815694"/>
            <a:chOff x="325750" y="3564075"/>
            <a:chExt cx="2592664" cy="815694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EE4A9DA-D948-4724-A4D6-F79826681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279917" y="3564075"/>
              <a:ext cx="1544470" cy="475697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E387CE8-0473-43A0-81AC-61DE73AB7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318343" y="4058529"/>
              <a:ext cx="1600071" cy="315072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5C62E1B-E605-4308-95A6-4C35BC0BA2AF}"/>
                </a:ext>
              </a:extLst>
            </p:cNvPr>
            <p:cNvSpPr txBox="1"/>
            <p:nvPr/>
          </p:nvSpPr>
          <p:spPr>
            <a:xfrm>
              <a:off x="341399" y="3643523"/>
              <a:ext cx="1254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1.2.4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4FB2D64-121C-4921-92E2-EFED45DCCDA9}"/>
                </a:ext>
              </a:extLst>
            </p:cNvPr>
            <p:cNvSpPr txBox="1"/>
            <p:nvPr/>
          </p:nvSpPr>
          <p:spPr>
            <a:xfrm>
              <a:off x="325750" y="4071992"/>
              <a:ext cx="1254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1.2.1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DBFA64D-A10E-46E4-9774-EC722AC434DE}"/>
              </a:ext>
            </a:extLst>
          </p:cNvPr>
          <p:cNvGrpSpPr/>
          <p:nvPr/>
        </p:nvGrpSpPr>
        <p:grpSpPr>
          <a:xfrm>
            <a:off x="311737" y="4630767"/>
            <a:ext cx="3542519" cy="914461"/>
            <a:chOff x="302973" y="4888569"/>
            <a:chExt cx="3542519" cy="914461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8410C52-24EB-4351-BEF1-B9254C1D3823}"/>
                </a:ext>
              </a:extLst>
            </p:cNvPr>
            <p:cNvSpPr txBox="1"/>
            <p:nvPr/>
          </p:nvSpPr>
          <p:spPr>
            <a:xfrm>
              <a:off x="302973" y="4888569"/>
              <a:ext cx="9769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定理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1.2.1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A5833B87-0D52-4DE4-BF5B-5433B2DD4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170118" y="4888569"/>
              <a:ext cx="2675374" cy="350943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1A8FDA1E-B8CC-456C-A92C-7B736E548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352746" y="5325232"/>
              <a:ext cx="1931101" cy="477798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AD7FCB3-AD2A-4783-8028-CE7241CF2D69}"/>
                </a:ext>
              </a:extLst>
            </p:cNvPr>
            <p:cNvSpPr txBox="1"/>
            <p:nvPr/>
          </p:nvSpPr>
          <p:spPr>
            <a:xfrm>
              <a:off x="302973" y="5453077"/>
              <a:ext cx="1254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1.2.2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448BC28-FEFC-4EE0-AB24-1BE53BD3B94C}"/>
              </a:ext>
            </a:extLst>
          </p:cNvPr>
          <p:cNvGrpSpPr/>
          <p:nvPr/>
        </p:nvGrpSpPr>
        <p:grpSpPr>
          <a:xfrm>
            <a:off x="4031763" y="3630040"/>
            <a:ext cx="6841894" cy="469827"/>
            <a:chOff x="3379085" y="3717208"/>
            <a:chExt cx="6841894" cy="469827"/>
          </a:xfrm>
        </p:grpSpPr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219B6209-EDDA-449E-A2E3-55E630C880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8374236"/>
                </p:ext>
              </p:extLst>
            </p:nvPr>
          </p:nvGraphicFramePr>
          <p:xfrm>
            <a:off x="3379085" y="3717208"/>
            <a:ext cx="1948245" cy="468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38000" imgH="393480" progId="Equation.DSMT4">
                    <p:embed/>
                  </p:oleObj>
                </mc:Choice>
                <mc:Fallback>
                  <p:oleObj name="Equation" r:id="rId20" imgW="1638000" imgH="3934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E447CDAC-685E-4FF8-8FA5-E34FAC1123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379085" y="3717208"/>
                          <a:ext cx="1948245" cy="4681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B939FADF-A4B1-4DB4-BDFF-65293B1E4C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2231785"/>
                </p:ext>
              </p:extLst>
            </p:nvPr>
          </p:nvGraphicFramePr>
          <p:xfrm>
            <a:off x="5788001" y="3717208"/>
            <a:ext cx="2098675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765080" imgH="393480" progId="Equation.DSMT4">
                    <p:embed/>
                  </p:oleObj>
                </mc:Choice>
                <mc:Fallback>
                  <p:oleObj name="Equation" r:id="rId22" imgW="1765080" imgH="3934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7A11F4A3-CED8-4FA9-B14A-85FCB57B8F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788001" y="3717208"/>
                          <a:ext cx="2098675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7DD319FE-6F38-490E-8444-5C7E6B8F5D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1228750"/>
                </p:ext>
              </p:extLst>
            </p:nvPr>
          </p:nvGraphicFramePr>
          <p:xfrm>
            <a:off x="8196917" y="3718722"/>
            <a:ext cx="2024062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701720" imgH="393480" progId="Equation.DSMT4">
                    <p:embed/>
                  </p:oleObj>
                </mc:Choice>
                <mc:Fallback>
                  <p:oleObj name="Equation" r:id="rId24" imgW="1701720" imgH="39348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43E5D422-3182-4A28-91D3-7E3AC12C7D5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196917" y="3718722"/>
                          <a:ext cx="2024062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3206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1.2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675EAB-E75E-45AD-A634-A54FDFD3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95" y="1524862"/>
            <a:ext cx="8535942" cy="474219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F30B6BDE-EDF5-499A-A4A0-67807D498706}"/>
              </a:ext>
            </a:extLst>
          </p:cNvPr>
          <p:cNvSpPr txBox="1"/>
          <p:nvPr/>
        </p:nvSpPr>
        <p:spPr>
          <a:xfrm>
            <a:off x="698760" y="2518732"/>
            <a:ext cx="97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1.2.1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BDC6B7D-231A-479A-B598-2F24055DF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740239"/>
              </p:ext>
            </p:extLst>
          </p:nvPr>
        </p:nvGraphicFramePr>
        <p:xfrm>
          <a:off x="2125663" y="3103563"/>
          <a:ext cx="23717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82400" progId="Equation.DSMT4">
                  <p:embed/>
                </p:oleObj>
              </mc:Choice>
              <mc:Fallback>
                <p:oleObj name="Equation" r:id="rId4" imgW="12697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5663" y="3103563"/>
                        <a:ext cx="2371725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6441A10-DE1A-4853-829D-F319D5CDE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403894"/>
              </p:ext>
            </p:extLst>
          </p:nvPr>
        </p:nvGraphicFramePr>
        <p:xfrm>
          <a:off x="2125663" y="4015354"/>
          <a:ext cx="4225785" cy="1011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280" imgH="634680" progId="Equation.DSMT4">
                  <p:embed/>
                </p:oleObj>
              </mc:Choice>
              <mc:Fallback>
                <p:oleObj name="Equation" r:id="rId6" imgW="26542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25663" y="4015354"/>
                        <a:ext cx="4225785" cy="1011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4004094F-B4BF-56DF-F0A2-531784886E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7221" y="2454739"/>
            <a:ext cx="3793751" cy="47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9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1.12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30B6BDE-EDF5-499A-A4A0-67807D498706}"/>
              </a:ext>
            </a:extLst>
          </p:cNvPr>
          <p:cNvSpPr txBox="1"/>
          <p:nvPr/>
        </p:nvSpPr>
        <p:spPr>
          <a:xfrm>
            <a:off x="609113" y="2234649"/>
            <a:ext cx="97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1.2.4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BDC6B7D-231A-479A-B598-2F24055DF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810637"/>
              </p:ext>
            </p:extLst>
          </p:nvPr>
        </p:nvGraphicFramePr>
        <p:xfrm>
          <a:off x="1742906" y="2931128"/>
          <a:ext cx="469582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4600" imgH="838080" progId="Equation.DSMT4">
                  <p:embed/>
                </p:oleObj>
              </mc:Choice>
              <mc:Fallback>
                <p:oleObj name="Equation" r:id="rId3" imgW="2514600" imgH="838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BDC6B7D-231A-479A-B598-2F24055DF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2906" y="2931128"/>
                        <a:ext cx="4695825" cy="1566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3E896DE0-1D10-4640-961B-8837D0742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503" y="1385889"/>
            <a:ext cx="8198815" cy="6434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A4DB1BD-9A98-4211-9401-790B91DA8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6057" y="2132629"/>
            <a:ext cx="2504762" cy="695238"/>
          </a:xfrm>
          <a:prstGeom prst="rect">
            <a:avLst/>
          </a:prstGeom>
        </p:spPr>
      </p:pic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319DDBA-CCE4-42E2-9903-E9024BF5B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093106"/>
              </p:ext>
            </p:extLst>
          </p:nvPr>
        </p:nvGraphicFramePr>
        <p:xfrm>
          <a:off x="7297768" y="2784561"/>
          <a:ext cx="4483100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00120" imgH="838080" progId="Equation.DSMT4">
                  <p:embed/>
                </p:oleObj>
              </mc:Choice>
              <mc:Fallback>
                <p:oleObj name="Equation" r:id="rId7" imgW="2400120" imgH="838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BDC6B7D-231A-479A-B598-2F24055DF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97768" y="2784561"/>
                        <a:ext cx="4483100" cy="1566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9149F26-01DA-4CB1-B258-475F60C09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733294"/>
              </p:ext>
            </p:extLst>
          </p:nvPr>
        </p:nvGraphicFramePr>
        <p:xfrm>
          <a:off x="1586057" y="5737487"/>
          <a:ext cx="3582987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17360" imgH="634680" progId="Equation.DSMT4">
                  <p:embed/>
                </p:oleObj>
              </mc:Choice>
              <mc:Fallback>
                <p:oleObj name="Equation" r:id="rId9" imgW="1917360" imgH="6346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319DDBA-CCE4-42E2-9903-E9024BF5B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6057" y="5737487"/>
                        <a:ext cx="3582987" cy="118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B216E2A-CFD2-5BE8-519E-E7FE2C37B364}"/>
              </a:ext>
            </a:extLst>
          </p:cNvPr>
          <p:cNvCxnSpPr/>
          <p:nvPr/>
        </p:nvCxnSpPr>
        <p:spPr>
          <a:xfrm>
            <a:off x="7062537" y="1624264"/>
            <a:ext cx="77002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1066A5F-8802-2487-553E-7DCD3464BF6D}"/>
              </a:ext>
            </a:extLst>
          </p:cNvPr>
          <p:cNvCxnSpPr/>
          <p:nvPr/>
        </p:nvCxnSpPr>
        <p:spPr>
          <a:xfrm>
            <a:off x="609113" y="4734475"/>
            <a:ext cx="10881045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1399C615-D558-6BF0-DCB9-9087C2FDAB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6057" y="5019917"/>
            <a:ext cx="3667504" cy="48108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41DE9ED-1102-5D9A-D603-667CC4C66550}"/>
              </a:ext>
            </a:extLst>
          </p:cNvPr>
          <p:cNvSpPr txBox="1"/>
          <p:nvPr/>
        </p:nvSpPr>
        <p:spPr>
          <a:xfrm>
            <a:off x="609113" y="5093644"/>
            <a:ext cx="97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1.2.1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30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误差的传播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03A8BE-2751-41D7-A282-8DC33AD7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622" y="1054515"/>
            <a:ext cx="6112989" cy="285373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5DC8C6-F7F6-4C50-9CF8-DEC920C62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622" y="4115605"/>
            <a:ext cx="6555520" cy="263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9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误差的传播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72F114-97DA-441A-9A90-7B32B2C8D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90"/>
          <a:stretch/>
        </p:blipFill>
        <p:spPr>
          <a:xfrm>
            <a:off x="2110286" y="1311149"/>
            <a:ext cx="7971428" cy="520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5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1.7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FDEE24-86D4-4C68-960C-964B0EFA7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051" y="1025433"/>
            <a:ext cx="7057143" cy="5714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ECA487-E7C1-42AB-96B7-63DB61A0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757" y="3128278"/>
            <a:ext cx="3688180" cy="982279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F053BBA-6633-4BA5-9135-90102ACF2A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77213"/>
              </p:ext>
            </p:extLst>
          </p:nvPr>
        </p:nvGraphicFramePr>
        <p:xfrm>
          <a:off x="6363473" y="2282294"/>
          <a:ext cx="3194242" cy="1337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914400" progId="Equation.DSMT4">
                  <p:embed/>
                </p:oleObj>
              </mc:Choice>
              <mc:Fallback>
                <p:oleObj name="Equation" r:id="rId5" imgW="218412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63473" y="2282294"/>
                        <a:ext cx="3194242" cy="13371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C2728C2-113B-4342-859D-21B4DD27A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699824"/>
              </p:ext>
            </p:extLst>
          </p:nvPr>
        </p:nvGraphicFramePr>
        <p:xfrm>
          <a:off x="6363473" y="4646005"/>
          <a:ext cx="2006600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26920" imgH="1269720" progId="Equation.DSMT4">
                  <p:embed/>
                </p:oleObj>
              </mc:Choice>
              <mc:Fallback>
                <p:oleObj name="Equation" r:id="rId7" imgW="1726920" imgH="1269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F053BBA-6633-4BA5-9135-90102ACF2A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3473" y="4646005"/>
                        <a:ext cx="2006600" cy="1474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43B9345-3751-4915-AD43-C53C2335DE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770191"/>
              </p:ext>
            </p:extLst>
          </p:nvPr>
        </p:nvGraphicFramePr>
        <p:xfrm>
          <a:off x="9091879" y="5139718"/>
          <a:ext cx="27590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74560" imgH="419040" progId="Equation.DSMT4">
                  <p:embed/>
                </p:oleObj>
              </mc:Choice>
              <mc:Fallback>
                <p:oleObj name="Equation" r:id="rId9" imgW="237456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C2728C2-113B-4342-859D-21B4DD27A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91879" y="5139718"/>
                        <a:ext cx="2759075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6E32C6B-B816-B45E-46CF-634859F07518}"/>
              </a:ext>
            </a:extLst>
          </p:cNvPr>
          <p:cNvSpPr txBox="1"/>
          <p:nvPr/>
        </p:nvSpPr>
        <p:spPr>
          <a:xfrm>
            <a:off x="6363473" y="1874793"/>
            <a:ext cx="976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误差限</a:t>
            </a:r>
          </a:p>
        </p:txBody>
      </p:sp>
    </p:spTree>
    <p:extLst>
      <p:ext uri="{BB962C8B-B14F-4D97-AF65-F5344CB8AC3E}">
        <p14:creationId xmlns:p14="http://schemas.microsoft.com/office/powerpoint/2010/main" val="38624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第一章：引论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数值稳定性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845157-6B23-4499-B1AA-75B716E78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02" y="1463198"/>
            <a:ext cx="9579152" cy="1300283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6E053B-AE8D-4E97-AA8E-C87E390A179E}"/>
              </a:ext>
            </a:extLst>
          </p:cNvPr>
          <p:cNvCxnSpPr/>
          <p:nvPr/>
        </p:nvCxnSpPr>
        <p:spPr>
          <a:xfrm>
            <a:off x="6015318" y="1721224"/>
            <a:ext cx="43030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D47D707-CCAB-400A-8CC1-69C641B7FF9D}"/>
              </a:ext>
            </a:extLst>
          </p:cNvPr>
          <p:cNvCxnSpPr>
            <a:cxnSpLocks/>
          </p:cNvCxnSpPr>
          <p:nvPr/>
        </p:nvCxnSpPr>
        <p:spPr>
          <a:xfrm>
            <a:off x="6624918" y="1721224"/>
            <a:ext cx="227703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D564C7E-B6B1-4EB3-9925-41102234C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978" y="3391248"/>
            <a:ext cx="7190476" cy="866667"/>
          </a:xfrm>
          <a:prstGeom prst="rect">
            <a:avLst/>
          </a:prstGeom>
        </p:spPr>
      </p:pic>
      <p:sp>
        <p:nvSpPr>
          <p:cNvPr id="12" name="文本框 1">
            <a:extLst>
              <a:ext uri="{FF2B5EF4-FFF2-40B4-BE49-F238E27FC236}">
                <a16:creationId xmlns:a16="http://schemas.microsoft.com/office/drawing/2014/main" id="{D71EA7CB-A532-47F7-9380-A429DE2418F5}"/>
              </a:ext>
            </a:extLst>
          </p:cNvPr>
          <p:cNvSpPr txBox="1"/>
          <p:nvPr/>
        </p:nvSpPr>
        <p:spPr>
          <a:xfrm>
            <a:off x="471694" y="2848110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1.15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C8F2A9E-8C62-4C51-876B-EF3E2A455D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47432"/>
              </p:ext>
            </p:extLst>
          </p:nvPr>
        </p:nvGraphicFramePr>
        <p:xfrm>
          <a:off x="1635878" y="4505801"/>
          <a:ext cx="5175894" cy="1195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48040" imgH="888840" progId="Equation.DSMT4">
                  <p:embed/>
                </p:oleObj>
              </mc:Choice>
              <mc:Fallback>
                <p:oleObj name="Equation" r:id="rId5" imgW="38480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35878" y="4505801"/>
                        <a:ext cx="5175894" cy="1195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1746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二分法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9DA98F2-2C1C-4304-8170-1C7E55940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883" y="1099243"/>
            <a:ext cx="7647619" cy="8476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8401114-5048-493C-8C8B-0E5E6654F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883" y="1979316"/>
            <a:ext cx="7580952" cy="4285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B0694D-1B29-49F3-942A-0148A9F29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552" y="2440341"/>
            <a:ext cx="7361905" cy="12761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C4832F-FD1B-4F05-A8DC-050E60A15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657" y="3783709"/>
            <a:ext cx="7476190" cy="647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9A8454B-7A4F-4A74-BADC-95D51C07D8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5071" y="4594161"/>
            <a:ext cx="7761905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31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3.18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263D76E-06CD-4222-9DA6-403E166CA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59" y="1513896"/>
            <a:ext cx="9673158" cy="41875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B6C9FCB-DB4C-4334-B4C7-F020517C7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22" y="2749109"/>
            <a:ext cx="5065993" cy="961289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86C2E92-D6AD-2B8D-2888-84B88153B4FB}"/>
              </a:ext>
            </a:extLst>
          </p:cNvPr>
          <p:cNvGrpSpPr/>
          <p:nvPr/>
        </p:nvGrpSpPr>
        <p:grpSpPr>
          <a:xfrm>
            <a:off x="7685923" y="2616039"/>
            <a:ext cx="2974975" cy="987013"/>
            <a:chOff x="7685923" y="2616039"/>
            <a:chExt cx="2974975" cy="987013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EA40D96A-71C3-4847-B5FE-8077A80A1C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522707"/>
                </p:ext>
              </p:extLst>
            </p:nvPr>
          </p:nvGraphicFramePr>
          <p:xfrm>
            <a:off x="7685923" y="2616039"/>
            <a:ext cx="2974975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44440" imgH="609480" progId="Equation.DSMT4">
                    <p:embed/>
                  </p:oleObj>
                </mc:Choice>
                <mc:Fallback>
                  <p:oleObj name="Equation" r:id="rId5" imgW="2044440" imgH="609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685923" y="2616039"/>
                          <a:ext cx="2974975" cy="8858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974B27D-6594-434B-AA85-579F4E604A23}"/>
                </a:ext>
              </a:extLst>
            </p:cNvPr>
            <p:cNvSpPr txBox="1"/>
            <p:nvPr/>
          </p:nvSpPr>
          <p:spPr>
            <a:xfrm>
              <a:off x="7907721" y="3295275"/>
              <a:ext cx="1610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至少需要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6494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E0CF57-D9A3-464E-B089-7F7150754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22" y="1835001"/>
            <a:ext cx="10851956" cy="408421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F13F2F2-E9AE-41A9-8C89-F464AF105B19}"/>
              </a:ext>
            </a:extLst>
          </p:cNvPr>
          <p:cNvSpPr/>
          <p:nvPr/>
        </p:nvSpPr>
        <p:spPr>
          <a:xfrm>
            <a:off x="3283847" y="3294529"/>
            <a:ext cx="1035490" cy="36307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921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AC8326-77DF-4187-98B6-EAAD747D6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141" y="1367029"/>
            <a:ext cx="9638262" cy="34464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0A4D30-4251-4BEC-977E-191C1BF38F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645" r="31748"/>
          <a:stretch/>
        </p:blipFill>
        <p:spPr>
          <a:xfrm>
            <a:off x="3283847" y="4813438"/>
            <a:ext cx="4102769" cy="178146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12134F9-6366-4474-B465-D04211F6B6BF}"/>
              </a:ext>
            </a:extLst>
          </p:cNvPr>
          <p:cNvCxnSpPr>
            <a:cxnSpLocks/>
          </p:cNvCxnSpPr>
          <p:nvPr/>
        </p:nvCxnSpPr>
        <p:spPr>
          <a:xfrm>
            <a:off x="3019969" y="2775049"/>
            <a:ext cx="532994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305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3440EA-14A2-46D8-A33B-BB92F022C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68" y="1666652"/>
            <a:ext cx="10632460" cy="20777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275C1D1-F722-44E2-BF72-99EFA03CC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92" y="3984677"/>
            <a:ext cx="10562436" cy="165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33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A451E8-198A-B6F6-7338-5C979979C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507" y="1798815"/>
            <a:ext cx="9652986" cy="327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76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A1D92E-DBC4-427A-B10B-2127C6F22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58" y="1458549"/>
            <a:ext cx="10303288" cy="4949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8A0C25-7CCD-4B4F-AA26-E03FBF4ED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48" y="1953524"/>
            <a:ext cx="10439179" cy="214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74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牛顿迭代法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260766-35D0-4CDE-9521-8CD2322C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476" y="1405190"/>
            <a:ext cx="8019048" cy="4047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BDF580-F43C-4DF4-9DE1-F91FBE8EC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138" y="5694162"/>
            <a:ext cx="7628571" cy="666667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51EBF91-4320-F538-CB73-4F36DC3ECA83}"/>
              </a:ext>
            </a:extLst>
          </p:cNvPr>
          <p:cNvCxnSpPr/>
          <p:nvPr/>
        </p:nvCxnSpPr>
        <p:spPr>
          <a:xfrm>
            <a:off x="5438274" y="6003758"/>
            <a:ext cx="4572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456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牛顿迭代法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C6BB91-A68B-45A5-A762-BF0309856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51" y="1613634"/>
            <a:ext cx="8057143" cy="4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D588B4-89E0-4684-B7BF-B1161644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234" y="1624828"/>
            <a:ext cx="9414298" cy="328405"/>
          </a:xfrm>
          <a:prstGeom prst="rect">
            <a:avLst/>
          </a:prstGeom>
        </p:spPr>
      </p:pic>
      <p:sp>
        <p:nvSpPr>
          <p:cNvPr id="3" name="文本框 4">
            <a:extLst>
              <a:ext uri="{FF2B5EF4-FFF2-40B4-BE49-F238E27FC236}">
                <a16:creationId xmlns:a16="http://schemas.microsoft.com/office/drawing/2014/main" id="{A5B804F7-8163-4560-A7F1-7C2D922A5E17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A1556BF-659B-46A9-962B-1DFF092C6477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1">
            <a:extLst>
              <a:ext uri="{FF2B5EF4-FFF2-40B4-BE49-F238E27FC236}">
                <a16:creationId xmlns:a16="http://schemas.microsoft.com/office/drawing/2014/main" id="{A0F66C81-7194-454B-8AB0-6B5B37BA27F6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3.17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D56CB81-7ED7-4334-98C9-8A4093442A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970680"/>
              </p:ext>
            </p:extLst>
          </p:nvPr>
        </p:nvGraphicFramePr>
        <p:xfrm>
          <a:off x="2645709" y="2305257"/>
          <a:ext cx="4096826" cy="2599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1587240" progId="Equation.DSMT4">
                  <p:embed/>
                </p:oleObj>
              </mc:Choice>
              <mc:Fallback>
                <p:oleObj name="Equation" r:id="rId4" imgW="2501640" imgH="1587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45709" y="2305257"/>
                        <a:ext cx="4096826" cy="2599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6062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">
            <a:extLst>
              <a:ext uri="{FF2B5EF4-FFF2-40B4-BE49-F238E27FC236}">
                <a16:creationId xmlns:a16="http://schemas.microsoft.com/office/drawing/2014/main" id="{A5B804F7-8163-4560-A7F1-7C2D922A5E17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A1556BF-659B-46A9-962B-1DFF092C6477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1">
            <a:extLst>
              <a:ext uri="{FF2B5EF4-FFF2-40B4-BE49-F238E27FC236}">
                <a16:creationId xmlns:a16="http://schemas.microsoft.com/office/drawing/2014/main" id="{A0F66C81-7194-454B-8AB0-6B5B37BA27F6}"/>
              </a:ext>
            </a:extLst>
          </p:cNvPr>
          <p:cNvSpPr txBox="1"/>
          <p:nvPr/>
        </p:nvSpPr>
        <p:spPr>
          <a:xfrm>
            <a:off x="471695" y="830504"/>
            <a:ext cx="562430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3.20</a:t>
            </a:r>
          </a:p>
          <a:p>
            <a:pPr marL="800100" lvl="1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73F13D-8767-4151-9DF5-731C9E88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264" y="1420363"/>
            <a:ext cx="7799827" cy="504467"/>
          </a:xfrm>
          <a:prstGeom prst="rect">
            <a:avLst/>
          </a:prstGeom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82DEF47-1218-4F9B-BF54-421FBCB50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350141"/>
              </p:ext>
            </p:extLst>
          </p:nvPr>
        </p:nvGraphicFramePr>
        <p:xfrm>
          <a:off x="2149811" y="2157998"/>
          <a:ext cx="4351338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5800" imgH="927000" progId="Equation.DSMT4">
                  <p:embed/>
                </p:oleObj>
              </mc:Choice>
              <mc:Fallback>
                <p:oleObj name="Equation" r:id="rId4" imgW="275580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9811" y="2157998"/>
                        <a:ext cx="4351338" cy="146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21D97026-5391-44EA-93D7-C1B2CA413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9811" y="4351517"/>
            <a:ext cx="3713570" cy="392343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6AF39B1-112F-41E0-BA82-5E38AE53B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351058"/>
              </p:ext>
            </p:extLst>
          </p:nvPr>
        </p:nvGraphicFramePr>
        <p:xfrm>
          <a:off x="7286781" y="4118079"/>
          <a:ext cx="1271681" cy="1130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" imgH="609480" progId="Equation.DSMT4">
                  <p:embed/>
                </p:oleObj>
              </mc:Choice>
              <mc:Fallback>
                <p:oleObj name="Equation" r:id="rId7" imgW="68580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86781" y="4118079"/>
                        <a:ext cx="1271681" cy="1130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EC6396E-EB6F-4917-B5B2-5A98D9654D95}"/>
              </a:ext>
            </a:extLst>
          </p:cNvPr>
          <p:cNvSpPr txBox="1"/>
          <p:nvPr/>
        </p:nvSpPr>
        <p:spPr>
          <a:xfrm>
            <a:off x="7286781" y="5488457"/>
            <a:ext cx="1562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收敛阶为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2C45115-80D9-A982-1551-097194D69826}"/>
              </a:ext>
            </a:extLst>
          </p:cNvPr>
          <p:cNvCxnSpPr/>
          <p:nvPr/>
        </p:nvCxnSpPr>
        <p:spPr>
          <a:xfrm>
            <a:off x="673273" y="3916328"/>
            <a:ext cx="10881045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954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第三章：方程求根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弦截法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350B70-354B-4E32-98D7-5D59B624B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49" y="1945902"/>
            <a:ext cx="11071102" cy="254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1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顺序高斯消去法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8E70A2-37F8-42A0-AC73-8758C1FA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453" y="1463198"/>
            <a:ext cx="7857143" cy="1095238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4D2DBBF-E3D3-4074-B9E9-789C278FC63C}"/>
              </a:ext>
            </a:extLst>
          </p:cNvPr>
          <p:cNvCxnSpPr/>
          <p:nvPr/>
        </p:nvCxnSpPr>
        <p:spPr>
          <a:xfrm>
            <a:off x="5607423" y="2286000"/>
            <a:ext cx="337465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55B447A-CE5C-4171-96E5-3CBF5764C03A}"/>
              </a:ext>
            </a:extLst>
          </p:cNvPr>
          <p:cNvCxnSpPr>
            <a:cxnSpLocks/>
          </p:cNvCxnSpPr>
          <p:nvPr/>
        </p:nvCxnSpPr>
        <p:spPr>
          <a:xfrm>
            <a:off x="1605453" y="2558436"/>
            <a:ext cx="245219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D62082DD-88E1-4461-AB38-2B4FF255B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736" y="2847737"/>
            <a:ext cx="7576138" cy="33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4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顺序高斯消去法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4D2DBBF-E3D3-4074-B9E9-789C278FC63C}"/>
              </a:ext>
            </a:extLst>
          </p:cNvPr>
          <p:cNvCxnSpPr/>
          <p:nvPr/>
        </p:nvCxnSpPr>
        <p:spPr>
          <a:xfrm>
            <a:off x="5607423" y="2286000"/>
            <a:ext cx="337465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D62082DD-88E1-4461-AB38-2B4FF255B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49" y="2847735"/>
            <a:ext cx="6640397" cy="29036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EDF8A6-B274-4475-9EFB-CC2372E5D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789" y="1732258"/>
            <a:ext cx="7904762" cy="4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79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顺序高斯消去法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34704C-0688-4F40-81DC-826D22BC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24" y="966238"/>
            <a:ext cx="6584457" cy="578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44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顺序高斯消去法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C9A48C-F39E-42CD-A545-BAC2BB9F0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221" y="1971838"/>
            <a:ext cx="7942857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89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4.1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26E8F4-5D85-4380-9BFE-AA126EEAE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247" y="1061266"/>
            <a:ext cx="5866543" cy="967551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96BD4B3-CCEA-47D6-8E34-B1DE1382C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118943"/>
              </p:ext>
            </p:extLst>
          </p:nvPr>
        </p:nvGraphicFramePr>
        <p:xfrm>
          <a:off x="6229350" y="3090863"/>
          <a:ext cx="749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672840" progId="Equation.DSMT4">
                  <p:embed/>
                </p:oleObj>
              </mc:Choice>
              <mc:Fallback>
                <p:oleObj name="Equation" r:id="rId4" imgW="7491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29350" y="3090863"/>
                        <a:ext cx="749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0827C1C-03DF-4E7F-AFDA-974966C52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766048"/>
              </p:ext>
            </p:extLst>
          </p:nvPr>
        </p:nvGraphicFramePr>
        <p:xfrm>
          <a:off x="2131087" y="2392649"/>
          <a:ext cx="5288888" cy="172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46160" imgH="1218960" progId="Equation.DSMT4">
                  <p:embed/>
                </p:oleObj>
              </mc:Choice>
              <mc:Fallback>
                <p:oleObj name="Equation" r:id="rId6" imgW="374616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31087" y="2392649"/>
                        <a:ext cx="5288888" cy="1721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6A8C532-D320-456A-9C74-763B182054F0}"/>
              </a:ext>
            </a:extLst>
          </p:cNvPr>
          <p:cNvSpPr txBox="1"/>
          <p:nvPr/>
        </p:nvSpPr>
        <p:spPr>
          <a:xfrm>
            <a:off x="2131087" y="4477611"/>
            <a:ext cx="1610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回代：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EDC1A6C-E699-4B2D-8313-35C49EBAB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402391"/>
              </p:ext>
            </p:extLst>
          </p:nvPr>
        </p:nvGraphicFramePr>
        <p:xfrm>
          <a:off x="3044372" y="4009396"/>
          <a:ext cx="857655" cy="1334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" imgH="711000" progId="Equation.DSMT4">
                  <p:embed/>
                </p:oleObj>
              </mc:Choice>
              <mc:Fallback>
                <p:oleObj name="Equation" r:id="rId8" imgW="4572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44372" y="4009396"/>
                        <a:ext cx="857655" cy="13341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1622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列主元素高斯消去法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756B60-17B5-4601-BB35-5AECF9661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465" y="1463198"/>
            <a:ext cx="5962244" cy="525411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08D272F-32F5-4805-861F-41C12A8170F3}"/>
              </a:ext>
            </a:extLst>
          </p:cNvPr>
          <p:cNvSpPr/>
          <p:nvPr/>
        </p:nvSpPr>
        <p:spPr>
          <a:xfrm>
            <a:off x="3562350" y="2171700"/>
            <a:ext cx="2828925" cy="33336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77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4.4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FE74968-313B-48B0-A1C6-E06A2A76AD92}"/>
              </a:ext>
            </a:extLst>
          </p:cNvPr>
          <p:cNvGrpSpPr/>
          <p:nvPr/>
        </p:nvGrpSpPr>
        <p:grpSpPr>
          <a:xfrm>
            <a:off x="3224280" y="928224"/>
            <a:ext cx="4795572" cy="1383956"/>
            <a:chOff x="2491053" y="1137774"/>
            <a:chExt cx="4795572" cy="138395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33EF4C8-10FD-4D25-82DE-E1C13460F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1053" y="1137774"/>
              <a:ext cx="4795572" cy="1383956"/>
            </a:xfrm>
            <a:prstGeom prst="rect">
              <a:avLst/>
            </a:prstGeom>
          </p:spPr>
        </p:pic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10FA6EF-14D5-49AE-BFF2-F7D62873115D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1368228"/>
              <a:ext cx="65722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DC52F9F-2941-48AF-8C52-4A7821668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471922"/>
              </p:ext>
            </p:extLst>
          </p:nvPr>
        </p:nvGraphicFramePr>
        <p:xfrm>
          <a:off x="6729312" y="6086254"/>
          <a:ext cx="3360265" cy="66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080" imgH="393480" progId="Equation.DSMT4">
                  <p:embed/>
                </p:oleObj>
              </mc:Choice>
              <mc:Fallback>
                <p:oleObj name="Equation" r:id="rId4" imgW="1981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29312" y="6086254"/>
                        <a:ext cx="3360265" cy="66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856616D8-BB07-C432-D59D-D7AE05BCB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683" y="2312180"/>
            <a:ext cx="6051861" cy="39308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B54B99-F808-A8D1-2872-BD52A4D523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477" y="4642750"/>
            <a:ext cx="3022755" cy="16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68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4.5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096D8B-DD7B-43C3-8C92-E95336570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418" y="842998"/>
            <a:ext cx="4885714" cy="10285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5819B7-0618-0E1C-3261-48486189F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804" y="2491769"/>
            <a:ext cx="7606954" cy="391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53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高斯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约当消去法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2EAB703-CFE5-4263-BF8B-7D9BDB02195B}"/>
              </a:ext>
            </a:extLst>
          </p:cNvPr>
          <p:cNvGrpSpPr/>
          <p:nvPr/>
        </p:nvGrpSpPr>
        <p:grpSpPr>
          <a:xfrm>
            <a:off x="622650" y="1463198"/>
            <a:ext cx="10509874" cy="1080941"/>
            <a:chOff x="705521" y="2424161"/>
            <a:chExt cx="10509874" cy="108094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14C9596-25E0-4383-B038-695FB3C27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521" y="2424161"/>
              <a:ext cx="10509874" cy="1080941"/>
            </a:xfrm>
            <a:prstGeom prst="rect">
              <a:avLst/>
            </a:prstGeom>
          </p:spPr>
        </p:pic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C3D24AA-EAA1-4107-8746-89B343746CF7}"/>
                </a:ext>
              </a:extLst>
            </p:cNvPr>
            <p:cNvCxnSpPr/>
            <p:nvPr/>
          </p:nvCxnSpPr>
          <p:spPr>
            <a:xfrm>
              <a:off x="2867025" y="3133725"/>
              <a:ext cx="315277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4A230058-7505-464D-95E1-E9AE6B0DD3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38" r="5023"/>
          <a:stretch/>
        </p:blipFill>
        <p:spPr>
          <a:xfrm>
            <a:off x="3498540" y="2676199"/>
            <a:ext cx="4876777" cy="41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29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直接三角分解法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677A15-F5DB-42DE-A299-35F5FF49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89" y="2862631"/>
            <a:ext cx="7163174" cy="19132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221BBD-09DF-40DB-B528-9A78833AD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111" y="4667377"/>
            <a:ext cx="7600000" cy="22031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6E11FE-0D0D-090C-461A-14AF24F84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869" y="1376655"/>
            <a:ext cx="7036162" cy="148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73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4.10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5EE2095-B8D9-4D07-AABD-04E6623F3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347946"/>
              </p:ext>
            </p:extLst>
          </p:nvPr>
        </p:nvGraphicFramePr>
        <p:xfrm>
          <a:off x="1336698" y="3098478"/>
          <a:ext cx="965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711000" progId="Equation.DSMT4">
                  <p:embed/>
                </p:oleObj>
              </mc:Choice>
              <mc:Fallback>
                <p:oleObj name="Equation" r:id="rId3" imgW="965160" imgH="7110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5EE2095-B8D9-4D07-AABD-04E6623F39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6698" y="3098478"/>
                        <a:ext cx="965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4BC61DE1-6947-40F2-99AF-EB56A1CEE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0832" y="1007824"/>
            <a:ext cx="4945753" cy="923675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8A7ED03-5649-418A-B749-8FFA3D7233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862567"/>
              </p:ext>
            </p:extLst>
          </p:nvPr>
        </p:nvGraphicFramePr>
        <p:xfrm>
          <a:off x="1336698" y="3850283"/>
          <a:ext cx="3404398" cy="346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228600" progId="Equation.DSMT4">
                  <p:embed/>
                </p:oleObj>
              </mc:Choice>
              <mc:Fallback>
                <p:oleObj name="Equation" r:id="rId6" imgW="2247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36698" y="3850283"/>
                        <a:ext cx="3404398" cy="346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BC91719-2D1D-4F7A-A62A-D2262A936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267548"/>
              </p:ext>
            </p:extLst>
          </p:nvPr>
        </p:nvGraphicFramePr>
        <p:xfrm>
          <a:off x="1336698" y="4234663"/>
          <a:ext cx="31432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70000" imgH="393480" progId="Equation.DSMT4">
                  <p:embed/>
                </p:oleObj>
              </mc:Choice>
              <mc:Fallback>
                <p:oleObj name="Equation" r:id="rId8" imgW="207000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8A7ED03-5649-418A-B749-8FFA3D7233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36698" y="4234663"/>
                        <a:ext cx="314325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B0B712DD-5B7C-446D-8FA0-09E1D0FDC1C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1016" t="17098"/>
          <a:stretch/>
        </p:blipFill>
        <p:spPr>
          <a:xfrm>
            <a:off x="1228724" y="1806245"/>
            <a:ext cx="2829400" cy="1201472"/>
          </a:xfrm>
          <a:prstGeom prst="rect">
            <a:avLst/>
          </a:prstGeom>
        </p:spPr>
      </p:pic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203633D-4745-44E6-B121-8B4791B740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811521"/>
              </p:ext>
            </p:extLst>
          </p:nvPr>
        </p:nvGraphicFramePr>
        <p:xfrm>
          <a:off x="1336698" y="4742075"/>
          <a:ext cx="5672137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46160" imgH="393480" progId="Equation.DSMT4">
                  <p:embed/>
                </p:oleObj>
              </mc:Choice>
              <mc:Fallback>
                <p:oleObj name="Equation" r:id="rId11" imgW="374616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8A7ED03-5649-418A-B749-8FFA3D7233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6698" y="4742075"/>
                        <a:ext cx="5672137" cy="595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1D3B06F-58BB-4A91-9B53-E0BFE5BED6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676985"/>
              </p:ext>
            </p:extLst>
          </p:nvPr>
        </p:nvGraphicFramePr>
        <p:xfrm>
          <a:off x="1336698" y="5286069"/>
          <a:ext cx="37988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01640" imgH="393480" progId="Equation.DSMT4">
                  <p:embed/>
                </p:oleObj>
              </mc:Choice>
              <mc:Fallback>
                <p:oleObj name="Equation" r:id="rId13" imgW="2501640" imgH="393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BC91719-2D1D-4F7A-A62A-D2262A936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36698" y="5286069"/>
                        <a:ext cx="3798888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8B775FB-3184-4760-8C63-00EDDDD62A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352378"/>
              </p:ext>
            </p:extLst>
          </p:nvPr>
        </p:nvGraphicFramePr>
        <p:xfrm>
          <a:off x="1336698" y="5791893"/>
          <a:ext cx="40576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79480" imgH="393480" progId="Equation.DSMT4">
                  <p:embed/>
                </p:oleObj>
              </mc:Choice>
              <mc:Fallback>
                <p:oleObj name="Equation" r:id="rId15" imgW="2679480" imgH="393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203633D-4745-44E6-B121-8B4791B740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36698" y="5791893"/>
                        <a:ext cx="4057650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>
            <a:extLst>
              <a:ext uri="{FF2B5EF4-FFF2-40B4-BE49-F238E27FC236}">
                <a16:creationId xmlns:a16="http://schemas.microsoft.com/office/drawing/2014/main" id="{72B38D2D-5E63-4446-BCEB-F475D9C271A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67802" y="1931499"/>
            <a:ext cx="3391876" cy="1333500"/>
          </a:xfrm>
          <a:prstGeom prst="rect">
            <a:avLst/>
          </a:prstGeom>
        </p:spPr>
      </p:pic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F6A434C-7BC6-484C-826A-44307E3D9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332884"/>
              </p:ext>
            </p:extLst>
          </p:nvPr>
        </p:nvGraphicFramePr>
        <p:xfrm>
          <a:off x="7588532" y="3454078"/>
          <a:ext cx="3171146" cy="1280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41320" imgH="1066680" progId="Equation.DSMT4">
                  <p:embed/>
                </p:oleObj>
              </mc:Choice>
              <mc:Fallback>
                <p:oleObj name="Equation" r:id="rId18" imgW="2641320" imgH="10666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5DCB513-217D-4AAA-86E8-A281BBCCCE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588532" y="3454078"/>
                        <a:ext cx="3171146" cy="1280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3DC4104-7747-407F-8337-592E86552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090369"/>
              </p:ext>
            </p:extLst>
          </p:nvPr>
        </p:nvGraphicFramePr>
        <p:xfrm>
          <a:off x="7588532" y="5039731"/>
          <a:ext cx="3382963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19160" imgH="1066680" progId="Equation.DSMT4">
                  <p:embed/>
                </p:oleObj>
              </mc:Choice>
              <mc:Fallback>
                <p:oleObj name="Equation" r:id="rId20" imgW="2819160" imgH="10666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0F6A434C-7BC6-484C-826A-44307E3D9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588532" y="5039731"/>
                        <a:ext cx="3382963" cy="1281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1065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解三对角方程组的追赶法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E60E28-EBBF-43C1-A6FB-3EC2C06E4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015" y="1559451"/>
            <a:ext cx="6955658" cy="336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72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解三对角方程组的追赶法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14C7870-4942-9E22-A879-951AA350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597" y="1463198"/>
            <a:ext cx="8337979" cy="19686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AA20BB-BB30-EB67-5DFD-FC1A430A4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283" y="3429000"/>
            <a:ext cx="3759393" cy="9080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05268EA-86DE-2D84-34FB-B0E812FCF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6299" y="4611428"/>
            <a:ext cx="5994708" cy="3302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BB6CE65-85AB-5016-C4DC-B602C809A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8615" y="4941645"/>
            <a:ext cx="3137061" cy="7556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DBD8FC2-4424-AA57-7315-ADE7C4688B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4946" y="5709366"/>
            <a:ext cx="2997354" cy="69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33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第四章：解线性方程组的直接法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4.7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5EE2095-B8D9-4D07-AABD-04E6623F3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918064"/>
              </p:ext>
            </p:extLst>
          </p:nvPr>
        </p:nvGraphicFramePr>
        <p:xfrm>
          <a:off x="1112015" y="1651148"/>
          <a:ext cx="1921979" cy="887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080" imgH="914400" progId="Equation.DSMT4">
                  <p:embed/>
                </p:oleObj>
              </mc:Choice>
              <mc:Fallback>
                <p:oleObj name="Equation" r:id="rId3" imgW="1981080" imgH="914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5EE2095-B8D9-4D07-AABD-04E6623F39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2015" y="1651148"/>
                        <a:ext cx="1921979" cy="887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5DCB513-217D-4AAA-86E8-A281BBCCC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434259"/>
              </p:ext>
            </p:extLst>
          </p:nvPr>
        </p:nvGraphicFramePr>
        <p:xfrm>
          <a:off x="5121275" y="5458599"/>
          <a:ext cx="245831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20760" imgH="1117440" progId="Equation.DSMT4">
                  <p:embed/>
                </p:oleObj>
              </mc:Choice>
              <mc:Fallback>
                <p:oleObj name="Equation" r:id="rId5" imgW="2120760" imgH="11174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5DCB513-217D-4AAA-86E8-A281BBCCCE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21275" y="5458599"/>
                        <a:ext cx="2458315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4534102E-7D33-4E77-9C73-F8DA71E98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3994" y="871687"/>
            <a:ext cx="4504762" cy="9809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3320A6-A890-4E42-B8E9-8B3422AEB9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921" y="2727376"/>
            <a:ext cx="3542857" cy="914286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498BF69-452B-4E22-A123-03F2EEF781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208690"/>
              </p:ext>
            </p:extLst>
          </p:nvPr>
        </p:nvGraphicFramePr>
        <p:xfrm>
          <a:off x="6546850" y="33369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120" imgH="177480" progId="Equation.DSMT4">
                  <p:embed/>
                </p:oleObj>
              </mc:Choice>
              <mc:Fallback>
                <p:oleObj name="Equation" r:id="rId9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46850" y="33369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BA5B2A2-821F-4436-8622-809623D947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57109"/>
              </p:ext>
            </p:extLst>
          </p:nvPr>
        </p:nvGraphicFramePr>
        <p:xfrm>
          <a:off x="5121275" y="2689225"/>
          <a:ext cx="38608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60640" imgH="1295280" progId="Equation.DSMT4">
                  <p:embed/>
                </p:oleObj>
              </mc:Choice>
              <mc:Fallback>
                <p:oleObj name="Equation" r:id="rId11" imgW="386064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21275" y="2689225"/>
                        <a:ext cx="3860800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DDBF4A0B-37F2-440B-BE9A-235FF9CEDD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836" y="4308515"/>
            <a:ext cx="3038095" cy="64761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CADE409-813B-45FC-84A3-6E2F69CB82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015" y="5617713"/>
            <a:ext cx="2761905" cy="571429"/>
          </a:xfrm>
          <a:prstGeom prst="rect">
            <a:avLst/>
          </a:prstGeom>
        </p:spPr>
      </p:pic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394E709-1978-43A7-8FE5-79C01D037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63056"/>
              </p:ext>
            </p:extLst>
          </p:nvPr>
        </p:nvGraphicFramePr>
        <p:xfrm>
          <a:off x="5121275" y="3881437"/>
          <a:ext cx="3133950" cy="1414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69920" imgH="1295280" progId="Equation.DSMT4">
                  <p:embed/>
                </p:oleObj>
              </mc:Choice>
              <mc:Fallback>
                <p:oleObj name="Equation" r:id="rId15" imgW="2869920" imgH="1295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5DCB513-217D-4AAA-86E8-A281BBCCCE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21275" y="3881437"/>
                        <a:ext cx="3133950" cy="1414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9316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雅可比迭代法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78FB71-3D22-405C-9F0F-FAC14FE9B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94" y="1463198"/>
            <a:ext cx="5195578" cy="49221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7FEC830-2CE8-45D3-9DED-6FB131300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643181"/>
            <a:ext cx="5886315" cy="15765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35AEA34-F6BF-46A3-B9BD-0F5EC7F7F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683" y="3728831"/>
            <a:ext cx="2901374" cy="39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74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高斯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塞德尔迭代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5D2D2E-51BA-42A0-85F0-74B403D9C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102" y="1798645"/>
            <a:ext cx="7669975" cy="422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27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5.16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0576F1-3980-4187-AA13-938241897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58" y="1368228"/>
            <a:ext cx="7142857" cy="7809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020177-3125-4955-9C99-CAECD16BC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153" y="2675121"/>
            <a:ext cx="1309548" cy="1989399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42A1FAD-3C14-4715-90D2-4C9D9CF750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216171"/>
              </p:ext>
            </p:extLst>
          </p:nvPr>
        </p:nvGraphicFramePr>
        <p:xfrm>
          <a:off x="2870200" y="3184525"/>
          <a:ext cx="28860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52400" imgH="431640" progId="Equation.DSMT4">
                  <p:embed/>
                </p:oleObj>
              </mc:Choice>
              <mc:Fallback>
                <p:oleObj name="Equation" r:id="rId5" imgW="2552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70200" y="3184525"/>
                        <a:ext cx="2886075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E54E0E74-6A37-41E0-B26A-A3DD91CB8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174" y="2437026"/>
            <a:ext cx="1119126" cy="271632"/>
          </a:xfrm>
          <a:prstGeom prst="rect">
            <a:avLst/>
          </a:prstGeom>
        </p:spPr>
      </p:pic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567C774-844E-4EDD-8C2A-B98874731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489551"/>
              </p:ext>
            </p:extLst>
          </p:nvPr>
        </p:nvGraphicFramePr>
        <p:xfrm>
          <a:off x="6615174" y="2675121"/>
          <a:ext cx="3149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49280" imgH="812520" progId="Equation.DSMT4">
                  <p:embed/>
                </p:oleObj>
              </mc:Choice>
              <mc:Fallback>
                <p:oleObj name="Equation" r:id="rId8" imgW="31492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15174" y="2675121"/>
                        <a:ext cx="3149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6DB2EDCB-CD5C-4A42-8319-362A3697D5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5174" y="3852448"/>
            <a:ext cx="1380952" cy="276190"/>
          </a:xfrm>
          <a:prstGeom prst="rect">
            <a:avLst/>
          </a:prstGeom>
        </p:spPr>
      </p:pic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2E233B2-C5B9-4199-BB35-C0F8DE6E55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131390"/>
              </p:ext>
            </p:extLst>
          </p:nvPr>
        </p:nvGraphicFramePr>
        <p:xfrm>
          <a:off x="6615174" y="4126867"/>
          <a:ext cx="3937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6960" imgH="812520" progId="Equation.DSMT4">
                  <p:embed/>
                </p:oleObj>
              </mc:Choice>
              <mc:Fallback>
                <p:oleObj name="Equation" r:id="rId11" imgW="3936960" imgH="8125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567C774-844E-4EDD-8C2A-B988747318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15174" y="4126867"/>
                        <a:ext cx="3937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1736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迭代法的收敛性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34E7EF-44E1-4651-A30B-FEB629038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57" y="2438476"/>
            <a:ext cx="8435766" cy="5809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CAA9D78-1724-4FB9-8342-C75672984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575" y="1483660"/>
            <a:ext cx="8438095" cy="7714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64BA42F-6A51-2FD8-62A0-7A744AAEF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531" y="4081564"/>
            <a:ext cx="5171429" cy="11619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702E5A-4645-EAC1-F05B-C3B2A39A9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575" y="3352876"/>
            <a:ext cx="7750167" cy="6984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C3527B-C124-13E6-F5A6-A0EFE3CD31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575" y="5754879"/>
            <a:ext cx="7407473" cy="49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53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5.3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A121FAC-B55D-4D88-BBA2-B20C5295F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015" y="1032691"/>
            <a:ext cx="7457143" cy="1028571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BC3326D-3A74-4AC7-B64C-88F3253809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390184"/>
              </p:ext>
            </p:extLst>
          </p:nvPr>
        </p:nvGraphicFramePr>
        <p:xfrm>
          <a:off x="3743325" y="2263449"/>
          <a:ext cx="3340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40080" imgH="711000" progId="Equation.DSMT4">
                  <p:embed/>
                </p:oleObj>
              </mc:Choice>
              <mc:Fallback>
                <p:oleObj name="Equation" r:id="rId4" imgW="33400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43325" y="2263449"/>
                        <a:ext cx="33401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A81FFED-70C7-4D90-817F-89C714E40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2944"/>
              </p:ext>
            </p:extLst>
          </p:nvPr>
        </p:nvGraphicFramePr>
        <p:xfrm>
          <a:off x="6245225" y="3289300"/>
          <a:ext cx="5537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37160" imgH="672840" progId="Equation.DSMT4">
                  <p:embed/>
                </p:oleObj>
              </mc:Choice>
              <mc:Fallback>
                <p:oleObj name="Equation" r:id="rId6" imgW="55371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45225" y="3289300"/>
                        <a:ext cx="55372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0278E2D-FFD9-4180-929C-640D55862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768783"/>
              </p:ext>
            </p:extLst>
          </p:nvPr>
        </p:nvGraphicFramePr>
        <p:xfrm>
          <a:off x="1582047" y="3327400"/>
          <a:ext cx="3403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03440" imgH="672840" progId="Equation.DSMT4">
                  <p:embed/>
                </p:oleObj>
              </mc:Choice>
              <mc:Fallback>
                <p:oleObj name="Equation" r:id="rId8" imgW="34034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2047" y="3327400"/>
                        <a:ext cx="3403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4E57BFA-A28A-4576-8055-D50BFDA09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812977"/>
              </p:ext>
            </p:extLst>
          </p:nvPr>
        </p:nvGraphicFramePr>
        <p:xfrm>
          <a:off x="1582047" y="4058534"/>
          <a:ext cx="2159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8920" imgH="672840" progId="Equation.DSMT4">
                  <p:embed/>
                </p:oleObj>
              </mc:Choice>
              <mc:Fallback>
                <p:oleObj name="Equation" r:id="rId10" imgW="21589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2047" y="4058534"/>
                        <a:ext cx="21590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93F6D74-7BCC-4002-8673-453221E89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185304"/>
              </p:ext>
            </p:extLst>
          </p:nvPr>
        </p:nvGraphicFramePr>
        <p:xfrm>
          <a:off x="1582046" y="4842481"/>
          <a:ext cx="1732653" cy="554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507960" progId="Equation.DSMT4">
                  <p:embed/>
                </p:oleObj>
              </mc:Choice>
              <mc:Fallback>
                <p:oleObj name="Equation" r:id="rId12" imgW="15872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2046" y="4842481"/>
                        <a:ext cx="1732653" cy="554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539B225-86BC-42E2-B688-031C6C8B2B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802654"/>
              </p:ext>
            </p:extLst>
          </p:nvPr>
        </p:nvGraphicFramePr>
        <p:xfrm>
          <a:off x="1582046" y="5396930"/>
          <a:ext cx="226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60440" imgH="431640" progId="Equation.DSMT4">
                  <p:embed/>
                </p:oleObj>
              </mc:Choice>
              <mc:Fallback>
                <p:oleObj name="Equation" r:id="rId14" imgW="2260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2046" y="5396930"/>
                        <a:ext cx="2260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71F3AAF-CB50-42DE-AD61-8DFC61A74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16817"/>
              </p:ext>
            </p:extLst>
          </p:nvPr>
        </p:nvGraphicFramePr>
        <p:xfrm>
          <a:off x="6245225" y="4058534"/>
          <a:ext cx="304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7760" imgH="914400" progId="Equation.DSMT4">
                  <p:embed/>
                </p:oleObj>
              </mc:Choice>
              <mc:Fallback>
                <p:oleObj name="Equation" r:id="rId16" imgW="3047760" imgH="914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4E57BFA-A28A-4576-8055-D50BFDA09C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45225" y="4058534"/>
                        <a:ext cx="3048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C631DBE-1C49-45A2-BEC7-43EDE20F0A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702528"/>
              </p:ext>
            </p:extLst>
          </p:nvPr>
        </p:nvGraphicFramePr>
        <p:xfrm>
          <a:off x="6264274" y="5243513"/>
          <a:ext cx="2260599" cy="439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22280" imgH="431640" progId="Equation.DSMT4">
                  <p:embed/>
                </p:oleObj>
              </mc:Choice>
              <mc:Fallback>
                <p:oleObj name="Equation" r:id="rId18" imgW="2222280" imgH="4316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539B225-86BC-42E2-B688-031C6C8B2B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64274" y="5243513"/>
                        <a:ext cx="2260599" cy="439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86595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5.4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0D7541-00EF-461D-9D8A-7B31289C9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083" y="1080316"/>
            <a:ext cx="5533333" cy="2009524"/>
          </a:xfrm>
          <a:prstGeom prst="rect">
            <a:avLst/>
          </a:prstGeom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F189F83-F4E9-4F8F-B521-B8C106056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611106"/>
              </p:ext>
            </p:extLst>
          </p:nvPr>
        </p:nvGraphicFramePr>
        <p:xfrm>
          <a:off x="2720975" y="4086320"/>
          <a:ext cx="393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6960" imgH="914400" progId="Equation.DSMT4">
                  <p:embed/>
                </p:oleObj>
              </mc:Choice>
              <mc:Fallback>
                <p:oleObj name="Equation" r:id="rId4" imgW="39369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20975" y="4086320"/>
                        <a:ext cx="3937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2D27900-4EE4-424F-882E-299BBBA70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474469"/>
              </p:ext>
            </p:extLst>
          </p:nvPr>
        </p:nvGraphicFramePr>
        <p:xfrm>
          <a:off x="2720975" y="5168525"/>
          <a:ext cx="1828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82400" progId="Equation.DSMT4">
                  <p:embed/>
                </p:oleObj>
              </mc:Choice>
              <mc:Fallback>
                <p:oleObj name="Equation" r:id="rId6" imgW="18288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0975" y="5168525"/>
                        <a:ext cx="1828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93C8E6B-19A8-4717-807E-6970D013F2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799009"/>
              </p:ext>
            </p:extLst>
          </p:nvPr>
        </p:nvGraphicFramePr>
        <p:xfrm>
          <a:off x="2720975" y="5818930"/>
          <a:ext cx="1435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482400" progId="Equation.DSMT4">
                  <p:embed/>
                </p:oleObj>
              </mc:Choice>
              <mc:Fallback>
                <p:oleObj name="Equation" r:id="rId8" imgW="1434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0975" y="5818930"/>
                        <a:ext cx="1435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C8A7F4D5-BDA6-457F-A93B-ECE3F09C86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2094" y="3298739"/>
            <a:ext cx="6504762" cy="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262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5.9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2F6823-3103-41A1-8C84-9254428A8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428" y="953674"/>
            <a:ext cx="5457143" cy="10190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0304AC-F36B-4C0C-AAF0-5CF88E34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83" y="2376519"/>
            <a:ext cx="6533333" cy="504762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E918823-0B09-493F-91A9-E51598812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661137"/>
              </p:ext>
            </p:extLst>
          </p:nvPr>
        </p:nvGraphicFramePr>
        <p:xfrm>
          <a:off x="2825749" y="3225997"/>
          <a:ext cx="1355725" cy="81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672840" progId="Equation.DSMT4">
                  <p:embed/>
                </p:oleObj>
              </mc:Choice>
              <mc:Fallback>
                <p:oleObj name="Equation" r:id="rId5" imgW="11174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5749" y="3225997"/>
                        <a:ext cx="1355725" cy="8165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F9964FB-73BC-47F7-A22D-2EC57238A79F}"/>
              </a:ext>
            </a:extLst>
          </p:cNvPr>
          <p:cNvSpPr txBox="1"/>
          <p:nvPr/>
        </p:nvSpPr>
        <p:spPr>
          <a:xfrm>
            <a:off x="4738212" y="3462370"/>
            <a:ext cx="2843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是严格对角占优矩阵，因此收敛</a:t>
            </a:r>
          </a:p>
        </p:txBody>
      </p:sp>
    </p:spTree>
    <p:extLst>
      <p:ext uri="{BB962C8B-B14F-4D97-AF65-F5344CB8AC3E}">
        <p14:creationId xmlns:p14="http://schemas.microsoft.com/office/powerpoint/2010/main" val="4064257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第五章：解线性方程组的迭代法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5.10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501633-25E2-4546-B9B6-EDA47EA97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868" y="1080316"/>
            <a:ext cx="7285714" cy="847619"/>
          </a:xfrm>
          <a:prstGeom prst="rect">
            <a:avLst/>
          </a:prstGeom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025A785-6EEB-475A-8347-ED004B219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469051"/>
              </p:ext>
            </p:extLst>
          </p:nvPr>
        </p:nvGraphicFramePr>
        <p:xfrm>
          <a:off x="3089648" y="2177747"/>
          <a:ext cx="2720602" cy="9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200" imgH="914400" progId="Equation.DSMT4">
                  <p:embed/>
                </p:oleObj>
              </mc:Choice>
              <mc:Fallback>
                <p:oleObj name="Equation" r:id="rId4" imgW="25272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9648" y="2177747"/>
                        <a:ext cx="2720602" cy="984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2BEE7B5-8D57-48C9-ACB9-7C020E925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84757"/>
              </p:ext>
            </p:extLst>
          </p:nvPr>
        </p:nvGraphicFramePr>
        <p:xfrm>
          <a:off x="2994584" y="3203790"/>
          <a:ext cx="2815666" cy="1008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52400" imgH="914400" progId="Equation.DSMT4">
                  <p:embed/>
                </p:oleObj>
              </mc:Choice>
              <mc:Fallback>
                <p:oleObj name="Equation" r:id="rId6" imgW="2552400" imgH="914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025A785-6EEB-475A-8347-ED004B2194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94584" y="3203790"/>
                        <a:ext cx="2815666" cy="10084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5A22AB-0D42-4ACF-950F-335C67E87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436930"/>
              </p:ext>
            </p:extLst>
          </p:nvPr>
        </p:nvGraphicFramePr>
        <p:xfrm>
          <a:off x="3246717" y="4516437"/>
          <a:ext cx="231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11200" imgH="431640" progId="Equation.DSMT4">
                  <p:embed/>
                </p:oleObj>
              </mc:Choice>
              <mc:Fallback>
                <p:oleObj name="Equation" r:id="rId8" imgW="2311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46717" y="4516437"/>
                        <a:ext cx="2311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98BB762-0522-4733-AC24-202B58D76D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79991"/>
              </p:ext>
            </p:extLst>
          </p:nvPr>
        </p:nvGraphicFramePr>
        <p:xfrm>
          <a:off x="3246717" y="5049837"/>
          <a:ext cx="231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11200" imgH="431640" progId="Equation.DSMT4">
                  <p:embed/>
                </p:oleObj>
              </mc:Choice>
              <mc:Fallback>
                <p:oleObj name="Equation" r:id="rId10" imgW="2311200" imgH="431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75A22AB-0D42-4ACF-950F-335C67E872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46717" y="5049837"/>
                        <a:ext cx="2311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AF93CC12-978F-4589-B75F-1452D483E47A}"/>
              </a:ext>
            </a:extLst>
          </p:cNvPr>
          <p:cNvSpPr txBox="1"/>
          <p:nvPr/>
        </p:nvSpPr>
        <p:spPr>
          <a:xfrm>
            <a:off x="2839935" y="4578449"/>
            <a:ext cx="427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66B4E-EE1E-4305-AFF7-4B93A1E03986}"/>
              </a:ext>
            </a:extLst>
          </p:cNvPr>
          <p:cNvSpPr txBox="1"/>
          <p:nvPr/>
        </p:nvSpPr>
        <p:spPr>
          <a:xfrm>
            <a:off x="2856707" y="5124747"/>
            <a:ext cx="427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68DAE5-34E5-414B-BD89-AD9F962035CD}"/>
              </a:ext>
            </a:extLst>
          </p:cNvPr>
          <p:cNvSpPr txBox="1"/>
          <p:nvPr/>
        </p:nvSpPr>
        <p:spPr>
          <a:xfrm>
            <a:off x="5587154" y="4543425"/>
            <a:ext cx="1327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同时收敛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75E78A-8FEF-4E80-A3B4-4E3F1B76B644}"/>
              </a:ext>
            </a:extLst>
          </p:cNvPr>
          <p:cNvSpPr txBox="1"/>
          <p:nvPr/>
        </p:nvSpPr>
        <p:spPr>
          <a:xfrm>
            <a:off x="5587153" y="5094386"/>
            <a:ext cx="1327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同时发散</a:t>
            </a:r>
          </a:p>
        </p:txBody>
      </p:sp>
    </p:spTree>
    <p:extLst>
      <p:ext uri="{BB962C8B-B14F-4D97-AF65-F5344CB8AC3E}">
        <p14:creationId xmlns:p14="http://schemas.microsoft.com/office/powerpoint/2010/main" val="3847877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多项式插值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25CCEB-9DB4-462F-BC03-9DCDAE425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807" y="1330128"/>
            <a:ext cx="7580952" cy="4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946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插值多项式的唯一性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468439-8D42-4F82-97D1-71BAEBA65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105" y="2253349"/>
            <a:ext cx="7276190" cy="2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058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拉格朗日插值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12D33C-0B4E-4AC8-AF19-7DA3803C3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546" y="1161600"/>
            <a:ext cx="6626676" cy="537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32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拉格朗日插值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1C704B-F9DB-45CB-95A7-621874DB7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36" y="1660422"/>
            <a:ext cx="6000598" cy="39335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FA0099-E7B2-404E-AACF-7824B0AD89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48"/>
          <a:stretch/>
        </p:blipFill>
        <p:spPr>
          <a:xfrm>
            <a:off x="6616987" y="2097741"/>
            <a:ext cx="5291577" cy="24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960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拉格朗日插值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883E7B-F6E2-4866-A1C6-13F9675D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96" y="1463199"/>
            <a:ext cx="5666798" cy="22123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917360-2CED-49CE-ABA1-443BB22B0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5" y="3641294"/>
            <a:ext cx="5516729" cy="12210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07923E-432E-4DA3-805E-F0FDBD3B1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14" y="4862388"/>
            <a:ext cx="5409521" cy="16567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2F971B-3B60-4788-BE54-3E68541A95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367" y="1824076"/>
            <a:ext cx="5714286" cy="3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198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插值余项与误差估计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002EE7-1DA3-4D44-954F-EDF18C47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341" y="1330127"/>
            <a:ext cx="6647317" cy="16640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B449730-21D3-44BA-A1A8-B513967EF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658" y="2994169"/>
            <a:ext cx="7276190" cy="21428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42BC44-EA30-455F-8509-4302555CD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475" y="5137026"/>
            <a:ext cx="7019048" cy="1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708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6.1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0E582F-879D-4C89-AE7F-FDAFA3069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589" y="1080316"/>
            <a:ext cx="5533333" cy="2190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DDB484-F27C-4E25-9A98-FA2D91F1E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144" y="1549176"/>
            <a:ext cx="4247619" cy="6380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CB95F8-4CC8-46F3-95DB-23FD2725B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0" y="1630128"/>
            <a:ext cx="1800000" cy="4761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BEA4277-48C9-4E85-9B2C-CFA49C38DC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8966" y="2745281"/>
            <a:ext cx="8121699" cy="158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152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6.3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F53DE5-DA46-47C0-810B-F13FA2B48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766" y="1080316"/>
            <a:ext cx="6866667" cy="3428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7547D9-2F85-448B-9C5C-3B58EAEB7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805" y="1063461"/>
            <a:ext cx="1742857" cy="2666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565AC3-2095-4329-83AF-DA6482D01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0603" y="1579940"/>
            <a:ext cx="4247619" cy="6380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B6DF404-B030-4579-A711-C742C00C6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459" y="1660892"/>
            <a:ext cx="1800000" cy="4761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4B533F-CAD0-48FA-8BDE-5817EF6A4D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042" y="2563717"/>
            <a:ext cx="6160415" cy="10740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922C9DC-33A0-464A-9E23-AFC300E29B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8042" y="3983419"/>
            <a:ext cx="2333333" cy="61904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7C43E45-A0F3-4994-9573-B9457ADBA458}"/>
              </a:ext>
            </a:extLst>
          </p:cNvPr>
          <p:cNvSpPr/>
          <p:nvPr/>
        </p:nvSpPr>
        <p:spPr>
          <a:xfrm>
            <a:off x="3128682" y="4069976"/>
            <a:ext cx="457200" cy="2241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F81E96D-FC4C-45A0-900B-69DBEC211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635497"/>
              </p:ext>
            </p:extLst>
          </p:nvPr>
        </p:nvGraphicFramePr>
        <p:xfrm>
          <a:off x="2509147" y="5169281"/>
          <a:ext cx="154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393480" progId="Equation.DSMT4">
                  <p:embed/>
                </p:oleObj>
              </mc:Choice>
              <mc:Fallback>
                <p:oleObj name="Equation" r:id="rId9" imgW="1549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9147" y="5169281"/>
                        <a:ext cx="1549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72EEA17-B3FC-4D92-AF8B-166760C138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670585"/>
              </p:ext>
            </p:extLst>
          </p:nvPr>
        </p:nvGraphicFramePr>
        <p:xfrm>
          <a:off x="6496050" y="4073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120" imgH="177480" progId="Equation.DSMT4">
                  <p:embed/>
                </p:oleObj>
              </mc:Choice>
              <mc:Fallback>
                <p:oleObj name="Equation" r:id="rId11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96050" y="40735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5A8638E-6D4B-4171-AFD5-30D4D0D079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848551"/>
              </p:ext>
            </p:extLst>
          </p:nvPr>
        </p:nvGraphicFramePr>
        <p:xfrm>
          <a:off x="2507876" y="4689024"/>
          <a:ext cx="261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16120" imgH="393480" progId="Equation.DSMT4">
                  <p:embed/>
                </p:oleObj>
              </mc:Choice>
              <mc:Fallback>
                <p:oleObj name="Equation" r:id="rId13" imgW="26161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07876" y="4689024"/>
                        <a:ext cx="2616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A46F67B-E36D-425B-9B43-8D04752F39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447015"/>
              </p:ext>
            </p:extLst>
          </p:nvPr>
        </p:nvGraphicFramePr>
        <p:xfrm>
          <a:off x="2507876" y="5562511"/>
          <a:ext cx="3962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62160" imgH="571320" progId="Equation.DSMT4">
                  <p:embed/>
                </p:oleObj>
              </mc:Choice>
              <mc:Fallback>
                <p:oleObj name="Equation" r:id="rId15" imgW="396216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07876" y="5562511"/>
                        <a:ext cx="39624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424435B-5A65-4DF3-A5D3-A3D018EC9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329037"/>
              </p:ext>
            </p:extLst>
          </p:nvPr>
        </p:nvGraphicFramePr>
        <p:xfrm>
          <a:off x="2512427" y="6298640"/>
          <a:ext cx="1360326" cy="28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79280" imgH="228600" progId="Equation.DSMT4">
                  <p:embed/>
                </p:oleObj>
              </mc:Choice>
              <mc:Fallback>
                <p:oleObj name="Equation" r:id="rId17" imgW="1079280" imgH="228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A46F67B-E36D-425B-9B43-8D04752F39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12427" y="6298640"/>
                        <a:ext cx="1360326" cy="2880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34875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牛顿插值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C9C6D0-C58F-4EFF-997B-794626811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777" y="1146971"/>
            <a:ext cx="7047619" cy="7809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02C10F-418C-44F2-9EFC-03E8A0238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3777" y="2015791"/>
            <a:ext cx="7523809" cy="3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878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牛顿插值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5A8EC5-8AC2-41AB-B7F9-3C49F3E21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356" y="1643673"/>
            <a:ext cx="7009524" cy="8095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F20DB0-73C2-4A38-8D8B-4D3F7215D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356" y="2476265"/>
            <a:ext cx="6668373" cy="6882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E9FC23-AA48-4BF4-9666-07DA7FE4C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265" y="3564889"/>
            <a:ext cx="4180952" cy="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370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6.5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8C2518-0335-406D-B8C9-0919A1DC4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968" y="874160"/>
            <a:ext cx="7095238" cy="1133333"/>
          </a:xfrm>
          <a:prstGeom prst="rect">
            <a:avLst/>
          </a:prstGeom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1D9E7F2-99B0-4303-A076-2E220E0FC2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703061"/>
              </p:ext>
            </p:extLst>
          </p:nvPr>
        </p:nvGraphicFramePr>
        <p:xfrm>
          <a:off x="7250333" y="2011080"/>
          <a:ext cx="4495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95680" imgH="863280" progId="Equation.DSMT4">
                  <p:embed/>
                </p:oleObj>
              </mc:Choice>
              <mc:Fallback>
                <p:oleObj name="Equation" r:id="rId4" imgW="44956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50333" y="2011080"/>
                        <a:ext cx="44958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87072C8-1654-4884-A913-2F14DE166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232" y="2096844"/>
            <a:ext cx="4247619" cy="6380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C62F35-9AFC-41D6-B054-1A52DEFB36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088" y="2177796"/>
            <a:ext cx="1800000" cy="4761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00AD6E2D-834B-418D-AF18-BEE1A6226D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0526823"/>
                  </p:ext>
                </p:extLst>
              </p:nvPr>
            </p:nvGraphicFramePr>
            <p:xfrm>
              <a:off x="849119" y="3358460"/>
              <a:ext cx="4396512" cy="34048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721">
                      <a:extLst>
                        <a:ext uri="{9D8B030D-6E8A-4147-A177-3AD203B41FA5}">
                          <a16:colId xmlns:a16="http://schemas.microsoft.com/office/drawing/2014/main" val="4249247391"/>
                        </a:ext>
                      </a:extLst>
                    </a:gridCol>
                    <a:gridCol w="932783">
                      <a:extLst>
                        <a:ext uri="{9D8B030D-6E8A-4147-A177-3AD203B41FA5}">
                          <a16:colId xmlns:a16="http://schemas.microsoft.com/office/drawing/2014/main" val="2950145693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1612326430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4155363974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4069575576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3085782891"/>
                        </a:ext>
                      </a:extLst>
                    </a:gridCol>
                  </a:tblGrid>
                  <a:tr h="334147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k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一阶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二阶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三阶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2914524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745128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8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4684263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898713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0523449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-8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3909711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17430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1106632"/>
                      </a:ext>
                    </a:extLst>
                  </a:tr>
                  <a:tr h="334147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668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00AD6E2D-834B-418D-AF18-BEE1A6226D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0526823"/>
                  </p:ext>
                </p:extLst>
              </p:nvPr>
            </p:nvGraphicFramePr>
            <p:xfrm>
              <a:off x="849119" y="3358460"/>
              <a:ext cx="4396512" cy="34048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721">
                      <a:extLst>
                        <a:ext uri="{9D8B030D-6E8A-4147-A177-3AD203B41FA5}">
                          <a16:colId xmlns:a16="http://schemas.microsoft.com/office/drawing/2014/main" val="4249247391"/>
                        </a:ext>
                      </a:extLst>
                    </a:gridCol>
                    <a:gridCol w="932783">
                      <a:extLst>
                        <a:ext uri="{9D8B030D-6E8A-4147-A177-3AD203B41FA5}">
                          <a16:colId xmlns:a16="http://schemas.microsoft.com/office/drawing/2014/main" val="2950145693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1612326430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4155363974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4069575576"/>
                        </a:ext>
                      </a:extLst>
                    </a:gridCol>
                    <a:gridCol w="732752">
                      <a:extLst>
                        <a:ext uri="{9D8B030D-6E8A-4147-A177-3AD203B41FA5}">
                          <a16:colId xmlns:a16="http://schemas.microsoft.com/office/drawing/2014/main" val="30857828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k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  <a:stretch>
                            <a:fillRect l="-57143" t="-8333" r="-314935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  <a:stretch>
                            <a:fillRect l="-201667" t="-8333" r="-304167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一阶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二阶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三阶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29145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7451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8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46842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898713"/>
                      </a:ext>
                    </a:extLst>
                  </a:tr>
                  <a:tr h="47879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  <a:stretch>
                            <a:fillRect l="-502500" t="-315385" r="-3333" b="-31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05234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-8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39097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-10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17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11066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66859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1883DFE-7A58-43F9-A6BF-6B034734E5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813953"/>
              </p:ext>
            </p:extLst>
          </p:nvPr>
        </p:nvGraphicFramePr>
        <p:xfrm>
          <a:off x="7250333" y="4248095"/>
          <a:ext cx="3835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35080" imgH="812520" progId="Equation.DSMT4">
                  <p:embed/>
                </p:oleObj>
              </mc:Choice>
              <mc:Fallback>
                <p:oleObj name="Equation" r:id="rId10" imgW="38350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50333" y="4248095"/>
                        <a:ext cx="3835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018067EF-9519-46DF-BB08-AC443C00D3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1847" y="3737734"/>
            <a:ext cx="5514286" cy="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755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6.9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06433B-795F-4732-9F5B-511D6E7B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008" y="872722"/>
            <a:ext cx="6333333" cy="11809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E885A87-FE16-4E04-BA1F-A8562508C7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280345"/>
                  </p:ext>
                </p:extLst>
              </p:nvPr>
            </p:nvGraphicFramePr>
            <p:xfrm>
              <a:off x="544319" y="2207783"/>
              <a:ext cx="4583493" cy="4279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63">
                      <a:extLst>
                        <a:ext uri="{9D8B030D-6E8A-4147-A177-3AD203B41FA5}">
                          <a16:colId xmlns:a16="http://schemas.microsoft.com/office/drawing/2014/main" val="4249247391"/>
                        </a:ext>
                      </a:extLst>
                    </a:gridCol>
                    <a:gridCol w="618565">
                      <a:extLst>
                        <a:ext uri="{9D8B030D-6E8A-4147-A177-3AD203B41FA5}">
                          <a16:colId xmlns:a16="http://schemas.microsoft.com/office/drawing/2014/main" val="2950145693"/>
                        </a:ext>
                      </a:extLst>
                    </a:gridCol>
                    <a:gridCol w="753036">
                      <a:extLst>
                        <a:ext uri="{9D8B030D-6E8A-4147-A177-3AD203B41FA5}">
                          <a16:colId xmlns:a16="http://schemas.microsoft.com/office/drawing/2014/main" val="1612326430"/>
                        </a:ext>
                      </a:extLst>
                    </a:gridCol>
                    <a:gridCol w="770964">
                      <a:extLst>
                        <a:ext uri="{9D8B030D-6E8A-4147-A177-3AD203B41FA5}">
                          <a16:colId xmlns:a16="http://schemas.microsoft.com/office/drawing/2014/main" val="4155363974"/>
                        </a:ext>
                      </a:extLst>
                    </a:gridCol>
                    <a:gridCol w="663389">
                      <a:extLst>
                        <a:ext uri="{9D8B030D-6E8A-4147-A177-3AD203B41FA5}">
                          <a16:colId xmlns:a16="http://schemas.microsoft.com/office/drawing/2014/main" val="4069575576"/>
                        </a:ext>
                      </a:extLst>
                    </a:gridCol>
                    <a:gridCol w="699247">
                      <a:extLst>
                        <a:ext uri="{9D8B030D-6E8A-4147-A177-3AD203B41FA5}">
                          <a16:colId xmlns:a16="http://schemas.microsoft.com/office/drawing/2014/main" val="3085782891"/>
                        </a:ext>
                      </a:extLst>
                    </a:gridCol>
                    <a:gridCol w="779929">
                      <a:extLst>
                        <a:ext uri="{9D8B030D-6E8A-4147-A177-3AD203B41FA5}">
                          <a16:colId xmlns:a16="http://schemas.microsoft.com/office/drawing/2014/main" val="4168760028"/>
                        </a:ext>
                      </a:extLst>
                    </a:gridCol>
                  </a:tblGrid>
                  <a:tr h="4123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k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一阶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二阶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三阶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四阶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2914524"/>
                      </a:ext>
                    </a:extLst>
                  </a:tr>
                  <a:tr h="1637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7451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46842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8987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0523449"/>
                      </a:ext>
                    </a:extLst>
                  </a:tr>
                  <a:tr h="1410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180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390971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-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17430"/>
                      </a:ext>
                    </a:extLst>
                  </a:tr>
                  <a:tr h="2264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11066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6685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95466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E885A87-FE16-4E04-BA1F-A8562508C7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280345"/>
                  </p:ext>
                </p:extLst>
              </p:nvPr>
            </p:nvGraphicFramePr>
            <p:xfrm>
              <a:off x="544319" y="2207783"/>
              <a:ext cx="4583493" cy="42797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63">
                      <a:extLst>
                        <a:ext uri="{9D8B030D-6E8A-4147-A177-3AD203B41FA5}">
                          <a16:colId xmlns:a16="http://schemas.microsoft.com/office/drawing/2014/main" val="4249247391"/>
                        </a:ext>
                      </a:extLst>
                    </a:gridCol>
                    <a:gridCol w="618565">
                      <a:extLst>
                        <a:ext uri="{9D8B030D-6E8A-4147-A177-3AD203B41FA5}">
                          <a16:colId xmlns:a16="http://schemas.microsoft.com/office/drawing/2014/main" val="2950145693"/>
                        </a:ext>
                      </a:extLst>
                    </a:gridCol>
                    <a:gridCol w="753036">
                      <a:extLst>
                        <a:ext uri="{9D8B030D-6E8A-4147-A177-3AD203B41FA5}">
                          <a16:colId xmlns:a16="http://schemas.microsoft.com/office/drawing/2014/main" val="1612326430"/>
                        </a:ext>
                      </a:extLst>
                    </a:gridCol>
                    <a:gridCol w="770964">
                      <a:extLst>
                        <a:ext uri="{9D8B030D-6E8A-4147-A177-3AD203B41FA5}">
                          <a16:colId xmlns:a16="http://schemas.microsoft.com/office/drawing/2014/main" val="4155363974"/>
                        </a:ext>
                      </a:extLst>
                    </a:gridCol>
                    <a:gridCol w="663389">
                      <a:extLst>
                        <a:ext uri="{9D8B030D-6E8A-4147-A177-3AD203B41FA5}">
                          <a16:colId xmlns:a16="http://schemas.microsoft.com/office/drawing/2014/main" val="4069575576"/>
                        </a:ext>
                      </a:extLst>
                    </a:gridCol>
                    <a:gridCol w="699247">
                      <a:extLst>
                        <a:ext uri="{9D8B030D-6E8A-4147-A177-3AD203B41FA5}">
                          <a16:colId xmlns:a16="http://schemas.microsoft.com/office/drawing/2014/main" val="3085782891"/>
                        </a:ext>
                      </a:extLst>
                    </a:gridCol>
                    <a:gridCol w="779929">
                      <a:extLst>
                        <a:ext uri="{9D8B030D-6E8A-4147-A177-3AD203B41FA5}">
                          <a16:colId xmlns:a16="http://schemas.microsoft.com/office/drawing/2014/main" val="4168760028"/>
                        </a:ext>
                      </a:extLst>
                    </a:gridCol>
                  </a:tblGrid>
                  <a:tr h="4123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k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9020" t="-7353" r="-594118" b="-95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23577" t="-7353" r="-392683" b="-95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一阶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二阶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三阶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四阶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29145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57451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4684263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368807" t="-241250" r="-226606" b="-5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898713"/>
                      </a:ext>
                    </a:extLst>
                  </a:tr>
                  <a:tr h="479489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16535" t="-350000" r="-280315" b="-4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44348" t="-350000" r="-114783" b="-4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0523449"/>
                      </a:ext>
                    </a:extLst>
                  </a:tr>
                  <a:tr h="4806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368807" t="-444304" r="-226606" b="-3708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89063" t="-444304" r="-3125" b="-3708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3909711"/>
                      </a:ext>
                    </a:extLst>
                  </a:tr>
                  <a:tr h="47879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16535" t="-544304" r="-280315" b="-2708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44348" t="-544304" r="-114783" b="-2708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17430"/>
                      </a:ext>
                    </a:extLst>
                  </a:tr>
                  <a:tr h="4805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368807" t="-644304" r="-226606" b="-1708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11066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6685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95466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CDDDB2D-F8C3-4BF3-9FE3-880E0E78A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065240"/>
              </p:ext>
            </p:extLst>
          </p:nvPr>
        </p:nvGraphicFramePr>
        <p:xfrm>
          <a:off x="5525807" y="2861656"/>
          <a:ext cx="6566768" cy="410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98920" imgH="393480" progId="Equation.DSMT4">
                  <p:embed/>
                </p:oleObj>
              </mc:Choice>
              <mc:Fallback>
                <p:oleObj name="Equation" r:id="rId6" imgW="629892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1883DFE-7A58-43F9-A6BF-6B034734E5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25807" y="2861656"/>
                        <a:ext cx="6566768" cy="410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ADA95FB6-5085-44AC-AAB2-8EF82CC7F5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198" y="2228962"/>
            <a:ext cx="5514286" cy="323810"/>
          </a:xfrm>
          <a:prstGeom prst="rect">
            <a:avLst/>
          </a:prstGeom>
        </p:spPr>
      </p:pic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EF6643A-336D-4A42-A2F7-18550C08E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654486"/>
              </p:ext>
            </p:extLst>
          </p:nvPr>
        </p:nvGraphicFramePr>
        <p:xfrm>
          <a:off x="5534773" y="3429000"/>
          <a:ext cx="2730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30240" imgH="469800" progId="Equation.DSMT4">
                  <p:embed/>
                </p:oleObj>
              </mc:Choice>
              <mc:Fallback>
                <p:oleObj name="Equation" r:id="rId9" imgW="27302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34773" y="3429000"/>
                        <a:ext cx="27305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BC54346-B1E9-4357-AA88-96EC4486F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344398"/>
              </p:ext>
            </p:extLst>
          </p:nvPr>
        </p:nvGraphicFramePr>
        <p:xfrm>
          <a:off x="5534773" y="4055821"/>
          <a:ext cx="294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46240" imgH="444240" progId="Equation.DSMT4">
                  <p:embed/>
                </p:oleObj>
              </mc:Choice>
              <mc:Fallback>
                <p:oleObj name="Equation" r:id="rId11" imgW="29462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34773" y="4055821"/>
                        <a:ext cx="29464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77702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6.10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DD85B3-C873-4C78-A3D9-0072FF39F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768" y="1196531"/>
            <a:ext cx="7085714" cy="533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60D74C4-AE8B-41D1-9CFE-F4CF104F5E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88281"/>
                  </p:ext>
                </p:extLst>
              </p:nvPr>
            </p:nvGraphicFramePr>
            <p:xfrm>
              <a:off x="1698625" y="1965760"/>
              <a:ext cx="81280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349110866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5610656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3431554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4675560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3675196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3281779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226321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3253735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k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一阶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二阶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三阶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四阶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五阶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7399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60551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98420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3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48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7435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105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25197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192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87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8015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860D74C4-AE8B-41D1-9CFE-F4CF104F5E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88281"/>
                  </p:ext>
                </p:extLst>
              </p:nvPr>
            </p:nvGraphicFramePr>
            <p:xfrm>
              <a:off x="1698625" y="1965760"/>
              <a:ext cx="81280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349110866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15610656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3431554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4675560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3675196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32817795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226321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3253735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k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00599" t="-8197" r="-601796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1807" t="-8197" r="-505422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一阶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二阶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三阶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四阶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五阶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7399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60551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98420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373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48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7435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105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25197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192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87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801570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94D75F-33F4-4CAC-9D72-A29AB33AB2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177502"/>
              </p:ext>
            </p:extLst>
          </p:nvPr>
        </p:nvGraphicFramePr>
        <p:xfrm>
          <a:off x="1800225" y="4797536"/>
          <a:ext cx="8253243" cy="463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89240" imgH="228600" progId="Equation.DSMT4">
                  <p:embed/>
                </p:oleObj>
              </mc:Choice>
              <mc:Fallback>
                <p:oleObj name="Equation" r:id="rId6" imgW="408924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CDDDB2D-F8C3-4BF3-9FE3-880E0E78A1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00225" y="4797536"/>
                        <a:ext cx="8253243" cy="463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8840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第六章：函数插值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埃尔米特插值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17CD1B-E52F-4FFB-A785-366EF1934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571" y="1550960"/>
            <a:ext cx="7142857" cy="10666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1642B9-7E67-4395-8E1C-F98AE93E0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004" y="2709336"/>
            <a:ext cx="5895238" cy="5428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9840949-C3F3-48EB-B910-8B5691914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206" y="3343902"/>
            <a:ext cx="2504762" cy="6476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FC4147C-8187-4B21-BADB-FD368325DD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063" y="3991521"/>
            <a:ext cx="2361905" cy="56190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A0299EC-8AEE-4CF5-8946-6BB17E3C0B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396" y="4582316"/>
            <a:ext cx="1895238" cy="58095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F058D62-72D6-4044-9B1B-28480EB0AC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1924" y="5272993"/>
            <a:ext cx="1828571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080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范数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21B122-9D16-F852-6CCC-3B06FB3DD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967" y="847448"/>
            <a:ext cx="3933200" cy="19718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246934-242C-0DC6-3351-AFD7452EA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389" y="3370575"/>
            <a:ext cx="4007371" cy="12750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4B0B75-A2A4-E7EB-E628-8572F763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967" y="4953063"/>
            <a:ext cx="4609792" cy="166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13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5FC813-5BA8-4FAE-A65B-749B6C0E9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588" y="1080316"/>
            <a:ext cx="5361905" cy="3523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798C20-A8E6-401C-BD3A-B71D698C8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643" y="1986013"/>
            <a:ext cx="3937193" cy="1194067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65D66F4-D38A-4D55-87E7-4F9DC416AE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573477"/>
              </p:ext>
            </p:extLst>
          </p:nvPr>
        </p:nvGraphicFramePr>
        <p:xfrm>
          <a:off x="5890316" y="1986013"/>
          <a:ext cx="3020004" cy="1784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55520" imgH="1155600" progId="Equation.DSMT4">
                  <p:embed/>
                </p:oleObj>
              </mc:Choice>
              <mc:Fallback>
                <p:oleObj name="Equation" r:id="rId5" imgW="1955520" imgH="1155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90316" y="1986013"/>
                        <a:ext cx="3020004" cy="1784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84955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权函数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05A151-E859-9F74-6B94-964EAB81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636" y="1620677"/>
            <a:ext cx="9264125" cy="355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61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函数内积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8AD9BC-597C-CBCA-FB13-B439AA3A8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181" y="1669959"/>
            <a:ext cx="8560898" cy="36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993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函数正交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1A65D8-854E-0F02-4422-99FA4F856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840" y="866064"/>
            <a:ext cx="8159039" cy="12001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5806B3-9F27-5630-A32E-C0BA33498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400" y="1959983"/>
            <a:ext cx="8751764" cy="18015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68B728-AC2D-6C72-6C8E-42D5D582B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840" y="4006735"/>
            <a:ext cx="7529737" cy="258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012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正交多项式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EBD3F1-88CE-CEDD-9EDC-4242B8ABE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571" y="1003880"/>
            <a:ext cx="7318858" cy="30194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30E479-EC36-78B3-7A66-39B701D06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694" y="4252518"/>
            <a:ext cx="6183095" cy="25014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1E7C5A-09B4-8443-46C9-62C2EDC2E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167" y="4115164"/>
            <a:ext cx="5185593" cy="3061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A2362F-6340-1112-3F2D-A80FAE2A2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627" y="4658489"/>
            <a:ext cx="3735273" cy="189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484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7.3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DB71D5-AE57-4EBA-B3D9-DDC3BB519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42" y="1126478"/>
            <a:ext cx="7000000" cy="5333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C7CB66-C0CA-410C-B165-5B3F17555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74" y="2234599"/>
            <a:ext cx="3009524" cy="885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D289625-CFD7-4DE6-A274-66F9DE3F5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3120313"/>
            <a:ext cx="3285714" cy="11238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888C864-FBFD-4A6B-A3AC-4D51B887CD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367" y="1955785"/>
            <a:ext cx="6707093" cy="352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225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BADE14-DFF5-49DE-8018-F8D8AED8D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722" y="1006074"/>
            <a:ext cx="7295238" cy="7047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B43B966-CE9E-A99B-C2AA-D5416D88A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597" y="2110660"/>
            <a:ext cx="7474927" cy="37412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3C6903-144E-ED24-F848-9FF8C1EE6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65" y="2857483"/>
            <a:ext cx="3285714" cy="11238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B4E958-3EE5-8888-9952-75A540A708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14" y="1841302"/>
            <a:ext cx="3009524" cy="8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275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正交多项式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295961-F4FE-C5A5-7587-50B5ECD401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89"/>
          <a:stretch/>
        </p:blipFill>
        <p:spPr>
          <a:xfrm>
            <a:off x="2505715" y="1080316"/>
            <a:ext cx="6506205" cy="22368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EC6F4A7-E255-3B51-93AA-010F2EE1B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715" y="3429000"/>
            <a:ext cx="5883170" cy="12445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494D22-8D07-9CBA-E748-DD7168E85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715" y="4673517"/>
            <a:ext cx="5500743" cy="5690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172084E-564D-DB46-8277-BF68E489A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9901" y="5297207"/>
            <a:ext cx="6590836" cy="118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570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正交多项式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B08EC1E-148E-1C14-D0FE-87BF67CF6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780" y="1249837"/>
            <a:ext cx="7293117" cy="10564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F03C3F9-5C6C-873E-75FD-AC480B944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641" y="2363393"/>
            <a:ext cx="5704982" cy="14059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FF2383-8C4D-0EAA-DD92-91A386E39C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2609"/>
          <a:stretch/>
        </p:blipFill>
        <p:spPr>
          <a:xfrm>
            <a:off x="2785641" y="3826437"/>
            <a:ext cx="6590298" cy="63380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18C9157-DDE9-891B-877E-23EF34719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9071" y="4679160"/>
            <a:ext cx="6313858" cy="18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072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最佳平方逼近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FB5CD7-E64D-2A2C-7611-92E53B480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410" y="1554917"/>
            <a:ext cx="7700166" cy="2039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8E73785-2D20-80DB-B55B-70D6B35D8E90}"/>
              </a:ext>
            </a:extLst>
          </p:cNvPr>
          <p:cNvSpPr/>
          <p:nvPr/>
        </p:nvSpPr>
        <p:spPr>
          <a:xfrm>
            <a:off x="7349490" y="1645920"/>
            <a:ext cx="777240" cy="3086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8811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最佳平方逼近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D5E2BD-76C4-5C9F-1BD2-B808C1D26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85" y="1330128"/>
            <a:ext cx="7290785" cy="14716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5B4093-502F-06F4-65B1-7AC12CEBE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148" y="2889171"/>
            <a:ext cx="6298052" cy="405837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46FFE1A-47E5-02A1-5C59-DD3C4B6DAC7C}"/>
              </a:ext>
            </a:extLst>
          </p:cNvPr>
          <p:cNvCxnSpPr>
            <a:cxnSpLocks/>
          </p:cNvCxnSpPr>
          <p:nvPr/>
        </p:nvCxnSpPr>
        <p:spPr>
          <a:xfrm>
            <a:off x="6915150" y="1588770"/>
            <a:ext cx="15430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2509772-392E-7073-448C-29979BB2209C}"/>
              </a:ext>
            </a:extLst>
          </p:cNvPr>
          <p:cNvCxnSpPr>
            <a:cxnSpLocks/>
          </p:cNvCxnSpPr>
          <p:nvPr/>
        </p:nvCxnSpPr>
        <p:spPr>
          <a:xfrm>
            <a:off x="3158490" y="3307080"/>
            <a:ext cx="6477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694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最佳平方逼近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12CC02-8D22-CC6C-9C93-7384F4A58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099" y="1330129"/>
            <a:ext cx="6707785" cy="27604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57497CD-64B8-9336-C70D-1314D11EB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439" y="4103867"/>
            <a:ext cx="6823627" cy="16916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0A4BEC4-0D21-6124-7A88-E79BC84FAC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479"/>
          <a:stretch/>
        </p:blipFill>
        <p:spPr>
          <a:xfrm>
            <a:off x="2338161" y="5808837"/>
            <a:ext cx="6520181" cy="81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229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6FEEA6-0E85-49AB-90EA-500386D2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585" y="1071631"/>
            <a:ext cx="6482606" cy="3915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5661EB5-F96A-52AE-609F-2F712E4A1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847" y="1837395"/>
            <a:ext cx="7897613" cy="34546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18AA22-1E14-03F7-4408-762753A67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96" y="2912369"/>
            <a:ext cx="3723646" cy="51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335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0EE011-E25B-4C73-B567-79546CB77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67" y="1101556"/>
            <a:ext cx="5847619" cy="4571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CDF5EF-2B67-67FF-7B52-320355BC2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434" y="1979586"/>
            <a:ext cx="4756246" cy="28082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8F8114-9171-C2FB-6F37-0D8A89CA0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197" y="5057908"/>
            <a:ext cx="6534486" cy="698536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849B6C1-100C-0D5D-8562-0A19CB19A2CE}"/>
              </a:ext>
            </a:extLst>
          </p:cNvPr>
          <p:cNvCxnSpPr>
            <a:cxnSpLocks/>
          </p:cNvCxnSpPr>
          <p:nvPr/>
        </p:nvCxnSpPr>
        <p:spPr>
          <a:xfrm>
            <a:off x="4206240" y="1432560"/>
            <a:ext cx="5892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A8FE182A-3D0E-4EA1-F1FB-753A301C8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14" y="2605370"/>
            <a:ext cx="3919104" cy="59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533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最佳平方逼近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0E5134-F9D4-F7D5-8CAE-9F79830F5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03" y="3579670"/>
            <a:ext cx="5899237" cy="3784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9441FC-197C-481A-733B-2ACEAC756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303" y="4087676"/>
            <a:ext cx="8052992" cy="25531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CC41E1C-3D6F-D32D-64D8-065B2F6F3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303" y="1685992"/>
            <a:ext cx="5250749" cy="13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988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6FEEA6-0E85-49AB-90EA-500386D2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585" y="1071631"/>
            <a:ext cx="6482606" cy="3915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B73456-7B40-050D-567E-0AD7B282C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987" y="1761751"/>
            <a:ext cx="6026933" cy="18554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C0249E-B15C-9BA9-FA1C-1A9B48970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7585" y="3640814"/>
            <a:ext cx="6350326" cy="26671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FA0FD9-2294-CB6A-5C99-C3ED281AA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36" y="4072687"/>
            <a:ext cx="2597204" cy="77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782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最佳一致逼近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D2BFA9-0633-C5DF-D1BC-564231601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25" y="1330128"/>
            <a:ext cx="7374395" cy="494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084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6FEEA6-0E85-49AB-90EA-500386D2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585" y="1071631"/>
            <a:ext cx="6482606" cy="3915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D58ACE-CE10-FFB9-D9FB-CCDDF851A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214" y="2692997"/>
            <a:ext cx="6482606" cy="23394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A94183-FDFB-FA56-AC2D-2C702DC0E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0" y="2692997"/>
            <a:ext cx="3273398" cy="4996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635FA8-7219-7117-9580-F508A7622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37" y="3371902"/>
            <a:ext cx="1565791" cy="72121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80AEC3B-1FB8-D7E0-7C2B-11592BFFD5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213" y="4272396"/>
            <a:ext cx="1492424" cy="42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346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离散数据的曲线拟合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7D57D2-D5A3-1192-E332-FEABBDDA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21" y="1330129"/>
            <a:ext cx="5321419" cy="21736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B14E39A-30FE-2467-0100-4032E80BA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574" y="3503769"/>
            <a:ext cx="4205012" cy="5343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21E11D-7D0B-BC0E-B01C-97DF8F12D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574" y="4149094"/>
            <a:ext cx="3224748" cy="53438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8D7048D-4711-9566-7A8D-DEB1076C7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5574" y="4812707"/>
            <a:ext cx="5728390" cy="134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166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第七章：函数逼近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7.8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54209B-85D1-4221-BA00-4C4CD0D04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670" y="3221535"/>
            <a:ext cx="5944394" cy="34148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9C6F2B-B7B6-4DC3-86CF-C85449EB5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670" y="2710781"/>
            <a:ext cx="5000000" cy="3333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FFFD62-7B0E-4979-AA83-083EFEC99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253" y="1345199"/>
            <a:ext cx="7266667" cy="1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224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求积公式与代数精度  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962C91-268A-419E-AEDA-DF422442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08" y="2898281"/>
            <a:ext cx="9436624" cy="7108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286D188-80A8-288D-81EB-2BE5C9DC5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621" y="1655704"/>
            <a:ext cx="3698003" cy="5792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7333C8-5B6D-25A1-2022-293CE0FD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207" y="3851255"/>
            <a:ext cx="9830305" cy="7810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1605780-6397-DB11-FF97-6904EEC59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207" y="4512685"/>
            <a:ext cx="9063569" cy="190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947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8.1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87C958-D410-A4F1-73DC-56915044A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540" y="1427639"/>
            <a:ext cx="8469060" cy="6857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C3EBC2-2430-1602-40EB-6ED1D401E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593" y="2210903"/>
            <a:ext cx="4339407" cy="5593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A2D16C1-1980-7123-8609-04D06FE871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695" r="37946"/>
          <a:stretch/>
        </p:blipFill>
        <p:spPr>
          <a:xfrm>
            <a:off x="207195" y="2867754"/>
            <a:ext cx="3098796" cy="1504851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D2A5A54-EF93-D568-BB84-AB97F853B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659782"/>
              </p:ext>
            </p:extLst>
          </p:nvPr>
        </p:nvGraphicFramePr>
        <p:xfrm>
          <a:off x="4753610" y="3140247"/>
          <a:ext cx="2684780" cy="1232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080" imgH="711000" progId="Equation.DSMT4">
                  <p:embed/>
                </p:oleObj>
              </mc:Choice>
              <mc:Fallback>
                <p:oleObj name="Equation" r:id="rId6" imgW="15490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53610" y="3140247"/>
                        <a:ext cx="2684780" cy="1232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CEC63C6-A77E-71A7-4502-613B8DF45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78231"/>
              </p:ext>
            </p:extLst>
          </p:nvPr>
        </p:nvGraphicFramePr>
        <p:xfrm>
          <a:off x="8602344" y="3024919"/>
          <a:ext cx="765175" cy="1292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1244520" progId="Equation.DSMT4">
                  <p:embed/>
                </p:oleObj>
              </mc:Choice>
              <mc:Fallback>
                <p:oleObj name="Equation" r:id="rId8" imgW="73656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02344" y="3024919"/>
                        <a:ext cx="765175" cy="1292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4BFD7FB-60D7-0103-89AB-1F942B775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516522"/>
              </p:ext>
            </p:extLst>
          </p:nvPr>
        </p:nvGraphicFramePr>
        <p:xfrm>
          <a:off x="5612842" y="4805710"/>
          <a:ext cx="375467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19160" imgH="330120" progId="Equation.DSMT4">
                  <p:embed/>
                </p:oleObj>
              </mc:Choice>
              <mc:Fallback>
                <p:oleObj name="Equation" r:id="rId10" imgW="2819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12842" y="4805710"/>
                        <a:ext cx="3754677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02C97B3-3BC5-4F06-1A4E-6A3F8C6CB3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646095"/>
              </p:ext>
            </p:extLst>
          </p:nvPr>
        </p:nvGraphicFramePr>
        <p:xfrm>
          <a:off x="5611817" y="5316782"/>
          <a:ext cx="490695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68680" imgH="393480" progId="Equation.DSMT4">
                  <p:embed/>
                </p:oleObj>
              </mc:Choice>
              <mc:Fallback>
                <p:oleObj name="Equation" r:id="rId12" imgW="3568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11817" y="5316782"/>
                        <a:ext cx="4906958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84FAA115-4956-31F7-A660-4C13276F007B}"/>
              </a:ext>
            </a:extLst>
          </p:cNvPr>
          <p:cNvSpPr txBox="1"/>
          <p:nvPr/>
        </p:nvSpPr>
        <p:spPr>
          <a:xfrm>
            <a:off x="5611817" y="5973633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因此代数精度为</a:t>
            </a:r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59E8B3B-D7B5-B2A3-0F31-F17F3CE414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195" y="5189408"/>
            <a:ext cx="4784761" cy="43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306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8.6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33C621-6C1D-34B8-126C-2DFA8D36E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55" y="1330128"/>
            <a:ext cx="8508707" cy="864430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741E246-9D4A-210F-515B-F3D01D633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599" y="2624528"/>
          <a:ext cx="1531689" cy="40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228600" progId="Equation.DSMT4">
                  <p:embed/>
                </p:oleObj>
              </mc:Choice>
              <mc:Fallback>
                <p:oleObj name="Equation" r:id="rId4" imgW="86328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741E246-9D4A-210F-515B-F3D01D633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0599" y="2624528"/>
                        <a:ext cx="1531689" cy="40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D47729D-9C58-B0EF-6B97-3617B02EAF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599" y="3182065"/>
          <a:ext cx="2169161" cy="1481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1066680" progId="Equation.DSMT4">
                  <p:embed/>
                </p:oleObj>
              </mc:Choice>
              <mc:Fallback>
                <p:oleObj name="Equation" r:id="rId6" imgW="1562040" imgH="10666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D47729D-9C58-B0EF-6B97-3617B02EAF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0599" y="3182065"/>
                        <a:ext cx="2169161" cy="1481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44B0524-B25D-1EDC-E8B1-6396C27C3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9963" y="3138488"/>
          <a:ext cx="766762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1244520" progId="Equation.DSMT4">
                  <p:embed/>
                </p:oleObj>
              </mc:Choice>
              <mc:Fallback>
                <p:oleObj name="Equation" r:id="rId8" imgW="609480" imgH="1244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44B0524-B25D-1EDC-E8B1-6396C27C3D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49963" y="3138488"/>
                        <a:ext cx="766762" cy="1560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26287BF-F5F4-A227-8E37-103F4A7E17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9574" y="4814514"/>
          <a:ext cx="45148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90840" imgH="393480" progId="Equation.DSMT4">
                  <p:embed/>
                </p:oleObj>
              </mc:Choice>
              <mc:Fallback>
                <p:oleObj name="Equation" r:id="rId10" imgW="339084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26287BF-F5F4-A227-8E37-103F4A7E17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59574" y="4814514"/>
                        <a:ext cx="451485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04BB6CF-319B-C006-E009-1B2D5D67D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9574" y="5379624"/>
          <a:ext cx="52212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97280" imgH="393480" progId="Equation.DSMT4">
                  <p:embed/>
                </p:oleObj>
              </mc:Choice>
              <mc:Fallback>
                <p:oleObj name="Equation" r:id="rId12" imgW="379728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04BB6CF-319B-C006-E009-1B2D5D67D8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59574" y="5379624"/>
                        <a:ext cx="5221288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0A3961D-CEAD-52DA-0C90-D9B138589B85}"/>
              </a:ext>
            </a:extLst>
          </p:cNvPr>
          <p:cNvSpPr txBox="1"/>
          <p:nvPr/>
        </p:nvSpPr>
        <p:spPr>
          <a:xfrm>
            <a:off x="2259574" y="6019013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因此代数精度为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55354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插值型求积公式  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DF6792-CA58-80A6-2C5C-E64D155BD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551" y="1330128"/>
            <a:ext cx="7652143" cy="36006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3B9CF3-F359-68EA-F58A-3196103CB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597" y="5361807"/>
            <a:ext cx="8337979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640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8.6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33C621-6C1D-34B8-126C-2DFA8D36E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997" y="989573"/>
            <a:ext cx="8508707" cy="864430"/>
          </a:xfrm>
          <a:prstGeom prst="rect">
            <a:avLst/>
          </a:prstGeom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D47729D-9C58-B0EF-6B97-3617B02EAF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935735"/>
              </p:ext>
            </p:extLst>
          </p:nvPr>
        </p:nvGraphicFramePr>
        <p:xfrm>
          <a:off x="6070850" y="1797247"/>
          <a:ext cx="2717800" cy="320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2311200" progId="Equation.DSMT4">
                  <p:embed/>
                </p:oleObj>
              </mc:Choice>
              <mc:Fallback>
                <p:oleObj name="Equation" r:id="rId4" imgW="1955520" imgH="231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D47729D-9C58-B0EF-6B97-3617B02EAF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70850" y="1797247"/>
                        <a:ext cx="2717800" cy="320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26287BF-F5F4-A227-8E37-103F4A7E1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646900"/>
              </p:ext>
            </p:extLst>
          </p:nvPr>
        </p:nvGraphicFramePr>
        <p:xfrm>
          <a:off x="6096000" y="5003997"/>
          <a:ext cx="45148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90840" imgH="393480" progId="Equation.DSMT4">
                  <p:embed/>
                </p:oleObj>
              </mc:Choice>
              <mc:Fallback>
                <p:oleObj name="Equation" r:id="rId6" imgW="339084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26287BF-F5F4-A227-8E37-103F4A7E17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96000" y="5003997"/>
                        <a:ext cx="451485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04BB6CF-319B-C006-E009-1B2D5D67D8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202858"/>
              </p:ext>
            </p:extLst>
          </p:nvPr>
        </p:nvGraphicFramePr>
        <p:xfrm>
          <a:off x="6096000" y="5569107"/>
          <a:ext cx="52212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97280" imgH="393480" progId="Equation.DSMT4">
                  <p:embed/>
                </p:oleObj>
              </mc:Choice>
              <mc:Fallback>
                <p:oleObj name="Equation" r:id="rId8" imgW="379728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04BB6CF-319B-C006-E009-1B2D5D67D8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96000" y="5569107"/>
                        <a:ext cx="5221288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0A3961D-CEAD-52DA-0C90-D9B138589B85}"/>
              </a:ext>
            </a:extLst>
          </p:cNvPr>
          <p:cNvSpPr txBox="1"/>
          <p:nvPr/>
        </p:nvSpPr>
        <p:spPr>
          <a:xfrm>
            <a:off x="6096000" y="6208496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因此代数精度为</a:t>
            </a:r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E66348-5D49-0521-BE8A-CD11BB2F21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188" y="2013072"/>
            <a:ext cx="2717800" cy="304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239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8.11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CB2812-306F-4D65-513B-B4A810B5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11" y="1004761"/>
            <a:ext cx="7784763" cy="4996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CE39F2-DB08-D02F-2D40-207D8650F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503" y="1463198"/>
            <a:ext cx="3329736" cy="826446"/>
          </a:xfrm>
          <a:prstGeom prst="rect">
            <a:avLst/>
          </a:prstGeom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FBEB823-7E0B-2B3E-BC70-5DC81BCCB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972642"/>
              </p:ext>
            </p:extLst>
          </p:nvPr>
        </p:nvGraphicFramePr>
        <p:xfrm>
          <a:off x="4711127" y="2616070"/>
          <a:ext cx="2100260" cy="1332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480" imgH="838080" progId="Equation.DSMT4">
                  <p:embed/>
                </p:oleObj>
              </mc:Choice>
              <mc:Fallback>
                <p:oleObj name="Equation" r:id="rId5" imgW="13204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1127" y="2616070"/>
                        <a:ext cx="2100260" cy="1332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C3AEC48-A66E-D2CE-2763-05333AD18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973340"/>
              </p:ext>
            </p:extLst>
          </p:nvPr>
        </p:nvGraphicFramePr>
        <p:xfrm>
          <a:off x="7656514" y="2757434"/>
          <a:ext cx="2100260" cy="105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160" imgH="838080" progId="Equation.DSMT4">
                  <p:embed/>
                </p:oleObj>
              </mc:Choice>
              <mc:Fallback>
                <p:oleObj name="Equation" r:id="rId7" imgW="16761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56514" y="2757434"/>
                        <a:ext cx="2100260" cy="1050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6A85069-862C-EBC6-05C2-142AB29FA6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565407"/>
              </p:ext>
            </p:extLst>
          </p:nvPr>
        </p:nvGraphicFramePr>
        <p:xfrm>
          <a:off x="4711127" y="4186349"/>
          <a:ext cx="4959543" cy="77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14600" imgH="393480" progId="Equation.DSMT4">
                  <p:embed/>
                </p:oleObj>
              </mc:Choice>
              <mc:Fallback>
                <p:oleObj name="Equation" r:id="rId9" imgW="251460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26287BF-F5F4-A227-8E37-103F4A7E17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1127" y="4186349"/>
                        <a:ext cx="4959543" cy="776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9F144EE-0186-72E0-9A32-B0AAE003B37A}"/>
              </a:ext>
            </a:extLst>
          </p:cNvPr>
          <p:cNvSpPr txBox="1"/>
          <p:nvPr/>
        </p:nvSpPr>
        <p:spPr>
          <a:xfrm>
            <a:off x="4657463" y="5362189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因此代数精度为</a:t>
            </a:r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56385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牛顿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科特斯求积公式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36965B-BD99-C47A-73B3-228F1A124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767" y="1463198"/>
            <a:ext cx="6591639" cy="49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776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牛顿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科特斯求积公式                       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12197A-932E-4E6B-AA86-9BCD91C6C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888" y="1330128"/>
            <a:ext cx="8765398" cy="44689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ED44642-D726-1D6C-A3F5-7B16F770B6E7}"/>
              </a:ext>
            </a:extLst>
          </p:cNvPr>
          <p:cNvSpPr/>
          <p:nvPr/>
        </p:nvSpPr>
        <p:spPr>
          <a:xfrm>
            <a:off x="1725930" y="2103120"/>
            <a:ext cx="2205990" cy="4000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A6FA56-0F2C-E833-3552-38EC589D19D2}"/>
              </a:ext>
            </a:extLst>
          </p:cNvPr>
          <p:cNvSpPr/>
          <p:nvPr/>
        </p:nvSpPr>
        <p:spPr>
          <a:xfrm>
            <a:off x="1725930" y="2531870"/>
            <a:ext cx="2651760" cy="4000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5EF213-8210-90F2-B1F7-D4FC6E8A6792}"/>
              </a:ext>
            </a:extLst>
          </p:cNvPr>
          <p:cNvSpPr/>
          <p:nvPr/>
        </p:nvSpPr>
        <p:spPr>
          <a:xfrm>
            <a:off x="1725930" y="3432810"/>
            <a:ext cx="4229100" cy="4000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3067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代数精度与误差估计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8A5DC6-059B-36E4-8091-23181EDBA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98" y="1585454"/>
            <a:ext cx="9511578" cy="7388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E9BC1F-17B5-4939-33AB-B3C2A3150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096" y="2477310"/>
            <a:ext cx="5882043" cy="7388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FCA6BB-243D-0DC1-6405-5FF45BBBC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096" y="3369166"/>
            <a:ext cx="5297962" cy="8925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84E92D-4509-D1A5-7E13-6451D14961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8608" y="4581072"/>
            <a:ext cx="6727096" cy="7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复合梯形求积公式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2BB682-5248-F88B-B0DF-3CD777E7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153" y="1463198"/>
            <a:ext cx="8744868" cy="25291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4C00AE2-3618-6AB2-A4A1-D1B9314CB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074" y="4362597"/>
            <a:ext cx="9440618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604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复合辛普生求积公式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A09729-085E-3692-5069-8FA3C8B2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89" y="1463198"/>
            <a:ext cx="9423934" cy="19658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C597768-3986-8EB3-6D11-22A4BFB92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64" y="3883596"/>
            <a:ext cx="9322214" cy="11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322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龙贝格求积公式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C6FFF52-5E51-2352-2F60-EE9CB44BBE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97" r="36360"/>
          <a:stretch/>
        </p:blipFill>
        <p:spPr>
          <a:xfrm>
            <a:off x="3347056" y="1463198"/>
            <a:ext cx="3559929" cy="9143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5B6C39-8070-3F4D-D7CD-582758F1B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172" y="2940150"/>
            <a:ext cx="3400421" cy="9143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CF4A560-D6FE-A7AC-8D57-594F3AD6B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9801" y="4417102"/>
            <a:ext cx="3057649" cy="77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27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高斯求积公式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EEC6A6-9349-76F9-3D5F-FDDF65765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47" y="1711713"/>
            <a:ext cx="10043905" cy="7416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AEE3E5-73B8-3C62-8F6F-1DCBFF0CD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47" y="2564585"/>
            <a:ext cx="10506166" cy="180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196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高斯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勒让德求积公式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99FB81-66B5-DC63-B656-8FC4A6117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41" y="1463198"/>
            <a:ext cx="9178491" cy="6677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DABF48-BC8A-2A6E-ED9E-F84D94751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527" y="2180572"/>
            <a:ext cx="4501865" cy="6326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D89D451-E047-E82F-8BF3-50F4B6253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741" y="2896694"/>
            <a:ext cx="3286497" cy="200841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F57C228-58D4-2D06-617F-D53D5BCE9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394" y="5060606"/>
            <a:ext cx="8094457" cy="6326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63D29F3-294C-D6FD-EB2B-8119A2317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8392" y="2872776"/>
            <a:ext cx="5270771" cy="18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5356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8.16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06CD33-3871-45AA-E14E-9DF56A2D1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766" y="1330128"/>
            <a:ext cx="7485714" cy="10649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A7242D3-8599-D135-B813-E989779E1C03}"/>
              </a:ext>
            </a:extLst>
          </p:cNvPr>
          <p:cNvSpPr txBox="1"/>
          <p:nvPr/>
        </p:nvSpPr>
        <p:spPr>
          <a:xfrm>
            <a:off x="2503714" y="2894751"/>
            <a:ext cx="3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作变换：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E518D31-0251-D1F2-6168-3CCFB447A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057465"/>
              </p:ext>
            </p:extLst>
          </p:nvPr>
        </p:nvGraphicFramePr>
        <p:xfrm>
          <a:off x="3436257" y="2894751"/>
          <a:ext cx="1107996" cy="369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177480" progId="Equation.DSMT4">
                  <p:embed/>
                </p:oleObj>
              </mc:Choice>
              <mc:Fallback>
                <p:oleObj name="Equation" r:id="rId4" imgW="5331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36257" y="2894751"/>
                        <a:ext cx="1107996" cy="369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23DF01F-65C9-E362-3F92-A44F69393F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400174"/>
              </p:ext>
            </p:extLst>
          </p:nvPr>
        </p:nvGraphicFramePr>
        <p:xfrm>
          <a:off x="4834013" y="2830734"/>
          <a:ext cx="3496350" cy="571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17640" imgH="444240" progId="Equation.DSMT4">
                  <p:embed/>
                </p:oleObj>
              </mc:Choice>
              <mc:Fallback>
                <p:oleObj name="Equation" r:id="rId6" imgW="2717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34013" y="2830734"/>
                        <a:ext cx="3496350" cy="571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273F94FB-E30A-2C43-CEDC-A270F4B6D7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3714" y="3593918"/>
            <a:ext cx="4603987" cy="15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387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B28005EB-37B8-407F-B401-3092C00413FD}"/>
              </a:ext>
            </a:extLst>
          </p:cNvPr>
          <p:cNvSpPr txBox="1"/>
          <p:nvPr/>
        </p:nvSpPr>
        <p:spPr>
          <a:xfrm>
            <a:off x="372714" y="104001"/>
            <a:ext cx="106218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第八章：数值积分与数值微分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D3CEBC-1AA4-4C76-A221-B8E532851155}"/>
              </a:ext>
            </a:extLst>
          </p:cNvPr>
          <p:cNvCxnSpPr/>
          <p:nvPr/>
        </p:nvCxnSpPr>
        <p:spPr>
          <a:xfrm>
            <a:off x="372714" y="697433"/>
            <a:ext cx="1100974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E7EDA641-98D2-2347-F1EC-3B25004F0C22}"/>
              </a:ext>
            </a:extLst>
          </p:cNvPr>
          <p:cNvSpPr txBox="1"/>
          <p:nvPr/>
        </p:nvSpPr>
        <p:spPr>
          <a:xfrm>
            <a:off x="471695" y="830504"/>
            <a:ext cx="5624305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习题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8.24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0273F5-54CB-F3D2-97F3-10A9189DB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01" y="1330128"/>
            <a:ext cx="9946131" cy="10143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E08432E-C23B-BF3A-0315-ED4A3148C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5" y="3114607"/>
            <a:ext cx="11629471" cy="5416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B76DB21-2CB8-8D8E-A725-4C312EC34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14" y="3747301"/>
            <a:ext cx="11091576" cy="51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8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2347</TotalTime>
  <Words>1078</Words>
  <Application>Microsoft Office PowerPoint</Application>
  <PresentationFormat>宽屏</PresentationFormat>
  <Paragraphs>407</Paragraphs>
  <Slides>95</Slides>
  <Notes>94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03" baseType="lpstr">
      <vt:lpstr>等线</vt:lpstr>
      <vt:lpstr>等线 Light</vt:lpstr>
      <vt:lpstr>微软雅黑</vt:lpstr>
      <vt:lpstr>Arial</vt:lpstr>
      <vt:lpstr>Cambria Math</vt:lpstr>
      <vt:lpstr>Wingdings</vt:lpstr>
      <vt:lpstr>Office 主题​​</vt:lpstr>
      <vt:lpstr>Equation</vt:lpstr>
      <vt:lpstr>数值计算习题课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数值计算习题课</dc:title>
  <dc:creator>zjl</dc:creator>
  <cp:lastModifiedBy>JL Z</cp:lastModifiedBy>
  <cp:revision>116</cp:revision>
  <dcterms:created xsi:type="dcterms:W3CDTF">2023-06-11T01:47:55Z</dcterms:created>
  <dcterms:modified xsi:type="dcterms:W3CDTF">2023-06-14T02:57:35Z</dcterms:modified>
</cp:coreProperties>
</file>