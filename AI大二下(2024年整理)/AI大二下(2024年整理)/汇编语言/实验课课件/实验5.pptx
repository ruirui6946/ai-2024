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9" r:id="rId2"/>
    <p:sldId id="305" r:id="rId3"/>
    <p:sldId id="308" r:id="rId4"/>
    <p:sldId id="309" r:id="rId5"/>
    <p:sldId id="310" r:id="rId6"/>
    <p:sldId id="306" r:id="rId7"/>
    <p:sldId id="304" r:id="rId8"/>
    <p:sldId id="276" r:id="rId9"/>
    <p:sldId id="298" r:id="rId10"/>
    <p:sldId id="311" r:id="rId11"/>
    <p:sldId id="300" r:id="rId12"/>
    <p:sldId id="314" r:id="rId13"/>
    <p:sldId id="315" r:id="rId14"/>
    <p:sldId id="297" r:id="rId15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82" d="100"/>
          <a:sy n="82" d="100"/>
        </p:scale>
        <p:origin x="85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7.78598" units="1/cm"/>
          <inkml:channelProperty channel="Y" name="resolution" value="37.83251" units="1/cm"/>
          <inkml:channelProperty channel="T" name="resolution" value="1" units="1/dev"/>
        </inkml:channelProperties>
      </inkml:inkSource>
      <inkml:timestamp xml:id="ts0" timeString="2022-03-14T06:46:26.9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22423 11741 0,'0'0'0,"0"33"110,166-33-95,-1 0-15,133 0 16,66 0 0,-100 0-1,133 0 16,-265 0-31,100 0 16,-67 0 15,1 0-15,-67 0-16,165 0 31,-164 0-31,230 0 31,-164 0-15,-100-33-16,132-33 31,-132 33-31,67-33 32,-100 66-32,99-100 15,0-32 16,-65 66-31,-1-33 32,-66 66-32,0-34 31,0 1-15,0 0-1,0-132 16,-66 98-15,-67-32 0,-32 33-1,99 99-15,-331-165 32,298 165-32,-100-67 31,100 67-16,66 0-15,-199-66 32,133 33-1,66 33 16,-33 0-47,-199 99 31,133-65-31,-99 164 16,65-66 15,1-66-15,132-66-16,-66 100 31,65-100 0,1 33-15,-33 33-16,-99 99 31,165-132-31,-132 232 31,132-199-31,-33 33 16,-1-33 15,34 34-31,0 131 31,0-165-31,0 0 16,0 34 0,34-67-1,-1 66 16,0-99-31,-33 33 32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09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2023/3/27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/>
              <a:t>实验五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2" y="4101335"/>
            <a:ext cx="4060960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寻址方式及简单指令操作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%0RZVEC(PF~96VEDD`GR}PH"/>
          <p:cNvPicPr/>
          <p:nvPr/>
        </p:nvPicPr>
        <p:blipFill>
          <a:blip r:embed="rId2"/>
          <a:stretch>
            <a:fillRect/>
          </a:stretch>
        </p:blipFill>
        <p:spPr>
          <a:xfrm>
            <a:off x="1089528" y="1350401"/>
            <a:ext cx="4687157" cy="3990855"/>
          </a:xfrm>
          <a:prstGeom prst="rect">
            <a:avLst/>
          </a:prstGeom>
        </p:spPr>
      </p:pic>
      <p:pic>
        <p:nvPicPr>
          <p:cNvPr id="5" name="图片 4" descr="VSDQ)9C74SY8{%~JNC[V4[S"/>
          <p:cNvPicPr/>
          <p:nvPr/>
        </p:nvPicPr>
        <p:blipFill>
          <a:blip r:embed="rId3"/>
          <a:stretch>
            <a:fillRect/>
          </a:stretch>
        </p:blipFill>
        <p:spPr>
          <a:xfrm>
            <a:off x="6626196" y="1350402"/>
            <a:ext cx="6552776" cy="423951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13758" y="27637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ea typeface="等线" panose="02010600030101010101" pitchFamily="2" charset="-122"/>
                <a:cs typeface="Times New Roman" panose="02020603050405020304" pitchFamily="18" charset="0"/>
              </a:rPr>
              <a:t>立即数寻址</a:t>
            </a:r>
            <a:endParaRPr lang="en-US" altLang="zh-CN" dirty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在寄存器</a:t>
            </a:r>
            <a:r>
              <a:rPr lang="en-US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zh-CN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中存入</a:t>
            </a:r>
            <a:r>
              <a:rPr lang="en-US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125</a:t>
            </a:r>
            <a:r>
              <a:rPr lang="zh-CN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AH</a:t>
            </a:r>
            <a:r>
              <a:rPr lang="zh-CN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中存入</a:t>
            </a:r>
            <a:r>
              <a:rPr lang="en-US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65H </a:t>
            </a:r>
            <a:r>
              <a:rPr lang="zh-CN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后将</a:t>
            </a:r>
            <a:r>
              <a:rPr lang="en-US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AX</a:t>
            </a:r>
            <a:r>
              <a:rPr lang="zh-CN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寄存器的值赋值给寄存器</a:t>
            </a:r>
            <a:r>
              <a:rPr lang="en-US" altLang="zh-CN" dirty="0">
                <a:ea typeface="等线" panose="02010600030101010101" pitchFamily="2" charset="-122"/>
                <a:cs typeface="Times New Roman" panose="02020603050405020304" pitchFamily="18" charset="0"/>
              </a:rPr>
              <a:t>BX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932317" y="5589917"/>
            <a:ext cx="3672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立即数寻址：可以直接给</a:t>
            </a:r>
            <a:r>
              <a:rPr lang="en-US" altLang="zh-CN" dirty="0"/>
              <a:t>10</a:t>
            </a:r>
            <a:r>
              <a:rPr lang="zh-CN" altLang="en-US" dirty="0"/>
              <a:t>进制数</a:t>
            </a:r>
          </a:p>
        </p:txBody>
      </p:sp>
    </p:spTree>
    <p:extLst>
      <p:ext uri="{BB962C8B-B14F-4D97-AF65-F5344CB8AC3E}">
        <p14:creationId xmlns:p14="http://schemas.microsoft.com/office/powerpoint/2010/main" val="328325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460" y="301626"/>
            <a:ext cx="7424647" cy="492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60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980" y="429900"/>
            <a:ext cx="7305263" cy="551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627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571" y="1162333"/>
            <a:ext cx="6542857" cy="4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230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0"/>
            <a:ext cx="5395283" cy="659058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847968" y="1917783"/>
            <a:ext cx="2611888" cy="25607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349042" y="431321"/>
            <a:ext cx="180049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直接寻址：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mov</a:t>
            </a:r>
            <a:r>
              <a:rPr lang="en-US" altLang="zh-CN" dirty="0"/>
              <a:t> ax,[0008H]</a:t>
            </a:r>
          </a:p>
          <a:p>
            <a:endParaRPr lang="en-US" altLang="zh-CN" dirty="0"/>
          </a:p>
          <a:p>
            <a:r>
              <a:rPr lang="en-US" altLang="zh-CN" dirty="0" err="1"/>
              <a:t>mov</a:t>
            </a:r>
            <a:r>
              <a:rPr lang="en-US" altLang="zh-CN" dirty="0"/>
              <a:t>  al,[</a:t>
            </a:r>
            <a:r>
              <a:rPr lang="en-US" altLang="zh-CN" dirty="0" err="1"/>
              <a:t>valuex</a:t>
            </a:r>
            <a:r>
              <a:rPr lang="en-US" altLang="zh-CN" dirty="0"/>
              <a:t>]</a:t>
            </a:r>
          </a:p>
          <a:p>
            <a:endParaRPr lang="en-US" altLang="zh-CN" dirty="0"/>
          </a:p>
          <a:p>
            <a:r>
              <a:rPr lang="en-US" altLang="zh-CN" dirty="0" err="1"/>
              <a:t>mov</a:t>
            </a:r>
            <a:r>
              <a:rPr lang="en-US" altLang="zh-CN" dirty="0"/>
              <a:t>  </a:t>
            </a:r>
            <a:r>
              <a:rPr lang="en-US" altLang="zh-CN" dirty="0" err="1"/>
              <a:t>al,valuex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6349042" y="2846718"/>
            <a:ext cx="30315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类型定义的作用？</a:t>
            </a:r>
            <a:endParaRPr lang="en-US" altLang="zh-CN" dirty="0"/>
          </a:p>
          <a:p>
            <a:r>
              <a:rPr lang="en-US" altLang="zh-CN" dirty="0"/>
              <a:t>DB</a:t>
            </a:r>
            <a:r>
              <a:rPr lang="zh-CN" altLang="en-US" dirty="0"/>
              <a:t>， </a:t>
            </a:r>
            <a:r>
              <a:rPr lang="en-US" altLang="zh-CN" dirty="0"/>
              <a:t>DW</a:t>
            </a:r>
            <a:r>
              <a:rPr lang="zh-CN" altLang="en-US" dirty="0"/>
              <a:t>， </a:t>
            </a:r>
            <a:r>
              <a:rPr lang="en-US" altLang="zh-CN" dirty="0"/>
              <a:t>DD </a:t>
            </a:r>
            <a:r>
              <a:rPr lang="zh-CN" altLang="en-US" dirty="0"/>
              <a:t>区别在哪？</a:t>
            </a:r>
            <a:endParaRPr lang="en-US" altLang="zh-CN" dirty="0"/>
          </a:p>
          <a:p>
            <a:r>
              <a:rPr lang="zh-CN" altLang="en-US" dirty="0"/>
              <a:t>段前缀何时使用？</a:t>
            </a: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042" y="3877121"/>
            <a:ext cx="3390181" cy="23920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/>
              <p14:cNvContentPartPr/>
              <p14:nvPr/>
            </p14:nvContentPartPr>
            <p14:xfrm>
              <a:off x="8072280" y="3631320"/>
              <a:ext cx="1512720" cy="774360"/>
            </p14:xfrm>
          </p:contentPart>
        </mc:Choice>
        <mc:Fallback xmlns="">
          <p:pic>
            <p:nvPicPr>
              <p:cNvPr id="2" name="墨迹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62920" y="3621960"/>
                <a:ext cx="1531440" cy="79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1217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CB2B18-C63B-43C8-B6D3-368D2690E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941" y="527984"/>
            <a:ext cx="4291853" cy="4351338"/>
          </a:xfrm>
        </p:spPr>
        <p:txBody>
          <a:bodyPr/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编写一个汇编程序，在数据表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DATA1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中存放数据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0F895H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，在数据表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DATA2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中存放数据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3E0CH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，要求将两数分别取出相加，然后将计算结果存放到当前数据段，偏移地址为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2800H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的单元中。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0"/>
          <a:stretch/>
        </p:blipFill>
        <p:spPr bwMode="auto">
          <a:xfrm>
            <a:off x="5063406" y="750771"/>
            <a:ext cx="2829764" cy="412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8680089" y="852098"/>
            <a:ext cx="3017329" cy="40272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656272" y="5132717"/>
            <a:ext cx="3540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16</a:t>
            </a:r>
            <a:r>
              <a:rPr lang="zh-CN" altLang="en-US" dirty="0"/>
              <a:t>位寄存器寻址：</a:t>
            </a:r>
            <a:r>
              <a:rPr lang="en-US" altLang="zh-CN" dirty="0"/>
              <a:t>DX, BP, SI,DI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667405" y="2958860"/>
            <a:ext cx="1621766" cy="36933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9572295" y="3671977"/>
            <a:ext cx="1874958" cy="22716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667405" y="2024332"/>
            <a:ext cx="1621766" cy="36933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8680089" y="2021300"/>
            <a:ext cx="2611888" cy="25607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8169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374187" y="1443915"/>
            <a:ext cx="10668288" cy="156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掌握加减法运算指令对各状态标志位的影响及测试方法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掌握汇编语言长整数的加法的操作方法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实验方法及原理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224062" y="889169"/>
            <a:ext cx="10668288" cy="4154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状态标志位 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dirty="0"/>
              <a:t>   CPU</a:t>
            </a:r>
            <a:r>
              <a:rPr lang="zh-CN" altLang="en-US" dirty="0"/>
              <a:t>内部的寄存器中有一种特殊的寄存器，被称为标志寄存器，具有以下三种作用，：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）用来存储相关指令的某些执行结果；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）用来为</a:t>
            </a:r>
            <a:r>
              <a:rPr lang="en-US" altLang="zh-CN" dirty="0"/>
              <a:t>CPU</a:t>
            </a:r>
            <a:r>
              <a:rPr lang="zh-CN" altLang="en-US" dirty="0"/>
              <a:t>执行相关指令提供行为依据；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）用来控制</a:t>
            </a:r>
            <a:r>
              <a:rPr lang="en-US" altLang="zh-CN" dirty="0"/>
              <a:t>CPU</a:t>
            </a:r>
            <a:r>
              <a:rPr lang="zh-CN" altLang="en-US" dirty="0"/>
              <a:t>的相关工作方式。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435" y="2898735"/>
            <a:ext cx="9352381" cy="12666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43" y="0"/>
            <a:ext cx="8697285" cy="67610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964" y="847181"/>
            <a:ext cx="6228571" cy="7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25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ldLvl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02752" y="109628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加减法处理指令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ADD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ADC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SUB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SBB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INC, CMP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实验方法及原理</a:t>
            </a:r>
          </a:p>
        </p:txBody>
      </p:sp>
    </p:spTree>
    <p:extLst>
      <p:ext uri="{BB962C8B-B14F-4D97-AF65-F5344CB8AC3E}">
        <p14:creationId xmlns:p14="http://schemas.microsoft.com/office/powerpoint/2010/main" val="1073870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860841"/>
            <a:ext cx="9031054" cy="784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对于以下几组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数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087H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034H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0C2H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5FH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0F3H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0F3H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，编程求这两组数的和与差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）若这几组数都是无符号数，记录计算结果并考虑计算结果对标志寄存器中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CF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OF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ZF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SF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PF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等状态标志位的以下表的格式记录下来。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2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）如果是有符号数的加法和减法，上面小题的指令适用吗？此时如何看待计算结果？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342275"/>
              </p:ext>
            </p:extLst>
          </p:nvPr>
        </p:nvGraphicFramePr>
        <p:xfrm>
          <a:off x="4182440" y="5405467"/>
          <a:ext cx="5991462" cy="124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3791">
                  <a:extLst>
                    <a:ext uri="{9D8B030D-6E8A-4147-A177-3AD203B41FA5}">
                      <a16:colId xmlns:a16="http://schemas.microsoft.com/office/drawing/2014/main" val="4290565797"/>
                    </a:ext>
                  </a:extLst>
                </a:gridCol>
                <a:gridCol w="652043">
                  <a:extLst>
                    <a:ext uri="{9D8B030D-6E8A-4147-A177-3AD203B41FA5}">
                      <a16:colId xmlns:a16="http://schemas.microsoft.com/office/drawing/2014/main" val="2378711162"/>
                    </a:ext>
                  </a:extLst>
                </a:gridCol>
                <a:gridCol w="616016">
                  <a:extLst>
                    <a:ext uri="{9D8B030D-6E8A-4147-A177-3AD203B41FA5}">
                      <a16:colId xmlns:a16="http://schemas.microsoft.com/office/drawing/2014/main" val="538569130"/>
                    </a:ext>
                  </a:extLst>
                </a:gridCol>
                <a:gridCol w="818148">
                  <a:extLst>
                    <a:ext uri="{9D8B030D-6E8A-4147-A177-3AD203B41FA5}">
                      <a16:colId xmlns:a16="http://schemas.microsoft.com/office/drawing/2014/main" val="2001977293"/>
                    </a:ext>
                  </a:extLst>
                </a:gridCol>
                <a:gridCol w="375385">
                  <a:extLst>
                    <a:ext uri="{9D8B030D-6E8A-4147-A177-3AD203B41FA5}">
                      <a16:colId xmlns:a16="http://schemas.microsoft.com/office/drawing/2014/main" val="2488567237"/>
                    </a:ext>
                  </a:extLst>
                </a:gridCol>
                <a:gridCol w="510915">
                  <a:extLst>
                    <a:ext uri="{9D8B030D-6E8A-4147-A177-3AD203B41FA5}">
                      <a16:colId xmlns:a16="http://schemas.microsoft.com/office/drawing/2014/main" val="640478881"/>
                    </a:ext>
                  </a:extLst>
                </a:gridCol>
                <a:gridCol w="603791">
                  <a:extLst>
                    <a:ext uri="{9D8B030D-6E8A-4147-A177-3AD203B41FA5}">
                      <a16:colId xmlns:a16="http://schemas.microsoft.com/office/drawing/2014/main" val="2138029312"/>
                    </a:ext>
                  </a:extLst>
                </a:gridCol>
                <a:gridCol w="603791">
                  <a:extLst>
                    <a:ext uri="{9D8B030D-6E8A-4147-A177-3AD203B41FA5}">
                      <a16:colId xmlns:a16="http://schemas.microsoft.com/office/drawing/2014/main" val="3034516542"/>
                    </a:ext>
                  </a:extLst>
                </a:gridCol>
                <a:gridCol w="603791">
                  <a:extLst>
                    <a:ext uri="{9D8B030D-6E8A-4147-A177-3AD203B41FA5}">
                      <a16:colId xmlns:a16="http://schemas.microsoft.com/office/drawing/2014/main" val="3133976607"/>
                    </a:ext>
                  </a:extLst>
                </a:gridCol>
                <a:gridCol w="603791">
                  <a:extLst>
                    <a:ext uri="{9D8B030D-6E8A-4147-A177-3AD203B41FA5}">
                      <a16:colId xmlns:a16="http://schemas.microsoft.com/office/drawing/2014/main" val="1819204456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操作数</a:t>
                      </a:r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操作数</a:t>
                      </a:r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操作指令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>
                          <a:effectLst/>
                        </a:rPr>
                        <a:t>计算结果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CF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ZF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SF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83308506"/>
                  </a:ext>
                </a:extLst>
              </a:tr>
              <a:tr h="3266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087H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034H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ADD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0CBH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8827543"/>
                  </a:ext>
                </a:extLst>
              </a:tr>
              <a:tr h="211756"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4260167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5002072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8965212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44308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54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84694" y="549794"/>
            <a:ext cx="883920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有如下程序片段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Mov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al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00FH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Mov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bl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013H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cmp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al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bl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执行后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寄存器值位多少，观察并记录影响了哪些状态标志位，并 说明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CMP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指令的作用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832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84694" y="549794"/>
            <a:ext cx="8839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3. Data1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Data2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是两个三字节的无符号整数，尝试编写汇编程序计算得到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Data1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的和，将结果存到</a:t>
            </a:r>
            <a:r>
              <a:rPr lang="zh-CN" altLang="en-US" dirty="0"/>
              <a:t>以</a:t>
            </a:r>
            <a:r>
              <a:rPr lang="en-US" altLang="zh-CN" dirty="0" err="1"/>
              <a:t>ans</a:t>
            </a:r>
            <a:r>
              <a:rPr lang="zh-CN" altLang="en-US" dirty="0"/>
              <a:t>为首地址的缓冲器区中 假如</a:t>
            </a:r>
            <a:r>
              <a:rPr lang="en-US" altLang="zh-CN" dirty="0"/>
              <a:t>Data1 </a:t>
            </a:r>
            <a:r>
              <a:rPr lang="zh-CN" altLang="en-US" dirty="0"/>
              <a:t>存放的数据为 </a:t>
            </a:r>
            <a:r>
              <a:rPr lang="en-US" altLang="zh-CN" dirty="0"/>
              <a:t>0FFEEDDH</a:t>
            </a:r>
            <a:r>
              <a:rPr lang="zh-CN" altLang="en-US"/>
              <a:t>（使用文字的内容）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Data2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102236H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，则结果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101113H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694" y="2657519"/>
            <a:ext cx="3169796" cy="1142956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529264" y="2462742"/>
          <a:ext cx="3557586" cy="3291840"/>
        </p:xfrm>
        <a:graphic>
          <a:graphicData uri="http://schemas.openxmlformats.org/drawingml/2006/table">
            <a:tbl>
              <a:tblPr firstRow="1" bandRow="1"/>
              <a:tblGrid>
                <a:gridCol w="1423035">
                  <a:extLst>
                    <a:ext uri="{9D8B030D-6E8A-4147-A177-3AD203B41FA5}">
                      <a16:colId xmlns:a16="http://schemas.microsoft.com/office/drawing/2014/main" val="2790832359"/>
                    </a:ext>
                  </a:extLst>
                </a:gridCol>
                <a:gridCol w="2134551">
                  <a:extLst>
                    <a:ext uri="{9D8B030D-6E8A-4147-A177-3AD203B41FA5}">
                      <a16:colId xmlns:a16="http://schemas.microsoft.com/office/drawing/2014/main" val="359528189"/>
                    </a:ext>
                  </a:extLst>
                </a:gridCol>
              </a:tblGrid>
              <a:tr h="266845">
                <a:tc>
                  <a:txBody>
                    <a:bodyPr/>
                    <a:lstStyle/>
                    <a:p>
                      <a:r>
                        <a:rPr lang="en-US" altLang="zh-CN" dirty="0"/>
                        <a:t>data1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36H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131531"/>
                  </a:ext>
                </a:extLst>
              </a:tr>
              <a:tr h="26684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22H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64825"/>
                  </a:ext>
                </a:extLst>
              </a:tr>
              <a:tr h="26684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1904868"/>
                  </a:ext>
                </a:extLst>
              </a:tr>
              <a:tr h="266845">
                <a:tc>
                  <a:txBody>
                    <a:bodyPr/>
                    <a:lstStyle/>
                    <a:p>
                      <a:r>
                        <a:rPr lang="en-US" altLang="zh-CN" dirty="0"/>
                        <a:t>data2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13H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055355"/>
                  </a:ext>
                </a:extLst>
              </a:tr>
              <a:tr h="26684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237662"/>
                  </a:ext>
                </a:extLst>
              </a:tr>
              <a:tr h="26684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10H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6113510"/>
                  </a:ext>
                </a:extLst>
              </a:tr>
              <a:tr h="266845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ans</a:t>
                      </a:r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2515266"/>
                  </a:ext>
                </a:extLst>
              </a:tr>
              <a:tr h="26684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699633"/>
                  </a:ext>
                </a:extLst>
              </a:tr>
              <a:tr h="26684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186107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399835" y="4168162"/>
            <a:ext cx="295465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可利用寄存器相对寻址方式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 err="1"/>
              <a:t>mov</a:t>
            </a:r>
            <a:r>
              <a:rPr lang="en-US" altLang="zh-CN" dirty="0"/>
              <a:t>  al,data1</a:t>
            </a:r>
          </a:p>
          <a:p>
            <a:r>
              <a:rPr lang="en-US" altLang="zh-CN" dirty="0" err="1"/>
              <a:t>Mov</a:t>
            </a:r>
            <a:r>
              <a:rPr lang="en-US" altLang="zh-CN" dirty="0"/>
              <a:t>  al, data1+1</a:t>
            </a:r>
          </a:p>
          <a:p>
            <a:endParaRPr lang="en-US" altLang="zh-CN" dirty="0"/>
          </a:p>
          <a:p>
            <a:r>
              <a:rPr lang="en-US" altLang="zh-CN" dirty="0" err="1"/>
              <a:t>Mov</a:t>
            </a:r>
            <a:r>
              <a:rPr lang="en-US" altLang="zh-CN" dirty="0"/>
              <a:t> si,0</a:t>
            </a:r>
          </a:p>
          <a:p>
            <a:r>
              <a:rPr lang="en-US" altLang="zh-CN" dirty="0" err="1"/>
              <a:t>Mov</a:t>
            </a:r>
            <a:r>
              <a:rPr lang="en-US" altLang="zh-CN" dirty="0"/>
              <a:t> al,data1[</a:t>
            </a:r>
            <a:r>
              <a:rPr lang="en-US" altLang="zh-CN" dirty="0" err="1"/>
              <a:t>si</a:t>
            </a:r>
            <a:r>
              <a:rPr lang="en-US" altLang="zh-CN" dirty="0"/>
              <a:t>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9339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5692-B8B3-435C-A09C-6228FCA9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实验报告及作业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EE591-09B0-4AB8-A317-B725E1A7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给出实验内容</a:t>
            </a:r>
            <a:r>
              <a:rPr lang="en-US" altLang="zh-CN" dirty="0"/>
              <a:t>1</a:t>
            </a:r>
            <a:r>
              <a:rPr lang="zh-CN" altLang="en-US" dirty="0"/>
              <a:t>的源程序代码片段，记录两组数据的和及对状态标记位的变化情况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给出实内验容</a:t>
            </a:r>
            <a:r>
              <a:rPr lang="en-US" altLang="zh-CN" dirty="0"/>
              <a:t>2</a:t>
            </a:r>
            <a:r>
              <a:rPr lang="zh-CN" altLang="en-US" dirty="0"/>
              <a:t>的分析结果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 </a:t>
            </a:r>
            <a:r>
              <a:rPr lang="zh-CN" altLang="en-US" dirty="0"/>
              <a:t>给出实内验容</a:t>
            </a:r>
            <a:r>
              <a:rPr lang="en-US" altLang="zh-CN" dirty="0"/>
              <a:t>3</a:t>
            </a:r>
            <a:r>
              <a:rPr lang="zh-CN" altLang="en-US" dirty="0"/>
              <a:t>的程序片段（关键部分的源码）和运行结果截图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实验总结（实验过程错误总结、知识点掌握情况）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6220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2102</TotalTime>
  <Words>590</Words>
  <Application>Microsoft Office PowerPoint</Application>
  <PresentationFormat>宽屏</PresentationFormat>
  <Paragraphs>91</Paragraphs>
  <Slides>14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方正粗谭黑简体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实验报告及作业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马 承乾</cp:lastModifiedBy>
  <cp:revision>129</cp:revision>
  <dcterms:created xsi:type="dcterms:W3CDTF">2019-06-11T09:29:47Z</dcterms:created>
  <dcterms:modified xsi:type="dcterms:W3CDTF">2023-03-27T07:58:00Z</dcterms:modified>
</cp:coreProperties>
</file>