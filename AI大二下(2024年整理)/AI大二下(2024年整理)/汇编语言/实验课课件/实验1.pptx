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9" r:id="rId2"/>
    <p:sldId id="299" r:id="rId3"/>
    <p:sldId id="276" r:id="rId4"/>
    <p:sldId id="295" r:id="rId5"/>
    <p:sldId id="300" r:id="rId6"/>
    <p:sldId id="301" r:id="rId7"/>
    <p:sldId id="302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312" r:id="rId17"/>
    <p:sldId id="313" r:id="rId18"/>
    <p:sldId id="314" r:id="rId19"/>
    <p:sldId id="315" r:id="rId20"/>
    <p:sldId id="316" r:id="rId21"/>
    <p:sldId id="317" r:id="rId22"/>
    <p:sldId id="318" r:id="rId23"/>
    <p:sldId id="319" r:id="rId24"/>
    <p:sldId id="303" r:id="rId25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FFD966"/>
    <a:srgbClr val="7F7F7F"/>
    <a:srgbClr val="F8CE7C"/>
    <a:srgbClr val="D0B0A9"/>
    <a:srgbClr val="4C302A"/>
    <a:srgbClr val="B7A784"/>
    <a:srgbClr val="D2836E"/>
    <a:srgbClr val="B59666"/>
    <a:srgbClr val="4B38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12" autoAdjust="0"/>
    <p:restoredTop sz="96318" autoAdjust="0"/>
  </p:normalViewPr>
  <p:slideViewPr>
    <p:cSldViewPr snapToGrid="0">
      <p:cViewPr varScale="1">
        <p:scale>
          <a:sx n="66" d="100"/>
          <a:sy n="66" d="100"/>
        </p:scale>
        <p:origin x="4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DFC243-3E68-4BFF-A505-ADDF9D7195A4}" type="datetimeFigureOut">
              <a:rPr lang="zh-CN" altLang="en-US" smtClean="0"/>
              <a:t>2023/2/27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7D84A-3049-44F6-8517-64F0971FDD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773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545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112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2767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A646B-F117-4928-A8A2-1716300C3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781FEE-C1F4-469A-9E36-8F4601D2E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8552C6-A02E-47D7-A268-DC48634E3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A628B0-905E-46AF-9C51-C2B5AF892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B8A775-5E37-4409-A4E7-F0814E9F7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593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9B327-6DC4-489C-A130-8CF667D3C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6EB504-E0E5-46C5-B6D0-95B1660E2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30CF13-8903-4992-88F7-C55D7F4E7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41C592-991D-4A88-81B0-FA07E26D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6A61AE-DFB6-4E40-B78C-76E64498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824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CEF327-DE46-4FD7-851C-CAD5A20AC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308B61-6FAC-4108-97CC-3ACD182B9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0CB1DC-8355-42C5-AF00-8E36F02E5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A65AD0-D1B3-49A8-9F94-E603B5BA1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33DBE1-743B-438D-92D3-E40E206AC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13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8495710" y="3569750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6DA7060-857A-4930-832C-C09BFD4FC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7FF8F7-2B15-4A01-A575-53845FA96B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701E7A-8C68-4E20-A803-855BD0F40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615B9C-5EC5-4D9B-B5D9-BB2972780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2023/2/27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2F8F48-9F51-4F97-9DA9-9E015ACE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A7C295-EAAA-41B7-986C-D8AFF63FD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778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0F4CDC-4DFE-4DB1-972E-CE28FCB9A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09ECFB-135A-4BF2-82FE-C09909424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914377-BA6A-4199-BDEB-7EFD3B82F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CA16539-559F-474B-992A-1331A0355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C14912-C4A7-47EF-A8EC-B0F50FA65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71CC34F-E9B9-4EFD-A3C4-0BA19D4EA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2023/2/27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0306A62-EAF9-495D-B60F-8B898B61F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51980E-AD6D-4890-B2E1-61420E5AA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407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366452-93AB-427B-9625-F906CB897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FD17F3-7053-4148-800C-FB4B3C05E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2023/2/27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6709179-9F05-4ED9-898C-DD1E14C4E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DE3C05-79FC-42A5-B9A2-AC8CCD3D2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590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3BF4A8C-F0F4-41A6-BF41-876FEF21A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2023/2/27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4BE2DC-A408-49B2-A4F8-EE9769AFF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A16DA8-302B-4AE1-AF88-B9CFFEEEB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900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940FE9-4853-4B02-9ACB-5CAF18847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8361D0-290C-442A-8B44-B0642C42D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EF0013-B4AF-4C3C-AB98-C192E7C39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A2650F-35B1-4222-8E3D-55C4DBD2B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2023/2/27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E7498D-7297-4B92-A228-86A6C9060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A8D0AA-D078-408B-B714-3CE8EF0C9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467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FEBB0-8B3B-410D-A075-42A14BE62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B37B9B3-435A-479F-8455-3BFE235CA0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B4E751-9289-4C4E-9418-EE2ED45DD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7B3CBA-A6F8-46D2-B8FE-0FCC383C9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2023/2/27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64EF54-A7CA-4392-9234-4DDE22D71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F75E53-F65D-44C7-939C-A76A1D47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119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816F80-4702-44BD-867F-324A473EA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F0CDC5-CE5D-4691-97FD-895FAEEA2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CE9BBA-8B26-464A-893C-B296D43FA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601B33-B587-4FB0-85AB-DDC1F4A34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10712C-C969-4C2A-8ABC-CCD2466F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334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5EEDC4F-CF6F-4F5A-B7D5-5DDA55C295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88988E-73BA-47A0-9593-2824B50A4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CE60E4-1A17-46B8-BD11-6895D1EA9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9CB261-00A7-4DFD-8566-0F34AD0B2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1146E0-61EB-40A0-AEB0-9AAA4858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403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screen">
            <a:alphaModFix amt="6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F24FEF5-80E6-49C9-85D6-2BC478298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AF9174-E843-4ABD-B37E-7C4FA3D21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DB30D1-E683-4A0D-B10E-812E5E4C65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FDAE1-EB67-42CF-B593-56AA292DA8C8}" type="datetimeFigureOut">
              <a:rPr lang="zh-CN" altLang="en-US" smtClean="0"/>
              <a:t>2023/2/27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056DC2-E1F5-4995-85FF-140FC7BF9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D04F22-1EEB-4F3C-8EF1-26E3E5B27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243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lnt.xmu.edu.cn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A00EFA96-0182-425D-BCA4-E63B2E97FADD}"/>
              </a:ext>
            </a:extLst>
          </p:cNvPr>
          <p:cNvSpPr/>
          <p:nvPr/>
        </p:nvSpPr>
        <p:spPr>
          <a:xfrm flipH="1">
            <a:off x="11469292" y="6256421"/>
            <a:ext cx="97066" cy="6015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1B4E00B-A59F-40B7-AE12-5CA474CE7727}"/>
              </a:ext>
            </a:extLst>
          </p:cNvPr>
          <p:cNvSpPr/>
          <p:nvPr/>
        </p:nvSpPr>
        <p:spPr>
          <a:xfrm>
            <a:off x="3006189" y="2318083"/>
            <a:ext cx="2221834" cy="222183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6422D18-37EE-4390-A0D0-947CB31C5CD6}"/>
              </a:ext>
            </a:extLst>
          </p:cNvPr>
          <p:cNvSpPr/>
          <p:nvPr/>
        </p:nvSpPr>
        <p:spPr>
          <a:xfrm>
            <a:off x="9228795" y="3200400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95759E0-70EB-4F31-9979-C48DF9140050}"/>
              </a:ext>
            </a:extLst>
          </p:cNvPr>
          <p:cNvSpPr/>
          <p:nvPr/>
        </p:nvSpPr>
        <p:spPr>
          <a:xfrm>
            <a:off x="2744906" y="1382479"/>
            <a:ext cx="4093043" cy="409304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E665AE-D1F7-4530-A01D-8118F2016433}"/>
              </a:ext>
            </a:extLst>
          </p:cNvPr>
          <p:cNvSpPr/>
          <p:nvPr/>
        </p:nvSpPr>
        <p:spPr>
          <a:xfrm>
            <a:off x="3269655" y="2823063"/>
            <a:ext cx="6166377" cy="130035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8000" dirty="0" smtClean="0"/>
              <a:t>实验一</a:t>
            </a:r>
            <a:endParaRPr sz="7500" spc="300" dirty="0">
              <a:solidFill>
                <a:srgbClr val="292929"/>
              </a:solidFill>
              <a:latin typeface="方正粗谭黑简体" panose="02000000000000000000" pitchFamily="2" charset="-122"/>
              <a:ea typeface="方正粗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28238AC-3B1F-4281-98A3-D0FE900CC5AA}"/>
              </a:ext>
            </a:extLst>
          </p:cNvPr>
          <p:cNvSpPr/>
          <p:nvPr/>
        </p:nvSpPr>
        <p:spPr>
          <a:xfrm>
            <a:off x="5999198" y="4101335"/>
            <a:ext cx="4721354" cy="1546577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>
              <a:defRPr/>
            </a:pPr>
            <a:r>
              <a:rPr lang="zh-CN" altLang="en-US" sz="2400" dirty="0"/>
              <a:t>汇编语言</a:t>
            </a:r>
            <a:r>
              <a:rPr lang="zh-CN" altLang="zh-CN" sz="2400" dirty="0"/>
              <a:t>环境搭建与</a:t>
            </a:r>
            <a:r>
              <a:rPr lang="en-US" altLang="zh-CN" sz="2400" dirty="0"/>
              <a:t>Debug</a:t>
            </a:r>
            <a:r>
              <a:rPr lang="zh-CN" altLang="zh-CN" sz="2400" dirty="0"/>
              <a:t>使用</a:t>
            </a:r>
            <a:endParaRPr lang="en-US" altLang="zh-CN" sz="2400" dirty="0"/>
          </a:p>
          <a:p>
            <a:pPr algn="dist">
              <a:defRPr/>
            </a:pPr>
            <a:endParaRPr lang="en-US" altLang="zh-CN" sz="2400" dirty="0"/>
          </a:p>
          <a:p>
            <a:pPr algn="ctr">
              <a:defRPr/>
            </a:pPr>
            <a:r>
              <a:rPr lang="zh-CN" altLang="en-US" sz="2400" spc="225" dirty="0">
                <a:solidFill>
                  <a:srgbClr val="292929"/>
                </a:solidFill>
                <a:cs typeface="+mn-ea"/>
                <a:sym typeface="+mn-lt"/>
              </a:rPr>
              <a:t>林颖</a:t>
            </a:r>
            <a:endParaRPr lang="en-US" altLang="zh-CN" sz="2400" spc="225" dirty="0">
              <a:solidFill>
                <a:srgbClr val="292929"/>
              </a:solidFill>
              <a:cs typeface="+mn-ea"/>
              <a:sym typeface="+mn-lt"/>
            </a:endParaRPr>
          </a:p>
          <a:p>
            <a:pPr algn="ctr">
              <a:defRPr/>
            </a:pPr>
            <a:r>
              <a:rPr lang="en-US" altLang="zh-CN" sz="2400" spc="225" dirty="0">
                <a:solidFill>
                  <a:srgbClr val="292929"/>
                </a:solidFill>
                <a:cs typeface="+mn-ea"/>
                <a:sym typeface="+mn-lt"/>
              </a:rPr>
              <a:t>linying@xmu.edu.cn</a:t>
            </a:r>
            <a:endParaRPr sz="2400" spc="225" dirty="0">
              <a:solidFill>
                <a:srgbClr val="292929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24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6" grpId="0" animBg="1"/>
      <p:bldP spid="7" grpId="0" animBg="1"/>
      <p:bldP spid="8" grpId="0" animBg="1"/>
      <p:bldP spid="11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汇编实验课程要求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54162"/>
            <a:ext cx="10515600" cy="5303837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 smtClean="0"/>
              <a:t>一</a:t>
            </a:r>
            <a:r>
              <a:rPr lang="en-US" altLang="zh-CN" dirty="0" smtClean="0"/>
              <a:t>.</a:t>
            </a:r>
            <a:r>
              <a:rPr lang="zh-CN" altLang="en-US" dirty="0" smtClean="0"/>
              <a:t>成绩构成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占课程总成绩的</a:t>
            </a:r>
            <a:r>
              <a:rPr lang="en-US" altLang="zh-CN" dirty="0" smtClean="0"/>
              <a:t>40%</a:t>
            </a:r>
            <a:r>
              <a:rPr lang="zh-CN" altLang="en-US" dirty="0" smtClean="0"/>
              <a:t>（</a:t>
            </a:r>
            <a:r>
              <a:rPr lang="en-US" altLang="zh-CN" dirty="0" smtClean="0"/>
              <a:t>40</a:t>
            </a:r>
            <a:r>
              <a:rPr lang="zh-CN" altLang="en-US" dirty="0" smtClean="0"/>
              <a:t>分）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平时表现、实验报告、期末实验考试（或分组综合设计</a:t>
            </a:r>
            <a:r>
              <a:rPr lang="en-US" altLang="zh-CN" dirty="0" smtClean="0"/>
              <a:t>)</a:t>
            </a:r>
          </a:p>
          <a:p>
            <a:r>
              <a:rPr lang="zh-CN" altLang="en-US" dirty="0" smtClean="0"/>
              <a:t>二</a:t>
            </a:r>
            <a:r>
              <a:rPr lang="en-US" altLang="zh-CN" dirty="0" smtClean="0"/>
              <a:t>.</a:t>
            </a:r>
            <a:r>
              <a:rPr lang="zh-CN" altLang="en-US" dirty="0" smtClean="0"/>
              <a:t>实验课程要求</a:t>
            </a:r>
            <a:endParaRPr lang="en-US" altLang="zh-CN" dirty="0" smtClean="0"/>
          </a:p>
          <a:p>
            <a:pPr lvl="1">
              <a:spcBef>
                <a:spcPts val="1200"/>
              </a:spcBef>
            </a:pP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多读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程序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多写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程序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多上机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调试程序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按时完成每次实验课程的内容，并认真撰写实验报告</a:t>
            </a:r>
            <a:endParaRPr lang="en-US" altLang="zh-CN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三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实验报告提交地址</a:t>
            </a:r>
            <a:endParaRPr lang="en-US" altLang="zh-CN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  <a:hlinkClick r:id="rId2"/>
              </a:rPr>
              <a:t>https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hlinkClick r:id="rId2"/>
              </a:rPr>
              <a:t>://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  <a:hlinkClick r:id="rId2"/>
              </a:rPr>
              <a:t>lnt.xmu.edu.cn</a:t>
            </a:r>
            <a:endParaRPr lang="en-US" altLang="zh-CN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通过厦大账号登陆后，在我的课程中找到</a:t>
            </a:r>
            <a:r>
              <a:rPr lang="zh-CN" altLang="en-US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加入课程，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输入课程邀请码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1DJFJQJI1TK</a:t>
            </a:r>
          </a:p>
          <a:p>
            <a:pPr lvl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使用课程访问链接邀请</a:t>
            </a:r>
          </a:p>
          <a:p>
            <a:pPr marL="457200" lvl="1" indent="0">
              <a:buNone/>
            </a:pPr>
            <a:r>
              <a:rPr lang="en-US" altLang="zh-CN" dirty="0" smtClean="0"/>
              <a:t>  </a:t>
            </a:r>
            <a:r>
              <a:rPr lang="en-US" altLang="zh-CN" dirty="0"/>
              <a:t> https://</a:t>
            </a:r>
            <a:r>
              <a:rPr lang="en-US" altLang="zh-CN" dirty="0" smtClean="0"/>
              <a:t>lnt.xmu.edu.cn/course/join/1DJFJQJI1TK</a:t>
            </a:r>
          </a:p>
          <a:p>
            <a:r>
              <a:rPr lang="zh-CN" altLang="en-US" dirty="0" smtClean="0"/>
              <a:t>四</a:t>
            </a:r>
            <a:r>
              <a:rPr lang="en-US" altLang="zh-CN" dirty="0" smtClean="0"/>
              <a:t>.</a:t>
            </a:r>
            <a:r>
              <a:rPr lang="zh-CN" altLang="en-US" dirty="0" smtClean="0"/>
              <a:t>参考资料</a:t>
            </a:r>
            <a:endParaRPr lang="en-US" altLang="zh-CN" dirty="0" smtClean="0"/>
          </a:p>
          <a:p>
            <a:pPr lvl="1"/>
            <a:r>
              <a:rPr lang="zh-CN" altLang="en-US" dirty="0"/>
              <a:t>汇编网： </a:t>
            </a:r>
            <a:r>
              <a:rPr lang="en-US" altLang="zh-CN" dirty="0"/>
              <a:t>http://www.asmedu.net/index.jsp</a:t>
            </a:r>
            <a:r>
              <a:rPr lang="en-US" altLang="zh-CN" dirty="0"/>
              <a:t> </a:t>
            </a:r>
            <a:endParaRPr lang="en-US" altLang="zh-CN" dirty="0" smtClean="0"/>
          </a:p>
          <a:p>
            <a:endParaRPr lang="en-US" altLang="zh-CN" dirty="0"/>
          </a:p>
          <a:p>
            <a:pPr lvl="1"/>
            <a:endParaRPr lang="en-US" altLang="zh-CN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511017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22421" y="317764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latin typeface="+mj-lt"/>
                <a:ea typeface="+mj-ea"/>
                <a:cs typeface="+mj-cs"/>
                <a:sym typeface="+mn-lt"/>
              </a:rPr>
              <a:t>实验目的</a:t>
            </a:r>
            <a:endParaRPr lang="zh-CN" altLang="en-US" sz="4400" dirty="0">
              <a:latin typeface="+mj-lt"/>
              <a:ea typeface="+mj-ea"/>
              <a:cs typeface="+mj-cs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1374187" y="1443915"/>
            <a:ext cx="9031054" cy="3046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学会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搭建汇编语言程序设计的软件平台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lvl="0" indent="-457200">
              <a:lnSpc>
                <a:spcPct val="200000"/>
              </a:lnSpc>
              <a:buFontTx/>
              <a:buAutoNum type="arabicPeriod"/>
            </a:pPr>
            <a:r>
              <a:rPr lang="zh-CN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熟悉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debug</a:t>
            </a:r>
            <a:r>
              <a:rPr lang="zh-CN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命令的使用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学会如何使用 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debug 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来进行寄存器、内存中内容的查看和修改，如何使用 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debug 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来进行程序的调试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52103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latin typeface="+mj-lt"/>
                <a:ea typeface="+mj-ea"/>
                <a:cs typeface="+mj-cs"/>
                <a:sym typeface="+mn-lt"/>
              </a:rPr>
              <a:t>实验内容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679887" y="1501065"/>
            <a:ext cx="10141633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 smtClean="0"/>
              <a:t>搭建</a:t>
            </a:r>
            <a:r>
              <a:rPr lang="en-US" altLang="zh-CN" sz="2400" dirty="0" smtClean="0"/>
              <a:t>X86</a:t>
            </a:r>
            <a:r>
              <a:rPr lang="zh-CN" altLang="en-US" sz="2400" dirty="0" smtClean="0"/>
              <a:t>汇编语言实验环境</a:t>
            </a:r>
            <a:endParaRPr lang="en-US" altLang="zh-CN" sz="2400" dirty="0" smtClean="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 smtClean="0"/>
              <a:t>学习</a:t>
            </a:r>
            <a:r>
              <a:rPr lang="en-US" altLang="zh-CN" sz="2400" dirty="0" smtClean="0"/>
              <a:t>debug</a:t>
            </a:r>
            <a:r>
              <a:rPr lang="zh-CN" altLang="en-US" sz="2400" dirty="0"/>
              <a:t>程序</a:t>
            </a:r>
            <a:r>
              <a:rPr lang="zh-CN" altLang="en-US" sz="2400" dirty="0" smtClean="0"/>
              <a:t>的使用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995682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实验方法及原理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1" y="1825625"/>
            <a:ext cx="4819650" cy="4351338"/>
          </a:xfrm>
        </p:spPr>
        <p:txBody>
          <a:bodyPr/>
          <a:lstStyle/>
          <a:p>
            <a:r>
              <a:rPr lang="zh-CN" altLang="en-US" dirty="0" smtClean="0"/>
              <a:t>一</a:t>
            </a:r>
            <a:r>
              <a:rPr lang="en-US" altLang="zh-CN" dirty="0" smtClean="0"/>
              <a:t>.</a:t>
            </a:r>
            <a:r>
              <a:rPr lang="zh-CN" altLang="en-US" dirty="0" smtClean="0"/>
              <a:t>什么是机器语言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zh-CN" altLang="en-US" dirty="0"/>
              <a:t>机器语言是机器指令的集合</a:t>
            </a:r>
            <a:r>
              <a:rPr lang="zh-CN" altLang="en-US" dirty="0" smtClean="0"/>
              <a:t>，一</a:t>
            </a:r>
            <a:r>
              <a:rPr lang="zh-CN" altLang="en-US" dirty="0"/>
              <a:t>台机器可以正确执行的命令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t="6810"/>
          <a:stretch/>
        </p:blipFill>
        <p:spPr>
          <a:xfrm>
            <a:off x="6192330" y="900112"/>
            <a:ext cx="3984869" cy="5815013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192330" y="365125"/>
            <a:ext cx="4477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在屏幕上输出  </a:t>
            </a:r>
            <a:r>
              <a:rPr lang="en-US" altLang="zh-CN" dirty="0" smtClean="0"/>
              <a:t>welcome to </a:t>
            </a:r>
            <a:r>
              <a:rPr lang="en-US" altLang="zh-CN" dirty="0" err="1" smtClean="0"/>
              <a:t>masm</a:t>
            </a:r>
            <a:r>
              <a:rPr lang="zh-CN" altLang="en-US" dirty="0" smtClean="0"/>
              <a:t>的机器码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2892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实验方法及原理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1" y="1825625"/>
            <a:ext cx="10334624" cy="4351338"/>
          </a:xfrm>
        </p:spPr>
        <p:txBody>
          <a:bodyPr/>
          <a:lstStyle/>
          <a:p>
            <a:r>
              <a:rPr lang="zh-CN" altLang="en-US" dirty="0" smtClean="0"/>
              <a:t>一</a:t>
            </a:r>
            <a:r>
              <a:rPr lang="en-US" altLang="zh-CN" dirty="0" smtClean="0"/>
              <a:t>. </a:t>
            </a:r>
            <a:r>
              <a:rPr lang="zh-CN" altLang="en-US" dirty="0" smtClean="0"/>
              <a:t>什么是</a:t>
            </a:r>
            <a:r>
              <a:rPr lang="zh-CN" altLang="en-US" dirty="0"/>
              <a:t>汇编</a:t>
            </a:r>
            <a:r>
              <a:rPr lang="zh-CN" altLang="en-US" dirty="0" smtClean="0"/>
              <a:t>语言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zh-CN" altLang="en-US" dirty="0"/>
              <a:t>汇编语言</a:t>
            </a:r>
            <a:r>
              <a:rPr lang="en-US" altLang="zh-CN" dirty="0"/>
              <a:t>(</a:t>
            </a:r>
            <a:r>
              <a:rPr lang="en-US" altLang="zh-CN" dirty="0" smtClean="0"/>
              <a:t>Assembly Language</a:t>
            </a:r>
            <a:r>
              <a:rPr lang="en-US" altLang="zh-CN" dirty="0"/>
              <a:t>)</a:t>
            </a:r>
            <a:r>
              <a:rPr lang="zh-CN" altLang="en-US" dirty="0"/>
              <a:t>是面向机器的</a:t>
            </a:r>
            <a:r>
              <a:rPr lang="zh-CN" altLang="en-US" dirty="0" smtClean="0"/>
              <a:t>程序设计语言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zh-CN" altLang="en-US" dirty="0" smtClean="0"/>
              <a:t>计算机</a:t>
            </a:r>
            <a:r>
              <a:rPr lang="zh-CN" altLang="en-US" dirty="0"/>
              <a:t>中真正可以处理的只是由“</a:t>
            </a:r>
            <a:r>
              <a:rPr lang="en-US" altLang="zh-CN" dirty="0"/>
              <a:t>0”</a:t>
            </a:r>
            <a:r>
              <a:rPr lang="zh-CN" altLang="en-US" dirty="0"/>
              <a:t>、“</a:t>
            </a:r>
            <a:r>
              <a:rPr lang="en-US" altLang="zh-CN" dirty="0"/>
              <a:t>1”</a:t>
            </a:r>
            <a:r>
              <a:rPr lang="zh-CN" altLang="en-US" dirty="0"/>
              <a:t>组成的二进制代码，这种指令代码易出错且不易修改，由于依赖于机器，使用极不方便，于是人们发明“指令的助记符”，用几个</a:t>
            </a:r>
            <a:r>
              <a:rPr lang="zh-CN" altLang="en-US" dirty="0" smtClean="0"/>
              <a:t>字母代替</a:t>
            </a:r>
            <a:r>
              <a:rPr lang="zh-CN" altLang="en-US" dirty="0"/>
              <a:t>某条指令，如加法用</a:t>
            </a:r>
            <a:r>
              <a:rPr lang="en-US" altLang="zh-CN" dirty="0"/>
              <a:t>ADD</a:t>
            </a:r>
            <a:r>
              <a:rPr lang="zh-CN" altLang="en-US" dirty="0"/>
              <a:t>表示，这种符号系统的扩大就是汇编语言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zh-CN" altLang="en-US" dirty="0" smtClean="0"/>
              <a:t>汇编语言</a:t>
            </a:r>
            <a:r>
              <a:rPr lang="zh-CN" altLang="en-US" dirty="0"/>
              <a:t>编程，</a:t>
            </a:r>
            <a:r>
              <a:rPr lang="zh-CN" altLang="en-US" dirty="0" smtClean="0">
                <a:solidFill>
                  <a:srgbClr val="FF0000"/>
                </a:solidFill>
              </a:rPr>
              <a:t>优点：</a:t>
            </a:r>
            <a:r>
              <a:rPr lang="zh-CN" altLang="en-US" dirty="0" smtClean="0"/>
              <a:t>运行</a:t>
            </a:r>
            <a:r>
              <a:rPr lang="zh-CN" altLang="en-US" dirty="0"/>
              <a:t>效率高，可直接对硬件内部进行</a:t>
            </a:r>
            <a:r>
              <a:rPr lang="zh-CN" altLang="en-US" dirty="0" smtClean="0"/>
              <a:t>控制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zh-CN" altLang="en-US" dirty="0" smtClean="0">
                <a:solidFill>
                  <a:srgbClr val="FF0000"/>
                </a:solidFill>
              </a:rPr>
              <a:t>缺点</a:t>
            </a:r>
            <a:r>
              <a:rPr lang="zh-CN" altLang="en-US" dirty="0"/>
              <a:t>：</a:t>
            </a:r>
            <a:r>
              <a:rPr lang="zh-CN" altLang="en-US" dirty="0" smtClean="0"/>
              <a:t>需</a:t>
            </a:r>
            <a:r>
              <a:rPr lang="zh-CN" altLang="en-US" dirty="0"/>
              <a:t>对硬件有更深入的了解，而且</a:t>
            </a:r>
            <a:r>
              <a:rPr lang="zh-CN" altLang="en-US" dirty="0" smtClean="0"/>
              <a:t>编程</a:t>
            </a:r>
            <a:r>
              <a:rPr lang="zh-CN" altLang="en-US" dirty="0"/>
              <a:t>效率不高，并且与机器的体系结构仍有一定的依赖关系。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672474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实验方法及原理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1" y="1825625"/>
            <a:ext cx="10334624" cy="4351338"/>
          </a:xfrm>
        </p:spPr>
        <p:txBody>
          <a:bodyPr/>
          <a:lstStyle/>
          <a:p>
            <a:r>
              <a:rPr lang="zh-CN" altLang="en-US" dirty="0"/>
              <a:t>二</a:t>
            </a:r>
            <a:r>
              <a:rPr lang="en-US" altLang="zh-CN" dirty="0" smtClean="0"/>
              <a:t>. </a:t>
            </a:r>
            <a:r>
              <a:rPr lang="zh-CN" altLang="en-US" dirty="0" smtClean="0"/>
              <a:t>汇编语言编写程序的工作过程</a:t>
            </a:r>
            <a:endParaRPr lang="en-US" altLang="zh-CN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b="18363"/>
          <a:stretch/>
        </p:blipFill>
        <p:spPr>
          <a:xfrm>
            <a:off x="838199" y="2397416"/>
            <a:ext cx="10506903" cy="3203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245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实验方法及原理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68450"/>
            <a:ext cx="103346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三</a:t>
            </a:r>
            <a:r>
              <a:rPr lang="en-US" altLang="zh-CN" dirty="0"/>
              <a:t>. </a:t>
            </a:r>
            <a:r>
              <a:rPr lang="zh-CN" altLang="en-US" dirty="0"/>
              <a:t>搭建</a:t>
            </a:r>
            <a:r>
              <a:rPr lang="en-US" altLang="zh-CN" dirty="0"/>
              <a:t>X86</a:t>
            </a:r>
            <a:r>
              <a:rPr lang="zh-CN" altLang="en-US" dirty="0"/>
              <a:t>汇编语言实验</a:t>
            </a:r>
            <a:r>
              <a:rPr lang="zh-CN" altLang="en-US" dirty="0"/>
              <a:t>环境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smtClean="0"/>
              <a:t> </a:t>
            </a:r>
            <a:r>
              <a:rPr lang="zh-CN" altLang="en-US" dirty="0"/>
              <a:t>需要工具：</a:t>
            </a:r>
            <a:r>
              <a:rPr lang="en-US" altLang="zh-CN" dirty="0"/>
              <a:t> 1) </a:t>
            </a:r>
            <a:r>
              <a:rPr lang="en-US" altLang="zh-CN" dirty="0" err="1"/>
              <a:t>dosbox</a:t>
            </a:r>
            <a:r>
              <a:rPr lang="en-US" altLang="zh-CN" dirty="0"/>
              <a:t>  2) </a:t>
            </a:r>
            <a:r>
              <a:rPr lang="en-US" altLang="zh-CN" dirty="0" err="1"/>
              <a:t>masm</a:t>
            </a:r>
            <a:r>
              <a:rPr lang="en-US" altLang="zh-CN" dirty="0"/>
              <a:t>  </a:t>
            </a:r>
          </a:p>
          <a:p>
            <a:pPr marL="0" indent="0">
              <a:buNone/>
            </a:pPr>
            <a:r>
              <a:rPr lang="en-US" altLang="zh-CN" dirty="0" smtClean="0"/>
              <a:t>1.</a:t>
            </a:r>
            <a:r>
              <a:rPr lang="zh-CN" altLang="en-US" dirty="0"/>
              <a:t>下载</a:t>
            </a:r>
            <a:r>
              <a:rPr lang="en-US" altLang="zh-CN" dirty="0"/>
              <a:t>DOSBOX</a:t>
            </a:r>
            <a:r>
              <a:rPr lang="zh-CN" altLang="en-US" dirty="0"/>
              <a:t>并安装</a:t>
            </a:r>
          </a:p>
          <a:p>
            <a:pPr lvl="1"/>
            <a:r>
              <a:rPr lang="en-US" altLang="zh-CN" dirty="0" err="1" smtClean="0"/>
              <a:t>DOSBox</a:t>
            </a:r>
            <a:r>
              <a:rPr lang="en-US" altLang="zh-CN" dirty="0" smtClean="0"/>
              <a:t> </a:t>
            </a:r>
            <a:r>
              <a:rPr lang="zh-CN" altLang="en-US" dirty="0"/>
              <a:t>是一个 </a:t>
            </a:r>
            <a:r>
              <a:rPr lang="en-US" altLang="zh-CN" dirty="0"/>
              <a:t>DOS </a:t>
            </a:r>
            <a:r>
              <a:rPr lang="zh-CN" altLang="en-US" dirty="0" smtClean="0"/>
              <a:t>模拟程序</a:t>
            </a:r>
            <a:r>
              <a:rPr lang="en-US" altLang="zh-CN" dirty="0" smtClean="0"/>
              <a:t>,</a:t>
            </a:r>
            <a:r>
              <a:rPr lang="zh-CN" altLang="en-US" dirty="0" smtClean="0"/>
              <a:t>用以运行汇编程序</a:t>
            </a:r>
            <a:endParaRPr lang="zh-CN" altLang="en-US" dirty="0"/>
          </a:p>
          <a:p>
            <a:pPr lvl="1"/>
            <a:r>
              <a:rPr lang="zh-CN" altLang="en-US" dirty="0" smtClean="0"/>
              <a:t>下载</a:t>
            </a:r>
            <a:r>
              <a:rPr lang="zh-CN" altLang="en-US" dirty="0"/>
              <a:t>链接： </a:t>
            </a:r>
            <a:r>
              <a:rPr lang="en-US" altLang="zh-CN" dirty="0"/>
              <a:t>https://dosbox.en.softonic.com/ </a:t>
            </a:r>
            <a:r>
              <a:rPr lang="zh-CN" altLang="en-US" dirty="0"/>
              <a:t>找到相应版本下载；</a:t>
            </a:r>
            <a:r>
              <a:rPr lang="en-US" altLang="zh-CN" dirty="0"/>
              <a:t>windows</a:t>
            </a:r>
            <a:r>
              <a:rPr lang="zh-CN" altLang="en-US" dirty="0"/>
              <a:t>版本亦可在课程</a:t>
            </a:r>
            <a:r>
              <a:rPr lang="en-US" altLang="zh-CN" dirty="0"/>
              <a:t>Q</a:t>
            </a:r>
            <a:r>
              <a:rPr lang="zh-CN" altLang="en-US" dirty="0"/>
              <a:t>群空间下载 </a:t>
            </a:r>
          </a:p>
          <a:p>
            <a:pPr lvl="1"/>
            <a:r>
              <a:rPr lang="zh-CN" altLang="en-US" dirty="0"/>
              <a:t>双击</a:t>
            </a:r>
            <a:r>
              <a:rPr lang="en-US" altLang="zh-CN" dirty="0"/>
              <a:t>DOSBox0.74-win32-installer.exe</a:t>
            </a:r>
            <a:r>
              <a:rPr lang="zh-CN" altLang="en-US" dirty="0"/>
              <a:t>，照提示</a:t>
            </a:r>
            <a:r>
              <a:rPr lang="zh-CN" altLang="en-US" dirty="0" smtClean="0"/>
              <a:t>安装</a:t>
            </a:r>
            <a:r>
              <a:rPr lang="zh-CN" altLang="en-US" dirty="0"/>
              <a:t>　　 　</a:t>
            </a:r>
          </a:p>
        </p:txBody>
      </p:sp>
    </p:spTree>
    <p:extLst>
      <p:ext uri="{BB962C8B-B14F-4D97-AF65-F5344CB8AC3E}">
        <p14:creationId xmlns:p14="http://schemas.microsoft.com/office/powerpoint/2010/main" val="4164421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实验方法及原理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68450"/>
            <a:ext cx="103346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三</a:t>
            </a:r>
            <a:r>
              <a:rPr lang="en-US" altLang="zh-CN" dirty="0"/>
              <a:t>. </a:t>
            </a:r>
            <a:r>
              <a:rPr lang="zh-CN" altLang="en-US" dirty="0"/>
              <a:t>搭建</a:t>
            </a:r>
            <a:r>
              <a:rPr lang="en-US" altLang="zh-CN" dirty="0"/>
              <a:t>X86</a:t>
            </a:r>
            <a:r>
              <a:rPr lang="zh-CN" altLang="en-US" dirty="0"/>
              <a:t>汇编语言实验</a:t>
            </a:r>
            <a:r>
              <a:rPr lang="zh-CN" altLang="en-US" dirty="0"/>
              <a:t>环境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smtClean="0"/>
              <a:t> </a:t>
            </a:r>
            <a:r>
              <a:rPr lang="zh-CN" altLang="en-US" dirty="0"/>
              <a:t>需要工具：</a:t>
            </a:r>
            <a:r>
              <a:rPr lang="en-US" altLang="zh-CN" dirty="0"/>
              <a:t> 1) </a:t>
            </a:r>
            <a:r>
              <a:rPr lang="en-US" altLang="zh-CN" dirty="0" err="1"/>
              <a:t>dosbox</a:t>
            </a:r>
            <a:r>
              <a:rPr lang="en-US" altLang="zh-CN" dirty="0"/>
              <a:t>  2) </a:t>
            </a:r>
            <a:r>
              <a:rPr lang="en-US" altLang="zh-CN" dirty="0" err="1"/>
              <a:t>masm</a:t>
            </a:r>
            <a:r>
              <a:rPr lang="en-US" altLang="zh-CN" dirty="0"/>
              <a:t>  </a:t>
            </a:r>
          </a:p>
          <a:p>
            <a:pPr marL="0" indent="0">
              <a:buNone/>
            </a:pPr>
            <a:r>
              <a:rPr lang="en-US" altLang="zh-CN" dirty="0" smtClean="0"/>
              <a:t>1.</a:t>
            </a:r>
            <a:r>
              <a:rPr lang="zh-CN" altLang="en-US" dirty="0"/>
              <a:t>下载</a:t>
            </a:r>
            <a:r>
              <a:rPr lang="en-US" altLang="zh-CN" dirty="0"/>
              <a:t>DOSBOX</a:t>
            </a:r>
            <a:r>
              <a:rPr lang="zh-CN" altLang="en-US" dirty="0"/>
              <a:t>并</a:t>
            </a:r>
            <a:r>
              <a:rPr lang="zh-CN" altLang="en-US" dirty="0" smtClean="0"/>
              <a:t>安装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2</a:t>
            </a:r>
            <a:r>
              <a:rPr lang="en-US" altLang="zh-CN" dirty="0" smtClean="0"/>
              <a:t>.</a:t>
            </a:r>
            <a:r>
              <a:rPr lang="zh-CN" altLang="en-US" dirty="0" smtClean="0"/>
              <a:t>下载</a:t>
            </a:r>
            <a:r>
              <a:rPr lang="en-US" altLang="zh-CN" dirty="0" err="1" smtClean="0"/>
              <a:t>masm</a:t>
            </a:r>
            <a:endParaRPr lang="zh-CN" altLang="en-US" dirty="0"/>
          </a:p>
          <a:p>
            <a:pPr lvl="1"/>
            <a:r>
              <a:rPr lang="zh-CN" altLang="zh-CN" dirty="0"/>
              <a:t>下载</a:t>
            </a:r>
            <a:r>
              <a:rPr lang="en-US" altLang="zh-CN" dirty="0"/>
              <a:t>masm.zip</a:t>
            </a:r>
            <a:r>
              <a:rPr lang="zh-CN" altLang="zh-CN" dirty="0"/>
              <a:t>并解压，并将这个文件夹拷贝到你的工作盘，如</a:t>
            </a:r>
            <a:r>
              <a:rPr lang="en-US" altLang="zh-CN" dirty="0"/>
              <a:t>d:\masm</a:t>
            </a:r>
            <a:endParaRPr lang="zh-CN" altLang="zh-CN" dirty="0"/>
          </a:p>
          <a:p>
            <a:pPr lvl="1"/>
            <a:r>
              <a:rPr lang="en-US" altLang="zh-CN" dirty="0"/>
              <a:t>MASM</a:t>
            </a:r>
            <a:r>
              <a:rPr lang="zh-CN" altLang="zh-CN" dirty="0"/>
              <a:t>中包含了</a:t>
            </a:r>
            <a:r>
              <a:rPr lang="en-US" altLang="zh-CN" dirty="0"/>
              <a:t>8086</a:t>
            </a:r>
            <a:r>
              <a:rPr lang="zh-CN" altLang="zh-CN" dirty="0"/>
              <a:t>汇编程序设计中要用到的几个必需的工具（</a:t>
            </a:r>
            <a:r>
              <a:rPr lang="en-US" altLang="zh-CN" dirty="0"/>
              <a:t>masm.exe</a:t>
            </a:r>
            <a:r>
              <a:rPr lang="zh-CN" altLang="zh-CN" dirty="0"/>
              <a:t>汇编、</a:t>
            </a:r>
            <a:r>
              <a:rPr lang="en-US" altLang="zh-CN" dirty="0"/>
              <a:t>link.exe</a:t>
            </a:r>
            <a:r>
              <a:rPr lang="zh-CN" altLang="zh-CN" dirty="0"/>
              <a:t>连接、</a:t>
            </a:r>
            <a:r>
              <a:rPr lang="en-US" altLang="zh-CN" dirty="0"/>
              <a:t>Debug.exe</a:t>
            </a:r>
            <a:r>
              <a:rPr lang="zh-CN" altLang="zh-CN" dirty="0"/>
              <a:t>调试，</a:t>
            </a:r>
            <a:r>
              <a:rPr lang="en-US" altLang="zh-CN" dirty="0"/>
              <a:t>edit.com</a:t>
            </a:r>
            <a:r>
              <a:rPr lang="zh-CN" altLang="zh-CN" dirty="0"/>
              <a:t>和</a:t>
            </a:r>
            <a:r>
              <a:rPr lang="en-US" altLang="zh-CN" dirty="0"/>
              <a:t>edlin.com</a:t>
            </a:r>
            <a:r>
              <a:rPr lang="zh-CN" altLang="zh-CN" dirty="0"/>
              <a:t>是两个</a:t>
            </a:r>
            <a:r>
              <a:rPr lang="zh-CN" altLang="zh-CN" dirty="0" smtClean="0"/>
              <a:t>编辑程序</a:t>
            </a:r>
            <a:r>
              <a:rPr lang="en-US" altLang="zh-CN" dirty="0"/>
              <a:t>)</a:t>
            </a:r>
            <a:r>
              <a:rPr lang="zh-CN" altLang="en-US" dirty="0"/>
              <a:t>　 　</a:t>
            </a:r>
          </a:p>
        </p:txBody>
      </p:sp>
      <p:pic>
        <p:nvPicPr>
          <p:cNvPr id="4" name="图片 3" descr="这里写图片描述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380" y="5378133"/>
            <a:ext cx="4701540" cy="1083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17666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实验方法及原理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68450"/>
            <a:ext cx="103346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三</a:t>
            </a:r>
            <a:r>
              <a:rPr lang="en-US" altLang="zh-CN" dirty="0"/>
              <a:t>. </a:t>
            </a:r>
            <a:r>
              <a:rPr lang="zh-CN" altLang="en-US" dirty="0"/>
              <a:t>搭建</a:t>
            </a:r>
            <a:r>
              <a:rPr lang="en-US" altLang="zh-CN" dirty="0"/>
              <a:t>X86</a:t>
            </a:r>
            <a:r>
              <a:rPr lang="zh-CN" altLang="en-US" dirty="0"/>
              <a:t>汇编语言实验</a:t>
            </a:r>
            <a:r>
              <a:rPr lang="zh-CN" altLang="en-US" dirty="0"/>
              <a:t>环境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3</a:t>
            </a:r>
            <a:r>
              <a:rPr lang="en-US" altLang="zh-CN" dirty="0" smtClean="0"/>
              <a:t>.</a:t>
            </a:r>
            <a:r>
              <a:rPr lang="zh-CN" altLang="zh-CN" dirty="0"/>
              <a:t>配置</a:t>
            </a:r>
            <a:r>
              <a:rPr lang="en-US" altLang="zh-CN" dirty="0" smtClean="0"/>
              <a:t>DOSBOX</a:t>
            </a:r>
          </a:p>
          <a:p>
            <a:pPr marL="0" indent="0">
              <a:buNone/>
            </a:pPr>
            <a:r>
              <a:rPr lang="en-US" altLang="zh-CN" dirty="0" smtClean="0"/>
              <a:t>1</a:t>
            </a:r>
            <a:r>
              <a:rPr lang="zh-CN" altLang="en-US" dirty="0" smtClean="0"/>
              <a:t>）启动</a:t>
            </a:r>
            <a:r>
              <a:rPr lang="en-US" altLang="zh-CN" dirty="0" err="1" smtClean="0"/>
              <a:t>dosbox</a:t>
            </a:r>
            <a:r>
              <a:rPr lang="zh-CN" altLang="en-US" dirty="0" smtClean="0"/>
              <a:t>：</a:t>
            </a:r>
            <a:endParaRPr lang="zh-CN" altLang="en-US" dirty="0"/>
          </a:p>
        </p:txBody>
      </p:sp>
      <p:pic>
        <p:nvPicPr>
          <p:cNvPr id="5" name="图片 4"/>
          <p:cNvPicPr/>
          <p:nvPr/>
        </p:nvPicPr>
        <p:blipFill>
          <a:blip r:embed="rId2"/>
          <a:stretch>
            <a:fillRect/>
          </a:stretch>
        </p:blipFill>
        <p:spPr>
          <a:xfrm>
            <a:off x="1171576" y="3114676"/>
            <a:ext cx="6486524" cy="3743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091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实验方法及原理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68450"/>
            <a:ext cx="103346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三</a:t>
            </a:r>
            <a:r>
              <a:rPr lang="en-US" altLang="zh-CN" dirty="0"/>
              <a:t>. </a:t>
            </a:r>
            <a:r>
              <a:rPr lang="zh-CN" altLang="en-US" dirty="0"/>
              <a:t>搭建</a:t>
            </a:r>
            <a:r>
              <a:rPr lang="en-US" altLang="zh-CN" dirty="0"/>
              <a:t>X86</a:t>
            </a:r>
            <a:r>
              <a:rPr lang="zh-CN" altLang="en-US" dirty="0"/>
              <a:t>汇编语言实验</a:t>
            </a:r>
            <a:r>
              <a:rPr lang="zh-CN" altLang="en-US" dirty="0"/>
              <a:t>环境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3</a:t>
            </a:r>
            <a:r>
              <a:rPr lang="en-US" altLang="zh-CN" dirty="0" smtClean="0"/>
              <a:t>.</a:t>
            </a:r>
            <a:r>
              <a:rPr lang="zh-CN" altLang="zh-CN" dirty="0"/>
              <a:t>配置</a:t>
            </a:r>
            <a:r>
              <a:rPr lang="en-US" altLang="zh-CN" dirty="0" smtClean="0"/>
              <a:t>DOSBOX</a:t>
            </a:r>
          </a:p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en-US" dirty="0" smtClean="0"/>
              <a:t>）挂接</a:t>
            </a:r>
            <a:r>
              <a:rPr lang="en-US" altLang="zh-CN" dirty="0" err="1" smtClean="0"/>
              <a:t>masm</a:t>
            </a:r>
            <a:r>
              <a:rPr lang="zh-CN" altLang="en-US" dirty="0" smtClean="0"/>
              <a:t>文件夹：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>
                <a:solidFill>
                  <a:srgbClr val="FF0000"/>
                </a:solidFill>
              </a:rPr>
              <a:t>  在</a:t>
            </a:r>
            <a:r>
              <a:rPr lang="en-US" altLang="zh-CN" dirty="0">
                <a:solidFill>
                  <a:srgbClr val="FF0000"/>
                </a:solidFill>
              </a:rPr>
              <a:t>Z:\&gt;</a:t>
            </a:r>
            <a:r>
              <a:rPr lang="zh-CN" altLang="en-US" dirty="0">
                <a:solidFill>
                  <a:srgbClr val="FF0000"/>
                </a:solidFill>
              </a:rPr>
              <a:t>提示符后输入命令</a:t>
            </a:r>
            <a:r>
              <a:rPr lang="en-US" altLang="zh-CN" dirty="0">
                <a:solidFill>
                  <a:srgbClr val="FF0000"/>
                </a:solidFill>
              </a:rPr>
              <a:t>mount c d:\</a:t>
            </a:r>
            <a:r>
              <a:rPr lang="en-US" altLang="zh-CN" dirty="0" smtClean="0">
                <a:solidFill>
                  <a:srgbClr val="FF0000"/>
                </a:solidFill>
              </a:rPr>
              <a:t>masm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</a:t>
            </a:r>
            <a:r>
              <a:rPr lang="zh-CN" altLang="en-US" dirty="0" smtClean="0"/>
              <a:t>这个</a:t>
            </a:r>
            <a:r>
              <a:rPr lang="zh-CN" altLang="en-US" dirty="0"/>
              <a:t>命令的意思是，将本机</a:t>
            </a:r>
            <a:r>
              <a:rPr lang="en-US" altLang="zh-CN" dirty="0"/>
              <a:t>d:\masm</a:t>
            </a:r>
            <a:r>
              <a:rPr lang="zh-CN" altLang="en-US" dirty="0"/>
              <a:t>文件夹作为模拟器的</a:t>
            </a:r>
            <a:r>
              <a:rPr lang="en-US" altLang="zh-CN" dirty="0"/>
              <a:t>C</a:t>
            </a:r>
            <a:r>
              <a:rPr lang="zh-CN" altLang="en-US" dirty="0"/>
              <a:t>盘。 </a:t>
            </a:r>
          </a:p>
          <a:p>
            <a:pPr marL="0" indent="0">
              <a:buNone/>
            </a:pPr>
            <a:r>
              <a:rPr lang="zh-CN" altLang="en-US" dirty="0" smtClean="0"/>
              <a:t> 运行</a:t>
            </a:r>
            <a:r>
              <a:rPr lang="zh-CN" altLang="en-US" dirty="0"/>
              <a:t>命令后的界面如下： </a:t>
            </a: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1122679" y="4612004"/>
            <a:ext cx="3663633" cy="2117409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222079" y="5024377"/>
            <a:ext cx="62352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注意：</a:t>
            </a:r>
            <a:r>
              <a:rPr lang="en-US" altLang="zh-CN" dirty="0">
                <a:solidFill>
                  <a:srgbClr val="FF0000"/>
                </a:solidFill>
              </a:rPr>
              <a:t>d:\masm</a:t>
            </a:r>
            <a:r>
              <a:rPr lang="zh-CN" altLang="zh-CN" dirty="0"/>
              <a:t>是第</a:t>
            </a:r>
            <a:r>
              <a:rPr lang="en-US" altLang="zh-CN" dirty="0"/>
              <a:t>1</a:t>
            </a:r>
            <a:r>
              <a:rPr lang="zh-CN" altLang="zh-CN" dirty="0"/>
              <a:t>步拷贝到的工作目录，若你</a:t>
            </a:r>
            <a:r>
              <a:rPr lang="en-US" altLang="zh-CN" dirty="0" err="1"/>
              <a:t>masm</a:t>
            </a:r>
            <a:r>
              <a:rPr lang="zh-CN" altLang="zh-CN" dirty="0"/>
              <a:t>文件夹设置的是其他目录，请按你的实际设置改动。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4233755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实验方法及原理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68450"/>
            <a:ext cx="103346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三</a:t>
            </a:r>
            <a:r>
              <a:rPr lang="en-US" altLang="zh-CN" dirty="0"/>
              <a:t>. </a:t>
            </a:r>
            <a:r>
              <a:rPr lang="zh-CN" altLang="en-US" dirty="0"/>
              <a:t>搭建</a:t>
            </a:r>
            <a:r>
              <a:rPr lang="en-US" altLang="zh-CN" dirty="0"/>
              <a:t>X86</a:t>
            </a:r>
            <a:r>
              <a:rPr lang="zh-CN" altLang="en-US" dirty="0"/>
              <a:t>汇编语言实验</a:t>
            </a:r>
            <a:r>
              <a:rPr lang="zh-CN" altLang="en-US" dirty="0"/>
              <a:t>环境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3</a:t>
            </a:r>
            <a:r>
              <a:rPr lang="en-US" altLang="zh-CN" dirty="0" smtClean="0"/>
              <a:t>.</a:t>
            </a:r>
            <a:r>
              <a:rPr lang="zh-CN" altLang="zh-CN" dirty="0"/>
              <a:t>配置</a:t>
            </a:r>
            <a:r>
              <a:rPr lang="en-US" altLang="zh-CN" dirty="0" smtClean="0"/>
              <a:t>DOSBOX</a:t>
            </a:r>
          </a:p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en-US" dirty="0" smtClean="0"/>
              <a:t>）挂接</a:t>
            </a:r>
            <a:r>
              <a:rPr lang="en-US" altLang="zh-CN" dirty="0" err="1" smtClean="0"/>
              <a:t>masm</a:t>
            </a:r>
            <a:r>
              <a:rPr lang="zh-CN" altLang="en-US" dirty="0" smtClean="0"/>
              <a:t>文件夹：</a:t>
            </a:r>
            <a:endParaRPr lang="en-US" altLang="zh-CN" dirty="0" smtClean="0"/>
          </a:p>
          <a:p>
            <a:r>
              <a:rPr lang="zh-CN" altLang="zh-CN" dirty="0" smtClean="0"/>
              <a:t>将</a:t>
            </a:r>
            <a:r>
              <a:rPr lang="zh-CN" altLang="zh-CN" dirty="0"/>
              <a:t>工作盘转换到</a:t>
            </a:r>
            <a:r>
              <a:rPr lang="en-US" altLang="zh-CN" dirty="0"/>
              <a:t>C</a:t>
            </a:r>
            <a:r>
              <a:rPr lang="zh-CN" altLang="zh-CN" dirty="0"/>
              <a:t>盘（输入</a:t>
            </a:r>
            <a:r>
              <a:rPr lang="en-US" altLang="zh-CN" dirty="0"/>
              <a:t>C:</a:t>
            </a:r>
            <a:r>
              <a:rPr lang="zh-CN" altLang="zh-CN" dirty="0"/>
              <a:t>并回车），再查看目录（</a:t>
            </a:r>
            <a:r>
              <a:rPr lang="en-US" altLang="zh-CN" dirty="0" err="1"/>
              <a:t>dir</a:t>
            </a:r>
            <a:r>
              <a:rPr lang="zh-CN" altLang="zh-CN" dirty="0"/>
              <a:t>再回车），可以看到类似下面的界面，标志着工作环境设置好了。 </a:t>
            </a: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1494153" y="3977004"/>
            <a:ext cx="4892359" cy="2880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004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实验方法及原理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68450"/>
            <a:ext cx="10515600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zh-CN" altLang="en-US" dirty="0" smtClean="0"/>
              <a:t>四</a:t>
            </a:r>
            <a:r>
              <a:rPr lang="en-US" altLang="zh-CN" dirty="0" smtClean="0"/>
              <a:t>. </a:t>
            </a:r>
            <a:r>
              <a:rPr lang="en-US" altLang="zh-CN" dirty="0"/>
              <a:t>debug</a:t>
            </a:r>
            <a:r>
              <a:rPr lang="zh-CN" altLang="zh-CN" dirty="0"/>
              <a:t>命令的</a:t>
            </a:r>
            <a:r>
              <a:rPr lang="zh-CN" altLang="zh-CN" dirty="0" smtClean="0"/>
              <a:t>使用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1.Debug </a:t>
            </a:r>
            <a:r>
              <a:rPr lang="zh-CN" altLang="en-US" dirty="0" smtClean="0"/>
              <a:t>简介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DEBUG.EXE</a:t>
            </a:r>
            <a:r>
              <a:rPr lang="zh-CN" altLang="zh-CN" dirty="0"/>
              <a:t>是</a:t>
            </a:r>
            <a:r>
              <a:rPr lang="en-US" altLang="zh-CN" dirty="0"/>
              <a:t>DOS</a:t>
            </a:r>
            <a:r>
              <a:rPr lang="zh-CN" altLang="zh-CN" dirty="0"/>
              <a:t>提供的用于调试可执行程序的一个工具软件。在汇编语言程序调试中很常用。</a:t>
            </a:r>
            <a:r>
              <a:rPr lang="en-US" altLang="zh-CN" dirty="0"/>
              <a:t>DEBUG</a:t>
            </a:r>
            <a:r>
              <a:rPr lang="zh-CN" altLang="zh-CN" dirty="0"/>
              <a:t>的提示符是</a:t>
            </a:r>
            <a:r>
              <a:rPr lang="en-US" altLang="zh-CN" dirty="0"/>
              <a:t>“-”</a:t>
            </a:r>
            <a:r>
              <a:rPr lang="zh-CN" altLang="zh-CN" dirty="0"/>
              <a:t>，所有</a:t>
            </a:r>
            <a:r>
              <a:rPr lang="en-US" altLang="zh-CN" dirty="0"/>
              <a:t>DEBUG</a:t>
            </a:r>
            <a:r>
              <a:rPr lang="zh-CN" altLang="zh-CN" dirty="0"/>
              <a:t>调试命令均在此提示符下输入。</a:t>
            </a:r>
            <a:r>
              <a:rPr lang="en-US" altLang="zh-CN" dirty="0"/>
              <a:t>DEBUG</a:t>
            </a:r>
            <a:r>
              <a:rPr lang="zh-CN" altLang="zh-CN" dirty="0"/>
              <a:t>命令都是一个字母，后跟一个或多个参数，也可使用默认参数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DEBUG</a:t>
            </a:r>
            <a:r>
              <a:rPr lang="zh-CN" altLang="zh-CN" dirty="0">
                <a:solidFill>
                  <a:srgbClr val="FF0000"/>
                </a:solidFill>
              </a:rPr>
              <a:t>命令的使用注意问题</a:t>
            </a:r>
            <a:r>
              <a:rPr lang="zh-CN" altLang="zh-CN" dirty="0"/>
              <a:t>：</a:t>
            </a:r>
          </a:p>
          <a:p>
            <a:pPr marL="457200" lvl="1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1</a:t>
            </a:r>
            <a:r>
              <a:rPr lang="zh-CN" altLang="zh-CN" dirty="0"/>
              <a:t>）字母</a:t>
            </a:r>
            <a:r>
              <a:rPr lang="zh-CN" altLang="zh-CN" dirty="0">
                <a:solidFill>
                  <a:srgbClr val="FF0000"/>
                </a:solidFill>
              </a:rPr>
              <a:t>不分大小写</a:t>
            </a:r>
          </a:p>
          <a:p>
            <a:pPr marL="457200" lvl="1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2</a:t>
            </a:r>
            <a:r>
              <a:rPr lang="zh-CN" altLang="zh-CN" dirty="0"/>
              <a:t>）</a:t>
            </a:r>
            <a:r>
              <a:rPr lang="zh-CN" altLang="zh-CN" dirty="0">
                <a:solidFill>
                  <a:srgbClr val="FF0000"/>
                </a:solidFill>
              </a:rPr>
              <a:t>只使用十六进制数</a:t>
            </a:r>
            <a:r>
              <a:rPr lang="zh-CN" altLang="zh-CN" dirty="0"/>
              <a:t>，但没有带后缀字母</a:t>
            </a:r>
            <a:r>
              <a:rPr lang="en-US" altLang="zh-CN" dirty="0"/>
              <a:t>“H”</a:t>
            </a:r>
            <a:endParaRPr lang="zh-CN" altLang="zh-CN" dirty="0"/>
          </a:p>
          <a:p>
            <a:pPr marL="457200" lvl="1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3</a:t>
            </a:r>
            <a:r>
              <a:rPr lang="zh-CN" altLang="zh-CN" dirty="0"/>
              <a:t>）命令如果不符合</a:t>
            </a:r>
            <a:r>
              <a:rPr lang="en-US" altLang="zh-CN" dirty="0"/>
              <a:t>DEBUG</a:t>
            </a:r>
            <a:r>
              <a:rPr lang="zh-CN" altLang="zh-CN" dirty="0"/>
              <a:t>的规则，则将以</a:t>
            </a:r>
            <a:r>
              <a:rPr lang="en-US" altLang="zh-CN" dirty="0"/>
              <a:t>“error”</a:t>
            </a:r>
            <a:r>
              <a:rPr lang="zh-CN" altLang="zh-CN" dirty="0"/>
              <a:t>提示，并以</a:t>
            </a:r>
            <a:r>
              <a:rPr lang="en-US" altLang="zh-CN" dirty="0"/>
              <a:t>“^”</a:t>
            </a:r>
            <a:r>
              <a:rPr lang="zh-CN" altLang="zh-CN" dirty="0"/>
              <a:t>指示出错位置。</a:t>
            </a:r>
          </a:p>
          <a:p>
            <a:pPr marL="457200" lvl="1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4</a:t>
            </a:r>
            <a:r>
              <a:rPr lang="zh-CN" altLang="zh-CN" dirty="0"/>
              <a:t>）每个命令只有按下回车键后才有效，可以用</a:t>
            </a:r>
            <a:r>
              <a:rPr lang="en-US" altLang="zh-CN" dirty="0" err="1">
                <a:solidFill>
                  <a:srgbClr val="FF0000"/>
                </a:solidFill>
              </a:rPr>
              <a:t>Ctrl+Break</a:t>
            </a:r>
            <a:r>
              <a:rPr lang="zh-CN" altLang="zh-CN" dirty="0">
                <a:solidFill>
                  <a:srgbClr val="FF0000"/>
                </a:solidFill>
              </a:rPr>
              <a:t>终止命令</a:t>
            </a:r>
            <a:r>
              <a:rPr lang="zh-CN" altLang="zh-CN" dirty="0"/>
              <a:t>的执行。</a:t>
            </a:r>
          </a:p>
          <a:p>
            <a:pPr marL="457200" lvl="1" indent="0">
              <a:buNone/>
            </a:pPr>
            <a:endParaRPr lang="zh-CN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316752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实验方法及原理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68450"/>
            <a:ext cx="497681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 smtClean="0"/>
              <a:t>四</a:t>
            </a:r>
            <a:r>
              <a:rPr lang="en-US" altLang="zh-CN" dirty="0" smtClean="0"/>
              <a:t>. </a:t>
            </a:r>
            <a:r>
              <a:rPr lang="en-US" altLang="zh-CN" dirty="0"/>
              <a:t>debug</a:t>
            </a:r>
            <a:r>
              <a:rPr lang="zh-CN" altLang="zh-CN" dirty="0"/>
              <a:t>命令的</a:t>
            </a:r>
            <a:r>
              <a:rPr lang="zh-CN" altLang="zh-CN" dirty="0" smtClean="0"/>
              <a:t>使用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2</a:t>
            </a:r>
            <a:r>
              <a:rPr lang="en-US" altLang="zh-CN" dirty="0" smtClean="0"/>
              <a:t>.Debug </a:t>
            </a:r>
            <a:r>
              <a:rPr lang="zh-CN" altLang="en-US" dirty="0" smtClean="0"/>
              <a:t>的调入和退出</a:t>
            </a:r>
            <a:endParaRPr lang="en-US" altLang="zh-CN" dirty="0" smtClean="0"/>
          </a:p>
          <a:p>
            <a:pPr lvl="1"/>
            <a:r>
              <a:rPr lang="zh-CN" altLang="zh-CN" dirty="0"/>
              <a:t>打开</a:t>
            </a:r>
            <a:r>
              <a:rPr lang="en-US" altLang="zh-CN" dirty="0" err="1"/>
              <a:t>dosbox</a:t>
            </a:r>
            <a:r>
              <a:rPr lang="zh-CN" altLang="zh-CN" dirty="0"/>
              <a:t>，并成功挂接</a:t>
            </a:r>
            <a:r>
              <a:rPr lang="en-US" altLang="zh-CN" dirty="0"/>
              <a:t>MASM</a:t>
            </a:r>
            <a:r>
              <a:rPr lang="zh-CN" altLang="zh-CN" dirty="0"/>
              <a:t>文件夹后，在命令行中输入：</a:t>
            </a:r>
            <a:r>
              <a:rPr lang="en-US" altLang="zh-CN" dirty="0"/>
              <a:t>Debug</a:t>
            </a:r>
            <a:endParaRPr lang="zh-CN" altLang="zh-CN" dirty="0"/>
          </a:p>
          <a:p>
            <a:pPr lvl="1"/>
            <a:r>
              <a:rPr lang="zh-CN" altLang="zh-CN" dirty="0"/>
              <a:t>进入</a:t>
            </a:r>
            <a:r>
              <a:rPr lang="en-US" altLang="zh-CN" dirty="0"/>
              <a:t>Debug</a:t>
            </a:r>
            <a:r>
              <a:rPr lang="zh-CN" altLang="zh-CN" dirty="0"/>
              <a:t>调试状态，出现</a:t>
            </a:r>
            <a:r>
              <a:rPr lang="en-US" altLang="zh-CN" dirty="0"/>
              <a:t>Debug</a:t>
            </a:r>
            <a:r>
              <a:rPr lang="zh-CN" altLang="zh-CN" dirty="0"/>
              <a:t>命令提示府</a:t>
            </a:r>
            <a:r>
              <a:rPr lang="en-US" altLang="zh-CN" dirty="0"/>
              <a:t>“-”</a:t>
            </a:r>
            <a:r>
              <a:rPr lang="zh-CN" altLang="zh-CN" dirty="0"/>
              <a:t>，在此提示符下可运行所需要的</a:t>
            </a:r>
            <a:r>
              <a:rPr lang="en-US" altLang="zh-CN" dirty="0"/>
              <a:t>Debug</a:t>
            </a:r>
            <a:r>
              <a:rPr lang="zh-CN" altLang="zh-CN" dirty="0"/>
              <a:t>命令了。</a:t>
            </a:r>
          </a:p>
          <a:p>
            <a:pPr lvl="1"/>
            <a:r>
              <a:rPr lang="zh-CN" altLang="zh-CN" dirty="0"/>
              <a:t>退出</a:t>
            </a:r>
            <a:r>
              <a:rPr lang="en-US" altLang="zh-CN" dirty="0"/>
              <a:t>Debug</a:t>
            </a:r>
            <a:r>
              <a:rPr lang="zh-CN" altLang="zh-CN" dirty="0"/>
              <a:t>的命令：</a:t>
            </a:r>
            <a:r>
              <a:rPr lang="en-US" altLang="zh-CN" dirty="0"/>
              <a:t>Q</a:t>
            </a:r>
            <a:endParaRPr lang="zh-CN" altLang="zh-CN" dirty="0"/>
          </a:p>
          <a:p>
            <a:pPr marL="457200" lvl="1" indent="0">
              <a:buNone/>
            </a:pPr>
            <a:endParaRPr lang="zh-CN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9619" y="1328993"/>
            <a:ext cx="6152381" cy="40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1650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实验方法及原理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68450"/>
            <a:ext cx="497681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 smtClean="0"/>
              <a:t>四</a:t>
            </a:r>
            <a:r>
              <a:rPr lang="en-US" altLang="zh-CN" dirty="0" smtClean="0"/>
              <a:t>. </a:t>
            </a:r>
            <a:r>
              <a:rPr lang="en-US" altLang="zh-CN" dirty="0"/>
              <a:t>debug</a:t>
            </a:r>
            <a:r>
              <a:rPr lang="zh-CN" altLang="zh-CN" dirty="0"/>
              <a:t>命令的</a:t>
            </a:r>
            <a:r>
              <a:rPr lang="zh-CN" altLang="zh-CN" dirty="0" smtClean="0"/>
              <a:t>使用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3.</a:t>
            </a:r>
            <a:r>
              <a:rPr lang="zh-CN" altLang="en-US" dirty="0" smtClean="0"/>
              <a:t>常见</a:t>
            </a:r>
            <a:r>
              <a:rPr lang="en-US" altLang="zh-CN" dirty="0" smtClean="0"/>
              <a:t>Debug</a:t>
            </a:r>
            <a:r>
              <a:rPr lang="zh-CN" altLang="en-US" dirty="0" smtClean="0"/>
              <a:t>命令</a:t>
            </a:r>
            <a:endParaRPr lang="en-US" altLang="zh-CN" dirty="0" smtClean="0"/>
          </a:p>
          <a:p>
            <a:pPr marL="457200" lvl="1" indent="0">
              <a:buNone/>
            </a:pPr>
            <a:endParaRPr lang="zh-CN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147762" y="2575263"/>
            <a:ext cx="9334501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R命令：查看、改变CPU寄存器的内容</a:t>
            </a:r>
            <a:r>
              <a:rPr lang="zh-CN" altLang="en-US" sz="2400" dirty="0" smtClean="0"/>
              <a:t>；</a:t>
            </a:r>
            <a:endParaRPr lang="en-US" altLang="zh-CN" sz="2400" dirty="0" smtClean="0"/>
          </a:p>
          <a:p>
            <a:r>
              <a:rPr lang="zh-CN" altLang="en-US" sz="2400" dirty="0" smtClean="0"/>
              <a:t>D</a:t>
            </a:r>
            <a:r>
              <a:rPr lang="zh-CN" altLang="en-US" sz="2400" dirty="0"/>
              <a:t>命令：查看内存中的内容</a:t>
            </a:r>
            <a:r>
              <a:rPr lang="zh-CN" altLang="en-US" sz="2400" dirty="0" smtClean="0"/>
              <a:t>；</a:t>
            </a:r>
            <a:endParaRPr lang="en-US" altLang="zh-CN" sz="2400" dirty="0" smtClean="0"/>
          </a:p>
          <a:p>
            <a:r>
              <a:rPr lang="zh-CN" altLang="en-US" sz="2400" dirty="0" smtClean="0"/>
              <a:t>E</a:t>
            </a:r>
            <a:r>
              <a:rPr lang="zh-CN" altLang="en-US" sz="2400" dirty="0"/>
              <a:t>命令：改写内存中的</a:t>
            </a:r>
            <a:r>
              <a:rPr lang="zh-CN" altLang="en-US" sz="2400" dirty="0" smtClean="0"/>
              <a:t>内容</a:t>
            </a:r>
            <a:r>
              <a:rPr lang="zh-CN" altLang="en-US" sz="2400" dirty="0"/>
              <a:t>；</a:t>
            </a:r>
            <a:endParaRPr lang="en-US" altLang="zh-CN" sz="2400" dirty="0" smtClean="0"/>
          </a:p>
          <a:p>
            <a:r>
              <a:rPr lang="zh-CN" altLang="en-US" sz="2400" dirty="0" smtClean="0"/>
              <a:t>U</a:t>
            </a:r>
            <a:r>
              <a:rPr lang="zh-CN" altLang="en-US" sz="2400" dirty="0"/>
              <a:t>命令：将内存中的机器指令翻译成汇编</a:t>
            </a:r>
            <a:r>
              <a:rPr lang="zh-CN" altLang="en-US" sz="2400" dirty="0" smtClean="0"/>
              <a:t>指令；</a:t>
            </a:r>
            <a:endParaRPr lang="en-US" altLang="zh-CN" sz="2400" dirty="0" smtClean="0"/>
          </a:p>
          <a:p>
            <a:r>
              <a:rPr lang="zh-CN" altLang="en-US" sz="2400" dirty="0" smtClean="0"/>
              <a:t>T</a:t>
            </a:r>
            <a:r>
              <a:rPr lang="zh-CN" altLang="en-US" sz="2400" dirty="0"/>
              <a:t>命令：执行一条机器指令</a:t>
            </a:r>
            <a:r>
              <a:rPr lang="zh-CN" altLang="en-US" sz="2400" dirty="0" smtClean="0"/>
              <a:t>；</a:t>
            </a:r>
            <a:endParaRPr lang="en-US" altLang="zh-CN" sz="2400" dirty="0" smtClean="0"/>
          </a:p>
          <a:p>
            <a:r>
              <a:rPr lang="zh-CN" altLang="en-US" sz="2400" dirty="0" smtClean="0"/>
              <a:t>A</a:t>
            </a:r>
            <a:r>
              <a:rPr lang="zh-CN" altLang="en-US" sz="2400" dirty="0"/>
              <a:t>命令：以汇编指令的格式在内存中写入一条机器指令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r>
              <a:rPr lang="zh-CN" altLang="en-US" sz="2400" dirty="0" smtClean="0"/>
              <a:t>Q</a:t>
            </a:r>
            <a:r>
              <a:rPr lang="zh-CN" altLang="en-US" sz="2400" dirty="0"/>
              <a:t>命令：退出</a:t>
            </a:r>
            <a:r>
              <a:rPr lang="zh-CN" altLang="en-US" sz="2400" dirty="0" smtClean="0"/>
              <a:t>debug</a:t>
            </a:r>
            <a:endParaRPr lang="en-US" altLang="zh-CN" sz="2400" dirty="0" smtClean="0"/>
          </a:p>
          <a:p>
            <a:r>
              <a:rPr lang="zh-CN" altLang="en-US" sz="2400" dirty="0" smtClean="0"/>
              <a:t>P</a:t>
            </a:r>
            <a:r>
              <a:rPr lang="zh-CN" altLang="en-US" sz="2400" dirty="0"/>
              <a:t>命令：类似于step over（“t”命令类似于step into），可用于跳</a:t>
            </a:r>
            <a:r>
              <a:rPr lang="zh-CN" altLang="en-US" sz="2400" dirty="0" smtClean="0"/>
              <a:t>过  loop循环</a:t>
            </a:r>
            <a:endParaRPr lang="en-US" altLang="zh-CN" sz="2400" dirty="0" smtClean="0"/>
          </a:p>
          <a:p>
            <a:r>
              <a:rPr lang="zh-CN" altLang="en-US" sz="2400" dirty="0" smtClean="0"/>
              <a:t>G</a:t>
            </a:r>
            <a:r>
              <a:rPr lang="zh-CN" altLang="en-US" sz="2400" dirty="0"/>
              <a:t>命令：跳过前面的代码，停留到指定的</a:t>
            </a:r>
            <a:r>
              <a:rPr lang="zh-CN" altLang="en-US" sz="2400" dirty="0" smtClean="0"/>
              <a:t>代码位置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9417526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常见</a:t>
            </a:r>
            <a:r>
              <a:rPr lang="en-US" altLang="zh-CN" dirty="0" smtClean="0"/>
              <a:t>debug</a:t>
            </a:r>
            <a:r>
              <a:rPr lang="zh-CN" altLang="en-US" dirty="0" smtClean="0"/>
              <a:t>命令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 smtClean="0"/>
              <a:t>r</a:t>
            </a:r>
            <a:r>
              <a:rPr lang="zh-CN" altLang="zh-CN" b="1" dirty="0" smtClean="0"/>
              <a:t>命令：查看或者改变</a:t>
            </a:r>
            <a:r>
              <a:rPr lang="en-US" altLang="zh-CN" b="1" dirty="0" smtClean="0"/>
              <a:t>CPU</a:t>
            </a:r>
            <a:r>
              <a:rPr lang="zh-CN" altLang="zh-CN" b="1" dirty="0" smtClean="0">
                <a:solidFill>
                  <a:srgbClr val="FF0000"/>
                </a:solidFill>
              </a:rPr>
              <a:t>寄存器</a:t>
            </a:r>
            <a:r>
              <a:rPr lang="zh-CN" altLang="zh-CN" b="1" dirty="0" smtClean="0"/>
              <a:t>的内容</a:t>
            </a:r>
            <a:endParaRPr lang="zh-CN" altLang="zh-CN" dirty="0" smtClean="0"/>
          </a:p>
          <a:p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838200" y="2594729"/>
            <a:ext cx="1101090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srgbClr val="FF0000"/>
                </a:solidFill>
              </a:rPr>
              <a:t>什么是寄存器</a:t>
            </a:r>
            <a:endParaRPr lang="en-US" altLang="zh-CN" sz="2000" dirty="0" smtClean="0">
              <a:solidFill>
                <a:srgbClr val="FF0000"/>
              </a:solidFill>
            </a:endParaRPr>
          </a:p>
          <a:p>
            <a:pPr lvl="1"/>
            <a:r>
              <a:rPr lang="zh-CN" altLang="en-US" sz="2000" dirty="0" smtClean="0"/>
              <a:t>寄存器</a:t>
            </a:r>
            <a:r>
              <a:rPr lang="zh-CN" altLang="en-US" sz="2000" dirty="0"/>
              <a:t>是有限存贮容量的高速存贮部件，它们可用来暂存指令、数据和地址。</a:t>
            </a:r>
          </a:p>
          <a:p>
            <a:pPr lvl="1"/>
            <a:r>
              <a:rPr lang="zh-CN" altLang="en-US" sz="2000" dirty="0"/>
              <a:t>寄存器是</a:t>
            </a:r>
            <a:r>
              <a:rPr lang="en-US" altLang="zh-CN" sz="2000" dirty="0"/>
              <a:t>CPU</a:t>
            </a:r>
            <a:r>
              <a:rPr lang="zh-CN" altLang="en-US" sz="2000" dirty="0"/>
              <a:t>的组成部分，因为在</a:t>
            </a:r>
            <a:r>
              <a:rPr lang="en-US" altLang="zh-CN" sz="2000" dirty="0"/>
              <a:t>CPU</a:t>
            </a:r>
            <a:r>
              <a:rPr lang="zh-CN" altLang="en-US" sz="2000" dirty="0"/>
              <a:t>内，所以</a:t>
            </a:r>
            <a:r>
              <a:rPr lang="en-US" altLang="zh-CN" sz="2000" dirty="0"/>
              <a:t>CPU</a:t>
            </a:r>
            <a:r>
              <a:rPr lang="zh-CN" altLang="en-US" sz="2000" dirty="0"/>
              <a:t>对其读写速度是最快的，不需要</a:t>
            </a:r>
            <a:r>
              <a:rPr lang="en-US" altLang="zh-CN" sz="2000" dirty="0"/>
              <a:t>IO</a:t>
            </a:r>
            <a:r>
              <a:rPr lang="zh-CN" altLang="en-US" sz="2000" dirty="0"/>
              <a:t>传输。但同时也决定了此类寄存器数量非常有限，有限到几乎每个存储都有自己的名字，而且有些还有多个名字。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FF0000"/>
                </a:solidFill>
              </a:rPr>
              <a:t>寄存器的作用</a:t>
            </a:r>
            <a:r>
              <a:rPr lang="zh-CN" altLang="en-US" sz="2000" dirty="0" smtClean="0">
                <a:solidFill>
                  <a:srgbClr val="FF0000"/>
                </a:solidFill>
              </a:rPr>
              <a:t>主要</a:t>
            </a:r>
            <a:r>
              <a:rPr lang="zh-CN" altLang="en-US" sz="2000" dirty="0" smtClean="0"/>
              <a:t>：</a:t>
            </a:r>
            <a:endParaRPr lang="zh-CN" altLang="en-US" sz="2000" dirty="0"/>
          </a:p>
          <a:p>
            <a:pPr lvl="1"/>
            <a:r>
              <a:rPr lang="zh-CN" altLang="en-US" sz="2000" dirty="0"/>
              <a:t>可将寄存器内的数据执行算术及逻辑运算；</a:t>
            </a:r>
          </a:p>
          <a:p>
            <a:pPr lvl="1"/>
            <a:r>
              <a:rPr lang="zh-CN" altLang="en-US" sz="2000" dirty="0"/>
              <a:t>存于寄存器内的地址可用来指向内存的某个位置，即寻址</a:t>
            </a:r>
            <a:r>
              <a:rPr lang="zh-CN" altLang="en-US" sz="2000" dirty="0" smtClean="0"/>
              <a:t>；</a:t>
            </a:r>
            <a:endParaRPr lang="en-US" altLang="zh-CN" sz="2000" dirty="0"/>
          </a:p>
          <a:p>
            <a:pPr lvl="1"/>
            <a:r>
              <a:rPr lang="zh-CN" altLang="en-US" sz="2000" dirty="0"/>
              <a:t>可以用来读写数据到电脑的周边设备</a:t>
            </a:r>
          </a:p>
        </p:txBody>
      </p:sp>
      <p:sp>
        <p:nvSpPr>
          <p:cNvPr id="6" name="矩形 5"/>
          <p:cNvSpPr/>
          <p:nvPr/>
        </p:nvSpPr>
        <p:spPr>
          <a:xfrm>
            <a:off x="690562" y="5579824"/>
            <a:ext cx="839628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9285" marR="502920" indent="1270">
              <a:spcAft>
                <a:spcPts val="0"/>
              </a:spcAft>
            </a:pPr>
            <a:r>
              <a:rPr lang="zh-CN" altLang="en-US" dirty="0" smtClean="0">
                <a:solidFill>
                  <a:srgbClr val="333333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有很多不同类型的寄存器，后续课程中会详细介绍</a:t>
            </a:r>
            <a:endParaRPr lang="en-US" altLang="zh-CN" dirty="0" smtClean="0">
              <a:solidFill>
                <a:srgbClr val="333333"/>
              </a:solidFill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629285" marR="502920" indent="1270">
              <a:spcAft>
                <a:spcPts val="0"/>
              </a:spcAft>
            </a:pPr>
            <a:r>
              <a:rPr lang="en-US" altLang="zh-CN" dirty="0" smtClean="0">
                <a:solidFill>
                  <a:srgbClr val="333333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AX</a:t>
            </a:r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, BX, CX…</a:t>
            </a:r>
            <a:endParaRPr lang="zh-CN" altLang="zh-CN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629285" marR="502920" indent="1270">
              <a:spcAft>
                <a:spcPts val="0"/>
              </a:spcAft>
            </a:pPr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CS:IP</a:t>
            </a:r>
            <a:endParaRPr lang="zh-CN" altLang="zh-CN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730124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常见</a:t>
            </a:r>
            <a:r>
              <a:rPr lang="en-US" altLang="zh-CN" dirty="0" smtClean="0"/>
              <a:t>debug</a:t>
            </a:r>
            <a:r>
              <a:rPr lang="zh-CN" altLang="en-US" dirty="0" smtClean="0"/>
              <a:t>命令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 smtClean="0"/>
              <a:t>r</a:t>
            </a:r>
            <a:r>
              <a:rPr lang="zh-CN" altLang="zh-CN" b="1" dirty="0" smtClean="0"/>
              <a:t>命令：查看或者改变</a:t>
            </a:r>
            <a:r>
              <a:rPr lang="en-US" altLang="zh-CN" b="1" dirty="0" smtClean="0"/>
              <a:t>CPU</a:t>
            </a:r>
            <a:r>
              <a:rPr lang="zh-CN" altLang="zh-CN" b="1" dirty="0" smtClean="0">
                <a:solidFill>
                  <a:srgbClr val="FF0000"/>
                </a:solidFill>
              </a:rPr>
              <a:t>寄存器</a:t>
            </a:r>
            <a:r>
              <a:rPr lang="zh-CN" altLang="zh-CN" b="1" dirty="0" smtClean="0"/>
              <a:t>的内容</a:t>
            </a:r>
            <a:endParaRPr lang="zh-CN" altLang="zh-CN" dirty="0" smtClean="0"/>
          </a:p>
        </p:txBody>
      </p:sp>
      <p:sp>
        <p:nvSpPr>
          <p:cNvPr id="5" name="矩形 4"/>
          <p:cNvSpPr/>
          <p:nvPr/>
        </p:nvSpPr>
        <p:spPr>
          <a:xfrm>
            <a:off x="838200" y="2594729"/>
            <a:ext cx="110109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/>
              <a:t>查看</a:t>
            </a:r>
            <a:r>
              <a:rPr lang="zh-CN" altLang="zh-CN" dirty="0" smtClean="0"/>
              <a:t>寄存器</a:t>
            </a:r>
            <a:r>
              <a:rPr lang="zh-CN" altLang="zh-CN" dirty="0"/>
              <a:t>内容</a:t>
            </a:r>
            <a:r>
              <a:rPr lang="zh-CN" altLang="zh-CN" dirty="0" smtClean="0"/>
              <a:t>：</a:t>
            </a:r>
            <a:endParaRPr lang="zh-CN" altLang="en-US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606" y="2917488"/>
            <a:ext cx="7806788" cy="170773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690562" y="4657491"/>
            <a:ext cx="110109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改变</a:t>
            </a:r>
            <a:r>
              <a:rPr lang="zh-CN" altLang="zh-CN" dirty="0" smtClean="0"/>
              <a:t>寄存器</a:t>
            </a:r>
            <a:r>
              <a:rPr lang="zh-CN" altLang="zh-CN" dirty="0"/>
              <a:t>内容</a:t>
            </a:r>
            <a:r>
              <a:rPr lang="zh-CN" altLang="zh-CN" dirty="0" smtClean="0"/>
              <a:t>：</a:t>
            </a:r>
            <a:endParaRPr lang="zh-CN" altLang="en-US" sz="20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/>
          <a:srcRect t="4264"/>
          <a:stretch/>
        </p:blipFill>
        <p:spPr>
          <a:xfrm>
            <a:off x="1419606" y="5020510"/>
            <a:ext cx="8467340" cy="1551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7997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常见</a:t>
            </a:r>
            <a:r>
              <a:rPr lang="en-US" altLang="zh-CN" dirty="0" smtClean="0"/>
              <a:t>debug</a:t>
            </a:r>
            <a:r>
              <a:rPr lang="zh-CN" altLang="en-US" dirty="0" smtClean="0"/>
              <a:t>命令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d</a:t>
            </a:r>
            <a:r>
              <a:rPr lang="zh-CN" altLang="zh-CN" b="1" dirty="0" smtClean="0"/>
              <a:t>命令：查看</a:t>
            </a:r>
            <a:r>
              <a:rPr lang="zh-CN" altLang="en-US" b="1" dirty="0" smtClean="0">
                <a:solidFill>
                  <a:srgbClr val="FF0000"/>
                </a:solidFill>
              </a:rPr>
              <a:t>内</a:t>
            </a:r>
            <a:r>
              <a:rPr lang="zh-CN" altLang="zh-CN" b="1" dirty="0" smtClean="0">
                <a:solidFill>
                  <a:srgbClr val="FF0000"/>
                </a:solidFill>
              </a:rPr>
              <a:t>存</a:t>
            </a:r>
            <a:r>
              <a:rPr lang="zh-CN" altLang="zh-CN" b="1" dirty="0" smtClean="0"/>
              <a:t>的内容</a:t>
            </a:r>
            <a:endParaRPr lang="zh-CN" altLang="zh-CN" dirty="0" smtClean="0"/>
          </a:p>
        </p:txBody>
      </p:sp>
      <p:pic>
        <p:nvPicPr>
          <p:cNvPr id="3074" name="图片 1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012" y="2784526"/>
            <a:ext cx="7942139" cy="1870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3" name="图片 1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012" y="4846407"/>
            <a:ext cx="7942139" cy="19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838199" y="2381950"/>
            <a:ext cx="615609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/>
              <a:t>d </a:t>
            </a:r>
            <a:r>
              <a:rPr lang="zh-CN" altLang="en-US" dirty="0"/>
              <a:t>段地址</a:t>
            </a:r>
            <a:r>
              <a:rPr lang="en-US" altLang="zh-CN" dirty="0"/>
              <a:t>:</a:t>
            </a:r>
            <a:r>
              <a:rPr lang="zh-CN" altLang="en-US" dirty="0"/>
              <a:t>偏移地址 （结束的偏移地址，可忽略）</a:t>
            </a: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zh-CN" altLang="en-US" dirty="0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243013" y="419576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1243013" y="551973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85390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常见</a:t>
            </a:r>
            <a:r>
              <a:rPr lang="en-US" altLang="zh-CN" dirty="0" smtClean="0"/>
              <a:t>debug</a:t>
            </a:r>
            <a:r>
              <a:rPr lang="zh-CN" altLang="en-US" dirty="0" smtClean="0"/>
              <a:t>命令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 smtClean="0"/>
              <a:t>e</a:t>
            </a:r>
            <a:r>
              <a:rPr lang="zh-CN" altLang="zh-CN" b="1" dirty="0" smtClean="0"/>
              <a:t>命令：</a:t>
            </a:r>
            <a:r>
              <a:rPr lang="zh-CN" altLang="en-US" b="1" dirty="0" smtClean="0"/>
              <a:t>修改</a:t>
            </a:r>
            <a:r>
              <a:rPr lang="zh-CN" altLang="en-US" b="1" dirty="0" smtClean="0">
                <a:solidFill>
                  <a:srgbClr val="FF0000"/>
                </a:solidFill>
              </a:rPr>
              <a:t>内</a:t>
            </a:r>
            <a:r>
              <a:rPr lang="zh-CN" altLang="zh-CN" b="1" dirty="0" smtClean="0">
                <a:solidFill>
                  <a:srgbClr val="FF0000"/>
                </a:solidFill>
              </a:rPr>
              <a:t>存</a:t>
            </a:r>
            <a:r>
              <a:rPr lang="zh-CN" altLang="zh-CN" b="1" dirty="0" smtClean="0"/>
              <a:t>的内容</a:t>
            </a:r>
            <a:endParaRPr lang="zh-CN" altLang="zh-CN" dirty="0" smtClean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838199" y="2381950"/>
            <a:ext cx="615609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dirty="0" smtClean="0"/>
              <a:t>e </a:t>
            </a:r>
            <a:r>
              <a:rPr lang="zh-CN" altLang="en-US" dirty="0"/>
              <a:t>段地址</a:t>
            </a:r>
            <a:r>
              <a:rPr lang="en-US" altLang="zh-CN" dirty="0"/>
              <a:t>:</a:t>
            </a:r>
            <a:r>
              <a:rPr lang="zh-CN" altLang="en-US" dirty="0"/>
              <a:t>偏移</a:t>
            </a:r>
            <a:r>
              <a:rPr lang="zh-CN" altLang="en-US" dirty="0" smtClean="0"/>
              <a:t>地址 </a:t>
            </a:r>
            <a:r>
              <a:rPr lang="zh-CN" altLang="zh-CN" dirty="0" smtClean="0"/>
              <a:t>写入</a:t>
            </a:r>
            <a:r>
              <a:rPr lang="zh-CN" altLang="zh-CN" dirty="0"/>
              <a:t>的数据</a:t>
            </a: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zh-CN" altLang="en-US" dirty="0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243013" y="419576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1243013" y="551973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1" name="图片 10"/>
          <p:cNvPicPr/>
          <p:nvPr/>
        </p:nvPicPr>
        <p:blipFill>
          <a:blip r:embed="rId2"/>
          <a:stretch>
            <a:fillRect/>
          </a:stretch>
        </p:blipFill>
        <p:spPr>
          <a:xfrm>
            <a:off x="838198" y="2761645"/>
            <a:ext cx="9321802" cy="3842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0533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常见</a:t>
            </a:r>
            <a:r>
              <a:rPr lang="en-US" altLang="zh-CN" dirty="0" smtClean="0"/>
              <a:t>debug</a:t>
            </a:r>
            <a:r>
              <a:rPr lang="zh-CN" altLang="en-US" dirty="0" smtClean="0"/>
              <a:t>命令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 smtClean="0"/>
              <a:t>e</a:t>
            </a:r>
            <a:r>
              <a:rPr lang="zh-CN" altLang="zh-CN" b="1" dirty="0" smtClean="0"/>
              <a:t>命令：</a:t>
            </a:r>
            <a:r>
              <a:rPr lang="zh-CN" altLang="en-US" b="1" dirty="0" smtClean="0"/>
              <a:t>修改</a:t>
            </a:r>
            <a:r>
              <a:rPr lang="zh-CN" altLang="en-US" b="1" dirty="0" smtClean="0">
                <a:solidFill>
                  <a:srgbClr val="FF0000"/>
                </a:solidFill>
              </a:rPr>
              <a:t>内</a:t>
            </a:r>
            <a:r>
              <a:rPr lang="zh-CN" altLang="zh-CN" b="1" dirty="0" smtClean="0">
                <a:solidFill>
                  <a:srgbClr val="FF0000"/>
                </a:solidFill>
              </a:rPr>
              <a:t>存</a:t>
            </a:r>
            <a:r>
              <a:rPr lang="zh-CN" altLang="zh-CN" b="1" dirty="0" smtClean="0"/>
              <a:t>的内容</a:t>
            </a:r>
            <a:endParaRPr lang="zh-CN" altLang="zh-CN" dirty="0" smtClean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838198" y="2381949"/>
            <a:ext cx="922020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zh-CN" dirty="0"/>
              <a:t>也可以通过</a:t>
            </a:r>
            <a:r>
              <a:rPr lang="en-US" altLang="zh-CN" dirty="0"/>
              <a:t>   e </a:t>
            </a:r>
            <a:r>
              <a:rPr lang="zh-CN" altLang="zh-CN" dirty="0"/>
              <a:t>段地址</a:t>
            </a:r>
            <a:r>
              <a:rPr lang="en-US" altLang="zh-CN" dirty="0"/>
              <a:t>:</a:t>
            </a:r>
            <a:r>
              <a:rPr lang="zh-CN" altLang="zh-CN" dirty="0"/>
              <a:t>偏移地址</a:t>
            </a:r>
            <a:r>
              <a:rPr lang="en-US" altLang="zh-CN" dirty="0"/>
              <a:t> "</a:t>
            </a:r>
            <a:r>
              <a:rPr lang="zh-CN" altLang="zh-CN" dirty="0"/>
              <a:t>字符串</a:t>
            </a:r>
            <a:r>
              <a:rPr lang="en-US" altLang="zh-CN" dirty="0"/>
              <a:t>"    </a:t>
            </a:r>
            <a:r>
              <a:rPr lang="zh-CN" altLang="zh-CN" dirty="0"/>
              <a:t>这种方式向内存中写入字符串的</a:t>
            </a:r>
            <a:r>
              <a:rPr lang="en-US" altLang="zh-CN" dirty="0"/>
              <a:t>16</a:t>
            </a:r>
            <a:r>
              <a:rPr lang="zh-CN" altLang="zh-CN" dirty="0"/>
              <a:t>进制值</a:t>
            </a: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zh-CN" altLang="en-US" dirty="0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243013" y="419576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1243013" y="551973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t="17550" b="19459"/>
          <a:stretch/>
        </p:blipFill>
        <p:spPr>
          <a:xfrm>
            <a:off x="968991" y="2940297"/>
            <a:ext cx="7231654" cy="43542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8" y="3705314"/>
            <a:ext cx="10961473" cy="260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730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常见</a:t>
            </a:r>
            <a:r>
              <a:rPr lang="en-US" altLang="zh-CN" dirty="0" smtClean="0"/>
              <a:t>debug</a:t>
            </a:r>
            <a:r>
              <a:rPr lang="zh-CN" altLang="en-US" dirty="0" smtClean="0"/>
              <a:t>命令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 smtClean="0"/>
              <a:t>u</a:t>
            </a:r>
            <a:r>
              <a:rPr lang="zh-CN" altLang="en-US" b="1" dirty="0"/>
              <a:t>命令：将</a:t>
            </a:r>
            <a:r>
              <a:rPr lang="zh-CN" altLang="en-US" b="1" dirty="0">
                <a:solidFill>
                  <a:srgbClr val="FF0000"/>
                </a:solidFill>
              </a:rPr>
              <a:t>机器指令</a:t>
            </a:r>
            <a:r>
              <a:rPr lang="zh-CN" altLang="en-US" b="1" dirty="0"/>
              <a:t>翻译成</a:t>
            </a:r>
            <a:r>
              <a:rPr lang="zh-CN" altLang="en-US" b="1" dirty="0">
                <a:solidFill>
                  <a:srgbClr val="FF0000"/>
                </a:solidFill>
              </a:rPr>
              <a:t>汇编指令</a:t>
            </a:r>
            <a:endParaRPr lang="zh-CN" altLang="zh-CN" dirty="0" smtClean="0">
              <a:solidFill>
                <a:srgbClr val="FF0000"/>
              </a:solidFill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838200" y="2626130"/>
            <a:ext cx="10192657" cy="126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000" dirty="0" smtClean="0"/>
              <a:t>机器指令</a:t>
            </a:r>
            <a:r>
              <a:rPr lang="zh-CN" altLang="en-US" sz="2000" dirty="0"/>
              <a:t>翻译成汇编指令：</a:t>
            </a:r>
            <a:r>
              <a:rPr lang="en-US" altLang="zh-CN" sz="2000" dirty="0"/>
              <a:t>u </a:t>
            </a:r>
            <a:r>
              <a:rPr lang="zh-CN" altLang="en-US" sz="2000" dirty="0"/>
              <a:t>段地址</a:t>
            </a:r>
            <a:r>
              <a:rPr lang="en-US" altLang="zh-CN" sz="2000" dirty="0"/>
              <a:t>:</a:t>
            </a:r>
            <a:r>
              <a:rPr lang="zh-CN" altLang="en-US" sz="2000" dirty="0"/>
              <a:t>偏移地址</a:t>
            </a:r>
          </a:p>
          <a:p>
            <a:r>
              <a:rPr lang="zh-CN" altLang="en-US" sz="2000" dirty="0"/>
              <a:t>注意：如果直接使用命令</a:t>
            </a:r>
            <a:r>
              <a:rPr lang="en-US" altLang="zh-CN" sz="2000" dirty="0"/>
              <a:t>u</a:t>
            </a:r>
            <a:r>
              <a:rPr lang="zh-CN" altLang="en-US" sz="2000" dirty="0"/>
              <a:t>，</a:t>
            </a:r>
            <a:r>
              <a:rPr lang="en-US" altLang="zh-CN" sz="2000" dirty="0"/>
              <a:t>debug</a:t>
            </a:r>
            <a:r>
              <a:rPr lang="zh-CN" altLang="en-US" sz="2000" dirty="0"/>
              <a:t>将会把</a:t>
            </a:r>
            <a:r>
              <a:rPr lang="en-US" altLang="zh-CN" sz="2000" dirty="0"/>
              <a:t>CPU</a:t>
            </a:r>
            <a:r>
              <a:rPr lang="zh-CN" altLang="en-US" sz="2000" dirty="0"/>
              <a:t>中</a:t>
            </a:r>
            <a:r>
              <a:rPr lang="en-US" altLang="zh-CN" sz="2000" dirty="0"/>
              <a:t>CS:IP</a:t>
            </a:r>
            <a:r>
              <a:rPr lang="zh-CN" altLang="en-US" sz="2000" dirty="0"/>
              <a:t>指向的内存内容翻译成汇编指令</a:t>
            </a:r>
          </a:p>
          <a:p>
            <a:endParaRPr lang="zh-CN" altLang="zh-CN" dirty="0"/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zh-CN" altLang="en-US" dirty="0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243013" y="419576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1243013" y="551973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t="34653" b="10482"/>
          <a:stretch/>
        </p:blipFill>
        <p:spPr>
          <a:xfrm>
            <a:off x="1062246" y="3529694"/>
            <a:ext cx="6252954" cy="3158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2477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常见</a:t>
            </a:r>
            <a:r>
              <a:rPr lang="en-US" altLang="zh-CN" dirty="0" smtClean="0"/>
              <a:t>debug</a:t>
            </a:r>
            <a:r>
              <a:rPr lang="zh-CN" altLang="en-US" dirty="0" smtClean="0"/>
              <a:t>命令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a</a:t>
            </a:r>
            <a:r>
              <a:rPr lang="zh-CN" altLang="en-US" b="1" dirty="0"/>
              <a:t>命令：以汇编指令的格式在内存中</a:t>
            </a:r>
            <a:r>
              <a:rPr lang="zh-CN" altLang="en-US" b="1" dirty="0">
                <a:solidFill>
                  <a:srgbClr val="FF0000"/>
                </a:solidFill>
              </a:rPr>
              <a:t>写入机器指令</a:t>
            </a:r>
            <a:endParaRPr lang="zh-CN" altLang="zh-CN" dirty="0" smtClean="0">
              <a:solidFill>
                <a:srgbClr val="FF0000"/>
              </a:solidFill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838200" y="2557463"/>
            <a:ext cx="1019265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zh-CN" dirty="0"/>
              <a:t>写入汇编指令：</a:t>
            </a:r>
            <a:r>
              <a:rPr lang="en-US" altLang="zh-CN" dirty="0">
                <a:solidFill>
                  <a:srgbClr val="FF0000"/>
                </a:solidFill>
              </a:rPr>
              <a:t>a </a:t>
            </a:r>
            <a:r>
              <a:rPr lang="zh-CN" altLang="zh-CN" dirty="0">
                <a:solidFill>
                  <a:srgbClr val="FF0000"/>
                </a:solidFill>
              </a:rPr>
              <a:t>段地址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  <a:r>
              <a:rPr lang="zh-CN" altLang="zh-CN" dirty="0">
                <a:solidFill>
                  <a:srgbClr val="FF0000"/>
                </a:solidFill>
              </a:rPr>
              <a:t>偏移地址</a:t>
            </a:r>
            <a:r>
              <a:rPr lang="zh-CN" altLang="zh-CN" dirty="0"/>
              <a:t>，按下</a:t>
            </a:r>
            <a:r>
              <a:rPr lang="en-US" altLang="zh-CN" dirty="0"/>
              <a:t>enter</a:t>
            </a:r>
            <a:r>
              <a:rPr lang="zh-CN" altLang="zh-CN" dirty="0"/>
              <a:t>键后，输入汇编指令，当不想输入时直接按</a:t>
            </a:r>
            <a:r>
              <a:rPr lang="en-US" altLang="zh-CN" dirty="0"/>
              <a:t>enter</a:t>
            </a:r>
            <a:r>
              <a:rPr lang="zh-CN" altLang="zh-CN" dirty="0" smtClean="0"/>
              <a:t>退出</a:t>
            </a:r>
            <a:endParaRPr lang="zh-CN" altLang="zh-CN" dirty="0"/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zh-CN" altLang="en-US" dirty="0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243013" y="419576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1243013" y="551973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3222731"/>
            <a:ext cx="4372428" cy="20969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2129" y="3261967"/>
            <a:ext cx="6909897" cy="16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0629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常见</a:t>
            </a:r>
            <a:r>
              <a:rPr lang="en-US" altLang="zh-CN" dirty="0" smtClean="0"/>
              <a:t>debug</a:t>
            </a:r>
            <a:r>
              <a:rPr lang="zh-CN" altLang="en-US" dirty="0" smtClean="0"/>
              <a:t>命令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 smtClean="0"/>
              <a:t>T</a:t>
            </a:r>
            <a:r>
              <a:rPr lang="zh-CN" altLang="en-US" b="1" dirty="0" smtClean="0"/>
              <a:t>命令：</a:t>
            </a:r>
            <a:r>
              <a:rPr lang="en-US" altLang="zh-CN" b="1" dirty="0" err="1"/>
              <a:t>cpu</a:t>
            </a:r>
            <a:r>
              <a:rPr lang="zh-CN" altLang="zh-CN" b="1" dirty="0"/>
              <a:t>执行一条机器指令（</a:t>
            </a:r>
            <a:r>
              <a:rPr lang="en-US" altLang="zh-CN" b="1" dirty="0"/>
              <a:t>CS:IP</a:t>
            </a:r>
            <a:r>
              <a:rPr lang="zh-CN" altLang="zh-CN" b="1" dirty="0"/>
              <a:t>指向的指令）</a:t>
            </a:r>
            <a:endParaRPr lang="zh-CN" altLang="zh-CN" dirty="0" smtClean="0">
              <a:solidFill>
                <a:srgbClr val="FF0000"/>
              </a:solidFill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243013" y="419576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1243013" y="551973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013" y="4529318"/>
            <a:ext cx="7799387" cy="199916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013" y="2469496"/>
            <a:ext cx="6909897" cy="16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1119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实验作业及报告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 smtClean="0"/>
              <a:t>完成以下练习并撰写实验报告提交</a:t>
            </a:r>
            <a:endParaRPr lang="en-US" altLang="zh-CN" dirty="0" smtClean="0"/>
          </a:p>
          <a:p>
            <a:r>
              <a:rPr lang="en-US" altLang="zh-CN" dirty="0" smtClean="0"/>
              <a:t>1. </a:t>
            </a:r>
            <a:r>
              <a:rPr lang="zh-CN" altLang="en-US" dirty="0" smtClean="0"/>
              <a:t>利用</a:t>
            </a:r>
            <a:r>
              <a:rPr lang="en-US" altLang="zh-CN" dirty="0" smtClean="0"/>
              <a:t>debug</a:t>
            </a:r>
            <a:r>
              <a:rPr lang="zh-CN" altLang="en-US" dirty="0" smtClean="0"/>
              <a:t>命令，截图保存当前寄存器的内容</a:t>
            </a:r>
            <a:endParaRPr lang="en-US" altLang="zh-CN" dirty="0" smtClean="0"/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利用</a:t>
            </a:r>
            <a:r>
              <a:rPr lang="en-US" altLang="zh-CN" dirty="0" smtClean="0"/>
              <a:t>debug</a:t>
            </a:r>
            <a:r>
              <a:rPr lang="zh-CN" altLang="en-US" dirty="0"/>
              <a:t>命令</a:t>
            </a:r>
            <a:r>
              <a:rPr lang="en-US" altLang="zh-CN" dirty="0" smtClean="0"/>
              <a:t> </a:t>
            </a:r>
            <a:r>
              <a:rPr lang="zh-CN" altLang="en-US" dirty="0"/>
              <a:t>从</a:t>
            </a:r>
            <a:r>
              <a:rPr lang="en-US" altLang="zh-CN" dirty="0" smtClean="0"/>
              <a:t>073f:0120</a:t>
            </a:r>
            <a:r>
              <a:rPr lang="zh-CN" altLang="en-US" dirty="0" smtClean="0"/>
              <a:t>开始的内存地址中写入字符串“</a:t>
            </a:r>
            <a:r>
              <a:rPr lang="en-US" altLang="zh-CN" dirty="0" smtClean="0"/>
              <a:t>welcome to</a:t>
            </a:r>
            <a:r>
              <a:rPr lang="zh-CN" altLang="en-US" dirty="0" smtClean="0"/>
              <a:t> </a:t>
            </a:r>
            <a:r>
              <a:rPr lang="en-US" altLang="zh-CN" dirty="0" err="1" smtClean="0"/>
              <a:t>masm</a:t>
            </a:r>
            <a:r>
              <a:rPr lang="zh-CN" altLang="en-US" dirty="0" smtClean="0"/>
              <a:t>”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</a:t>
            </a:r>
            <a:r>
              <a:rPr lang="zh-CN" altLang="en-US" dirty="0" smtClean="0"/>
              <a:t>提示：查找</a:t>
            </a:r>
            <a:r>
              <a:rPr lang="en-US" altLang="zh-CN" dirty="0" err="1" smtClean="0"/>
              <a:t>ascii</a:t>
            </a:r>
            <a:r>
              <a:rPr lang="zh-CN" altLang="en-US" dirty="0" smtClean="0"/>
              <a:t>表，找到对应字符的</a:t>
            </a:r>
            <a:r>
              <a:rPr lang="en-US" altLang="zh-CN" dirty="0" smtClean="0"/>
              <a:t>ASCII</a:t>
            </a:r>
            <a:r>
              <a:rPr lang="zh-CN" altLang="en-US" dirty="0" smtClean="0"/>
              <a:t>码并写入</a:t>
            </a:r>
            <a:endParaRPr lang="en-US" altLang="zh-CN" dirty="0" smtClean="0"/>
          </a:p>
          <a:p>
            <a:r>
              <a:rPr lang="en-US" altLang="zh-CN" dirty="0" smtClean="0"/>
              <a:t>3.</a:t>
            </a:r>
            <a:r>
              <a:rPr lang="zh-CN" altLang="zh-CN" dirty="0"/>
              <a:t>利用</a:t>
            </a:r>
            <a:r>
              <a:rPr lang="en-US" altLang="zh-CN" dirty="0"/>
              <a:t>debug</a:t>
            </a:r>
            <a:r>
              <a:rPr lang="zh-CN" altLang="zh-CN" dirty="0"/>
              <a:t>命令将如下指令写入到内存中，并利用</a:t>
            </a:r>
            <a:r>
              <a:rPr lang="en-US" altLang="zh-CN" dirty="0"/>
              <a:t>t</a:t>
            </a:r>
            <a:r>
              <a:rPr lang="zh-CN" altLang="zh-CN" dirty="0"/>
              <a:t>指令执行，观察寄存器的变化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   </a:t>
            </a:r>
            <a:r>
              <a:rPr lang="en-US" altLang="zh-CN" dirty="0" err="1">
                <a:solidFill>
                  <a:srgbClr val="FF0000"/>
                </a:solidFill>
              </a:rPr>
              <a:t>mov</a:t>
            </a:r>
            <a:r>
              <a:rPr lang="en-US" altLang="zh-CN" dirty="0">
                <a:solidFill>
                  <a:srgbClr val="FF0000"/>
                </a:solidFill>
              </a:rPr>
              <a:t> ax</a:t>
            </a:r>
            <a:r>
              <a:rPr lang="en-US" altLang="zh-CN" dirty="0" smtClean="0">
                <a:solidFill>
                  <a:srgbClr val="FF0000"/>
                </a:solidFill>
              </a:rPr>
              <a:t>,-3</a:t>
            </a:r>
            <a:endParaRPr lang="zh-CN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   </a:t>
            </a:r>
            <a:r>
              <a:rPr lang="en-US" altLang="zh-CN" dirty="0" err="1">
                <a:solidFill>
                  <a:srgbClr val="FF0000"/>
                </a:solidFill>
              </a:rPr>
              <a:t>mov</a:t>
            </a:r>
            <a:r>
              <a:rPr lang="en-US" altLang="zh-CN" dirty="0">
                <a:solidFill>
                  <a:srgbClr val="FF0000"/>
                </a:solidFill>
              </a:rPr>
              <a:t> bx,1</a:t>
            </a:r>
            <a:endParaRPr lang="zh-CN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   add </a:t>
            </a:r>
            <a:r>
              <a:rPr lang="en-US" altLang="zh-CN" dirty="0" err="1">
                <a:solidFill>
                  <a:srgbClr val="FF0000"/>
                </a:solidFill>
              </a:rPr>
              <a:t>ax,bx</a:t>
            </a:r>
            <a:endParaRPr lang="zh-CN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CN" dirty="0" smtClean="0"/>
          </a:p>
          <a:p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0367300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述职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h3yr22">
      <a:majorFont>
        <a:latin typeface="Arial" panose="020F0302020204030204"/>
        <a:ea typeface="微软雅黑"/>
        <a:cs typeface=""/>
      </a:majorFont>
      <a:minorFont>
        <a:latin typeface="Arial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1344</TotalTime>
  <Words>1418</Words>
  <Application>Microsoft Office PowerPoint</Application>
  <PresentationFormat>宽屏</PresentationFormat>
  <Paragraphs>143</Paragraphs>
  <Slides>24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2" baseType="lpstr">
      <vt:lpstr>等线</vt:lpstr>
      <vt:lpstr>方正粗谭黑简体</vt:lpstr>
      <vt:lpstr>黑体</vt:lpstr>
      <vt:lpstr>宋体</vt:lpstr>
      <vt:lpstr>微软雅黑</vt:lpstr>
      <vt:lpstr>Arial</vt:lpstr>
      <vt:lpstr>Calibri</vt:lpstr>
      <vt:lpstr>第一PPT，www.1ppt.com</vt:lpstr>
      <vt:lpstr>PowerPoint 演示文稿</vt:lpstr>
      <vt:lpstr>汇编实验课程要求</vt:lpstr>
      <vt:lpstr>PowerPoint 演示文稿</vt:lpstr>
      <vt:lpstr>PowerPoint 演示文稿</vt:lpstr>
      <vt:lpstr>实验方法及原理</vt:lpstr>
      <vt:lpstr>实验方法及原理</vt:lpstr>
      <vt:lpstr>实验方法及原理</vt:lpstr>
      <vt:lpstr>实验方法及原理</vt:lpstr>
      <vt:lpstr>实验方法及原理</vt:lpstr>
      <vt:lpstr>实验方法及原理</vt:lpstr>
      <vt:lpstr>实验方法及原理</vt:lpstr>
      <vt:lpstr>实验方法及原理</vt:lpstr>
      <vt:lpstr>实验方法及原理</vt:lpstr>
      <vt:lpstr>实验方法及原理</vt:lpstr>
      <vt:lpstr>实验方法及原理</vt:lpstr>
      <vt:lpstr>常见debug命令</vt:lpstr>
      <vt:lpstr>常见debug命令</vt:lpstr>
      <vt:lpstr>常见debug命令</vt:lpstr>
      <vt:lpstr>常见debug命令</vt:lpstr>
      <vt:lpstr>常见debug命令</vt:lpstr>
      <vt:lpstr>常见debug命令</vt:lpstr>
      <vt:lpstr>常见debug命令</vt:lpstr>
      <vt:lpstr>常见debug命令</vt:lpstr>
      <vt:lpstr>实验作业及报告</vt:lpstr>
    </vt:vector>
  </TitlesOfParts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简洁述职报告</dc:title>
  <dc:creator>第一PPT</dc:creator>
  <cp:keywords>www.1ppt.com</cp:keywords>
  <dc:description>www.1ppt.com</dc:description>
  <cp:lastModifiedBy>linying</cp:lastModifiedBy>
  <cp:revision>114</cp:revision>
  <dcterms:created xsi:type="dcterms:W3CDTF">2019-06-11T09:29:47Z</dcterms:created>
  <dcterms:modified xsi:type="dcterms:W3CDTF">2023-02-27T03:25:13Z</dcterms:modified>
</cp:coreProperties>
</file>