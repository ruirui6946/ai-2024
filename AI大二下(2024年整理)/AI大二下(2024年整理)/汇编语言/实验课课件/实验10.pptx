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300" r:id="rId3"/>
    <p:sldId id="313" r:id="rId4"/>
    <p:sldId id="315" r:id="rId5"/>
    <p:sldId id="316" r:id="rId6"/>
    <p:sldId id="317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6318" autoAdjust="0"/>
  </p:normalViewPr>
  <p:slideViewPr>
    <p:cSldViewPr snapToGrid="0">
      <p:cViewPr varScale="1">
        <p:scale>
          <a:sx n="77" d="100"/>
          <a:sy n="77" d="100"/>
        </p:scale>
        <p:origin x="120" y="10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851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368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119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31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 smtClean="0"/>
              <a:t>实验十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 smtClean="0">
                <a:solidFill>
                  <a:srgbClr val="292929"/>
                </a:solidFill>
                <a:cs typeface="+mn-ea"/>
                <a:sym typeface="+mn-lt"/>
              </a:rPr>
              <a:t>子程序设计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658279" y="1017195"/>
            <a:ext cx="3459968" cy="507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ym typeface="+mn-lt"/>
              </a:rPr>
              <a:t>1</a:t>
            </a:r>
            <a:r>
              <a:rPr lang="en-US" altLang="zh-CN" sz="2400" dirty="0" smtClean="0">
                <a:sym typeface="+mn-lt"/>
              </a:rPr>
              <a:t>.</a:t>
            </a:r>
            <a:r>
              <a:rPr lang="zh-CN" altLang="en-US" sz="2400" dirty="0" smtClean="0">
                <a:sym typeface="+mn-lt"/>
              </a:rPr>
              <a:t>编写</a:t>
            </a:r>
            <a:r>
              <a:rPr lang="zh-CN" altLang="en-US" sz="2400" dirty="0">
                <a:sym typeface="+mn-lt"/>
              </a:rPr>
              <a:t>一个程序，判别键盘上输入的字符；若是</a:t>
            </a:r>
            <a:r>
              <a:rPr lang="en-US" altLang="zh-CN" sz="2400" dirty="0">
                <a:sym typeface="+mn-lt"/>
              </a:rPr>
              <a:t>1~9 </a:t>
            </a:r>
            <a:r>
              <a:rPr lang="zh-CN" altLang="en-US" sz="2400" dirty="0">
                <a:sym typeface="+mn-lt"/>
              </a:rPr>
              <a:t>字符，则显示之；若为</a:t>
            </a:r>
            <a:r>
              <a:rPr lang="en-US" altLang="zh-CN" sz="2400" dirty="0">
                <a:sym typeface="+mn-lt"/>
              </a:rPr>
              <a:t>A~Z</a:t>
            </a:r>
            <a:r>
              <a:rPr lang="zh-CN" altLang="en-US" sz="2400" dirty="0">
                <a:sym typeface="+mn-lt"/>
              </a:rPr>
              <a:t>字符，显示“</a:t>
            </a:r>
            <a:r>
              <a:rPr lang="en-US" altLang="zh-CN" sz="2400" dirty="0">
                <a:sym typeface="+mn-lt"/>
              </a:rPr>
              <a:t>C</a:t>
            </a:r>
            <a:r>
              <a:rPr lang="zh-CN" altLang="en-US" sz="2400" dirty="0">
                <a:sym typeface="+mn-lt"/>
              </a:rPr>
              <a:t>”，若为</a:t>
            </a:r>
            <a:r>
              <a:rPr lang="en-US" altLang="zh-CN" sz="2400" dirty="0">
                <a:sym typeface="+mn-lt"/>
              </a:rPr>
              <a:t>a-z </a:t>
            </a:r>
            <a:r>
              <a:rPr lang="zh-CN" altLang="en-US" sz="2400" dirty="0">
                <a:sym typeface="+mn-lt"/>
              </a:rPr>
              <a:t>字符，显示“</a:t>
            </a:r>
            <a:r>
              <a:rPr lang="en-US" altLang="zh-CN" sz="2400" dirty="0">
                <a:sym typeface="+mn-lt"/>
              </a:rPr>
              <a:t>C</a:t>
            </a:r>
            <a:r>
              <a:rPr lang="zh-CN" altLang="en-US" sz="2400" dirty="0">
                <a:sym typeface="+mn-lt"/>
              </a:rPr>
              <a:t>”，若是回车字符（</a:t>
            </a:r>
            <a:r>
              <a:rPr lang="en-US" altLang="zh-CN" sz="2400" dirty="0">
                <a:sym typeface="+mn-lt"/>
              </a:rPr>
              <a:t>0DH</a:t>
            </a:r>
            <a:r>
              <a:rPr lang="zh-CN" altLang="en-US" sz="2400" dirty="0">
                <a:sym typeface="+mn-lt"/>
              </a:rPr>
              <a:t>），则结束程序，若为其他按字符则显示“</a:t>
            </a:r>
            <a:r>
              <a:rPr lang="en-US" altLang="zh-CN" sz="2400" dirty="0">
                <a:sym typeface="+mn-lt"/>
              </a:rPr>
              <a:t>R</a:t>
            </a:r>
            <a:r>
              <a:rPr lang="zh-CN" altLang="en-US" sz="2400" dirty="0">
                <a:sym typeface="+mn-lt"/>
              </a:rPr>
              <a:t>”</a:t>
            </a:r>
            <a:endParaRPr lang="en-US" altLang="zh-CN" sz="2400" dirty="0">
              <a:sym typeface="+mn-lt"/>
            </a:endParaRPr>
          </a:p>
          <a:p>
            <a:r>
              <a:rPr lang="en-US" altLang="zh-CN" sz="2400" dirty="0">
                <a:sym typeface="+mn-lt"/>
              </a:rPr>
              <a:t>     </a:t>
            </a:r>
            <a:r>
              <a:rPr lang="zh-CN" altLang="en-US" sz="2400" dirty="0">
                <a:sym typeface="+mn-lt"/>
              </a:rPr>
              <a:t>键盘输入字符：利用</a:t>
            </a:r>
            <a:r>
              <a:rPr lang="en-US" altLang="zh-CN" sz="2400" dirty="0">
                <a:sym typeface="+mn-lt"/>
              </a:rPr>
              <a:t>DOS</a:t>
            </a:r>
            <a:r>
              <a:rPr lang="zh-CN" altLang="en-US" sz="2400" dirty="0">
                <a:sym typeface="+mn-lt"/>
              </a:rPr>
              <a:t>功能调用的</a:t>
            </a:r>
            <a:r>
              <a:rPr lang="en-US" altLang="zh-CN" sz="2400" dirty="0">
                <a:sym typeface="+mn-lt"/>
              </a:rPr>
              <a:t>07</a:t>
            </a:r>
            <a:r>
              <a:rPr lang="zh-CN" altLang="en-US" sz="2400" dirty="0">
                <a:sym typeface="+mn-lt"/>
              </a:rPr>
              <a:t>号功能</a:t>
            </a:r>
            <a:endParaRPr lang="en-US" altLang="zh-CN" sz="2400" dirty="0">
              <a:sym typeface="+mn-lt"/>
            </a:endParaRPr>
          </a:p>
          <a:p>
            <a:pPr marL="457200" indent="-457200">
              <a:lnSpc>
                <a:spcPct val="150000"/>
              </a:lnSpc>
              <a:buAutoNum type="arabicPeriod" startAt="3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98" y="419787"/>
            <a:ext cx="1677046" cy="179036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4339389" y="0"/>
            <a:ext cx="6153150" cy="6562725"/>
            <a:chOff x="4339389" y="0"/>
            <a:chExt cx="6153150" cy="656272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39389" y="0"/>
              <a:ext cx="6153150" cy="6562725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7017680" y="1348474"/>
              <a:ext cx="511679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000" dirty="0" smtClean="0"/>
                <a:t>0DH?</a:t>
              </a:r>
              <a:endParaRPr lang="zh-CN" altLang="en-US" sz="1000" dirty="0"/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/>
          <a:srcRect l="13497" r="14229"/>
          <a:stretch/>
        </p:blipFill>
        <p:spPr>
          <a:xfrm>
            <a:off x="10235832" y="2895959"/>
            <a:ext cx="1810512" cy="495300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2526D7-99D4-4C36-BFAF-2935CF20E675}"/>
              </a:ext>
            </a:extLst>
          </p:cNvPr>
          <p:cNvSpPr txBox="1"/>
          <p:nvPr/>
        </p:nvSpPr>
        <p:spPr>
          <a:xfrm>
            <a:off x="993505" y="27606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实验九评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讲</a:t>
            </a:r>
          </a:p>
        </p:txBody>
      </p:sp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293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熟悉汇编语言程序设计结构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熟悉汇编语言程序子程序设计方法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了解汇编语言程序设计参数传递方法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5927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4EF0C1B-D8FE-4118-AD8F-23F7973EEA4C}"/>
              </a:ext>
            </a:extLst>
          </p:cNvPr>
          <p:cNvSpPr txBox="1"/>
          <p:nvPr/>
        </p:nvSpPr>
        <p:spPr>
          <a:xfrm>
            <a:off x="1068089" y="860841"/>
            <a:ext cx="41352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1.</a:t>
            </a:r>
            <a:r>
              <a:rPr lang="zh-CN" altLang="en-US" dirty="0">
                <a:solidFill>
                  <a:srgbClr val="00B050"/>
                </a:solidFill>
              </a:rPr>
              <a:t>子程序定义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过程名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proc [near/far]</a:t>
            </a:r>
          </a:p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       </a:t>
            </a:r>
            <a:r>
              <a:rPr lang="zh-CN" altLang="en-US" dirty="0"/>
              <a:t>过程体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en-US" altLang="zh-CN" dirty="0">
                <a:solidFill>
                  <a:schemeClr val="accent1"/>
                </a:solidFill>
              </a:rPr>
              <a:t>RET</a:t>
            </a:r>
          </a:p>
          <a:p>
            <a:r>
              <a:rPr lang="zh-CN" altLang="en-US" dirty="0">
                <a:solidFill>
                  <a:srgbClr val="00B050"/>
                </a:solidFill>
              </a:rPr>
              <a:t>过程名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</a:rPr>
              <a:t>endp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调用程序和过程在统一个代码段，用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near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属性，不在一个代码段用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far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属性，默认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near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C24557-3CBB-438B-8B29-9422510817AC}"/>
              </a:ext>
            </a:extLst>
          </p:cNvPr>
          <p:cNvSpPr/>
          <p:nvPr/>
        </p:nvSpPr>
        <p:spPr>
          <a:xfrm>
            <a:off x="1118890" y="4045236"/>
            <a:ext cx="245451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2.</a:t>
            </a:r>
            <a:r>
              <a:rPr lang="zh-CN" altLang="en-US" dirty="0">
                <a:solidFill>
                  <a:srgbClr val="00B050"/>
                </a:solidFill>
              </a:rPr>
              <a:t>子程序的调用与返回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调用：</a:t>
            </a:r>
            <a:r>
              <a:rPr lang="en-US" altLang="zh-CN" dirty="0">
                <a:solidFill>
                  <a:schemeClr val="accent1"/>
                </a:solidFill>
              </a:rPr>
              <a:t>CALL</a:t>
            </a:r>
          </a:p>
          <a:p>
            <a:r>
              <a:rPr lang="zh-CN" altLang="en-US" dirty="0">
                <a:solidFill>
                  <a:srgbClr val="00B050"/>
                </a:solidFill>
              </a:rPr>
              <a:t>返回：</a:t>
            </a:r>
            <a:r>
              <a:rPr lang="en-US" altLang="zh-CN" dirty="0">
                <a:solidFill>
                  <a:schemeClr val="accent1"/>
                </a:solidFill>
              </a:rPr>
              <a:t>RET</a:t>
            </a: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55B449-3C73-42AE-B5CC-E364AFAC2428}"/>
              </a:ext>
            </a:extLst>
          </p:cNvPr>
          <p:cNvSpPr/>
          <p:nvPr/>
        </p:nvSpPr>
        <p:spPr>
          <a:xfrm>
            <a:off x="5530540" y="868650"/>
            <a:ext cx="2916183" cy="36933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3.</a:t>
            </a:r>
            <a:r>
              <a:rPr lang="zh-CN" altLang="en-US" dirty="0">
                <a:solidFill>
                  <a:srgbClr val="00B050"/>
                </a:solidFill>
              </a:rPr>
              <a:t>子程序的现场保护与恢复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过程名 </a:t>
            </a:r>
            <a:r>
              <a:rPr lang="en-US" altLang="zh-CN" dirty="0">
                <a:solidFill>
                  <a:schemeClr val="accent1"/>
                </a:solidFill>
              </a:rPr>
              <a:t>PROC NEAR</a:t>
            </a:r>
          </a:p>
          <a:p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PUSH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AX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PUSH BX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PUSH CX</a:t>
            </a:r>
          </a:p>
          <a:p>
            <a:r>
              <a:rPr lang="en-US" altLang="zh-CN" dirty="0">
                <a:solidFill>
                  <a:srgbClr val="00B050"/>
                </a:solidFill>
              </a:rPr>
              <a:t>…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POP CX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POP BX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POP AX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RET</a:t>
            </a:r>
          </a:p>
          <a:p>
            <a:r>
              <a:rPr lang="zh-CN" altLang="en-US" dirty="0">
                <a:solidFill>
                  <a:schemeClr val="accent1"/>
                </a:solidFill>
              </a:rPr>
              <a:t>过程名 </a:t>
            </a:r>
            <a:r>
              <a:rPr lang="en-US" altLang="zh-CN" dirty="0">
                <a:solidFill>
                  <a:schemeClr val="accent1"/>
                </a:solidFill>
              </a:rPr>
              <a:t>ENDP</a:t>
            </a: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59649E-E504-48F6-950F-04D698122284}"/>
              </a:ext>
            </a:extLst>
          </p:cNvPr>
          <p:cNvSpPr/>
          <p:nvPr/>
        </p:nvSpPr>
        <p:spPr>
          <a:xfrm>
            <a:off x="5282736" y="4342779"/>
            <a:ext cx="6737742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4.</a:t>
            </a:r>
            <a:r>
              <a:rPr lang="zh-CN" altLang="en-US" dirty="0">
                <a:solidFill>
                  <a:srgbClr val="00B050"/>
                </a:solidFill>
              </a:rPr>
              <a:t>子程序的说明部分：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1</a:t>
            </a:r>
            <a:r>
              <a:rPr lang="zh-CN" altLang="en-US" dirty="0">
                <a:solidFill>
                  <a:srgbClr val="00B050"/>
                </a:solidFill>
              </a:rPr>
              <a:t>）子程序的功能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2</a:t>
            </a:r>
            <a:r>
              <a:rPr lang="zh-CN" altLang="en-US" dirty="0">
                <a:solidFill>
                  <a:srgbClr val="00B050"/>
                </a:solidFill>
              </a:rPr>
              <a:t>）子程序的入口参数：说明子程序运行所需参数及存放位置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3</a:t>
            </a:r>
            <a:r>
              <a:rPr lang="zh-CN" altLang="en-US" dirty="0">
                <a:solidFill>
                  <a:srgbClr val="00B050"/>
                </a:solidFill>
              </a:rPr>
              <a:t>）子程序的出口参数：说明子程序运行结果的参数及存放位置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4</a:t>
            </a:r>
            <a:r>
              <a:rPr lang="zh-CN" altLang="en-US" dirty="0">
                <a:solidFill>
                  <a:srgbClr val="00B050"/>
                </a:solidFill>
              </a:rPr>
              <a:t>）子程序所占用的寄存器和存储单元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5</a:t>
            </a:r>
            <a:r>
              <a:rPr lang="zh-CN" altLang="en-US" dirty="0">
                <a:solidFill>
                  <a:srgbClr val="00B050"/>
                </a:solidFill>
              </a:rPr>
              <a:t>）子程序调用示例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20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4EF0C1B-D8FE-4118-AD8F-23F7973EEA4C}"/>
              </a:ext>
            </a:extLst>
          </p:cNvPr>
          <p:cNvSpPr txBox="1"/>
          <p:nvPr/>
        </p:nvSpPr>
        <p:spPr>
          <a:xfrm>
            <a:off x="1068089" y="860841"/>
            <a:ext cx="92805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5.</a:t>
            </a:r>
            <a:r>
              <a:rPr lang="zh-CN" altLang="en-US" dirty="0">
                <a:solidFill>
                  <a:srgbClr val="00B050"/>
                </a:solidFill>
              </a:rPr>
              <a:t>子程序的参数传递方法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en-US" dirty="0">
                <a:solidFill>
                  <a:srgbClr val="00B050"/>
                </a:solidFill>
              </a:rPr>
              <a:t>）寄存器传递参数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2</a:t>
            </a:r>
            <a:r>
              <a:rPr lang="zh-CN" altLang="en-US" dirty="0">
                <a:solidFill>
                  <a:srgbClr val="00B050"/>
                </a:solidFill>
              </a:rPr>
              <a:t>）存储器单元（变量）传递参数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</a:t>
            </a:r>
            <a:r>
              <a:rPr lang="zh-CN" altLang="en-US" dirty="0">
                <a:solidFill>
                  <a:srgbClr val="00B050"/>
                </a:solidFill>
              </a:rPr>
              <a:t>在主程序调用子程序前，将入口参数存放到约定的存储单元中；子程序运行时到约定的存储单元中读取参数；子程序执行结束后将结果也放在约定存储单元中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3</a:t>
            </a:r>
            <a:r>
              <a:rPr lang="zh-CN" altLang="en-US" dirty="0">
                <a:solidFill>
                  <a:srgbClr val="00B050"/>
                </a:solidFill>
              </a:rPr>
              <a:t>）用堆栈传递参数</a:t>
            </a:r>
            <a:endParaRPr lang="en-US" altLang="zh-C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14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7" y="986715"/>
            <a:ext cx="9770733" cy="5632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完成以下题目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2~1000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范围内的一个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十进制数，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并判断这个数是否为素数，要求分模块编写子程序实现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INPUT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子程序：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功能：实现从键盘输入一个十进制数，并存储在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AX/BX/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某内存单元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….</a:t>
            </a:r>
          </a:p>
          <a:p>
            <a:r>
              <a:rPr lang="zh-CN" altLang="en-US" sz="2400" dirty="0">
                <a:solidFill>
                  <a:srgbClr val="00B050"/>
                </a:solidFill>
              </a:rPr>
              <a:t>   入口参数：无</a:t>
            </a:r>
            <a:endParaRPr lang="en-US" altLang="zh-CN" sz="2400" dirty="0">
              <a:solidFill>
                <a:srgbClr val="00B050"/>
              </a:solidFill>
            </a:endParaRPr>
          </a:p>
          <a:p>
            <a:r>
              <a:rPr lang="zh-CN" altLang="en-US" sz="2400" dirty="0">
                <a:solidFill>
                  <a:srgbClr val="00B050"/>
                </a:solidFill>
                <a:sym typeface="+mn-lt"/>
              </a:rPr>
              <a:t>   出口参数：</a:t>
            </a:r>
            <a:r>
              <a:rPr lang="en-US" altLang="zh-CN" sz="2400" dirty="0">
                <a:solidFill>
                  <a:srgbClr val="00B050"/>
                </a:solidFill>
                <a:sym typeface="+mn-lt"/>
              </a:rPr>
              <a:t>AX /BX/</a:t>
            </a:r>
            <a:r>
              <a:rPr lang="zh-CN" altLang="en-US" sz="2400" dirty="0">
                <a:solidFill>
                  <a:srgbClr val="00B050"/>
                </a:solidFill>
                <a:sym typeface="+mn-lt"/>
              </a:rPr>
              <a:t>某内存单元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….</a:t>
            </a:r>
            <a:endParaRPr lang="en-US" altLang="zh-CN" sz="2400" dirty="0">
              <a:solidFill>
                <a:srgbClr val="00B050"/>
              </a:solidFill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ISPrime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/>
            </a:r>
            <a:b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</a:b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判断***寄存器或内存地址***中存储的数据是否为素数，并将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FLAG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所指向地址置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或者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rgbClr val="00B050"/>
                </a:solidFill>
              </a:rPr>
              <a:t>入口参数：</a:t>
            </a:r>
            <a:r>
              <a:rPr lang="en-US" altLang="zh-CN" sz="2400" dirty="0">
                <a:solidFill>
                  <a:srgbClr val="00B050"/>
                </a:solidFill>
              </a:rPr>
              <a:t>AX</a:t>
            </a:r>
            <a:r>
              <a:rPr lang="zh-CN" altLang="en-US" sz="2400" dirty="0">
                <a:solidFill>
                  <a:srgbClr val="00B050"/>
                </a:solidFill>
              </a:rPr>
              <a:t>（或某个内存地址，或约定的某个寄存器）</a:t>
            </a:r>
            <a:endParaRPr lang="en-US" altLang="zh-CN" sz="2400" dirty="0">
              <a:solidFill>
                <a:srgbClr val="00B050"/>
              </a:solidFill>
            </a:endParaRPr>
          </a:p>
          <a:p>
            <a:r>
              <a:rPr lang="en-US" altLang="zh-CN" sz="2400" dirty="0">
                <a:solidFill>
                  <a:srgbClr val="00B050"/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rgbClr val="00B050"/>
                </a:solidFill>
                <a:cs typeface="+mn-ea"/>
                <a:sym typeface="+mn-lt"/>
              </a:rPr>
              <a:t>出口参数：</a:t>
            </a:r>
            <a:r>
              <a:rPr lang="en-US" altLang="zh-CN" sz="2400" dirty="0">
                <a:solidFill>
                  <a:srgbClr val="00B050"/>
                </a:solidFill>
                <a:cs typeface="+mn-ea"/>
                <a:sym typeface="+mn-lt"/>
              </a:rPr>
              <a:t>FLAG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主程序：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/>
            </a:r>
            <a:b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</a:b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INPUT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---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调用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ISPrime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---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根据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FLAG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值输出相应结果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rgbClr val="00B050"/>
                </a:solidFill>
                <a:cs typeface="+mn-ea"/>
                <a:sym typeface="+mn-lt"/>
              </a:rPr>
              <a:t> 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509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2306</TotalTime>
  <Words>405</Words>
  <Application>Microsoft Office PowerPoint</Application>
  <PresentationFormat>宽屏</PresentationFormat>
  <Paragraphs>65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方正粗谭黑简体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linying</cp:lastModifiedBy>
  <cp:revision>154</cp:revision>
  <dcterms:created xsi:type="dcterms:W3CDTF">2019-06-11T09:29:47Z</dcterms:created>
  <dcterms:modified xsi:type="dcterms:W3CDTF">2023-05-08T03:52:13Z</dcterms:modified>
</cp:coreProperties>
</file>