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9" r:id="rId2"/>
    <p:sldId id="308" r:id="rId3"/>
    <p:sldId id="304" r:id="rId4"/>
    <p:sldId id="276" r:id="rId5"/>
    <p:sldId id="298" r:id="rId6"/>
    <p:sldId id="300" r:id="rId7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o feng" initials="gf" lastIdx="1" clrIdx="0">
    <p:extLst>
      <p:ext uri="{19B8F6BF-5375-455C-9EA6-DF929625EA0E}">
        <p15:presenceInfo xmlns:p15="http://schemas.microsoft.com/office/powerpoint/2012/main" userId="9ea4ce8b2d07d5d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FFD966"/>
    <a:srgbClr val="7F7F7F"/>
    <a:srgbClr val="F8CE7C"/>
    <a:srgbClr val="D0B0A9"/>
    <a:srgbClr val="4C302A"/>
    <a:srgbClr val="B7A784"/>
    <a:srgbClr val="D2836E"/>
    <a:srgbClr val="B59666"/>
    <a:srgbClr val="4B38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 autoAdjust="0"/>
    <p:restoredTop sz="96318" autoAdjust="0"/>
  </p:normalViewPr>
  <p:slideViewPr>
    <p:cSldViewPr snapToGrid="0">
      <p:cViewPr varScale="1">
        <p:scale>
          <a:sx n="157" d="100"/>
          <a:sy n="157" d="100"/>
        </p:scale>
        <p:origin x="702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tags" Target="tags/tag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FC243-3E68-4BFF-A505-ADDF9D7195A4}" type="datetimeFigureOut">
              <a:rPr lang="zh-CN" altLang="en-US" smtClean="0"/>
              <a:t>2023/4/3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7D84A-3049-44F6-8517-64F0971FDD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77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545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112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1092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A646B-F117-4928-A8A2-1716300C3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781FEE-C1F4-469A-9E36-8F4601D2E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552C6-A02E-47D7-A268-DC48634E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2023/4/3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A628B0-905E-46AF-9C51-C2B5AF89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B8A775-5E37-4409-A4E7-F0814E9F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593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B327-6DC4-489C-A130-8CF667D3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6EB504-E0E5-46C5-B6D0-95B1660E2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30CF13-8903-4992-88F7-C55D7F4E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2023/4/3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41C592-991D-4A88-81B0-FA07E26D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6A61AE-DFB6-4E40-B78C-76E64498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82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EF327-DE46-4FD7-851C-CAD5A20A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308B61-6FAC-4108-97CC-3ACD182B9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0CB1DC-8355-42C5-AF00-8E36F02E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2023/4/3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A65AD0-D1B3-49A8-9F94-E603B5BA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33DBE1-743B-438D-92D3-E40E206AC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13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8495710" y="3569750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6DA7060-857A-4930-832C-C09BFD4F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7FF8F7-2B15-4A01-A575-53845FA96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701E7A-8C68-4E20-A803-855BD0F40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615B9C-5EC5-4D9B-B5D9-BB2972780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2023/4/3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2F8F48-9F51-4F97-9DA9-9E015ACE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A7C295-EAAA-41B7-986C-D8AFF63FD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778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0F4CDC-4DFE-4DB1-972E-CE28FCB9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09ECFB-135A-4BF2-82FE-C09909424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914377-BA6A-4199-BDEB-7EFD3B82F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A16539-559F-474B-992A-1331A0355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C14912-C4A7-47EF-A8EC-B0F50FA65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1CC34F-E9B9-4EFD-A3C4-0BA19D4E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2023/4/3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306A62-EAF9-495D-B60F-8B898B61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51980E-AD6D-4890-B2E1-61420E5A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40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66452-93AB-427B-9625-F906CB897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FD17F3-7053-4148-800C-FB4B3C05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2023/4/3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709179-9F05-4ED9-898C-DD1E14C4E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DE3C05-79FC-42A5-B9A2-AC8CCD3D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59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BF4A8C-F0F4-41A6-BF41-876FEF21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2023/4/3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4BE2DC-A408-49B2-A4F8-EE9769AFF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A16DA8-302B-4AE1-AF88-B9CFFEEE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900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40FE9-4853-4B02-9ACB-5CAF1884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8361D0-290C-442A-8B44-B0642C42D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EF0013-B4AF-4C3C-AB98-C192E7C39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A2650F-35B1-4222-8E3D-55C4DBD2B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2023/4/3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E7498D-7297-4B92-A228-86A6C9060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A8D0AA-D078-408B-B714-3CE8EF0C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46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FEBB0-8B3B-410D-A075-42A14BE6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B37B9B3-435A-479F-8455-3BFE235CA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B4E751-9289-4C4E-9418-EE2ED45DD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7B3CBA-A6F8-46D2-B8FE-0FCC383C9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2023/4/3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64EF54-A7CA-4392-9234-4DDE22D7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F75E53-F65D-44C7-939C-A76A1D47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119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16F80-4702-44BD-867F-324A473E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F0CDC5-CE5D-4691-97FD-895FAEEA2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CE9BBA-8B26-464A-893C-B296D43F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2023/4/3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601B33-B587-4FB0-85AB-DDC1F4A3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0712C-C969-4C2A-8ABC-CCD2466F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334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EEDC4F-CF6F-4F5A-B7D5-5DDA55C29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88988E-73BA-47A0-9593-2824B50A4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CE60E4-1A17-46B8-BD11-6895D1EA9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2023/4/3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9CB261-00A7-4DFD-8566-0F34AD0B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1146E0-61EB-40A0-AEB0-9AAA4858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40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alphaModFix amt="6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24FEF5-80E6-49C9-85D6-2BC478298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AF9174-E843-4ABD-B37E-7C4FA3D21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DB30D1-E683-4A0D-B10E-812E5E4C6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FDAE1-EB67-42CF-B593-56AA292DA8C8}" type="datetimeFigureOut">
              <a:rPr lang="zh-CN" altLang="en-US" smtClean="0"/>
              <a:t>2023/4/3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056DC2-E1F5-4995-85FF-140FC7BF9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D04F22-1EEB-4F3C-8EF1-26E3E5B27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243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00EFA96-0182-425D-BCA4-E63B2E97FADD}"/>
              </a:ext>
            </a:extLst>
          </p:cNvPr>
          <p:cNvSpPr/>
          <p:nvPr/>
        </p:nvSpPr>
        <p:spPr>
          <a:xfrm flipH="1">
            <a:off x="11469292" y="6256421"/>
            <a:ext cx="97066" cy="6015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1B4E00B-A59F-40B7-AE12-5CA474CE7727}"/>
              </a:ext>
            </a:extLst>
          </p:cNvPr>
          <p:cNvSpPr/>
          <p:nvPr/>
        </p:nvSpPr>
        <p:spPr>
          <a:xfrm>
            <a:off x="3006189" y="2318083"/>
            <a:ext cx="2221834" cy="222183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6422D18-37EE-4390-A0D0-947CB31C5CD6}"/>
              </a:ext>
            </a:extLst>
          </p:cNvPr>
          <p:cNvSpPr/>
          <p:nvPr/>
        </p:nvSpPr>
        <p:spPr>
          <a:xfrm>
            <a:off x="9228795" y="3200400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95759E0-70EB-4F31-9979-C48DF9140050}"/>
              </a:ext>
            </a:extLst>
          </p:cNvPr>
          <p:cNvSpPr/>
          <p:nvPr/>
        </p:nvSpPr>
        <p:spPr>
          <a:xfrm>
            <a:off x="2744906" y="1382479"/>
            <a:ext cx="4093043" cy="409304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E665AE-D1F7-4530-A01D-8118F2016433}"/>
              </a:ext>
            </a:extLst>
          </p:cNvPr>
          <p:cNvSpPr/>
          <p:nvPr/>
        </p:nvSpPr>
        <p:spPr>
          <a:xfrm>
            <a:off x="3269655" y="2823063"/>
            <a:ext cx="6166377" cy="130035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8000" dirty="0" smtClean="0"/>
              <a:t>实验六</a:t>
            </a:r>
            <a:endParaRPr sz="7500" spc="300" dirty="0">
              <a:solidFill>
                <a:srgbClr val="292929"/>
              </a:solidFill>
              <a:latin typeface="方正粗谭黑简体" panose="02000000000000000000" pitchFamily="2" charset="-122"/>
              <a:ea typeface="方正粗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8238AC-3B1F-4281-98A3-D0FE900CC5AA}"/>
              </a:ext>
            </a:extLst>
          </p:cNvPr>
          <p:cNvSpPr/>
          <p:nvPr/>
        </p:nvSpPr>
        <p:spPr>
          <a:xfrm>
            <a:off x="6659592" y="4101335"/>
            <a:ext cx="4060960" cy="43858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>
              <a:defRPr/>
            </a:pPr>
            <a:r>
              <a:rPr lang="zh-CN" altLang="en-US" sz="2400" spc="225" dirty="0" smtClean="0">
                <a:solidFill>
                  <a:srgbClr val="292929"/>
                </a:solidFill>
                <a:cs typeface="+mn-ea"/>
                <a:sym typeface="+mn-lt"/>
              </a:rPr>
              <a:t>算术及逻辑指令</a:t>
            </a:r>
            <a:r>
              <a:rPr lang="zh-CN" altLang="en-US" sz="2400" spc="225" dirty="0">
                <a:solidFill>
                  <a:srgbClr val="292929"/>
                </a:solidFill>
                <a:cs typeface="+mn-ea"/>
                <a:sym typeface="+mn-lt"/>
              </a:rPr>
              <a:t>操作实验</a:t>
            </a:r>
            <a:endParaRPr sz="2400" spc="225" dirty="0">
              <a:solidFill>
                <a:srgbClr val="292929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2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 animBg="1"/>
      <p:bldP spid="7" grpId="0" animBg="1"/>
      <p:bldP spid="8" grpId="0" animBg="1"/>
      <p:bldP spid="11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32" y="629985"/>
            <a:ext cx="5495544" cy="208565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748272" y="563689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mtClean="0">
                <a:solidFill>
                  <a:srgbClr val="4D4D4D"/>
                </a:solidFill>
                <a:latin typeface="-apple-system"/>
              </a:rPr>
              <a:t>CF</a:t>
            </a:r>
            <a:r>
              <a:rPr lang="zh-CN" altLang="en-US" smtClean="0">
                <a:solidFill>
                  <a:srgbClr val="4D4D4D"/>
                </a:solidFill>
                <a:latin typeface="-apple-system"/>
              </a:rPr>
              <a:t>是无符号数溢出标志，</a:t>
            </a:r>
            <a:r>
              <a:rPr lang="en-US" altLang="zh-CN" smtClean="0">
                <a:solidFill>
                  <a:srgbClr val="4D4D4D"/>
                </a:solidFill>
                <a:latin typeface="-apple-system"/>
              </a:rPr>
              <a:t>OF</a:t>
            </a:r>
            <a:r>
              <a:rPr lang="zh-CN" altLang="en-US" smtClean="0">
                <a:solidFill>
                  <a:srgbClr val="4D4D4D"/>
                </a:solidFill>
                <a:latin typeface="-apple-system"/>
              </a:rPr>
              <a:t>是有符号数溢出标志。</a:t>
            </a:r>
            <a:r>
              <a:rPr lang="zh-CN" altLang="en-US" smtClean="0"/>
              <a:t/>
            </a:r>
            <a:br>
              <a:rPr lang="zh-CN" altLang="en-US" smtClean="0"/>
            </a:br>
            <a:r>
              <a:rPr lang="en-US" altLang="zh-CN" smtClean="0">
                <a:solidFill>
                  <a:srgbClr val="4D4D4D"/>
                </a:solidFill>
                <a:latin typeface="-apple-system"/>
              </a:rPr>
              <a:t>CF</a:t>
            </a:r>
            <a:r>
              <a:rPr lang="zh-CN" altLang="en-US" smtClean="0">
                <a:solidFill>
                  <a:srgbClr val="4D4D4D"/>
                </a:solidFill>
                <a:latin typeface="-apple-system"/>
              </a:rPr>
              <a:t>是判断有无进位</a:t>
            </a:r>
            <a:r>
              <a:rPr lang="en-US" altLang="zh-CN" smtClean="0">
                <a:solidFill>
                  <a:srgbClr val="4D4D4D"/>
                </a:solidFill>
                <a:latin typeface="-apple-system"/>
              </a:rPr>
              <a:t>,</a:t>
            </a:r>
            <a:r>
              <a:rPr lang="zh-CN" altLang="en-US" smtClean="0">
                <a:solidFill>
                  <a:srgbClr val="4D4D4D"/>
                </a:solidFill>
                <a:latin typeface="-apple-system"/>
              </a:rPr>
              <a:t>有进位或者借位时，</a:t>
            </a:r>
            <a:r>
              <a:rPr lang="en-US" altLang="zh-CN" smtClean="0">
                <a:solidFill>
                  <a:srgbClr val="4D4D4D"/>
                </a:solidFill>
                <a:latin typeface="-apple-system"/>
              </a:rPr>
              <a:t>CF=1</a:t>
            </a:r>
            <a:r>
              <a:rPr lang="zh-CN" altLang="en-US" smtClean="0"/>
              <a:t/>
            </a:r>
            <a:br>
              <a:rPr lang="zh-CN" altLang="en-US" smtClean="0"/>
            </a:br>
            <a:r>
              <a:rPr lang="en-US" altLang="zh-CN" smtClean="0">
                <a:solidFill>
                  <a:srgbClr val="4D4D4D"/>
                </a:solidFill>
                <a:latin typeface="-apple-system"/>
              </a:rPr>
              <a:t>OF</a:t>
            </a:r>
            <a:r>
              <a:rPr lang="zh-CN" altLang="en-US" smtClean="0">
                <a:solidFill>
                  <a:srgbClr val="4D4D4D"/>
                </a:solidFill>
                <a:latin typeface="-apple-system"/>
              </a:rPr>
              <a:t>是溢出判断，溢出时，</a:t>
            </a:r>
            <a:r>
              <a:rPr lang="en-US" altLang="zh-CN" smtClean="0">
                <a:solidFill>
                  <a:srgbClr val="4D4D4D"/>
                </a:solidFill>
                <a:latin typeface="-apple-system"/>
              </a:rPr>
              <a:t>OF=1,</a:t>
            </a:r>
            <a:r>
              <a:rPr lang="zh-CN" altLang="en-US" smtClean="0"/>
              <a:t/>
            </a:r>
            <a:br>
              <a:rPr lang="zh-CN" altLang="en-US" smtClean="0"/>
            </a:br>
            <a:r>
              <a:rPr lang="en-US" altLang="zh-CN" smtClean="0">
                <a:solidFill>
                  <a:srgbClr val="4D4D4D"/>
                </a:solidFill>
                <a:latin typeface="-apple-system"/>
              </a:rPr>
              <a:t>ZF</a:t>
            </a:r>
            <a:r>
              <a:rPr lang="zh-CN" altLang="en-US" smtClean="0">
                <a:solidFill>
                  <a:srgbClr val="4D4D4D"/>
                </a:solidFill>
                <a:latin typeface="-apple-system"/>
              </a:rPr>
              <a:t>是判断结果是否为</a:t>
            </a:r>
            <a:r>
              <a:rPr lang="en-US" altLang="zh-CN" smtClean="0">
                <a:solidFill>
                  <a:srgbClr val="4D4D4D"/>
                </a:solidFill>
                <a:latin typeface="-apple-system"/>
              </a:rPr>
              <a:t>0</a:t>
            </a:r>
            <a:r>
              <a:rPr lang="zh-CN" altLang="en-US" smtClean="0">
                <a:solidFill>
                  <a:srgbClr val="4D4D4D"/>
                </a:solidFill>
                <a:latin typeface="-apple-system"/>
              </a:rPr>
              <a:t>，运算结果为</a:t>
            </a:r>
            <a:r>
              <a:rPr lang="en-US" altLang="zh-CN" smtClean="0">
                <a:solidFill>
                  <a:srgbClr val="4D4D4D"/>
                </a:solidFill>
                <a:latin typeface="-apple-system"/>
              </a:rPr>
              <a:t>0</a:t>
            </a:r>
            <a:r>
              <a:rPr lang="zh-CN" altLang="en-US" smtClean="0">
                <a:solidFill>
                  <a:srgbClr val="4D4D4D"/>
                </a:solidFill>
                <a:latin typeface="-apple-system"/>
              </a:rPr>
              <a:t>，则</a:t>
            </a:r>
            <a:r>
              <a:rPr lang="en-US" altLang="zh-CN" smtClean="0">
                <a:solidFill>
                  <a:srgbClr val="4D4D4D"/>
                </a:solidFill>
                <a:latin typeface="-apple-system"/>
              </a:rPr>
              <a:t>ZF=1</a:t>
            </a:r>
            <a:r>
              <a:rPr lang="zh-CN" altLang="en-US" smtClean="0"/>
              <a:t/>
            </a:r>
            <a:br>
              <a:rPr lang="zh-CN" altLang="en-US" smtClean="0"/>
            </a:br>
            <a:r>
              <a:rPr lang="en-US" altLang="zh-CN" smtClean="0">
                <a:solidFill>
                  <a:srgbClr val="4D4D4D"/>
                </a:solidFill>
                <a:latin typeface="-apple-system"/>
              </a:rPr>
              <a:t>SF</a:t>
            </a:r>
            <a:r>
              <a:rPr lang="zh-CN" altLang="en-US" smtClean="0">
                <a:solidFill>
                  <a:srgbClr val="4D4D4D"/>
                </a:solidFill>
                <a:latin typeface="-apple-system"/>
              </a:rPr>
              <a:t>是判断正负数，运算结果为负数，则</a:t>
            </a:r>
            <a:r>
              <a:rPr lang="en-US" altLang="zh-CN" smtClean="0">
                <a:solidFill>
                  <a:srgbClr val="4D4D4D"/>
                </a:solidFill>
                <a:latin typeface="-apple-system"/>
              </a:rPr>
              <a:t>SF=1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17" y="2813098"/>
            <a:ext cx="6896100" cy="12287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17" y="4236815"/>
            <a:ext cx="6657975" cy="85725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7924800" y="2649617"/>
            <a:ext cx="395020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zh-CN" dirty="0" smtClean="0">
                <a:solidFill>
                  <a:srgbClr val="4D4D4D"/>
                </a:solidFill>
                <a:latin typeface="-apple-system"/>
              </a:rPr>
              <a:t>7450h+1234h</a:t>
            </a:r>
            <a:r>
              <a:rPr lang="pt-BR" altLang="zh-CN" dirty="0"/>
              <a:t/>
            </a:r>
            <a:br>
              <a:rPr lang="pt-BR" altLang="zh-CN" dirty="0"/>
            </a:br>
            <a:r>
              <a:rPr lang="pt-BR" altLang="zh-CN" dirty="0">
                <a:solidFill>
                  <a:srgbClr val="4D4D4D"/>
                </a:solidFill>
                <a:latin typeface="-apple-system"/>
              </a:rPr>
              <a:t>7450h= 0111 0100 0101 0000 +</a:t>
            </a:r>
            <a:r>
              <a:rPr lang="pt-BR" altLang="zh-CN" dirty="0"/>
              <a:t/>
            </a:r>
            <a:br>
              <a:rPr lang="pt-BR" altLang="zh-CN" dirty="0"/>
            </a:br>
            <a:r>
              <a:rPr lang="pt-BR" altLang="zh-CN" dirty="0">
                <a:solidFill>
                  <a:srgbClr val="4D4D4D"/>
                </a:solidFill>
                <a:latin typeface="-apple-system"/>
              </a:rPr>
              <a:t>1234h= 0001 0010 0011 0100 </a:t>
            </a:r>
            <a:endParaRPr lang="pt-BR" altLang="zh-CN" dirty="0" smtClean="0">
              <a:solidFill>
                <a:srgbClr val="4D4D4D"/>
              </a:solidFill>
              <a:latin typeface="-apple-system"/>
            </a:endParaRPr>
          </a:p>
          <a:p>
            <a:r>
              <a:rPr lang="pt-BR" altLang="zh-CN" dirty="0"/>
              <a:t/>
            </a:r>
            <a:br>
              <a:rPr lang="pt-BR" altLang="zh-CN" dirty="0"/>
            </a:br>
            <a:r>
              <a:rPr lang="pt-BR" altLang="zh-CN" dirty="0">
                <a:solidFill>
                  <a:srgbClr val="4D4D4D"/>
                </a:solidFill>
                <a:latin typeface="-apple-system"/>
              </a:rPr>
              <a:t>8684h= 1000 0110 1000 0100</a:t>
            </a:r>
            <a:r>
              <a:rPr lang="pt-BR" altLang="zh-CN" dirty="0"/>
              <a:t/>
            </a:r>
            <a:br>
              <a:rPr lang="pt-BR" altLang="zh-CN" dirty="0"/>
            </a:br>
            <a:r>
              <a:rPr lang="pt-BR" altLang="zh-CN" b="1" dirty="0">
                <a:solidFill>
                  <a:srgbClr val="4D4D4D"/>
                </a:solidFill>
                <a:latin typeface="-apple-system"/>
              </a:rPr>
              <a:t>SF,ZF,CF,OF=1001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585216" y="17678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实验五评讲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0551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014" y="-740286"/>
            <a:ext cx="7015162" cy="759828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0" y="549794"/>
            <a:ext cx="4572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3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 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Data1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Data2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是两个三字节的无符号整数，尝试编写汇编程序计算得到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Data1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Data2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的和，将结果存到</a:t>
            </a:r>
            <a:r>
              <a:rPr lang="zh-CN" altLang="en-US" sz="2400" dirty="0"/>
              <a:t>以</a:t>
            </a:r>
            <a:r>
              <a:rPr lang="en-US" altLang="zh-CN" sz="2400" dirty="0" err="1"/>
              <a:t>ans</a:t>
            </a:r>
            <a:r>
              <a:rPr lang="zh-CN" altLang="en-US" sz="2400" dirty="0"/>
              <a:t>为首地址的缓冲器区中 假如</a:t>
            </a:r>
            <a:r>
              <a:rPr lang="en-US" altLang="zh-CN" sz="2400" dirty="0"/>
              <a:t>Data1 </a:t>
            </a:r>
            <a:r>
              <a:rPr lang="zh-CN" altLang="en-US" sz="2400" dirty="0"/>
              <a:t>存放的数据为 </a:t>
            </a:r>
            <a:r>
              <a:rPr lang="en-US" altLang="zh-CN" sz="2400" dirty="0"/>
              <a:t>0FFEEDDH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Data2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102236H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，则结果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101113H</a:t>
            </a:r>
          </a:p>
        </p:txBody>
      </p:sp>
    </p:spTree>
    <p:extLst>
      <p:ext uri="{BB962C8B-B14F-4D97-AF65-F5344CB8AC3E}">
        <p14:creationId xmlns:p14="http://schemas.microsoft.com/office/powerpoint/2010/main" val="1628169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目的要求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1374187" y="1443915"/>
            <a:ext cx="10668288" cy="3046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熟悉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无符号数和有符号数乘法和除法指令的使用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掌握无符号位扩展指令的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使用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掌握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逻辑指令的使用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210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知识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点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1224062" y="889169"/>
            <a:ext cx="10668288" cy="4524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加减法处理指令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	ADD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ADC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SUB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 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SBB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INC, CMP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 startAt="2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乘除法指令和符号扩展位指令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	MUL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IMUL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DIV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IDIV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CBW, CWD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	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3. 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逻辑指令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 AND, OR, NOT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91258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bldLvl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实验内容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860841"/>
            <a:ext cx="9031054" cy="618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lang="zh-CN" altLang="en-US" sz="2400" dirty="0" smtClean="0"/>
              <a:t>计算</a:t>
            </a:r>
            <a:r>
              <a:rPr lang="zh-CN" altLang="en-US" sz="2400" dirty="0"/>
              <a:t>（</a:t>
            </a:r>
            <a:r>
              <a:rPr lang="en-US" altLang="zh-CN" sz="2400" dirty="0"/>
              <a:t>V-</a:t>
            </a:r>
            <a:r>
              <a:rPr lang="zh-CN" altLang="en-US" sz="2400" dirty="0"/>
              <a:t>（</a:t>
            </a:r>
            <a:r>
              <a:rPr lang="en-US" altLang="zh-CN" sz="2400" dirty="0"/>
              <a:t>X*Y+Z-540))/X</a:t>
            </a:r>
            <a:r>
              <a:rPr lang="zh-CN" altLang="en-US" sz="2400" dirty="0"/>
              <a:t>，其中</a:t>
            </a:r>
            <a:r>
              <a:rPr lang="en-US" altLang="zh-CN" sz="2400" dirty="0"/>
              <a:t>X</a:t>
            </a:r>
            <a:r>
              <a:rPr lang="zh-CN" altLang="en-US" sz="2400" dirty="0"/>
              <a:t>、</a:t>
            </a:r>
            <a:r>
              <a:rPr lang="en-US" altLang="zh-CN" sz="2400" dirty="0"/>
              <a:t>Y</a:t>
            </a:r>
            <a:r>
              <a:rPr lang="zh-CN" altLang="en-US" sz="2400" dirty="0"/>
              <a:t>、</a:t>
            </a:r>
            <a:r>
              <a:rPr lang="en-US" altLang="zh-CN" sz="2400" dirty="0"/>
              <a:t>Z</a:t>
            </a:r>
            <a:r>
              <a:rPr lang="zh-CN" altLang="en-US" sz="2400" dirty="0"/>
              <a:t>、</a:t>
            </a:r>
            <a:r>
              <a:rPr lang="en-US" altLang="zh-CN" sz="2400" dirty="0"/>
              <a:t>V</a:t>
            </a:r>
            <a:r>
              <a:rPr lang="zh-CN" altLang="en-US" sz="2400" dirty="0"/>
              <a:t>均为</a:t>
            </a:r>
            <a:r>
              <a:rPr lang="en-US" altLang="zh-CN" sz="2400" dirty="0"/>
              <a:t>16</a:t>
            </a:r>
            <a:r>
              <a:rPr lang="zh-CN" altLang="en-US" sz="2400" dirty="0"/>
              <a:t>位带符号数，假设初始数据分别装入</a:t>
            </a:r>
            <a:r>
              <a:rPr lang="en-US" altLang="zh-CN" sz="2400" dirty="0"/>
              <a:t>X</a:t>
            </a:r>
            <a:r>
              <a:rPr lang="zh-CN" altLang="en-US" sz="2400" dirty="0"/>
              <a:t>，</a:t>
            </a:r>
            <a:r>
              <a:rPr lang="en-US" altLang="zh-CN" sz="2400" dirty="0"/>
              <a:t>Y</a:t>
            </a:r>
            <a:r>
              <a:rPr lang="zh-CN" altLang="en-US" sz="2400" dirty="0"/>
              <a:t>，</a:t>
            </a:r>
            <a:r>
              <a:rPr lang="en-US" altLang="zh-CN" sz="2400" dirty="0"/>
              <a:t>Z</a:t>
            </a:r>
            <a:r>
              <a:rPr lang="zh-CN" altLang="en-US" sz="2400" dirty="0"/>
              <a:t>，</a:t>
            </a:r>
            <a:r>
              <a:rPr lang="en-US" altLang="zh-CN" sz="2400" dirty="0"/>
              <a:t>V</a:t>
            </a:r>
            <a:r>
              <a:rPr lang="zh-CN" altLang="en-US" sz="2400" dirty="0"/>
              <a:t>单元，要求将计算的结果放入以</a:t>
            </a:r>
            <a:r>
              <a:rPr lang="en-US" altLang="zh-CN" sz="2400" dirty="0" err="1"/>
              <a:t>ans</a:t>
            </a:r>
            <a:r>
              <a:rPr lang="zh-CN" altLang="en-US" sz="2400" dirty="0"/>
              <a:t>为首地址的缓冲器区</a:t>
            </a:r>
            <a:r>
              <a:rPr lang="zh-CN" altLang="en-US" sz="2400" dirty="0" smtClean="0"/>
              <a:t>中</a:t>
            </a:r>
            <a:endParaRPr lang="en-US" altLang="zh-CN" sz="2400" dirty="0" smtClean="0"/>
          </a:p>
          <a:p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lang="zh-CN" altLang="en-US" sz="2400" dirty="0" smtClean="0"/>
              <a:t>编写一个汇编程序，要求从键盘中输入一个小写字母，将其转换为对应的大写字母后输出。</a:t>
            </a:r>
            <a:endParaRPr lang="en-US" altLang="zh-CN" sz="2400" dirty="0" smtClean="0"/>
          </a:p>
          <a:p>
            <a:pPr>
              <a:lnSpc>
                <a:spcPct val="150000"/>
              </a:lnSpc>
            </a:pPr>
            <a:r>
              <a:rPr lang="en-US" altLang="zh-CN" sz="2400" dirty="0" smtClean="0"/>
              <a:t>     </a:t>
            </a:r>
            <a:r>
              <a:rPr lang="zh-CN" altLang="en-US" sz="2400" dirty="0" smtClean="0"/>
              <a:t>例如输入： </a:t>
            </a:r>
            <a:r>
              <a:rPr lang="en-US" altLang="zh-CN" sz="2400" dirty="0" smtClean="0"/>
              <a:t>a       </a:t>
            </a:r>
            <a:r>
              <a:rPr lang="zh-CN" altLang="en-US" sz="2400" dirty="0" smtClean="0"/>
              <a:t>输出 </a:t>
            </a:r>
            <a:r>
              <a:rPr lang="en-US" altLang="zh-CN" sz="2400" dirty="0" smtClean="0"/>
              <a:t>A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    </a:t>
            </a:r>
            <a:r>
              <a:rPr lang="zh-CN" altLang="en-US" sz="2400" dirty="0" smtClean="0"/>
              <a:t>提示： 观察大小写字符</a:t>
            </a:r>
            <a:r>
              <a:rPr lang="en-US" altLang="zh-CN" sz="2400" dirty="0" err="1" smtClean="0"/>
              <a:t>ascii</a:t>
            </a:r>
            <a:r>
              <a:rPr lang="zh-CN" altLang="en-US" sz="2400" dirty="0" smtClean="0"/>
              <a:t>值之间的规律，可以利用加减法运算，也可以利用逻辑运算进行操作  ，要求至少利用一种方法</a:t>
            </a:r>
            <a:endParaRPr lang="en-US" altLang="zh-CN" sz="2400" dirty="0" smtClean="0"/>
          </a:p>
          <a:p>
            <a:pPr>
              <a:lnSpc>
                <a:spcPct val="150000"/>
              </a:lnSpc>
            </a:pPr>
            <a:r>
              <a:rPr lang="en-US" altLang="zh-CN" sz="2400" dirty="0" smtClean="0"/>
              <a:t>3. </a:t>
            </a:r>
            <a:r>
              <a:rPr lang="zh-CN" altLang="en-US" sz="2400" dirty="0" smtClean="0"/>
              <a:t>（选做）预习循环指令，尝试不用乘法</a:t>
            </a:r>
            <a:r>
              <a:rPr lang="zh-CN" altLang="en-US" sz="2400" dirty="0"/>
              <a:t>指令</a:t>
            </a:r>
            <a:r>
              <a:rPr lang="zh-CN" altLang="en-US" sz="2400" dirty="0" smtClean="0"/>
              <a:t>计算 </a:t>
            </a:r>
            <a:r>
              <a:rPr lang="en-US" altLang="zh-CN" sz="2400" dirty="0" smtClean="0"/>
              <a:t>AX*21</a:t>
            </a:r>
            <a:r>
              <a:rPr lang="zh-CN" altLang="en-US" sz="2400" dirty="0" smtClean="0"/>
              <a:t>的结果，假设计算结果不超过</a:t>
            </a:r>
            <a:r>
              <a:rPr lang="en-US" altLang="zh-CN" sz="2400" dirty="0" smtClean="0"/>
              <a:t>16</a:t>
            </a:r>
            <a:r>
              <a:rPr lang="zh-CN" altLang="en-US" sz="2400" dirty="0"/>
              <a:t>位</a:t>
            </a:r>
            <a:endParaRPr lang="en-US" altLang="zh-CN" sz="2400" dirty="0" smtClean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 </a:t>
            </a:r>
            <a:endParaRPr lang="en-US" altLang="zh-CN" sz="2400" dirty="0" smtClean="0"/>
          </a:p>
        </p:txBody>
      </p:sp>
    </p:spTree>
    <p:extLst>
      <p:ext uri="{BB962C8B-B14F-4D97-AF65-F5344CB8AC3E}">
        <p14:creationId xmlns:p14="http://schemas.microsoft.com/office/powerpoint/2010/main" val="1958541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述职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h3yr22">
      <a:majorFont>
        <a:latin typeface="Arial" panose="020F0302020204030204"/>
        <a:ea typeface="微软雅黑"/>
        <a:cs typeface=""/>
      </a:majorFont>
      <a:minorFont>
        <a:latin typeface="Arial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1867</TotalTime>
  <Words>260</Words>
  <Application>Microsoft Office PowerPoint</Application>
  <PresentationFormat>宽屏</PresentationFormat>
  <Paragraphs>29</Paragraphs>
  <Slides>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-apple-system</vt:lpstr>
      <vt:lpstr>等线</vt:lpstr>
      <vt:lpstr>方正粗谭黑简体</vt:lpstr>
      <vt:lpstr>宋体</vt:lpstr>
      <vt:lpstr>微软雅黑</vt:lpstr>
      <vt:lpstr>Arial</vt:lpstr>
      <vt:lpstr>Calibri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简洁述职报告</dc:title>
  <dc:creator>第一PPT</dc:creator>
  <cp:keywords>www.1ppt.com</cp:keywords>
  <dc:description>www.1ppt.com</dc:description>
  <cp:lastModifiedBy>Guo feng</cp:lastModifiedBy>
  <cp:revision>116</cp:revision>
  <dcterms:created xsi:type="dcterms:W3CDTF">2019-06-11T09:29:47Z</dcterms:created>
  <dcterms:modified xsi:type="dcterms:W3CDTF">2023-04-03T02:56:28Z</dcterms:modified>
</cp:coreProperties>
</file>