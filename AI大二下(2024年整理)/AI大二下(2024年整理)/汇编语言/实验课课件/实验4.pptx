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9" r:id="rId2"/>
    <p:sldId id="276" r:id="rId3"/>
    <p:sldId id="300" r:id="rId4"/>
    <p:sldId id="295" r:id="rId5"/>
    <p:sldId id="331" r:id="rId6"/>
    <p:sldId id="332" r:id="rId7"/>
    <p:sldId id="335" r:id="rId8"/>
    <p:sldId id="333" r:id="rId9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FFD966"/>
    <a:srgbClr val="7F7F7F"/>
    <a:srgbClr val="F8CE7C"/>
    <a:srgbClr val="D0B0A9"/>
    <a:srgbClr val="4C302A"/>
    <a:srgbClr val="B7A784"/>
    <a:srgbClr val="D2836E"/>
    <a:srgbClr val="B59666"/>
    <a:srgbClr val="4B38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2" autoAdjust="0"/>
    <p:restoredTop sz="96318" autoAdjust="0"/>
  </p:normalViewPr>
  <p:slideViewPr>
    <p:cSldViewPr snapToGrid="0">
      <p:cViewPr varScale="1">
        <p:scale>
          <a:sx n="67" d="100"/>
          <a:sy n="67" d="100"/>
        </p:scale>
        <p:origin x="8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DFC243-3E68-4BFF-A505-ADDF9D7195A4}" type="datetimeFigureOut">
              <a:rPr lang="zh-CN" altLang="en-US" smtClean="0"/>
              <a:t>2023/3/20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7D84A-3049-44F6-8517-64F0971FDD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773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545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112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767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8167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A646B-F117-4928-A8A2-1716300C3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781FEE-C1F4-469A-9E36-8F4601D2E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8552C6-A02E-47D7-A268-DC48634E3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2023/3/20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A628B0-905E-46AF-9C51-C2B5AF892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B8A775-5E37-4409-A4E7-F0814E9F7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593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9B327-6DC4-489C-A130-8CF667D3C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6EB504-E0E5-46C5-B6D0-95B1660E2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30CF13-8903-4992-88F7-C55D7F4E7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2023/3/20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41C592-991D-4A88-81B0-FA07E26D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6A61AE-DFB6-4E40-B78C-76E64498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824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CEF327-DE46-4FD7-851C-CAD5A20AC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308B61-6FAC-4108-97CC-3ACD182B9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0CB1DC-8355-42C5-AF00-8E36F02E5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2023/3/20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A65AD0-D1B3-49A8-9F94-E603B5BA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33DBE1-743B-438D-92D3-E40E206AC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13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8495710" y="3569750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6DA7060-857A-4930-832C-C09BFD4FC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7FF8F7-2B15-4A01-A575-53845FA96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701E7A-8C68-4E20-A803-855BD0F40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615B9C-5EC5-4D9B-B5D9-BB2972780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2023/3/20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2F8F48-9F51-4F97-9DA9-9E015ACE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A7C295-EAAA-41B7-986C-D8AFF63FD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778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0F4CDC-4DFE-4DB1-972E-CE28FCB9A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09ECFB-135A-4BF2-82FE-C09909424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914377-BA6A-4199-BDEB-7EFD3B82F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A16539-559F-474B-992A-1331A0355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C14912-C4A7-47EF-A8EC-B0F50FA65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1CC34F-E9B9-4EFD-A3C4-0BA19D4EA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2023/3/20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306A62-EAF9-495D-B60F-8B898B61F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51980E-AD6D-4890-B2E1-61420E5AA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40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66452-93AB-427B-9625-F906CB897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FD17F3-7053-4148-800C-FB4B3C05E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2023/3/20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709179-9F05-4ED9-898C-DD1E14C4E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DE3C05-79FC-42A5-B9A2-AC8CCD3D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590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BF4A8C-F0F4-41A6-BF41-876FEF21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2023/3/20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4BE2DC-A408-49B2-A4F8-EE9769AFF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A16DA8-302B-4AE1-AF88-B9CFFEEEB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900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40FE9-4853-4B02-9ACB-5CAF18847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8361D0-290C-442A-8B44-B0642C42D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EF0013-B4AF-4C3C-AB98-C192E7C39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A2650F-35B1-4222-8E3D-55C4DBD2B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2023/3/20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E7498D-7297-4B92-A228-86A6C9060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A8D0AA-D078-408B-B714-3CE8EF0C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467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FEBB0-8B3B-410D-A075-42A14BE62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B37B9B3-435A-479F-8455-3BFE235CA0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B4E751-9289-4C4E-9418-EE2ED45DD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7B3CBA-A6F8-46D2-B8FE-0FCC383C9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2023/3/20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64EF54-A7CA-4392-9234-4DDE22D7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F75E53-F65D-44C7-939C-A76A1D47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119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16F80-4702-44BD-867F-324A473EA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F0CDC5-CE5D-4691-97FD-895FAEEA2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CE9BBA-8B26-464A-893C-B296D43F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2023/3/20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601B33-B587-4FB0-85AB-DDC1F4A3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10712C-C969-4C2A-8ABC-CCD2466F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334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5EEDC4F-CF6F-4F5A-B7D5-5DDA55C29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88988E-73BA-47A0-9593-2824B50A4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CE60E4-1A17-46B8-BD11-6895D1EA9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2023/3/20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9CB261-00A7-4DFD-8566-0F34AD0B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1146E0-61EB-40A0-AEB0-9AAA4858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40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screen">
            <a:alphaModFix amt="6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F24FEF5-80E6-49C9-85D6-2BC478298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AF9174-E843-4ABD-B37E-7C4FA3D21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DB30D1-E683-4A0D-B10E-812E5E4C6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FDAE1-EB67-42CF-B593-56AA292DA8C8}" type="datetimeFigureOut">
              <a:rPr lang="zh-CN" altLang="en-US" smtClean="0"/>
              <a:t>2023/3/20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056DC2-E1F5-4995-85FF-140FC7BF9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D04F22-1EEB-4F3C-8EF1-26E3E5B27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243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00EFA96-0182-425D-BCA4-E63B2E97FADD}"/>
              </a:ext>
            </a:extLst>
          </p:cNvPr>
          <p:cNvSpPr/>
          <p:nvPr/>
        </p:nvSpPr>
        <p:spPr>
          <a:xfrm flipH="1">
            <a:off x="11469292" y="6256421"/>
            <a:ext cx="97066" cy="6015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1B4E00B-A59F-40B7-AE12-5CA474CE7727}"/>
              </a:ext>
            </a:extLst>
          </p:cNvPr>
          <p:cNvSpPr/>
          <p:nvPr/>
        </p:nvSpPr>
        <p:spPr>
          <a:xfrm>
            <a:off x="3006189" y="2318083"/>
            <a:ext cx="2221834" cy="222183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6422D18-37EE-4390-A0D0-947CB31C5CD6}"/>
              </a:ext>
            </a:extLst>
          </p:cNvPr>
          <p:cNvSpPr/>
          <p:nvPr/>
        </p:nvSpPr>
        <p:spPr>
          <a:xfrm>
            <a:off x="9228795" y="3200400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95759E0-70EB-4F31-9979-C48DF9140050}"/>
              </a:ext>
            </a:extLst>
          </p:cNvPr>
          <p:cNvSpPr/>
          <p:nvPr/>
        </p:nvSpPr>
        <p:spPr>
          <a:xfrm>
            <a:off x="2744906" y="1382479"/>
            <a:ext cx="4093043" cy="409304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E665AE-D1F7-4530-A01D-8118F2016433}"/>
              </a:ext>
            </a:extLst>
          </p:cNvPr>
          <p:cNvSpPr/>
          <p:nvPr/>
        </p:nvSpPr>
        <p:spPr>
          <a:xfrm>
            <a:off x="3269655" y="2823063"/>
            <a:ext cx="6166377" cy="130035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8000" dirty="0" smtClean="0"/>
              <a:t>实验</a:t>
            </a:r>
            <a:r>
              <a:rPr lang="zh-CN" altLang="en-US" sz="8000" dirty="0"/>
              <a:t>四</a:t>
            </a:r>
            <a:endParaRPr sz="7500" spc="300" dirty="0">
              <a:solidFill>
                <a:srgbClr val="292929"/>
              </a:solidFill>
              <a:latin typeface="方正粗谭黑简体" panose="02000000000000000000" pitchFamily="2" charset="-122"/>
              <a:ea typeface="方正粗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8238AC-3B1F-4281-98A3-D0FE900CC5AA}"/>
              </a:ext>
            </a:extLst>
          </p:cNvPr>
          <p:cNvSpPr/>
          <p:nvPr/>
        </p:nvSpPr>
        <p:spPr>
          <a:xfrm>
            <a:off x="5999198" y="4101335"/>
            <a:ext cx="4721354" cy="992579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>
              <a:defRPr/>
            </a:pPr>
            <a:r>
              <a:rPr lang="zh-CN" altLang="en-US" sz="2400" dirty="0" smtClean="0"/>
              <a:t>寻址方式</a:t>
            </a:r>
            <a:endParaRPr lang="en-US" altLang="zh-CN" sz="2400" dirty="0"/>
          </a:p>
          <a:p>
            <a:pPr algn="ctr">
              <a:defRPr/>
            </a:pPr>
            <a:r>
              <a:rPr lang="zh-CN" altLang="en-US" dirty="0">
                <a:sym typeface="+mn-lt"/>
              </a:rPr>
              <a:t>林颖</a:t>
            </a:r>
            <a:endParaRPr lang="en-US" altLang="zh-CN" dirty="0">
              <a:sym typeface="+mn-lt"/>
            </a:endParaRPr>
          </a:p>
          <a:p>
            <a:pPr algn="ctr">
              <a:defRPr/>
            </a:pPr>
            <a:r>
              <a:rPr lang="en-US" altLang="zh-CN" dirty="0">
                <a:sym typeface="+mn-lt"/>
              </a:rPr>
              <a:t>linying@xmu.edu.cn</a:t>
            </a:r>
            <a:endParaRPr dirty="0"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2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" grpId="0" animBg="1"/>
      <p:bldP spid="7" grpId="0" animBg="1"/>
      <p:bldP spid="8" grpId="0" animBg="1"/>
      <p:bldP spid="11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22421" y="317764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latin typeface="+mj-lt"/>
                <a:ea typeface="+mj-ea"/>
                <a:cs typeface="+mj-cs"/>
                <a:sym typeface="+mn-lt"/>
              </a:rPr>
              <a:t>实验目的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784398" y="1374904"/>
            <a:ext cx="9031054" cy="3785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1.</a:t>
            </a:r>
            <a:r>
              <a:rPr lang="zh-CN" altLang="en-US" sz="2400" dirty="0" smtClean="0"/>
              <a:t>熟悉</a:t>
            </a:r>
            <a:r>
              <a:rPr lang="zh-CN" altLang="en-US" sz="2400" dirty="0"/>
              <a:t>掌握汇编语言的程序结构，能正确书写数据段、代码段等</a:t>
            </a:r>
          </a:p>
          <a:p>
            <a:r>
              <a:rPr lang="en-US" altLang="zh-CN" sz="2400" dirty="0" smtClean="0"/>
              <a:t>2</a:t>
            </a:r>
            <a:r>
              <a:rPr lang="zh-CN" altLang="en-US" sz="2400" dirty="0" smtClean="0"/>
              <a:t>，利用</a:t>
            </a:r>
            <a:r>
              <a:rPr lang="en-US" altLang="zh-CN" sz="2400" dirty="0"/>
              <a:t>debug</a:t>
            </a:r>
            <a:r>
              <a:rPr lang="zh-CN" altLang="en-US" sz="2400" dirty="0"/>
              <a:t>功能，查看寄存器（</a:t>
            </a:r>
            <a:r>
              <a:rPr lang="en-US" altLang="zh-CN" sz="2400" dirty="0"/>
              <a:t>CS,IP,AX,DS..)</a:t>
            </a:r>
            <a:r>
              <a:rPr lang="zh-CN" altLang="en-US" sz="2400" dirty="0"/>
              <a:t>及数据段的内容变化，熟悉并了解程序调试方法，并认真观察、判断每条指令执行的结果是否正确。</a:t>
            </a:r>
          </a:p>
          <a:p>
            <a:r>
              <a:rPr lang="en-US" altLang="zh-CN" sz="2400" dirty="0" smtClean="0"/>
              <a:t>3.</a:t>
            </a:r>
            <a:r>
              <a:rPr lang="zh-CN" altLang="en-US" sz="2400" dirty="0" smtClean="0"/>
              <a:t>熟悉</a:t>
            </a:r>
            <a:r>
              <a:rPr lang="zh-CN" altLang="en-US" sz="2400" dirty="0"/>
              <a:t>各种寻址方式的</a:t>
            </a:r>
            <a:r>
              <a:rPr lang="zh-CN" altLang="en-US" sz="2400" dirty="0" smtClean="0"/>
              <a:t>使用</a:t>
            </a:r>
            <a:endParaRPr lang="en-US" altLang="zh-CN" sz="2400" dirty="0" smtClean="0"/>
          </a:p>
          <a:p>
            <a:endParaRPr lang="en-US" altLang="zh-CN" sz="2400" dirty="0"/>
          </a:p>
          <a:p>
            <a:endParaRPr lang="en-US" altLang="zh-CN" sz="2400" dirty="0" smtClean="0"/>
          </a:p>
          <a:p>
            <a:r>
              <a:rPr lang="en-US" altLang="zh-CN" sz="2400" dirty="0" smtClean="0"/>
              <a:t>debug   example1.exe</a:t>
            </a:r>
          </a:p>
          <a:p>
            <a:endParaRPr lang="en-US" altLang="zh-CN" sz="2400" dirty="0"/>
          </a:p>
          <a:p>
            <a:endParaRPr lang="en-US" altLang="zh-CN" sz="2400" dirty="0" smtClean="0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52103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23950" y="159543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常用寻址方式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809625" y="2944814"/>
            <a:ext cx="10248900" cy="4351338"/>
          </a:xfrm>
        </p:spPr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立即寻址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方式    </a:t>
            </a:r>
            <a:r>
              <a:rPr lang="en-US" altLang="zh-CN" dirty="0" err="1" smtClean="0">
                <a:latin typeface="黑体" panose="02010609060101010101" pitchFamily="49" charset="-122"/>
                <a:ea typeface="黑体" panose="02010609060101010101" pitchFamily="49" charset="-122"/>
              </a:rPr>
              <a:t>mov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ax,9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寄存器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寻址方式  </a:t>
            </a:r>
            <a:r>
              <a:rPr lang="en-US" altLang="zh-CN" dirty="0" err="1" smtClean="0">
                <a:latin typeface="黑体" panose="02010609060101010101" pitchFamily="49" charset="-122"/>
                <a:ea typeface="黑体" panose="02010609060101010101" pitchFamily="49" charset="-122"/>
              </a:rPr>
              <a:t>mov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dirty="0" err="1" smtClean="0">
                <a:latin typeface="黑体" panose="02010609060101010101" pitchFamily="49" charset="-122"/>
                <a:ea typeface="黑体" panose="02010609060101010101" pitchFamily="49" charset="-122"/>
              </a:rPr>
              <a:t>ax,bx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直接寻址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方式   </a:t>
            </a:r>
            <a:endParaRPr lang="en-US" altLang="zh-CN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en-US" altLang="zh-CN" dirty="0" err="1" smtClean="0">
                <a:latin typeface="黑体" panose="02010609060101010101" pitchFamily="49" charset="-122"/>
                <a:ea typeface="黑体" panose="02010609060101010101" pitchFamily="49" charset="-122"/>
              </a:rPr>
              <a:t>mov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dirty="0" err="1" smtClean="0">
                <a:latin typeface="黑体" panose="02010609060101010101" pitchFamily="49" charset="-122"/>
                <a:ea typeface="黑体" panose="02010609060101010101" pitchFamily="49" charset="-122"/>
              </a:rPr>
              <a:t>ax,valuex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dirty="0" err="1" smtClean="0">
                <a:latin typeface="黑体" panose="02010609060101010101" pitchFamily="49" charset="-122"/>
                <a:ea typeface="黑体" panose="02010609060101010101" pitchFamily="49" charset="-122"/>
              </a:rPr>
              <a:t>mov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ax,[</a:t>
            </a:r>
            <a:r>
              <a:rPr lang="en-US" altLang="zh-CN" dirty="0" err="1" smtClean="0">
                <a:latin typeface="黑体" panose="02010609060101010101" pitchFamily="49" charset="-122"/>
                <a:ea typeface="黑体" panose="02010609060101010101" pitchFamily="49" charset="-122"/>
              </a:rPr>
              <a:t>valuex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]  </a:t>
            </a:r>
            <a:r>
              <a:rPr lang="en-US" altLang="zh-CN" dirty="0" err="1" smtClean="0">
                <a:latin typeface="黑体" panose="02010609060101010101" pitchFamily="49" charset="-122"/>
                <a:ea typeface="黑体" panose="02010609060101010101" pitchFamily="49" charset="-122"/>
              </a:rPr>
              <a:t>mov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ax, </a:t>
            </a:r>
            <a:r>
              <a:rPr lang="en-US" altLang="zh-CN" dirty="0" err="1" smtClean="0">
                <a:latin typeface="黑体" panose="02010609060101010101" pitchFamily="49" charset="-122"/>
                <a:ea typeface="黑体" panose="02010609060101010101" pitchFamily="49" charset="-122"/>
              </a:rPr>
              <a:t>valuey</a:t>
            </a:r>
            <a:endParaRPr lang="en-US" altLang="zh-CN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en-US" altLang="zh-CN" dirty="0" err="1" smtClean="0">
                <a:latin typeface="黑体" panose="02010609060101010101" pitchFamily="49" charset="-122"/>
                <a:ea typeface="黑体" panose="02010609060101010101" pitchFamily="49" charset="-122"/>
              </a:rPr>
              <a:t>Mov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ax,[2000h]   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dirty="0" err="1" smtClean="0">
                <a:latin typeface="黑体" panose="02010609060101010101" pitchFamily="49" charset="-122"/>
                <a:ea typeface="黑体" panose="02010609060101010101" pitchFamily="49" charset="-122"/>
              </a:rPr>
              <a:t>mov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 al,[2000h]   </a:t>
            </a:r>
            <a:r>
              <a:rPr lang="en-US" altLang="zh-CN" dirty="0" err="1" smtClean="0">
                <a:latin typeface="黑体" panose="02010609060101010101" pitchFamily="49" charset="-122"/>
                <a:ea typeface="黑体" panose="02010609060101010101" pitchFamily="49" charset="-122"/>
              </a:rPr>
              <a:t>mov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al, ds:[2000h]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寄存器间接寻址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方式   </a:t>
            </a:r>
            <a:r>
              <a:rPr lang="en-US" altLang="zh-CN" dirty="0" err="1" smtClean="0">
                <a:latin typeface="黑体" panose="02010609060101010101" pitchFamily="49" charset="-122"/>
                <a:ea typeface="黑体" panose="02010609060101010101" pitchFamily="49" charset="-122"/>
              </a:rPr>
              <a:t>mov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ax,[</a:t>
            </a:r>
            <a:r>
              <a:rPr lang="en-US" altLang="zh-CN" dirty="0" err="1" smtClean="0">
                <a:latin typeface="黑体" panose="02010609060101010101" pitchFamily="49" charset="-122"/>
                <a:ea typeface="黑体" panose="02010609060101010101" pitchFamily="49" charset="-122"/>
              </a:rPr>
              <a:t>bx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]  </a:t>
            </a:r>
            <a:r>
              <a:rPr lang="en-US" altLang="zh-CN" dirty="0" err="1" smtClean="0">
                <a:latin typeface="黑体" panose="02010609060101010101" pitchFamily="49" charset="-122"/>
                <a:ea typeface="黑体" panose="02010609060101010101" pitchFamily="49" charset="-122"/>
              </a:rPr>
              <a:t>mov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ax,[dx]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28600" lvl="2">
              <a:spcBef>
                <a:spcPts val="1000"/>
              </a:spcBef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寄存器相对寻址方式  </a:t>
            </a:r>
            <a:r>
              <a:rPr lang="zh-CN" altLang="en-US" sz="28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mov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MOV AX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COUNT[SI</a:t>
            </a:r>
            <a:r>
              <a:rPr lang="en-US" altLang="zh-CN" sz="28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]</a:t>
            </a:r>
          </a:p>
          <a:p>
            <a:pPr marL="228600" lvl="2">
              <a:spcBef>
                <a:spcPts val="1000"/>
              </a:spcBef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基址变址</a:t>
            </a:r>
            <a:r>
              <a:rPr lang="zh-CN" altLang="en-US" sz="28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寻址方式     </a:t>
            </a:r>
            <a:r>
              <a:rPr lang="en-US" altLang="zh-CN" sz="28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MOV 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AX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[BX][DI]</a:t>
            </a:r>
          </a:p>
          <a:p>
            <a:pPr marL="228600" lvl="2">
              <a:spcBef>
                <a:spcPts val="1000"/>
              </a:spcBef>
            </a:pP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28600" lvl="2">
              <a:spcBef>
                <a:spcPts val="1000"/>
              </a:spcBef>
            </a:pP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242892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latin typeface="+mj-lt"/>
                <a:ea typeface="+mj-ea"/>
                <a:cs typeface="+mj-cs"/>
                <a:sym typeface="+mn-lt"/>
              </a:rPr>
              <a:t>实验内容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993505" y="1224859"/>
            <a:ext cx="10269581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zh-CN" altLang="en-US" sz="2800" dirty="0" smtClean="0"/>
              <a:t>数据段定义如下图所示，要求将</a:t>
            </a:r>
            <a:r>
              <a:rPr lang="en-US" altLang="zh-CN" sz="2800" dirty="0" smtClean="0"/>
              <a:t>block</a:t>
            </a:r>
            <a:r>
              <a:rPr lang="zh-CN" altLang="en-US" sz="2800" dirty="0" smtClean="0"/>
              <a:t>的第</a:t>
            </a:r>
            <a:r>
              <a:rPr lang="en-US" altLang="zh-CN" sz="2800" dirty="0" smtClean="0"/>
              <a:t>6</a:t>
            </a:r>
            <a:r>
              <a:rPr lang="zh-CN" altLang="en-US" sz="2800" dirty="0" smtClean="0"/>
              <a:t>个字送到</a:t>
            </a:r>
            <a:r>
              <a:rPr lang="en-US" altLang="zh-CN" sz="2800" dirty="0" smtClean="0"/>
              <a:t>DX</a:t>
            </a:r>
            <a:r>
              <a:rPr lang="zh-CN" altLang="en-US" sz="2800" dirty="0" smtClean="0"/>
              <a:t>寄存器中，至少使用以下三种寻址方式：</a:t>
            </a:r>
            <a:endParaRPr lang="en-US" altLang="zh-CN" sz="2800" dirty="0" smtClean="0"/>
          </a:p>
          <a:p>
            <a:pPr marL="514350" indent="-514350">
              <a:buAutoNum type="arabicPeriod"/>
            </a:pPr>
            <a:endParaRPr lang="en-US" altLang="zh-CN" sz="2800" dirty="0"/>
          </a:p>
          <a:p>
            <a:pPr marL="514350" indent="-514350">
              <a:buAutoNum type="arabicPeriod"/>
            </a:pPr>
            <a:endParaRPr lang="en-US" altLang="zh-CN" sz="2800" dirty="0" smtClean="0"/>
          </a:p>
          <a:p>
            <a:r>
              <a:rPr lang="en-US" altLang="zh-CN" sz="2800" dirty="0" smtClean="0"/>
              <a:t/>
            </a:r>
            <a:br>
              <a:rPr lang="en-US" altLang="zh-CN" sz="2800" dirty="0" smtClean="0"/>
            </a:br>
            <a:r>
              <a:rPr lang="en-US" altLang="zh-CN" sz="2800" dirty="0" smtClean="0"/>
              <a:t>     1</a:t>
            </a:r>
            <a:r>
              <a:rPr lang="zh-CN" altLang="en-US" sz="2800" dirty="0" smtClean="0"/>
              <a:t>）寄存器间接寻址</a:t>
            </a:r>
            <a:r>
              <a:rPr lang="en-US" altLang="zh-CN" sz="2800" dirty="0" smtClean="0"/>
              <a:t/>
            </a:r>
            <a:br>
              <a:rPr lang="en-US" altLang="zh-CN" sz="2800" dirty="0" smtClean="0"/>
            </a:br>
            <a:r>
              <a:rPr lang="en-US" altLang="zh-CN" sz="2800" dirty="0" smtClean="0"/>
              <a:t>     2)   </a:t>
            </a:r>
            <a:r>
              <a:rPr lang="zh-CN" altLang="en-US" sz="2800" dirty="0" smtClean="0"/>
              <a:t>寄存器相对寻址</a:t>
            </a:r>
            <a:r>
              <a:rPr lang="en-US" altLang="zh-CN" sz="2800" dirty="0" smtClean="0"/>
              <a:t/>
            </a:r>
            <a:br>
              <a:rPr lang="en-US" altLang="zh-CN" sz="2800" dirty="0" smtClean="0"/>
            </a:br>
            <a:r>
              <a:rPr lang="en-US" altLang="zh-CN" sz="2800" dirty="0" smtClean="0"/>
              <a:t>     3</a:t>
            </a:r>
            <a:r>
              <a:rPr lang="zh-CN" altLang="en-US" sz="2800" dirty="0" smtClean="0"/>
              <a:t>） 基质变址寻址</a:t>
            </a:r>
            <a:endParaRPr lang="en-US" altLang="zh-CN" sz="2800" dirty="0" smtClean="0"/>
          </a:p>
          <a:p>
            <a:r>
              <a:rPr lang="en-US" altLang="zh-CN" sz="2800" dirty="0"/>
              <a:t> </a:t>
            </a:r>
            <a:r>
              <a:rPr lang="en-US" altLang="zh-CN" sz="2800" dirty="0" smtClean="0"/>
              <a:t>    </a:t>
            </a:r>
            <a:r>
              <a:rPr lang="zh-CN" altLang="en-US" sz="2800" dirty="0" smtClean="0"/>
              <a:t>观察数据段，给出三种不同寻址方式指令，验证执行后</a:t>
            </a:r>
            <a:r>
              <a:rPr lang="en-US" altLang="zh-CN" sz="2800" dirty="0" smtClean="0"/>
              <a:t>DX</a:t>
            </a:r>
            <a:r>
              <a:rPr lang="zh-CN" altLang="en-US" sz="2800" dirty="0" smtClean="0"/>
              <a:t>寄存器的值为多少，是否都一样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en-US" altLang="zh-CN" sz="2800" dirty="0" smtClean="0"/>
              <a:t>  </a:t>
            </a:r>
            <a:r>
              <a:rPr lang="zh-CN" altLang="en-US" sz="2800" dirty="0" smtClean="0"/>
              <a:t>提示：可以利用</a:t>
            </a:r>
            <a:r>
              <a:rPr lang="en-US" altLang="zh-CN" sz="2800" dirty="0" smtClean="0"/>
              <a:t/>
            </a:r>
            <a:br>
              <a:rPr lang="en-US" altLang="zh-CN" sz="2800" dirty="0" smtClean="0"/>
            </a:br>
            <a:r>
              <a:rPr lang="en-US" altLang="zh-CN" sz="2800" dirty="0" smtClean="0">
                <a:solidFill>
                  <a:srgbClr val="FF0000"/>
                </a:solidFill>
              </a:rPr>
              <a:t>lea </a:t>
            </a:r>
            <a:r>
              <a:rPr lang="zh-CN" altLang="en-US" sz="2800" dirty="0" smtClean="0">
                <a:solidFill>
                  <a:srgbClr val="FF0000"/>
                </a:solidFill>
              </a:rPr>
              <a:t>指令 或  </a:t>
            </a:r>
            <a:r>
              <a:rPr lang="en-US" altLang="zh-CN" sz="2800" dirty="0" smtClean="0">
                <a:solidFill>
                  <a:srgbClr val="FF0000"/>
                </a:solidFill>
              </a:rPr>
              <a:t>offset </a:t>
            </a:r>
            <a:r>
              <a:rPr lang="zh-CN" altLang="en-US" sz="2800" dirty="0" smtClean="0">
                <a:solidFill>
                  <a:srgbClr val="FF0000"/>
                </a:solidFill>
              </a:rPr>
              <a:t>操作符</a:t>
            </a:r>
            <a:r>
              <a:rPr lang="zh-CN" altLang="en-US" sz="2800" dirty="0" smtClean="0"/>
              <a:t>获取符号地址</a:t>
            </a:r>
            <a:endParaRPr lang="en-US" altLang="zh-CN" sz="2800" dirty="0" smtClean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2056" y="2177811"/>
            <a:ext cx="6104762" cy="9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682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latin typeface="+mj-lt"/>
                <a:ea typeface="+mj-ea"/>
                <a:cs typeface="+mj-cs"/>
                <a:sym typeface="+mn-lt"/>
              </a:rPr>
              <a:t>实验内容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24619" y="1199003"/>
            <a:ext cx="979098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2.</a:t>
            </a:r>
            <a:r>
              <a:rPr lang="zh-CN" altLang="zh-CN" sz="2400" dirty="0" smtClean="0"/>
              <a:t>在</a:t>
            </a:r>
            <a:r>
              <a:rPr lang="en-US" altLang="zh-CN" sz="2400" dirty="0"/>
              <a:t>DS</a:t>
            </a:r>
            <a:r>
              <a:rPr lang="zh-CN" altLang="zh-CN" sz="2400" dirty="0" smtClean="0"/>
              <a:t>数据段</a:t>
            </a:r>
            <a:r>
              <a:rPr lang="zh-CN" altLang="zh-CN" sz="2400" dirty="0"/>
              <a:t>中定义两个字节符号</a:t>
            </a:r>
            <a:r>
              <a:rPr lang="en-US" altLang="zh-CN" sz="2400" dirty="0" err="1"/>
              <a:t>valuex</a:t>
            </a:r>
            <a:r>
              <a:rPr lang="zh-CN" altLang="zh-CN" sz="2400" dirty="0"/>
              <a:t>和</a:t>
            </a:r>
            <a:r>
              <a:rPr lang="en-US" altLang="zh-CN" sz="2400" dirty="0" err="1"/>
              <a:t>valuey</a:t>
            </a:r>
            <a:r>
              <a:rPr lang="zh-CN" altLang="zh-CN" sz="2400" dirty="0"/>
              <a:t>，并给出初始值如下，要求编写汇编指令交换这两个地址存放的数据，在实验报告中给出相关指令，观察寄存器及数据段的变换情况，并记录下来 （参考课本例</a:t>
            </a:r>
            <a:r>
              <a:rPr lang="en-US" altLang="zh-CN" sz="2400" dirty="0"/>
              <a:t>3.4</a:t>
            </a:r>
            <a:r>
              <a:rPr lang="zh-CN" altLang="zh-CN" sz="2400" dirty="0"/>
              <a:t>），思考：如果要读取附加段中的数据，该如何实现？</a:t>
            </a:r>
            <a:endParaRPr lang="en-US" altLang="zh-CN" sz="2400" dirty="0"/>
          </a:p>
          <a:p>
            <a:endParaRPr lang="en-US" altLang="zh-CN" sz="2400" dirty="0" smtClean="0"/>
          </a:p>
          <a:p>
            <a:endParaRPr lang="en-US" altLang="zh-CN" sz="2400" dirty="0" smtClean="0"/>
          </a:p>
        </p:txBody>
      </p:sp>
      <p:pic>
        <p:nvPicPr>
          <p:cNvPr id="7" name="图片 6"/>
          <p:cNvPicPr/>
          <p:nvPr/>
        </p:nvPicPr>
        <p:blipFill>
          <a:blip r:embed="rId3"/>
          <a:stretch>
            <a:fillRect/>
          </a:stretch>
        </p:blipFill>
        <p:spPr>
          <a:xfrm>
            <a:off x="857038" y="2908666"/>
            <a:ext cx="4900823" cy="1849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787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19199" y="1680300"/>
            <a:ext cx="949642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Aft>
                <a:spcPts val="0"/>
              </a:spcAft>
            </a:pPr>
            <a:r>
              <a:rPr lang="en-US" altLang="zh-CN" sz="28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3.</a:t>
            </a:r>
            <a:r>
              <a:rPr lang="zh-CN" altLang="zh-CN" sz="28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编写</a:t>
            </a:r>
            <a:r>
              <a:rPr lang="zh-CN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一个汇编程序（</a:t>
            </a:r>
            <a:r>
              <a:rPr lang="en-US" altLang="zh-CN" sz="28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ex4_3.asm</a:t>
            </a:r>
            <a:r>
              <a:rPr lang="zh-CN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），在数据表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DATA1</a:t>
            </a:r>
            <a:r>
              <a:rPr lang="zh-CN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中存放数据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0F895H</a:t>
            </a:r>
            <a:r>
              <a:rPr lang="zh-CN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，在数据表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DATA2</a:t>
            </a:r>
            <a:r>
              <a:rPr lang="zh-CN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中存放数据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3E0CH</a:t>
            </a:r>
            <a:r>
              <a:rPr lang="zh-CN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，要求将两数分别取出相加，然后将计算结果存放到当前数据段，偏移地址</a:t>
            </a:r>
            <a:r>
              <a:rPr lang="zh-CN" altLang="zh-CN" sz="28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8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0020H</a:t>
            </a:r>
            <a:r>
              <a:rPr lang="zh-CN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的单元中。给出程序片段（关键部分的源码）和运行结果截</a:t>
            </a:r>
            <a:r>
              <a:rPr lang="zh-CN" altLang="zh-CN" sz="28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图</a:t>
            </a:r>
            <a:endParaRPr lang="en-US" altLang="zh-CN" sz="2800" kern="100" dirty="0" smtClean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0">
              <a:spcAft>
                <a:spcPts val="0"/>
              </a:spcAft>
            </a:pPr>
            <a:endParaRPr lang="en-US" altLang="zh-CN" sz="2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0">
              <a:spcAft>
                <a:spcPts val="0"/>
              </a:spcAft>
            </a:pPr>
            <a:r>
              <a:rPr lang="zh-CN" altLang="en-US" sz="28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即计算 </a:t>
            </a:r>
            <a:r>
              <a:rPr lang="en-US" altLang="zh-CN" sz="28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0F895H+3E0CH </a:t>
            </a:r>
            <a:r>
              <a:rPr lang="zh-CN" altLang="en-US" sz="28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，并将结果存放到 </a:t>
            </a:r>
            <a:r>
              <a:rPr lang="en-US" altLang="zh-CN" sz="28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DS:2800H</a:t>
            </a:r>
            <a:r>
              <a:rPr lang="zh-CN" altLang="en-US" sz="28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位置，利用</a:t>
            </a:r>
            <a:r>
              <a:rPr lang="en-US" altLang="zh-CN" sz="28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debug</a:t>
            </a:r>
            <a:r>
              <a:rPr lang="zh-CN" altLang="en-US" sz="28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命令，观察是否将数据正确写入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/>
            </a:r>
            <a:b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zh-CN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提示：使用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ADD</a:t>
            </a:r>
            <a:r>
              <a:rPr lang="zh-CN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加法指令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latin typeface="+mj-lt"/>
                <a:ea typeface="+mj-ea"/>
                <a:cs typeface="+mj-cs"/>
                <a:sym typeface="+mn-lt"/>
              </a:rPr>
              <a:t>实验内容</a:t>
            </a:r>
          </a:p>
        </p:txBody>
      </p:sp>
    </p:spTree>
    <p:extLst>
      <p:ext uri="{BB962C8B-B14F-4D97-AF65-F5344CB8AC3E}">
        <p14:creationId xmlns:p14="http://schemas.microsoft.com/office/powerpoint/2010/main" val="1740639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19199" y="1680300"/>
            <a:ext cx="949642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Aft>
                <a:spcPts val="0"/>
              </a:spcAft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sz="28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.(</a:t>
            </a:r>
            <a:r>
              <a:rPr lang="zh-CN" altLang="en-US" sz="28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选做）</a:t>
            </a:r>
            <a:endParaRPr lang="en-US" altLang="zh-CN" sz="2800" kern="100" dirty="0" smtClean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0">
              <a:spcAft>
                <a:spcPts val="0"/>
              </a:spcAft>
            </a:pPr>
            <a:r>
              <a:rPr lang="zh-CN" altLang="en-US" sz="28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利用</a:t>
            </a:r>
            <a:r>
              <a:rPr lang="en-US" altLang="zh-CN" sz="28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dos</a:t>
            </a:r>
            <a:r>
              <a:rPr lang="zh-CN" altLang="en-US" sz="28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功能调用的</a:t>
            </a:r>
            <a:r>
              <a:rPr lang="en-US" altLang="zh-CN" sz="28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01</a:t>
            </a:r>
            <a:r>
              <a:rPr lang="zh-CN" altLang="en-US" sz="28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07 </a:t>
            </a:r>
            <a:r>
              <a:rPr lang="zh-CN" altLang="en-US" sz="28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sz="28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08</a:t>
            </a:r>
            <a:r>
              <a:rPr lang="zh-CN" altLang="en-US" sz="28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号功能，从键盘输入一个数字字符并再调用</a:t>
            </a:r>
            <a:r>
              <a:rPr lang="en-US" altLang="zh-CN" sz="28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02</a:t>
            </a:r>
            <a:r>
              <a:rPr lang="zh-CN" altLang="en-US" sz="28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号功能将其输出；分析这三种功能</a:t>
            </a:r>
            <a:r>
              <a:rPr lang="zh-CN" altLang="en-US" sz="2800" kern="10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调用的异同点</a:t>
            </a:r>
            <a:endParaRPr lang="en-US" altLang="zh-CN" sz="2800" kern="100" dirty="0" smtClean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latin typeface="+mj-lt"/>
                <a:ea typeface="+mj-ea"/>
                <a:cs typeface="+mj-cs"/>
                <a:sym typeface="+mn-lt"/>
              </a:rPr>
              <a:t>实验内容</a:t>
            </a:r>
          </a:p>
        </p:txBody>
      </p:sp>
    </p:spTree>
    <p:extLst>
      <p:ext uri="{BB962C8B-B14F-4D97-AF65-F5344CB8AC3E}">
        <p14:creationId xmlns:p14="http://schemas.microsoft.com/office/powerpoint/2010/main" val="1427498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1730058" y="0"/>
            <a:ext cx="5369482" cy="678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941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述职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h3yr22">
      <a:majorFont>
        <a:latin typeface="Arial" panose="020F0302020204030204"/>
        <a:ea typeface="微软雅黑"/>
        <a:cs typeface=""/>
      </a:majorFont>
      <a:minorFont>
        <a:latin typeface="Arial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2983</TotalTime>
  <Words>390</Words>
  <Application>Microsoft Office PowerPoint</Application>
  <PresentationFormat>宽屏</PresentationFormat>
  <Paragraphs>43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等线</vt:lpstr>
      <vt:lpstr>方正粗谭黑简体</vt:lpstr>
      <vt:lpstr>黑体</vt:lpstr>
      <vt:lpstr>宋体</vt:lpstr>
      <vt:lpstr>微软雅黑</vt:lpstr>
      <vt:lpstr>Arial</vt:lpstr>
      <vt:lpstr>Calibri</vt:lpstr>
      <vt:lpstr>Times New Roman</vt:lpstr>
      <vt:lpstr>第一PPT，www.1ppt.com</vt:lpstr>
      <vt:lpstr>PowerPoint 演示文稿</vt:lpstr>
      <vt:lpstr>PowerPoint 演示文稿</vt:lpstr>
      <vt:lpstr>常用寻址方式   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简洁述职报告</dc:title>
  <dc:creator>第一PPT</dc:creator>
  <cp:keywords>www.1ppt.com</cp:keywords>
  <dc:description>www.1ppt.com</dc:description>
  <cp:lastModifiedBy>win-s</cp:lastModifiedBy>
  <cp:revision>164</cp:revision>
  <dcterms:created xsi:type="dcterms:W3CDTF">2019-06-11T09:29:47Z</dcterms:created>
  <dcterms:modified xsi:type="dcterms:W3CDTF">2023-03-20T07:06:08Z</dcterms:modified>
</cp:coreProperties>
</file>