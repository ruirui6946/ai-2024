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11">
  <p:sldMasterIdLst>
    <p:sldMasterId id="2147483804" r:id="rId1"/>
  </p:sldMasterIdLst>
  <p:notesMasterIdLst>
    <p:notesMasterId r:id="rId35"/>
  </p:notesMasterIdLst>
  <p:handoutMasterIdLst>
    <p:handoutMasterId r:id="rId36"/>
  </p:handoutMasterIdLst>
  <p:sldIdLst>
    <p:sldId id="1389" r:id="rId2"/>
    <p:sldId id="1390" r:id="rId3"/>
    <p:sldId id="1396" r:id="rId4"/>
    <p:sldId id="1397" r:id="rId5"/>
    <p:sldId id="1398" r:id="rId6"/>
    <p:sldId id="1399" r:id="rId7"/>
    <p:sldId id="1400" r:id="rId8"/>
    <p:sldId id="1391" r:id="rId9"/>
    <p:sldId id="1401" r:id="rId10"/>
    <p:sldId id="1402" r:id="rId11"/>
    <p:sldId id="1403" r:id="rId12"/>
    <p:sldId id="1404" r:id="rId13"/>
    <p:sldId id="1392" r:id="rId14"/>
    <p:sldId id="1405" r:id="rId15"/>
    <p:sldId id="1406" r:id="rId16"/>
    <p:sldId id="1407" r:id="rId17"/>
    <p:sldId id="1408" r:id="rId18"/>
    <p:sldId id="1409" r:id="rId19"/>
    <p:sldId id="1395" r:id="rId20"/>
    <p:sldId id="1410" r:id="rId21"/>
    <p:sldId id="1411" r:id="rId22"/>
    <p:sldId id="1412" r:id="rId23"/>
    <p:sldId id="1413" r:id="rId24"/>
    <p:sldId id="1414" r:id="rId25"/>
    <p:sldId id="1415" r:id="rId26"/>
    <p:sldId id="1416" r:id="rId27"/>
    <p:sldId id="1417" r:id="rId28"/>
    <p:sldId id="1418" r:id="rId29"/>
    <p:sldId id="1419" r:id="rId30"/>
    <p:sldId id="1420" r:id="rId31"/>
    <p:sldId id="1421" r:id="rId32"/>
    <p:sldId id="1422" r:id="rId33"/>
    <p:sldId id="1423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9" userDrawn="1">
          <p15:clr>
            <a:srgbClr val="A4A3A4"/>
          </p15:clr>
        </p15:guide>
        <p15:guide id="2" orient="horz" pos="1496" userDrawn="1">
          <p15:clr>
            <a:srgbClr val="A4A3A4"/>
          </p15:clr>
        </p15:guide>
        <p15:guide id="3" orient="horz" pos="749" userDrawn="1">
          <p15:clr>
            <a:srgbClr val="A4A3A4"/>
          </p15:clr>
        </p15:guide>
        <p15:guide id="4" pos="2516" userDrawn="1">
          <p15:clr>
            <a:srgbClr val="A4A3A4"/>
          </p15:clr>
        </p15:guide>
        <p15:guide id="5" pos="233" userDrawn="1">
          <p15:clr>
            <a:srgbClr val="A4A3A4"/>
          </p15:clr>
        </p15:guide>
        <p15:guide id="6" pos="7240" userDrawn="1">
          <p15:clr>
            <a:srgbClr val="A4A3A4"/>
          </p15:clr>
        </p15:guide>
        <p15:guide id="7" pos="15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3">
          <p15:clr>
            <a:srgbClr val="A4A3A4"/>
          </p15:clr>
        </p15:guide>
        <p15:guide id="2" pos="2145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n how" initials="ch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003399"/>
    <a:srgbClr val="000099"/>
    <a:srgbClr val="0033CC"/>
    <a:srgbClr val="3D89BC"/>
    <a:srgbClr val="008EC0"/>
    <a:srgbClr val="0099FF"/>
    <a:srgbClr val="33CCFF"/>
    <a:srgbClr val="E6E6E6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32" autoAdjust="0"/>
    <p:restoredTop sz="86620" autoAdjust="0"/>
  </p:normalViewPr>
  <p:slideViewPr>
    <p:cSldViewPr snapToGrid="0" showGuides="1">
      <p:cViewPr varScale="1">
        <p:scale>
          <a:sx n="74" d="100"/>
          <a:sy n="74" d="100"/>
        </p:scale>
        <p:origin x="1056" y="77"/>
      </p:cViewPr>
      <p:guideLst>
        <p:guide orient="horz" pos="4029"/>
        <p:guide orient="horz" pos="1496"/>
        <p:guide orient="horz" pos="749"/>
        <p:guide pos="2516"/>
        <p:guide pos="233"/>
        <p:guide pos="7240"/>
        <p:guide pos="15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6" d="100"/>
          <a:sy n="86" d="100"/>
        </p:scale>
        <p:origin x="-3846" y="-90"/>
      </p:cViewPr>
      <p:guideLst>
        <p:guide orient="horz" pos="2903"/>
        <p:guide pos="214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E7DF6-C895-4E53-B71A-F20B4CC8237B}" type="datetimeFigureOut">
              <a:rPr lang="zh-CN" altLang="en-US" smtClean="0">
                <a:ea typeface="微软雅黑" panose="020B0503020204020204" pitchFamily="34" charset="-122"/>
              </a:rPr>
              <a:t>2023/6/18</a:t>
            </a:fld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44FD6-F94A-461E-99AC-D29D4ACC8083}" type="slidenum">
              <a:rPr lang="zh-CN" altLang="en-US" smtClean="0">
                <a:ea typeface="微软雅黑" panose="020B0503020204020204" pitchFamily="34" charset="-122"/>
              </a:rPr>
              <a:t>‹#›</a:t>
            </a:fld>
            <a:endParaRPr lang="zh-CN" altLang="en-US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8303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422EFC78-32FE-4758-B504-92B4D0B9F0AA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84C1B800-BCBD-4262-B579-5F77D9EE25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177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Pycharm</a:t>
            </a:r>
            <a:r>
              <a:rPr lang="en-US" altLang="zh-CN" dirty="0"/>
              <a:t>-&gt;settings-&gt;editor-&gt;file</a:t>
            </a:r>
            <a:r>
              <a:rPr lang="en-US" altLang="zh-CN" baseline="0" dirty="0"/>
              <a:t> encodings-&gt;project encoding utf8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992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400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252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24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968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947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789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735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564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0599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312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931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.</a:t>
            </a:r>
            <a:r>
              <a:rPr lang="zh-CN" altLang="en-US" dirty="0"/>
              <a:t>是元字符</a:t>
            </a:r>
            <a:endParaRPr lang="en-US" altLang="zh-CN" dirty="0"/>
          </a:p>
          <a:p>
            <a:r>
              <a:rPr lang="en-US" altLang="zh-CN" dirty="0"/>
              <a:t>\.</a:t>
            </a:r>
            <a:r>
              <a:rPr lang="zh-CN" altLang="en-US" dirty="0"/>
              <a:t>就是元字符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117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893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5533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7993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1896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3868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9748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359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B6606-245A-4488-AA5D-AC83C3D1524B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10290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B6606-245A-4488-AA5D-AC83C3D1524B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0552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BA8EB-3E98-45DF-95F9-20499AB89BB5}" type="datetime1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8F32-F09A-4344-B65D-3757FEAF56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140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4B168-BF23-49EB-A4EA-A33054B30FF3}" type="datetime1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8F32-F09A-4344-B65D-3757FEAF56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748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B3E32-CF70-4BAE-9C47-A15603A9F1F6}" type="datetime1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8F32-F09A-4344-B65D-3757FEAF56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352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95835-E83C-4B3D-BEF0-E2AC128A0F5B}" type="datetime1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8F32-F09A-4344-B65D-3757FEAF56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691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5E1B-70AA-4D6D-A851-01FA6AD8BF9A}" type="datetime1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8F32-F09A-4344-B65D-3757FEAF56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452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5A926-9446-4F62-9ECE-08A9B18F975E}" type="datetime1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8F32-F09A-4344-B65D-3757FEAF56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435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336F-82DC-4654-9554-07866832948F}" type="datetime1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8F32-F09A-4344-B65D-3757FEAF56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148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3B142-B2B8-4750-964D-A3BDE93F3EF2}" type="datetime1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8F32-F09A-4344-B65D-3757FEAF56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49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838B-5E56-4490-B16F-070FD98B5E3F}" type="datetime1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8F32-F09A-4344-B65D-3757FEAF56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64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6757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85" r="15524" b="21730"/>
          <a:stretch>
            <a:fillRect/>
          </a:stretch>
        </p:blipFill>
        <p:spPr>
          <a:xfrm>
            <a:off x="528" y="3389050"/>
            <a:ext cx="12191472" cy="346895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" name="矩形 1"/>
          <p:cNvSpPr/>
          <p:nvPr userDrawn="1"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33AF3-DAC5-4E98-94B6-B2F606A2A076}" type="datetime1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08F32-F09A-4344-B65D-3757FEAF56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444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651" r:id="rId13"/>
    <p:sldLayoutId id="2147483652" r:id="rId14"/>
    <p:sldLayoutId id="2147483653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网络爬虫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651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网络爬虫工作的基本原理</a:t>
            </a:r>
          </a:p>
          <a:p>
            <a:r>
              <a:rPr lang="zh-CN" altLang="en-US" dirty="0"/>
              <a:t>网页内容获取</a:t>
            </a:r>
            <a:r>
              <a:rPr lang="en-US" altLang="zh-CN" dirty="0"/>
              <a:t>-requests</a:t>
            </a:r>
            <a:r>
              <a:rPr lang="zh-CN" altLang="en-US" dirty="0"/>
              <a:t>库概述</a:t>
            </a:r>
            <a:endParaRPr lang="en-US" altLang="zh-CN" dirty="0"/>
          </a:p>
          <a:p>
            <a:r>
              <a:rPr lang="zh-CN" altLang="en-US" dirty="0"/>
              <a:t>网页内容解析</a:t>
            </a:r>
            <a:r>
              <a:rPr lang="en-US" altLang="zh-CN" dirty="0"/>
              <a:t>-Beautiful Soup</a:t>
            </a:r>
            <a:r>
              <a:rPr lang="zh-CN" altLang="en-US" dirty="0"/>
              <a:t>库</a:t>
            </a:r>
          </a:p>
          <a:p>
            <a:r>
              <a:rPr lang="zh-CN" altLang="en-US" dirty="0"/>
              <a:t>正则表达式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48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网络爬虫工作的基本原理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网页的概念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53651" y="2232847"/>
            <a:ext cx="1010740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1、URL的含义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URL(Uniform Resource Locator,URL)称为统一资源定位符，也称为网址。互联网上的每个页面，都对应一个URL。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如：浏览上海市空气质量和pm2.5指标的网址为http://www.tianqi.com/air/shanghai.html 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URL主要包含四个部分：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协议部分，如上海市空气质量网址的协议为“http：”，表示超文本传输协议；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网站名部分，如上海市空气质量网址的网站名部分为www.tianqi.com，表示该网页所在的主机位置；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端口部分，跟在域名后面的是端口，域名和端口之间使用“:”作为分隔符，端口不是一个URL必须的部分，如果采用默认端口80，则可以省略端口部分；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虚拟目录和文件名部分，如上海市空气质量网址的虚拟目录和文件名部分内容为/air/shanghai.html，表示该网页在这个主机上的具体路径。</a:t>
            </a:r>
          </a:p>
        </p:txBody>
      </p:sp>
    </p:spTree>
    <p:extLst>
      <p:ext uri="{BB962C8B-B14F-4D97-AF65-F5344CB8AC3E}">
        <p14:creationId xmlns:p14="http://schemas.microsoft.com/office/powerpoint/2010/main" val="2379112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网络爬虫工作的基本原理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网页的概念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88121" y="2111824"/>
            <a:ext cx="102687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2、页面的渲染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户若想要浏览城市空气质量排名情况，必须输入网址：http://www.tianqi.com/air。得到下图的结果，网页的样式，实际上是html源代码经过渲染后形成的。这个页面实际上是用户通过浏览器向DNS服务器提交http://www.tianqi.com/air后，找到web主机服务器，主机服务器经过解析，将包含图片、HTML、JS、 CSS等文件返回到用户浏览器，用户浏览器将这些文件的代码解析渲染，最终就是用户看到的结果。整个这个过程称为用户的请求和响应，响应给客户的是html代码。</a:t>
            </a:r>
          </a:p>
        </p:txBody>
      </p:sp>
      <p:pic>
        <p:nvPicPr>
          <p:cNvPr id="7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978" y="4398556"/>
            <a:ext cx="5218901" cy="180000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106456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网络爬虫工作的基本原理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网页的概念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93993" y="2202180"/>
            <a:ext cx="103158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3、</a:t>
            </a:r>
            <a:r>
              <a:rPr lang="zh-CN" altLang="zh-CN" sz="1600" b="1" dirty="0">
                <a:sym typeface="+mn-ea"/>
              </a:rPr>
              <a:t>网页文件的格式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网页文件主要是由各种标签对构成的一个纯文本文件，如：&lt;head&gt;与&lt;/head&gt;标签对，&lt;li&gt;与&lt;/li&gt;标签对等，不同的标签有不同的作用。如：li标签定义列表项目，span标签被用来组合文档中的行内元素。标签可以有属性，可以有显示的文本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&lt;span class="td td-2nd"&gt;&lt;a href="/air/leshan.html" target="_blank"&gt;乐山市&lt;/a&gt;&lt;/span&gt;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&lt;span class="td td-2nd"&gt;与&lt;/span&gt;：是一对标签，class="td td-2nd"，说明span标签有一个class属性，值为"td td-2nd"，用于设置列的外观。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&lt;a href="/air/leshan.html" target="_blank"&gt;乐山市&lt;/a&gt;，是span标签的内嵌&lt;a&gt;标签，用于设置超链接，超链接文本是“乐山市”，超链接网址是/air/leshan.html，是个相对路径，绝对路径是http://www.tianqi.com/air/leshan.html。</a:t>
            </a:r>
          </a:p>
        </p:txBody>
      </p:sp>
    </p:spTree>
    <p:extLst>
      <p:ext uri="{BB962C8B-B14F-4D97-AF65-F5344CB8AC3E}">
        <p14:creationId xmlns:p14="http://schemas.microsoft.com/office/powerpoint/2010/main" val="271052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网络爬虫工作的基本原理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网络爬虫的工作流程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60376" y="2293360"/>
            <a:ext cx="10060342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网络爬虫实质上是一个能自动下载网页的程序，它是搜索引擎中最核心的部分。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通用网络爬虫是从一个或若干个初始网页上的URL开始，读取网页的代码并对页面结构进行分析、过滤，并对感兴趣的内容建立索引，同时提取网页上的其他感兴趣的超链接地址，放入到待爬行队列中，如此循环，直到满足系统的停止条件为止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在爬取网页过程中，如何根据当前网页的超链接页面，形成待爬行队列呢？目前有基于IP 地址搜索策略、广度优先策略、深度优先策略和最佳优先等。</a:t>
            </a:r>
          </a:p>
        </p:txBody>
      </p:sp>
    </p:spTree>
    <p:extLst>
      <p:ext uri="{BB962C8B-B14F-4D97-AF65-F5344CB8AC3E}">
        <p14:creationId xmlns:p14="http://schemas.microsoft.com/office/powerpoint/2010/main" val="1553326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网络爬虫工作的基本原理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与网络爬虫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67098" y="2198370"/>
            <a:ext cx="101410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肆意的爬取网络数据并不是文明现象，通过程序自动提交内容争取竞争性资源也不公平。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在互联网上爬取数据，要遵从Robots 排除协议（Robots Exclusion Protocol），它也被称为爬虫协议，是网站管理者表达是否希望爬虫自动获取网络信息意愿的方法。管理者可以在网站根目录放置一个robots.txt 文件，并在文件中列出哪些链接不允许爬虫爬取。一般搜索引擎的爬虫会首先捕获这个文件，并根据文件要求爬取网站内容。Robots 排除协议重点约定不希望爬虫获取的内容，如果没有该文件则表示网站内容可以被爬虫获得，然而，Robots 协议不是命令和强制手段，只是国际互联网的一种通用道德规范。绝大部分成熟的搜索引擎爬虫都会遵循这个协议，建议个人也能按照互联网规范要求合理使用爬虫技术。</a:t>
            </a:r>
          </a:p>
        </p:txBody>
      </p:sp>
    </p:spTree>
    <p:extLst>
      <p:ext uri="{BB962C8B-B14F-4D97-AF65-F5344CB8AC3E}">
        <p14:creationId xmlns:p14="http://schemas.microsoft.com/office/powerpoint/2010/main" val="781776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网络爬虫工作的基本原理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网页内容获取</a:t>
            </a:r>
            <a:r>
              <a:rPr lang="en-US" altLang="zh-CN" dirty="0">
                <a:solidFill>
                  <a:srgbClr val="FF0000"/>
                </a:solidFill>
              </a:rPr>
              <a:t>-requests</a:t>
            </a:r>
            <a:r>
              <a:rPr lang="zh-CN" altLang="en-US" dirty="0">
                <a:solidFill>
                  <a:srgbClr val="FF0000"/>
                </a:solidFill>
              </a:rPr>
              <a:t>库概述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网页内容解析</a:t>
            </a:r>
            <a:r>
              <a:rPr lang="en-US" altLang="zh-CN" dirty="0"/>
              <a:t>-Beautiful Soup</a:t>
            </a:r>
            <a:r>
              <a:rPr lang="zh-CN" altLang="en-US" dirty="0"/>
              <a:t>库</a:t>
            </a:r>
          </a:p>
          <a:p>
            <a:r>
              <a:rPr lang="zh-CN" altLang="en-US" dirty="0"/>
              <a:t>正则表达式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556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网页内容获取</a:t>
            </a:r>
            <a:r>
              <a:rPr lang="en-US" altLang="zh-CN" dirty="0"/>
              <a:t>-requests</a:t>
            </a:r>
            <a:r>
              <a:rPr lang="zh-CN" altLang="en-US" dirty="0"/>
              <a:t>库概述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requests</a:t>
            </a:r>
            <a:r>
              <a:rPr lang="zh-CN" altLang="en-US" dirty="0"/>
              <a:t>对象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93139" y="2205953"/>
            <a:ext cx="1028221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http工作原理：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HTTP是基于请求-响应模式的，客户端发出请求叫Request，服务器端的响应叫Response。HTTP请求服务器端，常用的方式是GET和POST。通常，GET表示向指定的服务器请求数据，POST表示向指定的服务器提交要被处理的数据。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Requests请求的相关函数：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Get(url,timeout=n):对应HTTP的get方法，获取网页内容，timeout设定每次请求的超时时间，单位秒。该函数将网页的内容封装成一个Response对象并返回。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Post(url,data={‘key’:’value’}): 对应HTTP的post方式，其中字典用于传递客户端数据。</a:t>
            </a:r>
          </a:p>
        </p:txBody>
      </p:sp>
    </p:spTree>
    <p:extLst>
      <p:ext uri="{BB962C8B-B14F-4D97-AF65-F5344CB8AC3E}">
        <p14:creationId xmlns:p14="http://schemas.microsoft.com/office/powerpoint/2010/main" val="3127590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网页内容获取</a:t>
            </a:r>
            <a:r>
              <a:rPr lang="en-US" altLang="zh-CN" dirty="0"/>
              <a:t>-requests</a:t>
            </a:r>
            <a:r>
              <a:rPr lang="zh-CN" altLang="en-US" dirty="0"/>
              <a:t>库概述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requests</a:t>
            </a:r>
            <a:r>
              <a:rPr lang="zh-CN" altLang="en-US" dirty="0"/>
              <a:t>对象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14163" y="2243579"/>
            <a:ext cx="10383071" cy="3342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通过Response对象的属性可以获取网页内容。</a:t>
            </a:r>
          </a:p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属性：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Status_code:http请求返回的状态，整数，200表示连接成功，404表示失败。在处理网页数据前，要先判断该状态值。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Text:页面内容，以字符串形式存储在text中。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Encoding:HTTP响应内容的编码格式，通过此属性可以更改返回页面的编码格式，便于处理中文。</a:t>
            </a:r>
          </a:p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方法：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Json():如果HTTP响应页面包含JSON格式数据，该方法能够在HTTP 响应内容中解析存在的JSON 数据，这将带来解析HTTP的便利。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raise_for_status()：方法能在非成功响应后产生异常，即只要返回的请求状态status_code 不是200，这个方法会产生一个异常，用于try…except 语句。使用异常处理语句可以避免设置一堆复杂的if 语句，只需要在收到响应调用这个方法。</a:t>
            </a:r>
          </a:p>
        </p:txBody>
      </p:sp>
    </p:spTree>
    <p:extLst>
      <p:ext uri="{BB962C8B-B14F-4D97-AF65-F5344CB8AC3E}">
        <p14:creationId xmlns:p14="http://schemas.microsoft.com/office/powerpoint/2010/main" val="2055143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网页内容获取</a:t>
            </a:r>
            <a:r>
              <a:rPr lang="en-US" altLang="zh-CN" dirty="0"/>
              <a:t>-requests</a:t>
            </a:r>
            <a:r>
              <a:rPr lang="zh-CN" altLang="en-US" dirty="0"/>
              <a:t>库概述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requests</a:t>
            </a:r>
            <a:r>
              <a:rPr lang="zh-CN" altLang="en-US" dirty="0"/>
              <a:t>对象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20035" y="2313530"/>
            <a:ext cx="931403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当遇到网络问题时阿，requests 会产生几种常用异常。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例如：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DNS 查 询 失 败 、 拒 绝 连 接 等 ， requests 会 抛 出ConnectionError 异常。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遇到无效HTTP 响应时，requests 则会抛出HTTPError 异常。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若请求url 超时，则抛出Timeout 异常。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请求超过了设定的最大重定向次数，则会抛出一个TooManyRedirects 异常。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所以在使用requests 时，通常需要将此语句放在try快中进行处理。</a:t>
            </a:r>
          </a:p>
        </p:txBody>
      </p:sp>
    </p:spTree>
    <p:extLst>
      <p:ext uri="{BB962C8B-B14F-4D97-AF65-F5344CB8AC3E}">
        <p14:creationId xmlns:p14="http://schemas.microsoft.com/office/powerpoint/2010/main" val="3989488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网页内容获取</a:t>
            </a:r>
            <a:r>
              <a:rPr lang="en-US" altLang="zh-CN" dirty="0"/>
              <a:t>-requests</a:t>
            </a:r>
            <a:r>
              <a:rPr lang="zh-CN" altLang="en-US" dirty="0"/>
              <a:t>库概述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requests</a:t>
            </a:r>
            <a:r>
              <a:rPr lang="zh-CN" altLang="en-US" dirty="0"/>
              <a:t>对象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52799" y="2198370"/>
            <a:ext cx="79200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【例】爬取厦门大学首页的内容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requests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gethtmltext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url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try: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r=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requests.get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url,timeout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=30)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r.raise_for_status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return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r.text,r.encoding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except: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return ""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url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="http://www.xmu.edu.cn/"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text,code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gethtmltext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url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print(code)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text.encode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(code).decode("utf8"))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505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网络爬虫工作的基本原理</a:t>
            </a:r>
          </a:p>
          <a:p>
            <a:r>
              <a:rPr lang="zh-CN" altLang="en-US" dirty="0"/>
              <a:t>网页内容获取</a:t>
            </a:r>
            <a:r>
              <a:rPr lang="en-US" altLang="zh-CN" dirty="0"/>
              <a:t>-requests</a:t>
            </a:r>
            <a:r>
              <a:rPr lang="zh-CN" altLang="en-US" dirty="0"/>
              <a:t>库概述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网页内容解析</a:t>
            </a:r>
            <a:r>
              <a:rPr lang="en-US" altLang="zh-CN" dirty="0">
                <a:solidFill>
                  <a:srgbClr val="FF0000"/>
                </a:solidFill>
              </a:rPr>
              <a:t>-Beautiful Soup</a:t>
            </a:r>
            <a:r>
              <a:rPr lang="zh-CN" altLang="en-US" dirty="0">
                <a:solidFill>
                  <a:srgbClr val="FF0000"/>
                </a:solidFill>
              </a:rPr>
              <a:t>库</a:t>
            </a:r>
          </a:p>
          <a:p>
            <a:r>
              <a:rPr lang="zh-CN" altLang="en-US" dirty="0"/>
              <a:t>正则表达式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274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网页内容解析</a:t>
            </a:r>
            <a:r>
              <a:rPr lang="en-US" altLang="zh-CN" dirty="0"/>
              <a:t>-Beautiful Soup</a:t>
            </a:r>
            <a:r>
              <a:rPr lang="zh-CN" altLang="en-US" dirty="0"/>
              <a:t>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Beautiful Soup</a:t>
            </a:r>
            <a:r>
              <a:rPr lang="zh-CN" altLang="en-US" dirty="0"/>
              <a:t>库概述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87652" y="2208911"/>
            <a:ext cx="102850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beautifulsoup4 库，也称为Beautiful Soup 库或bs4 库，用于解析和处理HTML和XML。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它的最大优点是能根据HTML 和XML 语法建立解析树，进而高效解析其中的内容。类似于c#中的或HTTP中的文档类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HTML 建立的Web 页面一般非常复杂，除了有用的内容信息外，还包括大量用于页面格式的元素，直接解析一个Web 网页需要深入了解HTML 语法，而且比较复杂。beautifulsoup4 库将专业的Web 页面格式解析部分封装成函数，提供了若干有用且便捷的处理函数。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有关beautifulsoup4 库的更多介绍请参考这个第三方库主页：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 http://www.crummy.com/software/BeautifulSoup/bs4/</a:t>
            </a:r>
          </a:p>
        </p:txBody>
      </p:sp>
    </p:spTree>
    <p:extLst>
      <p:ext uri="{BB962C8B-B14F-4D97-AF65-F5344CB8AC3E}">
        <p14:creationId xmlns:p14="http://schemas.microsoft.com/office/powerpoint/2010/main" val="4172437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网页内容解析</a:t>
            </a:r>
            <a:r>
              <a:rPr lang="en-US" altLang="zh-CN" dirty="0"/>
              <a:t>-Beautiful Soup</a:t>
            </a:r>
            <a:r>
              <a:rPr lang="zh-CN" altLang="en-US" dirty="0"/>
              <a:t>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beautifulsoup4 </a:t>
            </a:r>
            <a:r>
              <a:rPr lang="zh-CN" altLang="en-US" dirty="0"/>
              <a:t>库常用方法和</a:t>
            </a:r>
            <a:r>
              <a:rPr lang="en-US" altLang="zh-CN" dirty="0"/>
              <a:t>tag</a:t>
            </a:r>
            <a:r>
              <a:rPr lang="zh-CN" altLang="en-US" dirty="0"/>
              <a:t>节点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73023" y="2150110"/>
            <a:ext cx="792000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例如：有一个描述学生选课的XML代码，表示20004146学生选修了2门课，20004176选修了1门课。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&lt;scs&gt;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&lt;sc&gt;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&lt;sno&gt;20004146&lt;/sno&gt;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&lt;courses&gt;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&lt;course&gt;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	&lt;cno&gt;1111&lt;/cno&gt;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	&lt;grade&gt;67 &lt;/grade&gt;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&lt;/course&gt;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&lt;course&gt;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	&lt;cno&gt;2222&lt;/cno&gt;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	 &lt;grade&gt;78 &lt;/grade&gt;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&lt;/course&gt;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&lt;/courses&gt;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&lt;/sc&gt;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&lt;sc&gt;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&lt;sno&gt;20004176&lt;/sno&gt;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&lt;courses&gt;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&lt;course&gt;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	&lt;cno&gt;2222&lt;/cno&gt;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	 &lt;grade&gt; 70&lt;/grade&gt;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&lt;/course&gt;			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&lt;/courses&gt;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    &lt;/sc&gt;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&lt;/scs&gt;</a:t>
            </a:r>
          </a:p>
        </p:txBody>
      </p:sp>
    </p:spTree>
    <p:extLst>
      <p:ext uri="{BB962C8B-B14F-4D97-AF65-F5344CB8AC3E}">
        <p14:creationId xmlns:p14="http://schemas.microsoft.com/office/powerpoint/2010/main" val="716190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网页内容解析</a:t>
            </a:r>
            <a:r>
              <a:rPr lang="en-US" altLang="zh-CN" dirty="0"/>
              <a:t>-Beautiful Soup</a:t>
            </a:r>
            <a:r>
              <a:rPr lang="zh-CN" altLang="en-US" dirty="0"/>
              <a:t>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beautifulsoup4 </a:t>
            </a:r>
            <a:r>
              <a:rPr lang="zh-CN" altLang="en-US" dirty="0"/>
              <a:t>库常用方法和</a:t>
            </a:r>
            <a:r>
              <a:rPr lang="en-US" altLang="zh-CN" dirty="0"/>
              <a:t>tag</a:t>
            </a:r>
            <a:r>
              <a:rPr lang="zh-CN" altLang="en-US" dirty="0"/>
              <a:t>节点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75436" y="2143075"/>
            <a:ext cx="1000709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它对应的Beautiful Soup对象的逻辑结构可以理解成这样一棵树。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240" y="2786966"/>
            <a:ext cx="4320000" cy="268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03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网页内容解析</a:t>
            </a:r>
            <a:r>
              <a:rPr lang="en-US" altLang="zh-CN" dirty="0"/>
              <a:t>-Beautiful Soup</a:t>
            </a:r>
            <a:r>
              <a:rPr lang="zh-CN" altLang="en-US" dirty="0"/>
              <a:t>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beautifulsoup4 </a:t>
            </a:r>
            <a:r>
              <a:rPr lang="zh-CN" altLang="en-US" dirty="0"/>
              <a:t>库常用方法和</a:t>
            </a:r>
            <a:r>
              <a:rPr lang="en-US" altLang="zh-CN" dirty="0"/>
              <a:t>tag</a:t>
            </a:r>
            <a:r>
              <a:rPr lang="zh-CN" altLang="en-US" dirty="0"/>
              <a:t>节点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24228" y="2243579"/>
            <a:ext cx="10204603" cy="3342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beautifulsoup4 提供Xpath操作方式解析数据：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1.即按照解析树的逻辑结构，解析数据。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2.解析树上的常用节点是tag节点。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3.常用方法：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BeautifulSoup(html,”html.parser”)：该方法需要两个参数，第一参数是需要提取数据的html文档内容或XML，第二个参数是指定解析器。该方法的目的是生成一颗解析树。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d_all(name,attrs,recursive,string,limit)：方法可以根据标签名字、标签属性和内容检索并返回标签列表。name为标签名；attrs为标签的属性名和值，采用JSON表示；recursive,设置查找层次；string标签的字符串内容；limit返回匹配结果的个数。利用 string参数可以实现模糊查找。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find(name,attrs,recursive,string)：返回找到的第一个结果，find_all()函数由于可能返回更多结果，所以采用列表形式存储返回结果；find()函数返回字符串形式，找不到，返回None。</a:t>
            </a:r>
          </a:p>
        </p:txBody>
      </p:sp>
    </p:spTree>
    <p:extLst>
      <p:ext uri="{BB962C8B-B14F-4D97-AF65-F5344CB8AC3E}">
        <p14:creationId xmlns:p14="http://schemas.microsoft.com/office/powerpoint/2010/main" val="3442428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网页内容解析</a:t>
            </a:r>
            <a:r>
              <a:rPr lang="en-US" altLang="zh-CN" dirty="0"/>
              <a:t>-Beautiful Soup</a:t>
            </a:r>
            <a:r>
              <a:rPr lang="zh-CN" altLang="en-US" dirty="0"/>
              <a:t>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beautifulsoup4 </a:t>
            </a:r>
            <a:r>
              <a:rPr lang="zh-CN" altLang="en-US" dirty="0"/>
              <a:t>库常用方法和</a:t>
            </a:r>
            <a:r>
              <a:rPr lang="en-US" altLang="zh-CN" dirty="0"/>
              <a:t>tag</a:t>
            </a:r>
            <a:r>
              <a:rPr lang="zh-CN" altLang="en-US" dirty="0"/>
              <a:t>节点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29131" y="2156916"/>
            <a:ext cx="101095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例如：根据选课学号和门数标签字符串，输出选课的学号。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from bs4 import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BeautifulSoup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soup =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BeautifulSoup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('&lt;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scs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&gt;&lt;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&gt;&lt;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sno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&gt;20004146&lt;/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sno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&gt;&lt;number&gt;2&lt;/number&gt;&lt;/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&gt;&lt;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&gt;&lt;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sno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20181012&lt;/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sno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&gt;&lt;number&gt;5&lt;/number&gt;&lt;/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&gt;&lt;/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scs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&gt;','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html.parser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tag =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soup.scs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tag.string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tag.contents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[0].name)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tag.contents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[0].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sno.string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soup.find_all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('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sno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'))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775" y="4097351"/>
            <a:ext cx="510540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508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网络爬虫工作的基本原理</a:t>
            </a:r>
          </a:p>
          <a:p>
            <a:r>
              <a:rPr lang="zh-CN" altLang="en-US" dirty="0"/>
              <a:t>网页内容获取</a:t>
            </a:r>
            <a:r>
              <a:rPr lang="en-US" altLang="zh-CN" dirty="0"/>
              <a:t>-requests</a:t>
            </a:r>
            <a:r>
              <a:rPr lang="zh-CN" altLang="en-US" dirty="0"/>
              <a:t>库概述</a:t>
            </a:r>
            <a:endParaRPr lang="en-US" altLang="zh-CN" dirty="0"/>
          </a:p>
          <a:p>
            <a:r>
              <a:rPr lang="zh-CN" altLang="en-US" dirty="0"/>
              <a:t>网页内容解析</a:t>
            </a:r>
            <a:r>
              <a:rPr lang="en-US" altLang="zh-CN" dirty="0"/>
              <a:t>-Beautiful Soup</a:t>
            </a:r>
            <a:r>
              <a:rPr lang="zh-CN" altLang="en-US" dirty="0"/>
              <a:t>库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正则表达式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74B38-4B35-4D9D-A69F-1ACDCA2E74C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299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正则表达式概念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38860" y="2157730"/>
            <a:ext cx="103149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从网页中解析需要的数据，除了采用beautifulsoup4 库的方法，也可以根据被查找字符串的特征，采用正则表达式的方法，得到符合条件的子字符串。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正则表达式库是python的标准库，使用时：import re，即可。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正则表达式（Regular Expression）：称为规则表达式，又称为规则字符串，它通过一个字符序列来表示满足某种逻辑条件的字符串，主要用于字符串模式匹配或字符串匹配。一个正则表达式由字母、数字和一些特殊符号组成，特殊符号也称为元字符，在正则表达式中具有特殊的含义，可以用来匹配一个或若干个满足某种条件的字符，这些元字符才是构成正则表达式的关键要素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正则表达式通过元字符的各种运用，可以表示丰富的匹配字符串。对程序员来说，如果需要从源字符串中得到需要的子字符串（也称结果字符串），首先要分析子字符串在源字符串中的规律，根据规律去描述正则表达式。</a:t>
            </a:r>
          </a:p>
        </p:txBody>
      </p:sp>
    </p:spTree>
    <p:extLst>
      <p:ext uri="{BB962C8B-B14F-4D97-AF65-F5344CB8AC3E}">
        <p14:creationId xmlns:p14="http://schemas.microsoft.com/office/powerpoint/2010/main" val="3142025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正则表达式元字符介绍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69340" y="2167231"/>
            <a:ext cx="9748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1、字符限定元字符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7" name="内容占位符 3"/>
          <p:cNvGraphicFramePr/>
          <p:nvPr>
            <p:extLst>
              <p:ext uri="{D42A27DB-BD31-4B8C-83A1-F6EECF244321}">
                <p14:modId xmlns:p14="http://schemas.microsoft.com/office/powerpoint/2010/main" val="3887936441"/>
              </p:ext>
            </p:extLst>
          </p:nvPr>
        </p:nvGraphicFramePr>
        <p:xfrm>
          <a:off x="838200" y="2615541"/>
          <a:ext cx="10317480" cy="36999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2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4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字符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作用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[m1m2……mn]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表示一个字符集合（m1、m2……mn等均为单个字符），表示可以与集合中的任意一个字符匹配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1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[^m1m2……mn]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表示可以与集合之外的任意一个字符匹配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5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[m-n]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表示一个字符范围集合，表示可以与字符m到n之间的所有字符匹配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06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[^m-n]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表示可以与集合范围之外的任意一个字符匹配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79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\d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用来匹配一个数字字符，相当于“[0-9]”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79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\D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用来匹配一个非数字字符，相当于“[^0-9]”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\w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用来匹配一个单词字符（包括数字、大小写字母和下画线），相当于“[A-Za-z0-9_]”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79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\W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用来匹配任意一个非单词字符，相当于“[^A-Za-z0-9_]”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79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\s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用来匹配一个不可见字符（包括空格、制表符、换行符等）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79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\S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用来匹配一个可见字符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79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.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用来匹配除了换行符外的任意一个字符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204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正则表达式元字符介绍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4229" y="2423478"/>
            <a:ext cx="1002903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import re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str='''&lt;span class="td td-2nd"&gt;&lt;a href="/air/nanchang.html" target="_blank"&gt;南昌市&lt;/a&gt;&lt;/span&gt;&lt;span class="td td-4rd"&gt;17&lt;/span&gt;&lt;span class="td td-4rd"&gt;&lt;em class="f1" style="color:#79b800"&gt;优&lt;/em&gt;&lt;/span&gt;'''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则：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re.findall(r"\d\d",str)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['17', '79', '80']         #匹配出str中只含2个数字的字符串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re.findall(r"[6789]\d",str)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#匹配出str中只含2个数字的字符串，且第一个数字符号可以是6或7或8或9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['79', '80'] 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re.findall(r"td.",str)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#匹配出 str中以td开头，第三个字符不是换行符的连续三个字符    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['td ', 'td-', 'td ', 'td-', 'td ', 'td-']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&gt;&gt;&gt;s = 'aaa,bbb ccc high'        #定义字符串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re.findall(r'[a-zA-Z]+',s)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['aaa', 'bbb', 'ccc', 'high']       #实现了分词效果</a:t>
            </a:r>
          </a:p>
        </p:txBody>
      </p:sp>
    </p:spTree>
    <p:extLst>
      <p:ext uri="{BB962C8B-B14F-4D97-AF65-F5344CB8AC3E}">
        <p14:creationId xmlns:p14="http://schemas.microsoft.com/office/powerpoint/2010/main" val="4040903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正则表达式元字符介绍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21817" y="2186966"/>
            <a:ext cx="79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2、数量限定元字符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101686"/>
              </p:ext>
            </p:extLst>
          </p:nvPr>
        </p:nvGraphicFramePr>
        <p:xfrm>
          <a:off x="1224077" y="2807361"/>
          <a:ext cx="7315200" cy="39623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1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3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267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字符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作用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3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*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用来匹配前面的字符任意多次（0到多次）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+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用来匹配前面的字符一次或多次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103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？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用来匹配前面的字符零次或一次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103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{n}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用来匹配前面的字符n次，n是一个非负整数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103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{n,}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用来匹配前面的字符至少n次，n是一个非负整数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207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{n,m}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用来匹配前面的字符串至少n次，至多m次，m和n为非负整数且n≤m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68412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*?,+?,</a:t>
                      </a:r>
                    </a:p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??,{}?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?跟在前面所述的任何一个数量限定符后面时，表示匹配模式是非贪婪的，即尽可能少地匹配字符串。而默认情况下，匹配是贪婪的，即尽可能多地匹配所搜索的字符串。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716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正则表达式元字符介绍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65708" y="2252804"/>
            <a:ext cx="10241178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import re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str='''&lt;span class="td td-2nd"&gt;&lt;a href="/air/nanchang.html" target="_blank"&gt;南昌市&lt;/a&gt;&lt;/span&gt;&lt;span class="td td-4rd"&gt;17&lt;/span&gt;&lt;span class="td td-4rd"&gt;&lt;em class="f1" style="color:#79b800"&gt;优&lt;/em&gt;&lt;/span&gt;'''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则：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 re.findall(r"\d{2,}",str)等价于re.findall(r"\d\d",str), re.findall(r"\d\d\d…",str)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re.findall(r"\d{2,}",str)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['17', '79', '800']    #匹配出str中至少含2个数字的字符串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re.findall(r"\d{1,}b\d{1,}",str)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['79b800']        #匹配出str中数字串中包含一个字母b的字符串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s="fdfd&lt;a&gt;aaaaa&lt;/a&gt;dfefe&lt;b&gt;bbbb&lt;/b&gt;"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&gt;&gt;&gt;regex = '&lt;.*?&gt;.*?&lt;\/.*?&gt;'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re.findall(regex,s)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['&lt;a&gt;aaaaa&lt;/a&gt;', '&lt;b&gt;bbbb&lt;/b&gt;']    #从字符串中分离出标签对</a:t>
            </a:r>
          </a:p>
        </p:txBody>
      </p:sp>
    </p:spTree>
    <p:extLst>
      <p:ext uri="{BB962C8B-B14F-4D97-AF65-F5344CB8AC3E}">
        <p14:creationId xmlns:p14="http://schemas.microsoft.com/office/powerpoint/2010/main" val="991897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正则表达式元字符介绍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09599" y="2238173"/>
            <a:ext cx="79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3．分组元字符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628727"/>
              </p:ext>
            </p:extLst>
          </p:nvPr>
        </p:nvGraphicFramePr>
        <p:xfrm>
          <a:off x="1061669" y="2833485"/>
          <a:ext cx="8534400" cy="28196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97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6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771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字符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作用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581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(正则表达式)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将括号之间的正则表达式称为一个子组（group），一个子组对应一个匹配字符串，子组的匹配内容会返回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5543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(?P=&lt;name&gt;…)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也用来定义一个组。这种方式定义的组可以被组名索引进行访问，访问方式为“(?P=name)”。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5543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|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用来将两个匹配条件进行逻辑“或”运算 </a:t>
                      </a:r>
                    </a:p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 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849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正则表达式元字符介绍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16914" y="2293779"/>
            <a:ext cx="9977832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import re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str="Sat May 28 22:18:59 1994::gsbxh@wtkxw.gov::770134739-5-5Fri Dec  1 19:33:07 1995::odzfm@sqkqgefpjbd.gov::817817587-5-11"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则：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regex = '::([a-z]{2,13})@([a-z]{2,13})\.(com|edu|net|org|gov)'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re.findall(regex,str)      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#只输出分组内的匹配字符串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[('gsbxh', 'wtkxw', 'gov'), ('odzfm', 'sqkqgefpjbd', 'gov')]</a:t>
            </a:r>
          </a:p>
        </p:txBody>
      </p:sp>
    </p:spTree>
    <p:extLst>
      <p:ext uri="{BB962C8B-B14F-4D97-AF65-F5344CB8AC3E}">
        <p14:creationId xmlns:p14="http://schemas.microsoft.com/office/powerpoint/2010/main" val="37486872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正则表达式元字符介绍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02284" y="2274749"/>
            <a:ext cx="79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4、字符定位元字符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795412"/>
              </p:ext>
            </p:extLst>
          </p:nvPr>
        </p:nvGraphicFramePr>
        <p:xfrm>
          <a:off x="1157859" y="3050718"/>
          <a:ext cx="7162800" cy="25567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50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2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4873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字符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作用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73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^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用来匹配输入字符串是否以。。。。开始。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73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用来匹配输入字符串是否以。。。。结束。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249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\b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用来匹配一个单词边界（即单词和空格之间的位置）。事实上，所谓单词边界不是一个字符，而只是一个位置。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73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\B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用来匹配一个非单词边界。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284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正则表达式元字符介绍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02284" y="2230856"/>
            <a:ext cx="96779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import re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str='''&lt;span class="td td-2nd"&gt;&lt;a href="/air/nanchang.html" target="_blank"&gt;南昌市&lt;/a&gt;&lt;/span&gt;&lt;span class="td td-4rd"&gt;17&lt;/span&gt;&lt;span class="td td-4rd"&gt;&lt;em class="f1" style="color:#79b800"&gt;优&lt;/em&gt;&lt;/span&gt;'''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则：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re.findall(r"td",str)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['td', 'td', 'td', 'td', 'td', 'td']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re.findall(r"^td",str)    #判断str是以td开头，进行匹配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[]</a:t>
            </a:r>
          </a:p>
        </p:txBody>
      </p:sp>
    </p:spTree>
    <p:extLst>
      <p:ext uri="{BB962C8B-B14F-4D97-AF65-F5344CB8AC3E}">
        <p14:creationId xmlns:p14="http://schemas.microsoft.com/office/powerpoint/2010/main" val="15878622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正则表达式元字符介绍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16915" y="2260118"/>
            <a:ext cx="79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5. 转义元字符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414192"/>
              </p:ext>
            </p:extLst>
          </p:nvPr>
        </p:nvGraphicFramePr>
        <p:xfrm>
          <a:off x="1129882" y="2855430"/>
          <a:ext cx="6934200" cy="792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0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3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字符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作用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\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元字符在符号在正则表达式中有特殊的含义，如果想要匹配原字符，可以采用转义的方式。如：\\ ，\*， \.等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26468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正则表达式元字符介绍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3023" y="2230856"/>
            <a:ext cx="10211918" cy="3342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import re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str='''&lt;span class="td td-2nd"&gt;&lt;a href="/air/nanchang.html" target="_blank"&gt;南昌市&lt;/a&gt;&lt;/span&gt;&lt;span class="td td-4rd"&gt;17&lt;/span&gt;&lt;span class="td td-4rd"&gt;&lt;em class="f1" style="color:#79b800"&gt;优&lt;/em&gt;&lt;/span&gt;'''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则：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re.findall(r"\".*?\"",str)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#匹配出str中所有" "之间的字符串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['"td td-2nd"', '"/air/nanchang.html"', '"_blank"', '"td td-4rd"', '"td td-4rd"', '"f1"', '"color:#79b800"']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re.findall(r'["].*?["]',str)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['"td td-2nd"', '"/air/nanchang.html"', '"_blank"', '"td td-4rd"', '"td td-4rd"', '"f1"', '"color:#79b800"']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#通过结果可以看出，如果把元字符放在[]中，就不需要采用转义方式。</a:t>
            </a:r>
          </a:p>
        </p:txBody>
      </p:sp>
    </p:spTree>
    <p:extLst>
      <p:ext uri="{BB962C8B-B14F-4D97-AF65-F5344CB8AC3E}">
        <p14:creationId xmlns:p14="http://schemas.microsoft.com/office/powerpoint/2010/main" val="37719163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正则表达式的常用函数介绍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399018"/>
              </p:ext>
            </p:extLst>
          </p:nvPr>
        </p:nvGraphicFramePr>
        <p:xfrm>
          <a:off x="1168351" y="2275840"/>
          <a:ext cx="8692539" cy="35998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91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24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re.compile(pattern, flags=0)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匹配任何可选的标记来编译正则表达式的模式，然后返回一个正则表达式对象 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407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re.search(pattern,string, flags=0)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使用可选标记搜索字符串中第一次匹配正则表达式的对象。如果匹配成功，则返回匹配对象，否则返回None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5002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re.match(pattern, string, flags=0)  </a:t>
                      </a:r>
                    </a:p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 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使用带有可选标记的正则表达式的模式来匹配字符串,匹配是从字符串的第一个字符开始进行。如果匹配成功，返回匹配对象，否则返回None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629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re.findall(pattern, string, flags=0)</a:t>
                      </a:r>
                    </a:p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 </a:t>
                      </a:r>
                    </a:p>
                  </a:txBody>
                  <a:tcPr marL="68582" marR="68582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查找字符串中所有匹配的子字符串，并返回一个字符串匹配列表 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匹配对象.group(num = 0)</a:t>
                      </a:r>
                    </a:p>
                  </a:txBody>
                  <a:tcPr marL="68582" marR="68582" marT="0" marB="0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返回整个匹配对象，或者编号为num的特定子组</a:t>
                      </a:r>
                    </a:p>
                  </a:txBody>
                  <a:tcPr marL="68582" marR="68582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99444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正则表达式的常用函数介绍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94968" y="2230858"/>
            <a:ext cx="10138765" cy="3884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例如：下面的正则表达式定义从s中匹配出ip地址的内容。</a:t>
            </a:r>
          </a:p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import re</a:t>
            </a:r>
          </a:p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 s="ipddress192.168.10.1else"</a:t>
            </a:r>
          </a:p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&gt;&gt;&gt;m1=re.search(r"(([01]{0,1}\d{0,1}\d|25[0-5])\.){3}([01]{0,1}\d{0,1}\d|2[0-4]\d|25[0-5])",s)</a:t>
            </a:r>
          </a:p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print(m1.group())</a:t>
            </a:r>
          </a:p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#输出</a:t>
            </a:r>
          </a:p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192.168.10.1</a:t>
            </a:r>
          </a:p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str='''&lt;span class="td td-2nd"&gt;&lt;a href="/air/nanchang.html" target="_blank"&gt;南昌市&lt;/a&gt;&lt;/span&gt;&lt;span class="td td-4rd"&gt;17&lt;/span&gt;&lt;span class="td td-4rd"&gt;&lt;em class="f1" style="color:#79b800"&gt;优&lt;/em&gt;&lt;/span&gt;&lt;span class="td td-2nd"&gt;&lt;a href="/air/nanchang.html" target="_blank"&gt;武汉市&lt;/a&gt;&lt;/span&gt;&lt;span class="td td-4rd"&gt;17&lt;/span&gt;&lt;span class="td td-4rd"&gt;&lt;em class="f1" style="color:#79b800"&gt;优&lt;/em&gt;&lt;/span&gt;'''</a:t>
            </a:r>
          </a:p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re.findall(r"\"_blank\"&gt;(.{1,}?)&lt;/a&gt;",str)</a:t>
            </a:r>
          </a:p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#匹配出所有的城市名</a:t>
            </a:r>
          </a:p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['南昌市', '武汉市']</a:t>
            </a:r>
          </a:p>
        </p:txBody>
      </p:sp>
    </p:spTree>
    <p:extLst>
      <p:ext uri="{BB962C8B-B14F-4D97-AF65-F5344CB8AC3E}">
        <p14:creationId xmlns:p14="http://schemas.microsoft.com/office/powerpoint/2010/main" val="40971322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正则表达式的常用函数介绍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94968" y="2230858"/>
            <a:ext cx="10138765" cy="459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【例】爬取解析并保存厦大首页图片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requests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re</a:t>
            </a:r>
          </a:p>
          <a:p>
            <a:pPr>
              <a:lnSpc>
                <a:spcPct val="11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url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'http://www.xmu.edu.cn'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requests.get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url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).text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图片的超链接格式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#&lt;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img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src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="http://www.xmu.edu.cn/images/009.jpg" width="135" height="135" alt="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图片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"&gt;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regex = r'&lt;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img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src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=\"(.*?.jpg)\"'  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取出图片网址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re.compile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(regex)             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转为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pattern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对象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re.findall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(pa, data)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本次爬取共获取图片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'+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(ma))+'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张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  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列表长度，即找到图片个数</a:t>
            </a:r>
          </a:p>
          <a:p>
            <a:pPr>
              <a:lnSpc>
                <a:spcPct val="11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0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imgurl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 ma: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+= 1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正在爬取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'+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imgurl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imgdata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requests.get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url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+"/"+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imgurl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).content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with open(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)+'.jpg', '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wb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 as f: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f.write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imgdata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爬取完毕！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298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292</TotalTime>
  <Words>4829</Words>
  <Application>Microsoft Office PowerPoint</Application>
  <PresentationFormat>宽屏</PresentationFormat>
  <Paragraphs>392</Paragraphs>
  <Slides>33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主题</vt:lpstr>
      <vt:lpstr>网络爬虫</vt:lpstr>
      <vt:lpstr>主要内容</vt:lpstr>
      <vt:lpstr>网络爬虫工作的基本原理</vt:lpstr>
      <vt:lpstr>网络爬虫工作的基本原理</vt:lpstr>
      <vt:lpstr>网络爬虫工作的基本原理</vt:lpstr>
      <vt:lpstr>网络爬虫工作的基本原理</vt:lpstr>
      <vt:lpstr>网络爬虫工作的基本原理</vt:lpstr>
      <vt:lpstr>主要内容</vt:lpstr>
      <vt:lpstr>网页内容获取-requests库概述</vt:lpstr>
      <vt:lpstr>网页内容获取-requests库概述</vt:lpstr>
      <vt:lpstr>网页内容获取-requests库概述</vt:lpstr>
      <vt:lpstr>网页内容获取-requests库概述</vt:lpstr>
      <vt:lpstr>主要内容</vt:lpstr>
      <vt:lpstr>网页内容解析-Beautiful Soup库</vt:lpstr>
      <vt:lpstr>网页内容解析-Beautiful Soup库</vt:lpstr>
      <vt:lpstr>网页内容解析-Beautiful Soup库</vt:lpstr>
      <vt:lpstr>网页内容解析-Beautiful Soup库</vt:lpstr>
      <vt:lpstr>网页内容解析-Beautiful Soup库</vt:lpstr>
      <vt:lpstr>主要内容</vt:lpstr>
      <vt:lpstr>正则表达式</vt:lpstr>
      <vt:lpstr>正则表达式</vt:lpstr>
      <vt:lpstr>正则表达式</vt:lpstr>
      <vt:lpstr>正则表达式</vt:lpstr>
      <vt:lpstr>正则表达式</vt:lpstr>
      <vt:lpstr>正则表达式</vt:lpstr>
      <vt:lpstr>正则表达式</vt:lpstr>
      <vt:lpstr>正则表达式</vt:lpstr>
      <vt:lpstr>正则表达式</vt:lpstr>
      <vt:lpstr>正则表达式</vt:lpstr>
      <vt:lpstr>正则表达式</vt:lpstr>
      <vt:lpstr>正则表达式</vt:lpstr>
      <vt:lpstr>正则表达式</vt:lpstr>
      <vt:lpstr>正则表达式</vt:lpstr>
    </vt:vector>
  </TitlesOfParts>
  <Company>http://www.deepbbs.org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cstor</dc:creator>
  <cp:lastModifiedBy>承乾 马</cp:lastModifiedBy>
  <cp:revision>778</cp:revision>
  <dcterms:created xsi:type="dcterms:W3CDTF">2015-11-23T03:31:00Z</dcterms:created>
  <dcterms:modified xsi:type="dcterms:W3CDTF">2023-06-18T13:41:13Z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2052-11.1.0.8888</vt:lpwstr>
  </property>
</Properties>
</file>