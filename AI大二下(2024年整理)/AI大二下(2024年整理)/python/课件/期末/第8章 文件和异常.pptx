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2"/>
  </p:notesMasterIdLst>
  <p:sldIdLst>
    <p:sldId id="256" r:id="rId2"/>
    <p:sldId id="407" r:id="rId3"/>
    <p:sldId id="408" r:id="rId4"/>
    <p:sldId id="409" r:id="rId5"/>
    <p:sldId id="410" r:id="rId6"/>
    <p:sldId id="411" r:id="rId7"/>
    <p:sldId id="412" r:id="rId8"/>
    <p:sldId id="413" r:id="rId9"/>
    <p:sldId id="414" r:id="rId10"/>
    <p:sldId id="415" r:id="rId11"/>
    <p:sldId id="416" r:id="rId12"/>
    <p:sldId id="417" r:id="rId13"/>
    <p:sldId id="418" r:id="rId14"/>
    <p:sldId id="419" r:id="rId15"/>
    <p:sldId id="420" r:id="rId16"/>
    <p:sldId id="421" r:id="rId17"/>
    <p:sldId id="422" r:id="rId18"/>
    <p:sldId id="423" r:id="rId19"/>
    <p:sldId id="424" r:id="rId20"/>
    <p:sldId id="425" r:id="rId21"/>
    <p:sldId id="426" r:id="rId22"/>
    <p:sldId id="427" r:id="rId23"/>
    <p:sldId id="428" r:id="rId24"/>
    <p:sldId id="429" r:id="rId25"/>
    <p:sldId id="430" r:id="rId26"/>
    <p:sldId id="431" r:id="rId27"/>
    <p:sldId id="432" r:id="rId28"/>
    <p:sldId id="433" r:id="rId29"/>
    <p:sldId id="434" r:id="rId30"/>
    <p:sldId id="435" r:id="rId31"/>
    <p:sldId id="436" r:id="rId32"/>
    <p:sldId id="437" r:id="rId33"/>
    <p:sldId id="438" r:id="rId34"/>
    <p:sldId id="439" r:id="rId35"/>
    <p:sldId id="440" r:id="rId36"/>
    <p:sldId id="441" r:id="rId37"/>
    <p:sldId id="442" r:id="rId38"/>
    <p:sldId id="444" r:id="rId39"/>
    <p:sldId id="445" r:id="rId40"/>
    <p:sldId id="446" r:id="rId41"/>
    <p:sldId id="447" r:id="rId42"/>
    <p:sldId id="448" r:id="rId43"/>
    <p:sldId id="546" r:id="rId44"/>
    <p:sldId id="449" r:id="rId45"/>
    <p:sldId id="450" r:id="rId46"/>
    <p:sldId id="451" r:id="rId47"/>
    <p:sldId id="452" r:id="rId48"/>
    <p:sldId id="453" r:id="rId49"/>
    <p:sldId id="454" r:id="rId50"/>
    <p:sldId id="455" r:id="rId51"/>
    <p:sldId id="456" r:id="rId52"/>
    <p:sldId id="457" r:id="rId53"/>
    <p:sldId id="458" r:id="rId54"/>
    <p:sldId id="459" r:id="rId55"/>
    <p:sldId id="460" r:id="rId56"/>
    <p:sldId id="462" r:id="rId57"/>
    <p:sldId id="463" r:id="rId58"/>
    <p:sldId id="464" r:id="rId59"/>
    <p:sldId id="465" r:id="rId60"/>
    <p:sldId id="466" r:id="rId61"/>
    <p:sldId id="467" r:id="rId62"/>
    <p:sldId id="468" r:id="rId63"/>
    <p:sldId id="469" r:id="rId64"/>
    <p:sldId id="470" r:id="rId65"/>
    <p:sldId id="471" r:id="rId66"/>
    <p:sldId id="547" r:id="rId67"/>
    <p:sldId id="472" r:id="rId68"/>
    <p:sldId id="473" r:id="rId69"/>
    <p:sldId id="474" r:id="rId70"/>
    <p:sldId id="475" r:id="rId71"/>
    <p:sldId id="476" r:id="rId72"/>
    <p:sldId id="477" r:id="rId73"/>
    <p:sldId id="478" r:id="rId74"/>
    <p:sldId id="479" r:id="rId75"/>
    <p:sldId id="480" r:id="rId76"/>
    <p:sldId id="481" r:id="rId77"/>
    <p:sldId id="482" r:id="rId78"/>
    <p:sldId id="483" r:id="rId79"/>
    <p:sldId id="484" r:id="rId80"/>
    <p:sldId id="485" r:id="rId81"/>
    <p:sldId id="486" r:id="rId82"/>
    <p:sldId id="487" r:id="rId83"/>
    <p:sldId id="488" r:id="rId84"/>
    <p:sldId id="489" r:id="rId85"/>
    <p:sldId id="490" r:id="rId86"/>
    <p:sldId id="491" r:id="rId87"/>
    <p:sldId id="493" r:id="rId88"/>
    <p:sldId id="494" r:id="rId89"/>
    <p:sldId id="495" r:id="rId90"/>
    <p:sldId id="496" r:id="rId91"/>
    <p:sldId id="497" r:id="rId92"/>
    <p:sldId id="498" r:id="rId93"/>
    <p:sldId id="499" r:id="rId94"/>
    <p:sldId id="500" r:id="rId95"/>
    <p:sldId id="501" r:id="rId96"/>
    <p:sldId id="502" r:id="rId97"/>
    <p:sldId id="503" r:id="rId98"/>
    <p:sldId id="504" r:id="rId99"/>
    <p:sldId id="505" r:id="rId100"/>
    <p:sldId id="506" r:id="rId101"/>
    <p:sldId id="507" r:id="rId102"/>
    <p:sldId id="508" r:id="rId103"/>
    <p:sldId id="509" r:id="rId104"/>
    <p:sldId id="510" r:id="rId105"/>
    <p:sldId id="511" r:id="rId106"/>
    <p:sldId id="514" r:id="rId107"/>
    <p:sldId id="515" r:id="rId108"/>
    <p:sldId id="548" r:id="rId109"/>
    <p:sldId id="516" r:id="rId110"/>
    <p:sldId id="517" r:id="rId111"/>
    <p:sldId id="518" r:id="rId112"/>
    <p:sldId id="519" r:id="rId113"/>
    <p:sldId id="520" r:id="rId114"/>
    <p:sldId id="521" r:id="rId115"/>
    <p:sldId id="522" r:id="rId116"/>
    <p:sldId id="523" r:id="rId117"/>
    <p:sldId id="524" r:id="rId118"/>
    <p:sldId id="525" r:id="rId119"/>
    <p:sldId id="526" r:id="rId120"/>
    <p:sldId id="549" r:id="rId121"/>
    <p:sldId id="527" r:id="rId122"/>
    <p:sldId id="528" r:id="rId123"/>
    <p:sldId id="529" r:id="rId124"/>
    <p:sldId id="530" r:id="rId125"/>
    <p:sldId id="531" r:id="rId126"/>
    <p:sldId id="532" r:id="rId127"/>
    <p:sldId id="533" r:id="rId128"/>
    <p:sldId id="534" r:id="rId129"/>
    <p:sldId id="535" r:id="rId130"/>
    <p:sldId id="536" r:id="rId131"/>
    <p:sldId id="537" r:id="rId132"/>
    <p:sldId id="538" r:id="rId133"/>
    <p:sldId id="539" r:id="rId134"/>
    <p:sldId id="540" r:id="rId135"/>
    <p:sldId id="541" r:id="rId136"/>
    <p:sldId id="542" r:id="rId137"/>
    <p:sldId id="543" r:id="rId138"/>
    <p:sldId id="544" r:id="rId139"/>
    <p:sldId id="545" r:id="rId140"/>
    <p:sldId id="550" r:id="rId1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42" autoAdjust="0"/>
    <p:restoredTop sz="89111" autoAdjust="0"/>
  </p:normalViewPr>
  <p:slideViewPr>
    <p:cSldViewPr snapToGrid="0">
      <p:cViewPr varScale="1">
        <p:scale>
          <a:sx n="77" d="100"/>
          <a:sy n="77" d="100"/>
        </p:scale>
        <p:origin x="105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738005-99B0-40C0-83C7-0D282C7D728E}" type="datetimeFigureOut">
              <a:rPr lang="zh-CN" altLang="en-US" smtClean="0"/>
              <a:t>2023/6/18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6D772-DB2D-48E4-973E-620AAB86CFD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和</a:t>
            </a:r>
            <a:r>
              <a:rPr lang="en-US" altLang="zh-CN" dirty="0"/>
              <a:t>\</a:t>
            </a:r>
            <a:r>
              <a:rPr lang="zh-CN" altLang="en-US" dirty="0"/>
              <a:t>在</a:t>
            </a:r>
            <a:r>
              <a:rPr lang="en-US" altLang="zh-CN" dirty="0"/>
              <a:t>windows</a:t>
            </a:r>
            <a:r>
              <a:rPr lang="zh-CN" altLang="en-US" dirty="0"/>
              <a:t>中都可以组成路径</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3</a:t>
            </a:fld>
            <a:endParaRPr lang="zh-CN" altLang="en-US"/>
          </a:p>
        </p:txBody>
      </p:sp>
    </p:spTree>
    <p:extLst>
      <p:ext uri="{BB962C8B-B14F-4D97-AF65-F5344CB8AC3E}">
        <p14:creationId xmlns:p14="http://schemas.microsoft.com/office/powerpoint/2010/main" val="286129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UTF-8</a:t>
            </a:r>
            <a:r>
              <a:rPr lang="zh-CN" altLang="en-US" sz="1200" b="0" i="0" kern="1200" dirty="0">
                <a:solidFill>
                  <a:schemeClr val="tx1"/>
                </a:solidFill>
                <a:effectLst/>
                <a:latin typeface="+mn-lt"/>
                <a:ea typeface="+mn-ea"/>
                <a:cs typeface="+mn-cs"/>
              </a:rPr>
              <a:t>以字节为编码单元，它的字节顺序在所有系统中都是一様的，没有字节序的问题，也因此它实际上并不需要</a:t>
            </a:r>
            <a:r>
              <a:rPr lang="en-US" altLang="zh-CN" sz="1200" b="0" i="0" kern="1200" dirty="0">
                <a:solidFill>
                  <a:schemeClr val="tx1"/>
                </a:solidFill>
                <a:effectLst/>
                <a:latin typeface="+mn-lt"/>
                <a:ea typeface="+mn-ea"/>
                <a:cs typeface="+mn-cs"/>
              </a:rPr>
              <a:t>BOM(“</a:t>
            </a:r>
            <a:r>
              <a:rPr lang="en-US" altLang="zh-CN" sz="1200" b="0" i="0" kern="1200" dirty="0" err="1">
                <a:solidFill>
                  <a:schemeClr val="tx1"/>
                </a:solidFill>
                <a:effectLst/>
                <a:latin typeface="+mn-lt"/>
                <a:ea typeface="+mn-ea"/>
                <a:cs typeface="+mn-cs"/>
              </a:rPr>
              <a:t>ByteOrder</a:t>
            </a:r>
            <a:r>
              <a:rPr lang="en-US" altLang="zh-CN" sz="1200" b="0" i="0" kern="1200" dirty="0">
                <a:solidFill>
                  <a:schemeClr val="tx1"/>
                </a:solidFill>
                <a:effectLst/>
                <a:latin typeface="+mn-lt"/>
                <a:ea typeface="+mn-ea"/>
                <a:cs typeface="+mn-cs"/>
              </a:rPr>
              <a:t> Mark”)</a:t>
            </a:r>
            <a:r>
              <a:rPr lang="zh-CN" altLang="en-US" sz="1200" b="0" i="0" kern="1200" dirty="0">
                <a:solidFill>
                  <a:schemeClr val="tx1"/>
                </a:solidFill>
                <a:effectLst/>
                <a:latin typeface="+mn-lt"/>
                <a:ea typeface="+mn-ea"/>
                <a:cs typeface="+mn-cs"/>
              </a:rPr>
              <a:t>。但是</a:t>
            </a:r>
            <a:r>
              <a:rPr lang="en-US" altLang="zh-CN" sz="1200" b="0" i="0" kern="1200" dirty="0">
                <a:solidFill>
                  <a:schemeClr val="tx1"/>
                </a:solidFill>
                <a:effectLst/>
                <a:latin typeface="+mn-lt"/>
                <a:ea typeface="+mn-ea"/>
                <a:cs typeface="+mn-cs"/>
              </a:rPr>
              <a:t>UTF-8 with BOM</a:t>
            </a:r>
            <a:r>
              <a:rPr lang="zh-CN" altLang="en-US" sz="1200" b="0" i="0" kern="1200" dirty="0">
                <a:solidFill>
                  <a:schemeClr val="tx1"/>
                </a:solidFill>
                <a:effectLst/>
                <a:latin typeface="+mn-lt"/>
                <a:ea typeface="+mn-ea"/>
                <a:cs typeface="+mn-cs"/>
              </a:rPr>
              <a:t>即</a:t>
            </a:r>
            <a:r>
              <a:rPr lang="en-US" altLang="zh-CN" sz="1200" b="0" i="0" kern="1200" dirty="0">
                <a:solidFill>
                  <a:schemeClr val="tx1"/>
                </a:solidFill>
                <a:effectLst/>
                <a:latin typeface="+mn-lt"/>
                <a:ea typeface="+mn-ea"/>
                <a:cs typeface="+mn-cs"/>
              </a:rPr>
              <a:t>utf-8-sig</a:t>
            </a:r>
            <a:r>
              <a:rPr lang="zh-CN" altLang="en-US" sz="1200" b="0" i="0" kern="1200" dirty="0">
                <a:solidFill>
                  <a:schemeClr val="tx1"/>
                </a:solidFill>
                <a:effectLst/>
                <a:latin typeface="+mn-lt"/>
                <a:ea typeface="+mn-ea"/>
                <a:cs typeface="+mn-cs"/>
              </a:rPr>
              <a:t>需要提供</a:t>
            </a:r>
            <a:r>
              <a:rPr lang="en-US" altLang="zh-CN" sz="1200" b="0" i="0" kern="1200" dirty="0">
                <a:solidFill>
                  <a:schemeClr val="tx1"/>
                </a:solidFill>
                <a:effectLst/>
                <a:latin typeface="+mn-lt"/>
                <a:ea typeface="+mn-ea"/>
                <a:cs typeface="+mn-cs"/>
              </a:rPr>
              <a:t>BOM</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字符</a:t>
            </a:r>
            <a:r>
              <a:rPr lang="en-US" altLang="zh-CN" sz="1200" b="0" i="0" kern="1200" dirty="0">
                <a:solidFill>
                  <a:schemeClr val="tx1"/>
                </a:solidFill>
                <a:effectLst/>
                <a:latin typeface="+mn-lt"/>
                <a:ea typeface="+mn-ea"/>
                <a:cs typeface="+mn-cs"/>
              </a:rPr>
              <a:t>U+FEFF</a:t>
            </a:r>
            <a:r>
              <a:rPr lang="zh-CN" altLang="en-US" sz="1200" b="0" i="0" kern="1200" dirty="0">
                <a:solidFill>
                  <a:schemeClr val="tx1"/>
                </a:solidFill>
                <a:effectLst/>
                <a:latin typeface="+mn-lt"/>
                <a:ea typeface="+mn-ea"/>
                <a:cs typeface="+mn-cs"/>
              </a:rPr>
              <a:t>如果出现在字节流的开头，则用来标识该字节流的字节序，是高位在前还是低位在前。如果它出现在字节流的中间，则表达</a:t>
            </a:r>
            <a:r>
              <a:rPr lang="zh-CN" altLang="en-US" sz="1200" b="1" i="0" kern="1200" dirty="0">
                <a:solidFill>
                  <a:schemeClr val="tx1"/>
                </a:solidFill>
                <a:effectLst/>
                <a:latin typeface="+mn-lt"/>
                <a:ea typeface="+mn-ea"/>
                <a:cs typeface="+mn-cs"/>
              </a:rPr>
              <a:t>零宽度非换行空格</a:t>
            </a:r>
            <a:r>
              <a:rPr lang="zh-CN" altLang="en-US" sz="1200" b="0" i="0" kern="1200" dirty="0">
                <a:solidFill>
                  <a:schemeClr val="tx1"/>
                </a:solidFill>
                <a:effectLst/>
                <a:latin typeface="+mn-lt"/>
                <a:ea typeface="+mn-ea"/>
                <a:cs typeface="+mn-cs"/>
              </a:rPr>
              <a:t>的意义，用户看起来就是一个空格。从</a:t>
            </a:r>
            <a:r>
              <a:rPr lang="en-US" altLang="zh-CN" sz="1200" b="0" i="0" kern="1200" dirty="0">
                <a:solidFill>
                  <a:schemeClr val="tx1"/>
                </a:solidFill>
                <a:effectLst/>
                <a:latin typeface="+mn-lt"/>
                <a:ea typeface="+mn-ea"/>
                <a:cs typeface="+mn-cs"/>
              </a:rPr>
              <a:t>Unicode3.2</a:t>
            </a:r>
            <a:r>
              <a:rPr lang="zh-CN" altLang="en-US" sz="1200" b="0" i="0" kern="1200" dirty="0">
                <a:solidFill>
                  <a:schemeClr val="tx1"/>
                </a:solidFill>
                <a:effectLst/>
                <a:latin typeface="+mn-lt"/>
                <a:ea typeface="+mn-ea"/>
                <a:cs typeface="+mn-cs"/>
              </a:rPr>
              <a:t>开始，</a:t>
            </a:r>
            <a:r>
              <a:rPr lang="en-US" altLang="zh-CN" dirty="0"/>
              <a:t>U+FEFF</a:t>
            </a:r>
            <a:r>
              <a:rPr lang="zh-CN" altLang="en-US" sz="1200" b="0" i="0" kern="1200" dirty="0">
                <a:solidFill>
                  <a:schemeClr val="tx1"/>
                </a:solidFill>
                <a:effectLst/>
                <a:latin typeface="+mn-lt"/>
                <a:ea typeface="+mn-ea"/>
                <a:cs typeface="+mn-cs"/>
              </a:rPr>
              <a:t>只能出现在字节流的开头，只能用于标识字节序，就如它的名称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字节序标记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所表示的一样；除此以外的用法已被舍弃。</a:t>
            </a:r>
            <a:endParaRPr lang="zh-CN" altLang="en-US" dirty="0"/>
          </a:p>
        </p:txBody>
      </p:sp>
      <p:sp>
        <p:nvSpPr>
          <p:cNvPr id="4" name="灯片编号占位符 3"/>
          <p:cNvSpPr>
            <a:spLocks noGrp="1"/>
          </p:cNvSpPr>
          <p:nvPr>
            <p:ph type="sldNum" sz="quarter" idx="10"/>
          </p:nvPr>
        </p:nvSpPr>
        <p:spPr/>
        <p:txBody>
          <a:bodyPr/>
          <a:lstStyle/>
          <a:p>
            <a:fld id="{1486D772-DB2D-48E4-973E-620AAB86CFDF}" type="slidenum">
              <a:rPr lang="zh-CN" altLang="en-US" smtClean="0"/>
              <a:t>12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6D772-DB2D-48E4-973E-620AAB86CFDF}" type="slidenum">
              <a:rPr lang="zh-CN" altLang="en-US" smtClean="0"/>
              <a:t>17</a:t>
            </a:fld>
            <a:endParaRPr lang="zh-CN" altLang="en-US"/>
          </a:p>
        </p:txBody>
      </p:sp>
    </p:spTree>
    <p:extLst>
      <p:ext uri="{BB962C8B-B14F-4D97-AF65-F5344CB8AC3E}">
        <p14:creationId xmlns:p14="http://schemas.microsoft.com/office/powerpoint/2010/main" val="291637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。。。测试了一下，会有内容的</a:t>
            </a:r>
            <a:endParaRPr lang="en-US" altLang="zh-CN" dirty="0"/>
          </a:p>
          <a:p>
            <a:r>
              <a:rPr lang="zh-CN" altLang="en-US" dirty="0"/>
              <a:t>。。看来</a:t>
            </a:r>
            <a:r>
              <a:rPr lang="en-US" altLang="zh-CN" dirty="0"/>
              <a:t>cdl</a:t>
            </a:r>
            <a:r>
              <a:rPr lang="zh-CN" altLang="en-US" dirty="0"/>
              <a:t>的</a:t>
            </a:r>
            <a:r>
              <a:rPr lang="en-US" altLang="zh-CN" dirty="0"/>
              <a:t>python</a:t>
            </a:r>
            <a:r>
              <a:rPr lang="zh-CN" altLang="en-US" dirty="0"/>
              <a:t>鲁棒性很差</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18</a:t>
            </a:fld>
            <a:endParaRPr lang="zh-CN" altLang="en-US"/>
          </a:p>
        </p:txBody>
      </p:sp>
    </p:spTree>
    <p:extLst>
      <p:ext uri="{BB962C8B-B14F-4D97-AF65-F5344CB8AC3E}">
        <p14:creationId xmlns:p14="http://schemas.microsoft.com/office/powerpoint/2010/main" val="1016518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翻译：</a:t>
            </a:r>
            <a:r>
              <a:rPr lang="en-US" altLang="zh-CN" dirty="0"/>
              <a:t>flush</a:t>
            </a:r>
            <a:r>
              <a:rPr lang="zh-CN" altLang="en-US" dirty="0"/>
              <a:t>和</a:t>
            </a:r>
            <a:r>
              <a:rPr lang="en-US" altLang="zh-CN" dirty="0"/>
              <a:t>close</a:t>
            </a:r>
            <a:r>
              <a:rPr lang="zh-CN" altLang="en-US" dirty="0"/>
              <a:t>原理完全不同，但效果类似</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20</a:t>
            </a:fld>
            <a:endParaRPr lang="zh-CN" altLang="en-US"/>
          </a:p>
        </p:txBody>
      </p:sp>
    </p:spTree>
    <p:extLst>
      <p:ext uri="{BB962C8B-B14F-4D97-AF65-F5344CB8AC3E}">
        <p14:creationId xmlns:p14="http://schemas.microsoft.com/office/powerpoint/2010/main" val="1890896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a:t>
            </a:r>
            <a:r>
              <a:rPr lang="en-US" altLang="zh-CN" dirty="0"/>
              <a:t>w</a:t>
            </a:r>
            <a:r>
              <a:rPr lang="zh-CN" altLang="en-US" dirty="0"/>
              <a:t>是覆盖，</a:t>
            </a:r>
            <a:r>
              <a:rPr lang="en-US" altLang="zh-CN" dirty="0"/>
              <a:t>r+</a:t>
            </a:r>
            <a:r>
              <a:rPr lang="zh-CN" altLang="en-US" dirty="0"/>
              <a:t>就是不覆盖但能写</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25</a:t>
            </a:fld>
            <a:endParaRPr lang="zh-CN" altLang="en-US"/>
          </a:p>
        </p:txBody>
      </p:sp>
    </p:spTree>
    <p:extLst>
      <p:ext uri="{BB962C8B-B14F-4D97-AF65-F5344CB8AC3E}">
        <p14:creationId xmlns:p14="http://schemas.microsoft.com/office/powerpoint/2010/main" val="1251746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看来有三种方法可以关闭</a:t>
            </a:r>
            <a:r>
              <a:rPr lang="en-US" altLang="zh-CN" dirty="0" err="1"/>
              <a:t>pthon</a:t>
            </a:r>
            <a:r>
              <a:rPr lang="zh-CN" altLang="en-US" dirty="0"/>
              <a:t>文件</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27</a:t>
            </a:fld>
            <a:endParaRPr lang="zh-CN" altLang="en-US"/>
          </a:p>
        </p:txBody>
      </p:sp>
    </p:spTree>
    <p:extLst>
      <p:ext uri="{BB962C8B-B14F-4D97-AF65-F5344CB8AC3E}">
        <p14:creationId xmlns:p14="http://schemas.microsoft.com/office/powerpoint/2010/main" val="28173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两种迭代器的使用方法</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32</a:t>
            </a:fld>
            <a:endParaRPr lang="zh-CN" altLang="en-US"/>
          </a:p>
        </p:txBody>
      </p:sp>
    </p:spTree>
    <p:extLst>
      <p:ext uri="{BB962C8B-B14F-4D97-AF65-F5344CB8AC3E}">
        <p14:creationId xmlns:p14="http://schemas.microsoft.com/office/powerpoint/2010/main" val="3366046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1.os.path.isfile</a:t>
            </a:r>
            <a:r>
              <a:rPr lang="zh-CN" altLang="en-US" dirty="0"/>
              <a:t>方法</a:t>
            </a:r>
            <a:endParaRPr lang="en-US" altLang="zh-CN" dirty="0"/>
          </a:p>
          <a:p>
            <a:r>
              <a:rPr lang="en-US" altLang="zh-CN" dirty="0"/>
              <a:t>2.os.pth.join</a:t>
            </a:r>
            <a:r>
              <a:rPr lang="zh-CN" altLang="en-US" dirty="0"/>
              <a:t>方法，把文件夹和文件名连接起来</a:t>
            </a:r>
            <a:endParaRPr lang="en-US" altLang="zh-CN" dirty="0"/>
          </a:p>
          <a:p>
            <a:r>
              <a:rPr lang="en-US" altLang="zh-CN" dirty="0"/>
              <a:t>3.os.listdir</a:t>
            </a:r>
            <a:r>
              <a:rPr lang="zh-CN" altLang="en-US" dirty="0"/>
              <a:t>方法把所有文件和目录找出来</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34</a:t>
            </a:fld>
            <a:endParaRPr lang="zh-CN" altLang="en-US"/>
          </a:p>
        </p:txBody>
      </p:sp>
    </p:spTree>
    <p:extLst>
      <p:ext uri="{BB962C8B-B14F-4D97-AF65-F5344CB8AC3E}">
        <p14:creationId xmlns:p14="http://schemas.microsoft.com/office/powerpoint/2010/main" val="2311958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a:t>
            </a:r>
            <a:r>
              <a:rPr lang="en-US" altLang="zh-CN" dirty="0" err="1"/>
              <a:t>pycharm</a:t>
            </a:r>
            <a:r>
              <a:rPr lang="zh-CN" altLang="en-US" dirty="0"/>
              <a:t>的</a:t>
            </a:r>
            <a:r>
              <a:rPr lang="en-US" altLang="zh-CN" dirty="0"/>
              <a:t>project</a:t>
            </a:r>
            <a:r>
              <a:rPr lang="zh-CN" altLang="en-US" dirty="0"/>
              <a:t>中安装</a:t>
            </a:r>
            <a:r>
              <a:rPr lang="en-US" altLang="zh-CN" dirty="0"/>
              <a:t>python-</a:t>
            </a:r>
            <a:r>
              <a:rPr lang="en-US" altLang="zh-CN" dirty="0" err="1"/>
              <a:t>docx</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486D772-DB2D-48E4-973E-620AAB86CFDF}" type="slidenum">
              <a:rPr lang="zh-CN" altLang="en-US" smtClean="0"/>
              <a:t>44</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Python-</a:t>
            </a:r>
            <a:r>
              <a:rPr lang="en-US" altLang="zh-CN" dirty="0" err="1"/>
              <a:t>docx</a:t>
            </a:r>
            <a:r>
              <a:rPr lang="zh-CN" altLang="en-US" dirty="0"/>
              <a:t>无法处理</a:t>
            </a:r>
            <a:r>
              <a:rPr lang="en-US" altLang="zh-CN" dirty="0"/>
              <a:t>doc</a:t>
            </a:r>
            <a:r>
              <a:rPr lang="zh-CN" altLang="en-US" dirty="0"/>
              <a:t>文件，需要转换成</a:t>
            </a:r>
            <a:r>
              <a:rPr lang="en-US" altLang="zh-CN" dirty="0" err="1"/>
              <a:t>docx</a:t>
            </a:r>
            <a:endParaRPr lang="zh-CN" altLang="en-US" dirty="0"/>
          </a:p>
        </p:txBody>
      </p:sp>
      <p:sp>
        <p:nvSpPr>
          <p:cNvPr id="4" name="灯片编号占位符 3"/>
          <p:cNvSpPr>
            <a:spLocks noGrp="1"/>
          </p:cNvSpPr>
          <p:nvPr>
            <p:ph type="sldNum" sz="quarter" idx="10"/>
          </p:nvPr>
        </p:nvSpPr>
        <p:spPr/>
        <p:txBody>
          <a:bodyPr/>
          <a:lstStyle/>
          <a:p>
            <a:fld id="{1486D772-DB2D-48E4-973E-620AAB86CFDF}" type="slidenum">
              <a:rPr lang="zh-CN" altLang="en-US" smtClean="0"/>
              <a:t>45</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86D772-DB2D-48E4-973E-620AAB86CFDF}" type="slidenum">
              <a:rPr lang="zh-CN" altLang="en-US" smtClean="0"/>
              <a:t>48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6D772-DB2D-48E4-973E-620AAB86CFDF}" type="slidenum">
              <a:rPr lang="zh-CN" altLang="en-US" smtClean="0"/>
              <a:t>59</a:t>
            </a:fld>
            <a:endParaRPr lang="zh-CN" altLang="en-US"/>
          </a:p>
        </p:txBody>
      </p:sp>
    </p:spTree>
    <p:extLst>
      <p:ext uri="{BB962C8B-B14F-4D97-AF65-F5344CB8AC3E}">
        <p14:creationId xmlns:p14="http://schemas.microsoft.com/office/powerpoint/2010/main" val="1617990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Os.path.split</a:t>
            </a:r>
            <a:r>
              <a:rPr lang="zh-CN" altLang="en-US" dirty="0"/>
              <a:t>是把文件的绝对路径分成非文件名和文件名两部分！</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60</a:t>
            </a:fld>
            <a:endParaRPr lang="zh-CN" altLang="en-US"/>
          </a:p>
        </p:txBody>
      </p:sp>
    </p:spTree>
    <p:extLst>
      <p:ext uri="{BB962C8B-B14F-4D97-AF65-F5344CB8AC3E}">
        <p14:creationId xmlns:p14="http://schemas.microsoft.com/office/powerpoint/2010/main" val="3742992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Utf8</a:t>
            </a:r>
            <a:r>
              <a:rPr lang="zh-CN" altLang="en-US" dirty="0"/>
              <a:t>编码时无法正常显示</a:t>
            </a:r>
          </a:p>
        </p:txBody>
      </p:sp>
      <p:sp>
        <p:nvSpPr>
          <p:cNvPr id="4" name="灯片编号占位符 3"/>
          <p:cNvSpPr>
            <a:spLocks noGrp="1"/>
          </p:cNvSpPr>
          <p:nvPr>
            <p:ph type="sldNum" sz="quarter" idx="10"/>
          </p:nvPr>
        </p:nvSpPr>
        <p:spPr/>
        <p:txBody>
          <a:bodyPr/>
          <a:lstStyle/>
          <a:p>
            <a:fld id="{1486D772-DB2D-48E4-973E-620AAB86CFDF}" type="slidenum">
              <a:rPr lang="zh-CN" altLang="en-US" smtClean="0"/>
              <a:t>65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异常这部分我称之为纯纯水货：全浓缩在这两页了</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105</a:t>
            </a:fld>
            <a:endParaRPr lang="zh-CN" altLang="en-US"/>
          </a:p>
        </p:txBody>
      </p:sp>
    </p:spTree>
    <p:extLst>
      <p:ext uri="{BB962C8B-B14F-4D97-AF65-F5344CB8AC3E}">
        <p14:creationId xmlns:p14="http://schemas.microsoft.com/office/powerpoint/2010/main" val="3597965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加个逗号，表示输出信息</a:t>
            </a:r>
            <a:endParaRPr lang="en-US" altLang="zh-CN" dirty="0"/>
          </a:p>
          <a:p>
            <a:r>
              <a:rPr lang="en-US" altLang="zh-CN" dirty="0"/>
              <a:t>Assert</a:t>
            </a:r>
            <a:r>
              <a:rPr lang="zh-CN" altLang="en-US" dirty="0"/>
              <a:t>的条件，满足就没事，不满足就生气</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113</a:t>
            </a:fld>
            <a:endParaRPr lang="zh-CN" altLang="en-US"/>
          </a:p>
        </p:txBody>
      </p:sp>
    </p:spTree>
    <p:extLst>
      <p:ext uri="{BB962C8B-B14F-4D97-AF65-F5344CB8AC3E}">
        <p14:creationId xmlns:p14="http://schemas.microsoft.com/office/powerpoint/2010/main" val="2455511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然后就写到</a:t>
            </a:r>
            <a:r>
              <a:rPr lang="en-US" altLang="zh-CN" dirty="0"/>
              <a:t>new.log</a:t>
            </a:r>
            <a:r>
              <a:rPr lang="zh-CN" altLang="en-US" dirty="0"/>
              <a:t>文件里面去了</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131</a:t>
            </a:fld>
            <a:endParaRPr lang="zh-CN" altLang="en-US"/>
          </a:p>
        </p:txBody>
      </p:sp>
    </p:spTree>
    <p:extLst>
      <p:ext uri="{BB962C8B-B14F-4D97-AF65-F5344CB8AC3E}">
        <p14:creationId xmlns:p14="http://schemas.microsoft.com/office/powerpoint/2010/main" val="375528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这里的相关信息指的是</a:t>
            </a:r>
            <a:r>
              <a:rPr lang="en-US" altLang="zh-CN" dirty="0" err="1"/>
              <a:t>logging.debug</a:t>
            </a:r>
            <a:r>
              <a:rPr lang="en-US" altLang="zh-CN" dirty="0"/>
              <a:t>(‘this is a debug!’)</a:t>
            </a:r>
            <a:r>
              <a:rPr lang="zh-CN" altLang="en-US" dirty="0"/>
              <a:t>中的‘</a:t>
            </a:r>
            <a:r>
              <a:rPr lang="en-US" altLang="zh-CN" dirty="0"/>
              <a:t>this is a debug!</a:t>
            </a:r>
            <a:r>
              <a:rPr lang="zh-CN" altLang="en-US" dirty="0"/>
              <a:t>’</a:t>
            </a:r>
          </a:p>
        </p:txBody>
      </p:sp>
      <p:sp>
        <p:nvSpPr>
          <p:cNvPr id="4" name="灯片编号占位符 3"/>
          <p:cNvSpPr>
            <a:spLocks noGrp="1"/>
          </p:cNvSpPr>
          <p:nvPr>
            <p:ph type="sldNum" sz="quarter" idx="5"/>
          </p:nvPr>
        </p:nvSpPr>
        <p:spPr/>
        <p:txBody>
          <a:bodyPr/>
          <a:lstStyle/>
          <a:p>
            <a:fld id="{1486D772-DB2D-48E4-973E-620AAB86CFDF}" type="slidenum">
              <a:rPr lang="zh-CN" altLang="en-US" smtClean="0"/>
              <a:t>133</a:t>
            </a:fld>
            <a:endParaRPr lang="zh-CN" altLang="en-US"/>
          </a:p>
        </p:txBody>
      </p:sp>
    </p:spTree>
    <p:extLst>
      <p:ext uri="{BB962C8B-B14F-4D97-AF65-F5344CB8AC3E}">
        <p14:creationId xmlns:p14="http://schemas.microsoft.com/office/powerpoint/2010/main" val="2972879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注意一点，这个等级是大写</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1486D772-DB2D-48E4-973E-620AAB86CFDF}" type="slidenum">
              <a:rPr lang="zh-CN" altLang="en-US" smtClean="0"/>
              <a:t>136</a:t>
            </a:fld>
            <a:endParaRPr lang="zh-CN" altLang="en-US"/>
          </a:p>
        </p:txBody>
      </p:sp>
    </p:spTree>
    <p:extLst>
      <p:ext uri="{BB962C8B-B14F-4D97-AF65-F5344CB8AC3E}">
        <p14:creationId xmlns:p14="http://schemas.microsoft.com/office/powerpoint/2010/main" val="3930295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2023/6/18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2C2092-973F-42BB-8DD3-66CF3D020F6D}" type="datetimeFigureOut">
              <a:rPr lang="zh-CN" altLang="en-US" smtClean="0"/>
              <a:t>2023/6/18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6C15F9-21D8-4D3D-8779-6713FE22CAA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10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11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文件和异常</a:t>
            </a:r>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solidFill>
                  <a:srgbClr val="FF0000"/>
                </a:solidFill>
              </a:rPr>
              <a:t>文件与目录操作</a:t>
            </a:r>
            <a:endParaRPr lang="en-US" altLang="zh-CN" dirty="0">
              <a:solidFill>
                <a:srgbClr val="FF0000"/>
              </a:solidFill>
            </a:endParaRPr>
          </a:p>
          <a:p>
            <a:r>
              <a:rPr lang="zh-CN" altLang="en-US" dirty="0"/>
              <a:t>常见文件格式处理</a:t>
            </a:r>
            <a:endParaRPr lang="en-US" altLang="zh-CN" dirty="0"/>
          </a:p>
          <a:p>
            <a:r>
              <a:rPr lang="zh-CN" altLang="en-US" dirty="0"/>
              <a:t>异常</a:t>
            </a:r>
            <a:endParaRPr lang="en-US" altLang="zh-CN" dirty="0"/>
          </a:p>
          <a:p>
            <a:r>
              <a:rPr lang="zh-CN" altLang="en-US" dirty="0"/>
              <a:t>断言</a:t>
            </a:r>
            <a:endParaRPr lang="en-US" altLang="zh-CN" dirty="0"/>
          </a:p>
          <a:p>
            <a:r>
              <a:rPr lang="zh-CN" altLang="en-US" dirty="0"/>
              <a:t>日志</a:t>
            </a:r>
            <a:endParaRPr lang="en-US" altLang="zh-CN"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4" name="矩形 3"/>
          <p:cNvSpPr/>
          <p:nvPr/>
        </p:nvSpPr>
        <p:spPr>
          <a:xfrm>
            <a:off x="1112575" y="2236203"/>
            <a:ext cx="7915326" cy="4228850"/>
          </a:xfrm>
          <a:prstGeom prst="rect">
            <a:avLst/>
          </a:prstGeom>
        </p:spPr>
        <p:txBody>
          <a:bodyPr wrap="square">
            <a:spAutoFit/>
          </a:bodyPr>
          <a:lstStyle/>
          <a:p>
            <a:pPr fontAlgn="auto">
              <a:lnSpc>
                <a:spcPct val="120000"/>
              </a:lnSpc>
            </a:pPr>
            <a:r>
              <a:rPr lang="en-US" altLang="zh-CN" sz="1600" dirty="0">
                <a:solidFill>
                  <a:schemeClr val="tx1">
                    <a:lumMod val="75000"/>
                    <a:lumOff val="25000"/>
                  </a:schemeClr>
                </a:solidFill>
              </a:rPr>
              <a:t>Python</a:t>
            </a:r>
            <a:r>
              <a:rPr lang="zh-CN" altLang="zh-CN" sz="1600" dirty="0">
                <a:solidFill>
                  <a:schemeClr val="tx1">
                    <a:lumMod val="75000"/>
                    <a:lumOff val="25000"/>
                  </a:schemeClr>
                </a:solidFill>
              </a:rPr>
              <a:t>文件操作的基本流程是：打开文件</a:t>
            </a:r>
            <a:r>
              <a:rPr lang="en-US" altLang="zh-CN" sz="1600" dirty="0">
                <a:solidFill>
                  <a:schemeClr val="tx1">
                    <a:lumMod val="75000"/>
                    <a:lumOff val="25000"/>
                  </a:schemeClr>
                </a:solidFill>
                <a:sym typeface="Wingdings" panose="05000000000000000000" pitchFamily="2" charset="2"/>
              </a:rPr>
              <a:t></a:t>
            </a:r>
            <a:r>
              <a:rPr lang="zh-CN" altLang="zh-CN" sz="1600" dirty="0">
                <a:solidFill>
                  <a:schemeClr val="tx1">
                    <a:lumMod val="75000"/>
                    <a:lumOff val="25000"/>
                  </a:schemeClr>
                </a:solidFill>
              </a:rPr>
              <a:t>对文件进行读、写或其它操作</a:t>
            </a:r>
            <a:r>
              <a:rPr lang="en-US" altLang="zh-CN" sz="1600" dirty="0">
                <a:solidFill>
                  <a:schemeClr val="tx1">
                    <a:lumMod val="75000"/>
                    <a:lumOff val="25000"/>
                  </a:schemeClr>
                </a:solidFill>
                <a:sym typeface="Wingdings" panose="05000000000000000000" pitchFamily="2" charset="2"/>
              </a:rPr>
              <a:t></a:t>
            </a:r>
            <a:r>
              <a:rPr lang="zh-CN" altLang="zh-CN" sz="1600" dirty="0">
                <a:solidFill>
                  <a:schemeClr val="tx1">
                    <a:lumMod val="75000"/>
                    <a:lumOff val="25000"/>
                  </a:schemeClr>
                </a:solidFill>
              </a:rPr>
              <a:t>关闭文件。</a:t>
            </a:r>
            <a:r>
              <a:rPr lang="en-US" altLang="zh-CN" sz="1600" b="1" dirty="0">
                <a:solidFill>
                  <a:schemeClr val="tx1">
                    <a:lumMod val="75000"/>
                    <a:lumOff val="25000"/>
                  </a:schemeClr>
                </a:solidFill>
              </a:rPr>
              <a:t>1. </a:t>
            </a:r>
            <a:r>
              <a:rPr lang="zh-CN" altLang="zh-CN" sz="1600" b="1" dirty="0">
                <a:solidFill>
                  <a:schemeClr val="tx1">
                    <a:lumMod val="75000"/>
                    <a:lumOff val="25000"/>
                  </a:schemeClr>
                </a:solidFill>
              </a:rPr>
              <a:t>文件的打开</a:t>
            </a:r>
          </a:p>
          <a:p>
            <a:pPr algn="l" fontAlgn="auto">
              <a:lnSpc>
                <a:spcPct val="120000"/>
              </a:lnSpc>
              <a:buClrTx/>
              <a:buSzTx/>
              <a:buFontTx/>
            </a:pPr>
            <a:r>
              <a:rPr lang="en-US" altLang="zh-CN" sz="1600" dirty="0">
                <a:solidFill>
                  <a:schemeClr val="tx1">
                    <a:lumMod val="75000"/>
                    <a:lumOff val="25000"/>
                  </a:schemeClr>
                </a:solidFill>
              </a:rPr>
              <a:t>使用内置函数“open”来打开文件，语法格式如下：</a:t>
            </a:r>
          </a:p>
          <a:p>
            <a:pPr algn="l" fontAlgn="auto">
              <a:lnSpc>
                <a:spcPct val="120000"/>
              </a:lnSpc>
              <a:buClrTx/>
              <a:buSzTx/>
              <a:buFontTx/>
            </a:pPr>
            <a:r>
              <a:rPr lang="en-US" altLang="zh-CN" sz="1600" dirty="0">
                <a:solidFill>
                  <a:schemeClr val="tx1">
                    <a:lumMod val="75000"/>
                    <a:lumOff val="25000"/>
                  </a:schemeClr>
                </a:solidFill>
              </a:rPr>
              <a:t>open(“路径”,“</a:t>
            </a:r>
            <a:r>
              <a:rPr lang="en-US" altLang="zh-CN" sz="1600" dirty="0" err="1">
                <a:solidFill>
                  <a:schemeClr val="tx1">
                    <a:lumMod val="75000"/>
                    <a:lumOff val="25000"/>
                  </a:schemeClr>
                </a:solidFill>
              </a:rPr>
              <a:t>模式</a:t>
            </a:r>
            <a:r>
              <a:rPr lang="en-US" altLang="zh-CN" sz="1600" dirty="0">
                <a:solidFill>
                  <a:schemeClr val="tx1">
                    <a:lumMod val="75000"/>
                    <a:lumOff val="25000"/>
                  </a:schemeClr>
                </a:solidFill>
              </a:rPr>
              <a:t>”,encoding = “编码”)</a:t>
            </a:r>
          </a:p>
          <a:p>
            <a:pPr algn="l" fontAlgn="auto">
              <a:lnSpc>
                <a:spcPct val="120000"/>
              </a:lnSpc>
              <a:buClrTx/>
              <a:buSzTx/>
              <a:buFontTx/>
            </a:pPr>
            <a:r>
              <a:rPr lang="en-US" altLang="zh-CN" sz="1600" dirty="0">
                <a:solidFill>
                  <a:schemeClr val="tx1">
                    <a:lumMod val="75000"/>
                    <a:lumOff val="25000"/>
                  </a:schemeClr>
                </a:solidFill>
              </a:rPr>
              <a:t>第一个参数是路径（必不可少），</a:t>
            </a:r>
            <a:r>
              <a:rPr lang="en-US" altLang="zh-CN" sz="1600" dirty="0" err="1">
                <a:solidFill>
                  <a:schemeClr val="tx1">
                    <a:lumMod val="75000"/>
                    <a:lumOff val="25000"/>
                  </a:schemeClr>
                </a:solidFill>
              </a:rPr>
              <a:t>第二个参数是操作的模式（读</a:t>
            </a:r>
            <a:r>
              <a:rPr lang="zh-CN" altLang="en-US" sz="1600" dirty="0">
                <a:solidFill>
                  <a:schemeClr val="tx1">
                    <a:lumMod val="75000"/>
                    <a:lumOff val="25000"/>
                  </a:schemeClr>
                </a:solidFill>
              </a:rPr>
              <a:t>、</a:t>
            </a:r>
            <a:r>
              <a:rPr lang="en-US" altLang="zh-CN" sz="1600" dirty="0">
                <a:solidFill>
                  <a:schemeClr val="tx1">
                    <a:lumMod val="75000"/>
                    <a:lumOff val="25000"/>
                  </a:schemeClr>
                </a:solidFill>
              </a:rPr>
              <a:t>写</a:t>
            </a:r>
            <a:r>
              <a:rPr lang="zh-CN" altLang="en-US" sz="1600" dirty="0">
                <a:solidFill>
                  <a:schemeClr val="tx1">
                    <a:lumMod val="75000"/>
                    <a:lumOff val="25000"/>
                  </a:schemeClr>
                </a:solidFill>
              </a:rPr>
              <a:t>、</a:t>
            </a:r>
            <a:r>
              <a:rPr lang="en-US" altLang="zh-CN" sz="1600" dirty="0" err="1">
                <a:solidFill>
                  <a:schemeClr val="tx1">
                    <a:lumMod val="75000"/>
                    <a:lumOff val="25000"/>
                  </a:schemeClr>
                </a:solidFill>
              </a:rPr>
              <a:t>其它的操作</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第三个是编码，指定当前文档读取或者写入的字符串编码是什么。后面两个参数是可以省略的</a:t>
            </a:r>
            <a:r>
              <a:rPr lang="en-US" altLang="zh-CN" sz="1600" dirty="0">
                <a:solidFill>
                  <a:schemeClr val="tx1">
                    <a:lumMod val="75000"/>
                    <a:lumOff val="25000"/>
                  </a:schemeClr>
                </a:solidFill>
              </a:rPr>
              <a:t>。</a:t>
            </a:r>
          </a:p>
          <a:p>
            <a:pPr algn="l" fontAlgn="auto">
              <a:lnSpc>
                <a:spcPct val="120000"/>
              </a:lnSpc>
              <a:buClrTx/>
              <a:buSzTx/>
              <a:buFontTx/>
            </a:pPr>
            <a:r>
              <a:rPr lang="en-US" altLang="zh-CN" sz="1600" dirty="0">
                <a:solidFill>
                  <a:schemeClr val="tx1">
                    <a:lumMod val="75000"/>
                    <a:lumOff val="25000"/>
                  </a:schemeClr>
                </a:solidFill>
              </a:rPr>
              <a:t>（1）路径的写法</a:t>
            </a:r>
          </a:p>
          <a:p>
            <a:pPr algn="l" fontAlgn="auto">
              <a:lnSpc>
                <a:spcPct val="120000"/>
              </a:lnSpc>
              <a:buClrTx/>
              <a:buSzTx/>
              <a:buFontTx/>
            </a:pPr>
            <a:r>
              <a:rPr lang="en-US" altLang="zh-CN" sz="1600" dirty="0">
                <a:solidFill>
                  <a:schemeClr val="tx1">
                    <a:lumMod val="75000"/>
                    <a:lumOff val="25000"/>
                  </a:schemeClr>
                </a:solidFill>
              </a:rPr>
              <a:t>【例】假设在C盘的path路径下有一个文本文件“data.txt”，</a:t>
            </a:r>
            <a:r>
              <a:rPr lang="en-US" altLang="zh-CN" sz="1600" dirty="0" err="1">
                <a:solidFill>
                  <a:schemeClr val="tx1">
                    <a:lumMod val="75000"/>
                    <a:lumOff val="25000"/>
                  </a:schemeClr>
                </a:solidFill>
              </a:rPr>
              <a:t>则有</a:t>
            </a:r>
            <a:r>
              <a:rPr lang="zh-CN" altLang="en-US" sz="1600" dirty="0">
                <a:solidFill>
                  <a:schemeClr val="tx1">
                    <a:lumMod val="75000"/>
                    <a:lumOff val="25000"/>
                  </a:schemeClr>
                </a:solidFill>
              </a:rPr>
              <a:t>三</a:t>
            </a:r>
            <a:r>
              <a:rPr lang="en-US" altLang="zh-CN" sz="1600" dirty="0" err="1">
                <a:solidFill>
                  <a:schemeClr val="tx1">
                    <a:lumMod val="75000"/>
                    <a:lumOff val="25000"/>
                  </a:schemeClr>
                </a:solidFill>
              </a:rPr>
              <a:t>种表达该路径的方法</a:t>
            </a:r>
            <a:r>
              <a:rPr lang="en-US" altLang="zh-CN" sz="1600" dirty="0">
                <a:solidFill>
                  <a:schemeClr val="tx1">
                    <a:lumMod val="75000"/>
                    <a:lumOff val="25000"/>
                  </a:schemeClr>
                </a:solidFill>
              </a:rPr>
              <a:t>。</a:t>
            </a:r>
          </a:p>
          <a:p>
            <a:pPr algn="l" fontAlgn="auto">
              <a:lnSpc>
                <a:spcPct val="120000"/>
              </a:lnSpc>
              <a:buClrTx/>
              <a:buSzTx/>
              <a:buFontTx/>
            </a:pPr>
            <a:r>
              <a:rPr lang="en-US" altLang="zh-CN" sz="1600" dirty="0">
                <a:solidFill>
                  <a:schemeClr val="tx1">
                    <a:lumMod val="75000"/>
                    <a:lumOff val="25000"/>
                  </a:schemeClr>
                </a:solidFill>
              </a:rPr>
              <a:t>绝对路径表示方法：</a:t>
            </a:r>
          </a:p>
          <a:p>
            <a:pPr algn="l" fontAlgn="auto">
              <a:lnSpc>
                <a:spcPct val="120000"/>
              </a:lnSpc>
              <a:buClrTx/>
              <a:buSzTx/>
              <a:buFontTx/>
            </a:pPr>
            <a:r>
              <a:rPr lang="en-US" altLang="zh-CN" sz="1600" dirty="0">
                <a:solidFill>
                  <a:schemeClr val="tx1">
                    <a:lumMod val="75000"/>
                    <a:lumOff val="25000"/>
                  </a:schemeClr>
                </a:solidFill>
              </a:rPr>
              <a:t>方法一：'c:\\path\\data.txt'，利用转义字符指定路径。由于“\”需要转义，所以，这里要写两个“\\”。</a:t>
            </a:r>
          </a:p>
          <a:p>
            <a:pPr algn="l" fontAlgn="auto">
              <a:lnSpc>
                <a:spcPct val="120000"/>
              </a:lnSpc>
              <a:buClrTx/>
              <a:buSzTx/>
              <a:buFontTx/>
            </a:pPr>
            <a:r>
              <a:rPr lang="en-US" altLang="zh-CN" sz="1600" dirty="0">
                <a:solidFill>
                  <a:schemeClr val="tx1">
                    <a:lumMod val="75000"/>
                    <a:lumOff val="25000"/>
                  </a:schemeClr>
                </a:solidFill>
              </a:rPr>
              <a:t>方法二：r'c:\path\data.txt'，利用“r”将路径申明为原始字符串。</a:t>
            </a:r>
          </a:p>
          <a:p>
            <a:pPr algn="l" fontAlgn="auto">
              <a:lnSpc>
                <a:spcPct val="120000"/>
              </a:lnSpc>
              <a:buClrTx/>
              <a:buSzTx/>
              <a:buFontTx/>
            </a:pPr>
            <a:r>
              <a:rPr lang="en-US" altLang="zh-CN" sz="1600" dirty="0">
                <a:solidFill>
                  <a:schemeClr val="tx1">
                    <a:lumMod val="75000"/>
                    <a:lumOff val="25000"/>
                  </a:schemeClr>
                </a:solidFill>
              </a:rPr>
              <a:t>方法三： 'c:/path/data.txt'，利用斜杠“/”来表示，此时不需要进行转义。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5" name="矩形 4"/>
          <p:cNvSpPr/>
          <p:nvPr/>
        </p:nvSpPr>
        <p:spPr>
          <a:xfrm>
            <a:off x="1021832" y="2183848"/>
            <a:ext cx="10266973" cy="4918269"/>
          </a:xfrm>
          <a:prstGeom prst="rect">
            <a:avLst/>
          </a:prstGeom>
        </p:spPr>
        <p:txBody>
          <a:bodyPr wrap="square">
            <a:spAutoFit/>
          </a:bodyPr>
          <a:lstStyle/>
          <a:p>
            <a:pPr algn="l">
              <a:lnSpc>
                <a:spcPct val="120000"/>
              </a:lnSpc>
              <a:buClrTx/>
              <a:buSzTx/>
              <a:buNone/>
            </a:pPr>
            <a:r>
              <a:rPr lang="en-US" altLang="zh-CN" sz="1600" dirty="0">
                <a:solidFill>
                  <a:schemeClr val="tx1">
                    <a:lumMod val="75000"/>
                    <a:lumOff val="25000"/>
                  </a:schemeClr>
                </a:solidFill>
              </a:rPr>
              <a:t>相对路径表示方式：只写文件名。</a:t>
            </a:r>
          </a:p>
          <a:p>
            <a:pPr algn="l">
              <a:lnSpc>
                <a:spcPct val="120000"/>
              </a:lnSpc>
              <a:buClrTx/>
              <a:buSzTx/>
              <a:buNone/>
            </a:pPr>
            <a:r>
              <a:rPr lang="en-US" altLang="zh-CN" sz="1600" dirty="0">
                <a:solidFill>
                  <a:schemeClr val="tx1">
                    <a:lumMod val="75000"/>
                    <a:lumOff val="25000"/>
                  </a:schemeClr>
                </a:solidFill>
              </a:rPr>
              <a:t>可以利用Python标准库中的os模块来进行目录的切换，从而在打开文件时只写文件名，而省略掉文件名前面的路径信息。看下面的代码：</a:t>
            </a:r>
          </a:p>
          <a:p>
            <a:pPr algn="l">
              <a:lnSpc>
                <a:spcPct val="120000"/>
              </a:lnSpc>
              <a:buClrTx/>
              <a:buSzTx/>
              <a:buNone/>
            </a:pPr>
            <a:r>
              <a:rPr lang="en-US" altLang="zh-CN" sz="1600" dirty="0">
                <a:solidFill>
                  <a:schemeClr val="tx1">
                    <a:lumMod val="75000"/>
                    <a:lumOff val="25000"/>
                  </a:schemeClr>
                </a:solidFill>
              </a:rPr>
              <a:t>&gt; f = open('data.txt')</a:t>
            </a:r>
          </a:p>
          <a:p>
            <a:pPr indent="457200"/>
            <a:endParaRPr lang="en-US" altLang="zh-CN" sz="1600" dirty="0"/>
          </a:p>
          <a:p>
            <a:pPr indent="457200"/>
            <a:endParaRPr lang="en-US" altLang="zh-CN" sz="1600" dirty="0"/>
          </a:p>
          <a:p>
            <a:pPr indent="457200"/>
            <a:endParaRPr lang="en-US" altLang="zh-CN" sz="1600" dirty="0"/>
          </a:p>
          <a:p>
            <a:pPr indent="457200"/>
            <a:endParaRPr lang="en-US" altLang="zh-CN" sz="1600" dirty="0"/>
          </a:p>
          <a:p>
            <a:pPr indent="457200"/>
            <a:endParaRPr lang="en-US" altLang="zh-CN" sz="1600" dirty="0"/>
          </a:p>
          <a:p>
            <a:pPr algn="l">
              <a:lnSpc>
                <a:spcPct val="120000"/>
              </a:lnSpc>
              <a:buClrTx/>
              <a:buSzTx/>
              <a:buNone/>
            </a:pPr>
            <a:r>
              <a:rPr lang="en-US" altLang="zh-CN" sz="1600" dirty="0">
                <a:solidFill>
                  <a:schemeClr val="tx1">
                    <a:lumMod val="75000"/>
                    <a:lumOff val="25000"/>
                  </a:schemeClr>
                </a:solidFill>
              </a:rPr>
              <a:t>&gt; import os</a:t>
            </a:r>
          </a:p>
          <a:p>
            <a:pPr algn="l">
              <a:lnSpc>
                <a:spcPct val="120000"/>
              </a:lnSpc>
              <a:buClrTx/>
              <a:buSzTx/>
              <a:buNone/>
            </a:pPr>
            <a:r>
              <a:rPr lang="en-US" altLang="zh-CN" sz="1600" dirty="0">
                <a:solidFill>
                  <a:schemeClr val="tx1">
                    <a:lumMod val="75000"/>
                    <a:lumOff val="25000"/>
                  </a:schemeClr>
                </a:solidFill>
              </a:rPr>
              <a:t>&gt; os.getcwd()</a:t>
            </a:r>
          </a:p>
          <a:p>
            <a:endParaRPr lang="en-US" altLang="zh-CN" sz="1600" dirty="0"/>
          </a:p>
          <a:p>
            <a:r>
              <a:rPr lang="en-US" altLang="zh-CN" sz="1600" dirty="0">
                <a:solidFill>
                  <a:schemeClr val="tx1">
                    <a:lumMod val="75000"/>
                    <a:lumOff val="25000"/>
                  </a:schemeClr>
                </a:solidFill>
              </a:rPr>
              <a:t>&gt; os.chdir(r'D:\python\PythonEXample') #改变当前目录为“D:\python\PythonEXample”</a:t>
            </a:r>
          </a:p>
          <a:p>
            <a:pPr algn="l">
              <a:lnSpc>
                <a:spcPct val="120000"/>
              </a:lnSpc>
              <a:buClrTx/>
              <a:buSzTx/>
              <a:buNone/>
            </a:pPr>
            <a:r>
              <a:rPr lang="en-US" altLang="zh-CN" sz="1600" dirty="0">
                <a:solidFill>
                  <a:schemeClr val="tx1">
                    <a:lumMod val="75000"/>
                    <a:lumOff val="25000"/>
                  </a:schemeClr>
                </a:solidFill>
              </a:rPr>
              <a:t>&gt; f = open(r'data.txt', 'r', encoding='utf-8')  #此时采用相对路径表示，正确！</a:t>
            </a:r>
          </a:p>
          <a:p>
            <a:pPr algn="l">
              <a:lnSpc>
                <a:spcPct val="120000"/>
              </a:lnSpc>
              <a:buClrTx/>
              <a:buSzTx/>
              <a:buNone/>
            </a:pPr>
            <a:r>
              <a:rPr lang="en-US" altLang="zh-CN" sz="1600" dirty="0">
                <a:solidFill>
                  <a:schemeClr val="tx1">
                    <a:lumMod val="75000"/>
                    <a:lumOff val="25000"/>
                  </a:schemeClr>
                </a:solidFill>
              </a:rPr>
              <a:t>&gt; f.read()</a:t>
            </a:r>
          </a:p>
          <a:p>
            <a:endParaRPr lang="en-US" altLang="zh-CN" sz="1600" dirty="0"/>
          </a:p>
          <a:p>
            <a:endParaRPr lang="zh-CN" altLang="zh-CN" sz="1600" dirty="0"/>
          </a:p>
          <a:p>
            <a:pPr indent="457200"/>
            <a:endParaRPr lang="zh-CN" altLang="zh-CN" sz="1600" dirty="0"/>
          </a:p>
        </p:txBody>
      </p:sp>
      <p:pic>
        <p:nvPicPr>
          <p:cNvPr id="6" name="图片 5"/>
          <p:cNvPicPr/>
          <p:nvPr/>
        </p:nvPicPr>
        <p:blipFill>
          <a:blip r:embed="rId2" cstate="print"/>
          <a:srcRect/>
          <a:stretch>
            <a:fillRect/>
          </a:stretch>
        </p:blipFill>
        <p:spPr bwMode="auto">
          <a:xfrm>
            <a:off x="1544779" y="3505545"/>
            <a:ext cx="3948849" cy="1111464"/>
          </a:xfrm>
          <a:prstGeom prst="rect">
            <a:avLst/>
          </a:prstGeom>
          <a:noFill/>
          <a:ln w="9525">
            <a:noFill/>
            <a:miter lim="800000"/>
            <a:headEnd/>
            <a:tailEnd/>
          </a:ln>
        </p:spPr>
      </p:pic>
      <p:pic>
        <p:nvPicPr>
          <p:cNvPr id="7" name="图片 6"/>
          <p:cNvPicPr/>
          <p:nvPr/>
        </p:nvPicPr>
        <p:blipFill>
          <a:blip r:embed="rId3" cstate="print"/>
          <a:srcRect/>
          <a:stretch>
            <a:fillRect/>
          </a:stretch>
        </p:blipFill>
        <p:spPr bwMode="auto">
          <a:xfrm>
            <a:off x="1545204" y="5166157"/>
            <a:ext cx="1918986" cy="271010"/>
          </a:xfrm>
          <a:prstGeom prst="rect">
            <a:avLst/>
          </a:prstGeom>
          <a:noFill/>
          <a:ln w="9525">
            <a:noFill/>
            <a:miter lim="800000"/>
            <a:headEnd/>
            <a:tailEnd/>
          </a:ln>
        </p:spPr>
      </p:pic>
      <p:pic>
        <p:nvPicPr>
          <p:cNvPr id="8" name="图片 7"/>
          <p:cNvPicPr/>
          <p:nvPr/>
        </p:nvPicPr>
        <p:blipFill>
          <a:blip r:embed="rId4" cstate="print"/>
          <a:srcRect/>
          <a:stretch>
            <a:fillRect/>
          </a:stretch>
        </p:blipFill>
        <p:spPr bwMode="auto">
          <a:xfrm>
            <a:off x="1544779" y="6324306"/>
            <a:ext cx="6177317" cy="445109"/>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9" name="矩形 8"/>
          <p:cNvSpPr/>
          <p:nvPr/>
        </p:nvSpPr>
        <p:spPr>
          <a:xfrm>
            <a:off x="1106230" y="2102294"/>
            <a:ext cx="7915326" cy="829945"/>
          </a:xfrm>
          <a:prstGeom prst="rect">
            <a:avLst/>
          </a:prstGeom>
        </p:spPr>
        <p:txBody>
          <a:bodyPr wrap="square">
            <a:spAutoFit/>
          </a:bodyPr>
          <a:lstStyle/>
          <a:p>
            <a:pPr algn="l">
              <a:lnSpc>
                <a:spcPct val="150000"/>
              </a:lnSpc>
              <a:buClrTx/>
              <a:buSzTx/>
              <a:buNone/>
            </a:pPr>
            <a:r>
              <a:rPr lang="en-US" altLang="zh-CN" sz="1600" dirty="0" err="1">
                <a:solidFill>
                  <a:schemeClr val="tx1">
                    <a:lumMod val="75000"/>
                    <a:lumOff val="25000"/>
                  </a:schemeClr>
                </a:solidFill>
              </a:rPr>
              <a:t>os模块提供了有很多对文件目录进行操作的方法，os模块常用方法见</a:t>
            </a:r>
            <a:r>
              <a:rPr lang="zh-CN" altLang="en-US" sz="1600" dirty="0">
                <a:solidFill>
                  <a:schemeClr val="tx1">
                    <a:lumMod val="75000"/>
                    <a:lumOff val="25000"/>
                  </a:schemeClr>
                </a:solidFill>
              </a:rPr>
              <a:t>下表</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也可以在导入os模块后，通过help(os)命令查阅更多的方法以及它们的语法格式。</a:t>
            </a:r>
          </a:p>
        </p:txBody>
      </p:sp>
      <p:graphicFrame>
        <p:nvGraphicFramePr>
          <p:cNvPr id="11" name="表格 10"/>
          <p:cNvGraphicFramePr>
            <a:graphicFrameLocks noGrp="1"/>
          </p:cNvGraphicFramePr>
          <p:nvPr/>
        </p:nvGraphicFramePr>
        <p:xfrm>
          <a:off x="1156857" y="3027372"/>
          <a:ext cx="9284784" cy="3135828"/>
        </p:xfrm>
        <a:graphic>
          <a:graphicData uri="http://schemas.openxmlformats.org/drawingml/2006/table">
            <a:tbl>
              <a:tblPr firstRow="1" firstCol="1" bandRow="1">
                <a:tableStyleId>{5940675A-B579-460E-94D1-54222C63F5DA}</a:tableStyleId>
              </a:tblPr>
              <a:tblGrid>
                <a:gridCol w="4127837">
                  <a:extLst>
                    <a:ext uri="{9D8B030D-6E8A-4147-A177-3AD203B41FA5}">
                      <a16:colId xmlns:a16="http://schemas.microsoft.com/office/drawing/2014/main" val="20000"/>
                    </a:ext>
                  </a:extLst>
                </a:gridCol>
                <a:gridCol w="5156947">
                  <a:extLst>
                    <a:ext uri="{9D8B030D-6E8A-4147-A177-3AD203B41FA5}">
                      <a16:colId xmlns:a16="http://schemas.microsoft.com/office/drawing/2014/main" val="20001"/>
                    </a:ext>
                  </a:extLst>
                </a:gridCol>
              </a:tblGrid>
              <a:tr h="238760">
                <a:tc>
                  <a:txBody>
                    <a:bodyPr/>
                    <a:lstStyle/>
                    <a:p>
                      <a:pPr algn="ctr" defTabSz="914400">
                        <a:lnSpc>
                          <a:spcPct val="150000"/>
                        </a:lnSpc>
                        <a:buClrTx/>
                        <a:buSzTx/>
                        <a:buNone/>
                      </a:pPr>
                      <a:r>
                        <a:rPr lang="en-US" altLang="zh-CN" sz="1200" dirty="0">
                          <a:solidFill>
                            <a:schemeClr val="tx1">
                              <a:lumMod val="75000"/>
                              <a:lumOff val="25000"/>
                            </a:schemeClr>
                          </a:solidFill>
                        </a:rPr>
                        <a:t>方法名称</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作用</a:t>
                      </a:r>
                    </a:p>
                  </a:txBody>
                  <a:tcPr marL="68580" marR="68580" marT="0" marB="0" anchor="ctr"/>
                </a:tc>
                <a:extLst>
                  <a:ext uri="{0D108BD9-81ED-4DB2-BD59-A6C34878D82A}">
                    <a16:rowId xmlns:a16="http://schemas.microsoft.com/office/drawing/2014/main" val="10000"/>
                  </a:ext>
                </a:extLst>
              </a:tr>
              <a:tr h="466313">
                <a:tc>
                  <a:txBody>
                    <a:bodyPr/>
                    <a:lstStyle/>
                    <a:p>
                      <a:pPr algn="ctr" defTabSz="914400">
                        <a:lnSpc>
                          <a:spcPct val="150000"/>
                        </a:lnSpc>
                        <a:buClrTx/>
                        <a:buSzTx/>
                        <a:buNone/>
                      </a:pPr>
                      <a:r>
                        <a:rPr lang="en-US" altLang="zh-CN" sz="1200" dirty="0">
                          <a:solidFill>
                            <a:schemeClr val="tx1">
                              <a:lumMod val="75000"/>
                              <a:lumOff val="25000"/>
                            </a:schemeClr>
                          </a:solidFill>
                        </a:rPr>
                        <a:t>os.getcwd()</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得到当前工作目录，即当前Python脚本工作的目录路径</a:t>
                      </a:r>
                    </a:p>
                  </a:txBody>
                  <a:tcPr marL="68580" marR="68580" marT="0" marB="0" anchor="ctr"/>
                </a:tc>
                <a:extLst>
                  <a:ext uri="{0D108BD9-81ED-4DB2-BD59-A6C34878D82A}">
                    <a16:rowId xmlns:a16="http://schemas.microsoft.com/office/drawing/2014/main" val="10001"/>
                  </a:ext>
                </a:extLst>
              </a:tr>
              <a:tr h="364713">
                <a:tc>
                  <a:txBody>
                    <a:bodyPr/>
                    <a:lstStyle/>
                    <a:p>
                      <a:pPr algn="ctr" defTabSz="914400">
                        <a:lnSpc>
                          <a:spcPct val="150000"/>
                        </a:lnSpc>
                        <a:buClrTx/>
                        <a:buSzTx/>
                        <a:buNone/>
                      </a:pPr>
                      <a:r>
                        <a:rPr lang="en-US" altLang="zh-CN" sz="1200" dirty="0">
                          <a:solidFill>
                            <a:schemeClr val="tx1">
                              <a:lumMod val="75000"/>
                              <a:lumOff val="25000"/>
                            </a:schemeClr>
                          </a:solidFill>
                        </a:rPr>
                        <a:t>os.listdir(path)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返回指定目录下的所有文件和目录名，返回的是列表类型</a:t>
                      </a:r>
                    </a:p>
                  </a:txBody>
                  <a:tcPr marL="68580" marR="68580" marT="0" marB="0" anchor="ctr"/>
                </a:tc>
                <a:extLst>
                  <a:ext uri="{0D108BD9-81ED-4DB2-BD59-A6C34878D82A}">
                    <a16:rowId xmlns:a16="http://schemas.microsoft.com/office/drawing/2014/main" val="10002"/>
                  </a:ext>
                </a:extLst>
              </a:tr>
              <a:tr h="227018">
                <a:tc>
                  <a:txBody>
                    <a:bodyPr/>
                    <a:lstStyle/>
                    <a:p>
                      <a:pPr algn="ctr" defTabSz="914400">
                        <a:lnSpc>
                          <a:spcPct val="150000"/>
                        </a:lnSpc>
                        <a:buClrTx/>
                        <a:buSzTx/>
                        <a:buNone/>
                      </a:pPr>
                      <a:r>
                        <a:rPr lang="en-US" altLang="zh-CN" sz="1200" dirty="0">
                          <a:solidFill>
                            <a:schemeClr val="tx1">
                              <a:lumMod val="75000"/>
                              <a:lumOff val="25000"/>
                            </a:schemeClr>
                          </a:solidFill>
                        </a:rPr>
                        <a:t>os.remove(path)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用来删除指定目录下的文件</a:t>
                      </a:r>
                    </a:p>
                  </a:txBody>
                  <a:tcPr marL="68580" marR="68580" marT="0" marB="0" anchor="ctr"/>
                </a:tc>
                <a:extLst>
                  <a:ext uri="{0D108BD9-81ED-4DB2-BD59-A6C34878D82A}">
                    <a16:rowId xmlns:a16="http://schemas.microsoft.com/office/drawing/2014/main" val="10003"/>
                  </a:ext>
                </a:extLst>
              </a:tr>
              <a:tr h="298353">
                <a:tc>
                  <a:txBody>
                    <a:bodyPr/>
                    <a:lstStyle/>
                    <a:p>
                      <a:pPr algn="ctr" defTabSz="914400">
                        <a:lnSpc>
                          <a:spcPct val="150000"/>
                        </a:lnSpc>
                        <a:buClrTx/>
                        <a:buSzTx/>
                        <a:buNone/>
                      </a:pPr>
                      <a:r>
                        <a:rPr lang="en-US" altLang="zh-CN" sz="1200" dirty="0">
                          <a:solidFill>
                            <a:schemeClr val="tx1">
                              <a:lumMod val="75000"/>
                              <a:lumOff val="25000"/>
                            </a:schemeClr>
                          </a:solidFill>
                        </a:rPr>
                        <a:t>os.chdir(dirname)</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改变工作目录到dirname</a:t>
                      </a:r>
                    </a:p>
                  </a:txBody>
                  <a:tcPr marL="68580" marR="68580" marT="0" marB="0" anchor="ctr"/>
                </a:tc>
                <a:extLst>
                  <a:ext uri="{0D108BD9-81ED-4DB2-BD59-A6C34878D82A}">
                    <a16:rowId xmlns:a16="http://schemas.microsoft.com/office/drawing/2014/main" val="10004"/>
                  </a:ext>
                </a:extLst>
              </a:tr>
              <a:tr h="237340">
                <a:tc>
                  <a:txBody>
                    <a:bodyPr/>
                    <a:lstStyle/>
                    <a:p>
                      <a:pPr algn="ctr" defTabSz="914400">
                        <a:lnSpc>
                          <a:spcPct val="150000"/>
                        </a:lnSpc>
                        <a:buClrTx/>
                        <a:buSzTx/>
                        <a:buNone/>
                      </a:pPr>
                      <a:r>
                        <a:rPr lang="en-US" altLang="zh-CN" sz="1200" dirty="0">
                          <a:solidFill>
                            <a:schemeClr val="tx1">
                              <a:lumMod val="75000"/>
                              <a:lumOff val="25000"/>
                            </a:schemeClr>
                          </a:solidFill>
                        </a:rPr>
                        <a:t>os.path.abspath(name) </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获得文件所在绝对路径</a:t>
                      </a:r>
                    </a:p>
                  </a:txBody>
                  <a:tcPr marL="68580" marR="68580" marT="0" marB="0" anchor="ctr"/>
                </a:tc>
                <a:extLst>
                  <a:ext uri="{0D108BD9-81ED-4DB2-BD59-A6C34878D82A}">
                    <a16:rowId xmlns:a16="http://schemas.microsoft.com/office/drawing/2014/main" val="10005"/>
                  </a:ext>
                </a:extLst>
              </a:tr>
              <a:tr h="298856">
                <a:tc>
                  <a:txBody>
                    <a:bodyPr/>
                    <a:lstStyle/>
                    <a:p>
                      <a:pPr algn="ctr" defTabSz="914400">
                        <a:lnSpc>
                          <a:spcPct val="150000"/>
                        </a:lnSpc>
                        <a:buClrTx/>
                        <a:buSzTx/>
                        <a:buNone/>
                      </a:pPr>
                      <a:r>
                        <a:rPr lang="en-US" altLang="zh-CN" sz="1200" dirty="0">
                          <a:solidFill>
                            <a:schemeClr val="tx1">
                              <a:lumMod val="75000"/>
                              <a:lumOff val="25000"/>
                            </a:schemeClr>
                          </a:solidFill>
                        </a:rPr>
                        <a:t>os.path.dirname(path) </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返回文件所在路径</a:t>
                      </a:r>
                    </a:p>
                  </a:txBody>
                  <a:tcPr marL="68580" marR="68580" marT="0" marB="0" anchor="ctr"/>
                </a:tc>
                <a:extLst>
                  <a:ext uri="{0D108BD9-81ED-4DB2-BD59-A6C34878D82A}">
                    <a16:rowId xmlns:a16="http://schemas.microsoft.com/office/drawing/2014/main" val="10006"/>
                  </a:ext>
                </a:extLst>
              </a:tr>
              <a:tr h="272495">
                <a:tc>
                  <a:txBody>
                    <a:bodyPr/>
                    <a:lstStyle/>
                    <a:p>
                      <a:pPr algn="ctr" defTabSz="914400">
                        <a:lnSpc>
                          <a:spcPct val="150000"/>
                        </a:lnSpc>
                        <a:buClrTx/>
                        <a:buSzTx/>
                        <a:buNone/>
                      </a:pPr>
                      <a:r>
                        <a:rPr lang="en-US" altLang="zh-CN" sz="1200" dirty="0">
                          <a:solidFill>
                            <a:schemeClr val="tx1">
                              <a:lumMod val="75000"/>
                              <a:lumOff val="25000"/>
                            </a:schemeClr>
                          </a:solidFill>
                        </a:rPr>
                        <a:t>os.mkdir(path)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创建目录</a:t>
                      </a:r>
                    </a:p>
                  </a:txBody>
                  <a:tcPr marL="68580" marR="68580" marT="0" marB="0" anchor="ctr"/>
                </a:tc>
                <a:extLst>
                  <a:ext uri="{0D108BD9-81ED-4DB2-BD59-A6C34878D82A}">
                    <a16:rowId xmlns:a16="http://schemas.microsoft.com/office/drawing/2014/main" val="10007"/>
                  </a:ext>
                </a:extLst>
              </a:tr>
              <a:tr h="433137">
                <a:tc>
                  <a:txBody>
                    <a:bodyPr/>
                    <a:lstStyle/>
                    <a:p>
                      <a:pPr algn="ctr" defTabSz="914400">
                        <a:lnSpc>
                          <a:spcPct val="150000"/>
                        </a:lnSpc>
                        <a:buClrTx/>
                        <a:buSzTx/>
                        <a:buNone/>
                      </a:pPr>
                      <a:r>
                        <a:rPr lang="en-US" altLang="zh-CN" sz="1200" dirty="0" err="1">
                          <a:solidFill>
                            <a:schemeClr val="tx1">
                              <a:lumMod val="75000"/>
                              <a:lumOff val="25000"/>
                            </a:schemeClr>
                          </a:solidFill>
                        </a:rPr>
                        <a:t>os.makedirs</a:t>
                      </a:r>
                      <a:r>
                        <a:rPr lang="en-US" altLang="zh-CN" sz="1200" dirty="0">
                          <a:solidFill>
                            <a:schemeClr val="tx1">
                              <a:lumMod val="75000"/>
                              <a:lumOff val="25000"/>
                            </a:schemeClr>
                          </a:solidFill>
                        </a:rPr>
                        <a:t>(path)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创建多层目录</a:t>
                      </a:r>
                    </a:p>
                  </a:txBody>
                  <a:tcPr marL="68580" marR="68580" marT="0" marB="0" anchor="ctr"/>
                </a:tc>
                <a:extLst>
                  <a:ext uri="{0D108BD9-81ED-4DB2-BD59-A6C34878D82A}">
                    <a16:rowId xmlns:a16="http://schemas.microsoft.com/office/drawing/2014/main" val="10008"/>
                  </a:ext>
                </a:extLst>
              </a:tr>
              <a:tr h="266948">
                <a:tc>
                  <a:txBody>
                    <a:bodyPr/>
                    <a:lstStyle/>
                    <a:p>
                      <a:pPr algn="ctr" defTabSz="914400">
                        <a:lnSpc>
                          <a:spcPct val="150000"/>
                        </a:lnSpc>
                        <a:buClrTx/>
                        <a:buSzTx/>
                        <a:buNone/>
                      </a:pPr>
                      <a:r>
                        <a:rPr lang="en-US" altLang="zh-CN" sz="1200" dirty="0">
                          <a:solidFill>
                            <a:schemeClr val="tx1">
                              <a:lumMod val="75000"/>
                              <a:lumOff val="25000"/>
                            </a:schemeClr>
                          </a:solidFill>
                        </a:rPr>
                        <a:t>os.path.exists(path)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 判断一个目录是否存在</a:t>
                      </a:r>
                    </a:p>
                  </a:txBody>
                  <a:tcPr marL="68580" marR="68580"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7" name="矩形 6"/>
          <p:cNvSpPr/>
          <p:nvPr/>
        </p:nvSpPr>
        <p:spPr>
          <a:xfrm>
            <a:off x="993913" y="2202097"/>
            <a:ext cx="7915326" cy="119888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【例】希望在D盘创建目录：D:\456\123。说明，D盘事先不存在文件夹“456”。</a:t>
            </a:r>
          </a:p>
          <a:p>
            <a:pPr algn="l">
              <a:lnSpc>
                <a:spcPct val="150000"/>
              </a:lnSpc>
              <a:buClrTx/>
              <a:buSzTx/>
              <a:buNone/>
            </a:pPr>
            <a:r>
              <a:rPr lang="en-US" altLang="zh-CN" sz="1600" dirty="0">
                <a:solidFill>
                  <a:schemeClr val="tx1">
                    <a:lumMod val="75000"/>
                    <a:lumOff val="25000"/>
                  </a:schemeClr>
                </a:solidFill>
              </a:rPr>
              <a:t>&gt; import os</a:t>
            </a:r>
          </a:p>
          <a:p>
            <a:pPr algn="l">
              <a:lnSpc>
                <a:spcPct val="150000"/>
              </a:lnSpc>
              <a:buClrTx/>
              <a:buSzTx/>
              <a:buNone/>
            </a:pPr>
            <a:r>
              <a:rPr lang="en-US" altLang="zh-CN" sz="1600" dirty="0">
                <a:solidFill>
                  <a:schemeClr val="tx1">
                    <a:lumMod val="75000"/>
                    <a:lumOff val="25000"/>
                  </a:schemeClr>
                </a:solidFill>
              </a:rPr>
              <a:t>&gt; os.mkdir(r'd:\456\123')</a:t>
            </a:r>
          </a:p>
        </p:txBody>
      </p:sp>
      <p:sp>
        <p:nvSpPr>
          <p:cNvPr id="8" name="矩形 7"/>
          <p:cNvSpPr/>
          <p:nvPr/>
        </p:nvSpPr>
        <p:spPr>
          <a:xfrm>
            <a:off x="1054592" y="4906526"/>
            <a:ext cx="4572000" cy="1198880"/>
          </a:xfrm>
          <a:prstGeom prst="rect">
            <a:avLst/>
          </a:prstGeom>
        </p:spPr>
        <p:txBody>
          <a:bodyPr>
            <a:spAutoFit/>
          </a:bodyPr>
          <a:lstStyle/>
          <a:p>
            <a:pPr algn="l">
              <a:lnSpc>
                <a:spcPct val="150000"/>
              </a:lnSpc>
              <a:buClrTx/>
              <a:buSzTx/>
              <a:buNone/>
            </a:pPr>
            <a:r>
              <a:rPr lang="en-US" altLang="zh-CN" sz="1600" dirty="0">
                <a:solidFill>
                  <a:schemeClr val="tx1">
                    <a:lumMod val="75000"/>
                    <a:lumOff val="25000"/>
                  </a:schemeClr>
                </a:solidFill>
              </a:rPr>
              <a:t>&gt; os.makedirs(r'd:\456\123')</a:t>
            </a:r>
          </a:p>
          <a:p>
            <a:pPr algn="l">
              <a:lnSpc>
                <a:spcPct val="150000"/>
              </a:lnSpc>
              <a:buClrTx/>
              <a:buSzTx/>
              <a:buNone/>
            </a:pPr>
            <a:r>
              <a:rPr lang="en-US" altLang="zh-CN" sz="1600" dirty="0">
                <a:solidFill>
                  <a:schemeClr val="tx1">
                    <a:lumMod val="75000"/>
                    <a:lumOff val="25000"/>
                  </a:schemeClr>
                </a:solidFill>
              </a:rPr>
              <a:t>&gt; os.chdir(r'd:\456\123')</a:t>
            </a:r>
          </a:p>
          <a:p>
            <a:pPr algn="l">
              <a:lnSpc>
                <a:spcPct val="150000"/>
              </a:lnSpc>
              <a:buClrTx/>
              <a:buSzTx/>
              <a:buNone/>
            </a:pPr>
            <a:r>
              <a:rPr lang="en-US" altLang="zh-CN" sz="1600" dirty="0">
                <a:solidFill>
                  <a:schemeClr val="tx1">
                    <a:lumMod val="75000"/>
                    <a:lumOff val="25000"/>
                  </a:schemeClr>
                </a:solidFill>
              </a:rPr>
              <a:t>&gt; os.getcwd()</a:t>
            </a:r>
          </a:p>
        </p:txBody>
      </p:sp>
      <p:pic>
        <p:nvPicPr>
          <p:cNvPr id="12" name="图片 11"/>
          <p:cNvPicPr/>
          <p:nvPr/>
        </p:nvPicPr>
        <p:blipFill>
          <a:blip r:embed="rId2" cstate="print"/>
          <a:srcRect/>
          <a:stretch>
            <a:fillRect/>
          </a:stretch>
        </p:blipFill>
        <p:spPr bwMode="auto">
          <a:xfrm>
            <a:off x="1182693" y="6098302"/>
            <a:ext cx="2037849" cy="403593"/>
          </a:xfrm>
          <a:prstGeom prst="rect">
            <a:avLst/>
          </a:prstGeom>
          <a:noFill/>
          <a:ln w="9525">
            <a:noFill/>
            <a:miter lim="800000"/>
            <a:headEnd/>
            <a:tailEnd/>
          </a:ln>
        </p:spPr>
      </p:pic>
      <p:pic>
        <p:nvPicPr>
          <p:cNvPr id="13" name="图片 12"/>
          <p:cNvPicPr/>
          <p:nvPr/>
        </p:nvPicPr>
        <p:blipFill>
          <a:blip r:embed="rId3" cstate="print"/>
          <a:srcRect/>
          <a:stretch>
            <a:fillRect/>
          </a:stretch>
        </p:blipFill>
        <p:spPr bwMode="auto">
          <a:xfrm>
            <a:off x="1182601" y="3401241"/>
            <a:ext cx="5301097" cy="150548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9" name="矩形 8"/>
          <p:cNvSpPr/>
          <p:nvPr/>
        </p:nvSpPr>
        <p:spPr>
          <a:xfrm>
            <a:off x="924200" y="2068047"/>
            <a:ext cx="10429599" cy="119888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（2）模式</a:t>
            </a:r>
          </a:p>
          <a:p>
            <a:pPr algn="l">
              <a:lnSpc>
                <a:spcPct val="150000"/>
              </a:lnSpc>
              <a:buClrTx/>
              <a:buSzTx/>
              <a:buNone/>
            </a:pPr>
            <a:r>
              <a:rPr lang="en-US" altLang="zh-CN" sz="1600" dirty="0">
                <a:solidFill>
                  <a:schemeClr val="tx1">
                    <a:lumMod val="75000"/>
                    <a:lumOff val="25000"/>
                  </a:schemeClr>
                </a:solidFill>
              </a:rPr>
              <a:t>第二个参数“模式”指定打开文件时的操作方式。利用全局函数open申明文件对象的时候在“模式”这个位置指定一个字符串来表示。文件打开的主要模式见</a:t>
            </a:r>
            <a:r>
              <a:rPr lang="zh-CN" altLang="en-US" sz="1600" dirty="0">
                <a:solidFill>
                  <a:schemeClr val="tx1">
                    <a:lumMod val="75000"/>
                    <a:lumOff val="25000"/>
                  </a:schemeClr>
                </a:solidFill>
              </a:rPr>
              <a:t>下</a:t>
            </a:r>
            <a:r>
              <a:rPr lang="en-US" altLang="zh-CN" sz="1600" dirty="0">
                <a:solidFill>
                  <a:schemeClr val="tx1">
                    <a:lumMod val="75000"/>
                    <a:lumOff val="25000"/>
                  </a:schemeClr>
                </a:solidFill>
              </a:rPr>
              <a:t>表。</a:t>
            </a:r>
          </a:p>
        </p:txBody>
      </p:sp>
      <p:graphicFrame>
        <p:nvGraphicFramePr>
          <p:cNvPr id="11" name="表格 10"/>
          <p:cNvGraphicFramePr>
            <a:graphicFrameLocks noGrp="1"/>
          </p:cNvGraphicFramePr>
          <p:nvPr/>
        </p:nvGraphicFramePr>
        <p:xfrm>
          <a:off x="1064405" y="3420504"/>
          <a:ext cx="8327236" cy="2807651"/>
        </p:xfrm>
        <a:graphic>
          <a:graphicData uri="http://schemas.openxmlformats.org/drawingml/2006/table">
            <a:tbl>
              <a:tblPr firstRow="1" firstCol="1" bandRow="1">
                <a:tableStyleId>{5940675A-B579-460E-94D1-54222C63F5DA}</a:tableStyleId>
              </a:tblPr>
              <a:tblGrid>
                <a:gridCol w="1022555">
                  <a:extLst>
                    <a:ext uri="{9D8B030D-6E8A-4147-A177-3AD203B41FA5}">
                      <a16:colId xmlns:a16="http://schemas.microsoft.com/office/drawing/2014/main" val="20000"/>
                    </a:ext>
                  </a:extLst>
                </a:gridCol>
                <a:gridCol w="7304681">
                  <a:extLst>
                    <a:ext uri="{9D8B030D-6E8A-4147-A177-3AD203B41FA5}">
                      <a16:colId xmlns:a16="http://schemas.microsoft.com/office/drawing/2014/main" val="20001"/>
                    </a:ext>
                  </a:extLst>
                </a:gridCol>
              </a:tblGrid>
              <a:tr h="401955">
                <a:tc>
                  <a:txBody>
                    <a:bodyPr/>
                    <a:lstStyle/>
                    <a:p>
                      <a:pPr algn="ctr" defTabSz="914400">
                        <a:lnSpc>
                          <a:spcPct val="150000"/>
                        </a:lnSpc>
                        <a:buClrTx/>
                        <a:buSzTx/>
                        <a:buFontTx/>
                      </a:pPr>
                      <a:r>
                        <a:rPr lang="en-US" altLang="zh-CN" sz="1200" dirty="0">
                          <a:solidFill>
                            <a:schemeClr val="tx1">
                              <a:lumMod val="75000"/>
                              <a:lumOff val="25000"/>
                            </a:schemeClr>
                          </a:solidFill>
                        </a:rPr>
                        <a:t>模式</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作用</a:t>
                      </a:r>
                    </a:p>
                  </a:txBody>
                  <a:tcPr marL="68580" marR="68580" marT="0" marB="0" anchor="ctr"/>
                </a:tc>
                <a:extLst>
                  <a:ext uri="{0D108BD9-81ED-4DB2-BD59-A6C34878D82A}">
                    <a16:rowId xmlns:a16="http://schemas.microsoft.com/office/drawing/2014/main" val="10000"/>
                  </a:ext>
                </a:extLst>
              </a:tr>
              <a:tr h="279670">
                <a:tc>
                  <a:txBody>
                    <a:bodyPr/>
                    <a:lstStyle/>
                    <a:p>
                      <a:pPr algn="ctr" defTabSz="914400">
                        <a:lnSpc>
                          <a:spcPct val="150000"/>
                        </a:lnSpc>
                        <a:buClrTx/>
                        <a:buSzTx/>
                        <a:buFontTx/>
                      </a:pPr>
                      <a:r>
                        <a:rPr lang="en-US" altLang="zh-CN" sz="1200" dirty="0">
                          <a:solidFill>
                            <a:schemeClr val="tx1">
                              <a:lumMod val="75000"/>
                              <a:lumOff val="25000"/>
                            </a:schemeClr>
                          </a:solidFill>
                        </a:rPr>
                        <a:t>r</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只读模式。若指定文件不存在，将抛出FileNotFoundError异常</a:t>
                      </a:r>
                    </a:p>
                  </a:txBody>
                  <a:tcPr marL="68580" marR="68580" marT="0" marB="0" anchor="ctr"/>
                </a:tc>
                <a:extLst>
                  <a:ext uri="{0D108BD9-81ED-4DB2-BD59-A6C34878D82A}">
                    <a16:rowId xmlns:a16="http://schemas.microsoft.com/office/drawing/2014/main" val="10001"/>
                  </a:ext>
                </a:extLst>
              </a:tr>
              <a:tr h="279670">
                <a:tc>
                  <a:txBody>
                    <a:bodyPr/>
                    <a:lstStyle/>
                    <a:p>
                      <a:pPr algn="ctr" defTabSz="914400">
                        <a:lnSpc>
                          <a:spcPct val="150000"/>
                        </a:lnSpc>
                        <a:buClrTx/>
                        <a:buSzTx/>
                        <a:buFontTx/>
                      </a:pPr>
                      <a:r>
                        <a:rPr lang="en-US" altLang="zh-CN" sz="1200" dirty="0">
                          <a:solidFill>
                            <a:schemeClr val="tx1">
                              <a:lumMod val="75000"/>
                              <a:lumOff val="25000"/>
                            </a:schemeClr>
                          </a:solidFill>
                        </a:rPr>
                        <a:t>w</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覆盖写模式。若指定文件不存在则自动创建，存在则清除原来的内容重写</a:t>
                      </a:r>
                    </a:p>
                  </a:txBody>
                  <a:tcPr marL="68580" marR="68580" marT="0" marB="0" anchor="ctr"/>
                </a:tc>
                <a:extLst>
                  <a:ext uri="{0D108BD9-81ED-4DB2-BD59-A6C34878D82A}">
                    <a16:rowId xmlns:a16="http://schemas.microsoft.com/office/drawing/2014/main" val="10002"/>
                  </a:ext>
                </a:extLst>
              </a:tr>
              <a:tr h="643508">
                <a:tc>
                  <a:txBody>
                    <a:bodyPr/>
                    <a:lstStyle/>
                    <a:p>
                      <a:pPr algn="ctr" defTabSz="914400">
                        <a:lnSpc>
                          <a:spcPct val="150000"/>
                        </a:lnSpc>
                        <a:buClrTx/>
                        <a:buSzTx/>
                        <a:buFontTx/>
                      </a:pPr>
                      <a:r>
                        <a:rPr lang="en-US" altLang="zh-CN" sz="1200" dirty="0">
                          <a:solidFill>
                            <a:schemeClr val="tx1">
                              <a:lumMod val="75000"/>
                              <a:lumOff val="25000"/>
                            </a:schemeClr>
                          </a:solidFill>
                        </a:rPr>
                        <a:t>x</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创建写模式。与w方式不同的是，如果文件不存在则新建，文件存在抛出FileExistsError异常，不会误</a:t>
                      </a:r>
                    </a:p>
                    <a:p>
                      <a:pPr algn="ctr" defTabSz="914400">
                        <a:lnSpc>
                          <a:spcPct val="150000"/>
                        </a:lnSpc>
                        <a:buClrTx/>
                        <a:buSzTx/>
                        <a:buFontTx/>
                      </a:pPr>
                      <a:r>
                        <a:rPr lang="en-US" altLang="zh-CN" sz="1200" dirty="0">
                          <a:solidFill>
                            <a:schemeClr val="tx1">
                              <a:lumMod val="75000"/>
                              <a:lumOff val="25000"/>
                            </a:schemeClr>
                          </a:solidFill>
                        </a:rPr>
                        <a:t>清除原来文件的内容，可以更安全地操作文件。</a:t>
                      </a:r>
                    </a:p>
                  </a:txBody>
                  <a:tcPr marL="68580" marR="68580" marT="0" marB="0" anchor="ctr"/>
                </a:tc>
                <a:extLst>
                  <a:ext uri="{0D108BD9-81ED-4DB2-BD59-A6C34878D82A}">
                    <a16:rowId xmlns:a16="http://schemas.microsoft.com/office/drawing/2014/main" val="10003"/>
                  </a:ext>
                </a:extLst>
              </a:tr>
              <a:tr h="279670">
                <a:tc>
                  <a:txBody>
                    <a:bodyPr/>
                    <a:lstStyle/>
                    <a:p>
                      <a:pPr algn="ctr" defTabSz="914400">
                        <a:lnSpc>
                          <a:spcPct val="150000"/>
                        </a:lnSpc>
                        <a:buClrTx/>
                        <a:buSzTx/>
                        <a:buFontTx/>
                      </a:pPr>
                      <a:r>
                        <a:rPr lang="en-US" altLang="zh-CN" sz="1200" dirty="0">
                          <a:solidFill>
                            <a:schemeClr val="tx1">
                              <a:lumMod val="75000"/>
                              <a:lumOff val="25000"/>
                            </a:schemeClr>
                          </a:solidFill>
                        </a:rPr>
                        <a:t>a</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追加写模式。如果指定文件不存在，则新建文件。如果文件已经存在，打开后，在文件末尾写入数据。</a:t>
                      </a:r>
                    </a:p>
                  </a:txBody>
                  <a:tcPr marL="68580" marR="68580" marT="0" marB="0" anchor="ctr"/>
                </a:tc>
                <a:extLst>
                  <a:ext uri="{0D108BD9-81ED-4DB2-BD59-A6C34878D82A}">
                    <a16:rowId xmlns:a16="http://schemas.microsoft.com/office/drawing/2014/main" val="10004"/>
                  </a:ext>
                </a:extLst>
              </a:tr>
              <a:tr h="279670">
                <a:tc>
                  <a:txBody>
                    <a:bodyPr/>
                    <a:lstStyle/>
                    <a:p>
                      <a:pPr algn="ctr" defTabSz="914400">
                        <a:lnSpc>
                          <a:spcPct val="150000"/>
                        </a:lnSpc>
                        <a:buClrTx/>
                        <a:buSzTx/>
                        <a:buFontTx/>
                      </a:pPr>
                      <a:r>
                        <a:rPr lang="en-US" altLang="zh-CN" sz="1200" dirty="0">
                          <a:solidFill>
                            <a:schemeClr val="tx1">
                              <a:lumMod val="75000"/>
                              <a:lumOff val="25000"/>
                            </a:schemeClr>
                          </a:solidFill>
                        </a:rPr>
                        <a:t>+</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结合上述的模式使用（如r+、w+和a+等），以读写方式打开文件。文件打开后，可以读写文件。</a:t>
                      </a:r>
                    </a:p>
                  </a:txBody>
                  <a:tcPr marL="68580" marR="68580" marT="0" marB="0" anchor="ctr"/>
                </a:tc>
                <a:extLst>
                  <a:ext uri="{0D108BD9-81ED-4DB2-BD59-A6C34878D82A}">
                    <a16:rowId xmlns:a16="http://schemas.microsoft.com/office/drawing/2014/main" val="10005"/>
                  </a:ext>
                </a:extLst>
              </a:tr>
              <a:tr h="643508">
                <a:tc>
                  <a:txBody>
                    <a:bodyPr/>
                    <a:lstStyle/>
                    <a:p>
                      <a:pPr algn="ctr" defTabSz="914400">
                        <a:lnSpc>
                          <a:spcPct val="150000"/>
                        </a:lnSpc>
                        <a:buClrTx/>
                        <a:buSzTx/>
                        <a:buFontTx/>
                      </a:pPr>
                      <a:r>
                        <a:rPr lang="en-US" altLang="zh-CN" sz="1200" dirty="0">
                          <a:solidFill>
                            <a:schemeClr val="tx1">
                              <a:lumMod val="75000"/>
                              <a:lumOff val="25000"/>
                            </a:schemeClr>
                          </a:solidFill>
                        </a:rPr>
                        <a:t>b</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结合r、w和a等模式使用（如rb、wb和ab等），以二进制模式打开文件，可以读写bytes类型的数</a:t>
                      </a:r>
                    </a:p>
                    <a:p>
                      <a:pPr algn="ctr" defTabSz="914400">
                        <a:lnSpc>
                          <a:spcPct val="150000"/>
                        </a:lnSpc>
                        <a:buClrTx/>
                        <a:buSzTx/>
                        <a:buFontTx/>
                      </a:pPr>
                      <a:r>
                        <a:rPr lang="en-US" altLang="zh-CN" sz="1200" dirty="0">
                          <a:solidFill>
                            <a:schemeClr val="tx1">
                              <a:lumMod val="75000"/>
                              <a:lumOff val="25000"/>
                            </a:schemeClr>
                          </a:solidFill>
                        </a:rPr>
                        <a:t>据，不使用b，则以文本模式打开文件。</a:t>
                      </a:r>
                    </a:p>
                  </a:txBody>
                  <a:tcPr marL="68580" marR="68580" marT="0" marB="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7" name="矩形 6"/>
          <p:cNvSpPr/>
          <p:nvPr/>
        </p:nvSpPr>
        <p:spPr>
          <a:xfrm>
            <a:off x="1077744" y="2214073"/>
            <a:ext cx="10116931" cy="1198880"/>
          </a:xfrm>
          <a:prstGeom prst="rect">
            <a:avLst/>
          </a:prstGeom>
        </p:spPr>
        <p:txBody>
          <a:bodyPr wrap="square">
            <a:spAutoFit/>
          </a:bodyPr>
          <a:lstStyle/>
          <a:p>
            <a:pPr algn="l">
              <a:lnSpc>
                <a:spcPct val="150000"/>
              </a:lnSpc>
              <a:buClrTx/>
              <a:buSzTx/>
              <a:buFontTx/>
            </a:pPr>
            <a:r>
              <a:rPr lang="en-US" altLang="zh-CN" sz="1600" dirty="0">
                <a:solidFill>
                  <a:schemeClr val="tx1">
                    <a:lumMod val="75000"/>
                    <a:lumOff val="25000"/>
                  </a:schemeClr>
                </a:solidFill>
              </a:rPr>
              <a:t>假设已经事先在D盘的“D:\python\PythonEXample”目录下创建了一个文本文件“data.txt”，可以通过任意的记事本或者是windows自带的记事本来创建一个文本文件。</a:t>
            </a:r>
          </a:p>
          <a:p>
            <a:pPr algn="l">
              <a:lnSpc>
                <a:spcPct val="150000"/>
              </a:lnSpc>
              <a:buClrTx/>
              <a:buSzTx/>
              <a:buFontTx/>
            </a:pPr>
            <a:r>
              <a:rPr lang="en-US" altLang="zh-CN" sz="1600" dirty="0" err="1">
                <a:solidFill>
                  <a:schemeClr val="tx1">
                    <a:lumMod val="75000"/>
                    <a:lumOff val="25000"/>
                  </a:schemeClr>
                </a:solidFill>
              </a:rPr>
              <a:t>但在保存文件时请注意编码的选择</a:t>
            </a:r>
            <a:r>
              <a:rPr lang="en-US" altLang="zh-CN" sz="1600" dirty="0">
                <a:solidFill>
                  <a:schemeClr val="tx1">
                    <a:lumMod val="75000"/>
                    <a:lumOff val="25000"/>
                  </a:schemeClr>
                </a:solidFill>
              </a:rPr>
              <a:t>。</a:t>
            </a:r>
          </a:p>
        </p:txBody>
      </p:sp>
      <p:pic>
        <p:nvPicPr>
          <p:cNvPr id="8" name="图片 7"/>
          <p:cNvPicPr/>
          <p:nvPr/>
        </p:nvPicPr>
        <p:blipFill>
          <a:blip r:embed="rId2" cstate="print"/>
          <a:srcRect/>
          <a:stretch>
            <a:fillRect/>
          </a:stretch>
        </p:blipFill>
        <p:spPr bwMode="auto">
          <a:xfrm>
            <a:off x="2637275" y="3354515"/>
            <a:ext cx="5632667" cy="2957385"/>
          </a:xfrm>
          <a:prstGeom prst="rect">
            <a:avLst/>
          </a:prstGeom>
          <a:noFill/>
          <a:ln w="9525">
            <a:noFill/>
            <a:miter lim="800000"/>
            <a:headEnd/>
            <a:tailEnd/>
          </a:ln>
        </p:spPr>
      </p:pic>
      <p:sp>
        <p:nvSpPr>
          <p:cNvPr id="12" name="文本框 11"/>
          <p:cNvSpPr txBox="1"/>
          <p:nvPr/>
        </p:nvSpPr>
        <p:spPr>
          <a:xfrm>
            <a:off x="3636002" y="6176963"/>
            <a:ext cx="3525253" cy="460375"/>
          </a:xfrm>
          <a:prstGeom prst="rect">
            <a:avLst/>
          </a:prstGeom>
          <a:noFill/>
        </p:spPr>
        <p:txBody>
          <a:bodyPr wrap="square" rtlCol="0">
            <a:spAutoFit/>
          </a:bodyPr>
          <a:lstStyle/>
          <a:p>
            <a:pPr algn="ctr">
              <a:lnSpc>
                <a:spcPct val="150000"/>
              </a:lnSpc>
            </a:pPr>
            <a:r>
              <a:rPr lang="zh-CN" altLang="zh-CN" sz="1600" dirty="0">
                <a:solidFill>
                  <a:schemeClr val="tx1">
                    <a:lumMod val="75000"/>
                    <a:lumOff val="25000"/>
                  </a:schemeClr>
                </a:solidFill>
              </a:rPr>
              <a:t>保存文件时编码的选择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9" name="矩形 8"/>
          <p:cNvSpPr/>
          <p:nvPr/>
        </p:nvSpPr>
        <p:spPr>
          <a:xfrm>
            <a:off x="1123901" y="2158667"/>
            <a:ext cx="10124564" cy="341632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windows下的编码是“ANSI”，它的字符是以“gbk”的形式保存的，如果你想让它的兼容性更高，可以选择“UTF-8”。</a:t>
            </a:r>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zh-CN" altLang="zh-CN" sz="1600" dirty="0"/>
          </a:p>
          <a:p>
            <a:endParaRPr lang="en-US" altLang="zh-CN" sz="1600" dirty="0"/>
          </a:p>
          <a:p>
            <a:endParaRPr lang="en-US" altLang="zh-CN" sz="1600" dirty="0"/>
          </a:p>
          <a:p>
            <a:endParaRPr lang="en-US" altLang="zh-CN" sz="1600" dirty="0"/>
          </a:p>
          <a:p>
            <a:endParaRPr lang="en-US" altLang="zh-CN" sz="1600" dirty="0"/>
          </a:p>
          <a:p>
            <a:endParaRPr lang="zh-CN" altLang="zh-CN" sz="1600" dirty="0"/>
          </a:p>
        </p:txBody>
      </p:sp>
      <p:pic>
        <p:nvPicPr>
          <p:cNvPr id="10" name="图片 9"/>
          <p:cNvPicPr/>
          <p:nvPr/>
        </p:nvPicPr>
        <p:blipFill>
          <a:blip r:embed="rId2" cstate="print"/>
          <a:srcRect/>
          <a:stretch>
            <a:fillRect/>
          </a:stretch>
        </p:blipFill>
        <p:spPr bwMode="auto">
          <a:xfrm>
            <a:off x="2746716" y="3211845"/>
            <a:ext cx="4279316" cy="1959661"/>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6" name="矩形 5"/>
          <p:cNvSpPr/>
          <p:nvPr/>
        </p:nvSpPr>
        <p:spPr>
          <a:xfrm>
            <a:off x="1105548" y="2185547"/>
            <a:ext cx="10331176" cy="4815840"/>
          </a:xfrm>
          <a:prstGeom prst="rect">
            <a:avLst/>
          </a:prstGeom>
        </p:spPr>
        <p:txBody>
          <a:bodyPr wrap="square">
            <a:spAutoFit/>
          </a:bodyPr>
          <a:lstStyle/>
          <a:p>
            <a:pPr>
              <a:lnSpc>
                <a:spcPct val="150000"/>
              </a:lnSpc>
            </a:pPr>
            <a:r>
              <a:rPr lang="en-US" altLang="zh-CN" b="1" dirty="0">
                <a:solidFill>
                  <a:schemeClr val="tx1">
                    <a:lumMod val="75000"/>
                    <a:lumOff val="25000"/>
                  </a:schemeClr>
                </a:solidFill>
              </a:rPr>
              <a:t>2. </a:t>
            </a:r>
            <a:r>
              <a:rPr lang="zh-CN" altLang="zh-CN" b="1" dirty="0">
                <a:solidFill>
                  <a:schemeClr val="tx1">
                    <a:lumMod val="75000"/>
                    <a:lumOff val="25000"/>
                  </a:schemeClr>
                </a:solidFill>
              </a:rPr>
              <a:t>申明文件对象</a:t>
            </a: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 5</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s = “student"</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 encoding='utf-8')</a:t>
            </a:r>
          </a:p>
          <a:p>
            <a:pPr>
              <a:lnSpc>
                <a:spcPct val="150000"/>
              </a:lnSpc>
            </a:pPr>
            <a:r>
              <a:rPr lang="zh-CN" altLang="zh-CN" sz="1600" dirty="0">
                <a:solidFill>
                  <a:schemeClr val="tx1">
                    <a:lumMod val="75000"/>
                    <a:lumOff val="25000"/>
                  </a:schemeClr>
                </a:solidFill>
              </a:rPr>
              <a:t>省略第三个参数：</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  </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这时</a:t>
            </a:r>
            <a:r>
              <a:rPr lang="en-US" altLang="zh-CN" sz="1600" dirty="0">
                <a:solidFill>
                  <a:schemeClr val="tx1">
                    <a:lumMod val="75000"/>
                    <a:lumOff val="25000"/>
                  </a:schemeClr>
                </a:solidFill>
              </a:rPr>
              <a:t>“open”</a:t>
            </a:r>
            <a:r>
              <a:rPr lang="zh-CN" altLang="zh-CN" sz="1600" dirty="0">
                <a:solidFill>
                  <a:schemeClr val="tx1">
                    <a:lumMod val="75000"/>
                    <a:lumOff val="25000"/>
                  </a:schemeClr>
                </a:solidFill>
              </a:rPr>
              <a:t>函数调用完毕之后，</a:t>
            </a:r>
            <a:r>
              <a:rPr lang="en-US" altLang="zh-CN" sz="1600" dirty="0">
                <a:solidFill>
                  <a:schemeClr val="tx1">
                    <a:lumMod val="75000"/>
                    <a:lumOff val="25000"/>
                  </a:schemeClr>
                </a:solidFill>
              </a:rPr>
              <a:t>f</a:t>
            </a:r>
            <a:r>
              <a:rPr lang="zh-CN" altLang="zh-CN" sz="1600" dirty="0">
                <a:solidFill>
                  <a:schemeClr val="tx1">
                    <a:lumMod val="75000"/>
                    <a:lumOff val="25000"/>
                  </a:schemeClr>
                </a:solidFill>
              </a:rPr>
              <a:t>指向本地的某个文件，“</a:t>
            </a:r>
            <a:r>
              <a:rPr lang="en-US" altLang="zh-CN" sz="1600" dirty="0">
                <a:solidFill>
                  <a:schemeClr val="tx1">
                    <a:lumMod val="75000"/>
                    <a:lumOff val="25000"/>
                  </a:schemeClr>
                </a:solidFill>
              </a:rPr>
              <a:t>f</a:t>
            </a:r>
            <a:r>
              <a:rPr lang="zh-CN" altLang="zh-CN" sz="1600" dirty="0">
                <a:solidFill>
                  <a:schemeClr val="tx1">
                    <a:lumMod val="75000"/>
                    <a:lumOff val="25000"/>
                  </a:schemeClr>
                </a:solidFill>
              </a:rPr>
              <a:t>”就相当于一个对象引用到文件</a:t>
            </a:r>
            <a:r>
              <a:rPr lang="zh-CN" altLang="en-US" sz="1600" dirty="0">
                <a:solidFill>
                  <a:schemeClr val="tx1">
                    <a:lumMod val="75000"/>
                    <a:lumOff val="25000"/>
                  </a:schemeClr>
                </a:solidFill>
              </a:rPr>
              <a:t>，</a:t>
            </a:r>
            <a:r>
              <a:rPr lang="zh-CN" altLang="zh-CN" sz="1600" dirty="0">
                <a:solidFill>
                  <a:schemeClr val="tx1">
                    <a:lumMod val="75000"/>
                    <a:lumOff val="25000"/>
                  </a:schemeClr>
                </a:solidFill>
              </a:rPr>
              <a:t>可以通过</a:t>
            </a:r>
            <a:r>
              <a:rPr lang="en-US" altLang="zh-CN" sz="1600" dirty="0">
                <a:solidFill>
                  <a:schemeClr val="tx1">
                    <a:lumMod val="75000"/>
                    <a:lumOff val="25000"/>
                  </a:schemeClr>
                </a:solidFill>
              </a:rPr>
              <a:t>type()</a:t>
            </a:r>
            <a:r>
              <a:rPr lang="zh-CN" altLang="zh-CN" sz="1600" dirty="0">
                <a:solidFill>
                  <a:schemeClr val="tx1">
                    <a:lumMod val="75000"/>
                    <a:lumOff val="25000"/>
                  </a:schemeClr>
                </a:solidFill>
              </a:rPr>
              <a:t>来检查“</a:t>
            </a:r>
            <a:r>
              <a:rPr lang="en-US" altLang="zh-CN" sz="1600" dirty="0">
                <a:solidFill>
                  <a:schemeClr val="tx1">
                    <a:lumMod val="75000"/>
                    <a:lumOff val="25000"/>
                  </a:schemeClr>
                </a:solidFill>
              </a:rPr>
              <a:t>f</a:t>
            </a:r>
            <a:r>
              <a:rPr lang="zh-CN" altLang="zh-CN" sz="1600" dirty="0">
                <a:solidFill>
                  <a:schemeClr val="tx1">
                    <a:lumMod val="75000"/>
                    <a:lumOff val="25000"/>
                  </a:schemeClr>
                </a:solidFill>
              </a:rPr>
              <a:t>”的类型。</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type(f)</a:t>
            </a:r>
          </a:p>
          <a:p>
            <a:endParaRPr lang="en-US" altLang="zh-CN" sz="1600" dirty="0"/>
          </a:p>
          <a:p>
            <a:endParaRPr lang="en-US" altLang="zh-CN" sz="1600" dirty="0"/>
          </a:p>
          <a:p>
            <a:endParaRPr lang="en-US" altLang="zh-CN" sz="1600" dirty="0"/>
          </a:p>
          <a:p>
            <a:endParaRPr lang="zh-CN" altLang="zh-CN" sz="1600" dirty="0"/>
          </a:p>
        </p:txBody>
      </p:sp>
      <p:pic>
        <p:nvPicPr>
          <p:cNvPr id="7" name="图片 6"/>
          <p:cNvPicPr/>
          <p:nvPr/>
        </p:nvPicPr>
        <p:blipFill>
          <a:blip r:embed="rId2" cstate="print"/>
          <a:srcRect/>
          <a:stretch>
            <a:fillRect/>
          </a:stretch>
        </p:blipFill>
        <p:spPr bwMode="auto">
          <a:xfrm>
            <a:off x="1299305" y="6032050"/>
            <a:ext cx="2055278" cy="394419"/>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8" name="矩形 7"/>
          <p:cNvSpPr/>
          <p:nvPr/>
        </p:nvSpPr>
        <p:spPr>
          <a:xfrm>
            <a:off x="1133468" y="2094239"/>
            <a:ext cx="8417204" cy="460382"/>
          </a:xfrm>
          <a:prstGeom prst="rect">
            <a:avLst/>
          </a:prstGeom>
        </p:spPr>
        <p:txBody>
          <a:bodyPr wrap="square">
            <a:spAutoFit/>
          </a:bodyPr>
          <a:lstStyle/>
          <a:p>
            <a:pPr>
              <a:lnSpc>
                <a:spcPct val="150000"/>
              </a:lnSpc>
            </a:pPr>
            <a:r>
              <a:rPr lang="en-US" altLang="zh-CN" b="1" dirty="0">
                <a:solidFill>
                  <a:schemeClr val="tx1">
                    <a:lumMod val="75000"/>
                    <a:lumOff val="25000"/>
                  </a:schemeClr>
                </a:solidFill>
              </a:rPr>
              <a:t>3. </a:t>
            </a:r>
            <a:r>
              <a:rPr lang="zh-CN" altLang="zh-CN" b="1" dirty="0">
                <a:solidFill>
                  <a:schemeClr val="tx1">
                    <a:lumMod val="75000"/>
                    <a:lumOff val="25000"/>
                  </a:schemeClr>
                </a:solidFill>
              </a:rPr>
              <a:t>文件读操作</a:t>
            </a:r>
          </a:p>
        </p:txBody>
      </p:sp>
      <p:sp>
        <p:nvSpPr>
          <p:cNvPr id="9" name="文本框 8"/>
          <p:cNvSpPr txBox="1"/>
          <p:nvPr/>
        </p:nvSpPr>
        <p:spPr>
          <a:xfrm>
            <a:off x="3593470" y="2554621"/>
            <a:ext cx="3497199" cy="419474"/>
          </a:xfrm>
          <a:prstGeom prst="rect">
            <a:avLst/>
          </a:prstGeom>
          <a:noFill/>
        </p:spPr>
        <p:txBody>
          <a:bodyPr wrap="square" rtlCol="0">
            <a:spAutoFit/>
          </a:bodyPr>
          <a:lstStyle/>
          <a:p>
            <a:pPr algn="ctr">
              <a:lnSpc>
                <a:spcPct val="150000"/>
              </a:lnSpc>
            </a:pPr>
            <a:r>
              <a:rPr lang="zh-CN" altLang="zh-CN" sz="1600" dirty="0">
                <a:solidFill>
                  <a:schemeClr val="tx1">
                    <a:lumMod val="75000"/>
                    <a:lumOff val="25000"/>
                  </a:schemeClr>
                </a:solidFill>
              </a:rPr>
              <a:t>文件对象常用方法</a:t>
            </a:r>
          </a:p>
        </p:txBody>
      </p:sp>
      <p:graphicFrame>
        <p:nvGraphicFramePr>
          <p:cNvPr id="10" name="表格 9"/>
          <p:cNvGraphicFramePr>
            <a:graphicFrameLocks noGrp="1"/>
          </p:cNvGraphicFramePr>
          <p:nvPr/>
        </p:nvGraphicFramePr>
        <p:xfrm>
          <a:off x="2261984" y="3015003"/>
          <a:ext cx="6888739" cy="3579973"/>
        </p:xfrm>
        <a:graphic>
          <a:graphicData uri="http://schemas.openxmlformats.org/drawingml/2006/table">
            <a:tbl>
              <a:tblPr firstRow="1" firstCol="1" bandRow="1">
                <a:tableStyleId>{5940675A-B579-460E-94D1-54222C63F5DA}</a:tableStyleId>
              </a:tblPr>
              <a:tblGrid>
                <a:gridCol w="1299433">
                  <a:extLst>
                    <a:ext uri="{9D8B030D-6E8A-4147-A177-3AD203B41FA5}">
                      <a16:colId xmlns:a16="http://schemas.microsoft.com/office/drawing/2014/main" val="20000"/>
                    </a:ext>
                  </a:extLst>
                </a:gridCol>
                <a:gridCol w="5589306">
                  <a:extLst>
                    <a:ext uri="{9D8B030D-6E8A-4147-A177-3AD203B41FA5}">
                      <a16:colId xmlns:a16="http://schemas.microsoft.com/office/drawing/2014/main" val="20001"/>
                    </a:ext>
                  </a:extLst>
                </a:gridCol>
              </a:tblGrid>
              <a:tr h="256923">
                <a:tc>
                  <a:txBody>
                    <a:bodyPr/>
                    <a:lstStyle/>
                    <a:p>
                      <a:pPr algn="ctr" defTabSz="914400">
                        <a:lnSpc>
                          <a:spcPct val="150000"/>
                        </a:lnSpc>
                        <a:buClrTx/>
                        <a:buSzTx/>
                        <a:buFontTx/>
                      </a:pPr>
                      <a:r>
                        <a:rPr lang="en-US" altLang="zh-CN" sz="1200" dirty="0">
                          <a:solidFill>
                            <a:schemeClr val="tx1">
                              <a:lumMod val="75000"/>
                              <a:lumOff val="25000"/>
                            </a:schemeClr>
                          </a:solidFill>
                        </a:rPr>
                        <a:t>方法名称</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作用</a:t>
                      </a:r>
                    </a:p>
                  </a:txBody>
                  <a:tcPr marL="68580" marR="68580" marT="0" marB="0" anchor="ctr"/>
                </a:tc>
                <a:extLst>
                  <a:ext uri="{0D108BD9-81ED-4DB2-BD59-A6C34878D82A}">
                    <a16:rowId xmlns:a16="http://schemas.microsoft.com/office/drawing/2014/main" val="10000"/>
                  </a:ext>
                </a:extLst>
              </a:tr>
              <a:tr h="591167">
                <a:tc>
                  <a:txBody>
                    <a:bodyPr/>
                    <a:lstStyle/>
                    <a:p>
                      <a:pPr algn="ctr" defTabSz="914400">
                        <a:lnSpc>
                          <a:spcPct val="150000"/>
                        </a:lnSpc>
                        <a:buClrTx/>
                        <a:buSzTx/>
                        <a:buFontTx/>
                      </a:pPr>
                      <a:r>
                        <a:rPr lang="en-US" altLang="zh-CN" sz="1200" dirty="0">
                          <a:solidFill>
                            <a:schemeClr val="tx1">
                              <a:lumMod val="75000"/>
                              <a:lumOff val="25000"/>
                            </a:schemeClr>
                          </a:solidFill>
                        </a:rPr>
                        <a:t>read([size])</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一次性读取所有或指定（大小为size）的字符（或字节）信息，若读取文件中所有的内容，则文件指针定位到文件尾</a:t>
                      </a:r>
                    </a:p>
                  </a:txBody>
                  <a:tcPr marL="68580" marR="68580" marT="0" marB="0" anchor="ctr"/>
                </a:tc>
                <a:extLst>
                  <a:ext uri="{0D108BD9-81ED-4DB2-BD59-A6C34878D82A}">
                    <a16:rowId xmlns:a16="http://schemas.microsoft.com/office/drawing/2014/main" val="10001"/>
                  </a:ext>
                </a:extLst>
              </a:tr>
              <a:tr h="472555">
                <a:tc>
                  <a:txBody>
                    <a:bodyPr/>
                    <a:lstStyle/>
                    <a:p>
                      <a:pPr algn="ctr" defTabSz="914400">
                        <a:lnSpc>
                          <a:spcPct val="150000"/>
                        </a:lnSpc>
                        <a:buClrTx/>
                        <a:buSzTx/>
                        <a:buFontTx/>
                      </a:pPr>
                      <a:r>
                        <a:rPr lang="en-US" altLang="zh-CN" sz="1200" dirty="0">
                          <a:solidFill>
                            <a:schemeClr val="tx1">
                              <a:lumMod val="75000"/>
                              <a:lumOff val="25000"/>
                            </a:schemeClr>
                          </a:solidFill>
                        </a:rPr>
                        <a:t>readlines([size])</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读取size行内容到列表；省略size，一次性读取文件中所有行的内容到列表，并且文件指针定位到了文件尾</a:t>
                      </a:r>
                    </a:p>
                  </a:txBody>
                  <a:tcPr marL="68580" marR="68580" marT="0" marB="0" anchor="ctr"/>
                </a:tc>
                <a:extLst>
                  <a:ext uri="{0D108BD9-81ED-4DB2-BD59-A6C34878D82A}">
                    <a16:rowId xmlns:a16="http://schemas.microsoft.com/office/drawing/2014/main" val="10002"/>
                  </a:ext>
                </a:extLst>
              </a:tr>
              <a:tr h="445168">
                <a:tc>
                  <a:txBody>
                    <a:bodyPr/>
                    <a:lstStyle/>
                    <a:p>
                      <a:pPr algn="ctr" defTabSz="914400">
                        <a:lnSpc>
                          <a:spcPct val="150000"/>
                        </a:lnSpc>
                        <a:buClrTx/>
                        <a:buSzTx/>
                        <a:buFontTx/>
                      </a:pPr>
                      <a:r>
                        <a:rPr lang="en-US" altLang="zh-CN" sz="1200" dirty="0">
                          <a:solidFill>
                            <a:schemeClr val="tx1">
                              <a:lumMod val="75000"/>
                              <a:lumOff val="25000"/>
                            </a:schemeClr>
                          </a:solidFill>
                        </a:rPr>
                        <a:t>readline([size])</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一次读取文件一行的前size个字符或字节；省略size，一次性读取文件一行的所有内容</a:t>
                      </a:r>
                    </a:p>
                  </a:txBody>
                  <a:tcPr marL="68580" marR="68580" marT="0" marB="0" anchor="ctr"/>
                </a:tc>
                <a:extLst>
                  <a:ext uri="{0D108BD9-81ED-4DB2-BD59-A6C34878D82A}">
                    <a16:rowId xmlns:a16="http://schemas.microsoft.com/office/drawing/2014/main" val="10003"/>
                  </a:ext>
                </a:extLst>
              </a:tr>
              <a:tr h="256923">
                <a:tc>
                  <a:txBody>
                    <a:bodyPr/>
                    <a:lstStyle/>
                    <a:p>
                      <a:pPr algn="ctr" defTabSz="914400">
                        <a:lnSpc>
                          <a:spcPct val="150000"/>
                        </a:lnSpc>
                        <a:buClrTx/>
                        <a:buSzTx/>
                        <a:buFontTx/>
                      </a:pPr>
                      <a:r>
                        <a:rPr lang="en-US" altLang="zh-CN" sz="1200" dirty="0">
                          <a:solidFill>
                            <a:schemeClr val="tx1">
                              <a:lumMod val="75000"/>
                              <a:lumOff val="25000"/>
                            </a:schemeClr>
                          </a:solidFill>
                        </a:rPr>
                        <a:t>write(s)</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向文件写入一个字符串或字节流</a:t>
                      </a:r>
                    </a:p>
                  </a:txBody>
                  <a:tcPr marL="68580" marR="68580" marT="0" marB="0" anchor="ctr"/>
                </a:tc>
                <a:extLst>
                  <a:ext uri="{0D108BD9-81ED-4DB2-BD59-A6C34878D82A}">
                    <a16:rowId xmlns:a16="http://schemas.microsoft.com/office/drawing/2014/main" val="10004"/>
                  </a:ext>
                </a:extLst>
              </a:tr>
              <a:tr h="341179">
                <a:tc>
                  <a:txBody>
                    <a:bodyPr/>
                    <a:lstStyle/>
                    <a:p>
                      <a:pPr algn="ctr" defTabSz="914400">
                        <a:lnSpc>
                          <a:spcPct val="150000"/>
                        </a:lnSpc>
                        <a:buClrTx/>
                        <a:buSzTx/>
                        <a:buFontTx/>
                      </a:pPr>
                      <a:r>
                        <a:rPr lang="en-US" altLang="zh-CN" sz="1200" dirty="0">
                          <a:solidFill>
                            <a:schemeClr val="tx1">
                              <a:lumMod val="75000"/>
                              <a:lumOff val="25000"/>
                            </a:schemeClr>
                          </a:solidFill>
                        </a:rPr>
                        <a:t>writelines(lines)</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将lines写入文件，lines为列表，且其中每个元素均为字符串</a:t>
                      </a:r>
                    </a:p>
                  </a:txBody>
                  <a:tcPr marL="68580" marR="68580" marT="0" marB="0" anchor="ctr"/>
                </a:tc>
                <a:extLst>
                  <a:ext uri="{0D108BD9-81ED-4DB2-BD59-A6C34878D82A}">
                    <a16:rowId xmlns:a16="http://schemas.microsoft.com/office/drawing/2014/main" val="10005"/>
                  </a:ext>
                </a:extLst>
              </a:tr>
              <a:tr h="324853">
                <a:tc>
                  <a:txBody>
                    <a:bodyPr/>
                    <a:lstStyle/>
                    <a:p>
                      <a:pPr algn="ctr" defTabSz="914400">
                        <a:lnSpc>
                          <a:spcPct val="150000"/>
                        </a:lnSpc>
                        <a:buClrTx/>
                        <a:buSzTx/>
                        <a:buFontTx/>
                      </a:pPr>
                      <a:r>
                        <a:rPr lang="en-US" altLang="zh-CN" sz="1200" dirty="0">
                          <a:solidFill>
                            <a:schemeClr val="tx1">
                              <a:lumMod val="75000"/>
                              <a:lumOff val="25000"/>
                            </a:schemeClr>
                          </a:solidFill>
                        </a:rPr>
                        <a:t>seek(offset)</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改变当前文件操作指针的位置到offset，注意：位置的指定与编码密切相关</a:t>
                      </a:r>
                    </a:p>
                  </a:txBody>
                  <a:tcPr marL="68580" marR="68580" marT="0" marB="0" anchor="ctr"/>
                </a:tc>
                <a:extLst>
                  <a:ext uri="{0D108BD9-81ED-4DB2-BD59-A6C34878D82A}">
                    <a16:rowId xmlns:a16="http://schemas.microsoft.com/office/drawing/2014/main" val="10006"/>
                  </a:ext>
                </a:extLst>
              </a:tr>
              <a:tr h="409074">
                <a:tc>
                  <a:txBody>
                    <a:bodyPr/>
                    <a:lstStyle/>
                    <a:p>
                      <a:pPr algn="ctr" defTabSz="914400">
                        <a:lnSpc>
                          <a:spcPct val="150000"/>
                        </a:lnSpc>
                        <a:buClrTx/>
                        <a:buSzTx/>
                        <a:buFontTx/>
                      </a:pPr>
                      <a:r>
                        <a:rPr lang="en-US" altLang="zh-CN" sz="1200" dirty="0">
                          <a:solidFill>
                            <a:schemeClr val="tx1">
                              <a:lumMod val="75000"/>
                              <a:lumOff val="25000"/>
                            </a:schemeClr>
                          </a:solidFill>
                        </a:rPr>
                        <a:t>close()</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关闭文件，同时输出缓存到磁盘，完成将写入文件的操作，真实的写入到具体的文件中</a:t>
                      </a:r>
                    </a:p>
                  </a:txBody>
                  <a:tcPr marL="68580" marR="68580" marT="0" marB="0" anchor="ctr"/>
                </a:tc>
                <a:extLst>
                  <a:ext uri="{0D108BD9-81ED-4DB2-BD59-A6C34878D82A}">
                    <a16:rowId xmlns:a16="http://schemas.microsoft.com/office/drawing/2014/main" val="10007"/>
                  </a:ext>
                </a:extLst>
              </a:tr>
              <a:tr h="256923">
                <a:tc>
                  <a:txBody>
                    <a:bodyPr/>
                    <a:lstStyle/>
                    <a:p>
                      <a:pPr algn="ctr" defTabSz="914400">
                        <a:lnSpc>
                          <a:spcPct val="150000"/>
                        </a:lnSpc>
                        <a:buClrTx/>
                        <a:buSzTx/>
                        <a:buFontTx/>
                      </a:pPr>
                      <a:r>
                        <a:rPr lang="en-US" altLang="zh-CN" sz="1200" dirty="0">
                          <a:solidFill>
                            <a:schemeClr val="tx1">
                              <a:lumMod val="75000"/>
                              <a:lumOff val="25000"/>
                            </a:schemeClr>
                          </a:solidFill>
                        </a:rPr>
                        <a:t>flush()</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不关闭文件情况下输出缓存到磁盘，完成文件内容的写入</a:t>
                      </a:r>
                    </a:p>
                  </a:txBody>
                  <a:tcPr marL="68580" marR="68580" marT="0" marB="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11" name="矩形 10"/>
          <p:cNvSpPr/>
          <p:nvPr/>
        </p:nvSpPr>
        <p:spPr>
          <a:xfrm>
            <a:off x="958964" y="2101786"/>
            <a:ext cx="10134859" cy="4399915"/>
          </a:xfrm>
          <a:prstGeom prst="rect">
            <a:avLst/>
          </a:prstGeom>
        </p:spPr>
        <p:txBody>
          <a:bodyPr wrap="square">
            <a:spAutoFit/>
          </a:bodyPr>
          <a:lstStyle/>
          <a:p>
            <a:endParaRPr lang="en-US" altLang="zh-CN" sz="1600" dirty="0"/>
          </a:p>
          <a:p>
            <a:pPr>
              <a:lnSpc>
                <a:spcPct val="150000"/>
              </a:lnSpc>
            </a:pPr>
            <a:r>
              <a:rPr lang="zh-CN" altLang="zh-CN" sz="1600" dirty="0">
                <a:solidFill>
                  <a:schemeClr val="tx1">
                    <a:lumMod val="75000"/>
                    <a:lumOff val="25000"/>
                  </a:schemeClr>
                </a:solidFill>
              </a:rPr>
              <a:t>【例】读取文件所有内容。</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 encoding='utf-8') </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f.read</a:t>
            </a:r>
            <a:r>
              <a:rPr lang="en-US" altLang="zh-CN" sz="1600" dirty="0">
                <a:solidFill>
                  <a:schemeClr val="tx1">
                    <a:lumMod val="75000"/>
                    <a:lumOff val="25000"/>
                  </a:schemeClr>
                </a:solidFill>
              </a:rPr>
              <a:t>()</a:t>
            </a:r>
          </a:p>
          <a:p>
            <a:pPr>
              <a:lnSpc>
                <a:spcPct val="150000"/>
              </a:lnSpc>
            </a:pPr>
            <a:endParaRPr lang="en-US" altLang="zh-CN" sz="1600" dirty="0">
              <a:solidFill>
                <a:schemeClr val="tx1">
                  <a:lumMod val="75000"/>
                  <a:lumOff val="25000"/>
                </a:schemeClr>
              </a:solidFill>
            </a:endParaRP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此时</a:t>
            </a:r>
            <a:r>
              <a:rPr lang="zh-CN" altLang="en-US" sz="1600" dirty="0">
                <a:solidFill>
                  <a:schemeClr val="tx1">
                    <a:lumMod val="75000"/>
                    <a:lumOff val="25000"/>
                  </a:schemeClr>
                </a:solidFill>
              </a:rPr>
              <a:t>，</a:t>
            </a:r>
            <a:r>
              <a:rPr lang="zh-CN" altLang="zh-CN" sz="1600" dirty="0">
                <a:solidFill>
                  <a:schemeClr val="tx1">
                    <a:lumMod val="75000"/>
                    <a:lumOff val="25000"/>
                  </a:schemeClr>
                </a:solidFill>
              </a:rPr>
              <a:t>输出的内容前多了“</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ufeff</a:t>
            </a:r>
            <a:r>
              <a:rPr lang="zh-CN" altLang="zh-CN" sz="1600" dirty="0">
                <a:solidFill>
                  <a:schemeClr val="tx1">
                    <a:lumMod val="75000"/>
                    <a:lumOff val="25000"/>
                  </a:schemeClr>
                </a:solidFill>
              </a:rPr>
              <a:t>”，但通过</a:t>
            </a:r>
            <a:r>
              <a:rPr lang="en-US" altLang="zh-CN" sz="1600" dirty="0">
                <a:solidFill>
                  <a:schemeClr val="tx1">
                    <a:lumMod val="75000"/>
                    <a:lumOff val="25000"/>
                  </a:schemeClr>
                </a:solidFill>
              </a:rPr>
              <a:t>print</a:t>
            </a:r>
            <a:r>
              <a:rPr lang="zh-CN" altLang="zh-CN" sz="1600" dirty="0">
                <a:solidFill>
                  <a:schemeClr val="tx1">
                    <a:lumMod val="75000"/>
                    <a:lumOff val="25000"/>
                  </a:schemeClr>
                </a:solidFill>
              </a:rPr>
              <a:t>函数输出没有，所以不用理会。当然，如果的确希望得到如下的结果：</a:t>
            </a:r>
            <a:endParaRPr lang="en-US" altLang="zh-CN" sz="1600" dirty="0">
              <a:solidFill>
                <a:schemeClr val="tx1">
                  <a:lumMod val="75000"/>
                  <a:lumOff val="25000"/>
                </a:schemeClr>
              </a:solidFill>
            </a:endParaRPr>
          </a:p>
          <a:p>
            <a:pPr>
              <a:lnSpc>
                <a:spcPct val="150000"/>
              </a:lnSpc>
            </a:pPr>
            <a:endParaRPr lang="en-US" altLang="zh-CN" sz="1600" dirty="0">
              <a:solidFill>
                <a:schemeClr val="tx1">
                  <a:lumMod val="75000"/>
                  <a:lumOff val="25000"/>
                </a:schemeClr>
              </a:solidFill>
            </a:endParaRP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那就只需要修改</a:t>
            </a:r>
            <a:r>
              <a:rPr lang="en-US" altLang="zh-CN" sz="1600" dirty="0">
                <a:solidFill>
                  <a:schemeClr val="tx1">
                    <a:lumMod val="75000"/>
                    <a:lumOff val="25000"/>
                  </a:schemeClr>
                </a:solidFill>
              </a:rPr>
              <a:t>open</a:t>
            </a:r>
            <a:r>
              <a:rPr lang="zh-CN" altLang="zh-CN" sz="1600" dirty="0">
                <a:solidFill>
                  <a:schemeClr val="tx1">
                    <a:lumMod val="75000"/>
                    <a:lumOff val="25000"/>
                  </a:schemeClr>
                </a:solidFill>
              </a:rPr>
              <a:t>函数中的编码参数，如下：</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 encoding='utf-8-sig')</a:t>
            </a:r>
          </a:p>
        </p:txBody>
      </p:sp>
      <p:pic>
        <p:nvPicPr>
          <p:cNvPr id="12" name="图片 11"/>
          <p:cNvPicPr/>
          <p:nvPr/>
        </p:nvPicPr>
        <p:blipFill>
          <a:blip r:embed="rId3" cstate="print"/>
          <a:srcRect/>
          <a:stretch>
            <a:fillRect/>
          </a:stretch>
        </p:blipFill>
        <p:spPr bwMode="auto">
          <a:xfrm>
            <a:off x="1152737" y="3665410"/>
            <a:ext cx="5722411" cy="385480"/>
          </a:xfrm>
          <a:prstGeom prst="rect">
            <a:avLst/>
          </a:prstGeom>
          <a:noFill/>
          <a:ln w="9525">
            <a:noFill/>
            <a:miter lim="800000"/>
            <a:headEnd/>
            <a:tailEnd/>
          </a:ln>
        </p:spPr>
      </p:pic>
      <p:pic>
        <p:nvPicPr>
          <p:cNvPr id="13" name="图片 12"/>
          <p:cNvPicPr/>
          <p:nvPr/>
        </p:nvPicPr>
        <p:blipFill>
          <a:blip r:embed="rId4" cstate="print"/>
          <a:srcRect/>
          <a:stretch>
            <a:fillRect/>
          </a:stretch>
        </p:blipFill>
        <p:spPr bwMode="auto">
          <a:xfrm>
            <a:off x="1244753" y="5138681"/>
            <a:ext cx="5757395" cy="370356"/>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7" name="矩形 6"/>
          <p:cNvSpPr/>
          <p:nvPr/>
        </p:nvSpPr>
        <p:spPr>
          <a:xfrm>
            <a:off x="1003019" y="2217141"/>
            <a:ext cx="10145346" cy="1200329"/>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解决再次调用“f.read()”得到的是空白内容的问题：</a:t>
            </a:r>
          </a:p>
          <a:p>
            <a:pPr algn="l">
              <a:lnSpc>
                <a:spcPct val="150000"/>
              </a:lnSpc>
              <a:buClrTx/>
              <a:buSzTx/>
              <a:buNone/>
            </a:pPr>
            <a:r>
              <a:rPr lang="en-US" altLang="zh-CN" sz="1600" dirty="0">
                <a:solidFill>
                  <a:schemeClr val="tx1">
                    <a:lumMod val="75000"/>
                    <a:lumOff val="25000"/>
                  </a:schemeClr>
                </a:solidFill>
              </a:rPr>
              <a:t>方法一：重新再创建当前文件的实例（即重新进行申明），再进行读取。</a:t>
            </a:r>
          </a:p>
          <a:p>
            <a:pPr algn="l">
              <a:lnSpc>
                <a:spcPct val="150000"/>
              </a:lnSpc>
              <a:buClrTx/>
              <a:buSzTx/>
              <a:buNone/>
            </a:pPr>
            <a:r>
              <a:rPr lang="en-US" altLang="zh-CN" sz="1600" dirty="0">
                <a:solidFill>
                  <a:schemeClr val="tx1">
                    <a:lumMod val="75000"/>
                    <a:lumOff val="25000"/>
                  </a:schemeClr>
                </a:solidFill>
              </a:rPr>
              <a:t>方法二：把文件指针重新移到文件的开头，即调用“f.seek(0)”---表示将指针移到文件的开头，即第一个字符位置。</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5" name="矩形 4"/>
          <p:cNvSpPr/>
          <p:nvPr/>
        </p:nvSpPr>
        <p:spPr>
          <a:xfrm>
            <a:off x="1030940" y="2182241"/>
            <a:ext cx="8428177" cy="4523105"/>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【例】读取文件所有行到列表。</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l = </a:t>
            </a:r>
            <a:r>
              <a:rPr lang="en-US" altLang="zh-CN" sz="1600" dirty="0" err="1">
                <a:solidFill>
                  <a:schemeClr val="tx1">
                    <a:lumMod val="75000"/>
                    <a:lumOff val="25000"/>
                  </a:schemeClr>
                </a:solidFill>
              </a:rPr>
              <a:t>f.readlines</a:t>
            </a:r>
            <a:r>
              <a:rPr lang="en-US" altLang="zh-CN" sz="1600" dirty="0">
                <a:solidFill>
                  <a:schemeClr val="tx1">
                    <a:lumMod val="75000"/>
                    <a:lumOff val="25000"/>
                  </a:schemeClr>
                </a:solidFill>
              </a:rPr>
              <a:t>()  #</a:t>
            </a:r>
            <a:r>
              <a:rPr lang="zh-CN" altLang="zh-CN" sz="1600" dirty="0">
                <a:solidFill>
                  <a:schemeClr val="tx1">
                    <a:lumMod val="75000"/>
                    <a:lumOff val="25000"/>
                  </a:schemeClr>
                </a:solidFill>
              </a:rPr>
              <a:t>读取文件所有行到列表，每一行的内容作为列表的一个元素</a:t>
            </a:r>
          </a:p>
          <a:p>
            <a:pPr>
              <a:lnSpc>
                <a:spcPct val="150000"/>
              </a:lnSpc>
            </a:pPr>
            <a:r>
              <a:rPr lang="en-US" altLang="zh-CN" sz="1600" dirty="0">
                <a:solidFill>
                  <a:schemeClr val="tx1">
                    <a:lumMod val="75000"/>
                    <a:lumOff val="25000"/>
                  </a:schemeClr>
                </a:solidFill>
              </a:rPr>
              <a:t>&gt; for line in l:</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print(line)</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f.close</a:t>
            </a:r>
            <a:r>
              <a:rPr lang="en-US" altLang="zh-CN" sz="1600" dirty="0">
                <a:solidFill>
                  <a:schemeClr val="tx1">
                    <a:lumMod val="75000"/>
                    <a:lumOff val="25000"/>
                  </a:schemeClr>
                </a:solidFill>
              </a:rPr>
              <a:t>()</a:t>
            </a:r>
          </a:p>
          <a:p>
            <a:pPr>
              <a:lnSpc>
                <a:spcPct val="150000"/>
              </a:lnSpc>
            </a:pPr>
            <a:r>
              <a:rPr lang="zh-CN" altLang="en-US" sz="1600" dirty="0">
                <a:solidFill>
                  <a:schemeClr val="tx1">
                    <a:lumMod val="75000"/>
                    <a:lumOff val="25000"/>
                  </a:schemeClr>
                </a:solidFill>
              </a:rPr>
              <a:t>问题：只是</a:t>
            </a:r>
            <a:r>
              <a:rPr lang="zh-CN" altLang="zh-CN" sz="1600" dirty="0">
                <a:solidFill>
                  <a:schemeClr val="tx1">
                    <a:lumMod val="75000"/>
                    <a:lumOff val="25000"/>
                  </a:schemeClr>
                </a:solidFill>
              </a:rPr>
              <a:t>希望</a:t>
            </a:r>
            <a:r>
              <a:rPr lang="zh-CN" altLang="en-US" sz="1600" dirty="0">
                <a:solidFill>
                  <a:schemeClr val="tx1">
                    <a:lumMod val="75000"/>
                    <a:lumOff val="25000"/>
                  </a:schemeClr>
                </a:solidFill>
              </a:rPr>
              <a:t>输出</a:t>
            </a:r>
            <a:r>
              <a:rPr lang="zh-CN" altLang="zh-CN" sz="1600" dirty="0">
                <a:solidFill>
                  <a:schemeClr val="tx1">
                    <a:lumMod val="75000"/>
                    <a:lumOff val="25000"/>
                  </a:schemeClr>
                </a:solidFill>
              </a:rPr>
              <a:t>文件每一行的内容</a:t>
            </a:r>
            <a:r>
              <a:rPr lang="zh-CN" altLang="en-US"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pPr>
            <a:r>
              <a:rPr lang="zh-CN" altLang="en-US" sz="1600" dirty="0">
                <a:solidFill>
                  <a:schemeClr val="tx1">
                    <a:lumMod val="75000"/>
                    <a:lumOff val="25000"/>
                  </a:schemeClr>
                </a:solidFill>
              </a:rPr>
              <a:t>解决办法：用</a:t>
            </a:r>
            <a:r>
              <a:rPr lang="en-US" altLang="zh-CN" sz="1600" dirty="0">
                <a:solidFill>
                  <a:schemeClr val="tx1">
                    <a:lumMod val="75000"/>
                    <a:lumOff val="25000"/>
                  </a:schemeClr>
                </a:solidFill>
              </a:rPr>
              <a:t>for-in</a:t>
            </a:r>
            <a:r>
              <a:rPr lang="zh-CN" altLang="zh-CN" sz="1600" dirty="0">
                <a:solidFill>
                  <a:schemeClr val="tx1">
                    <a:lumMod val="75000"/>
                    <a:lumOff val="25000"/>
                  </a:schemeClr>
                </a:solidFill>
              </a:rPr>
              <a:t>遍历循环对其进行遍历操作。</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\dat.txt', 'r‘)</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for line in f:</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         print(line, end='')</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f.close</a:t>
            </a:r>
            <a:r>
              <a:rPr lang="en-US" altLang="zh-CN" sz="1600" dirty="0">
                <a:solidFill>
                  <a:schemeClr val="tx1">
                    <a:lumMod val="75000"/>
                    <a:lumOff val="25000"/>
                  </a:schemeClr>
                </a:solidFil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编码问题</a:t>
            </a:r>
          </a:p>
          <a:p>
            <a:endParaRPr lang="zh-CN" altLang="en-US" dirty="0"/>
          </a:p>
        </p:txBody>
      </p:sp>
      <p:sp>
        <p:nvSpPr>
          <p:cNvPr id="6" name="矩形 5"/>
          <p:cNvSpPr/>
          <p:nvPr/>
        </p:nvSpPr>
        <p:spPr>
          <a:xfrm>
            <a:off x="1085539" y="2220907"/>
            <a:ext cx="10004304" cy="341503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利用open()函数来申明文件变量时，省略了第三个参数：</a:t>
            </a:r>
          </a:p>
          <a:p>
            <a:pPr algn="l">
              <a:lnSpc>
                <a:spcPct val="150000"/>
              </a:lnSpc>
              <a:buClrTx/>
              <a:buSzTx/>
              <a:buNone/>
            </a:pPr>
            <a:r>
              <a:rPr lang="en-US" altLang="zh-CN" sz="1600" dirty="0">
                <a:solidFill>
                  <a:schemeClr val="tx1">
                    <a:lumMod val="75000"/>
                    <a:lumOff val="25000"/>
                  </a:schemeClr>
                </a:solidFill>
              </a:rPr>
              <a:t>&gt; f = open(r'D:\python\PythonEXample\data1.txt', 'r')</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在解码的时候遇到一些问题，原因是开始我们保存的第一个文件“data.txt”的编码是“gbk”的，而这里的“data1.txt”是“utf-8”的，编码不兼容。</a:t>
            </a:r>
          </a:p>
          <a:p>
            <a:pPr algn="l">
              <a:lnSpc>
                <a:spcPct val="150000"/>
              </a:lnSpc>
              <a:buClrTx/>
              <a:buSzTx/>
              <a:buNone/>
            </a:pPr>
            <a:r>
              <a:rPr lang="en-US" altLang="zh-CN" sz="1600" dirty="0">
                <a:solidFill>
                  <a:schemeClr val="tx1">
                    <a:lumMod val="75000"/>
                    <a:lumOff val="25000"/>
                  </a:schemeClr>
                </a:solidFill>
              </a:rPr>
              <a:t>解决办法：</a:t>
            </a:r>
          </a:p>
          <a:p>
            <a:pPr algn="l">
              <a:lnSpc>
                <a:spcPct val="150000"/>
              </a:lnSpc>
              <a:buClrTx/>
              <a:buSzTx/>
              <a:buNone/>
            </a:pPr>
            <a:r>
              <a:rPr lang="en-US" altLang="zh-CN" sz="1600" dirty="0">
                <a:solidFill>
                  <a:schemeClr val="tx1">
                    <a:lumMod val="75000"/>
                    <a:lumOff val="25000"/>
                  </a:schemeClr>
                </a:solidFill>
              </a:rPr>
              <a:t>&gt; f = open(r'D:\python\PythonEXample\data1.txt', 'r', encoding='UTF-8')</a:t>
            </a:r>
            <a:endParaRPr lang="zh-CN" altLang="zh-CN" sz="1400" dirty="0"/>
          </a:p>
        </p:txBody>
      </p:sp>
      <p:pic>
        <p:nvPicPr>
          <p:cNvPr id="7" name="图片 6"/>
          <p:cNvPicPr/>
          <p:nvPr/>
        </p:nvPicPr>
        <p:blipFill>
          <a:blip r:embed="rId2" cstate="print"/>
          <a:srcRect/>
          <a:stretch>
            <a:fillRect/>
          </a:stretch>
        </p:blipFill>
        <p:spPr bwMode="auto">
          <a:xfrm>
            <a:off x="1320494" y="3134181"/>
            <a:ext cx="5119721" cy="866909"/>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编码问题</a:t>
            </a:r>
          </a:p>
          <a:p>
            <a:endParaRPr lang="zh-CN" altLang="en-US" dirty="0"/>
          </a:p>
        </p:txBody>
      </p:sp>
      <p:sp>
        <p:nvSpPr>
          <p:cNvPr id="8" name="矩形 7"/>
          <p:cNvSpPr/>
          <p:nvPr/>
        </p:nvSpPr>
        <p:spPr>
          <a:xfrm>
            <a:off x="1125396" y="2251123"/>
            <a:ext cx="9452383" cy="2308324"/>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对全局函数</a:t>
            </a:r>
            <a:r>
              <a:rPr lang="en-US" altLang="zh-CN" sz="1600" dirty="0">
                <a:solidFill>
                  <a:schemeClr val="tx1">
                    <a:lumMod val="75000"/>
                    <a:lumOff val="25000"/>
                  </a:schemeClr>
                </a:solidFill>
              </a:rPr>
              <a:t>open()</a:t>
            </a:r>
            <a:r>
              <a:rPr lang="zh-CN" altLang="zh-CN" sz="1600" dirty="0">
                <a:solidFill>
                  <a:schemeClr val="tx1">
                    <a:lumMod val="75000"/>
                    <a:lumOff val="25000"/>
                  </a:schemeClr>
                </a:solidFill>
              </a:rPr>
              <a:t>的操作，总结如下：</a:t>
            </a:r>
          </a:p>
          <a:p>
            <a:pPr>
              <a:lnSpc>
                <a:spcPct val="150000"/>
              </a:lnSpc>
            </a:pPr>
            <a:r>
              <a:rPr lang="en-US" altLang="zh-CN" sz="1600" dirty="0">
                <a:solidFill>
                  <a:schemeClr val="tx1">
                    <a:lumMod val="75000"/>
                    <a:lumOff val="25000"/>
                  </a:schemeClr>
                </a:solidFill>
              </a:rPr>
              <a:t>open("</a:t>
            </a:r>
            <a:r>
              <a:rPr lang="zh-CN" altLang="zh-CN" sz="1600" dirty="0">
                <a:solidFill>
                  <a:schemeClr val="tx1">
                    <a:lumMod val="75000"/>
                    <a:lumOff val="25000"/>
                  </a:schemeClr>
                </a:solidFill>
              </a:rPr>
              <a:t>路径</a:t>
            </a:r>
            <a:r>
              <a:rPr lang="en-US" altLang="zh-CN" sz="1600" dirty="0">
                <a:solidFill>
                  <a:schemeClr val="tx1">
                    <a:lumMod val="75000"/>
                    <a:lumOff val="25000"/>
                  </a:schemeClr>
                </a:solidFill>
              </a:rPr>
              <a:t>", "</a:t>
            </a:r>
            <a:r>
              <a:rPr lang="zh-CN" altLang="zh-CN" sz="1600" dirty="0">
                <a:solidFill>
                  <a:schemeClr val="tx1">
                    <a:lumMod val="75000"/>
                    <a:lumOff val="25000"/>
                  </a:schemeClr>
                </a:solidFill>
              </a:rPr>
              <a:t>模式</a:t>
            </a:r>
            <a:r>
              <a:rPr lang="en-US" altLang="zh-CN" sz="1600" dirty="0">
                <a:solidFill>
                  <a:schemeClr val="tx1">
                    <a:lumMod val="75000"/>
                    <a:lumOff val="25000"/>
                  </a:schemeClr>
                </a:solidFill>
              </a:rPr>
              <a:t>"</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encoding=''</a:t>
            </a:r>
            <a:r>
              <a:rPr lang="zh-CN" altLang="zh-CN" sz="1600" dirty="0">
                <a:solidFill>
                  <a:schemeClr val="tx1">
                    <a:lumMod val="75000"/>
                    <a:lumOff val="25000"/>
                  </a:schemeClr>
                </a:solidFill>
              </a:rPr>
              <a:t>编码</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a:t>
            </a:r>
            <a:r>
              <a:rPr lang="en-US" altLang="zh-CN" sz="1600" dirty="0">
                <a:solidFill>
                  <a:schemeClr val="tx1">
                    <a:lumMod val="75000"/>
                    <a:lumOff val="25000"/>
                  </a:schemeClr>
                </a:solidFill>
              </a:rPr>
              <a:t>1</a:t>
            </a:r>
            <a:r>
              <a:rPr lang="zh-CN" altLang="zh-CN" sz="1600" dirty="0">
                <a:solidFill>
                  <a:schemeClr val="tx1">
                    <a:lumMod val="75000"/>
                    <a:lumOff val="25000"/>
                  </a:schemeClr>
                </a:solidFill>
              </a:rPr>
              <a:t>）第二参数、第三参数都可以省略。</a:t>
            </a:r>
          </a:p>
          <a:p>
            <a:pPr>
              <a:lnSpc>
                <a:spcPct val="150000"/>
              </a:lnSpc>
            </a:pPr>
            <a:r>
              <a:rPr lang="zh-CN" altLang="zh-CN" sz="1600" dirty="0">
                <a:solidFill>
                  <a:schemeClr val="tx1">
                    <a:lumMod val="75000"/>
                    <a:lumOff val="25000"/>
                  </a:schemeClr>
                </a:solidFill>
              </a:rPr>
              <a:t>（</a:t>
            </a:r>
            <a:r>
              <a:rPr lang="en-US" altLang="zh-CN" sz="1600" dirty="0">
                <a:solidFill>
                  <a:schemeClr val="tx1">
                    <a:lumMod val="75000"/>
                    <a:lumOff val="25000"/>
                  </a:schemeClr>
                </a:solidFill>
              </a:rPr>
              <a:t>2</a:t>
            </a:r>
            <a:r>
              <a:rPr lang="zh-CN" altLang="zh-CN" sz="1600" dirty="0">
                <a:solidFill>
                  <a:schemeClr val="tx1">
                    <a:lumMod val="75000"/>
                    <a:lumOff val="25000"/>
                  </a:schemeClr>
                </a:solidFill>
              </a:rPr>
              <a:t>）省略第二参数，默认以读</a:t>
            </a:r>
            <a:r>
              <a:rPr lang="en-US" altLang="zh-CN" sz="1600" dirty="0">
                <a:solidFill>
                  <a:schemeClr val="tx1">
                    <a:lumMod val="75000"/>
                    <a:lumOff val="25000"/>
                  </a:schemeClr>
                </a:solidFill>
              </a:rPr>
              <a:t>"r"</a:t>
            </a:r>
            <a:r>
              <a:rPr lang="zh-CN" altLang="zh-CN" sz="1600" dirty="0">
                <a:solidFill>
                  <a:schemeClr val="tx1">
                    <a:lumMod val="75000"/>
                    <a:lumOff val="25000"/>
                  </a:schemeClr>
                </a:solidFill>
              </a:rPr>
              <a:t>模式打开。</a:t>
            </a:r>
          </a:p>
          <a:p>
            <a:pPr>
              <a:lnSpc>
                <a:spcPct val="150000"/>
              </a:lnSpc>
            </a:pPr>
            <a:r>
              <a:rPr lang="zh-CN" altLang="zh-CN" sz="1600" dirty="0">
                <a:solidFill>
                  <a:schemeClr val="tx1">
                    <a:lumMod val="75000"/>
                    <a:lumOff val="25000"/>
                  </a:schemeClr>
                </a:solidFill>
              </a:rPr>
              <a:t>（</a:t>
            </a:r>
            <a:r>
              <a:rPr lang="en-US" altLang="zh-CN" sz="1600" dirty="0">
                <a:solidFill>
                  <a:schemeClr val="tx1">
                    <a:lumMod val="75000"/>
                    <a:lumOff val="25000"/>
                  </a:schemeClr>
                </a:solidFill>
              </a:rPr>
              <a:t>3</a:t>
            </a:r>
            <a:r>
              <a:rPr lang="zh-CN" altLang="zh-CN" sz="1600" dirty="0">
                <a:solidFill>
                  <a:schemeClr val="tx1">
                    <a:lumMod val="75000"/>
                    <a:lumOff val="25000"/>
                  </a:schemeClr>
                </a:solidFill>
              </a:rPr>
              <a:t>）省略第三参数，</a:t>
            </a:r>
            <a:r>
              <a:rPr lang="zh-CN" altLang="en-US" sz="1600" dirty="0">
                <a:solidFill>
                  <a:schemeClr val="tx1">
                    <a:lumMod val="75000"/>
                    <a:lumOff val="25000"/>
                  </a:schemeClr>
                </a:solidFill>
              </a:rPr>
              <a:t>以</a:t>
            </a:r>
            <a:r>
              <a:rPr lang="zh-CN" altLang="zh-CN" sz="1600" dirty="0">
                <a:solidFill>
                  <a:schemeClr val="tx1">
                    <a:lumMod val="75000"/>
                    <a:lumOff val="25000"/>
                  </a:schemeClr>
                </a:solidFill>
              </a:rPr>
              <a:t>默认</a:t>
            </a:r>
            <a:r>
              <a:rPr lang="zh-CN" altLang="en-US" sz="1600" dirty="0">
                <a:solidFill>
                  <a:schemeClr val="tx1">
                    <a:lumMod val="75000"/>
                    <a:lumOff val="25000"/>
                  </a:schemeClr>
                </a:solidFill>
              </a:rPr>
              <a:t>编码打开，（</a:t>
            </a:r>
            <a:r>
              <a:rPr lang="en-US" altLang="zh-CN" sz="1600" dirty="0">
                <a:solidFill>
                  <a:schemeClr val="tx1">
                    <a:lumMod val="75000"/>
                    <a:lumOff val="25000"/>
                  </a:schemeClr>
                </a:solidFill>
              </a:rPr>
              <a:t>windows</a:t>
            </a:r>
            <a:r>
              <a:rPr lang="zh-CN" altLang="en-US" sz="1600" dirty="0">
                <a:solidFill>
                  <a:schemeClr val="tx1">
                    <a:lumMod val="75000"/>
                    <a:lumOff val="25000"/>
                  </a:schemeClr>
                </a:solidFill>
              </a:rPr>
              <a:t>下默认“</a:t>
            </a:r>
            <a:r>
              <a:rPr lang="en-US" altLang="zh-CN" sz="1600" dirty="0" err="1">
                <a:solidFill>
                  <a:schemeClr val="tx1">
                    <a:lumMod val="75000"/>
                    <a:lumOff val="25000"/>
                  </a:schemeClr>
                </a:solidFill>
              </a:rPr>
              <a:t>gbk</a:t>
            </a:r>
            <a:r>
              <a:rPr lang="zh-CN" altLang="en-US" sz="1600" dirty="0">
                <a:solidFill>
                  <a:schemeClr val="tx1">
                    <a:lumMod val="75000"/>
                    <a:lumOff val="25000"/>
                  </a:schemeClr>
                </a:solidFill>
              </a:rPr>
              <a:t>”</a:t>
            </a:r>
            <a:r>
              <a:rPr lang="zh-CN" altLang="zh-CN" sz="1600" dirty="0">
                <a:solidFill>
                  <a:schemeClr val="tx1">
                    <a:lumMod val="75000"/>
                    <a:lumOff val="25000"/>
                  </a:schemeClr>
                </a:solidFill>
              </a:rPr>
              <a:t>编码</a:t>
            </a:r>
            <a:r>
              <a:rPr lang="zh-CN" altLang="en-US" sz="1600" dirty="0">
                <a:solidFill>
                  <a:schemeClr val="tx1">
                    <a:lumMod val="75000"/>
                    <a:lumOff val="25000"/>
                  </a:schemeClr>
                </a:solidFill>
              </a:rPr>
              <a:t>，</a:t>
            </a:r>
            <a:r>
              <a:rPr lang="en-US" altLang="zh-CN" sz="1600" dirty="0" err="1">
                <a:solidFill>
                  <a:schemeClr val="tx1">
                    <a:lumMod val="75000"/>
                    <a:lumOff val="25000"/>
                  </a:schemeClr>
                </a:solidFill>
              </a:rPr>
              <a:t>linux</a:t>
            </a:r>
            <a:r>
              <a:rPr lang="zh-CN" altLang="en-US" sz="1600" dirty="0">
                <a:solidFill>
                  <a:schemeClr val="tx1">
                    <a:lumMod val="75000"/>
                    <a:lumOff val="25000"/>
                  </a:schemeClr>
                </a:solidFill>
              </a:rPr>
              <a:t>默认“</a:t>
            </a:r>
            <a:r>
              <a:rPr lang="en-US" altLang="zh-CN" sz="1600" dirty="0">
                <a:solidFill>
                  <a:schemeClr val="tx1">
                    <a:lumMod val="75000"/>
                    <a:lumOff val="25000"/>
                  </a:schemeClr>
                </a:solidFill>
              </a:rPr>
              <a:t>utf-8</a:t>
            </a:r>
            <a:r>
              <a:rPr lang="zh-CN" altLang="en-US" sz="1600" dirty="0">
                <a:solidFill>
                  <a:schemeClr val="tx1">
                    <a:lumMod val="75000"/>
                    <a:lumOff val="25000"/>
                  </a:schemeClr>
                </a:solidFill>
              </a:rPr>
              <a:t>”编码）</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a:t>
            </a:r>
            <a:r>
              <a:rPr lang="en-US" altLang="zh-CN" sz="1600" dirty="0">
                <a:solidFill>
                  <a:schemeClr val="tx1">
                    <a:lumMod val="75000"/>
                    <a:lumOff val="25000"/>
                  </a:schemeClr>
                </a:solidFill>
              </a:rPr>
              <a:t>4</a:t>
            </a:r>
            <a:r>
              <a:rPr lang="zh-CN" altLang="zh-CN" sz="1600" dirty="0">
                <a:solidFill>
                  <a:schemeClr val="tx1">
                    <a:lumMod val="75000"/>
                    <a:lumOff val="25000"/>
                  </a:schemeClr>
                </a:solidFill>
              </a:rPr>
              <a:t>）打开文件时编码的指定一定要和保存文件时编码的方式一致。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文件写入操作</a:t>
            </a:r>
          </a:p>
          <a:p>
            <a:endParaRPr lang="zh-CN" altLang="en-US" dirty="0"/>
          </a:p>
        </p:txBody>
      </p:sp>
      <p:sp>
        <p:nvSpPr>
          <p:cNvPr id="5" name="矩形 4"/>
          <p:cNvSpPr/>
          <p:nvPr/>
        </p:nvSpPr>
        <p:spPr>
          <a:xfrm>
            <a:off x="1079081" y="2235513"/>
            <a:ext cx="10274719" cy="3046988"/>
          </a:xfrm>
          <a:prstGeom prst="rect">
            <a:avLst/>
          </a:prstGeom>
        </p:spPr>
        <p:txBody>
          <a:bodyPr wrap="square">
            <a:spAutoFit/>
          </a:bodyPr>
          <a:lstStyle/>
          <a:p>
            <a:pPr algn="l">
              <a:lnSpc>
                <a:spcPct val="150000"/>
              </a:lnSpc>
              <a:buClrTx/>
              <a:buSzTx/>
              <a:buNone/>
            </a:pPr>
            <a:r>
              <a:rPr lang="zh-CN" altLang="zh-CN" sz="1600" dirty="0">
                <a:solidFill>
                  <a:schemeClr val="tx1">
                    <a:lumMod val="75000"/>
                    <a:lumOff val="25000"/>
                  </a:schemeClr>
                </a:solidFill>
              </a:rPr>
              <a:t>1. write()方法</a:t>
            </a:r>
          </a:p>
          <a:p>
            <a:pPr algn="l">
              <a:lnSpc>
                <a:spcPct val="150000"/>
              </a:lnSpc>
              <a:buClrTx/>
              <a:buSzTx/>
              <a:buNone/>
            </a:pPr>
            <a:r>
              <a:rPr lang="zh-CN" altLang="zh-CN" sz="1600" dirty="0">
                <a:solidFill>
                  <a:schemeClr val="tx1">
                    <a:lumMod val="75000"/>
                    <a:lumOff val="25000"/>
                  </a:schemeClr>
                </a:solidFill>
              </a:rPr>
              <a:t>假设希望在“D:\python\PythonEXample”目录下创建一个文件，保存一些信息，例如写入一个特定的字符串信息，可以通过调用文件对象的“.write( )”方法来写入（其参数必须是字符串！），注意：此时若想换行的话，必须明确指定一个换行符“\n”来进行换行，代码如下：</a:t>
            </a:r>
          </a:p>
          <a:p>
            <a:pPr algn="l">
              <a:lnSpc>
                <a:spcPct val="150000"/>
              </a:lnSpc>
              <a:buClrTx/>
              <a:buSzTx/>
              <a:buNone/>
            </a:pPr>
            <a:r>
              <a:rPr lang="zh-CN" altLang="zh-CN" sz="1600" dirty="0">
                <a:solidFill>
                  <a:schemeClr val="tx1">
                    <a:lumMod val="75000"/>
                    <a:lumOff val="25000"/>
                  </a:schemeClr>
                </a:solidFill>
              </a:rPr>
              <a:t>&gt; import os    #导入“os”模块</a:t>
            </a:r>
          </a:p>
          <a:p>
            <a:pPr algn="l">
              <a:lnSpc>
                <a:spcPct val="150000"/>
              </a:lnSpc>
              <a:buClrTx/>
              <a:buSzTx/>
              <a:buNone/>
            </a:pPr>
            <a:r>
              <a:rPr lang="zh-CN" altLang="zh-CN" sz="1600" dirty="0">
                <a:solidFill>
                  <a:schemeClr val="tx1">
                    <a:lumMod val="75000"/>
                    <a:lumOff val="25000"/>
                  </a:schemeClr>
                </a:solidFill>
              </a:rPr>
              <a:t>&gt; os.chdir(r'D:\python\PythonEXample') #将D:\python\PythonEXample”设为当前目录</a:t>
            </a:r>
          </a:p>
          <a:p>
            <a:pPr algn="l">
              <a:lnSpc>
                <a:spcPct val="150000"/>
              </a:lnSpc>
              <a:buClrTx/>
              <a:buSzTx/>
              <a:buNone/>
            </a:pPr>
            <a:r>
              <a:rPr lang="zh-CN" altLang="zh-CN" sz="1600" dirty="0">
                <a:solidFill>
                  <a:schemeClr val="tx1">
                    <a:lumMod val="75000"/>
                    <a:lumOff val="25000"/>
                  </a:schemeClr>
                </a:solidFill>
              </a:rPr>
              <a:t>&gt; course = open('course.txt', 'w', encoding='utf8')</a:t>
            </a:r>
          </a:p>
          <a:p>
            <a:pPr algn="l">
              <a:lnSpc>
                <a:spcPct val="150000"/>
              </a:lnSpc>
              <a:buClrTx/>
              <a:buSzTx/>
              <a:buNone/>
            </a:pPr>
            <a:r>
              <a:rPr lang="zh-CN" altLang="zh-CN" sz="1600" dirty="0">
                <a:solidFill>
                  <a:schemeClr val="tx1">
                    <a:lumMod val="75000"/>
                    <a:lumOff val="25000"/>
                  </a:schemeClr>
                </a:solidFill>
              </a:rPr>
              <a:t>&gt; course .write('单位：重庆师范大学\n')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文件写入操作</a:t>
            </a:r>
          </a:p>
          <a:p>
            <a:endParaRPr lang="zh-CN" altLang="en-US" dirty="0"/>
          </a:p>
        </p:txBody>
      </p:sp>
      <p:sp>
        <p:nvSpPr>
          <p:cNvPr id="6" name="矩形 5"/>
          <p:cNvSpPr/>
          <p:nvPr/>
        </p:nvSpPr>
        <p:spPr>
          <a:xfrm>
            <a:off x="997855" y="2157730"/>
            <a:ext cx="10282183" cy="3785652"/>
          </a:xfrm>
          <a:prstGeom prst="rect">
            <a:avLst/>
          </a:prstGeom>
        </p:spPr>
        <p:txBody>
          <a:bodyPr wrap="square">
            <a:spAutoFit/>
          </a:bodyPr>
          <a:lstStyle/>
          <a:p>
            <a:pPr algn="l">
              <a:lnSpc>
                <a:spcPct val="150000"/>
              </a:lnSpc>
              <a:buClrTx/>
              <a:buSzTx/>
              <a:buFontTx/>
            </a:pPr>
            <a:r>
              <a:rPr lang="zh-CN" altLang="zh-CN" sz="1600" dirty="0">
                <a:solidFill>
                  <a:schemeClr val="tx1">
                    <a:lumMod val="75000"/>
                    <a:lumOff val="25000"/>
                  </a:schemeClr>
                </a:solidFill>
              </a:rPr>
              <a:t>执行上述代码之后，到指定目录下可以查看到的确有了一个“course.txt”文件。注意，open()函数的“w”模式只能创建文件，不能创建文件夹。如果要创建文件夹，请调用“os.mkdir(path)或者os.makedirs(path)”来完成。</a:t>
            </a: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r>
              <a:rPr lang="zh-CN" altLang="zh-CN" sz="1600" dirty="0">
                <a:solidFill>
                  <a:schemeClr val="tx1">
                    <a:lumMod val="75000"/>
                    <a:lumOff val="25000"/>
                  </a:schemeClr>
                </a:solidFill>
              </a:rPr>
              <a:t>问题：双击打开该文件，将会发现文件里没有任何文字内容。</a:t>
            </a:r>
            <a:endParaRPr lang="zh-CN" altLang="zh-CN" sz="1400" dirty="0"/>
          </a:p>
        </p:txBody>
      </p:sp>
      <p:pic>
        <p:nvPicPr>
          <p:cNvPr id="7" name="图片 6"/>
          <p:cNvPicPr/>
          <p:nvPr/>
        </p:nvPicPr>
        <p:blipFill>
          <a:blip r:embed="rId3" cstate="print"/>
          <a:srcRect/>
          <a:stretch>
            <a:fillRect/>
          </a:stretch>
        </p:blipFill>
        <p:spPr bwMode="auto">
          <a:xfrm>
            <a:off x="3328228" y="3315824"/>
            <a:ext cx="3777499" cy="1644984"/>
          </a:xfrm>
          <a:prstGeom prst="rect">
            <a:avLst/>
          </a:prstGeom>
          <a:noFill/>
          <a:ln w="9525">
            <a:noFill/>
            <a:miter lim="800000"/>
            <a:headEnd/>
            <a:tailEnd/>
          </a:ln>
        </p:spPr>
      </p:pic>
      <p:sp>
        <p:nvSpPr>
          <p:cNvPr id="8" name="文本框 7"/>
          <p:cNvSpPr txBox="1"/>
          <p:nvPr/>
        </p:nvSpPr>
        <p:spPr>
          <a:xfrm>
            <a:off x="4027375" y="4960540"/>
            <a:ext cx="2369134" cy="460375"/>
          </a:xfrm>
          <a:prstGeom prst="rect">
            <a:avLst/>
          </a:prstGeom>
          <a:noFill/>
        </p:spPr>
        <p:txBody>
          <a:bodyPr wrap="square" rtlCol="0">
            <a:spAutoFit/>
          </a:bodyPr>
          <a:lstStyle/>
          <a:p>
            <a:pPr algn="ctr">
              <a:lnSpc>
                <a:spcPct val="150000"/>
              </a:lnSpc>
              <a:buClrTx/>
              <a:buSzTx/>
              <a:buFontTx/>
            </a:pPr>
            <a:r>
              <a:rPr lang="zh-CN" altLang="zh-CN" sz="1600" dirty="0">
                <a:solidFill>
                  <a:schemeClr val="tx1">
                    <a:lumMod val="75000"/>
                    <a:lumOff val="25000"/>
                  </a:schemeClr>
                </a:solidFill>
              </a:rPr>
              <a:t>查看建立的文件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文件写入操作</a:t>
            </a:r>
          </a:p>
          <a:p>
            <a:endParaRPr lang="zh-CN" altLang="en-US" dirty="0"/>
          </a:p>
        </p:txBody>
      </p:sp>
      <p:sp>
        <p:nvSpPr>
          <p:cNvPr id="9" name="矩形 8"/>
          <p:cNvSpPr/>
          <p:nvPr/>
        </p:nvSpPr>
        <p:spPr>
          <a:xfrm>
            <a:off x="1116518" y="2206344"/>
            <a:ext cx="9973325" cy="3416320"/>
          </a:xfrm>
          <a:prstGeom prst="rect">
            <a:avLst/>
          </a:prstGeom>
        </p:spPr>
        <p:txBody>
          <a:bodyPr wrap="square">
            <a:spAutoFit/>
          </a:bodyPr>
          <a:lstStyle/>
          <a:p>
            <a:pPr algn="l">
              <a:lnSpc>
                <a:spcPct val="150000"/>
              </a:lnSpc>
              <a:buClrTx/>
              <a:buSzTx/>
              <a:buFontTx/>
            </a:pPr>
            <a:r>
              <a:rPr lang="zh-CN" altLang="zh-CN" sz="1600" dirty="0">
                <a:solidFill>
                  <a:schemeClr val="tx1">
                    <a:lumMod val="75000"/>
                    <a:lumOff val="25000"/>
                  </a:schemeClr>
                </a:solidFill>
              </a:rPr>
              <a:t>2. close()方法</a:t>
            </a:r>
          </a:p>
          <a:p>
            <a:pPr algn="l">
              <a:lnSpc>
                <a:spcPct val="150000"/>
              </a:lnSpc>
              <a:buClrTx/>
              <a:buSzTx/>
              <a:buFontTx/>
            </a:pPr>
            <a:r>
              <a:rPr lang="zh-CN" altLang="zh-CN" sz="1600" dirty="0">
                <a:solidFill>
                  <a:schemeClr val="tx1">
                    <a:lumMod val="75000"/>
                    <a:lumOff val="25000"/>
                  </a:schemeClr>
                </a:solidFill>
              </a:rPr>
              <a:t>关闭操作的文件（即关闭连接），才能将write()操作的内容结果真实的反应在具体的文件里。完整的代码如下：</a:t>
            </a:r>
          </a:p>
          <a:p>
            <a:pPr algn="l">
              <a:lnSpc>
                <a:spcPct val="150000"/>
              </a:lnSpc>
              <a:buClrTx/>
              <a:buSzTx/>
              <a:buFontTx/>
            </a:pPr>
            <a:r>
              <a:rPr lang="zh-CN" altLang="zh-CN" sz="1600" dirty="0">
                <a:solidFill>
                  <a:schemeClr val="tx1">
                    <a:lumMod val="75000"/>
                    <a:lumOff val="25000"/>
                  </a:schemeClr>
                </a:solidFill>
              </a:rPr>
              <a:t>&gt; import os</a:t>
            </a:r>
          </a:p>
          <a:p>
            <a:pPr algn="l">
              <a:lnSpc>
                <a:spcPct val="150000"/>
              </a:lnSpc>
              <a:buClrTx/>
              <a:buSzTx/>
              <a:buFontTx/>
            </a:pPr>
            <a:r>
              <a:rPr lang="zh-CN" altLang="zh-CN" sz="1600" dirty="0">
                <a:solidFill>
                  <a:schemeClr val="tx1">
                    <a:lumMod val="75000"/>
                    <a:lumOff val="25000"/>
                  </a:schemeClr>
                </a:solidFill>
              </a:rPr>
              <a:t>&gt; os.chdir(r'D:\python\PythonEXample')</a:t>
            </a:r>
          </a:p>
          <a:p>
            <a:pPr algn="l">
              <a:lnSpc>
                <a:spcPct val="150000"/>
              </a:lnSpc>
              <a:buClrTx/>
              <a:buSzTx/>
              <a:buFontTx/>
            </a:pPr>
            <a:r>
              <a:rPr lang="zh-CN" altLang="zh-CN" sz="1600" dirty="0">
                <a:solidFill>
                  <a:schemeClr val="tx1">
                    <a:lumMod val="75000"/>
                    <a:lumOff val="25000"/>
                  </a:schemeClr>
                </a:solidFill>
              </a:rPr>
              <a:t>&gt; course = open('course.txt', 'w', encoding='utf8')</a:t>
            </a:r>
          </a:p>
          <a:p>
            <a:pPr algn="l">
              <a:lnSpc>
                <a:spcPct val="150000"/>
              </a:lnSpc>
              <a:buClrTx/>
              <a:buSzTx/>
              <a:buFontTx/>
            </a:pPr>
            <a:r>
              <a:rPr lang="zh-CN" altLang="zh-CN" sz="1600" dirty="0">
                <a:solidFill>
                  <a:schemeClr val="tx1">
                    <a:lumMod val="75000"/>
                    <a:lumOff val="25000"/>
                  </a:schemeClr>
                </a:solidFill>
              </a:rPr>
              <a:t>&gt; course .write('单位：重庆师范大学\n')</a:t>
            </a:r>
          </a:p>
          <a:p>
            <a:pPr algn="l">
              <a:lnSpc>
                <a:spcPct val="150000"/>
              </a:lnSpc>
              <a:buClrTx/>
              <a:buSzTx/>
              <a:buFontTx/>
            </a:pPr>
            <a:r>
              <a:rPr lang="zh-CN" altLang="zh-CN" sz="1600" dirty="0">
                <a:solidFill>
                  <a:schemeClr val="tx1">
                    <a:lumMod val="75000"/>
                    <a:lumOff val="25000"/>
                  </a:schemeClr>
                </a:solidFill>
              </a:rPr>
              <a:t>&gt; course.close()</a:t>
            </a:r>
          </a:p>
          <a:p>
            <a:pPr algn="l">
              <a:lnSpc>
                <a:spcPct val="150000"/>
              </a:lnSpc>
              <a:buClrTx/>
              <a:buSzTx/>
              <a:buFontTx/>
            </a:pPr>
            <a:r>
              <a:rPr lang="zh-CN" altLang="zh-CN" sz="1600" dirty="0">
                <a:solidFill>
                  <a:schemeClr val="tx1">
                    <a:lumMod val="75000"/>
                    <a:lumOff val="25000"/>
                  </a:schemeClr>
                </a:solidFill>
              </a:rPr>
              <a:t>此时再重新打开文件“course.txt”，就可以看到刚才写入的内容了。</a:t>
            </a:r>
          </a:p>
          <a:p>
            <a:pPr algn="l">
              <a:lnSpc>
                <a:spcPct val="150000"/>
              </a:lnSpc>
              <a:buClrTx/>
              <a:buSzTx/>
              <a:buFontTx/>
            </a:pPr>
            <a:r>
              <a:rPr lang="zh-CN" altLang="zh-CN" sz="1600" dirty="0">
                <a:solidFill>
                  <a:schemeClr val="tx1">
                    <a:lumMod val="75000"/>
                    <a:lumOff val="25000"/>
                  </a:schemeClr>
                </a:solidFill>
              </a:rPr>
              <a:t>打开文件后，通过“另存为”对话框将会看到，其编码也的确为“UTF-8”。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文件写入操作</a:t>
            </a:r>
          </a:p>
          <a:p>
            <a:endParaRPr lang="zh-CN" altLang="en-US" dirty="0"/>
          </a:p>
        </p:txBody>
      </p:sp>
      <p:sp>
        <p:nvSpPr>
          <p:cNvPr id="5" name="矩形 4"/>
          <p:cNvSpPr/>
          <p:nvPr/>
        </p:nvSpPr>
        <p:spPr>
          <a:xfrm>
            <a:off x="1037919" y="1825625"/>
            <a:ext cx="10000718" cy="5179695"/>
          </a:xfrm>
          <a:prstGeom prst="rect">
            <a:avLst/>
          </a:prstGeom>
        </p:spPr>
        <p:txBody>
          <a:bodyPr wrap="square">
            <a:spAutoFit/>
          </a:bodyPr>
          <a:lstStyle/>
          <a:p>
            <a:pPr>
              <a:lnSpc>
                <a:spcPct val="120000"/>
              </a:lnSpc>
            </a:pPr>
            <a:endParaRPr lang="en-US" altLang="zh-CN" dirty="0">
              <a:solidFill>
                <a:schemeClr val="tx1">
                  <a:lumMod val="75000"/>
                  <a:lumOff val="25000"/>
                </a:schemeClr>
              </a:solidFill>
            </a:endParaRPr>
          </a:p>
          <a:p>
            <a:pPr>
              <a:lnSpc>
                <a:spcPct val="120000"/>
              </a:lnSpc>
            </a:pPr>
            <a:r>
              <a:rPr lang="en-US" altLang="zh-CN" dirty="0">
                <a:solidFill>
                  <a:schemeClr val="tx1">
                    <a:lumMod val="75000"/>
                    <a:lumOff val="25000"/>
                  </a:schemeClr>
                </a:solidFill>
              </a:rPr>
              <a:t>3. </a:t>
            </a:r>
            <a:r>
              <a:rPr lang="en-US" altLang="zh-CN" dirty="0" err="1">
                <a:solidFill>
                  <a:schemeClr val="tx1">
                    <a:lumMod val="75000"/>
                    <a:lumOff val="25000"/>
                  </a:schemeClr>
                </a:solidFill>
              </a:rPr>
              <a:t>writelines</a:t>
            </a:r>
            <a:r>
              <a:rPr lang="en-US" altLang="zh-CN" dirty="0">
                <a:solidFill>
                  <a:schemeClr val="tx1">
                    <a:lumMod val="75000"/>
                    <a:lumOff val="25000"/>
                  </a:schemeClr>
                </a:solidFill>
              </a:rPr>
              <a:t>()</a:t>
            </a:r>
            <a:r>
              <a:rPr lang="zh-CN" altLang="zh-CN" dirty="0">
                <a:solidFill>
                  <a:schemeClr val="tx1">
                    <a:lumMod val="75000"/>
                    <a:lumOff val="25000"/>
                  </a:schemeClr>
                </a:solidFill>
              </a:rPr>
              <a:t>、</a:t>
            </a:r>
            <a:r>
              <a:rPr lang="en-US" altLang="zh-CN" dirty="0">
                <a:solidFill>
                  <a:schemeClr val="tx1">
                    <a:lumMod val="75000"/>
                    <a:lumOff val="25000"/>
                  </a:schemeClr>
                </a:solidFill>
              </a:rPr>
              <a:t>flush()</a:t>
            </a:r>
            <a:r>
              <a:rPr lang="zh-CN" altLang="zh-CN" dirty="0">
                <a:solidFill>
                  <a:schemeClr val="tx1">
                    <a:lumMod val="75000"/>
                    <a:lumOff val="25000"/>
                  </a:schemeClr>
                </a:solidFill>
              </a:rPr>
              <a:t>方法</a:t>
            </a: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调用</a:t>
            </a:r>
            <a:r>
              <a:rPr lang="en-US" altLang="zh-CN" sz="1600" dirty="0" err="1">
                <a:solidFill>
                  <a:schemeClr val="tx1">
                    <a:lumMod val="75000"/>
                    <a:lumOff val="25000"/>
                  </a:schemeClr>
                </a:solidFill>
              </a:rPr>
              <a:t>writelines</a:t>
            </a:r>
            <a:r>
              <a:rPr lang="en-US" altLang="zh-CN" sz="1600" dirty="0">
                <a:solidFill>
                  <a:schemeClr val="tx1">
                    <a:lumMod val="75000"/>
                    <a:lumOff val="25000"/>
                  </a:schemeClr>
                </a:solidFill>
              </a:rPr>
              <a:t>()</a:t>
            </a:r>
            <a:r>
              <a:rPr lang="zh-CN" altLang="zh-CN" sz="1600" dirty="0">
                <a:solidFill>
                  <a:schemeClr val="tx1">
                    <a:lumMod val="75000"/>
                    <a:lumOff val="25000"/>
                  </a:schemeClr>
                </a:solidFill>
              </a:rPr>
              <a:t>方法，它可以一次性将列表中所有的信息写入到文本文件中。</a:t>
            </a:r>
          </a:p>
          <a:p>
            <a:pPr>
              <a:lnSpc>
                <a:spcPct val="120000"/>
              </a:lnSpc>
            </a:pPr>
            <a:r>
              <a:rPr lang="zh-CN" altLang="zh-CN" sz="1600" dirty="0">
                <a:solidFill>
                  <a:schemeClr val="tx1">
                    <a:lumMod val="75000"/>
                    <a:lumOff val="25000"/>
                  </a:schemeClr>
                </a:solidFill>
              </a:rPr>
              <a:t>使用方法</a:t>
            </a:r>
            <a:r>
              <a:rPr lang="en-US" altLang="zh-CN" sz="1600" dirty="0">
                <a:solidFill>
                  <a:schemeClr val="tx1">
                    <a:lumMod val="75000"/>
                    <a:lumOff val="25000"/>
                  </a:schemeClr>
                </a:solidFill>
              </a:rPr>
              <a:t>.flush()</a:t>
            </a:r>
            <a:r>
              <a:rPr lang="zh-CN" altLang="en-US" sz="1600" dirty="0">
                <a:solidFill>
                  <a:schemeClr val="tx1">
                    <a:lumMod val="75000"/>
                    <a:lumOff val="25000"/>
                  </a:schemeClr>
                </a:solidFill>
              </a:rPr>
              <a:t>，也可以</a:t>
            </a:r>
            <a:r>
              <a:rPr lang="zh-CN" altLang="zh-CN" sz="1600" dirty="0">
                <a:solidFill>
                  <a:schemeClr val="tx1">
                    <a:lumMod val="75000"/>
                    <a:lumOff val="25000"/>
                  </a:schemeClr>
                </a:solidFill>
              </a:rPr>
              <a:t>将缓存的内容映射到硬盘上</a:t>
            </a:r>
            <a:r>
              <a:rPr lang="zh-CN" altLang="en-US" sz="1600" dirty="0">
                <a:solidFill>
                  <a:schemeClr val="tx1">
                    <a:lumMod val="75000"/>
                    <a:lumOff val="25000"/>
                  </a:schemeClr>
                </a:solidFill>
              </a:rPr>
              <a:t>，但此时文件还未</a:t>
            </a:r>
            <a:r>
              <a:rPr lang="zh-CN" altLang="zh-CN" sz="1600" dirty="0">
                <a:solidFill>
                  <a:schemeClr val="tx1">
                    <a:lumMod val="75000"/>
                    <a:lumOff val="25000"/>
                  </a:schemeClr>
                </a:solidFill>
              </a:rPr>
              <a:t>关闭。</a:t>
            </a:r>
          </a:p>
          <a:p>
            <a:pPr>
              <a:lnSpc>
                <a:spcPct val="120000"/>
              </a:lnSpc>
            </a:pPr>
            <a:r>
              <a:rPr lang="en-US" altLang="zh-CN" sz="1600" dirty="0">
                <a:solidFill>
                  <a:schemeClr val="tx1">
                    <a:lumMod val="75000"/>
                    <a:lumOff val="25000"/>
                  </a:schemeClr>
                </a:solidFill>
              </a:rPr>
              <a:t>&gt; import </a:t>
            </a:r>
            <a:r>
              <a:rPr lang="en-US" altLang="zh-CN" sz="1600" dirty="0" err="1">
                <a:solidFill>
                  <a:schemeClr val="tx1">
                    <a:lumMod val="75000"/>
                    <a:lumOff val="25000"/>
                  </a:schemeClr>
                </a:solidFill>
              </a:rPr>
              <a:t>os</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names = ['Tom', 'Jerry', 'Mike', 'Peter']</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f = open(‘people.txt’, ‘w’, encoding=‘utf8’)</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f.writelines</a:t>
            </a:r>
            <a:r>
              <a:rPr lang="en-US" altLang="zh-CN" sz="1600" dirty="0">
                <a:solidFill>
                  <a:schemeClr val="tx1">
                    <a:lumMod val="75000"/>
                    <a:lumOff val="25000"/>
                  </a:schemeClr>
                </a:solidFill>
              </a:rPr>
              <a:t>(names)</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f.flush</a:t>
            </a:r>
            <a:r>
              <a:rPr lang="en-US" altLang="zh-CN" sz="1600" dirty="0">
                <a:solidFill>
                  <a:schemeClr val="tx1">
                    <a:lumMod val="75000"/>
                    <a:lumOff val="25000"/>
                  </a:schemeClr>
                </a:solidFill>
              </a:rPr>
              <a:t>()</a:t>
            </a:r>
          </a:p>
          <a:p>
            <a:pPr indent="457200" algn="just">
              <a:lnSpc>
                <a:spcPct val="120000"/>
              </a:lnSpc>
            </a:pPr>
            <a:r>
              <a:rPr lang="zh-CN" altLang="zh-CN" sz="1600" dirty="0">
                <a:solidFill>
                  <a:schemeClr val="tx1">
                    <a:lumMod val="75000"/>
                    <a:lumOff val="25000"/>
                  </a:schemeClr>
                </a:solidFill>
              </a:rPr>
              <a:t>注意：没有“</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writeline</a:t>
            </a:r>
            <a:r>
              <a:rPr lang="en-US" altLang="zh-CN" sz="1600" dirty="0">
                <a:solidFill>
                  <a:schemeClr val="tx1">
                    <a:lumMod val="75000"/>
                    <a:lumOff val="25000"/>
                  </a:schemeClr>
                </a:solidFill>
              </a:rPr>
              <a:t>( )</a:t>
            </a:r>
            <a:r>
              <a:rPr lang="zh-CN" altLang="zh-CN" sz="1600" dirty="0">
                <a:solidFill>
                  <a:schemeClr val="tx1">
                    <a:lumMod val="75000"/>
                    <a:lumOff val="25000"/>
                  </a:schemeClr>
                </a:solidFill>
              </a:rPr>
              <a:t>”方法！</a:t>
            </a:r>
          </a:p>
          <a:p>
            <a:pPr indent="457200" algn="just">
              <a:lnSpc>
                <a:spcPct val="120000"/>
              </a:lnSpc>
            </a:pPr>
            <a:r>
              <a:rPr lang="zh-CN" altLang="en-US" sz="1600" b="1" dirty="0">
                <a:solidFill>
                  <a:schemeClr val="tx1">
                    <a:lumMod val="75000"/>
                    <a:lumOff val="25000"/>
                  </a:schemeClr>
                </a:solidFill>
              </a:rPr>
              <a:t>问题：</a:t>
            </a:r>
            <a:r>
              <a:rPr lang="zh-CN" altLang="en-US" sz="1600" dirty="0">
                <a:solidFill>
                  <a:schemeClr val="tx1">
                    <a:lumMod val="75000"/>
                    <a:lumOff val="25000"/>
                  </a:schemeClr>
                </a:solidFill>
              </a:rPr>
              <a:t>写入的</a:t>
            </a:r>
            <a:r>
              <a:rPr lang="zh-CN" altLang="zh-CN" sz="1600" dirty="0">
                <a:solidFill>
                  <a:schemeClr val="tx1">
                    <a:lumMod val="75000"/>
                    <a:lumOff val="25000"/>
                  </a:schemeClr>
                </a:solidFill>
              </a:rPr>
              <a:t>姓名</a:t>
            </a:r>
            <a:r>
              <a:rPr lang="zh-CN" altLang="en-US" sz="1600" dirty="0">
                <a:solidFill>
                  <a:schemeClr val="tx1">
                    <a:lumMod val="75000"/>
                    <a:lumOff val="25000"/>
                  </a:schemeClr>
                </a:solidFill>
              </a:rPr>
              <a:t>在</a:t>
            </a:r>
            <a:r>
              <a:rPr lang="zh-CN" altLang="zh-CN" sz="1600" dirty="0">
                <a:solidFill>
                  <a:schemeClr val="tx1">
                    <a:lumMod val="75000"/>
                    <a:lumOff val="25000"/>
                  </a:schemeClr>
                </a:solidFill>
              </a:rPr>
              <a:t>文件的一行中，</a:t>
            </a:r>
            <a:r>
              <a:rPr lang="zh-CN" altLang="en-US" sz="1600" dirty="0">
                <a:solidFill>
                  <a:schemeClr val="tx1">
                    <a:lumMod val="75000"/>
                    <a:lumOff val="25000"/>
                  </a:schemeClr>
                </a:solidFill>
              </a:rPr>
              <a:t>而不是一个人名写一行上</a:t>
            </a:r>
            <a:endParaRPr lang="en-US" altLang="zh-CN" sz="1600" dirty="0">
              <a:solidFill>
                <a:schemeClr val="tx1">
                  <a:lumMod val="75000"/>
                  <a:lumOff val="25000"/>
                </a:schemeClr>
              </a:solidFill>
            </a:endParaRPr>
          </a:p>
          <a:p>
            <a:pPr indent="457200" algn="just">
              <a:lnSpc>
                <a:spcPct val="120000"/>
              </a:lnSpc>
            </a:pPr>
            <a:endParaRPr lang="en-US" altLang="zh-CN" sz="1600" dirty="0">
              <a:solidFill>
                <a:schemeClr val="tx1">
                  <a:lumMod val="75000"/>
                  <a:lumOff val="25000"/>
                </a:schemeClr>
              </a:solidFill>
            </a:endParaRPr>
          </a:p>
          <a:p>
            <a:pPr indent="457200" algn="just">
              <a:lnSpc>
                <a:spcPct val="120000"/>
              </a:lnSpc>
            </a:pPr>
            <a:endParaRPr lang="en-US" altLang="zh-CN" sz="1600" dirty="0">
              <a:solidFill>
                <a:schemeClr val="tx1">
                  <a:lumMod val="75000"/>
                  <a:lumOff val="25000"/>
                </a:schemeClr>
              </a:solidFill>
            </a:endParaRPr>
          </a:p>
          <a:p>
            <a:pPr indent="457200" algn="just">
              <a:lnSpc>
                <a:spcPct val="120000"/>
              </a:lnSpc>
            </a:pPr>
            <a:endParaRPr lang="en-US" altLang="zh-CN" sz="1600" dirty="0">
              <a:solidFill>
                <a:schemeClr val="tx1">
                  <a:lumMod val="75000"/>
                  <a:lumOff val="25000"/>
                </a:schemeClr>
              </a:solidFill>
            </a:endParaRPr>
          </a:p>
          <a:p>
            <a:pPr indent="457200" algn="just">
              <a:lnSpc>
                <a:spcPct val="120000"/>
              </a:lnSpc>
            </a:pPr>
            <a:endParaRPr lang="en-US" altLang="zh-CN" sz="1600" dirty="0">
              <a:solidFill>
                <a:schemeClr val="tx1">
                  <a:lumMod val="75000"/>
                  <a:lumOff val="25000"/>
                </a:schemeClr>
              </a:solidFill>
            </a:endParaRPr>
          </a:p>
          <a:p>
            <a:pPr indent="457200" algn="just">
              <a:lnSpc>
                <a:spcPct val="120000"/>
              </a:lnSpc>
            </a:pPr>
            <a:r>
              <a:rPr lang="zh-CN" altLang="en-US" sz="1600" b="1" dirty="0">
                <a:solidFill>
                  <a:schemeClr val="tx1">
                    <a:lumMod val="75000"/>
                    <a:lumOff val="25000"/>
                  </a:schemeClr>
                </a:solidFill>
              </a:rPr>
              <a:t>解决办法：</a:t>
            </a:r>
            <a:r>
              <a:rPr lang="zh-CN" altLang="zh-CN" sz="1600" dirty="0">
                <a:solidFill>
                  <a:schemeClr val="tx1">
                    <a:lumMod val="75000"/>
                    <a:lumOff val="25000"/>
                  </a:schemeClr>
                </a:solidFill>
              </a:rPr>
              <a:t>修改“</a:t>
            </a:r>
            <a:r>
              <a:rPr lang="en-US" altLang="zh-CN" sz="1600" dirty="0">
                <a:solidFill>
                  <a:schemeClr val="tx1">
                    <a:lumMod val="75000"/>
                    <a:lumOff val="25000"/>
                  </a:schemeClr>
                </a:solidFill>
              </a:rPr>
              <a:t>names</a:t>
            </a:r>
            <a:r>
              <a:rPr lang="zh-CN" altLang="zh-CN" sz="1600" dirty="0">
                <a:solidFill>
                  <a:schemeClr val="tx1">
                    <a:lumMod val="75000"/>
                    <a:lumOff val="25000"/>
                  </a:schemeClr>
                </a:solidFill>
              </a:rPr>
              <a:t>”变量，在其每个元素后面加上一个换行符“</a:t>
            </a:r>
            <a:r>
              <a:rPr lang="en-US" altLang="zh-CN" sz="1600" dirty="0">
                <a:solidFill>
                  <a:schemeClr val="tx1">
                    <a:lumMod val="75000"/>
                    <a:lumOff val="25000"/>
                  </a:schemeClr>
                </a:solidFill>
              </a:rPr>
              <a:t>\n</a:t>
            </a:r>
            <a:r>
              <a:rPr lang="zh-CN" altLang="zh-CN" sz="1600" dirty="0">
                <a:solidFill>
                  <a:schemeClr val="tx1">
                    <a:lumMod val="75000"/>
                    <a:lumOff val="25000"/>
                  </a:schemeClr>
                </a:solidFill>
              </a:rPr>
              <a:t>”即可。</a:t>
            </a:r>
          </a:p>
        </p:txBody>
      </p:sp>
      <p:pic>
        <p:nvPicPr>
          <p:cNvPr id="6" name="图片 5"/>
          <p:cNvPicPr/>
          <p:nvPr/>
        </p:nvPicPr>
        <p:blipFill>
          <a:blip r:embed="rId3" cstate="print"/>
          <a:stretch>
            <a:fillRect/>
          </a:stretch>
        </p:blipFill>
        <p:spPr>
          <a:xfrm>
            <a:off x="2943112" y="5472866"/>
            <a:ext cx="4254350" cy="110261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7" name="矩形 6"/>
          <p:cNvSpPr/>
          <p:nvPr/>
        </p:nvSpPr>
        <p:spPr>
          <a:xfrm>
            <a:off x="1086174" y="2293779"/>
            <a:ext cx="9535496" cy="2677656"/>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如果names的元素个数很多，这样的修改操作显然不可取。</a:t>
            </a:r>
          </a:p>
          <a:p>
            <a:pPr>
              <a:lnSpc>
                <a:spcPct val="150000"/>
              </a:lnSpc>
            </a:pPr>
            <a:r>
              <a:rPr lang="zh-CN" altLang="zh-CN" sz="1600" b="1" dirty="0">
                <a:solidFill>
                  <a:schemeClr val="tx1">
                    <a:lumMod val="75000"/>
                    <a:lumOff val="25000"/>
                  </a:schemeClr>
                </a:solidFill>
              </a:rPr>
              <a:t>1. 列表推导式书写形式</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列表生成式，有时又叫列表推导式，是Python内置的非常简单却强大的可以用来创建list的生成式。</a:t>
            </a:r>
          </a:p>
          <a:p>
            <a:pPr>
              <a:lnSpc>
                <a:spcPct val="150000"/>
              </a:lnSpc>
            </a:pPr>
            <a:r>
              <a:rPr lang="zh-CN" altLang="zh-CN" sz="1600" b="1" dirty="0">
                <a:solidFill>
                  <a:schemeClr val="tx1">
                    <a:lumMod val="75000"/>
                    <a:lumOff val="25000"/>
                  </a:schemeClr>
                </a:solidFill>
              </a:rPr>
              <a:t>列表推导式</a:t>
            </a:r>
            <a:r>
              <a:rPr lang="zh-CN" altLang="zh-CN" sz="1600" dirty="0">
                <a:solidFill>
                  <a:schemeClr val="tx1">
                    <a:lumMod val="75000"/>
                    <a:lumOff val="25000"/>
                  </a:schemeClr>
                </a:solidFill>
              </a:rPr>
              <a:t>是利用其它可迭代序列来</a:t>
            </a:r>
            <a:r>
              <a:rPr lang="zh-CN" altLang="zh-CN" sz="1600" b="1" dirty="0">
                <a:solidFill>
                  <a:schemeClr val="tx1">
                    <a:lumMod val="75000"/>
                    <a:lumOff val="25000"/>
                  </a:schemeClr>
                </a:solidFill>
              </a:rPr>
              <a:t>创建</a:t>
            </a:r>
            <a:r>
              <a:rPr lang="zh-CN" altLang="zh-CN" sz="1600" dirty="0">
                <a:solidFill>
                  <a:schemeClr val="tx1">
                    <a:lumMod val="75000"/>
                    <a:lumOff val="25000"/>
                  </a:schemeClr>
                </a:solidFill>
              </a:rPr>
              <a:t>新列表的一种方法。其语法格式如下：</a:t>
            </a:r>
          </a:p>
          <a:p>
            <a:pPr>
              <a:lnSpc>
                <a:spcPct val="150000"/>
              </a:lnSpc>
            </a:pPr>
            <a:r>
              <a:rPr lang="zh-CN" altLang="zh-CN" sz="1600" dirty="0">
                <a:solidFill>
                  <a:schemeClr val="tx1">
                    <a:lumMod val="75000"/>
                    <a:lumOff val="25000"/>
                  </a:schemeClr>
                </a:solidFill>
              </a:rPr>
              <a:t>[表达式 for 变量 in 可迭代序列]    或者  [表达式 for 变量 in 可迭代序列 if 条件]</a:t>
            </a:r>
          </a:p>
          <a:p>
            <a:pPr>
              <a:lnSpc>
                <a:spcPct val="150000"/>
              </a:lnSpc>
            </a:pPr>
            <a:r>
              <a:rPr lang="zh-CN" altLang="zh-CN" sz="1600" dirty="0">
                <a:solidFill>
                  <a:schemeClr val="tx1">
                    <a:lumMod val="75000"/>
                    <a:lumOff val="25000"/>
                  </a:schemeClr>
                </a:solidFill>
              </a:rPr>
              <a:t>说明：表达式中的变量来自于for-in遍历循环中的变量，随着变量在迭代序列中的遍历，将遍历得到的值带入表达式，表达式的值作为列表中元素的值。</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5" name="矩形 4"/>
          <p:cNvSpPr/>
          <p:nvPr/>
        </p:nvSpPr>
        <p:spPr>
          <a:xfrm>
            <a:off x="1072141" y="2121925"/>
            <a:ext cx="10281659" cy="5093970"/>
          </a:xfrm>
          <a:prstGeom prst="rect">
            <a:avLst/>
          </a:prstGeom>
        </p:spPr>
        <p:txBody>
          <a:bodyPr wrap="square">
            <a:spAutoFit/>
          </a:bodyPr>
          <a:lstStyle/>
          <a:p>
            <a:pPr fontAlgn="auto">
              <a:lnSpc>
                <a:spcPct val="120000"/>
              </a:lnSpc>
            </a:pPr>
            <a:r>
              <a:rPr lang="en-US" altLang="zh-CN" b="1" dirty="0">
                <a:solidFill>
                  <a:schemeClr val="tx1">
                    <a:lumMod val="75000"/>
                    <a:lumOff val="25000"/>
                  </a:schemeClr>
                </a:solidFill>
              </a:rPr>
              <a:t>2. </a:t>
            </a:r>
            <a:r>
              <a:rPr lang="zh-CN" altLang="zh-CN" b="1" dirty="0">
                <a:solidFill>
                  <a:schemeClr val="tx1">
                    <a:lumMod val="75000"/>
                    <a:lumOff val="25000"/>
                  </a:schemeClr>
                </a:solidFill>
              </a:rPr>
              <a:t>示例</a:t>
            </a:r>
          </a:p>
          <a:p>
            <a:pPr fontAlgn="auto">
              <a:lnSpc>
                <a:spcPct val="120000"/>
              </a:lnSpc>
            </a:pPr>
            <a:r>
              <a:rPr lang="zh-CN" altLang="zh-CN" sz="1600" dirty="0">
                <a:solidFill>
                  <a:schemeClr val="tx1">
                    <a:lumMod val="75000"/>
                    <a:lumOff val="25000"/>
                  </a:schemeClr>
                </a:solidFill>
              </a:rPr>
              <a:t>【例】利用</a:t>
            </a:r>
            <a:r>
              <a:rPr lang="en-US" altLang="zh-CN" sz="1600" dirty="0">
                <a:solidFill>
                  <a:schemeClr val="tx1">
                    <a:lumMod val="75000"/>
                    <a:lumOff val="25000"/>
                  </a:schemeClr>
                </a:solidFill>
              </a:rPr>
              <a:t>range()</a:t>
            </a:r>
            <a:r>
              <a:rPr lang="zh-CN" altLang="zh-CN" sz="1600" dirty="0">
                <a:solidFill>
                  <a:schemeClr val="tx1">
                    <a:lumMod val="75000"/>
                    <a:lumOff val="25000"/>
                  </a:schemeClr>
                </a:solidFill>
              </a:rPr>
              <a:t>函数生成一个由</a:t>
            </a:r>
            <a:r>
              <a:rPr lang="en-US" altLang="zh-CN" sz="1600" dirty="0">
                <a:solidFill>
                  <a:schemeClr val="tx1">
                    <a:lumMod val="75000"/>
                    <a:lumOff val="25000"/>
                  </a:schemeClr>
                </a:solidFill>
              </a:rPr>
              <a:t>0-9</a:t>
            </a:r>
            <a:r>
              <a:rPr lang="zh-CN" altLang="zh-CN" sz="1600" dirty="0">
                <a:solidFill>
                  <a:schemeClr val="tx1">
                    <a:lumMod val="75000"/>
                    <a:lumOff val="25000"/>
                  </a:schemeClr>
                </a:solidFill>
              </a:rPr>
              <a:t>的每个数的平方构成的列表。</a:t>
            </a:r>
          </a:p>
          <a:p>
            <a:pPr fontAlgn="auto">
              <a:lnSpc>
                <a:spcPct val="120000"/>
              </a:lnSpc>
            </a:pPr>
            <a:r>
              <a:rPr lang="en-US" altLang="zh-CN" sz="1600" dirty="0">
                <a:solidFill>
                  <a:schemeClr val="tx1">
                    <a:lumMod val="75000"/>
                    <a:lumOff val="25000"/>
                  </a:schemeClr>
                </a:solidFill>
              </a:rPr>
              <a:t>&gt; [x*x for x in range(10)]</a:t>
            </a:r>
          </a:p>
          <a:p>
            <a:pPr fontAlgn="auto">
              <a:lnSpc>
                <a:spcPct val="120000"/>
              </a:lnSpc>
            </a:pPr>
            <a:endParaRPr lang="en-US" altLang="zh-CN" sz="1600" dirty="0">
              <a:solidFill>
                <a:schemeClr val="tx1">
                  <a:lumMod val="75000"/>
                  <a:lumOff val="25000"/>
                </a:schemeClr>
              </a:solidFill>
            </a:endParaRPr>
          </a:p>
          <a:p>
            <a:pPr fontAlgn="auto">
              <a:lnSpc>
                <a:spcPct val="120000"/>
              </a:lnSpc>
            </a:pPr>
            <a:endParaRPr lang="zh-CN" altLang="zh-CN" sz="1600" dirty="0">
              <a:solidFill>
                <a:schemeClr val="tx1">
                  <a:lumMod val="75000"/>
                  <a:lumOff val="25000"/>
                </a:schemeClr>
              </a:solidFill>
            </a:endParaRPr>
          </a:p>
          <a:p>
            <a:pPr fontAlgn="auto">
              <a:lnSpc>
                <a:spcPct val="120000"/>
              </a:lnSpc>
            </a:pPr>
            <a:r>
              <a:rPr lang="zh-CN" altLang="zh-CN" sz="1600" dirty="0">
                <a:solidFill>
                  <a:schemeClr val="tx1">
                    <a:lumMod val="75000"/>
                    <a:lumOff val="25000"/>
                  </a:schemeClr>
                </a:solidFill>
              </a:rPr>
              <a:t>说明：这里表达式“</a:t>
            </a:r>
            <a:r>
              <a:rPr lang="en-US" altLang="zh-CN" sz="1600" dirty="0">
                <a:solidFill>
                  <a:schemeClr val="tx1">
                    <a:lumMod val="75000"/>
                    <a:lumOff val="25000"/>
                  </a:schemeClr>
                </a:solidFill>
              </a:rPr>
              <a:t>x*x</a:t>
            </a:r>
            <a:r>
              <a:rPr lang="zh-CN" altLang="zh-CN" sz="1600" dirty="0">
                <a:solidFill>
                  <a:schemeClr val="tx1">
                    <a:lumMod val="75000"/>
                    <a:lumOff val="25000"/>
                  </a:schemeClr>
                </a:solidFill>
              </a:rPr>
              <a:t>”里的</a:t>
            </a:r>
            <a:r>
              <a:rPr lang="en-US" altLang="zh-CN" sz="1600" dirty="0">
                <a:solidFill>
                  <a:schemeClr val="tx1">
                    <a:lumMod val="75000"/>
                    <a:lumOff val="25000"/>
                  </a:schemeClr>
                </a:solidFill>
              </a:rPr>
              <a:t>x</a:t>
            </a:r>
            <a:r>
              <a:rPr lang="zh-CN" altLang="zh-CN" sz="1600" dirty="0">
                <a:solidFill>
                  <a:schemeClr val="tx1">
                    <a:lumMod val="75000"/>
                    <a:lumOff val="25000"/>
                  </a:schemeClr>
                </a:solidFill>
              </a:rPr>
              <a:t>来自于</a:t>
            </a:r>
            <a:r>
              <a:rPr lang="en-US" altLang="zh-CN" sz="1600" dirty="0">
                <a:solidFill>
                  <a:schemeClr val="tx1">
                    <a:lumMod val="75000"/>
                    <a:lumOff val="25000"/>
                  </a:schemeClr>
                </a:solidFill>
              </a:rPr>
              <a:t>for-in</a:t>
            </a:r>
            <a:r>
              <a:rPr lang="zh-CN" altLang="zh-CN" sz="1600" dirty="0">
                <a:solidFill>
                  <a:schemeClr val="tx1">
                    <a:lumMod val="75000"/>
                    <a:lumOff val="25000"/>
                  </a:schemeClr>
                </a:solidFill>
              </a:rPr>
              <a:t>遍历循环中的变量，而该变量</a:t>
            </a:r>
            <a:r>
              <a:rPr lang="en-US" altLang="zh-CN" sz="1600" dirty="0">
                <a:solidFill>
                  <a:schemeClr val="tx1">
                    <a:lumMod val="75000"/>
                    <a:lumOff val="25000"/>
                  </a:schemeClr>
                </a:solidFill>
              </a:rPr>
              <a:t>x</a:t>
            </a:r>
            <a:r>
              <a:rPr lang="zh-CN" altLang="zh-CN" sz="1600" dirty="0">
                <a:solidFill>
                  <a:schemeClr val="tx1">
                    <a:lumMod val="75000"/>
                    <a:lumOff val="25000"/>
                  </a:schemeClr>
                </a:solidFill>
              </a:rPr>
              <a:t>在“</a:t>
            </a:r>
            <a:r>
              <a:rPr lang="en-US" altLang="zh-CN" sz="1600" dirty="0">
                <a:solidFill>
                  <a:schemeClr val="tx1">
                    <a:lumMod val="75000"/>
                    <a:lumOff val="25000"/>
                  </a:schemeClr>
                </a:solidFill>
              </a:rPr>
              <a:t>range(10)</a:t>
            </a:r>
            <a:r>
              <a:rPr lang="zh-CN" altLang="zh-CN" sz="1600" dirty="0">
                <a:solidFill>
                  <a:schemeClr val="tx1">
                    <a:lumMod val="75000"/>
                    <a:lumOff val="25000"/>
                  </a:schemeClr>
                </a:solidFill>
              </a:rPr>
              <a:t>”产生的序列</a:t>
            </a:r>
            <a:r>
              <a:rPr lang="en-US" altLang="zh-CN" sz="1600" dirty="0">
                <a:solidFill>
                  <a:schemeClr val="tx1">
                    <a:lumMod val="75000"/>
                    <a:lumOff val="25000"/>
                  </a:schemeClr>
                </a:solidFill>
              </a:rPr>
              <a:t>0</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1</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2</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9</a:t>
            </a:r>
            <a:r>
              <a:rPr lang="zh-CN" altLang="zh-CN" sz="1600" dirty="0">
                <a:solidFill>
                  <a:schemeClr val="tx1">
                    <a:lumMod val="75000"/>
                    <a:lumOff val="25000"/>
                  </a:schemeClr>
                </a:solidFill>
              </a:rPr>
              <a:t>中依次取值。</a:t>
            </a:r>
          </a:p>
          <a:p>
            <a:pPr fontAlgn="auto">
              <a:lnSpc>
                <a:spcPct val="120000"/>
              </a:lnSpc>
            </a:pPr>
            <a:r>
              <a:rPr lang="zh-CN" altLang="zh-CN" sz="1600" dirty="0">
                <a:solidFill>
                  <a:schemeClr val="tx1">
                    <a:lumMod val="75000"/>
                    <a:lumOff val="25000"/>
                  </a:schemeClr>
                </a:solidFill>
              </a:rPr>
              <a:t>【例】利用</a:t>
            </a:r>
            <a:r>
              <a:rPr lang="en-US" altLang="zh-CN" sz="1600" dirty="0">
                <a:solidFill>
                  <a:schemeClr val="tx1">
                    <a:lumMod val="75000"/>
                    <a:lumOff val="25000"/>
                  </a:schemeClr>
                </a:solidFill>
              </a:rPr>
              <a:t>range()</a:t>
            </a:r>
            <a:r>
              <a:rPr lang="zh-CN" altLang="zh-CN" sz="1600" dirty="0">
                <a:solidFill>
                  <a:schemeClr val="tx1">
                    <a:lumMod val="75000"/>
                    <a:lumOff val="25000"/>
                  </a:schemeClr>
                </a:solidFill>
              </a:rPr>
              <a:t>函数生成由</a:t>
            </a:r>
            <a:r>
              <a:rPr lang="en-US" altLang="zh-CN" sz="1600" dirty="0">
                <a:solidFill>
                  <a:schemeClr val="tx1">
                    <a:lumMod val="75000"/>
                    <a:lumOff val="25000"/>
                  </a:schemeClr>
                </a:solidFill>
              </a:rPr>
              <a:t>0-1</a:t>
            </a:r>
            <a:r>
              <a:rPr lang="zh-CN" altLang="zh-CN" sz="1600" dirty="0">
                <a:solidFill>
                  <a:schemeClr val="tx1">
                    <a:lumMod val="75000"/>
                    <a:lumOff val="25000"/>
                  </a:schemeClr>
                </a:solidFill>
              </a:rPr>
              <a:t>的数字两两组合形成的列表作为元素构成的列表。</a:t>
            </a:r>
          </a:p>
          <a:p>
            <a:pPr fontAlgn="auto">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x,y</a:t>
            </a:r>
            <a:r>
              <a:rPr lang="en-US" altLang="zh-CN" sz="1600" dirty="0">
                <a:solidFill>
                  <a:schemeClr val="tx1">
                    <a:lumMod val="75000"/>
                    <a:lumOff val="25000"/>
                  </a:schemeClr>
                </a:solidFill>
              </a:rPr>
              <a:t>] for x in range(2) for y in range(2)]</a:t>
            </a:r>
          </a:p>
          <a:p>
            <a:pPr fontAlgn="auto">
              <a:lnSpc>
                <a:spcPct val="120000"/>
              </a:lnSpc>
            </a:pPr>
            <a:endParaRPr lang="en-US" altLang="zh-CN" sz="1600" dirty="0">
              <a:solidFill>
                <a:schemeClr val="tx1">
                  <a:lumMod val="75000"/>
                  <a:lumOff val="25000"/>
                </a:schemeClr>
              </a:solidFill>
            </a:endParaRPr>
          </a:p>
          <a:p>
            <a:pPr fontAlgn="auto">
              <a:lnSpc>
                <a:spcPct val="120000"/>
              </a:lnSpc>
            </a:pPr>
            <a:endParaRPr lang="zh-CN" altLang="zh-CN" sz="1600" dirty="0">
              <a:solidFill>
                <a:schemeClr val="tx1">
                  <a:lumMod val="75000"/>
                  <a:lumOff val="25000"/>
                </a:schemeClr>
              </a:solidFill>
            </a:endParaRPr>
          </a:p>
          <a:p>
            <a:pPr fontAlgn="auto">
              <a:lnSpc>
                <a:spcPct val="120000"/>
              </a:lnSpc>
            </a:pPr>
            <a:r>
              <a:rPr lang="zh-CN" altLang="zh-CN" sz="1600" dirty="0">
                <a:solidFill>
                  <a:schemeClr val="tx1">
                    <a:lumMod val="75000"/>
                    <a:lumOff val="25000"/>
                  </a:schemeClr>
                </a:solidFill>
              </a:rPr>
              <a:t>【例】利用</a:t>
            </a:r>
            <a:r>
              <a:rPr lang="en-US" altLang="zh-CN" sz="1600" dirty="0">
                <a:solidFill>
                  <a:schemeClr val="tx1">
                    <a:lumMod val="75000"/>
                    <a:lumOff val="25000"/>
                  </a:schemeClr>
                </a:solidFill>
              </a:rPr>
              <a:t>range()</a:t>
            </a:r>
            <a:r>
              <a:rPr lang="zh-CN" altLang="zh-CN" sz="1600" dirty="0">
                <a:solidFill>
                  <a:schemeClr val="tx1">
                    <a:lumMod val="75000"/>
                    <a:lumOff val="25000"/>
                  </a:schemeClr>
                </a:solidFill>
              </a:rPr>
              <a:t>函数生成由</a:t>
            </a:r>
            <a:r>
              <a:rPr lang="en-US" altLang="zh-CN" sz="1600" dirty="0">
                <a:solidFill>
                  <a:schemeClr val="tx1">
                    <a:lumMod val="75000"/>
                    <a:lumOff val="25000"/>
                  </a:schemeClr>
                </a:solidFill>
              </a:rPr>
              <a:t>0-2</a:t>
            </a:r>
            <a:r>
              <a:rPr lang="zh-CN" altLang="zh-CN" sz="1600" dirty="0">
                <a:solidFill>
                  <a:schemeClr val="tx1">
                    <a:lumMod val="75000"/>
                    <a:lumOff val="25000"/>
                  </a:schemeClr>
                </a:solidFill>
              </a:rPr>
              <a:t>的数字两两组合形成的元组作为元素构成的列表。</a:t>
            </a:r>
          </a:p>
          <a:p>
            <a:pPr fontAlgn="auto">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x,y</a:t>
            </a:r>
            <a:r>
              <a:rPr lang="en-US" altLang="zh-CN" sz="1600" dirty="0">
                <a:solidFill>
                  <a:schemeClr val="tx1">
                    <a:lumMod val="75000"/>
                    <a:lumOff val="25000"/>
                  </a:schemeClr>
                </a:solidFill>
              </a:rPr>
              <a:t>) for x in range(3) for y in range(3)]</a:t>
            </a:r>
            <a:endParaRPr lang="zh-CN" altLang="zh-CN" sz="1600" dirty="0">
              <a:solidFill>
                <a:schemeClr val="tx1">
                  <a:lumMod val="75000"/>
                  <a:lumOff val="25000"/>
                </a:schemeClr>
              </a:solidFill>
            </a:endParaRPr>
          </a:p>
          <a:p>
            <a:pPr fontAlgn="auto">
              <a:lnSpc>
                <a:spcPct val="120000"/>
              </a:lnSpc>
            </a:pPr>
            <a:endParaRPr lang="en-US" altLang="zh-CN" sz="1600" dirty="0">
              <a:solidFill>
                <a:schemeClr val="tx1">
                  <a:lumMod val="75000"/>
                  <a:lumOff val="25000"/>
                </a:schemeClr>
              </a:solidFill>
            </a:endParaRPr>
          </a:p>
          <a:p>
            <a:pPr fontAlgn="auto">
              <a:lnSpc>
                <a:spcPct val="120000"/>
              </a:lnSpc>
            </a:pPr>
            <a:endParaRPr lang="en-US" altLang="zh-CN" sz="1600" dirty="0">
              <a:solidFill>
                <a:schemeClr val="tx1">
                  <a:lumMod val="75000"/>
                  <a:lumOff val="25000"/>
                </a:schemeClr>
              </a:solidFill>
            </a:endParaRPr>
          </a:p>
          <a:p>
            <a:pPr fontAlgn="auto">
              <a:lnSpc>
                <a:spcPct val="120000"/>
              </a:lnSpc>
            </a:pPr>
            <a:r>
              <a:rPr lang="zh-CN" altLang="zh-CN" sz="1600" dirty="0">
                <a:solidFill>
                  <a:schemeClr val="tx1">
                    <a:lumMod val="75000"/>
                    <a:lumOff val="25000"/>
                  </a:schemeClr>
                </a:solidFill>
              </a:rPr>
              <a:t>列表推导式</a:t>
            </a:r>
            <a:r>
              <a:rPr lang="zh-CN" altLang="zh-CN" sz="1600" b="1" dirty="0">
                <a:solidFill>
                  <a:schemeClr val="tx1">
                    <a:lumMod val="75000"/>
                    <a:lumOff val="25000"/>
                  </a:schemeClr>
                </a:solidFill>
              </a:rPr>
              <a:t>总是</a:t>
            </a:r>
            <a:r>
              <a:rPr lang="zh-CN" altLang="zh-CN" sz="1600" dirty="0">
                <a:solidFill>
                  <a:schemeClr val="tx1">
                    <a:lumMod val="75000"/>
                    <a:lumOff val="25000"/>
                  </a:schemeClr>
                </a:solidFill>
              </a:rPr>
              <a:t>返回一个</a:t>
            </a:r>
            <a:r>
              <a:rPr lang="zh-CN" altLang="zh-CN" sz="1600" b="1" dirty="0">
                <a:solidFill>
                  <a:schemeClr val="tx1">
                    <a:lumMod val="75000"/>
                    <a:lumOff val="25000"/>
                  </a:schemeClr>
                </a:solidFill>
              </a:rPr>
              <a:t>列表</a:t>
            </a:r>
            <a:r>
              <a:rPr lang="zh-CN" altLang="zh-CN" sz="1600" dirty="0">
                <a:solidFill>
                  <a:schemeClr val="tx1">
                    <a:lumMod val="75000"/>
                    <a:lumOff val="25000"/>
                  </a:schemeClr>
                </a:solidFill>
              </a:rPr>
              <a:t>。</a:t>
            </a:r>
          </a:p>
          <a:p>
            <a:endParaRPr lang="zh-CN" altLang="zh-CN" sz="1600" dirty="0">
              <a:solidFill>
                <a:schemeClr val="tx1">
                  <a:lumMod val="75000"/>
                  <a:lumOff val="25000"/>
                </a:schemeClr>
              </a:solidFill>
            </a:endParaRPr>
          </a:p>
        </p:txBody>
      </p:sp>
      <p:pic>
        <p:nvPicPr>
          <p:cNvPr id="6" name="图片 5"/>
          <p:cNvPicPr/>
          <p:nvPr/>
        </p:nvPicPr>
        <p:blipFill>
          <a:blip r:embed="rId2" cstate="print"/>
          <a:srcRect/>
          <a:stretch>
            <a:fillRect/>
          </a:stretch>
        </p:blipFill>
        <p:spPr bwMode="auto">
          <a:xfrm>
            <a:off x="1270812" y="3189907"/>
            <a:ext cx="2957998" cy="321912"/>
          </a:xfrm>
          <a:prstGeom prst="rect">
            <a:avLst/>
          </a:prstGeom>
          <a:noFill/>
          <a:ln w="9525">
            <a:noFill/>
            <a:miter lim="800000"/>
            <a:headEnd/>
            <a:tailEnd/>
          </a:ln>
        </p:spPr>
      </p:pic>
      <p:pic>
        <p:nvPicPr>
          <p:cNvPr id="8" name="图片 7"/>
          <p:cNvPicPr/>
          <p:nvPr/>
        </p:nvPicPr>
        <p:blipFill>
          <a:blip r:embed="rId3" cstate="print"/>
          <a:srcRect/>
          <a:stretch>
            <a:fillRect/>
          </a:stretch>
        </p:blipFill>
        <p:spPr bwMode="auto">
          <a:xfrm>
            <a:off x="1271051" y="4945420"/>
            <a:ext cx="2921552" cy="326357"/>
          </a:xfrm>
          <a:prstGeom prst="rect">
            <a:avLst/>
          </a:prstGeom>
          <a:noFill/>
          <a:ln w="9525">
            <a:noFill/>
            <a:miter lim="800000"/>
            <a:headEnd/>
            <a:tailEnd/>
          </a:ln>
        </p:spPr>
      </p:pic>
      <p:pic>
        <p:nvPicPr>
          <p:cNvPr id="9" name="图片 8"/>
          <p:cNvPicPr/>
          <p:nvPr/>
        </p:nvPicPr>
        <p:blipFill>
          <a:blip r:embed="rId4" cstate="print"/>
          <a:srcRect/>
          <a:stretch>
            <a:fillRect/>
          </a:stretch>
        </p:blipFill>
        <p:spPr bwMode="auto">
          <a:xfrm>
            <a:off x="1261316" y="6080979"/>
            <a:ext cx="3869790" cy="332991"/>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10" name="矩形 9"/>
          <p:cNvSpPr/>
          <p:nvPr/>
        </p:nvSpPr>
        <p:spPr>
          <a:xfrm>
            <a:off x="1093761" y="2340275"/>
            <a:ext cx="8979269" cy="2677656"/>
          </a:xfrm>
          <a:prstGeom prst="rect">
            <a:avLst/>
          </a:prstGeom>
        </p:spPr>
        <p:txBody>
          <a:bodyPr wrap="square">
            <a:spAutoFit/>
          </a:bodyPr>
          <a:lstStyle/>
          <a:p>
            <a:pPr>
              <a:lnSpc>
                <a:spcPct val="150000"/>
              </a:lnSpc>
            </a:pPr>
            <a:r>
              <a:rPr lang="en-US" altLang="zh-CN" sz="1600" dirty="0">
                <a:solidFill>
                  <a:schemeClr val="tx1">
                    <a:lumMod val="75000"/>
                    <a:lumOff val="25000"/>
                  </a:schemeClr>
                </a:solidFill>
              </a:rPr>
              <a:t>【</a:t>
            </a:r>
            <a:r>
              <a:rPr lang="zh-CN" altLang="zh-CN" sz="1600" dirty="0">
                <a:solidFill>
                  <a:schemeClr val="tx1">
                    <a:lumMod val="75000"/>
                    <a:lumOff val="25000"/>
                  </a:schemeClr>
                </a:solidFill>
              </a:rPr>
              <a:t>例】遍历元组（或者列表）的每个元素，得到由元组（或者列表）的每个元素的平方构成的列表。</a:t>
            </a: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tp</a:t>
            </a:r>
            <a:r>
              <a:rPr lang="en-US" altLang="zh-CN" sz="1600" dirty="0">
                <a:solidFill>
                  <a:schemeClr val="tx1">
                    <a:lumMod val="75000"/>
                    <a:lumOff val="25000"/>
                  </a:schemeClr>
                </a:solidFill>
              </a:rPr>
              <a:t> = (0,1,2,3)</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[x*x for x in </a:t>
            </a:r>
            <a:r>
              <a:rPr lang="en-US" altLang="zh-CN" sz="1600" dirty="0" err="1">
                <a:solidFill>
                  <a:schemeClr val="tx1">
                    <a:lumMod val="75000"/>
                    <a:lumOff val="25000"/>
                  </a:schemeClr>
                </a:solidFill>
              </a:rPr>
              <a:t>tp</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50000"/>
              </a:lnSpc>
            </a:pPr>
            <a:endParaRPr lang="en-US" altLang="zh-CN" sz="1600" dirty="0">
              <a:solidFill>
                <a:schemeClr val="tx1">
                  <a:lumMod val="75000"/>
                  <a:lumOff val="25000"/>
                </a:schemeClr>
              </a:solidFill>
            </a:endParaRPr>
          </a:p>
          <a:p>
            <a:pPr>
              <a:lnSpc>
                <a:spcPct val="150000"/>
              </a:lnSpc>
            </a:pPr>
            <a:endParaRPr lang="en-US"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ls = [1,2,3,4]</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[x*x for x in ls]</a:t>
            </a:r>
          </a:p>
        </p:txBody>
      </p:sp>
      <p:pic>
        <p:nvPicPr>
          <p:cNvPr id="11" name="图片 10"/>
          <p:cNvPicPr/>
          <p:nvPr/>
        </p:nvPicPr>
        <p:blipFill>
          <a:blip r:embed="rId2" cstate="print"/>
          <a:srcRect/>
          <a:stretch>
            <a:fillRect/>
          </a:stretch>
        </p:blipFill>
        <p:spPr bwMode="auto">
          <a:xfrm>
            <a:off x="1278046" y="3630032"/>
            <a:ext cx="1502728" cy="371262"/>
          </a:xfrm>
          <a:prstGeom prst="rect">
            <a:avLst/>
          </a:prstGeom>
          <a:noFill/>
          <a:ln w="9525">
            <a:noFill/>
            <a:miter lim="800000"/>
            <a:headEnd/>
            <a:tailEnd/>
          </a:ln>
        </p:spPr>
      </p:pic>
      <p:pic>
        <p:nvPicPr>
          <p:cNvPr id="12" name="图片 11"/>
          <p:cNvPicPr/>
          <p:nvPr/>
        </p:nvPicPr>
        <p:blipFill>
          <a:blip r:embed="rId3" cstate="print"/>
          <a:srcRect/>
          <a:stretch>
            <a:fillRect/>
          </a:stretch>
        </p:blipFill>
        <p:spPr bwMode="auto">
          <a:xfrm>
            <a:off x="1278046" y="5224760"/>
            <a:ext cx="1454602" cy="449891"/>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7" name="矩形 6"/>
          <p:cNvSpPr/>
          <p:nvPr/>
        </p:nvSpPr>
        <p:spPr>
          <a:xfrm>
            <a:off x="1079122" y="2207207"/>
            <a:ext cx="8428177" cy="3384550"/>
          </a:xfrm>
          <a:prstGeom prst="rect">
            <a:avLst/>
          </a:prstGeom>
        </p:spPr>
        <p:txBody>
          <a:bodyPr wrap="square">
            <a:spAutoFit/>
          </a:bodyPr>
          <a:lstStyle/>
          <a:p>
            <a:pPr algn="l">
              <a:lnSpc>
                <a:spcPct val="150000"/>
              </a:lnSpc>
              <a:buClrTx/>
              <a:buSzTx/>
              <a:buNone/>
            </a:pPr>
            <a:r>
              <a:rPr lang="zh-CN" altLang="zh-CN" sz="1600" b="1">
                <a:solidFill>
                  <a:schemeClr val="tx1">
                    <a:lumMod val="75000"/>
                    <a:lumOff val="25000"/>
                  </a:schemeClr>
                </a:solidFill>
              </a:rPr>
              <a:t>3. 用列表推导式解决问题</a:t>
            </a:r>
            <a:endParaRPr lang="zh-CN" altLang="zh-CN" sz="1600">
              <a:solidFill>
                <a:schemeClr val="tx1">
                  <a:lumMod val="75000"/>
                  <a:lumOff val="25000"/>
                </a:schemeClr>
              </a:solidFill>
            </a:endParaRPr>
          </a:p>
          <a:p>
            <a:pPr algn="l">
              <a:lnSpc>
                <a:spcPct val="150000"/>
              </a:lnSpc>
              <a:buClrTx/>
              <a:buSzTx/>
              <a:buNone/>
            </a:pPr>
            <a:r>
              <a:rPr lang="zh-CN" altLang="zh-CN" sz="1600">
                <a:solidFill>
                  <a:schemeClr val="tx1">
                    <a:lumMod val="75000"/>
                    <a:lumOff val="25000"/>
                  </a:schemeClr>
                </a:solidFill>
              </a:rPr>
              <a:t>问题：希望把每一个姓名写入到文件的一行中，而不是把所有的内容都写在同一行上。</a:t>
            </a:r>
          </a:p>
          <a:p>
            <a:pPr algn="l">
              <a:lnSpc>
                <a:spcPct val="150000"/>
              </a:lnSpc>
              <a:buClrTx/>
              <a:buSzTx/>
              <a:buNone/>
            </a:pPr>
            <a:r>
              <a:rPr lang="zh-CN" altLang="zh-CN" sz="1600">
                <a:solidFill>
                  <a:schemeClr val="tx1">
                    <a:lumMod val="75000"/>
                    <a:lumOff val="25000"/>
                  </a:schemeClr>
                </a:solidFill>
              </a:rPr>
              <a:t>解决办法：使用列表推导式来完成。</a:t>
            </a:r>
          </a:p>
          <a:p>
            <a:pPr algn="l">
              <a:lnSpc>
                <a:spcPct val="150000"/>
              </a:lnSpc>
              <a:buClrTx/>
              <a:buSzTx/>
              <a:buNone/>
            </a:pPr>
            <a:endParaRPr lang="zh-CN" altLang="zh-CN" sz="1600">
              <a:solidFill>
                <a:schemeClr val="tx1">
                  <a:lumMod val="75000"/>
                  <a:lumOff val="25000"/>
                </a:schemeClr>
              </a:solidFill>
            </a:endParaRPr>
          </a:p>
          <a:p>
            <a:pPr algn="l">
              <a:lnSpc>
                <a:spcPct val="150000"/>
              </a:lnSpc>
              <a:buClrTx/>
              <a:buSzTx/>
              <a:buNone/>
            </a:pPr>
            <a:r>
              <a:rPr lang="zh-CN" altLang="zh-CN" sz="1600">
                <a:solidFill>
                  <a:schemeClr val="tx1">
                    <a:lumMod val="75000"/>
                    <a:lumOff val="25000"/>
                  </a:schemeClr>
                </a:solidFill>
              </a:rPr>
              <a:t>&gt; names = ['Tom', 'Jerry', 'Mike', 'Peter']</a:t>
            </a:r>
          </a:p>
          <a:p>
            <a:pPr algn="l">
              <a:lnSpc>
                <a:spcPct val="150000"/>
              </a:lnSpc>
              <a:buClrTx/>
              <a:buSzTx/>
              <a:buNone/>
            </a:pPr>
            <a:r>
              <a:rPr lang="zh-CN" altLang="zh-CN" sz="1600">
                <a:solidFill>
                  <a:schemeClr val="tx1">
                    <a:lumMod val="75000"/>
                    <a:lumOff val="25000"/>
                  </a:schemeClr>
                </a:solidFill>
              </a:rPr>
              <a:t>&gt; new_names = [ name + '\n' for name in names]</a:t>
            </a:r>
          </a:p>
          <a:p>
            <a:pPr algn="l">
              <a:lnSpc>
                <a:spcPct val="150000"/>
              </a:lnSpc>
              <a:buClrTx/>
              <a:buSzTx/>
              <a:buNone/>
            </a:pPr>
            <a:r>
              <a:rPr lang="zh-CN" altLang="zh-CN" sz="1600">
                <a:solidFill>
                  <a:schemeClr val="tx1">
                    <a:lumMod val="75000"/>
                    <a:lumOff val="25000"/>
                  </a:schemeClr>
                </a:solidFill>
              </a:rPr>
              <a:t>&gt; new_names</a:t>
            </a:r>
            <a:endParaRPr lang="en-US" altLang="zh-CN" sz="1600" dirty="0"/>
          </a:p>
          <a:p>
            <a:endParaRPr lang="en-US" altLang="zh-CN" sz="1600" dirty="0"/>
          </a:p>
          <a:p>
            <a:endParaRPr lang="en-US" altLang="zh-CN" sz="1600" dirty="0"/>
          </a:p>
          <a:p>
            <a:endParaRPr lang="zh-CN" altLang="zh-CN" sz="1400" dirty="0"/>
          </a:p>
        </p:txBody>
      </p:sp>
      <p:pic>
        <p:nvPicPr>
          <p:cNvPr id="8" name="图片 7"/>
          <p:cNvPicPr/>
          <p:nvPr/>
        </p:nvPicPr>
        <p:blipFill>
          <a:blip r:embed="rId2" cstate="print"/>
          <a:srcRect/>
          <a:stretch>
            <a:fillRect/>
          </a:stretch>
        </p:blipFill>
        <p:spPr bwMode="auto">
          <a:xfrm>
            <a:off x="1278356" y="3484059"/>
            <a:ext cx="3786923" cy="334261"/>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9" name="矩形 8"/>
          <p:cNvSpPr/>
          <p:nvPr/>
        </p:nvSpPr>
        <p:spPr>
          <a:xfrm>
            <a:off x="1090769" y="2187312"/>
            <a:ext cx="10515535" cy="4819781"/>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&gt; import os</a:t>
            </a:r>
          </a:p>
          <a:p>
            <a:pPr>
              <a:lnSpc>
                <a:spcPct val="120000"/>
              </a:lnSpc>
            </a:pPr>
            <a:r>
              <a:rPr lang="zh-CN" altLang="zh-CN" sz="1600" dirty="0">
                <a:solidFill>
                  <a:schemeClr val="tx1">
                    <a:lumMod val="75000"/>
                    <a:lumOff val="25000"/>
                  </a:schemeClr>
                </a:solidFill>
              </a:rPr>
              <a:t>&gt; os.chdir(r'D:\python\PythonEXample')</a:t>
            </a:r>
          </a:p>
          <a:p>
            <a:pPr>
              <a:lnSpc>
                <a:spcPct val="120000"/>
              </a:lnSpc>
            </a:pPr>
            <a:r>
              <a:rPr lang="zh-CN" altLang="zh-CN" sz="1600" dirty="0">
                <a:solidFill>
                  <a:schemeClr val="tx1">
                    <a:lumMod val="75000"/>
                    <a:lumOff val="25000"/>
                  </a:schemeClr>
                </a:solidFill>
              </a:rPr>
              <a:t>&gt; names = ['Tom', 'Jerry', 'Mike', 'Peter']</a:t>
            </a:r>
          </a:p>
          <a:p>
            <a:pPr>
              <a:lnSpc>
                <a:spcPct val="120000"/>
              </a:lnSpc>
            </a:pPr>
            <a:r>
              <a:rPr lang="zh-CN" altLang="zh-CN" sz="1600" dirty="0">
                <a:solidFill>
                  <a:schemeClr val="tx1">
                    <a:lumMod val="75000"/>
                    <a:lumOff val="25000"/>
                  </a:schemeClr>
                </a:solidFill>
              </a:rPr>
              <a:t>&gt; new_names = [ name + '\n' for name in names]</a:t>
            </a:r>
          </a:p>
          <a:p>
            <a:pPr>
              <a:lnSpc>
                <a:spcPct val="120000"/>
              </a:lnSpc>
            </a:pPr>
            <a:r>
              <a:rPr lang="zh-CN" altLang="zh-CN" sz="1600" dirty="0">
                <a:solidFill>
                  <a:schemeClr val="tx1">
                    <a:lumMod val="75000"/>
                    <a:lumOff val="25000"/>
                  </a:schemeClr>
                </a:solidFill>
              </a:rPr>
              <a:t>&gt; f = open('people.txt', 'w', encoding='utf8')</a:t>
            </a:r>
          </a:p>
          <a:p>
            <a:pPr>
              <a:lnSpc>
                <a:spcPct val="120000"/>
              </a:lnSpc>
            </a:pPr>
            <a:r>
              <a:rPr lang="zh-CN" altLang="zh-CN" sz="1600" dirty="0">
                <a:solidFill>
                  <a:schemeClr val="tx1">
                    <a:lumMod val="75000"/>
                    <a:lumOff val="25000"/>
                  </a:schemeClr>
                </a:solidFill>
              </a:rPr>
              <a:t>&gt; f.writelines(new_names)</a:t>
            </a:r>
          </a:p>
          <a:p>
            <a:pPr>
              <a:lnSpc>
                <a:spcPct val="120000"/>
              </a:lnSpc>
            </a:pPr>
            <a:r>
              <a:rPr lang="zh-CN" altLang="zh-CN" sz="1600" dirty="0">
                <a:solidFill>
                  <a:schemeClr val="tx1">
                    <a:lumMod val="75000"/>
                    <a:lumOff val="25000"/>
                  </a:schemeClr>
                </a:solidFill>
              </a:rPr>
              <a:t>&gt; f.flush()</a:t>
            </a:r>
          </a:p>
          <a:p>
            <a:pPr>
              <a:lnSpc>
                <a:spcPct val="120000"/>
              </a:lnSpc>
            </a:pPr>
            <a:r>
              <a:rPr lang="zh-CN" altLang="zh-CN" sz="1600" dirty="0">
                <a:solidFill>
                  <a:schemeClr val="tx1">
                    <a:lumMod val="75000"/>
                    <a:lumOff val="25000"/>
                  </a:schemeClr>
                </a:solidFill>
              </a:rPr>
              <a:t>此时再打开文件“people.txt”可看到结果如下：</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【思考】假设之前已经写入了4个人名信息在一行，现在再次写入之后，为什么不是接在原有内容之后而是把原来的内容替换掉了？请给出能得到正确结果的代码。</a:t>
            </a:r>
          </a:p>
          <a:p>
            <a:pPr>
              <a:lnSpc>
                <a:spcPct val="120000"/>
              </a:lnSpc>
            </a:pPr>
            <a:r>
              <a:rPr lang="zh-CN" altLang="zh-CN" sz="1600" dirty="0">
                <a:solidFill>
                  <a:schemeClr val="tx1">
                    <a:lumMod val="75000"/>
                    <a:lumOff val="25000"/>
                  </a:schemeClr>
                </a:solidFill>
              </a:rPr>
              <a:t>温馨提示：希望大家打开资源管理器窗口，仔细观察文件操作过程中每个命令执行时的变化的情况。</a:t>
            </a:r>
          </a:p>
        </p:txBody>
      </p:sp>
      <p:pic>
        <p:nvPicPr>
          <p:cNvPr id="10" name="图片 9"/>
          <p:cNvPicPr/>
          <p:nvPr/>
        </p:nvPicPr>
        <p:blipFill>
          <a:blip r:embed="rId3" cstate="print"/>
          <a:srcRect/>
          <a:stretch>
            <a:fillRect/>
          </a:stretch>
        </p:blipFill>
        <p:spPr bwMode="auto">
          <a:xfrm>
            <a:off x="1090704" y="4620172"/>
            <a:ext cx="4093482" cy="1431369"/>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关闭文件</a:t>
            </a:r>
          </a:p>
        </p:txBody>
      </p:sp>
      <p:sp>
        <p:nvSpPr>
          <p:cNvPr id="6" name="矩形 5"/>
          <p:cNvSpPr/>
          <p:nvPr/>
        </p:nvSpPr>
        <p:spPr>
          <a:xfrm>
            <a:off x="1049541" y="2273178"/>
            <a:ext cx="8097807" cy="975995"/>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关闭文件的方法：&lt;文件对象&gt;.close()</a:t>
            </a:r>
          </a:p>
          <a:p>
            <a:pPr>
              <a:lnSpc>
                <a:spcPct val="120000"/>
              </a:lnSpc>
            </a:pPr>
            <a:r>
              <a:rPr lang="zh-CN" altLang="zh-CN" sz="1600" dirty="0">
                <a:solidFill>
                  <a:schemeClr val="tx1">
                    <a:lumMod val="75000"/>
                    <a:lumOff val="25000"/>
                  </a:schemeClr>
                </a:solidFill>
              </a:rPr>
              <a:t>调用方法.flush()能够将缓存的内容写到文件中，但文件没有关闭。</a:t>
            </a:r>
          </a:p>
          <a:p>
            <a:pPr>
              <a:lnSpc>
                <a:spcPct val="120000"/>
              </a:lnSpc>
            </a:pPr>
            <a:r>
              <a:rPr lang="zh-CN" altLang="zh-CN" sz="1600" dirty="0">
                <a:solidFill>
                  <a:schemeClr val="tx1">
                    <a:lumMod val="75000"/>
                    <a:lumOff val="25000"/>
                  </a:schemeClr>
                </a:solidFill>
              </a:rPr>
              <a:t>也可以利用Python提供的上下文语法来实现对文件的关闭操作。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5" name="矩形 4"/>
          <p:cNvSpPr/>
          <p:nvPr/>
        </p:nvSpPr>
        <p:spPr>
          <a:xfrm>
            <a:off x="1056395" y="2157730"/>
            <a:ext cx="10011503" cy="3785652"/>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上下文语法的格式如下：</a:t>
            </a:r>
          </a:p>
          <a:p>
            <a:pPr>
              <a:lnSpc>
                <a:spcPct val="150000"/>
              </a:lnSpc>
            </a:pPr>
            <a:r>
              <a:rPr lang="en-US" altLang="zh-CN" sz="1600" dirty="0">
                <a:solidFill>
                  <a:schemeClr val="tx1">
                    <a:lumMod val="75000"/>
                    <a:lumOff val="25000"/>
                  </a:schemeClr>
                </a:solidFill>
              </a:rPr>
              <a:t>with  open( )  as  f</a:t>
            </a:r>
            <a:r>
              <a:rPr lang="zh-CN" altLang="zh-CN" sz="1600" dirty="0">
                <a:solidFill>
                  <a:schemeClr val="tx1">
                    <a:lumMod val="75000"/>
                    <a:lumOff val="25000"/>
                  </a:schemeClr>
                </a:solidFill>
              </a:rPr>
              <a:t>（名称）：</a:t>
            </a:r>
          </a:p>
          <a:p>
            <a:pPr>
              <a:lnSpc>
                <a:spcPct val="150000"/>
              </a:lnSpc>
            </a:pPr>
            <a:r>
              <a:rPr lang="zh-CN" altLang="zh-CN" sz="1600" dirty="0">
                <a:solidFill>
                  <a:schemeClr val="tx1">
                    <a:lumMod val="75000"/>
                    <a:lumOff val="25000"/>
                  </a:schemeClr>
                </a:solidFill>
              </a:rPr>
              <a:t>代码体</a:t>
            </a:r>
          </a:p>
          <a:p>
            <a:pPr>
              <a:lnSpc>
                <a:spcPct val="150000"/>
              </a:lnSpc>
            </a:pPr>
            <a:r>
              <a:rPr lang="zh-CN" altLang="zh-CN" sz="1600" dirty="0">
                <a:solidFill>
                  <a:schemeClr val="tx1">
                    <a:lumMod val="75000"/>
                    <a:lumOff val="25000"/>
                  </a:schemeClr>
                </a:solidFill>
              </a:rPr>
              <a:t>缩进代码体的操作都是围绕对象</a:t>
            </a:r>
            <a:r>
              <a:rPr lang="en-US" altLang="zh-CN" sz="1600" dirty="0">
                <a:solidFill>
                  <a:schemeClr val="tx1">
                    <a:lumMod val="75000"/>
                    <a:lumOff val="25000"/>
                  </a:schemeClr>
                </a:solidFill>
              </a:rPr>
              <a:t>f</a:t>
            </a:r>
            <a:r>
              <a:rPr lang="zh-CN" altLang="zh-CN" sz="1600" dirty="0">
                <a:solidFill>
                  <a:schemeClr val="tx1">
                    <a:lumMod val="75000"/>
                    <a:lumOff val="25000"/>
                  </a:schemeClr>
                </a:solidFill>
              </a:rPr>
              <a:t>进行的。</a:t>
            </a:r>
            <a:endParaRPr lang="en-US"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【例】假定对某个文件要进行读操作，而又不想显示的写</a:t>
            </a:r>
            <a:r>
              <a:rPr lang="en-US" altLang="zh-CN" sz="1600" dirty="0">
                <a:solidFill>
                  <a:schemeClr val="tx1">
                    <a:lumMod val="75000"/>
                    <a:lumOff val="25000"/>
                  </a:schemeClr>
                </a:solidFill>
              </a:rPr>
              <a:t>.close()</a:t>
            </a:r>
            <a:r>
              <a:rPr lang="zh-CN" altLang="zh-CN" sz="1600" dirty="0">
                <a:solidFill>
                  <a:schemeClr val="tx1">
                    <a:lumMod val="75000"/>
                    <a:lumOff val="25000"/>
                  </a:schemeClr>
                </a:solidFill>
              </a:rPr>
              <a:t>关闭，利用上下文语法来实现。</a:t>
            </a:r>
          </a:p>
          <a:p>
            <a:pPr>
              <a:lnSpc>
                <a:spcPct val="150000"/>
              </a:lnSpc>
            </a:pPr>
            <a:r>
              <a:rPr lang="en-US" altLang="zh-CN" sz="1600" dirty="0">
                <a:solidFill>
                  <a:schemeClr val="tx1">
                    <a:lumMod val="75000"/>
                    <a:lumOff val="25000"/>
                  </a:schemeClr>
                </a:solidFill>
              </a:rPr>
              <a:t>&gt; import </a:t>
            </a:r>
            <a:r>
              <a:rPr lang="en-US" altLang="zh-CN" sz="1600" dirty="0" err="1">
                <a:solidFill>
                  <a:schemeClr val="tx1">
                    <a:lumMod val="75000"/>
                    <a:lumOff val="25000"/>
                  </a:schemeClr>
                </a:solidFill>
              </a:rPr>
              <a:t>os</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with open('people.txt', 'r', encoding='utf-8') as f:</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          for line in f:</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               print(line)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6" name="矩形 5"/>
          <p:cNvSpPr/>
          <p:nvPr/>
        </p:nvSpPr>
        <p:spPr>
          <a:xfrm>
            <a:off x="1076783" y="2164334"/>
            <a:ext cx="10064267" cy="3785652"/>
          </a:xfrm>
          <a:prstGeom prst="rect">
            <a:avLst/>
          </a:prstGeom>
        </p:spPr>
        <p:txBody>
          <a:bodyPr wrap="square">
            <a:spAutoFit/>
          </a:bodyPr>
          <a:lstStyle/>
          <a:p>
            <a:pPr algn="l">
              <a:lnSpc>
                <a:spcPct val="150000"/>
              </a:lnSpc>
              <a:buClrTx/>
              <a:buSzTx/>
              <a:buNone/>
            </a:pPr>
            <a:r>
              <a:rPr lang="zh-CN" altLang="zh-CN" sz="1600" dirty="0">
                <a:solidFill>
                  <a:schemeClr val="tx1">
                    <a:lumMod val="75000"/>
                    <a:lumOff val="25000"/>
                  </a:schemeClr>
                </a:solidFill>
              </a:rPr>
              <a:t>写入操作也可类似完成：</a:t>
            </a:r>
          </a:p>
          <a:p>
            <a:pPr algn="l">
              <a:lnSpc>
                <a:spcPct val="150000"/>
              </a:lnSpc>
              <a:buClrTx/>
              <a:buSzTx/>
              <a:buNone/>
            </a:pPr>
            <a:r>
              <a:rPr lang="zh-CN" altLang="zh-CN" sz="1600" dirty="0">
                <a:solidFill>
                  <a:schemeClr val="tx1">
                    <a:lumMod val="75000"/>
                    <a:lumOff val="25000"/>
                  </a:schemeClr>
                </a:solidFill>
              </a:rPr>
              <a:t>&gt; import os</a:t>
            </a:r>
          </a:p>
          <a:p>
            <a:pPr algn="l">
              <a:lnSpc>
                <a:spcPct val="150000"/>
              </a:lnSpc>
              <a:buClrTx/>
              <a:buSzTx/>
              <a:buNone/>
            </a:pPr>
            <a:r>
              <a:rPr lang="zh-CN" altLang="zh-CN" sz="1600" dirty="0">
                <a:solidFill>
                  <a:schemeClr val="tx1">
                    <a:lumMod val="75000"/>
                    <a:lumOff val="25000"/>
                  </a:schemeClr>
                </a:solidFill>
              </a:rPr>
              <a:t>&gt; os.chdir(r'D:\python\PythonEXample')</a:t>
            </a:r>
          </a:p>
          <a:p>
            <a:pPr algn="l">
              <a:lnSpc>
                <a:spcPct val="150000"/>
              </a:lnSpc>
              <a:buClrTx/>
              <a:buSzTx/>
              <a:buNone/>
            </a:pPr>
            <a:r>
              <a:rPr lang="zh-CN" altLang="zh-CN" sz="1600" dirty="0">
                <a:solidFill>
                  <a:schemeClr val="tx1">
                    <a:lumMod val="75000"/>
                    <a:lumOff val="25000"/>
                  </a:schemeClr>
                </a:solidFill>
              </a:rPr>
              <a:t>&gt; with open('tese.txt', 'w', encoding='utf-8') as f:</a:t>
            </a:r>
          </a:p>
          <a:p>
            <a:pPr algn="l">
              <a:lnSpc>
                <a:spcPct val="150000"/>
              </a:lnSpc>
              <a:buClrTx/>
              <a:buSzTx/>
              <a:buNone/>
            </a:pPr>
            <a:r>
              <a:rPr lang="zh-CN" altLang="zh-CN" sz="1600" dirty="0">
                <a:solidFill>
                  <a:schemeClr val="tx1">
                    <a:lumMod val="75000"/>
                    <a:lumOff val="25000"/>
                  </a:schemeClr>
                </a:solidFill>
              </a:rPr>
              <a:t>          f.write("Hello\n")</a:t>
            </a:r>
          </a:p>
          <a:p>
            <a:pPr algn="l">
              <a:lnSpc>
                <a:spcPct val="150000"/>
              </a:lnSpc>
              <a:buClrTx/>
              <a:buSzTx/>
              <a:buNone/>
            </a:pPr>
            <a:r>
              <a:rPr lang="zh-CN" altLang="zh-CN" sz="1600" dirty="0">
                <a:solidFill>
                  <a:schemeClr val="tx1">
                    <a:lumMod val="75000"/>
                    <a:lumOff val="25000"/>
                  </a:schemeClr>
                </a:solidFill>
              </a:rPr>
              <a:t>          f.write("Python !")</a:t>
            </a:r>
          </a:p>
          <a:p>
            <a:pPr algn="l">
              <a:lnSpc>
                <a:spcPct val="150000"/>
              </a:lnSpc>
              <a:buClrTx/>
              <a:buSzTx/>
              <a:buNone/>
            </a:pPr>
            <a:r>
              <a:rPr lang="zh-CN" altLang="zh-CN" sz="1600" dirty="0">
                <a:solidFill>
                  <a:schemeClr val="tx1">
                    <a:lumMod val="75000"/>
                    <a:lumOff val="25000"/>
                  </a:schemeClr>
                </a:solidFill>
              </a:rPr>
              <a:t>【拓展】generator生成器</a:t>
            </a:r>
          </a:p>
          <a:p>
            <a:pPr algn="l">
              <a:lnSpc>
                <a:spcPct val="150000"/>
              </a:lnSpc>
              <a:buClrTx/>
              <a:buSzTx/>
              <a:buNone/>
            </a:pPr>
            <a:r>
              <a:rPr lang="zh-CN" altLang="zh-CN" sz="1600" dirty="0">
                <a:solidFill>
                  <a:schemeClr val="tx1">
                    <a:lumMod val="75000"/>
                    <a:lumOff val="25000"/>
                  </a:schemeClr>
                </a:solidFill>
              </a:rPr>
              <a:t>通过列表推导式，我们可以直接创建一个列表。但是，受到内存限制，列表容量肯定是有限的。</a:t>
            </a:r>
          </a:p>
          <a:p>
            <a:pPr algn="l">
              <a:lnSpc>
                <a:spcPct val="150000"/>
              </a:lnSpc>
              <a:buClrTx/>
              <a:buSzTx/>
              <a:buNone/>
            </a:pPr>
            <a:r>
              <a:rPr lang="zh-CN" altLang="zh-CN" sz="1600" dirty="0">
                <a:solidFill>
                  <a:schemeClr val="tx1">
                    <a:lumMod val="75000"/>
                    <a:lumOff val="25000"/>
                  </a:schemeClr>
                </a:solidFill>
              </a:rPr>
              <a:t>如果列表元素可以按照某种算法推算出来，那就可以在循环的过程中不断推算出后续的元素，这样就不必创建完整的list，从而节省大量的空间。在Python中，这种一边循环一边计算的机制，称为</a:t>
            </a:r>
            <a:r>
              <a:rPr lang="zh-CN" altLang="zh-CN" sz="1600" b="1" dirty="0">
                <a:solidFill>
                  <a:schemeClr val="tx1">
                    <a:lumMod val="75000"/>
                    <a:lumOff val="25000"/>
                  </a:schemeClr>
                </a:solidFill>
              </a:rPr>
              <a:t>生成器</a:t>
            </a:r>
            <a:r>
              <a:rPr lang="zh-CN" altLang="zh-CN" sz="1600" dirty="0">
                <a:solidFill>
                  <a:schemeClr val="tx1">
                    <a:lumMod val="75000"/>
                    <a:lumOff val="25000"/>
                  </a:schemeClr>
                </a:solidFill>
              </a:rPr>
              <a:t>（Generator）。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5" name="矩形 4"/>
          <p:cNvSpPr/>
          <p:nvPr/>
        </p:nvSpPr>
        <p:spPr>
          <a:xfrm>
            <a:off x="1041882" y="2108492"/>
            <a:ext cx="10531211" cy="4524315"/>
          </a:xfrm>
          <a:prstGeom prst="rect">
            <a:avLst/>
          </a:prstGeom>
        </p:spPr>
        <p:txBody>
          <a:bodyPr wrap="square">
            <a:spAutoFit/>
          </a:bodyPr>
          <a:lstStyle/>
          <a:p>
            <a:pPr>
              <a:lnSpc>
                <a:spcPct val="120000"/>
              </a:lnSpc>
            </a:pPr>
            <a:r>
              <a:rPr lang="zh-CN" altLang="zh-CN" sz="1600" b="1" dirty="0">
                <a:solidFill>
                  <a:schemeClr val="tx1">
                    <a:lumMod val="75000"/>
                    <a:lumOff val="25000"/>
                  </a:schemeClr>
                </a:solidFill>
              </a:rPr>
              <a:t>1. 创建生成器generator</a:t>
            </a: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只要把一个列表生成式的[]改成()，就创建了一个生成器generator。</a:t>
            </a:r>
          </a:p>
          <a:p>
            <a:pPr>
              <a:lnSpc>
                <a:spcPct val="120000"/>
              </a:lnSpc>
            </a:pPr>
            <a:r>
              <a:rPr lang="zh-CN" altLang="zh-CN" sz="1600" dirty="0">
                <a:solidFill>
                  <a:schemeClr val="tx1">
                    <a:lumMod val="75000"/>
                    <a:lumOff val="25000"/>
                  </a:schemeClr>
                </a:solidFill>
              </a:rPr>
              <a:t>&gt; ls = [x*x for x in range(10)]</a:t>
            </a:r>
          </a:p>
          <a:p>
            <a:pPr>
              <a:lnSpc>
                <a:spcPct val="120000"/>
              </a:lnSpc>
            </a:pPr>
            <a:r>
              <a:rPr lang="zh-CN" altLang="zh-CN" sz="1600" dirty="0">
                <a:solidFill>
                  <a:schemeClr val="tx1">
                    <a:lumMod val="75000"/>
                    <a:lumOff val="25000"/>
                  </a:schemeClr>
                </a:solidFill>
              </a:rPr>
              <a:t>&gt; ls</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gen = (x*x for x in range(10))</a:t>
            </a:r>
          </a:p>
          <a:p>
            <a:pPr>
              <a:lnSpc>
                <a:spcPct val="120000"/>
              </a:lnSpc>
            </a:pPr>
            <a:r>
              <a:rPr lang="zh-CN" altLang="zh-CN" sz="1600" dirty="0">
                <a:solidFill>
                  <a:schemeClr val="tx1">
                    <a:lumMod val="75000"/>
                    <a:lumOff val="25000"/>
                  </a:schemeClr>
                </a:solidFill>
              </a:rPr>
              <a:t>&gt; gen</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type(gen)</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说明：只需要把创建列表推导式的中括号[]改成小括号()即得到了generator，但注意，不是把创建列表的[]改成()，那样得到的是一个元组。所以，要区分清楚列表的创建和列表推导式的创建是不同的，虽然最后的结果都是一个list。</a:t>
            </a:r>
          </a:p>
        </p:txBody>
      </p:sp>
      <p:pic>
        <p:nvPicPr>
          <p:cNvPr id="7" name="图片 6"/>
          <p:cNvPicPr/>
          <p:nvPr/>
        </p:nvPicPr>
        <p:blipFill>
          <a:blip r:embed="rId2" cstate="print"/>
          <a:srcRect/>
          <a:stretch>
            <a:fillRect/>
          </a:stretch>
        </p:blipFill>
        <p:spPr bwMode="auto">
          <a:xfrm>
            <a:off x="1185440" y="3425632"/>
            <a:ext cx="5050664" cy="411844"/>
          </a:xfrm>
          <a:prstGeom prst="rect">
            <a:avLst/>
          </a:prstGeom>
          <a:noFill/>
          <a:ln w="9525">
            <a:noFill/>
            <a:miter lim="800000"/>
            <a:headEnd/>
            <a:tailEnd/>
          </a:ln>
        </p:spPr>
      </p:pic>
      <p:pic>
        <p:nvPicPr>
          <p:cNvPr id="8" name="图片 7"/>
          <p:cNvPicPr/>
          <p:nvPr/>
        </p:nvPicPr>
        <p:blipFill>
          <a:blip r:embed="rId3" cstate="print"/>
          <a:srcRect/>
          <a:stretch>
            <a:fillRect/>
          </a:stretch>
        </p:blipFill>
        <p:spPr bwMode="auto">
          <a:xfrm>
            <a:off x="1185440" y="4605821"/>
            <a:ext cx="7313851" cy="360546"/>
          </a:xfrm>
          <a:prstGeom prst="rect">
            <a:avLst/>
          </a:prstGeom>
          <a:noFill/>
          <a:ln w="9525">
            <a:noFill/>
            <a:miter lim="800000"/>
            <a:headEnd/>
            <a:tailEnd/>
          </a:ln>
        </p:spPr>
      </p:pic>
      <p:pic>
        <p:nvPicPr>
          <p:cNvPr id="9" name="图片 8"/>
          <p:cNvPicPr/>
          <p:nvPr/>
        </p:nvPicPr>
        <p:blipFill>
          <a:blip r:embed="rId4" cstate="print"/>
          <a:srcRect/>
          <a:stretch>
            <a:fillRect/>
          </a:stretch>
        </p:blipFill>
        <p:spPr bwMode="auto">
          <a:xfrm>
            <a:off x="1185440" y="5384171"/>
            <a:ext cx="3215391" cy="33657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10" name="矩形 9"/>
          <p:cNvSpPr/>
          <p:nvPr/>
        </p:nvSpPr>
        <p:spPr>
          <a:xfrm>
            <a:off x="1090744" y="2230648"/>
            <a:ext cx="10263056" cy="1938992"/>
          </a:xfrm>
          <a:prstGeom prst="rect">
            <a:avLst/>
          </a:prstGeom>
        </p:spPr>
        <p:txBody>
          <a:bodyPr wrap="square">
            <a:spAutoFit/>
          </a:bodyPr>
          <a:lstStyle/>
          <a:p>
            <a:pPr>
              <a:lnSpc>
                <a:spcPct val="150000"/>
              </a:lnSpc>
            </a:pPr>
            <a:r>
              <a:rPr lang="zh-CN" altLang="zh-CN" sz="1600" b="1" dirty="0">
                <a:solidFill>
                  <a:schemeClr val="tx1">
                    <a:lumMod val="75000"/>
                    <a:lumOff val="25000"/>
                  </a:schemeClr>
                </a:solidFill>
              </a:rPr>
              <a:t>2. 获取generator的每个元素</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可以通过调用全局函数next()来获得generator的每个元素，直到计算到最后一个元素，若此时再次使用next()试图来获取元素值的时候，系统会抛出StopIteration异常。</a:t>
            </a:r>
          </a:p>
          <a:p>
            <a:pPr>
              <a:lnSpc>
                <a:spcPct val="150000"/>
              </a:lnSpc>
            </a:pPr>
            <a:r>
              <a:rPr lang="zh-CN" altLang="zh-CN" sz="1600" dirty="0">
                <a:solidFill>
                  <a:schemeClr val="tx1">
                    <a:lumMod val="75000"/>
                    <a:lumOff val="25000"/>
                  </a:schemeClr>
                </a:solidFill>
              </a:rPr>
              <a:t>StopIteration 异常用于标识迭代的完成，防止出现无限循环的情况。</a:t>
            </a:r>
          </a:p>
          <a:p>
            <a:pPr>
              <a:lnSpc>
                <a:spcPct val="150000"/>
              </a:lnSpc>
            </a:pPr>
            <a:r>
              <a:rPr lang="zh-CN" altLang="zh-CN" sz="1600" dirty="0">
                <a:solidFill>
                  <a:schemeClr val="tx1">
                    <a:lumMod val="75000"/>
                    <a:lumOff val="25000"/>
                  </a:schemeClr>
                </a:solidFill>
              </a:rPr>
              <a:t>注意：一旦生成器的值用完了，再次调用next()就会出现错误，所以，只能使用每个生成器一次。</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5" name="矩形 4"/>
          <p:cNvSpPr/>
          <p:nvPr/>
        </p:nvSpPr>
        <p:spPr>
          <a:xfrm>
            <a:off x="1003191" y="2174817"/>
            <a:ext cx="10189065" cy="4810760"/>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请仔细理解下面的每步操作。</a:t>
            </a:r>
          </a:p>
          <a:p>
            <a:pPr>
              <a:lnSpc>
                <a:spcPct val="120000"/>
              </a:lnSpc>
            </a:pPr>
            <a:r>
              <a:rPr lang="en-US" altLang="zh-CN" sz="1600" dirty="0">
                <a:solidFill>
                  <a:schemeClr val="tx1">
                    <a:lumMod val="75000"/>
                    <a:lumOff val="25000"/>
                  </a:schemeClr>
                </a:solidFill>
              </a:rPr>
              <a:t>&gt; ls = [1,2,3]</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gen = (x*x for x in ls)</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next(gen)</a:t>
            </a:r>
          </a:p>
          <a:p>
            <a:pPr>
              <a:lnSpc>
                <a:spcPct val="120000"/>
              </a:lnSpc>
            </a:pP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next(gen)</a:t>
            </a:r>
          </a:p>
          <a:p>
            <a:pPr>
              <a:lnSpc>
                <a:spcPct val="120000"/>
              </a:lnSpc>
            </a:pP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next(gen)</a:t>
            </a:r>
            <a:endParaRPr lang="zh-CN" altLang="zh-CN" sz="1600" dirty="0">
              <a:solidFill>
                <a:schemeClr val="tx1">
                  <a:lumMod val="75000"/>
                  <a:lumOff val="25000"/>
                </a:schemeClr>
              </a:solidFill>
            </a:endParaRPr>
          </a:p>
          <a:p>
            <a:pPr>
              <a:lnSpc>
                <a:spcPct val="120000"/>
              </a:lnSpc>
            </a:pP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next(gen)</a:t>
            </a:r>
          </a:p>
          <a:p>
            <a:pPr>
              <a:lnSpc>
                <a:spcPct val="120000"/>
              </a:lnSpc>
            </a:pPr>
            <a:endParaRPr lang="en-US" altLang="zh-CN" sz="1600" dirty="0">
              <a:solidFill>
                <a:schemeClr val="tx1">
                  <a:lumMod val="75000"/>
                  <a:lumOff val="25000"/>
                </a:schemeClr>
              </a:solidFill>
            </a:endParaRPr>
          </a:p>
          <a:p>
            <a:pPr>
              <a:lnSpc>
                <a:spcPct val="120000"/>
              </a:lnSpc>
            </a:pPr>
            <a:endParaRPr lang="en-US" altLang="zh-CN" sz="1600" dirty="0">
              <a:solidFill>
                <a:schemeClr val="tx1">
                  <a:lumMod val="75000"/>
                  <a:lumOff val="25000"/>
                </a:schemeClr>
              </a:solidFill>
            </a:endParaRPr>
          </a:p>
          <a:p>
            <a:pPr>
              <a:lnSpc>
                <a:spcPct val="120000"/>
              </a:lnSpc>
            </a:pPr>
            <a:endParaRPr lang="en-US" altLang="zh-CN" sz="1600" dirty="0">
              <a:solidFill>
                <a:schemeClr val="tx1">
                  <a:lumMod val="75000"/>
                  <a:lumOff val="25000"/>
                </a:schemeClr>
              </a:solidFill>
            </a:endParaRPr>
          </a:p>
          <a:p>
            <a:pPr>
              <a:lnSpc>
                <a:spcPct val="120000"/>
              </a:lnSpc>
            </a:pPr>
            <a:endParaRPr lang="en-US"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更多</a:t>
            </a:r>
            <a:r>
              <a:rPr lang="en-US" altLang="zh-CN" sz="1600" dirty="0">
                <a:solidFill>
                  <a:schemeClr val="tx1">
                    <a:lumMod val="75000"/>
                    <a:lumOff val="25000"/>
                  </a:schemeClr>
                </a:solidFill>
              </a:rPr>
              <a:t>next()</a:t>
            </a:r>
            <a:r>
              <a:rPr lang="zh-CN" altLang="zh-CN" sz="1600" dirty="0">
                <a:solidFill>
                  <a:schemeClr val="tx1">
                    <a:lumMod val="75000"/>
                    <a:lumOff val="25000"/>
                  </a:schemeClr>
                </a:solidFill>
              </a:rPr>
              <a:t>函数的使用方法可以通过</a:t>
            </a:r>
            <a:r>
              <a:rPr lang="en-US" altLang="zh-CN" sz="1600" dirty="0">
                <a:solidFill>
                  <a:schemeClr val="tx1">
                    <a:lumMod val="75000"/>
                    <a:lumOff val="25000"/>
                  </a:schemeClr>
                </a:solidFill>
              </a:rPr>
              <a:t>help(next)</a:t>
            </a:r>
            <a:r>
              <a:rPr lang="zh-CN" altLang="zh-CN" sz="1600" dirty="0">
                <a:solidFill>
                  <a:schemeClr val="tx1">
                    <a:lumMod val="75000"/>
                    <a:lumOff val="25000"/>
                  </a:schemeClr>
                </a:solidFill>
              </a:rPr>
              <a:t>来了解。</a:t>
            </a:r>
          </a:p>
          <a:p>
            <a:pPr>
              <a:lnSpc>
                <a:spcPct val="120000"/>
              </a:lnSpc>
            </a:pPr>
            <a:r>
              <a:rPr lang="en-US" altLang="zh-CN" sz="1600" dirty="0">
                <a:solidFill>
                  <a:schemeClr val="tx1">
                    <a:lumMod val="75000"/>
                    <a:lumOff val="25000"/>
                  </a:schemeClr>
                </a:solidFill>
              </a:rPr>
              <a:t>&gt; help(gen)</a:t>
            </a:r>
          </a:p>
        </p:txBody>
      </p:sp>
      <p:pic>
        <p:nvPicPr>
          <p:cNvPr id="6" name="图片 5"/>
          <p:cNvPicPr/>
          <p:nvPr/>
        </p:nvPicPr>
        <p:blipFill>
          <a:blip r:embed="rId2" cstate="print"/>
          <a:srcRect/>
          <a:stretch>
            <a:fillRect/>
          </a:stretch>
        </p:blipFill>
        <p:spPr bwMode="auto">
          <a:xfrm>
            <a:off x="1114091" y="3385647"/>
            <a:ext cx="420671" cy="360000"/>
          </a:xfrm>
          <a:prstGeom prst="rect">
            <a:avLst/>
          </a:prstGeom>
          <a:noFill/>
          <a:ln w="9525">
            <a:noFill/>
            <a:miter lim="800000"/>
            <a:headEnd/>
            <a:tailEnd/>
          </a:ln>
        </p:spPr>
      </p:pic>
      <p:pic>
        <p:nvPicPr>
          <p:cNvPr id="7" name="图片 6"/>
          <p:cNvPicPr/>
          <p:nvPr/>
        </p:nvPicPr>
        <p:blipFill>
          <a:blip r:embed="rId3" cstate="print"/>
          <a:srcRect/>
          <a:stretch>
            <a:fillRect/>
          </a:stretch>
        </p:blipFill>
        <p:spPr bwMode="auto">
          <a:xfrm>
            <a:off x="1114090" y="3942529"/>
            <a:ext cx="420671" cy="360000"/>
          </a:xfrm>
          <a:prstGeom prst="rect">
            <a:avLst/>
          </a:prstGeom>
          <a:noFill/>
          <a:ln w="9525">
            <a:noFill/>
            <a:miter lim="800000"/>
            <a:headEnd/>
            <a:tailEnd/>
          </a:ln>
        </p:spPr>
      </p:pic>
      <p:pic>
        <p:nvPicPr>
          <p:cNvPr id="8" name="图片 7"/>
          <p:cNvPicPr/>
          <p:nvPr/>
        </p:nvPicPr>
        <p:blipFill>
          <a:blip r:embed="rId4" cstate="print"/>
          <a:srcRect/>
          <a:stretch>
            <a:fillRect/>
          </a:stretch>
        </p:blipFill>
        <p:spPr bwMode="auto">
          <a:xfrm>
            <a:off x="1113721" y="4547361"/>
            <a:ext cx="384576" cy="360000"/>
          </a:xfrm>
          <a:prstGeom prst="rect">
            <a:avLst/>
          </a:prstGeom>
          <a:noFill/>
          <a:ln w="9525">
            <a:noFill/>
            <a:miter lim="800000"/>
            <a:headEnd/>
            <a:tailEnd/>
          </a:ln>
        </p:spPr>
      </p:pic>
      <p:pic>
        <p:nvPicPr>
          <p:cNvPr id="9" name="图片 8"/>
          <p:cNvPicPr/>
          <p:nvPr/>
        </p:nvPicPr>
        <p:blipFill>
          <a:blip r:embed="rId5" cstate="print"/>
          <a:srcRect/>
          <a:stretch>
            <a:fillRect/>
          </a:stretch>
        </p:blipFill>
        <p:spPr bwMode="auto">
          <a:xfrm>
            <a:off x="1114090" y="5162519"/>
            <a:ext cx="3052997" cy="115704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10" name="矩形 9"/>
          <p:cNvSpPr/>
          <p:nvPr/>
        </p:nvSpPr>
        <p:spPr>
          <a:xfrm>
            <a:off x="1093933" y="2155216"/>
            <a:ext cx="9988595" cy="4819781"/>
          </a:xfrm>
          <a:prstGeom prst="rect">
            <a:avLst/>
          </a:prstGeom>
        </p:spPr>
        <p:txBody>
          <a:bodyPr wrap="square">
            <a:spAutoFit/>
          </a:bodyPr>
          <a:lstStyle/>
          <a:p>
            <a:pPr>
              <a:lnSpc>
                <a:spcPct val="120000"/>
              </a:lnSpc>
            </a:pPr>
            <a:r>
              <a:rPr lang="en-US" altLang="zh-CN" sz="1600" dirty="0" err="1">
                <a:solidFill>
                  <a:schemeClr val="tx1">
                    <a:lumMod val="75000"/>
                    <a:lumOff val="25000"/>
                  </a:schemeClr>
                </a:solidFill>
              </a:rPr>
              <a:t>通过next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函数虽然可以输出generator的每个元素，但获取完最后一个元素后如果还试图执行next</a:t>
            </a:r>
            <a:r>
              <a:rPr lang="en-US" altLang="zh-CN" sz="1600" dirty="0">
                <a:solidFill>
                  <a:schemeClr val="tx1">
                    <a:lumMod val="75000"/>
                    <a:lumOff val="25000"/>
                  </a:schemeClr>
                </a:solidFill>
              </a:rPr>
              <a:t>()操作，系统会抛出StopIteration异常。所以，最好的方式是通过for-in遍历循环来输出generator的每个元素，并且这种方式系统不会抛出异常。</a:t>
            </a:r>
          </a:p>
          <a:p>
            <a:pPr>
              <a:lnSpc>
                <a:spcPct val="120000"/>
              </a:lnSpc>
            </a:pPr>
            <a:r>
              <a:rPr lang="en-US" altLang="zh-CN" sz="1600" dirty="0">
                <a:solidFill>
                  <a:schemeClr val="tx1">
                    <a:lumMod val="75000"/>
                    <a:lumOff val="25000"/>
                  </a:schemeClr>
                </a:solidFill>
              </a:rPr>
              <a:t>&gt; ls = [1,2,3]</a:t>
            </a:r>
          </a:p>
          <a:p>
            <a:pPr>
              <a:lnSpc>
                <a:spcPct val="120000"/>
              </a:lnSpc>
            </a:pPr>
            <a:r>
              <a:rPr lang="en-US" altLang="zh-CN" sz="1600" dirty="0">
                <a:solidFill>
                  <a:schemeClr val="tx1">
                    <a:lumMod val="75000"/>
                    <a:lumOff val="25000"/>
                  </a:schemeClr>
                </a:solidFill>
              </a:rPr>
              <a:t>&gt; gen = (x*x for x in ls)</a:t>
            </a:r>
          </a:p>
          <a:p>
            <a:pPr>
              <a:lnSpc>
                <a:spcPct val="120000"/>
              </a:lnSpc>
            </a:pPr>
            <a:r>
              <a:rPr lang="en-US" altLang="zh-CN" sz="1600" dirty="0">
                <a:solidFill>
                  <a:schemeClr val="tx1">
                    <a:lumMod val="75000"/>
                    <a:lumOff val="25000"/>
                  </a:schemeClr>
                </a:solidFill>
              </a:rPr>
              <a:t>&gt;for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in gen:</a:t>
            </a:r>
          </a:p>
          <a:p>
            <a:pPr>
              <a:lnSpc>
                <a:spcPct val="12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a:t>
            </a:r>
          </a:p>
          <a:p>
            <a:pPr>
              <a:lnSpc>
                <a:spcPct val="120000"/>
              </a:lnSpc>
            </a:pPr>
            <a:r>
              <a:rPr lang="en-US" altLang="zh-CN" sz="1600" dirty="0" err="1">
                <a:solidFill>
                  <a:schemeClr val="tx1">
                    <a:lumMod val="75000"/>
                    <a:lumOff val="25000"/>
                  </a:schemeClr>
                </a:solidFill>
              </a:rPr>
              <a:t>也可以用下面的方式来达成同样的目标</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import sys</a:t>
            </a:r>
          </a:p>
          <a:p>
            <a:pPr>
              <a:lnSpc>
                <a:spcPct val="120000"/>
              </a:lnSpc>
            </a:pPr>
            <a:r>
              <a:rPr lang="en-US" altLang="zh-CN" sz="1600" dirty="0">
                <a:solidFill>
                  <a:schemeClr val="tx1">
                    <a:lumMod val="75000"/>
                    <a:lumOff val="25000"/>
                  </a:schemeClr>
                </a:solidFill>
              </a:rPr>
              <a:t>ls = [1,2,3]</a:t>
            </a:r>
          </a:p>
          <a:p>
            <a:pPr>
              <a:lnSpc>
                <a:spcPct val="120000"/>
              </a:lnSpc>
            </a:pPr>
            <a:r>
              <a:rPr lang="en-US" altLang="zh-CN" sz="1600" dirty="0">
                <a:solidFill>
                  <a:schemeClr val="tx1">
                    <a:lumMod val="75000"/>
                    <a:lumOff val="25000"/>
                  </a:schemeClr>
                </a:solidFill>
              </a:rPr>
              <a:t>gen = (x*x for x in ls)</a:t>
            </a:r>
          </a:p>
          <a:p>
            <a:pPr>
              <a:lnSpc>
                <a:spcPct val="120000"/>
              </a:lnSpc>
            </a:pPr>
            <a:r>
              <a:rPr lang="en-US" altLang="zh-CN" sz="1600" dirty="0">
                <a:solidFill>
                  <a:schemeClr val="tx1">
                    <a:lumMod val="75000"/>
                    <a:lumOff val="25000"/>
                  </a:schemeClr>
                </a:solidFill>
              </a:rPr>
              <a:t>while True:</a:t>
            </a:r>
          </a:p>
          <a:p>
            <a:pPr>
              <a:lnSpc>
                <a:spcPct val="120000"/>
              </a:lnSpc>
            </a:pPr>
            <a:r>
              <a:rPr lang="en-US" altLang="zh-CN" sz="1600" dirty="0">
                <a:solidFill>
                  <a:schemeClr val="tx1">
                    <a:lumMod val="75000"/>
                    <a:lumOff val="25000"/>
                  </a:schemeClr>
                </a:solidFill>
              </a:rPr>
              <a:t>    try:</a:t>
            </a:r>
          </a:p>
          <a:p>
            <a:pPr>
              <a:lnSpc>
                <a:spcPct val="120000"/>
              </a:lnSpc>
            </a:pPr>
            <a:r>
              <a:rPr lang="en-US" altLang="zh-CN" sz="1600" dirty="0">
                <a:solidFill>
                  <a:schemeClr val="tx1">
                    <a:lumMod val="75000"/>
                    <a:lumOff val="25000"/>
                  </a:schemeClr>
                </a:solidFill>
              </a:rPr>
              <a:t>         print (next(gen), end=" ")</a:t>
            </a:r>
          </a:p>
          <a:p>
            <a:pPr>
              <a:lnSpc>
                <a:spcPct val="120000"/>
              </a:lnSpc>
            </a:pPr>
            <a:r>
              <a:rPr lang="en-US" altLang="zh-CN" sz="1600" dirty="0">
                <a:solidFill>
                  <a:schemeClr val="tx1">
                    <a:lumMod val="75000"/>
                    <a:lumOff val="25000"/>
                  </a:schemeClr>
                </a:solidFill>
              </a:rPr>
              <a:t>    except </a:t>
            </a:r>
            <a:r>
              <a:rPr lang="en-US" altLang="zh-CN" sz="1600" dirty="0" err="1">
                <a:solidFill>
                  <a:schemeClr val="tx1">
                    <a:lumMod val="75000"/>
                    <a:lumOff val="25000"/>
                  </a:schemeClr>
                </a:solidFill>
              </a:rPr>
              <a:t>StopIteration</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sys.exit</a:t>
            </a:r>
            <a:r>
              <a:rPr lang="en-US" altLang="zh-CN" sz="1600" dirty="0">
                <a:solidFill>
                  <a:schemeClr val="tx1">
                    <a:lumMod val="75000"/>
                    <a:lumOff val="25000"/>
                  </a:schemeClr>
                </a:solidFill>
              </a:rPr>
              <a:t>() </a:t>
            </a:r>
          </a:p>
        </p:txBody>
      </p:sp>
      <p:pic>
        <p:nvPicPr>
          <p:cNvPr id="11" name="图片 10"/>
          <p:cNvPicPr/>
          <p:nvPr/>
        </p:nvPicPr>
        <p:blipFill>
          <a:blip r:embed="rId3" cstate="print"/>
          <a:srcRect/>
          <a:stretch>
            <a:fillRect/>
          </a:stretch>
        </p:blipFill>
        <p:spPr bwMode="auto">
          <a:xfrm>
            <a:off x="3533185" y="3012044"/>
            <a:ext cx="547780" cy="1117221"/>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pPr>
              <a:lnSpc>
                <a:spcPct val="150000"/>
              </a:lnSpc>
            </a:pPr>
            <a:r>
              <a:rPr lang="zh-CN" altLang="en-US" dirty="0">
                <a:solidFill>
                  <a:schemeClr val="tx1">
                    <a:lumMod val="75000"/>
                    <a:lumOff val="25000"/>
                  </a:schemeClr>
                </a:solidFill>
              </a:rPr>
              <a:t>遍历目录树：</a:t>
            </a:r>
            <a:r>
              <a:rPr lang="zh-CN" altLang="zh-CN" dirty="0">
                <a:solidFill>
                  <a:schemeClr val="tx1">
                    <a:lumMod val="75000"/>
                    <a:lumOff val="25000"/>
                  </a:schemeClr>
                </a:solidFill>
              </a:rPr>
              <a:t>利用</a:t>
            </a:r>
            <a:r>
              <a:rPr lang="en-US" altLang="zh-CN" dirty="0">
                <a:solidFill>
                  <a:schemeClr val="tx1">
                    <a:lumMod val="75000"/>
                    <a:lumOff val="25000"/>
                  </a:schemeClr>
                </a:solidFill>
              </a:rPr>
              <a:t>Python</a:t>
            </a:r>
            <a:r>
              <a:rPr lang="zh-CN" altLang="zh-CN" dirty="0">
                <a:solidFill>
                  <a:schemeClr val="tx1">
                    <a:lumMod val="75000"/>
                    <a:lumOff val="25000"/>
                  </a:schemeClr>
                </a:solidFill>
              </a:rPr>
              <a:t>提供的</a:t>
            </a:r>
            <a:r>
              <a:rPr lang="en-US" altLang="zh-CN" dirty="0" err="1">
                <a:solidFill>
                  <a:schemeClr val="tx1">
                    <a:lumMod val="75000"/>
                    <a:lumOff val="25000"/>
                  </a:schemeClr>
                </a:solidFill>
              </a:rPr>
              <a:t>os</a:t>
            </a:r>
            <a:r>
              <a:rPr lang="zh-CN" altLang="zh-CN" dirty="0">
                <a:solidFill>
                  <a:schemeClr val="tx1">
                    <a:lumMod val="75000"/>
                    <a:lumOff val="25000"/>
                  </a:schemeClr>
                </a:solidFill>
              </a:rPr>
              <a:t>模块可以很方便的完成搜索文件、筛选文件以及给文件重命名</a:t>
            </a:r>
            <a:r>
              <a:rPr lang="zh-CN" altLang="en-US" dirty="0">
                <a:solidFill>
                  <a:schemeClr val="tx1">
                    <a:lumMod val="75000"/>
                    <a:lumOff val="25000"/>
                  </a:schemeClr>
                </a:solidFill>
              </a:rPr>
              <a:t>等</a:t>
            </a:r>
            <a:r>
              <a:rPr lang="zh-CN" altLang="zh-CN" dirty="0">
                <a:solidFill>
                  <a:schemeClr val="tx1">
                    <a:lumMod val="75000"/>
                    <a:lumOff val="25000"/>
                  </a:schemeClr>
                </a:solidFill>
              </a:rPr>
              <a:t>操作，由于</a:t>
            </a:r>
            <a:r>
              <a:rPr lang="en-US" altLang="zh-CN" dirty="0">
                <a:solidFill>
                  <a:schemeClr val="tx1">
                    <a:lumMod val="75000"/>
                    <a:lumOff val="25000"/>
                  </a:schemeClr>
                </a:solidFill>
              </a:rPr>
              <a:t>Python</a:t>
            </a:r>
            <a:r>
              <a:rPr lang="zh-CN" altLang="zh-CN" dirty="0">
                <a:solidFill>
                  <a:schemeClr val="tx1">
                    <a:lumMod val="75000"/>
                    <a:lumOff val="25000"/>
                  </a:schemeClr>
                </a:solidFill>
              </a:rPr>
              <a:t>语法简洁，所用到的代码非常非常少。</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4" name="矩形 3"/>
          <p:cNvSpPr/>
          <p:nvPr/>
        </p:nvSpPr>
        <p:spPr>
          <a:xfrm>
            <a:off x="838200" y="1825625"/>
            <a:ext cx="10515600" cy="2751522"/>
          </a:xfrm>
          <a:prstGeom prst="rect">
            <a:avLst/>
          </a:prstGeom>
        </p:spPr>
        <p:txBody>
          <a:bodyPr wrap="square">
            <a:spAutoFit/>
          </a:bodyPr>
          <a:lstStyle/>
          <a:p>
            <a:pPr>
              <a:lnSpc>
                <a:spcPct val="120000"/>
              </a:lnSpc>
            </a:pP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例】输出指定路径下的所有文件（不包括子文件夹下的文件</a:t>
            </a:r>
            <a:r>
              <a:rPr lang="en-US" altLang="zh-CN" sz="1600" dirty="0">
                <a:solidFill>
                  <a:schemeClr val="tx1">
                    <a:lumMod val="75000"/>
                    <a:lumOff val="25000"/>
                  </a:schemeClr>
                </a:solidFill>
              </a:rPr>
              <a:t>）。</a:t>
            </a:r>
          </a:p>
          <a:p>
            <a:pPr>
              <a:lnSpc>
                <a:spcPct val="120000"/>
              </a:lnSpc>
            </a:pPr>
            <a:r>
              <a:rPr lang="en-US" altLang="zh-CN" sz="1600" dirty="0" err="1">
                <a:solidFill>
                  <a:schemeClr val="tx1">
                    <a:lumMod val="75000"/>
                    <a:lumOff val="25000"/>
                  </a:schemeClr>
                </a:solidFill>
              </a:rPr>
              <a:t>其基本思路：先列出指定目录下所有的文件夹和文件，然后逐个判断是否为文件，是则打印输出。看下面的代码</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rootdir</a:t>
            </a:r>
            <a:r>
              <a:rPr lang="en-US" altLang="zh-CN" sz="1600" dirty="0">
                <a:solidFill>
                  <a:schemeClr val="tx1">
                    <a:lumMod val="75000"/>
                    <a:lumOff val="25000"/>
                  </a:schemeClr>
                </a:solidFill>
              </a:rPr>
              <a:t> = 'd:\</a:t>
            </a:r>
            <a:r>
              <a:rPr lang="en-US" altLang="zh-CN" sz="1600" dirty="0" err="1">
                <a:solidFill>
                  <a:schemeClr val="tx1">
                    <a:lumMod val="75000"/>
                    <a:lumOff val="25000"/>
                  </a:schemeClr>
                </a:solidFill>
              </a:rPr>
              <a:t>PythonTest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ls = </a:t>
            </a:r>
            <a:r>
              <a:rPr lang="en-US" altLang="zh-CN" sz="1600" dirty="0" err="1">
                <a:solidFill>
                  <a:schemeClr val="tx1">
                    <a:lumMod val="75000"/>
                    <a:lumOff val="25000"/>
                  </a:schemeClr>
                </a:solidFill>
              </a:rPr>
              <a:t>os.listdir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rootdir</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列出文件夹下所有的目录与文件</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in range(0,len(ls)):</a:t>
            </a:r>
          </a:p>
          <a:p>
            <a:pPr>
              <a:lnSpc>
                <a:spcPct val="120000"/>
              </a:lnSpc>
            </a:pPr>
            <a:r>
              <a:rPr lang="en-US" altLang="zh-CN" sz="1600" dirty="0">
                <a:solidFill>
                  <a:schemeClr val="tx1">
                    <a:lumMod val="75000"/>
                    <a:lumOff val="25000"/>
                  </a:schemeClr>
                </a:solidFill>
              </a:rPr>
              <a:t>     path = </a:t>
            </a:r>
            <a:r>
              <a:rPr lang="en-US" altLang="zh-CN" sz="1600" dirty="0" err="1">
                <a:solidFill>
                  <a:schemeClr val="tx1">
                    <a:lumMod val="75000"/>
                    <a:lumOff val="25000"/>
                  </a:schemeClr>
                </a:solidFill>
              </a:rPr>
              <a:t>os.path.join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rootdir</a:t>
            </a:r>
            <a:r>
              <a:rPr lang="en-US" altLang="zh-CN" sz="1600" dirty="0">
                <a:solidFill>
                  <a:schemeClr val="tx1">
                    <a:lumMod val="75000"/>
                    <a:lumOff val="25000"/>
                  </a:schemeClr>
                </a:solidFill>
              </a:rPr>
              <a:t>, ls[</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结合os.path.join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方法还原完整路径</a:t>
            </a:r>
            <a:r>
              <a:rPr lang="en-US" altLang="zh-CN" sz="1600" dirty="0">
                <a:solidFill>
                  <a:schemeClr val="tx1">
                    <a:lumMod val="75000"/>
                    <a:lumOff val="25000"/>
                  </a:schemeClr>
                </a:solidFill>
              </a:rPr>
              <a:t> </a:t>
            </a:r>
          </a:p>
          <a:p>
            <a:pPr>
              <a:lnSpc>
                <a:spcPct val="120000"/>
              </a:lnSpc>
            </a:pPr>
            <a:r>
              <a:rPr lang="en-US" altLang="zh-CN" sz="1600" dirty="0">
                <a:solidFill>
                  <a:schemeClr val="tx1">
                    <a:lumMod val="75000"/>
                    <a:lumOff val="25000"/>
                  </a:schemeClr>
                </a:solidFill>
              </a:rPr>
              <a:t>     if </a:t>
            </a:r>
            <a:r>
              <a:rPr lang="en-US" altLang="zh-CN" sz="1600" dirty="0" err="1">
                <a:solidFill>
                  <a:schemeClr val="tx1">
                    <a:lumMod val="75000"/>
                    <a:lumOff val="25000"/>
                  </a:schemeClr>
                </a:solidFill>
              </a:rPr>
              <a:t>os.path.isfile</a:t>
            </a:r>
            <a:r>
              <a:rPr lang="en-US" altLang="zh-CN" sz="1600" dirty="0">
                <a:solidFill>
                  <a:schemeClr val="tx1">
                    <a:lumMod val="75000"/>
                    <a:lumOff val="25000"/>
                  </a:schemeClr>
                </a:solidFill>
              </a:rPr>
              <a:t>(path):  #</a:t>
            </a:r>
            <a:r>
              <a:rPr lang="en-US" altLang="zh-CN" sz="1600" dirty="0" err="1">
                <a:solidFill>
                  <a:schemeClr val="tx1">
                    <a:lumMod val="75000"/>
                    <a:lumOff val="25000"/>
                  </a:schemeClr>
                </a:solidFill>
              </a:rPr>
              <a:t>只打印输出文件名</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          print(path) </a:t>
            </a:r>
          </a:p>
        </p:txBody>
      </p:sp>
      <p:pic>
        <p:nvPicPr>
          <p:cNvPr id="5" name="图片 4"/>
          <p:cNvPicPr/>
          <p:nvPr/>
        </p:nvPicPr>
        <p:blipFill>
          <a:blip r:embed="rId3" cstate="print"/>
          <a:srcRect/>
          <a:stretch>
            <a:fillRect/>
          </a:stretch>
        </p:blipFill>
        <p:spPr bwMode="auto">
          <a:xfrm>
            <a:off x="1003024" y="4577147"/>
            <a:ext cx="3150152" cy="2055101"/>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a:xfrm>
            <a:off x="838200" y="1825625"/>
            <a:ext cx="4899485" cy="4351338"/>
          </a:xfrm>
        </p:spPr>
        <p:txBody>
          <a:bodyPr/>
          <a:lstStyle/>
          <a:p>
            <a:pPr>
              <a:lnSpc>
                <a:spcPct val="150000"/>
              </a:lnSpc>
            </a:pPr>
            <a:r>
              <a:rPr lang="en-US" altLang="zh-CN" dirty="0" err="1">
                <a:solidFill>
                  <a:schemeClr val="tx1">
                    <a:lumMod val="75000"/>
                    <a:lumOff val="25000"/>
                  </a:schemeClr>
                </a:solidFill>
              </a:rPr>
              <a:t>Python的os模块包含了很多有关文件、文件夹操作的方法</a:t>
            </a:r>
            <a:endParaRPr lang="zh-CN" altLang="zh-CN" dirty="0">
              <a:solidFill>
                <a:schemeClr val="tx1">
                  <a:lumMod val="75000"/>
                  <a:lumOff val="25000"/>
                </a:schemeClr>
              </a:solidFill>
            </a:endParaRPr>
          </a:p>
        </p:txBody>
      </p:sp>
      <p:graphicFrame>
        <p:nvGraphicFramePr>
          <p:cNvPr id="8" name="表格 7"/>
          <p:cNvGraphicFramePr>
            <a:graphicFrameLocks noGrp="1"/>
          </p:cNvGraphicFramePr>
          <p:nvPr/>
        </p:nvGraphicFramePr>
        <p:xfrm>
          <a:off x="5519589" y="1825625"/>
          <a:ext cx="6015790" cy="4562790"/>
        </p:xfrm>
        <a:graphic>
          <a:graphicData uri="http://schemas.openxmlformats.org/drawingml/2006/table">
            <a:tbl>
              <a:tblPr firstRow="1" firstCol="1" bandRow="1">
                <a:tableStyleId>{5940675A-B579-460E-94D1-54222C63F5DA}</a:tableStyleId>
              </a:tblPr>
              <a:tblGrid>
                <a:gridCol w="2466340">
                  <a:extLst>
                    <a:ext uri="{9D8B030D-6E8A-4147-A177-3AD203B41FA5}">
                      <a16:colId xmlns:a16="http://schemas.microsoft.com/office/drawing/2014/main" val="20000"/>
                    </a:ext>
                  </a:extLst>
                </a:gridCol>
                <a:gridCol w="3549450">
                  <a:extLst>
                    <a:ext uri="{9D8B030D-6E8A-4147-A177-3AD203B41FA5}">
                      <a16:colId xmlns:a16="http://schemas.microsoft.com/office/drawing/2014/main" val="20001"/>
                    </a:ext>
                  </a:extLst>
                </a:gridCol>
              </a:tblGrid>
              <a:tr h="228600">
                <a:tc>
                  <a:txBody>
                    <a:bodyPr/>
                    <a:lstStyle/>
                    <a:p>
                      <a:pPr algn="ctr" defTabSz="914400">
                        <a:lnSpc>
                          <a:spcPct val="150000"/>
                        </a:lnSpc>
                        <a:buClrTx/>
                        <a:buSzTx/>
                        <a:buFontTx/>
                      </a:pPr>
                      <a:r>
                        <a:rPr lang="en-US" altLang="zh-CN" sz="1000" dirty="0">
                          <a:solidFill>
                            <a:schemeClr val="tx1">
                              <a:lumMod val="75000"/>
                              <a:lumOff val="25000"/>
                            </a:schemeClr>
                          </a:solidFill>
                        </a:rPr>
                        <a:t>方法名称</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描述</a:t>
                      </a:r>
                    </a:p>
                  </a:txBody>
                  <a:tcPr marL="68580" marR="68580" marT="0" marB="0" anchor="ctr"/>
                </a:tc>
                <a:extLst>
                  <a:ext uri="{0D108BD9-81ED-4DB2-BD59-A6C34878D82A}">
                    <a16:rowId xmlns:a16="http://schemas.microsoft.com/office/drawing/2014/main" val="10000"/>
                  </a:ext>
                </a:extLst>
              </a:tr>
              <a:tr h="174623">
                <a:tc>
                  <a:txBody>
                    <a:bodyPr/>
                    <a:lstStyle/>
                    <a:p>
                      <a:pPr algn="ctr" defTabSz="914400">
                        <a:lnSpc>
                          <a:spcPct val="150000"/>
                        </a:lnSpc>
                        <a:buClrTx/>
                        <a:buSzTx/>
                        <a:buFontTx/>
                      </a:pPr>
                      <a:r>
                        <a:rPr lang="en-US" altLang="zh-CN" sz="1000" dirty="0" err="1">
                          <a:solidFill>
                            <a:schemeClr val="tx1">
                              <a:lumMod val="75000"/>
                              <a:lumOff val="25000"/>
                            </a:schemeClr>
                          </a:solidFill>
                        </a:rPr>
                        <a:t>os.sep</a:t>
                      </a:r>
                      <a:endParaRPr lang="en-US" altLang="zh-CN" sz="1000" dirty="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返回路径的分隔符“\\”到一个字符串中</a:t>
                      </a:r>
                    </a:p>
                  </a:txBody>
                  <a:tcPr marL="68580" marR="68580" marT="0" marB="0" anchor="ctr"/>
                </a:tc>
                <a:extLst>
                  <a:ext uri="{0D108BD9-81ED-4DB2-BD59-A6C34878D82A}">
                    <a16:rowId xmlns:a16="http://schemas.microsoft.com/office/drawing/2014/main" val="10001"/>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os.listdir(path)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返回指定路径下所有的文件夹名和文件名到一个列表中</a:t>
                      </a:r>
                    </a:p>
                  </a:txBody>
                  <a:tcPr marL="68580" marR="68580" marT="0" marB="0" anchor="ctr"/>
                </a:tc>
                <a:extLst>
                  <a:ext uri="{0D108BD9-81ED-4DB2-BD59-A6C34878D82A}">
                    <a16:rowId xmlns:a16="http://schemas.microsoft.com/office/drawing/2014/main" val="10002"/>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os.walk( )</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该函数创建一个生成器对象来遍历整棵目录树</a:t>
                      </a:r>
                    </a:p>
                  </a:txBody>
                  <a:tcPr marL="68580" marR="68580" marT="0" marB="0" anchor="ctr"/>
                </a:tc>
                <a:extLst>
                  <a:ext uri="{0D108BD9-81ED-4DB2-BD59-A6C34878D82A}">
                    <a16:rowId xmlns:a16="http://schemas.microsoft.com/office/drawing/2014/main" val="10003"/>
                  </a:ext>
                </a:extLst>
              </a:tr>
              <a:tr h="193815">
                <a:tc>
                  <a:txBody>
                    <a:bodyPr/>
                    <a:lstStyle/>
                    <a:p>
                      <a:pPr algn="ctr" defTabSz="914400">
                        <a:lnSpc>
                          <a:spcPct val="150000"/>
                        </a:lnSpc>
                        <a:buClrTx/>
                        <a:buSzTx/>
                        <a:buFontTx/>
                      </a:pPr>
                      <a:r>
                        <a:rPr lang="en-US" altLang="zh-CN" sz="1000" dirty="0">
                          <a:solidFill>
                            <a:schemeClr val="tx1">
                              <a:lumMod val="75000"/>
                              <a:lumOff val="25000"/>
                            </a:schemeClr>
                          </a:solidFill>
                        </a:rPr>
                        <a:t>os.path.join(path1[, path2[, ...]])</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把目录和文件名合成一个路径</a:t>
                      </a:r>
                    </a:p>
                  </a:txBody>
                  <a:tcPr marL="68580" marR="68580" marT="0" marB="0" anchor="ctr"/>
                </a:tc>
                <a:extLst>
                  <a:ext uri="{0D108BD9-81ED-4DB2-BD59-A6C34878D82A}">
                    <a16:rowId xmlns:a16="http://schemas.microsoft.com/office/drawing/2014/main" val="10004"/>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os.path.abspath(path)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返回绝对路径</a:t>
                      </a:r>
                    </a:p>
                  </a:txBody>
                  <a:tcPr marL="68580" marR="68580" marT="0" marB="0" anchor="ctr"/>
                </a:tc>
                <a:extLst>
                  <a:ext uri="{0D108BD9-81ED-4DB2-BD59-A6C34878D82A}">
                    <a16:rowId xmlns:a16="http://schemas.microsoft.com/office/drawing/2014/main" val="10005"/>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os.path.basename(path) </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返回文件名</a:t>
                      </a:r>
                    </a:p>
                  </a:txBody>
                  <a:tcPr marL="68580" marR="68580" marT="0" marB="0" anchor="ctr"/>
                </a:tc>
                <a:extLst>
                  <a:ext uri="{0D108BD9-81ED-4DB2-BD59-A6C34878D82A}">
                    <a16:rowId xmlns:a16="http://schemas.microsoft.com/office/drawing/2014/main" val="10006"/>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os.path.dirname(path) </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返回文件路径</a:t>
                      </a:r>
                    </a:p>
                  </a:txBody>
                  <a:tcPr marL="68580" marR="68580" marT="0" marB="0" anchor="ctr"/>
                </a:tc>
                <a:extLst>
                  <a:ext uri="{0D108BD9-81ED-4DB2-BD59-A6C34878D82A}">
                    <a16:rowId xmlns:a16="http://schemas.microsoft.com/office/drawing/2014/main" val="10007"/>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os.path.exists(path)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路径存在则返回True，否则返回False</a:t>
                      </a:r>
                    </a:p>
                  </a:txBody>
                  <a:tcPr marL="68580" marR="68580" marT="0" marB="0" anchor="ctr"/>
                </a:tc>
                <a:extLst>
                  <a:ext uri="{0D108BD9-81ED-4DB2-BD59-A6C34878D82A}">
                    <a16:rowId xmlns:a16="http://schemas.microsoft.com/office/drawing/2014/main" val="10008"/>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os.path.getatime(path)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返回最后一次进入此路径path的时间</a:t>
                      </a:r>
                    </a:p>
                  </a:txBody>
                  <a:tcPr marL="68580" marR="68580" marT="0" marB="0" anchor="ctr"/>
                </a:tc>
                <a:extLst>
                  <a:ext uri="{0D108BD9-81ED-4DB2-BD59-A6C34878D82A}">
                    <a16:rowId xmlns:a16="http://schemas.microsoft.com/office/drawing/2014/main" val="10009"/>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os.path.getmtime(path)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返回在此路径path下最后一次修改的时间</a:t>
                      </a:r>
                    </a:p>
                  </a:txBody>
                  <a:tcPr marL="68580" marR="68580" marT="0" marB="0" anchor="ctr"/>
                </a:tc>
                <a:extLst>
                  <a:ext uri="{0D108BD9-81ED-4DB2-BD59-A6C34878D82A}">
                    <a16:rowId xmlns:a16="http://schemas.microsoft.com/office/drawing/2014/main" val="10010"/>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os.path.getsize(path)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返回文件大小，如果文件不存在就返回错误</a:t>
                      </a:r>
                    </a:p>
                  </a:txBody>
                  <a:tcPr marL="68580" marR="68580" marT="0" marB="0" anchor="ctr"/>
                </a:tc>
                <a:extLst>
                  <a:ext uri="{0D108BD9-81ED-4DB2-BD59-A6C34878D82A}">
                    <a16:rowId xmlns:a16="http://schemas.microsoft.com/office/drawing/2014/main" val="10011"/>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os.path.isabs(path)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判断是否为绝对路径</a:t>
                      </a:r>
                    </a:p>
                  </a:txBody>
                  <a:tcPr marL="68580" marR="68580" marT="0" marB="0" anchor="ctr"/>
                </a:tc>
                <a:extLst>
                  <a:ext uri="{0D108BD9-81ED-4DB2-BD59-A6C34878D82A}">
                    <a16:rowId xmlns:a16="http://schemas.microsoft.com/office/drawing/2014/main" val="10012"/>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os.path.isfile(path)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判断路径是否为文件</a:t>
                      </a:r>
                    </a:p>
                  </a:txBody>
                  <a:tcPr marL="68580" marR="68580" marT="0" marB="0" anchor="ctr"/>
                </a:tc>
                <a:extLst>
                  <a:ext uri="{0D108BD9-81ED-4DB2-BD59-A6C34878D82A}">
                    <a16:rowId xmlns:a16="http://schemas.microsoft.com/office/drawing/2014/main" val="10013"/>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os.path.isdir(path)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判断路径是否为目录</a:t>
                      </a:r>
                    </a:p>
                  </a:txBody>
                  <a:tcPr marL="68580" marR="68580" marT="0" marB="0" anchor="ctr"/>
                </a:tc>
                <a:extLst>
                  <a:ext uri="{0D108BD9-81ED-4DB2-BD59-A6C34878D82A}">
                    <a16:rowId xmlns:a16="http://schemas.microsoft.com/office/drawing/2014/main" val="10014"/>
                  </a:ext>
                </a:extLst>
              </a:tr>
              <a:tr h="232021">
                <a:tc>
                  <a:txBody>
                    <a:bodyPr/>
                    <a:lstStyle/>
                    <a:p>
                      <a:pPr algn="ctr" defTabSz="914400">
                        <a:lnSpc>
                          <a:spcPct val="150000"/>
                        </a:lnSpc>
                        <a:buClrTx/>
                        <a:buSzTx/>
                        <a:buFontTx/>
                      </a:pPr>
                      <a:r>
                        <a:rPr lang="en-US" altLang="zh-CN" sz="1000" dirty="0">
                          <a:solidFill>
                            <a:schemeClr val="tx1">
                              <a:lumMod val="75000"/>
                              <a:lumOff val="25000"/>
                            </a:schemeClr>
                          </a:solidFill>
                        </a:rPr>
                        <a:t>os.path.samefile(path1, path2)</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判断目录或文件是否相同</a:t>
                      </a:r>
                    </a:p>
                  </a:txBody>
                  <a:tcPr marL="68580" marR="68580" marT="0" marB="0" anchor="ctr"/>
                </a:tc>
                <a:extLst>
                  <a:ext uri="{0D108BD9-81ED-4DB2-BD59-A6C34878D82A}">
                    <a16:rowId xmlns:a16="http://schemas.microsoft.com/office/drawing/2014/main" val="10015"/>
                  </a:ext>
                </a:extLst>
              </a:tr>
              <a:tr h="277207">
                <a:tc>
                  <a:txBody>
                    <a:bodyPr/>
                    <a:lstStyle/>
                    <a:p>
                      <a:pPr algn="ctr" defTabSz="914400">
                        <a:lnSpc>
                          <a:spcPct val="150000"/>
                        </a:lnSpc>
                        <a:buClrTx/>
                        <a:buSzTx/>
                        <a:buFontTx/>
                      </a:pPr>
                      <a:r>
                        <a:rPr lang="en-US" altLang="zh-CN" sz="1000" dirty="0">
                          <a:solidFill>
                            <a:schemeClr val="tx1">
                              <a:lumMod val="75000"/>
                              <a:lumOff val="25000"/>
                            </a:schemeClr>
                          </a:solidFill>
                        </a:rPr>
                        <a:t>os.path.sameopenfile(fp1, fp2)</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判断fp1和fp2是否指向同一文件</a:t>
                      </a:r>
                    </a:p>
                  </a:txBody>
                  <a:tcPr marL="68580" marR="68580" marT="0" marB="0" anchor="ctr"/>
                </a:tc>
                <a:extLst>
                  <a:ext uri="{0D108BD9-81ED-4DB2-BD59-A6C34878D82A}">
                    <a16:rowId xmlns:a16="http://schemas.microsoft.com/office/drawing/2014/main" val="10016"/>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os.path.split(path)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把路径分割成dirname和basename，返回一个元组</a:t>
                      </a:r>
                    </a:p>
                  </a:txBody>
                  <a:tcPr marL="68580" marR="68580" marT="0" marB="0" anchor="ctr"/>
                </a:tc>
                <a:extLst>
                  <a:ext uri="{0D108BD9-81ED-4DB2-BD59-A6C34878D82A}">
                    <a16:rowId xmlns:a16="http://schemas.microsoft.com/office/drawing/2014/main" val="10017"/>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os.path.splitdrive(path)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一般用在windows下，返回驱动器名和路径组成的元组</a:t>
                      </a:r>
                    </a:p>
                  </a:txBody>
                  <a:tcPr marL="68580" marR="68580" marT="0" marB="0" anchor="ctr"/>
                </a:tc>
                <a:extLst>
                  <a:ext uri="{0D108BD9-81ED-4DB2-BD59-A6C34878D82A}">
                    <a16:rowId xmlns:a16="http://schemas.microsoft.com/office/drawing/2014/main" val="10018"/>
                  </a:ext>
                </a:extLst>
              </a:tr>
              <a:tr h="545314">
                <a:tc>
                  <a:txBody>
                    <a:bodyPr/>
                    <a:lstStyle/>
                    <a:p>
                      <a:pPr algn="ctr" defTabSz="914400">
                        <a:lnSpc>
                          <a:spcPct val="150000"/>
                        </a:lnSpc>
                        <a:buClrTx/>
                        <a:buSzTx/>
                        <a:buFontTx/>
                      </a:pPr>
                      <a:r>
                        <a:rPr lang="en-US" altLang="zh-CN" sz="1000" dirty="0">
                          <a:solidFill>
                            <a:schemeClr val="tx1">
                              <a:lumMod val="75000"/>
                              <a:lumOff val="25000"/>
                            </a:schemeClr>
                          </a:solidFill>
                        </a:rPr>
                        <a:t>os.path.splitext(path)</a:t>
                      </a:r>
                    </a:p>
                  </a:txBody>
                  <a:tcPr marL="68580" marR="68580" marT="0" marB="0" anchor="ctr"/>
                </a:tc>
                <a:tc>
                  <a:txBody>
                    <a:bodyPr/>
                    <a:lstStyle/>
                    <a:p>
                      <a:pPr algn="ctr" defTabSz="914400">
                        <a:lnSpc>
                          <a:spcPct val="150000"/>
                        </a:lnSpc>
                        <a:buClrTx/>
                        <a:buSzTx/>
                        <a:buFontTx/>
                      </a:pPr>
                      <a:r>
                        <a:rPr lang="en-US" altLang="zh-CN" sz="1000" dirty="0" err="1">
                          <a:solidFill>
                            <a:schemeClr val="tx1">
                              <a:lumMod val="75000"/>
                              <a:lumOff val="25000"/>
                            </a:schemeClr>
                          </a:solidFill>
                        </a:rPr>
                        <a:t>分割路径，返回路径名和文件扩展名的元组。如果是一个不带文件</a:t>
                      </a:r>
                      <a:r>
                        <a:rPr lang="zh-CN" altLang="en-US" sz="1000" dirty="0">
                          <a:solidFill>
                            <a:schemeClr val="tx1">
                              <a:lumMod val="75000"/>
                              <a:lumOff val="25000"/>
                            </a:schemeClr>
                          </a:solidFill>
                        </a:rPr>
                        <a:t>扩展名</a:t>
                      </a:r>
                      <a:r>
                        <a:rPr lang="en-US" altLang="zh-CN" sz="1000" dirty="0">
                          <a:solidFill>
                            <a:schemeClr val="tx1">
                              <a:lumMod val="75000"/>
                              <a:lumOff val="25000"/>
                            </a:schemeClr>
                          </a:solidFill>
                        </a:rPr>
                        <a:t>的路径，则返回的元组中的第2个元素为空串</a:t>
                      </a:r>
                    </a:p>
                  </a:txBody>
                  <a:tcPr marL="68580" marR="68580" marT="0" marB="0" anchor="ctr"/>
                </a:tc>
                <a:extLst>
                  <a:ext uri="{0D108BD9-81ED-4DB2-BD59-A6C34878D82A}">
                    <a16:rowId xmlns:a16="http://schemas.microsoft.com/office/drawing/2014/main" val="10019"/>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5" name="矩形 4"/>
          <p:cNvSpPr/>
          <p:nvPr/>
        </p:nvSpPr>
        <p:spPr>
          <a:xfrm>
            <a:off x="895299" y="1825625"/>
            <a:ext cx="10458501" cy="5015865"/>
          </a:xfrm>
          <a:prstGeom prst="rect">
            <a:avLst/>
          </a:prstGeom>
        </p:spPr>
        <p:txBody>
          <a:bodyPr wrap="square">
            <a:spAutoFit/>
          </a:bodyPr>
          <a:lstStyle/>
          <a:p>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例】有如下目录树结构，利用os.walk</a:t>
            </a:r>
            <a:r>
              <a:rPr lang="en-US" altLang="zh-CN" sz="1600" dirty="0">
                <a:solidFill>
                  <a:schemeClr val="tx1">
                    <a:lumMod val="75000"/>
                    <a:lumOff val="25000"/>
                  </a:schemeClr>
                </a:solidFill>
              </a:rPr>
              <a:t>(path)</a:t>
            </a:r>
            <a:r>
              <a:rPr lang="en-US" altLang="zh-CN" sz="1600" dirty="0" err="1">
                <a:solidFill>
                  <a:schemeClr val="tx1">
                    <a:lumMod val="75000"/>
                    <a:lumOff val="25000"/>
                  </a:schemeClr>
                </a:solidFill>
              </a:rPr>
              <a:t>列出指定目录下的所有文件夹和文件（包括子文件夹以及子文件夹下的文件</a:t>
            </a:r>
            <a:r>
              <a:rPr lang="en-US" altLang="zh-CN" sz="1600" dirty="0">
                <a:solidFill>
                  <a:schemeClr val="tx1">
                    <a:lumMod val="75000"/>
                    <a:lumOff val="25000"/>
                  </a:schemeClr>
                </a:solidFill>
              </a:rPr>
              <a:t>）。</a:t>
            </a: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r>
              <a:rPr lang="en-US" altLang="zh-CN" sz="1600" dirty="0">
                <a:solidFill>
                  <a:schemeClr val="tx1">
                    <a:lumMod val="75000"/>
                    <a:lumOff val="25000"/>
                  </a:schemeClr>
                </a:solidFill>
              </a:rPr>
              <a:t>path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PythonTest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zipfile_document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pdf_document</a:t>
            </a:r>
            <a:r>
              <a:rPr lang="en-US" altLang="zh-CN" sz="1600" dirty="0">
                <a:solidFill>
                  <a:schemeClr val="tx1">
                    <a:lumMod val="75000"/>
                    <a:lumOff val="25000"/>
                  </a:schemeClr>
                </a:solidFill>
              </a:rPr>
              <a:t>'</a:t>
            </a:r>
          </a:p>
          <a:p>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(path)  #</a:t>
            </a:r>
            <a:r>
              <a:rPr lang="en-US" altLang="zh-CN" sz="1600" dirty="0" err="1">
                <a:solidFill>
                  <a:schemeClr val="tx1">
                    <a:lumMod val="75000"/>
                    <a:lumOff val="25000"/>
                  </a:schemeClr>
                </a:solidFill>
              </a:rPr>
              <a:t>切换path为当前路径</a:t>
            </a:r>
            <a:endParaRPr lang="en-US" altLang="zh-CN" sz="1600" dirty="0">
              <a:solidFill>
                <a:schemeClr val="tx1">
                  <a:lumMod val="75000"/>
                  <a:lumOff val="25000"/>
                </a:schemeClr>
              </a:solidFill>
            </a:endParaRPr>
          </a:p>
          <a:p>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dirpath</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dirnames</a:t>
            </a:r>
            <a:r>
              <a:rPr lang="en-US" altLang="zh-CN" sz="1600" dirty="0">
                <a:solidFill>
                  <a:schemeClr val="tx1">
                    <a:lumMod val="75000"/>
                    <a:lumOff val="25000"/>
                  </a:schemeClr>
                </a:solidFill>
              </a:rPr>
              <a:t>, files in </a:t>
            </a:r>
            <a:r>
              <a:rPr lang="en-US" altLang="zh-CN" sz="1600" dirty="0" err="1">
                <a:solidFill>
                  <a:schemeClr val="tx1">
                    <a:lumMod val="75000"/>
                    <a:lumOff val="25000"/>
                  </a:schemeClr>
                </a:solidFill>
              </a:rPr>
              <a:t>os.walk</a:t>
            </a:r>
            <a:r>
              <a:rPr lang="en-US" altLang="zh-CN" sz="1600" dirty="0">
                <a:solidFill>
                  <a:schemeClr val="tx1">
                    <a:lumMod val="75000"/>
                    <a:lumOff val="25000"/>
                  </a:schemeClr>
                </a:solidFill>
              </a:rPr>
              <a:t>(path):</a:t>
            </a:r>
          </a:p>
          <a:p>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dirpath</a:t>
            </a:r>
            <a:r>
              <a:rPr lang="en-US" altLang="zh-CN" sz="1600" dirty="0">
                <a:solidFill>
                  <a:schemeClr val="tx1">
                    <a:lumMod val="75000"/>
                    <a:lumOff val="25000"/>
                  </a:schemeClr>
                </a:solidFill>
              </a:rPr>
              <a:t>) </a:t>
            </a:r>
          </a:p>
          <a:p>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dirnames</a:t>
            </a:r>
            <a:r>
              <a:rPr lang="en-US" altLang="zh-CN" sz="1600" dirty="0">
                <a:solidFill>
                  <a:schemeClr val="tx1">
                    <a:lumMod val="75000"/>
                    <a:lumOff val="25000"/>
                  </a:schemeClr>
                </a:solidFill>
              </a:rPr>
              <a:t>)</a:t>
            </a:r>
          </a:p>
          <a:p>
            <a:r>
              <a:rPr lang="en-US" altLang="zh-CN" sz="1600" dirty="0">
                <a:solidFill>
                  <a:schemeClr val="tx1">
                    <a:lumMod val="75000"/>
                    <a:lumOff val="25000"/>
                  </a:schemeClr>
                </a:solidFill>
              </a:rPr>
              <a:t>      print(files) </a:t>
            </a:r>
          </a:p>
          <a:p>
            <a:endParaRPr lang="en-US" altLang="zh-CN" sz="1600" dirty="0">
              <a:solidFill>
                <a:schemeClr val="tx1">
                  <a:lumMod val="75000"/>
                  <a:lumOff val="25000"/>
                </a:schemeClr>
              </a:solidFill>
            </a:endParaRPr>
          </a:p>
          <a:p>
            <a:r>
              <a:rPr lang="en-US" altLang="zh-CN" sz="1600" dirty="0" err="1">
                <a:solidFill>
                  <a:schemeClr val="tx1">
                    <a:lumMod val="75000"/>
                    <a:lumOff val="25000"/>
                  </a:schemeClr>
                </a:solidFill>
              </a:rPr>
              <a:t>其中代码中的dirpath</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根目录，dirnames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子目录，files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根目录下的文件</a:t>
            </a:r>
            <a:r>
              <a:rPr lang="en-US" altLang="zh-CN" sz="1600" dirty="0">
                <a:solidFill>
                  <a:schemeClr val="tx1">
                    <a:lumMod val="75000"/>
                    <a:lumOff val="25000"/>
                  </a:schemeClr>
                </a:solidFill>
              </a:rPr>
              <a:t>。</a:t>
            </a:r>
          </a:p>
          <a:p>
            <a:r>
              <a:rPr lang="en-US" altLang="zh-CN" sz="1600" dirty="0" err="1">
                <a:solidFill>
                  <a:schemeClr val="tx1">
                    <a:lumMod val="75000"/>
                    <a:lumOff val="25000"/>
                  </a:schemeClr>
                </a:solidFill>
              </a:rPr>
              <a:t>注意：os.walk</a:t>
            </a:r>
            <a:r>
              <a:rPr lang="en-US" altLang="zh-CN" sz="1600" dirty="0">
                <a:solidFill>
                  <a:schemeClr val="tx1">
                    <a:lumMod val="75000"/>
                    <a:lumOff val="25000"/>
                  </a:schemeClr>
                </a:solidFill>
              </a:rPr>
              <a:t>(path)</a:t>
            </a:r>
            <a:r>
              <a:rPr lang="en-US" altLang="zh-CN" sz="1600" dirty="0" err="1">
                <a:solidFill>
                  <a:schemeClr val="tx1">
                    <a:lumMod val="75000"/>
                    <a:lumOff val="25000"/>
                  </a:schemeClr>
                </a:solidFill>
              </a:rPr>
              <a:t>遍历的是指定目录下的整个目录树，所谓的根目录（字符串</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子目录（列表</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根目录下的文件（列表）是一层一层相对而言的</a:t>
            </a:r>
            <a:r>
              <a:rPr lang="en-US" altLang="zh-CN" sz="1600" dirty="0">
                <a:solidFill>
                  <a:schemeClr val="tx1">
                    <a:lumMod val="75000"/>
                    <a:lumOff val="25000"/>
                  </a:schemeClr>
                </a:solidFill>
              </a:rPr>
              <a:t>。</a:t>
            </a:r>
            <a:endParaRPr lang="zh-CN" altLang="zh-CN" sz="1600" dirty="0"/>
          </a:p>
        </p:txBody>
      </p:sp>
      <p:pic>
        <p:nvPicPr>
          <p:cNvPr id="6" name="图片 5"/>
          <p:cNvPicPr/>
          <p:nvPr/>
        </p:nvPicPr>
        <p:blipFill>
          <a:blip r:embed="rId2" cstate="print"/>
          <a:srcRect/>
          <a:stretch>
            <a:fillRect/>
          </a:stretch>
        </p:blipFill>
        <p:spPr bwMode="auto">
          <a:xfrm>
            <a:off x="3552069" y="2505310"/>
            <a:ext cx="2239064" cy="1783476"/>
          </a:xfrm>
          <a:prstGeom prst="rect">
            <a:avLst/>
          </a:prstGeom>
          <a:noFill/>
          <a:ln w="9525">
            <a:noFill/>
            <a:miter lim="800000"/>
            <a:headEnd/>
            <a:tailEnd/>
          </a:ln>
        </p:spPr>
      </p:pic>
      <p:pic>
        <p:nvPicPr>
          <p:cNvPr id="7" name="图片 6"/>
          <p:cNvPicPr/>
          <p:nvPr/>
        </p:nvPicPr>
        <p:blipFill>
          <a:blip r:embed="rId3" cstate="print"/>
          <a:srcRect/>
          <a:stretch>
            <a:fillRect/>
          </a:stretch>
        </p:blipFill>
        <p:spPr bwMode="auto">
          <a:xfrm>
            <a:off x="5260275" y="4582187"/>
            <a:ext cx="4134601" cy="1434244"/>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8" name="矩形 7"/>
          <p:cNvSpPr/>
          <p:nvPr/>
        </p:nvSpPr>
        <p:spPr>
          <a:xfrm>
            <a:off x="933388" y="1625600"/>
            <a:ext cx="10090618" cy="5232400"/>
          </a:xfrm>
          <a:prstGeom prst="rect">
            <a:avLst/>
          </a:prstGeom>
        </p:spPr>
        <p:txBody>
          <a:bodyPr wrap="square">
            <a:spAutoFit/>
          </a:bodyPr>
          <a:lstStyle/>
          <a:p>
            <a:pPr>
              <a:lnSpc>
                <a:spcPct val="110000"/>
              </a:lnSpc>
            </a:pP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例】将指定目录生成目录树</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10000"/>
              </a:lnSpc>
            </a:pPr>
            <a:r>
              <a:rPr lang="en-US" altLang="zh-CN" sz="1600" dirty="0" err="1">
                <a:solidFill>
                  <a:schemeClr val="tx1">
                    <a:lumMod val="75000"/>
                    <a:lumOff val="25000"/>
                  </a:schemeClr>
                </a:solidFill>
              </a:rPr>
              <a:t>def</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list_files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for root, </a:t>
            </a:r>
            <a:r>
              <a:rPr lang="en-US" altLang="zh-CN" sz="1600" dirty="0" err="1">
                <a:solidFill>
                  <a:schemeClr val="tx1">
                    <a:lumMod val="75000"/>
                    <a:lumOff val="25000"/>
                  </a:schemeClr>
                </a:solidFill>
              </a:rPr>
              <a:t>dirs</a:t>
            </a:r>
            <a:r>
              <a:rPr lang="en-US" altLang="zh-CN" sz="1600" dirty="0">
                <a:solidFill>
                  <a:schemeClr val="tx1">
                    <a:lumMod val="75000"/>
                    <a:lumOff val="25000"/>
                  </a:schemeClr>
                </a:solidFill>
              </a:rPr>
              <a:t>, files in </a:t>
            </a:r>
            <a:r>
              <a:rPr lang="en-US" altLang="zh-CN" sz="1600" dirty="0" err="1">
                <a:solidFill>
                  <a:schemeClr val="tx1">
                    <a:lumMod val="75000"/>
                    <a:lumOff val="25000"/>
                  </a:schemeClr>
                </a:solidFill>
              </a:rPr>
              <a:t>os.walk</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 </a:t>
            </a:r>
          </a:p>
          <a:p>
            <a:pPr>
              <a:lnSpc>
                <a:spcPct val="110000"/>
              </a:lnSpc>
            </a:pPr>
            <a:r>
              <a:rPr lang="en-US" altLang="zh-CN" sz="1600" dirty="0">
                <a:solidFill>
                  <a:schemeClr val="tx1">
                    <a:lumMod val="75000"/>
                    <a:lumOff val="25000"/>
                  </a:schemeClr>
                </a:solidFill>
              </a:rPr>
              <a:t>        #root</a:t>
            </a:r>
            <a:r>
              <a:rPr lang="zh-CN" altLang="en-US" sz="1600" dirty="0">
                <a:solidFill>
                  <a:schemeClr val="tx1">
                    <a:lumMod val="75000"/>
                    <a:lumOff val="25000"/>
                  </a:schemeClr>
                </a:solidFill>
              </a:rPr>
              <a:t>是字符串，</a:t>
            </a:r>
            <a:r>
              <a:rPr lang="en-US" altLang="zh-CN" sz="1600" dirty="0" err="1">
                <a:solidFill>
                  <a:schemeClr val="tx1">
                    <a:lumMod val="75000"/>
                    <a:lumOff val="25000"/>
                  </a:schemeClr>
                </a:solidFill>
              </a:rPr>
              <a:t>dirs</a:t>
            </a:r>
            <a:r>
              <a:rPr lang="zh-CN" altLang="en-US" sz="1600" dirty="0">
                <a:solidFill>
                  <a:schemeClr val="tx1">
                    <a:lumMod val="75000"/>
                    <a:lumOff val="25000"/>
                  </a:schemeClr>
                </a:solidFill>
              </a:rPr>
              <a:t>、</a:t>
            </a:r>
            <a:r>
              <a:rPr lang="en-US" altLang="zh-CN" sz="1600" dirty="0">
                <a:solidFill>
                  <a:schemeClr val="tx1">
                    <a:lumMod val="75000"/>
                    <a:lumOff val="25000"/>
                  </a:schemeClr>
                </a:solidFill>
              </a:rPr>
              <a:t>files</a:t>
            </a:r>
            <a:r>
              <a:rPr lang="zh-CN" altLang="en-US" sz="1600" dirty="0">
                <a:solidFill>
                  <a:schemeClr val="tx1">
                    <a:lumMod val="75000"/>
                    <a:lumOff val="25000"/>
                  </a:schemeClr>
                </a:solidFill>
              </a:rPr>
              <a:t>均为列表</a:t>
            </a:r>
          </a:p>
          <a:p>
            <a:pPr>
              <a:lnSpc>
                <a:spcPct val="11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level = </a:t>
            </a:r>
            <a:r>
              <a:rPr lang="en-US" altLang="zh-CN" sz="1600" dirty="0" err="1">
                <a:solidFill>
                  <a:schemeClr val="tx1">
                    <a:lumMod val="75000"/>
                    <a:lumOff val="25000"/>
                  </a:schemeClr>
                </a:solidFill>
              </a:rPr>
              <a:t>root.replace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 '').count(</a:t>
            </a:r>
            <a:r>
              <a:rPr lang="en-US" altLang="zh-CN" sz="1600" dirty="0" err="1">
                <a:solidFill>
                  <a:schemeClr val="tx1">
                    <a:lumMod val="75000"/>
                    <a:lumOff val="25000"/>
                  </a:schemeClr>
                </a:solidFill>
              </a:rPr>
              <a:t>os.sep</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os.sep</a:t>
            </a:r>
            <a:r>
              <a:rPr lang="zh-CN" altLang="en-US" sz="1600" dirty="0">
                <a:solidFill>
                  <a:schemeClr val="tx1">
                    <a:lumMod val="75000"/>
                    <a:lumOff val="25000"/>
                  </a:schemeClr>
                </a:solidFill>
              </a:rPr>
              <a:t>得到路径的分隔符“</a:t>
            </a:r>
            <a:r>
              <a:rPr lang="en-US" altLang="zh-CN" sz="1600" dirty="0">
                <a:solidFill>
                  <a:schemeClr val="tx1">
                    <a:lumMod val="75000"/>
                    <a:lumOff val="25000"/>
                  </a:schemeClr>
                </a:solidFill>
              </a:rPr>
              <a:t>\\”,level</a:t>
            </a:r>
            <a:r>
              <a:rPr lang="zh-CN" altLang="en-US" sz="1600" dirty="0">
                <a:solidFill>
                  <a:schemeClr val="tx1">
                    <a:lumMod val="75000"/>
                    <a:lumOff val="25000"/>
                  </a:schemeClr>
                </a:solidFill>
              </a:rPr>
              <a:t>表示路径中“</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的个数，即路径的深度        </a:t>
            </a:r>
          </a:p>
          <a:p>
            <a:pPr>
              <a:lnSpc>
                <a:spcPct val="11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dir_indent</a:t>
            </a:r>
            <a:r>
              <a:rPr lang="en-US" altLang="zh-CN" sz="1600" dirty="0">
                <a:solidFill>
                  <a:schemeClr val="tx1">
                    <a:lumMod val="75000"/>
                    <a:lumOff val="25000"/>
                  </a:schemeClr>
                </a:solidFill>
              </a:rPr>
              <a:t> = "|   " * (level) + "|-- "</a:t>
            </a:r>
          </a:p>
          <a:p>
            <a:pPr>
              <a:lnSpc>
                <a:spcPct val="11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file_indent</a:t>
            </a:r>
            <a:r>
              <a:rPr lang="en-US" altLang="zh-CN" sz="1600" dirty="0">
                <a:solidFill>
                  <a:schemeClr val="tx1">
                    <a:lumMod val="75000"/>
                    <a:lumOff val="25000"/>
                  </a:schemeClr>
                </a:solidFill>
              </a:rPr>
              <a:t> = "|   " * (level + 1) + "|-- " </a:t>
            </a:r>
          </a:p>
          <a:p>
            <a:pPr>
              <a:lnSpc>
                <a:spcPct val="110000"/>
              </a:lnSpc>
            </a:pPr>
            <a:r>
              <a:rPr lang="en-US" altLang="zh-CN" sz="1600" dirty="0">
                <a:solidFill>
                  <a:schemeClr val="tx1">
                    <a:lumMod val="75000"/>
                    <a:lumOff val="25000"/>
                  </a:schemeClr>
                </a:solidFill>
              </a:rPr>
              <a:t>        if not level:</a:t>
            </a:r>
          </a:p>
          <a:p>
            <a:pPr>
              <a:lnSpc>
                <a:spcPct val="110000"/>
              </a:lnSpc>
            </a:pPr>
            <a:r>
              <a:rPr lang="en-US" altLang="zh-CN" sz="1600" dirty="0">
                <a:solidFill>
                  <a:schemeClr val="tx1">
                    <a:lumMod val="75000"/>
                    <a:lumOff val="25000"/>
                  </a:schemeClr>
                </a:solidFill>
              </a:rPr>
              <a:t>             print('{}'.format(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[0])) #</a:t>
            </a:r>
            <a:r>
              <a:rPr lang="zh-CN" altLang="en-US" sz="1600" dirty="0">
                <a:solidFill>
                  <a:schemeClr val="tx1">
                    <a:lumMod val="75000"/>
                    <a:lumOff val="25000"/>
                  </a:schemeClr>
                </a:solidFill>
              </a:rPr>
              <a:t>输出盘符</a:t>
            </a:r>
          </a:p>
          <a:p>
            <a:pPr>
              <a:lnSpc>
                <a:spcPct val="11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print('|--{}'.format(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[3:]))  #</a:t>
            </a:r>
            <a:r>
              <a:rPr lang="zh-CN" altLang="en-US" sz="1600" dirty="0">
                <a:solidFill>
                  <a:schemeClr val="tx1">
                    <a:lumMod val="75000"/>
                    <a:lumOff val="25000"/>
                  </a:schemeClr>
                </a:solidFill>
              </a:rPr>
              <a:t>输出目录名</a:t>
            </a:r>
          </a:p>
          <a:p>
            <a:pPr>
              <a:lnSpc>
                <a:spcPct val="11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else:  </a:t>
            </a:r>
          </a:p>
          <a:p>
            <a:pPr>
              <a:lnSpc>
                <a:spcPct val="110000"/>
              </a:lnSpc>
            </a:pPr>
            <a:r>
              <a:rPr lang="en-US" altLang="zh-CN" sz="1600" dirty="0">
                <a:solidFill>
                  <a:schemeClr val="tx1">
                    <a:lumMod val="75000"/>
                    <a:lumOff val="25000"/>
                  </a:schemeClr>
                </a:solidFill>
              </a:rPr>
              <a:t>             print('{}{}'.format(</a:t>
            </a:r>
            <a:r>
              <a:rPr lang="en-US" altLang="zh-CN" sz="1600" dirty="0" err="1">
                <a:solidFill>
                  <a:schemeClr val="tx1">
                    <a:lumMod val="75000"/>
                    <a:lumOff val="25000"/>
                  </a:schemeClr>
                </a:solidFill>
              </a:rPr>
              <a:t>dir_indent</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os.path.basename</a:t>
            </a:r>
            <a:r>
              <a:rPr lang="en-US" altLang="zh-CN" sz="1600" dirty="0">
                <a:solidFill>
                  <a:schemeClr val="tx1">
                    <a:lumMod val="75000"/>
                    <a:lumOff val="25000"/>
                  </a:schemeClr>
                </a:solidFill>
              </a:rPr>
              <a:t>(root)))  </a:t>
            </a:r>
          </a:p>
          <a:p>
            <a:pPr>
              <a:lnSpc>
                <a:spcPct val="11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os.path.basename</a:t>
            </a:r>
            <a:r>
              <a:rPr lang="en-US" altLang="zh-CN" sz="1600" dirty="0">
                <a:solidFill>
                  <a:schemeClr val="tx1">
                    <a:lumMod val="75000"/>
                    <a:lumOff val="25000"/>
                  </a:schemeClr>
                </a:solidFill>
              </a:rPr>
              <a:t>(root)</a:t>
            </a:r>
            <a:r>
              <a:rPr lang="zh-CN" altLang="en-US" sz="1600" dirty="0">
                <a:solidFill>
                  <a:schemeClr val="tx1">
                    <a:lumMod val="75000"/>
                    <a:lumOff val="25000"/>
                  </a:schemeClr>
                </a:solidFill>
              </a:rPr>
              <a:t>得到路径</a:t>
            </a:r>
            <a:r>
              <a:rPr lang="en-US" altLang="zh-CN" sz="1600" dirty="0">
                <a:solidFill>
                  <a:schemeClr val="tx1">
                    <a:lumMod val="75000"/>
                    <a:lumOff val="25000"/>
                  </a:schemeClr>
                </a:solidFill>
              </a:rPr>
              <a:t>root</a:t>
            </a:r>
            <a:r>
              <a:rPr lang="zh-CN" altLang="en-US" sz="1600" dirty="0">
                <a:solidFill>
                  <a:schemeClr val="tx1">
                    <a:lumMod val="75000"/>
                    <a:lumOff val="25000"/>
                  </a:schemeClr>
                </a:solidFill>
              </a:rPr>
              <a:t>的最后一个名字 </a:t>
            </a:r>
          </a:p>
          <a:p>
            <a:pPr>
              <a:lnSpc>
                <a:spcPct val="11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for f in files: </a:t>
            </a:r>
          </a:p>
          <a:p>
            <a:pPr>
              <a:lnSpc>
                <a:spcPct val="110000"/>
              </a:lnSpc>
            </a:pPr>
            <a:r>
              <a:rPr lang="en-US" altLang="zh-CN" sz="1600" dirty="0">
                <a:solidFill>
                  <a:schemeClr val="tx1">
                    <a:lumMod val="75000"/>
                    <a:lumOff val="25000"/>
                  </a:schemeClr>
                </a:solidFill>
              </a:rPr>
              <a:t>            print('{}{}'.format(</a:t>
            </a:r>
            <a:r>
              <a:rPr lang="en-US" altLang="zh-CN" sz="1600" dirty="0" err="1">
                <a:solidFill>
                  <a:schemeClr val="tx1">
                    <a:lumMod val="75000"/>
                    <a:lumOff val="25000"/>
                  </a:schemeClr>
                </a:solidFill>
              </a:rPr>
              <a:t>file_indent</a:t>
            </a:r>
            <a:r>
              <a:rPr lang="en-US" altLang="zh-CN" sz="1600" dirty="0">
                <a:solidFill>
                  <a:schemeClr val="tx1">
                    <a:lumMod val="75000"/>
                    <a:lumOff val="25000"/>
                  </a:schemeClr>
                </a:solidFill>
              </a:rPr>
              <a:t>, f))</a:t>
            </a:r>
          </a:p>
          <a:p>
            <a:pPr>
              <a:lnSpc>
                <a:spcPct val="110000"/>
              </a:lnSpc>
            </a:pP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 = 'D:\</a:t>
            </a:r>
            <a:r>
              <a:rPr lang="en-US" altLang="zh-CN" sz="1600" dirty="0" err="1">
                <a:solidFill>
                  <a:schemeClr val="tx1">
                    <a:lumMod val="75000"/>
                    <a:lumOff val="25000"/>
                  </a:schemeClr>
                </a:solidFill>
              </a:rPr>
              <a:t>PythonTest</a:t>
            </a:r>
            <a:r>
              <a:rPr lang="en-US" altLang="zh-CN" sz="1600" dirty="0">
                <a:solidFill>
                  <a:schemeClr val="tx1">
                    <a:lumMod val="75000"/>
                    <a:lumOff val="25000"/>
                  </a:schemeClr>
                </a:solidFill>
              </a:rPr>
              <a:t>'</a:t>
            </a:r>
          </a:p>
          <a:p>
            <a:pPr>
              <a:lnSpc>
                <a:spcPct val="110000"/>
              </a:lnSpc>
            </a:pPr>
            <a:r>
              <a:rPr lang="en-US" altLang="zh-CN" sz="1600" dirty="0" err="1">
                <a:solidFill>
                  <a:schemeClr val="tx1">
                    <a:lumMod val="75000"/>
                    <a:lumOff val="25000"/>
                  </a:schemeClr>
                </a:solidFill>
              </a:rPr>
              <a:t>list_files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 </a:t>
            </a:r>
          </a:p>
        </p:txBody>
      </p:sp>
      <p:pic>
        <p:nvPicPr>
          <p:cNvPr id="5" name="图片 4"/>
          <p:cNvPicPr/>
          <p:nvPr/>
        </p:nvPicPr>
        <p:blipFill>
          <a:blip r:embed="rId2" cstate="print"/>
          <a:srcRect/>
          <a:stretch>
            <a:fillRect/>
          </a:stretch>
        </p:blipFill>
        <p:spPr bwMode="auto">
          <a:xfrm>
            <a:off x="8199838" y="2542177"/>
            <a:ext cx="3153962" cy="4161207"/>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7" name="矩形 6"/>
          <p:cNvSpPr/>
          <p:nvPr/>
        </p:nvSpPr>
        <p:spPr>
          <a:xfrm>
            <a:off x="940370" y="1825625"/>
            <a:ext cx="10090951" cy="329184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【例】输出指定路径下的文件以及所有子文件夹下的文件。</a:t>
            </a:r>
          </a:p>
          <a:p>
            <a:pPr>
              <a:lnSpc>
                <a:spcPct val="150000"/>
              </a:lnSpc>
            </a:pPr>
            <a:r>
              <a:rPr lang="zh-CN" altLang="zh-CN" sz="1600" dirty="0">
                <a:solidFill>
                  <a:schemeClr val="tx1">
                    <a:lumMod val="75000"/>
                    <a:lumOff val="25000"/>
                  </a:schemeClr>
                </a:solidFill>
              </a:rPr>
              <a:t>import os</a:t>
            </a:r>
          </a:p>
          <a:p>
            <a:pPr>
              <a:lnSpc>
                <a:spcPct val="150000"/>
              </a:lnSpc>
            </a:pPr>
            <a:r>
              <a:rPr lang="zh-CN" altLang="zh-CN" sz="1600" dirty="0">
                <a:solidFill>
                  <a:schemeClr val="tx1">
                    <a:lumMod val="75000"/>
                    <a:lumOff val="25000"/>
                  </a:schemeClr>
                </a:solidFill>
              </a:rPr>
              <a:t>root = input("请输入要操作的目录（绝对路径）：")</a:t>
            </a:r>
          </a:p>
          <a:p>
            <a:pPr>
              <a:lnSpc>
                <a:spcPct val="150000"/>
              </a:lnSpc>
            </a:pPr>
            <a:r>
              <a:rPr lang="zh-CN" altLang="zh-CN" sz="1600" dirty="0">
                <a:solidFill>
                  <a:schemeClr val="tx1">
                    <a:lumMod val="75000"/>
                    <a:lumOff val="25000"/>
                  </a:schemeClr>
                </a:solidFill>
              </a:rPr>
              <a:t>g = os.walk(root)</a:t>
            </a:r>
          </a:p>
          <a:p>
            <a:pPr>
              <a:lnSpc>
                <a:spcPct val="150000"/>
              </a:lnSpc>
            </a:pPr>
            <a:r>
              <a:rPr lang="zh-CN" altLang="zh-CN" sz="1600" dirty="0">
                <a:solidFill>
                  <a:schemeClr val="tx1">
                    <a:lumMod val="75000"/>
                    <a:lumOff val="25000"/>
                  </a:schemeClr>
                </a:solidFill>
              </a:rPr>
              <a:t>for path, dirs, filenames in g:</a:t>
            </a:r>
          </a:p>
          <a:p>
            <a:pPr>
              <a:lnSpc>
                <a:spcPct val="150000"/>
              </a:lnSpc>
            </a:pPr>
            <a:r>
              <a:rPr lang="zh-CN" altLang="zh-CN" sz="1600" dirty="0">
                <a:solidFill>
                  <a:schemeClr val="tx1">
                    <a:lumMod val="75000"/>
                    <a:lumOff val="25000"/>
                  </a:schemeClr>
                </a:solidFill>
              </a:rPr>
              <a:t>      for filename in filenames: </a:t>
            </a:r>
          </a:p>
          <a:p>
            <a:pPr>
              <a:lnSpc>
                <a:spcPct val="150000"/>
              </a:lnSpc>
            </a:pPr>
            <a:r>
              <a:rPr lang="zh-CN" altLang="zh-CN" sz="1600" dirty="0">
                <a:solidFill>
                  <a:schemeClr val="tx1">
                    <a:lumMod val="75000"/>
                    <a:lumOff val="25000"/>
                  </a:schemeClr>
                </a:solidFill>
              </a:rPr>
              <a:t>            print(os.path.join(path, filename)) </a:t>
            </a:r>
          </a:p>
          <a:p>
            <a:pPr>
              <a:lnSpc>
                <a:spcPct val="150000"/>
              </a:lnSpc>
            </a:pPr>
            <a:r>
              <a:rPr lang="zh-CN" altLang="zh-CN" sz="1600" dirty="0">
                <a:solidFill>
                  <a:schemeClr val="tx1">
                    <a:lumMod val="75000"/>
                    <a:lumOff val="25000"/>
                  </a:schemeClr>
                </a:solidFill>
              </a:rPr>
              <a:t>注意：从控制台输入的必须是绝对路径！</a:t>
            </a:r>
            <a:endParaRPr lang="zh-CN" altLang="en-US" sz="1600" dirty="0">
              <a:latin typeface="+mn-ea"/>
            </a:endParaRPr>
          </a:p>
          <a:p>
            <a:pPr indent="266700" eaLnBrk="0" fontAlgn="base" hangingPunct="0">
              <a:spcBef>
                <a:spcPct val="0"/>
              </a:spcBef>
              <a:spcAft>
                <a:spcPct val="0"/>
              </a:spcAft>
              <a:tabLst>
                <a:tab pos="2628900" algn="ctr"/>
                <a:tab pos="5292725" algn="r"/>
              </a:tabLst>
            </a:pPr>
            <a:endParaRPr lang="zh-CN" altLang="en-US" sz="1600" dirty="0">
              <a:latin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5" name="矩形 4"/>
          <p:cNvSpPr/>
          <p:nvPr/>
        </p:nvSpPr>
        <p:spPr>
          <a:xfrm>
            <a:off x="948262" y="1825625"/>
            <a:ext cx="10500026" cy="4228850"/>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walk()方法语法格式如下：</a:t>
            </a:r>
          </a:p>
          <a:p>
            <a:pPr>
              <a:lnSpc>
                <a:spcPct val="120000"/>
              </a:lnSpc>
            </a:pPr>
            <a:r>
              <a:rPr lang="zh-CN" altLang="zh-CN" sz="1600" dirty="0">
                <a:solidFill>
                  <a:schemeClr val="tx1">
                    <a:lumMod val="75000"/>
                    <a:lumOff val="25000"/>
                  </a:schemeClr>
                </a:solidFill>
              </a:rPr>
              <a:t>os.walk(top[, topdown=True[, onerror=None[, followlinks=False]]])</a:t>
            </a:r>
          </a:p>
          <a:p>
            <a:pPr>
              <a:lnSpc>
                <a:spcPct val="120000"/>
              </a:lnSpc>
            </a:pPr>
            <a:r>
              <a:rPr lang="zh-CN" altLang="zh-CN" sz="1600" dirty="0">
                <a:solidFill>
                  <a:schemeClr val="tx1">
                    <a:lumMod val="75000"/>
                    <a:lumOff val="25000"/>
                  </a:schemeClr>
                </a:solidFill>
              </a:rPr>
              <a:t>各参数的含义如下：</a:t>
            </a:r>
          </a:p>
          <a:p>
            <a:pPr>
              <a:lnSpc>
                <a:spcPct val="120000"/>
              </a:lnSpc>
            </a:pPr>
            <a:r>
              <a:rPr lang="zh-CN" altLang="zh-CN" sz="1600" dirty="0">
                <a:solidFill>
                  <a:schemeClr val="tx1">
                    <a:lumMod val="75000"/>
                    <a:lumOff val="25000"/>
                  </a:schemeClr>
                </a:solidFill>
              </a:rPr>
              <a:t>top -- 指定遍历的目录, 返回的是一个三元组(root，dirs，files)，但请注意，不是说返回的是一个含三个元素的元组，返回的不是元组，而是一个generator（生成器），该生成器的每个元素是一个含三个元素的元组。</a:t>
            </a:r>
          </a:p>
          <a:p>
            <a:pPr>
              <a:lnSpc>
                <a:spcPct val="120000"/>
              </a:lnSpc>
            </a:pPr>
            <a:r>
              <a:rPr lang="zh-CN" altLang="zh-CN" sz="1600" dirty="0">
                <a:solidFill>
                  <a:schemeClr val="tx1">
                    <a:lumMod val="75000"/>
                    <a:lumOff val="25000"/>
                  </a:schemeClr>
                </a:solidFill>
              </a:rPr>
              <a:t>root --当前正在遍历的目录，是一个字符串。</a:t>
            </a:r>
          </a:p>
          <a:p>
            <a:pPr>
              <a:lnSpc>
                <a:spcPct val="120000"/>
              </a:lnSpc>
            </a:pPr>
            <a:r>
              <a:rPr lang="zh-CN" altLang="zh-CN" sz="1600" dirty="0">
                <a:solidFill>
                  <a:schemeClr val="tx1">
                    <a:lumMod val="75000"/>
                    <a:lumOff val="25000"/>
                  </a:schemeClr>
                </a:solidFill>
              </a:rPr>
              <a:t>dirs --是一个list ，指定目录下所有的文件夹名（但不包括子文件夹名）。</a:t>
            </a:r>
          </a:p>
          <a:p>
            <a:pPr>
              <a:lnSpc>
                <a:spcPct val="120000"/>
              </a:lnSpc>
            </a:pPr>
            <a:r>
              <a:rPr lang="zh-CN" altLang="zh-CN" sz="1600" dirty="0">
                <a:solidFill>
                  <a:schemeClr val="tx1">
                    <a:lumMod val="75000"/>
                    <a:lumOff val="25000"/>
                  </a:schemeClr>
                </a:solidFill>
              </a:rPr>
              <a:t>files --同样是 list , 指定目录下的所有文件名（但不包括子文件夹下的文件）。注意，这些文件名不包含路径信息，如果需要得到完整的路径信息，需要使用 os.path.join(str_dirpath, list_filenames)进行连接。</a:t>
            </a:r>
          </a:p>
          <a:p>
            <a:pPr>
              <a:lnSpc>
                <a:spcPct val="120000"/>
              </a:lnSpc>
            </a:pPr>
            <a:r>
              <a:rPr lang="zh-CN" altLang="zh-CN" sz="1600" dirty="0">
                <a:solidFill>
                  <a:schemeClr val="tx1">
                    <a:lumMod val="75000"/>
                    <a:lumOff val="25000"/>
                  </a:schemeClr>
                </a:solidFill>
              </a:rPr>
              <a:t>topdown--可选，为True，先遍历top目录，否则优先遍历top的子目录(默认为开启)。如果 topdown 参数为True，walk 会遍历top文件夹，与top文件夹中每一个子目录。</a:t>
            </a:r>
          </a:p>
          <a:p>
            <a:pPr>
              <a:lnSpc>
                <a:spcPct val="120000"/>
              </a:lnSpc>
            </a:pPr>
            <a:r>
              <a:rPr lang="zh-CN" altLang="zh-CN" sz="1600" dirty="0">
                <a:solidFill>
                  <a:schemeClr val="tx1">
                    <a:lumMod val="75000"/>
                    <a:lumOff val="25000"/>
                  </a:schemeClr>
                </a:solidFill>
              </a:rPr>
              <a:t>onerror--可选，默认值是”None”，表示忽略文件遍历时产生的错误。如果不为空，则提供一个自定义函数提示错误信息后继续遍历或抛出异常中止遍历。</a:t>
            </a:r>
          </a:p>
          <a:p>
            <a:pPr>
              <a:lnSpc>
                <a:spcPct val="120000"/>
              </a:lnSpc>
            </a:pPr>
            <a:r>
              <a:rPr lang="zh-CN" altLang="zh-CN" sz="1600" dirty="0">
                <a:solidFill>
                  <a:schemeClr val="tx1">
                    <a:lumMod val="75000"/>
                    <a:lumOff val="25000"/>
                  </a:schemeClr>
                </a:solidFill>
              </a:rPr>
              <a:t>followlinks -- 可选，如果为True，则会遍历目录下的快捷方式。</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6" name="矩形 5"/>
          <p:cNvSpPr/>
          <p:nvPr/>
        </p:nvSpPr>
        <p:spPr>
          <a:xfrm>
            <a:off x="927322" y="1880058"/>
            <a:ext cx="10082054" cy="119888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【例】测试os.walk()输出的是一个generator，并且该generator的每个元素是一个含三个元素的元组。元组的第1个元素是一个字符串，第2、3个元素都是一个list。</a:t>
            </a:r>
          </a:p>
          <a:p>
            <a:pPr>
              <a:lnSpc>
                <a:spcPct val="150000"/>
              </a:lnSpc>
            </a:pPr>
            <a:r>
              <a:rPr lang="zh-CN" altLang="zh-CN" sz="1600" dirty="0">
                <a:solidFill>
                  <a:schemeClr val="tx1">
                    <a:lumMod val="75000"/>
                    <a:lumOff val="25000"/>
                  </a:schemeClr>
                </a:solidFill>
              </a:rPr>
              <a:t>假设在本地D盘上有以下目录结构：</a:t>
            </a:r>
          </a:p>
        </p:txBody>
      </p:sp>
      <p:pic>
        <p:nvPicPr>
          <p:cNvPr id="7" name="图片 6"/>
          <p:cNvPicPr/>
          <p:nvPr/>
        </p:nvPicPr>
        <p:blipFill>
          <a:blip r:embed="rId2" cstate="print"/>
          <a:srcRect/>
          <a:stretch>
            <a:fillRect/>
          </a:stretch>
        </p:blipFill>
        <p:spPr bwMode="auto">
          <a:xfrm>
            <a:off x="3223410" y="3505366"/>
            <a:ext cx="2836879" cy="2055278"/>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8" name="矩形 7"/>
          <p:cNvSpPr/>
          <p:nvPr/>
        </p:nvSpPr>
        <p:spPr>
          <a:xfrm>
            <a:off x="912776" y="1549427"/>
            <a:ext cx="10330685" cy="5115246"/>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观察并理解以下每一条语句执行后所呈现的结果。</a:t>
            </a:r>
          </a:p>
          <a:p>
            <a:pPr>
              <a:lnSpc>
                <a:spcPct val="120000"/>
              </a:lnSpc>
            </a:pPr>
            <a:r>
              <a:rPr lang="zh-CN" altLang="zh-CN" sz="1600" dirty="0">
                <a:solidFill>
                  <a:schemeClr val="tx1">
                    <a:lumMod val="75000"/>
                    <a:lumOff val="25000"/>
                  </a:schemeClr>
                </a:solidFill>
              </a:rPr>
              <a:t>&gt;import os</a:t>
            </a:r>
          </a:p>
          <a:p>
            <a:pPr>
              <a:lnSpc>
                <a:spcPct val="120000"/>
              </a:lnSpc>
            </a:pPr>
            <a:r>
              <a:rPr lang="zh-CN" altLang="zh-CN" sz="1600" dirty="0">
                <a:solidFill>
                  <a:schemeClr val="tx1">
                    <a:lumMod val="75000"/>
                    <a:lumOff val="25000"/>
                  </a:schemeClr>
                </a:solidFill>
              </a:rPr>
              <a:t>&gt;gen = os.walk(r'D:\123')</a:t>
            </a:r>
          </a:p>
          <a:p>
            <a:pPr>
              <a:lnSpc>
                <a:spcPct val="120000"/>
              </a:lnSpc>
            </a:pPr>
            <a:r>
              <a:rPr lang="zh-CN" altLang="zh-CN" sz="1600" dirty="0">
                <a:solidFill>
                  <a:schemeClr val="tx1">
                    <a:lumMod val="75000"/>
                    <a:lumOff val="25000"/>
                  </a:schemeClr>
                </a:solidFill>
              </a:rPr>
              <a:t>&gt;type(gen)</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next(gen)</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next(gen)</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next(gen)</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next(gen) </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我们看到，通过os.walk()方法可以得到指定目录下的所有文件夹名和文件名。注意它们是分层呈现的。</a:t>
            </a:r>
            <a:endParaRPr lang="zh-CN" altLang="en-US" sz="3600" dirty="0">
              <a:latin typeface="Arial" panose="020B0604020202020204" pitchFamily="34" charset="0"/>
            </a:endParaRPr>
          </a:p>
        </p:txBody>
      </p:sp>
      <p:pic>
        <p:nvPicPr>
          <p:cNvPr id="9" name="图片 8"/>
          <p:cNvPicPr/>
          <p:nvPr/>
        </p:nvPicPr>
        <p:blipFill>
          <a:blip r:embed="rId2" cstate="print"/>
          <a:srcRect/>
          <a:stretch>
            <a:fillRect/>
          </a:stretch>
        </p:blipFill>
        <p:spPr bwMode="auto">
          <a:xfrm>
            <a:off x="1054544" y="2795417"/>
            <a:ext cx="2334344" cy="287266"/>
          </a:xfrm>
          <a:prstGeom prst="rect">
            <a:avLst/>
          </a:prstGeom>
          <a:noFill/>
          <a:ln w="9525">
            <a:noFill/>
            <a:miter lim="800000"/>
            <a:headEnd/>
            <a:tailEnd/>
          </a:ln>
        </p:spPr>
      </p:pic>
      <p:pic>
        <p:nvPicPr>
          <p:cNvPr id="10" name="图片 9"/>
          <p:cNvPicPr/>
          <p:nvPr/>
        </p:nvPicPr>
        <p:blipFill>
          <a:blip r:embed="rId3" cstate="print"/>
          <a:srcRect/>
          <a:stretch>
            <a:fillRect/>
          </a:stretch>
        </p:blipFill>
        <p:spPr bwMode="auto">
          <a:xfrm>
            <a:off x="1045020" y="3356853"/>
            <a:ext cx="3140459" cy="292184"/>
          </a:xfrm>
          <a:prstGeom prst="rect">
            <a:avLst/>
          </a:prstGeom>
          <a:noFill/>
          <a:ln w="9525">
            <a:noFill/>
            <a:miter lim="800000"/>
            <a:headEnd/>
            <a:tailEnd/>
          </a:ln>
        </p:spPr>
      </p:pic>
      <p:pic>
        <p:nvPicPr>
          <p:cNvPr id="11" name="图片 10"/>
          <p:cNvPicPr/>
          <p:nvPr/>
        </p:nvPicPr>
        <p:blipFill>
          <a:blip r:embed="rId4" cstate="print"/>
          <a:srcRect/>
          <a:stretch>
            <a:fillRect/>
          </a:stretch>
        </p:blipFill>
        <p:spPr bwMode="auto">
          <a:xfrm>
            <a:off x="1044918" y="3984073"/>
            <a:ext cx="3138021" cy="264578"/>
          </a:xfrm>
          <a:prstGeom prst="rect">
            <a:avLst/>
          </a:prstGeom>
          <a:noFill/>
          <a:ln w="9525">
            <a:noFill/>
            <a:miter lim="800000"/>
            <a:headEnd/>
            <a:tailEnd/>
          </a:ln>
        </p:spPr>
      </p:pic>
      <p:pic>
        <p:nvPicPr>
          <p:cNvPr id="12" name="图片 11"/>
          <p:cNvPicPr/>
          <p:nvPr/>
        </p:nvPicPr>
        <p:blipFill>
          <a:blip r:embed="rId5" cstate="print"/>
          <a:srcRect/>
          <a:stretch>
            <a:fillRect/>
          </a:stretch>
        </p:blipFill>
        <p:spPr bwMode="auto">
          <a:xfrm>
            <a:off x="1045040" y="4598888"/>
            <a:ext cx="3632709" cy="261823"/>
          </a:xfrm>
          <a:prstGeom prst="rect">
            <a:avLst/>
          </a:prstGeom>
          <a:noFill/>
          <a:ln w="9525">
            <a:noFill/>
            <a:miter lim="800000"/>
            <a:headEnd/>
            <a:tailEnd/>
          </a:ln>
        </p:spPr>
      </p:pic>
      <p:pic>
        <p:nvPicPr>
          <p:cNvPr id="13" name="图片 12"/>
          <p:cNvPicPr/>
          <p:nvPr/>
        </p:nvPicPr>
        <p:blipFill>
          <a:blip r:embed="rId6" cstate="print"/>
          <a:srcRect/>
          <a:stretch>
            <a:fillRect/>
          </a:stretch>
        </p:blipFill>
        <p:spPr bwMode="auto">
          <a:xfrm>
            <a:off x="1045020" y="5111339"/>
            <a:ext cx="3979429" cy="1088089"/>
          </a:xfrm>
          <a:prstGeom prst="rect">
            <a:avLst/>
          </a:prstGeom>
          <a:noFill/>
          <a:ln w="9525">
            <a:noFill/>
            <a:miter lim="800000"/>
            <a:headEnd/>
            <a:tailEnd/>
          </a:ln>
        </p:spPr>
      </p:pic>
      <p:pic>
        <p:nvPicPr>
          <p:cNvPr id="14" name="图片 13"/>
          <p:cNvPicPr/>
          <p:nvPr/>
        </p:nvPicPr>
        <p:blipFill>
          <a:blip r:embed="rId7" cstate="print"/>
          <a:srcRect/>
          <a:stretch>
            <a:fillRect/>
          </a:stretch>
        </p:blipFill>
        <p:spPr bwMode="auto">
          <a:xfrm>
            <a:off x="6440335" y="2475306"/>
            <a:ext cx="2836879" cy="2055278"/>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14" name="矩形 13"/>
          <p:cNvSpPr/>
          <p:nvPr/>
        </p:nvSpPr>
        <p:spPr>
          <a:xfrm>
            <a:off x="906382" y="1745981"/>
            <a:ext cx="10088364" cy="4892675"/>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【例】输出指定路径下包括子文件夹下的所有文件。</a:t>
            </a:r>
          </a:p>
          <a:p>
            <a:pPr>
              <a:lnSpc>
                <a:spcPct val="150000"/>
              </a:lnSpc>
            </a:pPr>
            <a:r>
              <a:rPr lang="zh-CN" altLang="zh-CN" sz="1600" dirty="0">
                <a:solidFill>
                  <a:schemeClr val="tx1">
                    <a:lumMod val="75000"/>
                    <a:lumOff val="25000"/>
                  </a:schemeClr>
                </a:solidFill>
              </a:rPr>
              <a:t>#遍历输出指定路径下所有文件的文件名，包括子目录名</a:t>
            </a:r>
          </a:p>
          <a:p>
            <a:pPr>
              <a:lnSpc>
                <a:spcPct val="150000"/>
              </a:lnSpc>
            </a:pPr>
            <a:r>
              <a:rPr lang="zh-CN" altLang="zh-CN" sz="1600" dirty="0">
                <a:solidFill>
                  <a:schemeClr val="tx1">
                    <a:lumMod val="75000"/>
                    <a:lumOff val="25000"/>
                  </a:schemeClr>
                </a:solidFill>
              </a:rPr>
              <a:t>import os</a:t>
            </a:r>
          </a:p>
          <a:p>
            <a:pPr>
              <a:lnSpc>
                <a:spcPct val="150000"/>
              </a:lnSpc>
            </a:pPr>
            <a:r>
              <a:rPr lang="zh-CN" altLang="zh-CN" sz="1600" dirty="0">
                <a:solidFill>
                  <a:schemeClr val="tx1">
                    <a:lumMod val="75000"/>
                    <a:lumOff val="25000"/>
                  </a:schemeClr>
                </a:solidFill>
              </a:rPr>
              <a:t>def traverse(rootdir): </a:t>
            </a:r>
          </a:p>
          <a:p>
            <a:pPr>
              <a:lnSpc>
                <a:spcPct val="150000"/>
              </a:lnSpc>
            </a:pPr>
            <a:r>
              <a:rPr lang="zh-CN" altLang="zh-CN" sz="1600" dirty="0">
                <a:solidFill>
                  <a:schemeClr val="tx1">
                    <a:lumMod val="75000"/>
                    <a:lumOff val="25000"/>
                  </a:schemeClr>
                </a:solidFill>
              </a:rPr>
              <a:t>      for root, dirs, files in os.walk(rootdir): </a:t>
            </a:r>
          </a:p>
          <a:p>
            <a:pPr>
              <a:lnSpc>
                <a:spcPct val="150000"/>
              </a:lnSpc>
            </a:pPr>
            <a:r>
              <a:rPr lang="zh-CN" altLang="zh-CN" sz="1600" dirty="0">
                <a:solidFill>
                  <a:schemeClr val="tx1">
                    <a:lumMod val="75000"/>
                    <a:lumOff val="25000"/>
                  </a:schemeClr>
                </a:solidFill>
              </a:rPr>
              <a:t>           for file in files:  </a:t>
            </a:r>
          </a:p>
          <a:p>
            <a:pPr>
              <a:lnSpc>
                <a:spcPct val="150000"/>
              </a:lnSpc>
            </a:pPr>
            <a:r>
              <a:rPr lang="zh-CN" altLang="zh-CN" sz="1600" dirty="0">
                <a:solidFill>
                  <a:schemeClr val="tx1">
                    <a:lumMod val="75000"/>
                    <a:lumOff val="25000"/>
                  </a:schemeClr>
                </a:solidFill>
              </a:rPr>
              <a:t>                #结合os.path.join()方法还原完整路径</a:t>
            </a:r>
          </a:p>
          <a:p>
            <a:pPr>
              <a:lnSpc>
                <a:spcPct val="150000"/>
              </a:lnSpc>
            </a:pPr>
            <a:r>
              <a:rPr lang="zh-CN" altLang="zh-CN" sz="1600" dirty="0">
                <a:solidFill>
                  <a:schemeClr val="tx1">
                    <a:lumMod val="75000"/>
                    <a:lumOff val="25000"/>
                  </a:schemeClr>
                </a:solidFill>
              </a:rPr>
              <a:t>                print(os.path.join(root, file)) </a:t>
            </a:r>
          </a:p>
          <a:p>
            <a:pPr>
              <a:lnSpc>
                <a:spcPct val="150000"/>
              </a:lnSpc>
            </a:pPr>
            <a:r>
              <a:rPr lang="zh-CN" altLang="zh-CN" sz="1600" dirty="0">
                <a:solidFill>
                  <a:schemeClr val="tx1">
                    <a:lumMod val="75000"/>
                    <a:lumOff val="25000"/>
                  </a:schemeClr>
                </a:solidFill>
              </a:rPr>
              <a:t>           for dir in dirs:  </a:t>
            </a:r>
          </a:p>
          <a:p>
            <a:pPr>
              <a:lnSpc>
                <a:spcPct val="150000"/>
              </a:lnSpc>
            </a:pPr>
            <a:r>
              <a:rPr lang="zh-CN" altLang="zh-CN" sz="1600" dirty="0">
                <a:solidFill>
                  <a:schemeClr val="tx1">
                    <a:lumMod val="75000"/>
                    <a:lumOff val="25000"/>
                  </a:schemeClr>
                </a:solidFill>
              </a:rPr>
              <a:t>                traverse(dir)</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rootdir = 'd:\PythonTest'</a:t>
            </a:r>
          </a:p>
          <a:p>
            <a:pPr>
              <a:lnSpc>
                <a:spcPct val="150000"/>
              </a:lnSpc>
            </a:pPr>
            <a:r>
              <a:rPr lang="zh-CN" altLang="zh-CN" sz="1600" dirty="0">
                <a:solidFill>
                  <a:schemeClr val="tx1">
                    <a:lumMod val="75000"/>
                    <a:lumOff val="25000"/>
                  </a:schemeClr>
                </a:solidFill>
              </a:rPr>
              <a:t>traverse(rootdir)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文件与目录操作</a:t>
            </a:r>
            <a:endParaRPr lang="en-US" altLang="zh-CN" dirty="0"/>
          </a:p>
          <a:p>
            <a:r>
              <a:rPr lang="zh-CN" altLang="en-US" dirty="0">
                <a:solidFill>
                  <a:srgbClr val="FF0000"/>
                </a:solidFill>
              </a:rPr>
              <a:t>常见文件格式处理</a:t>
            </a:r>
            <a:endParaRPr lang="en-US" altLang="zh-CN" dirty="0">
              <a:solidFill>
                <a:srgbClr val="FF0000"/>
              </a:solidFill>
            </a:endParaRPr>
          </a:p>
          <a:p>
            <a:r>
              <a:rPr lang="zh-CN" altLang="en-US" dirty="0"/>
              <a:t>异常</a:t>
            </a:r>
            <a:endParaRPr lang="en-US" altLang="zh-CN" dirty="0"/>
          </a:p>
          <a:p>
            <a:r>
              <a:rPr lang="zh-CN" altLang="en-US" dirty="0"/>
              <a:t>断言</a:t>
            </a:r>
            <a:endParaRPr lang="en-US" altLang="zh-CN" dirty="0"/>
          </a:p>
          <a:p>
            <a:r>
              <a:rPr lang="zh-CN" altLang="en-US" dirty="0"/>
              <a:t>日志</a:t>
            </a:r>
            <a:endParaRPr lang="en-US" altLang="zh-CN" dirty="0"/>
          </a:p>
          <a:p>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a:t>
            </a:r>
          </a:p>
          <a:p>
            <a:pPr>
              <a:lnSpc>
                <a:spcPct val="150000"/>
              </a:lnSpc>
            </a:pPr>
            <a:endParaRPr lang="zh-CN" altLang="zh-CN" dirty="0">
              <a:solidFill>
                <a:schemeClr val="tx1">
                  <a:lumMod val="75000"/>
                  <a:lumOff val="25000"/>
                </a:schemeClr>
              </a:solidFill>
            </a:endParaRPr>
          </a:p>
        </p:txBody>
      </p:sp>
      <p:sp>
        <p:nvSpPr>
          <p:cNvPr id="5" name="矩形 4"/>
          <p:cNvSpPr/>
          <p:nvPr/>
        </p:nvSpPr>
        <p:spPr>
          <a:xfrm>
            <a:off x="1065728" y="2432844"/>
            <a:ext cx="9994853" cy="1568450"/>
          </a:xfrm>
          <a:prstGeom prst="rect">
            <a:avLst/>
          </a:prstGeom>
        </p:spPr>
        <p:txBody>
          <a:bodyPr wrap="square">
            <a:spAutoFit/>
          </a:bodyPr>
          <a:lstStyle/>
          <a:p>
            <a:pPr algn="l">
              <a:lnSpc>
                <a:spcPct val="150000"/>
              </a:lnSpc>
              <a:buClrTx/>
              <a:buSzTx/>
              <a:buFontTx/>
            </a:pPr>
            <a:r>
              <a:rPr lang="zh-CN" altLang="zh-CN" sz="1600" dirty="0">
                <a:solidFill>
                  <a:schemeClr val="tx1">
                    <a:lumMod val="75000"/>
                    <a:lumOff val="25000"/>
                  </a:schemeClr>
                </a:solidFill>
              </a:rPr>
              <a:t>由于win32com库只对windows平台有效，而Python-docx库不依赖操作系统，具有跨平台特性，因此，这里主要介绍使用Python-docx库来处理word文件。</a:t>
            </a:r>
          </a:p>
          <a:p>
            <a:pPr algn="l">
              <a:lnSpc>
                <a:spcPct val="150000"/>
              </a:lnSpc>
              <a:buClrTx/>
              <a:buSzTx/>
              <a:buFontTx/>
            </a:pPr>
            <a:r>
              <a:rPr lang="zh-CN" altLang="zh-CN" sz="1600" dirty="0">
                <a:solidFill>
                  <a:schemeClr val="tx1">
                    <a:lumMod val="75000"/>
                    <a:lumOff val="25000"/>
                  </a:schemeClr>
                </a:solidFill>
              </a:rPr>
              <a:t>注意，在写代码时，导入的名字是“docx”而不是“Python-docx”，即：</a:t>
            </a:r>
          </a:p>
          <a:p>
            <a:pPr algn="l">
              <a:lnSpc>
                <a:spcPct val="150000"/>
              </a:lnSpc>
              <a:buClrTx/>
              <a:buSzTx/>
              <a:buFontTx/>
            </a:pPr>
            <a:r>
              <a:rPr lang="zh-CN" altLang="zh-CN" sz="1600" dirty="0">
                <a:solidFill>
                  <a:schemeClr val="tx1">
                    <a:lumMod val="75000"/>
                    <a:lumOff val="25000"/>
                  </a:schemeClr>
                </a:solidFill>
              </a:rPr>
              <a:t>&gt; import docx  # 导入Python-docx库</a:t>
            </a:r>
            <a:endParaRPr lang="zh-CN" altLang="zh-CN"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6" name="矩形 5"/>
          <p:cNvSpPr/>
          <p:nvPr/>
        </p:nvSpPr>
        <p:spPr>
          <a:xfrm>
            <a:off x="988946" y="2296805"/>
            <a:ext cx="10542265" cy="4524315"/>
          </a:xfrm>
          <a:prstGeom prst="rect">
            <a:avLst/>
          </a:prstGeom>
        </p:spPr>
        <p:txBody>
          <a:bodyPr wrap="square">
            <a:spAutoFit/>
          </a:bodyPr>
          <a:lstStyle/>
          <a:p>
            <a:pPr algn="l">
              <a:lnSpc>
                <a:spcPct val="150000"/>
              </a:lnSpc>
              <a:buClrTx/>
              <a:buSzTx/>
              <a:buNone/>
            </a:pPr>
            <a:r>
              <a:rPr lang="zh-CN" altLang="zh-CN" sz="1600" dirty="0">
                <a:solidFill>
                  <a:schemeClr val="tx1">
                    <a:lumMod val="75000"/>
                    <a:lumOff val="25000"/>
                  </a:schemeClr>
                </a:solidFill>
              </a:rPr>
              <a:t>有3种不同的类型来表示.docx文件的结构:</a:t>
            </a:r>
          </a:p>
          <a:p>
            <a:pPr algn="l">
              <a:lnSpc>
                <a:spcPct val="150000"/>
              </a:lnSpc>
              <a:buClrTx/>
              <a:buSzTx/>
              <a:buNone/>
            </a:pPr>
            <a:r>
              <a:rPr lang="zh-CN" altLang="zh-CN" sz="1600" dirty="0">
                <a:solidFill>
                  <a:schemeClr val="tx1">
                    <a:lumMod val="75000"/>
                    <a:lumOff val="25000"/>
                  </a:schemeClr>
                </a:solidFill>
              </a:rPr>
              <a:t>Document对象表示整个文档，Document对象包含一个Paragraph对象的列表；Paragraph对象表示文档中的段落信息，以回车键为准，文档中的所有段落形成一个Paragraph对象构成的列表；每个Paragraph对象包含一个Run对象的列表，即在一个段落中，根据字体不同形成一个Run对像的列表。</a:t>
            </a:r>
          </a:p>
          <a:p>
            <a:pPr algn="l">
              <a:lnSpc>
                <a:spcPct val="150000"/>
              </a:lnSpc>
              <a:buClrTx/>
              <a:buSzTx/>
              <a:buNone/>
            </a:pPr>
            <a:r>
              <a:rPr lang="zh-CN" altLang="zh-CN" sz="1600" dirty="0">
                <a:solidFill>
                  <a:schemeClr val="tx1">
                    <a:lumMod val="75000"/>
                    <a:lumOff val="25000"/>
                  </a:schemeClr>
                </a:solidFill>
              </a:rPr>
              <a:t>.docx文件里面不只是包含了文本字符串，还有字号、字体、颜色等等属性，都包含在style（样式）中。</a:t>
            </a:r>
          </a:p>
          <a:p>
            <a:pPr algn="l">
              <a:lnSpc>
                <a:spcPct val="150000"/>
              </a:lnSpc>
              <a:buClrTx/>
              <a:buSzTx/>
              <a:buNone/>
            </a:pPr>
            <a:r>
              <a:rPr lang="zh-CN" altLang="zh-CN" sz="1600" dirty="0">
                <a:solidFill>
                  <a:schemeClr val="tx1">
                    <a:lumMod val="75000"/>
                    <a:lumOff val="25000"/>
                  </a:schemeClr>
                </a:solidFill>
              </a:rPr>
              <a:t>一个Run对象就是style相同的一段文本，新建一个Run就有新的style。</a:t>
            </a:r>
          </a:p>
          <a:p>
            <a:pPr algn="l">
              <a:lnSpc>
                <a:spcPct val="150000"/>
              </a:lnSpc>
              <a:buClrTx/>
              <a:buSzTx/>
              <a:buNone/>
            </a:pPr>
            <a:r>
              <a:rPr lang="zh-CN" altLang="zh-CN" sz="1600" dirty="0">
                <a:solidFill>
                  <a:schemeClr val="tx1">
                    <a:lumMod val="75000"/>
                    <a:lumOff val="25000"/>
                  </a:schemeClr>
                </a:solidFill>
              </a:rPr>
              <a:t>&gt; import docx  # 导入Python-docx库</a:t>
            </a:r>
          </a:p>
          <a:p>
            <a:pPr algn="l">
              <a:lnSpc>
                <a:spcPct val="150000"/>
              </a:lnSpc>
              <a:buClrTx/>
              <a:buSzTx/>
              <a:buNone/>
            </a:pPr>
            <a:r>
              <a:rPr lang="zh-CN" altLang="zh-CN" sz="1600" dirty="0">
                <a:solidFill>
                  <a:schemeClr val="tx1">
                    <a:lumMod val="75000"/>
                    <a:lumOff val="25000"/>
                  </a:schemeClr>
                </a:solidFill>
              </a:rPr>
              <a:t>&gt; file= docx.Document(r'D:\PythonTest\word_document\test.docx')</a:t>
            </a:r>
          </a:p>
          <a:p>
            <a:pPr algn="l">
              <a:lnSpc>
                <a:spcPct val="150000"/>
              </a:lnSpc>
              <a:buClrTx/>
              <a:buSzTx/>
              <a:buNone/>
            </a:pPr>
            <a:r>
              <a:rPr lang="zh-CN" altLang="zh-CN" sz="1600" dirty="0">
                <a:solidFill>
                  <a:schemeClr val="tx1">
                    <a:lumMod val="75000"/>
                    <a:lumOff val="25000"/>
                  </a:schemeClr>
                </a:solidFill>
              </a:rPr>
              <a:t>&gt; print(file)</a:t>
            </a:r>
          </a:p>
          <a:p>
            <a:pPr algn="l">
              <a:lnSpc>
                <a:spcPct val="150000"/>
              </a:lnSpc>
              <a:buClrTx/>
              <a:buSzTx/>
              <a:buNone/>
            </a:pPr>
            <a:r>
              <a:rPr lang="zh-CN" altLang="zh-CN" sz="1600" dirty="0">
                <a:solidFill>
                  <a:schemeClr val="tx1">
                    <a:lumMod val="75000"/>
                    <a:lumOff val="25000"/>
                  </a:schemeClr>
                </a:solidFill>
              </a:rPr>
              <a:t>&gt; </a:t>
            </a:r>
            <a:r>
              <a:rPr lang="en-US" altLang="zh-CN" sz="1600" dirty="0">
                <a:solidFill>
                  <a:schemeClr val="tx1">
                    <a:lumMod val="75000"/>
                    <a:lumOff val="25000"/>
                  </a:schemeClr>
                </a:solidFill>
              </a:rPr>
              <a:t>print(</a:t>
            </a:r>
            <a:r>
              <a:rPr lang="zh-CN" altLang="zh-CN" sz="1600" dirty="0">
                <a:solidFill>
                  <a:schemeClr val="tx1">
                    <a:lumMod val="75000"/>
                    <a:lumOff val="25000"/>
                  </a:schemeClr>
                </a:solidFill>
              </a:rPr>
              <a:t>type(file)</a:t>
            </a:r>
            <a:r>
              <a:rPr lang="en-US" altLang="zh-CN" sz="1600" dirty="0">
                <a:solidFill>
                  <a:schemeClr val="tx1">
                    <a:lumMod val="75000"/>
                    <a:lumOff val="25000"/>
                  </a:schemeClr>
                </a:solidFill>
              </a:rPr>
              <a:t>)</a:t>
            </a:r>
            <a:endParaRPr lang="en-US" altLang="zh-CN" sz="1600" dirty="0"/>
          </a:p>
          <a:p>
            <a:endParaRPr lang="en-US" altLang="zh-CN" sz="1600" dirty="0"/>
          </a:p>
          <a:p>
            <a:endParaRPr lang="en-US" altLang="zh-CN" sz="1600" dirty="0"/>
          </a:p>
          <a:p>
            <a:endParaRPr lang="en-US" altLang="zh-CN" sz="1600" dirty="0"/>
          </a:p>
        </p:txBody>
      </p:sp>
      <p:graphicFrame>
        <p:nvGraphicFramePr>
          <p:cNvPr id="4" name="对象 3"/>
          <p:cNvGraphicFramePr>
            <a:graphicFrameLocks noChangeAspect="1"/>
          </p:cNvGraphicFramePr>
          <p:nvPr/>
        </p:nvGraphicFramePr>
        <p:xfrm>
          <a:off x="1171674" y="5970587"/>
          <a:ext cx="5161786" cy="510679"/>
        </p:xfrm>
        <a:graphic>
          <a:graphicData uri="http://schemas.openxmlformats.org/presentationml/2006/ole">
            <mc:AlternateContent xmlns:mc="http://schemas.openxmlformats.org/markup-compatibility/2006">
              <mc:Choice xmlns:v="urn:schemas-microsoft-com:vml" Requires="v">
                <p:oleObj name="BMP 图像" r:id="rId3" imgW="6257925" imgH="619125" progId="Paint.Picture">
                  <p:embed/>
                </p:oleObj>
              </mc:Choice>
              <mc:Fallback>
                <p:oleObj name="BMP 图像" r:id="rId3" imgW="6257925" imgH="619125" progId="Paint.Picture">
                  <p:embed/>
                  <p:pic>
                    <p:nvPicPr>
                      <p:cNvPr id="0" name="图片 1108"/>
                      <p:cNvPicPr/>
                      <p:nvPr/>
                    </p:nvPicPr>
                    <p:blipFill>
                      <a:blip r:embed="rId4"/>
                      <a:stretch>
                        <a:fillRect/>
                      </a:stretch>
                    </p:blipFill>
                    <p:spPr>
                      <a:xfrm>
                        <a:off x="1171674" y="5970587"/>
                        <a:ext cx="5161786" cy="510679"/>
                      </a:xfrm>
                      <a:prstGeom prst="rect">
                        <a:avLst/>
                      </a:prstGeom>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8" name="矩形 7"/>
          <p:cNvSpPr/>
          <p:nvPr/>
        </p:nvSpPr>
        <p:spPr>
          <a:xfrm>
            <a:off x="1121570" y="2460051"/>
            <a:ext cx="10121892" cy="341503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&gt; print("本文档的段落数为：" + str(len(file.paragraphs)))</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a:t>
            </a:r>
            <a:r>
              <a:rPr lang="en-US" altLang="zh-CN" sz="1600" dirty="0">
                <a:solidFill>
                  <a:schemeClr val="tx1">
                    <a:lumMod val="75000"/>
                    <a:lumOff val="25000"/>
                  </a:schemeClr>
                </a:solidFill>
              </a:rPr>
              <a:t>print(</a:t>
            </a:r>
            <a:r>
              <a:rPr lang="zh-CN" altLang="zh-CN" sz="1600" dirty="0">
                <a:solidFill>
                  <a:schemeClr val="tx1">
                    <a:lumMod val="75000"/>
                    <a:lumOff val="25000"/>
                  </a:schemeClr>
                </a:solidFill>
              </a:rPr>
              <a:t>type(file.paragraphs)</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获得每个段落里的具体内容，需要使用“Paragraph”对象的“text”属性。</a:t>
            </a:r>
          </a:p>
          <a:p>
            <a:pPr>
              <a:lnSpc>
                <a:spcPct val="150000"/>
              </a:lnSpc>
            </a:pPr>
            <a:r>
              <a:rPr lang="zh-CN" altLang="zh-CN" sz="1600" dirty="0">
                <a:solidFill>
                  <a:schemeClr val="tx1">
                    <a:lumMod val="75000"/>
                    <a:lumOff val="25000"/>
                  </a:schemeClr>
                </a:solidFill>
              </a:rPr>
              <a:t>&gt; import docx  # 导入Python-docx库</a:t>
            </a:r>
          </a:p>
          <a:p>
            <a:pPr>
              <a:lnSpc>
                <a:spcPct val="150000"/>
              </a:lnSpc>
            </a:pPr>
            <a:r>
              <a:rPr lang="zh-CN" altLang="zh-CN" sz="1600" dirty="0">
                <a:solidFill>
                  <a:schemeClr val="tx1">
                    <a:lumMod val="75000"/>
                    <a:lumOff val="25000"/>
                  </a:schemeClr>
                </a:solidFill>
              </a:rPr>
              <a:t>&gt; file= docx.Document(r'D:\PythonTest\word_document\test.docx')</a:t>
            </a:r>
          </a:p>
          <a:p>
            <a:pPr>
              <a:lnSpc>
                <a:spcPct val="150000"/>
              </a:lnSpc>
            </a:pPr>
            <a:r>
              <a:rPr lang="zh-CN" altLang="zh-CN" sz="1600" dirty="0">
                <a:solidFill>
                  <a:schemeClr val="tx1">
                    <a:lumMod val="75000"/>
                    <a:lumOff val="25000"/>
                  </a:schemeClr>
                </a:solidFill>
              </a:rPr>
              <a:t>&gt; for fp in file.paragraphs:</a:t>
            </a:r>
          </a:p>
          <a:p>
            <a:pPr>
              <a:lnSpc>
                <a:spcPct val="150000"/>
              </a:lnSpc>
            </a:pPr>
            <a:r>
              <a:rPr lang="zh-CN" altLang="zh-CN" sz="1600" dirty="0">
                <a:solidFill>
                  <a:schemeClr val="tx1">
                    <a:lumMod val="75000"/>
                    <a:lumOff val="25000"/>
                  </a:schemeClr>
                </a:solidFill>
              </a:rPr>
              <a:t>         print(fp.text)</a:t>
            </a:r>
            <a:endParaRPr lang="zh-CN" altLang="zh-CN" sz="1600" dirty="0"/>
          </a:p>
        </p:txBody>
      </p:sp>
      <p:pic>
        <p:nvPicPr>
          <p:cNvPr id="9" name="图片 8"/>
          <p:cNvPicPr/>
          <p:nvPr/>
        </p:nvPicPr>
        <p:blipFill>
          <a:blip r:embed="rId2" cstate="print"/>
          <a:srcRect/>
          <a:stretch>
            <a:fillRect/>
          </a:stretch>
        </p:blipFill>
        <p:spPr bwMode="auto">
          <a:xfrm>
            <a:off x="1331580" y="2944136"/>
            <a:ext cx="1893687" cy="377709"/>
          </a:xfrm>
          <a:prstGeom prst="rect">
            <a:avLst/>
          </a:prstGeom>
          <a:noFill/>
          <a:ln w="9525">
            <a:noFill/>
            <a:miter lim="800000"/>
            <a:headEnd/>
            <a:tailEnd/>
          </a:ln>
        </p:spPr>
      </p:pic>
      <p:pic>
        <p:nvPicPr>
          <p:cNvPr id="10" name="图片 9"/>
          <p:cNvPicPr/>
          <p:nvPr/>
        </p:nvPicPr>
        <p:blipFill>
          <a:blip r:embed="rId3" cstate="print"/>
          <a:srcRect/>
          <a:stretch>
            <a:fillRect/>
          </a:stretch>
        </p:blipFill>
        <p:spPr bwMode="auto">
          <a:xfrm>
            <a:off x="1341104" y="3649279"/>
            <a:ext cx="1893328" cy="384376"/>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7" name="矩形 6"/>
          <p:cNvSpPr/>
          <p:nvPr/>
        </p:nvSpPr>
        <p:spPr>
          <a:xfrm>
            <a:off x="961026" y="2383850"/>
            <a:ext cx="10392773" cy="341632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【例】假设有文件“d:\PythonTest\word_document\test.docx”，编程显示出每个段落的内容，要求在每个段落内容显示前输出是第几段落，此段落共计多少个字符。</a:t>
            </a:r>
          </a:p>
          <a:p>
            <a:pPr>
              <a:lnSpc>
                <a:spcPct val="15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docx</a:t>
            </a:r>
            <a:endParaRPr lang="en-US" altLang="zh-CN" sz="1600" dirty="0">
              <a:solidFill>
                <a:schemeClr val="tx1">
                  <a:lumMod val="75000"/>
                  <a:lumOff val="25000"/>
                </a:schemeClr>
              </a:solidFill>
            </a:endParaRPr>
          </a:p>
          <a:p>
            <a:pPr>
              <a:lnSpc>
                <a:spcPct val="150000"/>
              </a:lnSpc>
            </a:pPr>
            <a:r>
              <a:rPr lang="en-US" altLang="zh-CN" sz="1600" dirty="0" err="1">
                <a:solidFill>
                  <a:schemeClr val="tx1">
                    <a:lumMod val="75000"/>
                    <a:lumOff val="25000"/>
                  </a:schemeClr>
                </a:solidFill>
              </a:rPr>
              <a:t>docx_dir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:\1.docx'</a:t>
            </a:r>
          </a:p>
          <a:p>
            <a:pPr>
              <a:lnSpc>
                <a:spcPct val="150000"/>
              </a:lnSpc>
            </a:pPr>
            <a:r>
              <a:rPr lang="en-US" altLang="zh-CN" sz="1600" dirty="0">
                <a:solidFill>
                  <a:schemeClr val="tx1">
                    <a:lumMod val="75000"/>
                    <a:lumOff val="25000"/>
                  </a:schemeClr>
                </a:solidFill>
              </a:rPr>
              <a:t>file = </a:t>
            </a:r>
            <a:r>
              <a:rPr lang="en-US" altLang="zh-CN" sz="1600" dirty="0" err="1">
                <a:solidFill>
                  <a:schemeClr val="tx1">
                    <a:lumMod val="75000"/>
                    <a:lumOff val="25000"/>
                  </a:schemeClr>
                </a:solidFill>
              </a:rPr>
              <a:t>docx.Document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docx_dir</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in range(</a:t>
            </a:r>
            <a:r>
              <a:rPr lang="en-US" altLang="zh-CN" sz="1600" dirty="0" err="1">
                <a:solidFill>
                  <a:schemeClr val="tx1">
                    <a:lumMod val="75000"/>
                    <a:lumOff val="25000"/>
                  </a:schemeClr>
                </a:solidFill>
              </a:rPr>
              <a:t>len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file.paragraphs</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  #</a:t>
            </a:r>
            <a:r>
              <a:rPr lang="zh-CN" altLang="en-US" sz="1600" dirty="0">
                <a:solidFill>
                  <a:schemeClr val="tx1">
                    <a:lumMod val="75000"/>
                    <a:lumOff val="25000"/>
                  </a:schemeClr>
                </a:solidFill>
              </a:rPr>
              <a:t>输出一个空行，相当于换行显示</a:t>
            </a:r>
          </a:p>
          <a:p>
            <a:pPr>
              <a:lnSpc>
                <a:spcPct val="15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print("</a:t>
            </a:r>
            <a:r>
              <a:rPr lang="zh-CN" altLang="en-US" sz="1600" dirty="0">
                <a:solidFill>
                  <a:schemeClr val="tx1">
                    <a:lumMod val="75000"/>
                    <a:lumOff val="25000"/>
                  </a:schemeClr>
                </a:solidFill>
              </a:rPr>
              <a:t>第 </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+ 1)+" </a:t>
            </a:r>
            <a:r>
              <a:rPr lang="zh-CN" altLang="en-US" sz="1600" dirty="0">
                <a:solidFill>
                  <a:schemeClr val="tx1">
                    <a:lumMod val="75000"/>
                    <a:lumOff val="25000"/>
                  </a:schemeClr>
                </a:solidFill>
              </a:rPr>
              <a:t>段</a:t>
            </a:r>
            <a:r>
              <a:rPr lang="en-US" altLang="zh-CN" sz="1600" dirty="0">
                <a:solidFill>
                  <a:schemeClr val="tx1">
                    <a:lumMod val="75000"/>
                    <a:lumOff val="25000"/>
                  </a:schemeClr>
                </a:solidFill>
              </a:rPr>
              <a:t>"+ "</a:t>
            </a:r>
            <a:r>
              <a:rPr lang="zh-CN" altLang="en-US" sz="1600" dirty="0">
                <a:solidFill>
                  <a:schemeClr val="tx1">
                    <a:lumMod val="75000"/>
                    <a:lumOff val="25000"/>
                  </a:schemeClr>
                </a:solidFill>
              </a:rPr>
              <a:t>字数是</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len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file.paragraphs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].text), ", </a:t>
            </a:r>
            <a:r>
              <a:rPr lang="zh-CN" altLang="en-US" sz="1600" dirty="0">
                <a:solidFill>
                  <a:schemeClr val="tx1">
                    <a:lumMod val="75000"/>
                    <a:lumOff val="25000"/>
                  </a:schemeClr>
                </a:solidFill>
              </a:rPr>
              <a:t>内容是：</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file.paragraphs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].text)</a:t>
            </a:r>
            <a:endParaRPr lang="en-US" altLang="zh-CN" sz="1600" dirty="0">
              <a:latin typeface="+mn-ea"/>
            </a:endParaRPr>
          </a:p>
        </p:txBody>
      </p:sp>
      <p:pic>
        <p:nvPicPr>
          <p:cNvPr id="6" name="图片 5"/>
          <p:cNvPicPr>
            <a:picLocks noChangeAspect="1"/>
          </p:cNvPicPr>
          <p:nvPr/>
        </p:nvPicPr>
        <p:blipFill>
          <a:blip r:embed="rId2"/>
          <a:stretch>
            <a:fillRect/>
          </a:stretch>
        </p:blipFill>
        <p:spPr>
          <a:xfrm>
            <a:off x="8051024" y="4047570"/>
            <a:ext cx="3124200" cy="17526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5" name="矩形 4"/>
          <p:cNvSpPr/>
          <p:nvPr/>
        </p:nvSpPr>
        <p:spPr>
          <a:xfrm>
            <a:off x="947066" y="2352634"/>
            <a:ext cx="10281766" cy="4220845"/>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【例】我们一起来理解Run对象。</a:t>
            </a:r>
          </a:p>
          <a:p>
            <a:pPr>
              <a:lnSpc>
                <a:spcPct val="120000"/>
              </a:lnSpc>
            </a:pPr>
            <a:r>
              <a:rPr lang="zh-CN" altLang="zh-CN" sz="1600" dirty="0">
                <a:solidFill>
                  <a:schemeClr val="tx1">
                    <a:lumMod val="75000"/>
                    <a:lumOff val="25000"/>
                  </a:schemeClr>
                </a:solidFill>
              </a:rPr>
              <a:t># 理解Run对象的含义，有3个文件可用于测试：</a:t>
            </a:r>
          </a:p>
          <a:p>
            <a:pPr>
              <a:lnSpc>
                <a:spcPct val="120000"/>
              </a:lnSpc>
            </a:pPr>
            <a:r>
              <a:rPr lang="zh-CN" altLang="zh-CN" sz="1600" dirty="0">
                <a:solidFill>
                  <a:schemeClr val="tx1">
                    <a:lumMod val="75000"/>
                    <a:lumOff val="25000"/>
                  </a:schemeClr>
                </a:solidFill>
              </a:rPr>
              <a:t># Run_test_1.docx，Run_test_2.docx，Run_test_2.docx</a:t>
            </a:r>
          </a:p>
          <a:p>
            <a:pPr>
              <a:lnSpc>
                <a:spcPct val="120000"/>
              </a:lnSpc>
            </a:pPr>
            <a:r>
              <a:rPr lang="zh-CN" altLang="zh-CN" sz="1600" dirty="0">
                <a:solidFill>
                  <a:schemeClr val="tx1">
                    <a:lumMod val="75000"/>
                    <a:lumOff val="25000"/>
                  </a:schemeClr>
                </a:solidFill>
              </a:rPr>
              <a:t>import docx</a:t>
            </a:r>
          </a:p>
          <a:p>
            <a:pPr>
              <a:lnSpc>
                <a:spcPct val="120000"/>
              </a:lnSpc>
            </a:pPr>
            <a:r>
              <a:rPr lang="zh-CN" altLang="zh-CN" sz="1600" dirty="0">
                <a:solidFill>
                  <a:schemeClr val="tx1">
                    <a:lumMod val="75000"/>
                    <a:lumOff val="25000"/>
                  </a:schemeClr>
                </a:solidFill>
              </a:rPr>
              <a:t>filedir = r'd:\PythonTest\word_document\Run_test_1.docx '</a:t>
            </a:r>
          </a:p>
          <a:p>
            <a:pPr>
              <a:lnSpc>
                <a:spcPct val="120000"/>
              </a:lnSpc>
            </a:pPr>
            <a:r>
              <a:rPr lang="zh-CN" altLang="zh-CN" sz="1600" dirty="0">
                <a:solidFill>
                  <a:schemeClr val="tx1">
                    <a:lumMod val="75000"/>
                    <a:lumOff val="25000"/>
                  </a:schemeClr>
                </a:solidFill>
              </a:rPr>
              <a:t>file = docx.Document(filedir)</a:t>
            </a:r>
          </a:p>
          <a:p>
            <a:pPr>
              <a:lnSpc>
                <a:spcPct val="120000"/>
              </a:lnSpc>
            </a:pPr>
            <a:r>
              <a:rPr lang="zh-CN" altLang="zh-CN" sz="1600" dirty="0">
                <a:solidFill>
                  <a:schemeClr val="tx1">
                    <a:lumMod val="75000"/>
                    <a:lumOff val="25000"/>
                  </a:schemeClr>
                </a:solidFill>
              </a:rPr>
              <a:t>fp = file.paragraphs</a:t>
            </a:r>
          </a:p>
          <a:p>
            <a:pPr>
              <a:lnSpc>
                <a:spcPct val="120000"/>
              </a:lnSpc>
            </a:pPr>
            <a:r>
              <a:rPr lang="zh-CN" altLang="zh-CN" sz="1600" dirty="0">
                <a:solidFill>
                  <a:schemeClr val="tx1">
                    <a:lumMod val="75000"/>
                    <a:lumOff val="25000"/>
                  </a:schemeClr>
                </a:solidFill>
              </a:rPr>
              <a:t>fp_runs = fp[0].runs</a:t>
            </a:r>
          </a:p>
          <a:p>
            <a:pPr>
              <a:lnSpc>
                <a:spcPct val="120000"/>
              </a:lnSpc>
            </a:pPr>
            <a:r>
              <a:rPr lang="zh-CN" altLang="zh-CN" sz="1600" dirty="0">
                <a:solidFill>
                  <a:schemeClr val="tx1">
                    <a:lumMod val="75000"/>
                    <a:lumOff val="25000"/>
                  </a:schemeClr>
                </a:solidFill>
              </a:rPr>
              <a:t>for run in fp_runs:</a:t>
            </a:r>
          </a:p>
          <a:p>
            <a:pPr>
              <a:lnSpc>
                <a:spcPct val="120000"/>
              </a:lnSpc>
            </a:pPr>
            <a:r>
              <a:rPr lang="zh-CN" altLang="zh-CN" sz="1600" dirty="0">
                <a:solidFill>
                  <a:schemeClr val="tx1">
                    <a:lumMod val="75000"/>
                    <a:lumOff val="25000"/>
                  </a:schemeClr>
                </a:solidFill>
              </a:rPr>
              <a:t>     print() </a:t>
            </a:r>
          </a:p>
          <a:p>
            <a:pPr>
              <a:lnSpc>
                <a:spcPct val="120000"/>
              </a:lnSpc>
            </a:pPr>
            <a:r>
              <a:rPr lang="zh-CN" altLang="zh-CN" sz="1600" dirty="0">
                <a:solidFill>
                  <a:schemeClr val="tx1">
                    <a:lumMod val="75000"/>
                    <a:lumOff val="25000"/>
                  </a:schemeClr>
                </a:solidFill>
              </a:rPr>
              <a:t>     print("文本：",run.text)</a:t>
            </a:r>
          </a:p>
          <a:p>
            <a:pPr>
              <a:lnSpc>
                <a:spcPct val="120000"/>
              </a:lnSpc>
            </a:pPr>
            <a:r>
              <a:rPr lang="zh-CN" altLang="zh-CN" sz="1600" dirty="0">
                <a:solidFill>
                  <a:schemeClr val="tx1">
                    <a:lumMod val="75000"/>
                    <a:lumOff val="25000"/>
                  </a:schemeClr>
                </a:solidFill>
              </a:rPr>
              <a:t>     print("字体：",run.font.name)</a:t>
            </a:r>
          </a:p>
          <a:p>
            <a:pPr>
              <a:lnSpc>
                <a:spcPct val="120000"/>
              </a:lnSpc>
            </a:pPr>
            <a:r>
              <a:rPr lang="zh-CN" altLang="zh-CN" sz="1600" dirty="0">
                <a:solidFill>
                  <a:schemeClr val="tx1">
                    <a:lumMod val="75000"/>
                    <a:lumOff val="25000"/>
                  </a:schemeClr>
                </a:solidFill>
              </a:rPr>
              <a:t>     print("字号：",run.font.size)</a:t>
            </a:r>
          </a:p>
          <a:p>
            <a:pPr>
              <a:lnSpc>
                <a:spcPct val="120000"/>
              </a:lnSpc>
            </a:pPr>
            <a:r>
              <a:rPr lang="zh-CN" altLang="zh-CN" sz="1600" dirty="0">
                <a:solidFill>
                  <a:schemeClr val="tx1">
                    <a:lumMod val="75000"/>
                    <a:lumOff val="25000"/>
                  </a:schemeClr>
                </a:solidFill>
              </a:rPr>
              <a:t>     print("颜色：",run.font.color.rgb)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6" name="矩形 5"/>
          <p:cNvSpPr/>
          <p:nvPr/>
        </p:nvSpPr>
        <p:spPr>
          <a:xfrm>
            <a:off x="1044212" y="2304948"/>
            <a:ext cx="10060262" cy="380492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假设有如下的测试文档的“Run_test_1.docx”，然后运行以上程序，并观察输出的结果，发现每一个Run对象其实就是样式相同的一段文本，而每一个Run对象都将执行一次循环，输出对应的文本内容、字体样字号大小和字体颜色，默认字体颜色将会输出“None”。</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大家可以通过下图来理解Run对象，一个Run对象就是style相同的一段文本。</a:t>
            </a:r>
            <a:endParaRPr lang="zh-CN" altLang="zh-CN" sz="1600" dirty="0"/>
          </a:p>
          <a:p>
            <a:endParaRPr lang="zh-CN" altLang="zh-CN" sz="1600" dirty="0"/>
          </a:p>
        </p:txBody>
      </p:sp>
      <p:pic>
        <p:nvPicPr>
          <p:cNvPr id="7" name="图片 6"/>
          <p:cNvPicPr/>
          <p:nvPr/>
        </p:nvPicPr>
        <p:blipFill>
          <a:blip r:embed="rId2" cstate="print"/>
          <a:srcRect/>
          <a:stretch>
            <a:fillRect/>
          </a:stretch>
        </p:blipFill>
        <p:spPr bwMode="auto">
          <a:xfrm>
            <a:off x="3046604" y="3500753"/>
            <a:ext cx="4227918" cy="1581300"/>
          </a:xfrm>
          <a:prstGeom prst="rect">
            <a:avLst/>
          </a:prstGeom>
          <a:noFill/>
          <a:ln w="9525">
            <a:noFill/>
            <a:miter lim="800000"/>
            <a:headEnd/>
            <a:tailEnd/>
          </a:ln>
        </p:spPr>
      </p:pic>
      <p:pic>
        <p:nvPicPr>
          <p:cNvPr id="8" name="图片 7"/>
          <p:cNvPicPr/>
          <p:nvPr/>
        </p:nvPicPr>
        <p:blipFill>
          <a:blip r:embed="rId3" cstate="print"/>
          <a:srcRect/>
          <a:stretch>
            <a:fillRect/>
          </a:stretch>
        </p:blipFill>
        <p:spPr bwMode="auto">
          <a:xfrm>
            <a:off x="2653883" y="5818809"/>
            <a:ext cx="5013385" cy="882611"/>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err="1">
                <a:solidFill>
                  <a:schemeClr val="tx1">
                    <a:lumMod val="75000"/>
                    <a:lumOff val="25000"/>
                  </a:schemeClr>
                </a:solidFill>
              </a:rPr>
              <a:t>docx</a:t>
            </a:r>
            <a:r>
              <a:rPr lang="zh-CN" altLang="en-US" dirty="0">
                <a:solidFill>
                  <a:schemeClr val="tx1">
                    <a:lumMod val="75000"/>
                    <a:lumOff val="25000"/>
                  </a:schemeClr>
                </a:solidFill>
              </a:rPr>
              <a:t>创建</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endParaRPr lang="zh-CN" altLang="zh-CN" dirty="0">
              <a:solidFill>
                <a:schemeClr val="tx1">
                  <a:lumMod val="75000"/>
                  <a:lumOff val="25000"/>
                </a:schemeClr>
              </a:solidFill>
            </a:endParaRPr>
          </a:p>
        </p:txBody>
      </p:sp>
      <p:sp>
        <p:nvSpPr>
          <p:cNvPr id="9" name="矩形 8"/>
          <p:cNvSpPr/>
          <p:nvPr/>
        </p:nvSpPr>
        <p:spPr>
          <a:xfrm>
            <a:off x="891224" y="2129057"/>
            <a:ext cx="10366869" cy="4819781"/>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【例】创建word文件，用input函数输入要创建的段落数，并设置段落文字的字体、颜色、字号等。</a:t>
            </a:r>
          </a:p>
          <a:p>
            <a:pPr>
              <a:lnSpc>
                <a:spcPct val="120000"/>
              </a:lnSpc>
            </a:pPr>
            <a:r>
              <a:rPr lang="zh-CN" altLang="zh-CN" sz="1600" dirty="0">
                <a:solidFill>
                  <a:schemeClr val="tx1">
                    <a:lumMod val="75000"/>
                    <a:lumOff val="25000"/>
                  </a:schemeClr>
                </a:solidFill>
              </a:rPr>
              <a:t># 创建文档</a:t>
            </a:r>
          </a:p>
          <a:p>
            <a:pPr>
              <a:lnSpc>
                <a:spcPct val="120000"/>
              </a:lnSpc>
            </a:pPr>
            <a:r>
              <a:rPr lang="zh-CN" altLang="zh-CN" sz="1600" dirty="0">
                <a:solidFill>
                  <a:schemeClr val="tx1">
                    <a:lumMod val="75000"/>
                    <a:lumOff val="25000"/>
                  </a:schemeClr>
                </a:solidFill>
              </a:rPr>
              <a:t>from random import randint</a:t>
            </a:r>
          </a:p>
          <a:p>
            <a:pPr>
              <a:lnSpc>
                <a:spcPct val="120000"/>
              </a:lnSpc>
            </a:pPr>
            <a:r>
              <a:rPr lang="zh-CN" altLang="zh-CN" sz="1600" dirty="0">
                <a:solidFill>
                  <a:schemeClr val="tx1">
                    <a:lumMod val="75000"/>
                    <a:lumOff val="25000"/>
                  </a:schemeClr>
                </a:solidFill>
              </a:rPr>
              <a:t>from docx import Document</a:t>
            </a:r>
          </a:p>
          <a:p>
            <a:pPr>
              <a:lnSpc>
                <a:spcPct val="120000"/>
              </a:lnSpc>
            </a:pPr>
            <a:r>
              <a:rPr lang="zh-CN" altLang="zh-CN" sz="1600" dirty="0">
                <a:solidFill>
                  <a:schemeClr val="tx1">
                    <a:lumMod val="75000"/>
                    <a:lumOff val="25000"/>
                  </a:schemeClr>
                </a:solidFill>
              </a:rPr>
              <a:t>from docx.shared import RGBColor  #docx的颜色类</a:t>
            </a:r>
          </a:p>
          <a:p>
            <a:pPr>
              <a:lnSpc>
                <a:spcPct val="120000"/>
              </a:lnSpc>
            </a:pPr>
            <a:r>
              <a:rPr lang="zh-CN" altLang="zh-CN" sz="1600" dirty="0">
                <a:solidFill>
                  <a:schemeClr val="tx1">
                    <a:lumMod val="75000"/>
                    <a:lumOff val="25000"/>
                  </a:schemeClr>
                </a:solidFill>
              </a:rPr>
              <a:t>from docx.shared import  Pt #docx.shared模块以Pt（磅）为单位设置字体</a:t>
            </a:r>
          </a:p>
          <a:p>
            <a:pPr>
              <a:lnSpc>
                <a:spcPct val="120000"/>
              </a:lnSpc>
            </a:pPr>
            <a:r>
              <a:rPr lang="zh-CN" altLang="zh-CN" sz="1600" dirty="0">
                <a:solidFill>
                  <a:schemeClr val="tx1">
                    <a:lumMod val="75000"/>
                    <a:lumOff val="25000"/>
                  </a:schemeClr>
                </a:solidFill>
              </a:rPr>
              <a:t># 创建文档对象</a:t>
            </a:r>
          </a:p>
          <a:p>
            <a:pPr>
              <a:lnSpc>
                <a:spcPct val="120000"/>
              </a:lnSpc>
            </a:pPr>
            <a:r>
              <a:rPr lang="zh-CN" altLang="zh-CN" sz="1600" dirty="0">
                <a:solidFill>
                  <a:schemeClr val="tx1">
                    <a:lumMod val="75000"/>
                    <a:lumOff val="25000"/>
                  </a:schemeClr>
                </a:solidFill>
              </a:rPr>
              <a:t>document = Document()</a:t>
            </a:r>
          </a:p>
          <a:p>
            <a:pPr>
              <a:lnSpc>
                <a:spcPct val="120000"/>
              </a:lnSpc>
            </a:pPr>
            <a:r>
              <a:rPr lang="zh-CN" altLang="zh-CN" sz="1600" dirty="0">
                <a:solidFill>
                  <a:schemeClr val="tx1">
                    <a:lumMod val="75000"/>
                    <a:lumOff val="25000"/>
                  </a:schemeClr>
                </a:solidFill>
              </a:rPr>
              <a:t>#向文档中添加标题，标题级别设置为0级</a:t>
            </a:r>
          </a:p>
          <a:p>
            <a:pPr>
              <a:lnSpc>
                <a:spcPct val="120000"/>
              </a:lnSpc>
            </a:pPr>
            <a:r>
              <a:rPr lang="zh-CN" altLang="zh-CN" sz="1600" dirty="0">
                <a:solidFill>
                  <a:schemeClr val="tx1">
                    <a:lumMod val="75000"/>
                    <a:lumOff val="25000"/>
                  </a:schemeClr>
                </a:solidFill>
              </a:rPr>
              <a:t>document.add_heading('一级标题',level=0)</a:t>
            </a:r>
          </a:p>
          <a:p>
            <a:pPr>
              <a:lnSpc>
                <a:spcPct val="120000"/>
              </a:lnSpc>
            </a:pPr>
            <a:r>
              <a:rPr lang="zh-CN" altLang="zh-CN" sz="1600" dirty="0">
                <a:solidFill>
                  <a:schemeClr val="tx1">
                    <a:lumMod val="75000"/>
                    <a:lumOff val="25000"/>
                  </a:schemeClr>
                </a:solidFill>
              </a:rPr>
              <a:t>lines = eval(input("请输入要创建的文档的段落数："))</a:t>
            </a:r>
          </a:p>
          <a:p>
            <a:pPr>
              <a:lnSpc>
                <a:spcPct val="120000"/>
              </a:lnSpc>
            </a:pPr>
            <a:r>
              <a:rPr lang="zh-CN" altLang="zh-CN" sz="1600" dirty="0">
                <a:solidFill>
                  <a:schemeClr val="tx1">
                    <a:lumMod val="75000"/>
                    <a:lumOff val="25000"/>
                  </a:schemeClr>
                </a:solidFill>
              </a:rPr>
              <a:t>for para in range(lines):</a:t>
            </a:r>
          </a:p>
          <a:p>
            <a:pPr>
              <a:lnSpc>
                <a:spcPct val="120000"/>
              </a:lnSpc>
            </a:pPr>
            <a:r>
              <a:rPr lang="zh-CN" altLang="zh-CN" sz="1600" dirty="0">
                <a:solidFill>
                  <a:schemeClr val="tx1">
                    <a:lumMod val="75000"/>
                    <a:lumOff val="25000"/>
                  </a:schemeClr>
                </a:solidFill>
              </a:rPr>
              <a:t>     document.add_heading(str(para +2) + '级标题',level=1)</a:t>
            </a:r>
          </a:p>
          <a:p>
            <a:pPr>
              <a:lnSpc>
                <a:spcPct val="120000"/>
              </a:lnSpc>
            </a:pPr>
            <a:r>
              <a:rPr lang="zh-CN" altLang="zh-CN" sz="1600" dirty="0">
                <a:solidFill>
                  <a:schemeClr val="tx1">
                    <a:lumMod val="75000"/>
                    <a:lumOff val="25000"/>
                  </a:schemeClr>
                </a:solidFill>
              </a:rPr>
              <a:t>     #新增段落</a:t>
            </a:r>
          </a:p>
          <a:p>
            <a:pPr>
              <a:lnSpc>
                <a:spcPct val="120000"/>
              </a:lnSpc>
            </a:pPr>
            <a:r>
              <a:rPr lang="zh-CN" altLang="zh-CN" sz="1600" dirty="0">
                <a:solidFill>
                  <a:schemeClr val="tx1">
                    <a:lumMod val="75000"/>
                    <a:lumOff val="25000"/>
                  </a:schemeClr>
                </a:solidFill>
              </a:rPr>
              <a:t>     p = document.add_paragraph()</a:t>
            </a:r>
          </a:p>
          <a:p>
            <a:pPr>
              <a:lnSpc>
                <a:spcPct val="120000"/>
              </a:lnSpc>
            </a:pPr>
            <a:r>
              <a:rPr lang="zh-CN" altLang="zh-CN" sz="1600" dirty="0">
                <a:solidFill>
                  <a:schemeClr val="tx1">
                    <a:lumMod val="75000"/>
                    <a:lumOff val="25000"/>
                  </a:schemeClr>
                </a:solidFill>
              </a:rPr>
              <a:t>     for line in range(3):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err="1">
                <a:solidFill>
                  <a:schemeClr val="tx1">
                    <a:lumMod val="75000"/>
                    <a:lumOff val="25000"/>
                  </a:schemeClr>
                </a:solidFill>
              </a:rPr>
              <a:t>docx</a:t>
            </a:r>
            <a:r>
              <a:rPr lang="zh-CN" altLang="en-US" dirty="0">
                <a:solidFill>
                  <a:schemeClr val="tx1">
                    <a:lumMod val="75000"/>
                    <a:lumOff val="25000"/>
                  </a:schemeClr>
                </a:solidFill>
              </a:rPr>
              <a:t>创建</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endParaRPr lang="zh-CN" altLang="zh-CN" dirty="0">
              <a:solidFill>
                <a:schemeClr val="tx1">
                  <a:lumMod val="75000"/>
                  <a:lumOff val="25000"/>
                </a:schemeClr>
              </a:solidFill>
            </a:endParaRPr>
          </a:p>
        </p:txBody>
      </p:sp>
      <p:sp>
        <p:nvSpPr>
          <p:cNvPr id="5" name="矩形 4"/>
          <p:cNvSpPr/>
          <p:nvPr/>
        </p:nvSpPr>
        <p:spPr>
          <a:xfrm>
            <a:off x="1041026" y="2203521"/>
            <a:ext cx="9807416" cy="4228850"/>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#在当前段落添加文本，并设置字体、字号和颜色</a:t>
            </a:r>
          </a:p>
          <a:p>
            <a:pPr>
              <a:lnSpc>
                <a:spcPct val="120000"/>
              </a:lnSpc>
            </a:pPr>
            <a:r>
              <a:rPr lang="zh-CN" altLang="zh-CN" sz="1600" dirty="0">
                <a:solidFill>
                  <a:schemeClr val="tx1">
                    <a:lumMod val="75000"/>
                    <a:lumOff val="25000"/>
                  </a:schemeClr>
                </a:solidFill>
              </a:rPr>
              <a:t>run = p.add_run('测试文本'*(line+1))</a:t>
            </a:r>
          </a:p>
          <a:p>
            <a:pPr>
              <a:lnSpc>
                <a:spcPct val="120000"/>
              </a:lnSpc>
            </a:pPr>
            <a:r>
              <a:rPr lang="zh-CN" altLang="zh-CN" sz="1600" dirty="0">
                <a:solidFill>
                  <a:schemeClr val="tx1">
                    <a:lumMod val="75000"/>
                    <a:lumOff val="25000"/>
                  </a:schemeClr>
                </a:solidFill>
              </a:rPr>
              <a:t>color = [randint(0,255) for i in range(3)]</a:t>
            </a:r>
          </a:p>
          <a:p>
            <a:pPr>
              <a:lnSpc>
                <a:spcPct val="120000"/>
              </a:lnSpc>
            </a:pPr>
            <a:r>
              <a:rPr lang="zh-CN" altLang="zh-CN" sz="1600" dirty="0">
                <a:solidFill>
                  <a:schemeClr val="tx1">
                    <a:lumMod val="75000"/>
                    <a:lumOff val="25000"/>
                  </a:schemeClr>
                </a:solidFill>
              </a:rPr>
              <a:t># 第1次添加的文本设置为粗体，后2次添加的文本不加粗</a:t>
            </a:r>
          </a:p>
          <a:p>
            <a:pPr>
              <a:lnSpc>
                <a:spcPct val="120000"/>
              </a:lnSpc>
            </a:pPr>
            <a:r>
              <a:rPr lang="zh-CN" altLang="zh-CN" sz="1600" dirty="0">
                <a:solidFill>
                  <a:schemeClr val="tx1">
                    <a:lumMod val="75000"/>
                    <a:lumOff val="25000"/>
                  </a:schemeClr>
                </a:solidFill>
              </a:rPr>
              <a:t>run.font.bold  = True if line == 0  else False</a:t>
            </a:r>
          </a:p>
          <a:p>
            <a:pPr>
              <a:lnSpc>
                <a:spcPct val="120000"/>
              </a:lnSpc>
            </a:pPr>
            <a:r>
              <a:rPr lang="zh-CN" altLang="zh-CN" sz="1600" dirty="0">
                <a:solidFill>
                  <a:schemeClr val="tx1">
                    <a:lumMod val="75000"/>
                    <a:lumOff val="25000"/>
                  </a:schemeClr>
                </a:solidFill>
              </a:rPr>
              <a:t>run.font.size = Pt(20) #设置字号 </a:t>
            </a:r>
          </a:p>
          <a:p>
            <a:pPr>
              <a:lnSpc>
                <a:spcPct val="120000"/>
              </a:lnSpc>
            </a:pPr>
            <a:r>
              <a:rPr lang="zh-CN" altLang="zh-CN" sz="1600" dirty="0">
                <a:solidFill>
                  <a:schemeClr val="tx1">
                    <a:lumMod val="75000"/>
                    <a:lumOff val="25000"/>
                  </a:schemeClr>
                </a:solidFill>
              </a:rPr>
              <a:t># 一个星号（*）在实参前表示表示用来解包序列（列表或元组）！此处解包列表</a:t>
            </a:r>
          </a:p>
          <a:p>
            <a:pPr>
              <a:lnSpc>
                <a:spcPct val="120000"/>
              </a:lnSpc>
            </a:pPr>
            <a:r>
              <a:rPr lang="zh-CN" altLang="zh-CN" sz="1600" dirty="0">
                <a:solidFill>
                  <a:schemeClr val="tx1">
                    <a:lumMod val="75000"/>
                    <a:lumOff val="25000"/>
                  </a:schemeClr>
                </a:solidFill>
              </a:rPr>
              <a:t>run.font.color.rgb = RGBColor(*color) #设置字体颜色</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#保存文档</a:t>
            </a:r>
          </a:p>
          <a:p>
            <a:pPr>
              <a:lnSpc>
                <a:spcPct val="120000"/>
              </a:lnSpc>
            </a:pPr>
            <a:r>
              <a:rPr lang="zh-CN" altLang="zh-CN" sz="1600" dirty="0">
                <a:solidFill>
                  <a:schemeClr val="tx1">
                    <a:lumMod val="75000"/>
                    <a:lumOff val="25000"/>
                  </a:schemeClr>
                </a:solidFill>
              </a:rPr>
              <a:t>document.save(r'd:\PythonTest\word_document\create_test.docx') </a:t>
            </a:r>
          </a:p>
          <a:p>
            <a:pPr>
              <a:lnSpc>
                <a:spcPct val="120000"/>
              </a:lnSpc>
            </a:pPr>
            <a:r>
              <a:rPr lang="zh-CN" altLang="zh-CN" sz="1600" dirty="0">
                <a:solidFill>
                  <a:schemeClr val="tx1">
                    <a:lumMod val="75000"/>
                    <a:lumOff val="25000"/>
                  </a:schemeClr>
                </a:solidFill>
              </a:rPr>
              <a:t>特别说明：</a:t>
            </a:r>
          </a:p>
          <a:p>
            <a:pPr>
              <a:lnSpc>
                <a:spcPct val="120000"/>
              </a:lnSpc>
            </a:pPr>
            <a:r>
              <a:rPr lang="zh-CN" altLang="zh-CN" sz="1600" dirty="0">
                <a:solidFill>
                  <a:schemeClr val="tx1">
                    <a:lumMod val="75000"/>
                    <a:lumOff val="25000"/>
                  </a:schemeClr>
                </a:solidFill>
              </a:rPr>
              <a:t>（1）如果要创建的.docx文件不存在，则新建一个.docx文件。</a:t>
            </a:r>
          </a:p>
          <a:p>
            <a:pPr>
              <a:lnSpc>
                <a:spcPct val="120000"/>
              </a:lnSpc>
            </a:pPr>
            <a:r>
              <a:rPr lang="zh-CN" altLang="zh-CN" sz="1600" dirty="0">
                <a:solidFill>
                  <a:schemeClr val="tx1">
                    <a:lumMod val="75000"/>
                    <a:lumOff val="25000"/>
                  </a:schemeClr>
                </a:solidFill>
              </a:rPr>
              <a:t>（2）如果要创建的.docx文件已经存在，请在运行程序之前，关闭要创建的.docx文档，否则会报错！</a:t>
            </a:r>
          </a:p>
        </p:txBody>
      </p:sp>
      <p:pic>
        <p:nvPicPr>
          <p:cNvPr id="4" name="图片 3"/>
          <p:cNvPicPr>
            <a:picLocks noChangeAspect="1"/>
          </p:cNvPicPr>
          <p:nvPr/>
        </p:nvPicPr>
        <p:blipFill>
          <a:blip r:embed="rId2"/>
          <a:stretch>
            <a:fillRect/>
          </a:stretch>
        </p:blipFill>
        <p:spPr>
          <a:xfrm>
            <a:off x="7831568" y="635014"/>
            <a:ext cx="4149481" cy="329690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2005" y="365125"/>
            <a:ext cx="10515600" cy="1325563"/>
          </a:xfrm>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en-US" altLang="zh-CN" dirty="0">
                <a:solidFill>
                  <a:schemeClr val="tx1">
                    <a:lumMod val="75000"/>
                    <a:lumOff val="25000"/>
                  </a:schemeClr>
                </a:solidFill>
              </a:rPr>
              <a:t>PDF</a:t>
            </a:r>
            <a:r>
              <a:rPr lang="zh-CN" altLang="en-US" dirty="0">
                <a:solidFill>
                  <a:schemeClr val="tx1">
                    <a:lumMod val="75000"/>
                    <a:lumOff val="25000"/>
                  </a:schemeClr>
                </a:solidFill>
              </a:rPr>
              <a:t>文件</a:t>
            </a:r>
            <a:endParaRPr lang="zh-CN" altLang="zh-CN" dirty="0">
              <a:solidFill>
                <a:schemeClr val="tx1">
                  <a:lumMod val="75000"/>
                  <a:lumOff val="25000"/>
                </a:schemeClr>
              </a:solidFill>
            </a:endParaRPr>
          </a:p>
        </p:txBody>
      </p:sp>
      <p:sp>
        <p:nvSpPr>
          <p:cNvPr id="6" name="矩形 5"/>
          <p:cNvSpPr/>
          <p:nvPr/>
        </p:nvSpPr>
        <p:spPr>
          <a:xfrm>
            <a:off x="1073196" y="2266999"/>
            <a:ext cx="9972756" cy="1938992"/>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本节以PDFMiner库为例来介绍对pdf文件的处理。</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1. 安装PDFMiner库</a:t>
            </a:r>
          </a:p>
          <a:p>
            <a:pPr>
              <a:lnSpc>
                <a:spcPct val="150000"/>
              </a:lnSpc>
            </a:pPr>
            <a:r>
              <a:rPr lang="zh-CN" altLang="zh-CN" sz="1600" dirty="0">
                <a:solidFill>
                  <a:schemeClr val="tx1">
                    <a:lumMod val="75000"/>
                    <a:lumOff val="25000"/>
                  </a:schemeClr>
                </a:solidFill>
              </a:rPr>
              <a:t>首先要确保PDFMiner库已经安装，这里，使用了一个第三方库PDFMiner3K把PDF读成字符串，然后用StringIO转换成文件对象。注意安装库的名字是“pdfminer3k”。</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en-US" altLang="zh-CN" dirty="0">
                <a:solidFill>
                  <a:schemeClr val="tx1">
                    <a:lumMod val="75000"/>
                    <a:lumOff val="25000"/>
                  </a:schemeClr>
                </a:solidFill>
              </a:rPr>
              <a:t>PDF</a:t>
            </a:r>
            <a:r>
              <a:rPr lang="zh-CN" altLang="en-US" dirty="0">
                <a:solidFill>
                  <a:schemeClr val="tx1">
                    <a:lumMod val="75000"/>
                    <a:lumOff val="25000"/>
                  </a:schemeClr>
                </a:solidFill>
              </a:rPr>
              <a:t>文件</a:t>
            </a:r>
            <a:endParaRPr lang="zh-CN" altLang="zh-CN" dirty="0">
              <a:solidFill>
                <a:schemeClr val="tx1">
                  <a:lumMod val="75000"/>
                  <a:lumOff val="25000"/>
                </a:schemeClr>
              </a:solidFill>
            </a:endParaRPr>
          </a:p>
        </p:txBody>
      </p:sp>
      <p:sp>
        <p:nvSpPr>
          <p:cNvPr id="5" name="矩形 4"/>
          <p:cNvSpPr/>
          <p:nvPr/>
        </p:nvSpPr>
        <p:spPr>
          <a:xfrm>
            <a:off x="1116892" y="2060494"/>
            <a:ext cx="8165810" cy="829945"/>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2. 处理pdf文件</a:t>
            </a:r>
          </a:p>
          <a:p>
            <a:pPr>
              <a:lnSpc>
                <a:spcPct val="150000"/>
              </a:lnSpc>
            </a:pPr>
            <a:r>
              <a:rPr lang="zh-CN" altLang="zh-CN" sz="1600" dirty="0">
                <a:solidFill>
                  <a:schemeClr val="tx1">
                    <a:lumMod val="75000"/>
                    <a:lumOff val="25000"/>
                  </a:schemeClr>
                </a:solidFill>
              </a:rPr>
              <a:t>在具体使用PDFMiner库处理pdf文件之前，需要先学习解析pdf文件用到的类。</a:t>
            </a:r>
          </a:p>
        </p:txBody>
      </p:sp>
      <p:graphicFrame>
        <p:nvGraphicFramePr>
          <p:cNvPr id="8" name="表格 7"/>
          <p:cNvGraphicFramePr>
            <a:graphicFrameLocks noGrp="1"/>
          </p:cNvGraphicFramePr>
          <p:nvPr/>
        </p:nvGraphicFramePr>
        <p:xfrm>
          <a:off x="1153294" y="2831010"/>
          <a:ext cx="9109932" cy="3553246"/>
        </p:xfrm>
        <a:graphic>
          <a:graphicData uri="http://schemas.openxmlformats.org/drawingml/2006/table">
            <a:tbl>
              <a:tblPr firstRow="1" firstCol="1" bandRow="1">
                <a:tableStyleId>{5940675A-B579-460E-94D1-54222C63F5DA}</a:tableStyleId>
              </a:tblPr>
              <a:tblGrid>
                <a:gridCol w="3589561">
                  <a:extLst>
                    <a:ext uri="{9D8B030D-6E8A-4147-A177-3AD203B41FA5}">
                      <a16:colId xmlns:a16="http://schemas.microsoft.com/office/drawing/2014/main" val="20000"/>
                    </a:ext>
                  </a:extLst>
                </a:gridCol>
                <a:gridCol w="5520371">
                  <a:extLst>
                    <a:ext uri="{9D8B030D-6E8A-4147-A177-3AD203B41FA5}">
                      <a16:colId xmlns:a16="http://schemas.microsoft.com/office/drawing/2014/main" val="20001"/>
                    </a:ext>
                  </a:extLst>
                </a:gridCol>
              </a:tblGrid>
              <a:tr h="348917">
                <a:tc>
                  <a:txBody>
                    <a:bodyPr/>
                    <a:lstStyle/>
                    <a:p>
                      <a:pPr algn="ctr" defTabSz="914400">
                        <a:lnSpc>
                          <a:spcPct val="150000"/>
                        </a:lnSpc>
                        <a:buClrTx/>
                        <a:buSzTx/>
                        <a:buFontTx/>
                      </a:pPr>
                      <a:r>
                        <a:rPr lang="en-US" altLang="zh-CN" sz="1400" dirty="0">
                          <a:solidFill>
                            <a:schemeClr val="tx1">
                              <a:lumMod val="75000"/>
                              <a:lumOff val="25000"/>
                            </a:schemeClr>
                          </a:solidFill>
                        </a:rPr>
                        <a:t>类名</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作用</a:t>
                      </a:r>
                    </a:p>
                  </a:txBody>
                  <a:tcPr marL="68580" marR="68580" marT="0" marB="0" anchor="ctr"/>
                </a:tc>
                <a:extLst>
                  <a:ext uri="{0D108BD9-81ED-4DB2-BD59-A6C34878D82A}">
                    <a16:rowId xmlns:a16="http://schemas.microsoft.com/office/drawing/2014/main" val="10000"/>
                  </a:ext>
                </a:extLst>
              </a:tr>
              <a:tr h="481263">
                <a:tc>
                  <a:txBody>
                    <a:bodyPr/>
                    <a:lstStyle/>
                    <a:p>
                      <a:pPr algn="ctr" defTabSz="914400">
                        <a:lnSpc>
                          <a:spcPct val="150000"/>
                        </a:lnSpc>
                        <a:buClrTx/>
                        <a:buSzTx/>
                        <a:buFontTx/>
                      </a:pPr>
                      <a:r>
                        <a:rPr lang="en-US" altLang="zh-CN" sz="1400" dirty="0">
                          <a:solidFill>
                            <a:schemeClr val="tx1">
                              <a:lumMod val="75000"/>
                              <a:lumOff val="25000"/>
                            </a:schemeClr>
                          </a:solidFill>
                        </a:rPr>
                        <a:t>PDFParser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用于创建一个pdf文档分析器，从文件中获取数据，将文件指针作为参数传入</a:t>
                      </a:r>
                    </a:p>
                  </a:txBody>
                  <a:tcPr marL="68580" marR="68580" marT="0" marB="0" anchor="ctr"/>
                </a:tc>
                <a:extLst>
                  <a:ext uri="{0D108BD9-81ED-4DB2-BD59-A6C34878D82A}">
                    <a16:rowId xmlns:a16="http://schemas.microsoft.com/office/drawing/2014/main" val="10001"/>
                  </a:ext>
                </a:extLst>
              </a:tr>
              <a:tr h="469231">
                <a:tc>
                  <a:txBody>
                    <a:bodyPr/>
                    <a:lstStyle/>
                    <a:p>
                      <a:pPr algn="ctr" defTabSz="914400">
                        <a:lnSpc>
                          <a:spcPct val="150000"/>
                        </a:lnSpc>
                        <a:buClrTx/>
                        <a:buSzTx/>
                        <a:buFontTx/>
                      </a:pPr>
                      <a:r>
                        <a:rPr lang="en-US" altLang="zh-CN" sz="1400" dirty="0">
                          <a:solidFill>
                            <a:schemeClr val="tx1">
                              <a:lumMod val="75000"/>
                              <a:lumOff val="25000"/>
                            </a:schemeClr>
                          </a:solidFill>
                        </a:rPr>
                        <a:t>PDFDocument</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用于创建一个PDF文档对象存储文档结构，与PDFParser是相互关联的</a:t>
                      </a:r>
                    </a:p>
                  </a:txBody>
                  <a:tcPr marL="68580" marR="68580" marT="0" marB="0" anchor="ctr"/>
                </a:tc>
                <a:extLst>
                  <a:ext uri="{0D108BD9-81ED-4DB2-BD59-A6C34878D82A}">
                    <a16:rowId xmlns:a16="http://schemas.microsoft.com/office/drawing/2014/main" val="10002"/>
                  </a:ext>
                </a:extLst>
              </a:tr>
              <a:tr h="542391">
                <a:tc>
                  <a:txBody>
                    <a:bodyPr/>
                    <a:lstStyle/>
                    <a:p>
                      <a:pPr algn="ctr" defTabSz="914400">
                        <a:lnSpc>
                          <a:spcPct val="150000"/>
                        </a:lnSpc>
                        <a:buClrTx/>
                        <a:buSzTx/>
                        <a:buFontTx/>
                      </a:pPr>
                      <a:r>
                        <a:rPr lang="en-US" altLang="zh-CN" sz="1400" dirty="0">
                          <a:solidFill>
                            <a:schemeClr val="tx1">
                              <a:lumMod val="75000"/>
                              <a:lumOff val="25000"/>
                            </a:schemeClr>
                          </a:solidFill>
                        </a:rPr>
                        <a:t>PDFPageInterpreter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用于创建一个PDF解释器对象，解析page页面内容</a:t>
                      </a:r>
                    </a:p>
                  </a:txBody>
                  <a:tcPr marL="68580" marR="68580" marT="0" marB="0" anchor="ctr"/>
                </a:tc>
                <a:extLst>
                  <a:ext uri="{0D108BD9-81ED-4DB2-BD59-A6C34878D82A}">
                    <a16:rowId xmlns:a16="http://schemas.microsoft.com/office/drawing/2014/main" val="10003"/>
                  </a:ext>
                </a:extLst>
              </a:tr>
              <a:tr h="504357">
                <a:tc>
                  <a:txBody>
                    <a:bodyPr/>
                    <a:lstStyle/>
                    <a:p>
                      <a:pPr algn="ctr" defTabSz="914400">
                        <a:lnSpc>
                          <a:spcPct val="150000"/>
                        </a:lnSpc>
                        <a:buClrTx/>
                        <a:buSzTx/>
                        <a:buFontTx/>
                      </a:pPr>
                      <a:r>
                        <a:rPr lang="en-US" altLang="zh-CN" sz="1400" dirty="0">
                          <a:solidFill>
                            <a:schemeClr val="tx1">
                              <a:lumMod val="75000"/>
                              <a:lumOff val="25000"/>
                            </a:schemeClr>
                          </a:solidFill>
                        </a:rPr>
                        <a:t>PDFDevice</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用于创建一个PDF设备对象，把解析到的内容转化为你需要的格式</a:t>
                      </a:r>
                    </a:p>
                  </a:txBody>
                  <a:tcPr marL="68580" marR="68580" marT="0" marB="0" anchor="ctr"/>
                </a:tc>
                <a:extLst>
                  <a:ext uri="{0D108BD9-81ED-4DB2-BD59-A6C34878D82A}">
                    <a16:rowId xmlns:a16="http://schemas.microsoft.com/office/drawing/2014/main" val="10004"/>
                  </a:ext>
                </a:extLst>
              </a:tr>
              <a:tr h="542391">
                <a:tc>
                  <a:txBody>
                    <a:bodyPr/>
                    <a:lstStyle/>
                    <a:p>
                      <a:pPr algn="ctr" defTabSz="914400">
                        <a:lnSpc>
                          <a:spcPct val="150000"/>
                        </a:lnSpc>
                        <a:buClrTx/>
                        <a:buSzTx/>
                        <a:buFontTx/>
                      </a:pPr>
                      <a:r>
                        <a:rPr lang="en-US" altLang="zh-CN" sz="1400" dirty="0">
                          <a:solidFill>
                            <a:schemeClr val="tx1">
                              <a:lumMod val="75000"/>
                              <a:lumOff val="25000"/>
                            </a:schemeClr>
                          </a:solidFill>
                        </a:rPr>
                        <a:t>PDFResourceManager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用于创建一个PDF资源管理器对象来存储共享资源，如字体或图像</a:t>
                      </a:r>
                    </a:p>
                  </a:txBody>
                  <a:tcPr marL="68580" marR="68580" marT="0" marB="0" anchor="ctr"/>
                </a:tc>
                <a:extLst>
                  <a:ext uri="{0D108BD9-81ED-4DB2-BD59-A6C34878D82A}">
                    <a16:rowId xmlns:a16="http://schemas.microsoft.com/office/drawing/2014/main" val="10005"/>
                  </a:ext>
                </a:extLst>
              </a:tr>
              <a:tr h="542391">
                <a:tc>
                  <a:txBody>
                    <a:bodyPr/>
                    <a:lstStyle/>
                    <a:p>
                      <a:pPr algn="ctr" defTabSz="914400">
                        <a:lnSpc>
                          <a:spcPct val="150000"/>
                        </a:lnSpc>
                        <a:buClrTx/>
                        <a:buSzTx/>
                        <a:buFontTx/>
                      </a:pPr>
                      <a:r>
                        <a:rPr lang="en-US" altLang="zh-CN" sz="1400" dirty="0">
                          <a:solidFill>
                            <a:schemeClr val="tx1">
                              <a:lumMod val="75000"/>
                              <a:lumOff val="25000"/>
                            </a:schemeClr>
                          </a:solidFill>
                        </a:rPr>
                        <a:t>PDFPageAggregator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用于创建一个PDF页面聚合对象，作为PDFPageInterpreter的参数传入</a:t>
                      </a:r>
                    </a:p>
                  </a:txBody>
                  <a:tcPr marL="68580" marR="68580" marT="0" marB="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6" name="矩形 5"/>
          <p:cNvSpPr/>
          <p:nvPr/>
        </p:nvSpPr>
        <p:spPr>
          <a:xfrm>
            <a:off x="949366" y="1544410"/>
            <a:ext cx="10404433" cy="5115246"/>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【例】将指定目录下的.pdf文件的内容读取到一个.txt文件中。</a:t>
            </a:r>
          </a:p>
          <a:p>
            <a:pPr>
              <a:lnSpc>
                <a:spcPct val="120000"/>
              </a:lnSpc>
            </a:pPr>
            <a:r>
              <a:rPr lang="en-US" altLang="zh-CN" sz="1600" dirty="0">
                <a:solidFill>
                  <a:schemeClr val="tx1">
                    <a:lumMod val="75000"/>
                    <a:lumOff val="25000"/>
                  </a:schemeClr>
                </a:solidFill>
              </a:rPr>
              <a:t>import sys</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importlib</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importlib.reload</a:t>
            </a:r>
            <a:r>
              <a:rPr lang="en-US" altLang="zh-CN" sz="1600" dirty="0">
                <a:solidFill>
                  <a:schemeClr val="tx1">
                    <a:lumMod val="75000"/>
                    <a:lumOff val="25000"/>
                  </a:schemeClr>
                </a:solidFill>
              </a:rPr>
              <a:t>(sys)</a:t>
            </a: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pdfminer.pdfparser</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PDFParser</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pdfminer.pdfdocument</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PDFDocument</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pdfminer.pdfpage</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PDFPage</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pdfminer.pdfinterp</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PDFResourceManager</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PDFPageInterpreter</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pdfminer.converter</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PDFPageAggregator</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pdfminer.layout</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LTTextBoxHorizontal,LAParams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path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:\2.pdf'</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以二进制读模式打开</a:t>
            </a:r>
          </a:p>
          <a:p>
            <a:pPr>
              <a:lnSpc>
                <a:spcPct val="120000"/>
              </a:lnSpc>
            </a:pPr>
            <a:r>
              <a:rPr lang="en-US" altLang="zh-CN" sz="1600" dirty="0" err="1">
                <a:solidFill>
                  <a:schemeClr val="tx1">
                    <a:lumMod val="75000"/>
                    <a:lumOff val="25000"/>
                  </a:schemeClr>
                </a:solidFill>
              </a:rPr>
              <a:t>fp</a:t>
            </a:r>
            <a:r>
              <a:rPr lang="en-US" altLang="zh-CN" sz="1600" dirty="0">
                <a:solidFill>
                  <a:schemeClr val="tx1">
                    <a:lumMod val="75000"/>
                    <a:lumOff val="25000"/>
                  </a:schemeClr>
                </a:solidFill>
              </a:rPr>
              <a:t> = open(path, '</a:t>
            </a:r>
            <a:r>
              <a:rPr lang="en-US" altLang="zh-CN" sz="1600" dirty="0" err="1">
                <a:solidFill>
                  <a:schemeClr val="tx1">
                    <a:lumMod val="75000"/>
                    <a:lumOff val="25000"/>
                  </a:schemeClr>
                </a:solidFill>
              </a:rPr>
              <a:t>rb</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用文件对象来创建一个</a:t>
            </a:r>
            <a:r>
              <a:rPr lang="en-US" altLang="zh-CN" sz="1600" dirty="0">
                <a:solidFill>
                  <a:schemeClr val="tx1">
                    <a:lumMod val="75000"/>
                    <a:lumOff val="25000"/>
                  </a:schemeClr>
                </a:solidFill>
              </a:rPr>
              <a:t>pdf</a:t>
            </a:r>
            <a:r>
              <a:rPr lang="zh-CN" altLang="en-US" sz="1600" dirty="0">
                <a:solidFill>
                  <a:schemeClr val="tx1">
                    <a:lumMod val="75000"/>
                    <a:lumOff val="25000"/>
                  </a:schemeClr>
                </a:solidFill>
              </a:rPr>
              <a:t>文档解析器对象</a:t>
            </a:r>
          </a:p>
          <a:p>
            <a:pPr>
              <a:lnSpc>
                <a:spcPct val="120000"/>
              </a:lnSpc>
            </a:pPr>
            <a:r>
              <a:rPr lang="en-US" altLang="zh-CN" sz="1600" dirty="0">
                <a:solidFill>
                  <a:schemeClr val="tx1">
                    <a:lumMod val="75000"/>
                    <a:lumOff val="25000"/>
                  </a:schemeClr>
                </a:solidFill>
              </a:rPr>
              <a:t>parser = </a:t>
            </a:r>
            <a:r>
              <a:rPr lang="en-US" altLang="zh-CN" sz="1600" dirty="0" err="1">
                <a:solidFill>
                  <a:schemeClr val="tx1">
                    <a:lumMod val="75000"/>
                    <a:lumOff val="25000"/>
                  </a:schemeClr>
                </a:solidFill>
              </a:rPr>
              <a:t>PDFParser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fp</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创建一个</a:t>
            </a:r>
            <a:r>
              <a:rPr lang="en-US" altLang="zh-CN" sz="1600" dirty="0">
                <a:solidFill>
                  <a:schemeClr val="tx1">
                    <a:lumMod val="75000"/>
                    <a:lumOff val="25000"/>
                  </a:schemeClr>
                </a:solidFill>
              </a:rPr>
              <a:t>pdf</a:t>
            </a:r>
            <a:r>
              <a:rPr lang="zh-CN" altLang="en-US" sz="1600" dirty="0">
                <a:solidFill>
                  <a:schemeClr val="tx1">
                    <a:lumMod val="75000"/>
                    <a:lumOff val="25000"/>
                  </a:schemeClr>
                </a:solidFill>
              </a:rPr>
              <a:t>文档对象，存储文档结构</a:t>
            </a:r>
          </a:p>
          <a:p>
            <a:pPr>
              <a:lnSpc>
                <a:spcPct val="120000"/>
              </a:lnSpc>
            </a:pPr>
            <a:r>
              <a:rPr lang="en-US" altLang="zh-CN" sz="1600" dirty="0">
                <a:solidFill>
                  <a:schemeClr val="tx1">
                    <a:lumMod val="75000"/>
                    <a:lumOff val="25000"/>
                  </a:schemeClr>
                </a:solidFill>
              </a:rPr>
              <a:t>doc = </a:t>
            </a:r>
            <a:r>
              <a:rPr lang="en-US" altLang="zh-CN" sz="1600" dirty="0" err="1">
                <a:solidFill>
                  <a:schemeClr val="tx1">
                    <a:lumMod val="75000"/>
                    <a:lumOff val="25000"/>
                  </a:schemeClr>
                </a:solidFill>
              </a:rPr>
              <a:t>PDFDocument</a:t>
            </a:r>
            <a:r>
              <a:rPr lang="en-US" altLang="zh-CN" sz="1600" dirty="0">
                <a:solidFill>
                  <a:schemeClr val="tx1">
                    <a:lumMod val="75000"/>
                    <a:lumOff val="25000"/>
                  </a:schemeClr>
                </a:solidFill>
              </a:rPr>
              <a:t>(parser)</a:t>
            </a:r>
            <a:endParaRPr lang="en-US" altLang="zh-CN" sz="1600" dirty="0">
              <a:latin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5" name="矩形 4"/>
          <p:cNvSpPr/>
          <p:nvPr/>
        </p:nvSpPr>
        <p:spPr>
          <a:xfrm>
            <a:off x="998930" y="1457325"/>
            <a:ext cx="10281108" cy="5521512"/>
          </a:xfrm>
          <a:prstGeom prst="rect">
            <a:avLst/>
          </a:prstGeom>
        </p:spPr>
        <p:txBody>
          <a:bodyPr wrap="square">
            <a:spAutoFit/>
          </a:bodyPr>
          <a:lstStyle/>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连接分析器与文档对象</a:t>
            </a:r>
          </a:p>
          <a:p>
            <a:pPr>
              <a:lnSpc>
                <a:spcPct val="120000"/>
              </a:lnSpc>
            </a:pPr>
            <a:r>
              <a:rPr lang="en-US" altLang="zh-CN" sz="1400" dirty="0" err="1">
                <a:solidFill>
                  <a:schemeClr val="tx1">
                    <a:lumMod val="75000"/>
                    <a:lumOff val="25000"/>
                  </a:schemeClr>
                </a:solidFill>
              </a:rPr>
              <a:t>parser.set_document</a:t>
            </a:r>
            <a:r>
              <a:rPr lang="en-US" altLang="zh-CN" sz="1400" dirty="0">
                <a:solidFill>
                  <a:schemeClr val="tx1">
                    <a:lumMod val="75000"/>
                    <a:lumOff val="25000"/>
                  </a:schemeClr>
                </a:solidFill>
              </a:rPr>
              <a:t>(doc)</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创建一个</a:t>
            </a:r>
            <a:r>
              <a:rPr lang="en-US" altLang="zh-CN" sz="1400" dirty="0">
                <a:solidFill>
                  <a:schemeClr val="tx1">
                    <a:lumMod val="75000"/>
                    <a:lumOff val="25000"/>
                  </a:schemeClr>
                </a:solidFill>
              </a:rPr>
              <a:t>pdf</a:t>
            </a:r>
            <a:r>
              <a:rPr lang="zh-CN" altLang="en-US" sz="1400" dirty="0">
                <a:solidFill>
                  <a:schemeClr val="tx1">
                    <a:lumMod val="75000"/>
                    <a:lumOff val="25000"/>
                  </a:schemeClr>
                </a:solidFill>
              </a:rPr>
              <a:t>资源管理器对象来管理共享资源</a:t>
            </a:r>
          </a:p>
          <a:p>
            <a:pPr>
              <a:lnSpc>
                <a:spcPct val="120000"/>
              </a:lnSpc>
            </a:pPr>
            <a:r>
              <a:rPr lang="en-US" altLang="zh-CN" sz="1400" dirty="0" err="1">
                <a:solidFill>
                  <a:schemeClr val="tx1">
                    <a:lumMod val="75000"/>
                    <a:lumOff val="25000"/>
                  </a:schemeClr>
                </a:solidFill>
              </a:rPr>
              <a:t>rsrcmgr</a:t>
            </a:r>
            <a:r>
              <a:rPr lang="en-US" altLang="zh-CN" sz="1400" dirty="0">
                <a:solidFill>
                  <a:schemeClr val="tx1">
                    <a:lumMod val="75000"/>
                    <a:lumOff val="25000"/>
                  </a:schemeClr>
                </a:solidFill>
              </a:rPr>
              <a:t> = </a:t>
            </a:r>
            <a:r>
              <a:rPr lang="en-US" altLang="zh-CN" sz="1400" dirty="0" err="1">
                <a:solidFill>
                  <a:schemeClr val="tx1">
                    <a:lumMod val="75000"/>
                    <a:lumOff val="25000"/>
                  </a:schemeClr>
                </a:solidFill>
              </a:rPr>
              <a:t>PDFResourceManager</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设定参数进行分析</a:t>
            </a:r>
          </a:p>
          <a:p>
            <a:pPr>
              <a:lnSpc>
                <a:spcPct val="120000"/>
              </a:lnSpc>
            </a:pPr>
            <a:r>
              <a:rPr lang="en-US" altLang="zh-CN" sz="1400" dirty="0" err="1">
                <a:solidFill>
                  <a:schemeClr val="tx1">
                    <a:lumMod val="75000"/>
                    <a:lumOff val="25000"/>
                  </a:schemeClr>
                </a:solidFill>
              </a:rPr>
              <a:t>laparams</a:t>
            </a:r>
            <a:r>
              <a:rPr lang="en-US" altLang="zh-CN" sz="1400" dirty="0">
                <a:solidFill>
                  <a:schemeClr val="tx1">
                    <a:lumMod val="75000"/>
                    <a:lumOff val="25000"/>
                  </a:schemeClr>
                </a:solidFill>
              </a:rPr>
              <a:t> = </a:t>
            </a:r>
            <a:r>
              <a:rPr lang="en-US" altLang="zh-CN" sz="1400" dirty="0" err="1">
                <a:solidFill>
                  <a:schemeClr val="tx1">
                    <a:lumMod val="75000"/>
                    <a:lumOff val="25000"/>
                  </a:schemeClr>
                </a:solidFill>
              </a:rPr>
              <a:t>LAParams</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创建一个</a:t>
            </a:r>
            <a:r>
              <a:rPr lang="en-US" altLang="zh-CN" sz="1400" dirty="0">
                <a:solidFill>
                  <a:schemeClr val="tx1">
                    <a:lumMod val="75000"/>
                    <a:lumOff val="25000"/>
                  </a:schemeClr>
                </a:solidFill>
              </a:rPr>
              <a:t>PDF</a:t>
            </a:r>
            <a:r>
              <a:rPr lang="zh-CN" altLang="en-US" sz="1400" dirty="0">
                <a:solidFill>
                  <a:schemeClr val="tx1">
                    <a:lumMod val="75000"/>
                    <a:lumOff val="25000"/>
                  </a:schemeClr>
                </a:solidFill>
              </a:rPr>
              <a:t>页面聚合对象，作为</a:t>
            </a:r>
            <a:r>
              <a:rPr lang="en-US" altLang="zh-CN" sz="1400" dirty="0" err="1">
                <a:solidFill>
                  <a:schemeClr val="tx1">
                    <a:lumMod val="75000"/>
                    <a:lumOff val="25000"/>
                  </a:schemeClr>
                </a:solidFill>
              </a:rPr>
              <a:t>PDFPageInterpreter</a:t>
            </a:r>
            <a:r>
              <a:rPr lang="zh-CN" altLang="en-US" sz="1400" dirty="0">
                <a:solidFill>
                  <a:schemeClr val="tx1">
                    <a:lumMod val="75000"/>
                    <a:lumOff val="25000"/>
                  </a:schemeClr>
                </a:solidFill>
              </a:rPr>
              <a:t>的参数传入</a:t>
            </a:r>
          </a:p>
          <a:p>
            <a:pPr>
              <a:lnSpc>
                <a:spcPct val="120000"/>
              </a:lnSpc>
            </a:pPr>
            <a:r>
              <a:rPr lang="en-US" altLang="zh-CN" sz="1400" dirty="0">
                <a:solidFill>
                  <a:schemeClr val="tx1">
                    <a:lumMod val="75000"/>
                    <a:lumOff val="25000"/>
                  </a:schemeClr>
                </a:solidFill>
              </a:rPr>
              <a:t>device = </a:t>
            </a:r>
            <a:r>
              <a:rPr lang="en-US" altLang="zh-CN" sz="1400" dirty="0" err="1">
                <a:solidFill>
                  <a:schemeClr val="tx1">
                    <a:lumMod val="75000"/>
                    <a:lumOff val="25000"/>
                  </a:schemeClr>
                </a:solidFill>
              </a:rPr>
              <a:t>PDFPageAggregator</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rsrcmgr</a:t>
            </a: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laparams</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laparams</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创建一个</a:t>
            </a:r>
            <a:r>
              <a:rPr lang="en-US" altLang="zh-CN" sz="1400" dirty="0">
                <a:solidFill>
                  <a:schemeClr val="tx1">
                    <a:lumMod val="75000"/>
                    <a:lumOff val="25000"/>
                  </a:schemeClr>
                </a:solidFill>
              </a:rPr>
              <a:t>pdf</a:t>
            </a:r>
            <a:r>
              <a:rPr lang="zh-CN" altLang="en-US" sz="1400" dirty="0">
                <a:solidFill>
                  <a:schemeClr val="tx1">
                    <a:lumMod val="75000"/>
                    <a:lumOff val="25000"/>
                  </a:schemeClr>
                </a:solidFill>
              </a:rPr>
              <a:t>解析器对象来解析</a:t>
            </a:r>
            <a:r>
              <a:rPr lang="en-US" altLang="zh-CN" sz="1400" dirty="0">
                <a:solidFill>
                  <a:schemeClr val="tx1">
                    <a:lumMod val="75000"/>
                    <a:lumOff val="25000"/>
                  </a:schemeClr>
                </a:solidFill>
              </a:rPr>
              <a:t>page</a:t>
            </a:r>
            <a:r>
              <a:rPr lang="zh-CN" altLang="en-US" sz="1400" dirty="0">
                <a:solidFill>
                  <a:schemeClr val="tx1">
                    <a:lumMod val="75000"/>
                    <a:lumOff val="25000"/>
                  </a:schemeClr>
                </a:solidFill>
              </a:rPr>
              <a:t>页面内容</a:t>
            </a:r>
          </a:p>
          <a:p>
            <a:pPr>
              <a:lnSpc>
                <a:spcPct val="120000"/>
              </a:lnSpc>
            </a:pPr>
            <a:r>
              <a:rPr lang="en-US" altLang="zh-CN" sz="1400" dirty="0">
                <a:solidFill>
                  <a:schemeClr val="tx1">
                    <a:lumMod val="75000"/>
                    <a:lumOff val="25000"/>
                  </a:schemeClr>
                </a:solidFill>
              </a:rPr>
              <a:t>interpreter = </a:t>
            </a:r>
            <a:r>
              <a:rPr lang="en-US" altLang="zh-CN" sz="1400" dirty="0" err="1">
                <a:solidFill>
                  <a:schemeClr val="tx1">
                    <a:lumMod val="75000"/>
                    <a:lumOff val="25000"/>
                  </a:schemeClr>
                </a:solidFill>
              </a:rPr>
              <a:t>PDFPageInterpreter</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rsrcmgr</a:t>
            </a:r>
            <a:r>
              <a:rPr lang="en-US" altLang="zh-CN" sz="1400" dirty="0">
                <a:solidFill>
                  <a:schemeClr val="tx1">
                    <a:lumMod val="75000"/>
                    <a:lumOff val="25000"/>
                  </a:schemeClr>
                </a:solidFill>
              </a:rPr>
              <a:t>, device)</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处理文档中每一个</a:t>
            </a:r>
            <a:r>
              <a:rPr lang="en-US" altLang="zh-CN" sz="1400" dirty="0">
                <a:solidFill>
                  <a:schemeClr val="tx1">
                    <a:lumMod val="75000"/>
                    <a:lumOff val="25000"/>
                  </a:schemeClr>
                </a:solidFill>
              </a:rPr>
              <a:t>page</a:t>
            </a:r>
            <a:r>
              <a:rPr lang="zh-CN" altLang="en-US" sz="1400" dirty="0">
                <a:solidFill>
                  <a:schemeClr val="tx1">
                    <a:lumMod val="75000"/>
                    <a:lumOff val="25000"/>
                  </a:schemeClr>
                </a:solidFill>
              </a:rPr>
              <a:t>页面的内容</a:t>
            </a:r>
          </a:p>
          <a:p>
            <a:pPr>
              <a:lnSpc>
                <a:spcPct val="120000"/>
              </a:lnSpc>
            </a:pPr>
            <a:r>
              <a:rPr lang="en-US" altLang="zh-CN" sz="1400" dirty="0">
                <a:solidFill>
                  <a:schemeClr val="tx1">
                    <a:lumMod val="75000"/>
                    <a:lumOff val="25000"/>
                  </a:schemeClr>
                </a:solidFill>
              </a:rPr>
              <a:t>for page in </a:t>
            </a:r>
            <a:r>
              <a:rPr lang="en-US" altLang="zh-CN" sz="1400" dirty="0" err="1">
                <a:solidFill>
                  <a:schemeClr val="tx1">
                    <a:lumMod val="75000"/>
                    <a:lumOff val="25000"/>
                  </a:schemeClr>
                </a:solidFill>
              </a:rPr>
              <a:t>PDFPage.create_pages</a:t>
            </a:r>
            <a:r>
              <a:rPr lang="en-US" altLang="zh-CN" sz="1400" dirty="0">
                <a:solidFill>
                  <a:schemeClr val="tx1">
                    <a:lumMod val="75000"/>
                    <a:lumOff val="25000"/>
                  </a:schemeClr>
                </a:solidFill>
              </a:rPr>
              <a:t>(doc): # </a:t>
            </a:r>
            <a:r>
              <a:rPr lang="zh-CN" altLang="en-US" sz="1400" dirty="0">
                <a:solidFill>
                  <a:schemeClr val="tx1">
                    <a:lumMod val="75000"/>
                    <a:lumOff val="25000"/>
                  </a:schemeClr>
                </a:solidFill>
              </a:rPr>
              <a:t>获取</a:t>
            </a:r>
            <a:r>
              <a:rPr lang="en-US" altLang="zh-CN" sz="1400" dirty="0">
                <a:solidFill>
                  <a:schemeClr val="tx1">
                    <a:lumMod val="75000"/>
                    <a:lumOff val="25000"/>
                  </a:schemeClr>
                </a:solidFill>
              </a:rPr>
              <a:t>page</a:t>
            </a:r>
            <a:r>
              <a:rPr lang="zh-CN" altLang="en-US" sz="1400" dirty="0">
                <a:solidFill>
                  <a:schemeClr val="tx1">
                    <a:lumMod val="75000"/>
                    <a:lumOff val="25000"/>
                  </a:schemeClr>
                </a:solidFill>
              </a:rPr>
              <a:t>列表</a:t>
            </a:r>
          </a:p>
          <a:p>
            <a:pPr>
              <a:lnSpc>
                <a:spcPct val="120000"/>
              </a:lnSpc>
            </a:pPr>
            <a:r>
              <a:rPr lang="zh-CN" altLang="en-US" sz="1400" dirty="0">
                <a:solidFill>
                  <a:schemeClr val="tx1">
                    <a:lumMod val="75000"/>
                    <a:lumOff val="25000"/>
                  </a:schemeClr>
                </a:solidFill>
              </a:rPr>
              <a:t>    </a:t>
            </a:r>
            <a:r>
              <a:rPr lang="en-US" altLang="zh-CN" sz="1400" dirty="0" err="1">
                <a:solidFill>
                  <a:schemeClr val="tx1">
                    <a:lumMod val="75000"/>
                    <a:lumOff val="25000"/>
                  </a:schemeClr>
                </a:solidFill>
              </a:rPr>
              <a:t>interpreter.process_page</a:t>
            </a:r>
            <a:r>
              <a:rPr lang="en-US" altLang="zh-CN" sz="1400" dirty="0">
                <a:solidFill>
                  <a:schemeClr val="tx1">
                    <a:lumMod val="75000"/>
                    <a:lumOff val="25000"/>
                  </a:schemeClr>
                </a:solidFill>
              </a:rPr>
              <a:t>(page)</a:t>
            </a:r>
          </a:p>
          <a:p>
            <a:pPr>
              <a:lnSpc>
                <a:spcPct val="120000"/>
              </a:lnSpc>
            </a:pPr>
            <a:r>
              <a:rPr lang="en-US" altLang="zh-CN" sz="1400" dirty="0">
                <a:solidFill>
                  <a:schemeClr val="tx1">
                    <a:lumMod val="75000"/>
                    <a:lumOff val="25000"/>
                  </a:schemeClr>
                </a:solidFill>
              </a:rPr>
              <a:t>    layout = </a:t>
            </a:r>
            <a:r>
              <a:rPr lang="en-US" altLang="zh-CN" sz="1400" dirty="0" err="1">
                <a:solidFill>
                  <a:schemeClr val="tx1">
                    <a:lumMod val="75000"/>
                    <a:lumOff val="25000"/>
                  </a:schemeClr>
                </a:solidFill>
              </a:rPr>
              <a:t>device.get_result</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a:t>
            </a:r>
            <a:r>
              <a:rPr lang="zh-CN" altLang="en-US" sz="1400" dirty="0">
                <a:solidFill>
                  <a:schemeClr val="tx1">
                    <a:lumMod val="75000"/>
                    <a:lumOff val="25000"/>
                  </a:schemeClr>
                </a:solidFill>
              </a:rPr>
              <a:t>一般包括</a:t>
            </a:r>
            <a:r>
              <a:rPr lang="en-US" altLang="zh-CN" sz="1400" dirty="0" err="1">
                <a:solidFill>
                  <a:schemeClr val="tx1">
                    <a:lumMod val="75000"/>
                    <a:lumOff val="25000"/>
                  </a:schemeClr>
                </a:solidFill>
              </a:rPr>
              <a:t>LTTextBox</a:t>
            </a: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LTFigure</a:t>
            </a: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LTImage</a:t>
            </a: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LTTextBoxHorizontal</a:t>
            </a:r>
            <a:r>
              <a:rPr lang="en-US" altLang="zh-CN" sz="1400" dirty="0">
                <a:solidFill>
                  <a:schemeClr val="tx1">
                    <a:lumMod val="75000"/>
                    <a:lumOff val="25000"/>
                  </a:schemeClr>
                </a:solidFill>
              </a:rPr>
              <a:t> </a:t>
            </a:r>
            <a:r>
              <a:rPr lang="zh-CN" altLang="en-US" sz="1400" dirty="0">
                <a:solidFill>
                  <a:schemeClr val="tx1">
                    <a:lumMod val="75000"/>
                    <a:lumOff val="25000"/>
                  </a:schemeClr>
                </a:solidFill>
              </a:rPr>
              <a:t>等等 想要获取文本就获得对象的</a:t>
            </a:r>
            <a:r>
              <a:rPr lang="en-US" altLang="zh-CN" sz="1400" dirty="0">
                <a:solidFill>
                  <a:schemeClr val="tx1">
                    <a:lumMod val="75000"/>
                    <a:lumOff val="25000"/>
                  </a:schemeClr>
                </a:solidFill>
              </a:rPr>
              <a:t>text</a:t>
            </a:r>
            <a:r>
              <a:rPr lang="zh-CN" altLang="en-US" sz="1400" dirty="0">
                <a:solidFill>
                  <a:schemeClr val="tx1">
                    <a:lumMod val="75000"/>
                    <a:lumOff val="25000"/>
                  </a:schemeClr>
                </a:solidFill>
              </a:rPr>
              <a:t>属性</a:t>
            </a:r>
          </a:p>
          <a:p>
            <a:pPr>
              <a:lnSpc>
                <a:spcPct val="120000"/>
              </a:lnSpc>
            </a:pPr>
            <a:r>
              <a:rPr lang="zh-CN" altLang="en-US" sz="1400" dirty="0">
                <a:solidFill>
                  <a:schemeClr val="tx1">
                    <a:lumMod val="75000"/>
                    <a:lumOff val="25000"/>
                  </a:schemeClr>
                </a:solidFill>
              </a:rPr>
              <a:t>    </a:t>
            </a:r>
            <a:r>
              <a:rPr lang="en-US" altLang="zh-CN" sz="1400" dirty="0">
                <a:solidFill>
                  <a:schemeClr val="tx1">
                    <a:lumMod val="75000"/>
                    <a:lumOff val="25000"/>
                  </a:schemeClr>
                </a:solidFill>
              </a:rPr>
              <a:t>for x in layout:</a:t>
            </a:r>
          </a:p>
          <a:p>
            <a:pPr>
              <a:lnSpc>
                <a:spcPct val="120000"/>
              </a:lnSpc>
            </a:pPr>
            <a:r>
              <a:rPr lang="en-US" altLang="zh-CN" sz="1400" dirty="0">
                <a:solidFill>
                  <a:schemeClr val="tx1">
                    <a:lumMod val="75000"/>
                    <a:lumOff val="25000"/>
                  </a:schemeClr>
                </a:solidFill>
              </a:rPr>
              <a:t>         if (</a:t>
            </a:r>
            <a:r>
              <a:rPr lang="en-US" altLang="zh-CN" sz="1400" dirty="0" err="1">
                <a:solidFill>
                  <a:schemeClr val="tx1">
                    <a:lumMod val="75000"/>
                    <a:lumOff val="25000"/>
                  </a:schemeClr>
                </a:solidFill>
              </a:rPr>
              <a:t>isinstance</a:t>
            </a:r>
            <a:r>
              <a:rPr lang="en-US" altLang="zh-CN" sz="1400" dirty="0">
                <a:solidFill>
                  <a:schemeClr val="tx1">
                    <a:lumMod val="75000"/>
                    <a:lumOff val="25000"/>
                  </a:schemeClr>
                </a:solidFill>
              </a:rPr>
              <a:t>(x, </a:t>
            </a:r>
            <a:r>
              <a:rPr lang="en-US" altLang="zh-CN" sz="1400" dirty="0" err="1">
                <a:solidFill>
                  <a:schemeClr val="tx1">
                    <a:lumMod val="75000"/>
                    <a:lumOff val="25000"/>
                  </a:schemeClr>
                </a:solidFill>
              </a:rPr>
              <a:t>LTTextBoxHorizontal</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with open(</a:t>
            </a:r>
            <a:r>
              <a:rPr lang="en-US" altLang="zh-CN" sz="1400" dirty="0" err="1">
                <a:solidFill>
                  <a:schemeClr val="tx1">
                    <a:lumMod val="75000"/>
                    <a:lumOff val="25000"/>
                  </a:schemeClr>
                </a:solidFill>
              </a:rPr>
              <a:t>r'd</a:t>
            </a:r>
            <a:r>
              <a:rPr lang="en-US" altLang="zh-CN" sz="1400" dirty="0">
                <a:solidFill>
                  <a:schemeClr val="tx1">
                    <a:lumMod val="75000"/>
                    <a:lumOff val="25000"/>
                  </a:schemeClr>
                </a:solidFill>
              </a:rPr>
              <a:t>:\1.txt', 'a') as f:</a:t>
            </a:r>
          </a:p>
          <a:p>
            <a:pPr>
              <a:lnSpc>
                <a:spcPct val="120000"/>
              </a:lnSpc>
            </a:pPr>
            <a:r>
              <a:rPr lang="en-US" altLang="zh-CN" sz="1400" dirty="0">
                <a:solidFill>
                  <a:schemeClr val="tx1">
                    <a:lumMod val="75000"/>
                    <a:lumOff val="25000"/>
                  </a:schemeClr>
                </a:solidFill>
              </a:rPr>
              <a:t>                results = </a:t>
            </a:r>
            <a:r>
              <a:rPr lang="en-US" altLang="zh-CN" sz="1400" dirty="0" err="1">
                <a:solidFill>
                  <a:schemeClr val="tx1">
                    <a:lumMod val="75000"/>
                    <a:lumOff val="25000"/>
                  </a:schemeClr>
                </a:solidFill>
              </a:rPr>
              <a:t>x.get_text</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print(results)</a:t>
            </a:r>
          </a:p>
          <a:p>
            <a:pPr>
              <a:lnSpc>
                <a:spcPct val="120000"/>
              </a:lnSpc>
            </a:pP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f.write</a:t>
            </a:r>
            <a:r>
              <a:rPr lang="en-US" altLang="zh-CN" sz="1400" dirty="0">
                <a:solidFill>
                  <a:schemeClr val="tx1">
                    <a:lumMod val="75000"/>
                    <a:lumOff val="25000"/>
                  </a:schemeClr>
                </a:solidFill>
              </a:rPr>
              <a:t>(results + '\n')</a:t>
            </a:r>
            <a:endParaRPr lang="zh-CN" altLang="zh-CN" sz="1400" dirty="0">
              <a:solidFill>
                <a:schemeClr val="tx1">
                  <a:lumMod val="75000"/>
                  <a:lumOff val="25000"/>
                </a:schemeClr>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8" name="矩形 7"/>
          <p:cNvSpPr/>
          <p:nvPr/>
        </p:nvSpPr>
        <p:spPr>
          <a:xfrm>
            <a:off x="1080261" y="1799428"/>
            <a:ext cx="9680398" cy="341632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处理pdf文件的基本思路和流程为：</a:t>
            </a:r>
          </a:p>
          <a:p>
            <a:pPr>
              <a:lnSpc>
                <a:spcPct val="150000"/>
              </a:lnSpc>
            </a:pPr>
            <a:r>
              <a:rPr lang="zh-CN" altLang="zh-CN" sz="1600" dirty="0">
                <a:solidFill>
                  <a:schemeClr val="tx1">
                    <a:lumMod val="75000"/>
                    <a:lumOff val="25000"/>
                  </a:schemeClr>
                </a:solidFill>
              </a:rPr>
              <a:t>（1）打开文件（二进制方式），申明文件对象；</a:t>
            </a:r>
          </a:p>
          <a:p>
            <a:pPr>
              <a:lnSpc>
                <a:spcPct val="150000"/>
              </a:lnSpc>
            </a:pPr>
            <a:r>
              <a:rPr lang="zh-CN" altLang="zh-CN" sz="1600" dirty="0">
                <a:solidFill>
                  <a:schemeClr val="tx1">
                    <a:lumMod val="75000"/>
                    <a:lumOff val="25000"/>
                  </a:schemeClr>
                </a:solidFill>
              </a:rPr>
              <a:t>（2）用文件对象创建一个文档解析器对象（PDFParser）；</a:t>
            </a:r>
          </a:p>
          <a:p>
            <a:pPr>
              <a:lnSpc>
                <a:spcPct val="150000"/>
              </a:lnSpc>
            </a:pPr>
            <a:r>
              <a:rPr lang="zh-CN" altLang="zh-CN" sz="1600" dirty="0">
                <a:solidFill>
                  <a:schemeClr val="tx1">
                    <a:lumMod val="75000"/>
                    <a:lumOff val="25000"/>
                  </a:schemeClr>
                </a:solidFill>
              </a:rPr>
              <a:t>（3）创建一个pdf文档对象，用于存储文档结构（PDFDocument，PDFDocument与PDFParser是相互关联的；</a:t>
            </a:r>
          </a:p>
          <a:p>
            <a:pPr>
              <a:lnSpc>
                <a:spcPct val="150000"/>
              </a:lnSpc>
            </a:pPr>
            <a:r>
              <a:rPr lang="zh-CN" altLang="zh-CN" sz="1600" dirty="0">
                <a:solidFill>
                  <a:schemeClr val="tx1">
                    <a:lumMod val="75000"/>
                    <a:lumOff val="25000"/>
                  </a:schemeClr>
                </a:solidFill>
              </a:rPr>
              <a:t>（4）连接pdf文档解析器和pdf文档对象（praser.set_document、doc.set_parser）；</a:t>
            </a:r>
          </a:p>
          <a:p>
            <a:pPr>
              <a:lnSpc>
                <a:spcPct val="150000"/>
              </a:lnSpc>
            </a:pPr>
            <a:r>
              <a:rPr lang="zh-CN" altLang="zh-CN" sz="1600" dirty="0">
                <a:solidFill>
                  <a:schemeClr val="tx1">
                    <a:lumMod val="75000"/>
                    <a:lumOff val="25000"/>
                  </a:schemeClr>
                </a:solidFill>
              </a:rPr>
              <a:t>（5）创建一个pdf资源管理器对象来存储共享资源（PDFResourceManager）；</a:t>
            </a:r>
          </a:p>
          <a:p>
            <a:pPr>
              <a:lnSpc>
                <a:spcPct val="150000"/>
              </a:lnSpc>
            </a:pPr>
            <a:r>
              <a:rPr lang="zh-CN" altLang="zh-CN" sz="1600" dirty="0">
                <a:solidFill>
                  <a:schemeClr val="tx1">
                    <a:lumMod val="75000"/>
                    <a:lumOff val="25000"/>
                  </a:schemeClr>
                </a:solidFill>
              </a:rPr>
              <a:t>（6）创建一个PDF页面聚合对象，作为PDFPageInterpreter的参数传入（PDFPageAggregator）；</a:t>
            </a:r>
          </a:p>
          <a:p>
            <a:pPr>
              <a:lnSpc>
                <a:spcPct val="150000"/>
              </a:lnSpc>
            </a:pPr>
            <a:r>
              <a:rPr lang="zh-CN" altLang="zh-CN" sz="1600" dirty="0">
                <a:solidFill>
                  <a:schemeClr val="tx1">
                    <a:lumMod val="75000"/>
                    <a:lumOff val="25000"/>
                  </a:schemeClr>
                </a:solidFill>
              </a:rPr>
              <a:t>（7）创建一个pdf解析器对象来解析page页面内容（PDFPageInterpreter）；</a:t>
            </a:r>
          </a:p>
          <a:p>
            <a:pPr>
              <a:lnSpc>
                <a:spcPct val="150000"/>
              </a:lnSpc>
            </a:pPr>
            <a:r>
              <a:rPr lang="zh-CN" altLang="zh-CN" sz="1600" dirty="0">
                <a:solidFill>
                  <a:schemeClr val="tx1">
                    <a:lumMod val="75000"/>
                    <a:lumOff val="25000"/>
                  </a:schemeClr>
                </a:solidFill>
              </a:rPr>
              <a:t>（8）处理文档中每一个page页面的内容（获取page列表）。</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5" name="矩形 4"/>
          <p:cNvSpPr/>
          <p:nvPr/>
        </p:nvSpPr>
        <p:spPr>
          <a:xfrm>
            <a:off x="1004104" y="2014560"/>
            <a:ext cx="10171120" cy="4401205"/>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使用Python可以解压以下五种压缩文件：.gz .tar  .tgz .zip .rar，但这里只介绍对.zip文件的压缩和解压处理，对其它压缩文件的操作请大家查阅相关文档。</a:t>
            </a:r>
          </a:p>
          <a:p>
            <a:pPr>
              <a:lnSpc>
                <a:spcPct val="150000"/>
              </a:lnSpc>
            </a:pPr>
            <a:r>
              <a:rPr lang="zh-CN" altLang="zh-CN" sz="1600" dirty="0">
                <a:solidFill>
                  <a:schemeClr val="tx1">
                    <a:lumMod val="75000"/>
                    <a:lumOff val="25000"/>
                  </a:schemeClr>
                </a:solidFill>
              </a:rPr>
              <a:t>Python中的zipfile模块可以对文件进行压缩和解压操作。</a:t>
            </a:r>
          </a:p>
          <a:p>
            <a:pPr>
              <a:lnSpc>
                <a:spcPct val="150000"/>
              </a:lnSpc>
            </a:pPr>
            <a:r>
              <a:rPr lang="zh-CN" altLang="zh-CN" sz="1600" dirty="0">
                <a:solidFill>
                  <a:schemeClr val="tx1">
                    <a:lumMod val="75000"/>
                    <a:lumOff val="25000"/>
                  </a:schemeClr>
                </a:solidFill>
              </a:rPr>
              <a:t>假设在本地盘有文件“D:\PythonTest\zipfile_document\word_document.rar”和文件“D:\PythonTest\zipfile_document\word_document.zip”，请观察以下命令执行的情况：</a:t>
            </a:r>
          </a:p>
          <a:p>
            <a:pPr>
              <a:lnSpc>
                <a:spcPct val="150000"/>
              </a:lnSpc>
            </a:pPr>
            <a:r>
              <a:rPr lang="zh-CN" altLang="zh-CN" sz="1600" dirty="0">
                <a:solidFill>
                  <a:schemeClr val="tx1">
                    <a:lumMod val="75000"/>
                    <a:lumOff val="25000"/>
                  </a:schemeClr>
                </a:solidFill>
              </a:rPr>
              <a:t>&gt; import os</a:t>
            </a:r>
          </a:p>
          <a:p>
            <a:pPr>
              <a:lnSpc>
                <a:spcPct val="150000"/>
              </a:lnSpc>
            </a:pPr>
            <a:r>
              <a:rPr lang="zh-CN" altLang="zh-CN" sz="1600" dirty="0">
                <a:solidFill>
                  <a:schemeClr val="tx1">
                    <a:lumMod val="75000"/>
                    <a:lumOff val="25000"/>
                  </a:schemeClr>
                </a:solidFill>
              </a:rPr>
              <a:t>&gt; import zipfile</a:t>
            </a:r>
          </a:p>
          <a:p>
            <a:pPr>
              <a:lnSpc>
                <a:spcPct val="150000"/>
              </a:lnSpc>
            </a:pPr>
            <a:r>
              <a:rPr lang="zh-CN" altLang="zh-CN" sz="1600" dirty="0">
                <a:solidFill>
                  <a:schemeClr val="tx1">
                    <a:lumMod val="75000"/>
                    <a:lumOff val="25000"/>
                  </a:schemeClr>
                </a:solidFill>
              </a:rPr>
              <a:t>&gt; path = r'D:\PythonTest\zipfile_document'</a:t>
            </a:r>
          </a:p>
          <a:p>
            <a:pPr>
              <a:lnSpc>
                <a:spcPct val="150000"/>
              </a:lnSpc>
            </a:pPr>
            <a:r>
              <a:rPr lang="zh-CN" altLang="zh-CN" sz="1600" dirty="0">
                <a:solidFill>
                  <a:schemeClr val="tx1">
                    <a:lumMod val="75000"/>
                    <a:lumOff val="25000"/>
                  </a:schemeClr>
                </a:solidFill>
              </a:rPr>
              <a:t>&gt; zipfile.is_zipfile(os.path.join(path, 'word_document.rar'))</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zipfile.is_zipfile(os.path.join(path, 'word_document.zip'))</a:t>
            </a:r>
            <a:endParaRPr lang="zh-CN" altLang="zh-CN" sz="1600" dirty="0"/>
          </a:p>
          <a:p>
            <a:endParaRPr lang="zh-CN" altLang="zh-CN" sz="1600" dirty="0"/>
          </a:p>
        </p:txBody>
      </p:sp>
      <p:pic>
        <p:nvPicPr>
          <p:cNvPr id="6" name="图片 5"/>
          <p:cNvPicPr/>
          <p:nvPr/>
        </p:nvPicPr>
        <p:blipFill>
          <a:blip r:embed="rId2" cstate="print"/>
          <a:srcRect/>
          <a:stretch>
            <a:fillRect/>
          </a:stretch>
        </p:blipFill>
        <p:spPr bwMode="auto">
          <a:xfrm>
            <a:off x="1219487" y="5306933"/>
            <a:ext cx="958432" cy="347412"/>
          </a:xfrm>
          <a:prstGeom prst="rect">
            <a:avLst/>
          </a:prstGeom>
          <a:noFill/>
          <a:ln w="9525">
            <a:noFill/>
            <a:miter lim="800000"/>
            <a:headEnd/>
            <a:tailEnd/>
          </a:ln>
        </p:spPr>
      </p:pic>
      <p:pic>
        <p:nvPicPr>
          <p:cNvPr id="7" name="图片 6"/>
          <p:cNvPicPr/>
          <p:nvPr/>
        </p:nvPicPr>
        <p:blipFill>
          <a:blip r:embed="rId3" cstate="print"/>
          <a:srcRect/>
          <a:stretch>
            <a:fillRect/>
          </a:stretch>
        </p:blipFill>
        <p:spPr bwMode="auto">
          <a:xfrm>
            <a:off x="1268398" y="6157824"/>
            <a:ext cx="958432" cy="407567"/>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8" name="矩形 7"/>
          <p:cNvSpPr/>
          <p:nvPr/>
        </p:nvSpPr>
        <p:spPr>
          <a:xfrm>
            <a:off x="938632" y="2161921"/>
            <a:ext cx="10363351" cy="4819781"/>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【例】zipfile模块的.namelist( )方法的使用。</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zipfile</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filename = r'1.zip'</a:t>
            </a:r>
          </a:p>
          <a:p>
            <a:pPr>
              <a:lnSpc>
                <a:spcPct val="120000"/>
              </a:lnSpc>
            </a:pP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a:t>
            </a:r>
          </a:p>
          <a:p>
            <a:pPr>
              <a:lnSpc>
                <a:spcPct val="120000"/>
              </a:lnSpc>
            </a:pPr>
            <a:r>
              <a:rPr lang="en-US" altLang="zh-CN" sz="1600" dirty="0" err="1">
                <a:solidFill>
                  <a:schemeClr val="tx1">
                    <a:lumMod val="75000"/>
                    <a:lumOff val="25000"/>
                  </a:schemeClr>
                </a:solidFill>
              </a:rPr>
              <a:t>zipfp</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zipfile.ZipFile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filename,'r</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#read </a:t>
            </a:r>
            <a:r>
              <a:rPr lang="en-US" altLang="zh-CN" sz="1600" dirty="0" err="1">
                <a:solidFill>
                  <a:schemeClr val="tx1">
                    <a:lumMod val="75000"/>
                    <a:lumOff val="25000"/>
                  </a:schemeClr>
                </a:solidFill>
              </a:rPr>
              <a:t>gbk</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#print(</a:t>
            </a:r>
            <a:r>
              <a:rPr lang="en-US" altLang="zh-CN" sz="1600" dirty="0" err="1">
                <a:solidFill>
                  <a:schemeClr val="tx1">
                    <a:lumMod val="75000"/>
                    <a:lumOff val="25000"/>
                  </a:schemeClr>
                </a:solidFill>
              </a:rPr>
              <a:t>zipfp.namelist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#cp437 to </a:t>
            </a:r>
            <a:r>
              <a:rPr lang="en-US" altLang="zh-CN" sz="1600" dirty="0" err="1">
                <a:solidFill>
                  <a:schemeClr val="tx1">
                    <a:lumMod val="75000"/>
                    <a:lumOff val="25000"/>
                  </a:schemeClr>
                </a:solidFill>
              </a:rPr>
              <a:t>gbk</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in </a:t>
            </a:r>
            <a:r>
              <a:rPr lang="en-US" altLang="zh-CN" sz="1600" dirty="0" err="1">
                <a:solidFill>
                  <a:schemeClr val="tx1">
                    <a:lumMod val="75000"/>
                    <a:lumOff val="25000"/>
                  </a:schemeClr>
                </a:solidFill>
              </a:rPr>
              <a:t>zipfp.namelist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gbkfilename</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i.encode</a:t>
            </a:r>
            <a:r>
              <a:rPr lang="en-US" altLang="zh-CN" sz="1600" dirty="0">
                <a:solidFill>
                  <a:schemeClr val="tx1">
                    <a:lumMod val="75000"/>
                    <a:lumOff val="25000"/>
                  </a:schemeClr>
                </a:solidFill>
              </a:rPr>
              <a:t>('cp437').decode('GBK')</a:t>
            </a:r>
          </a:p>
          <a:p>
            <a:pPr>
              <a:lnSpc>
                <a:spcPct val="12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gbkfilename</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说明：输出的列表中第一个元素是文件夹名，不是文件名。</a:t>
            </a:r>
          </a:p>
          <a:p>
            <a:pPr>
              <a:lnSpc>
                <a:spcPct val="120000"/>
              </a:lnSpc>
            </a:pPr>
            <a:r>
              <a:rPr lang="zh-CN" altLang="zh-CN" sz="1600" dirty="0">
                <a:solidFill>
                  <a:schemeClr val="tx1">
                    <a:lumMod val="75000"/>
                    <a:lumOff val="25000"/>
                  </a:schemeClr>
                </a:solidFill>
              </a:rPr>
              <a:t>注意：.namelist()方法能够获取指定压缩文件里的所有文件名（包括子文件夹下的文件），返回的是一个列表，但是请注意，文件夹包括子文件夹的名字出现在列表的前面，之后的元素才是文件名，所有文件按照目录层次列出</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b="1" dirty="0">
              <a:solidFill>
                <a:schemeClr val="tx1">
                  <a:lumMod val="75000"/>
                  <a:lumOff val="25000"/>
                </a:schemeClr>
              </a:solidFill>
            </a:endParaRPr>
          </a:p>
        </p:txBody>
      </p:sp>
      <p:sp>
        <p:nvSpPr>
          <p:cNvPr id="7" name="矩形 6"/>
          <p:cNvSpPr/>
          <p:nvPr/>
        </p:nvSpPr>
        <p:spPr>
          <a:xfrm>
            <a:off x="955910" y="2298698"/>
            <a:ext cx="8627612" cy="3933384"/>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【例】解压指定目录下的压缩文件并保存到指定的文件夹下。</a:t>
            </a:r>
          </a:p>
          <a:p>
            <a:pPr>
              <a:lnSpc>
                <a:spcPct val="120000"/>
              </a:lnSpc>
            </a:pPr>
            <a:r>
              <a:rPr lang="en-US" altLang="zh-CN" sz="1600" dirty="0">
                <a:solidFill>
                  <a:schemeClr val="tx1">
                    <a:lumMod val="75000"/>
                    <a:lumOff val="25000"/>
                  </a:schemeClr>
                </a:solidFill>
              </a:rPr>
              <a:t>#coding=utf-8</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解压</a:t>
            </a:r>
            <a:r>
              <a:rPr lang="en-US" altLang="zh-CN" sz="1600" dirty="0">
                <a:solidFill>
                  <a:schemeClr val="tx1">
                    <a:lumMod val="75000"/>
                    <a:lumOff val="25000"/>
                  </a:schemeClr>
                </a:solidFill>
              </a:rPr>
              <a:t>.zip</a:t>
            </a:r>
            <a:r>
              <a:rPr lang="zh-CN" altLang="en-US" sz="1600" dirty="0">
                <a:solidFill>
                  <a:schemeClr val="tx1">
                    <a:lumMod val="75000"/>
                    <a:lumOff val="25000"/>
                  </a:schemeClr>
                </a:solidFill>
              </a:rPr>
              <a:t>文件，将解压后的文件放到一个新的文件夹下</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zipfile</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:\\1.zip'</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新文件夹</a:t>
            </a:r>
          </a:p>
          <a:p>
            <a:pPr>
              <a:lnSpc>
                <a:spcPct val="120000"/>
              </a:lnSpc>
            </a:pPr>
            <a:r>
              <a:rPr lang="en-US" altLang="zh-CN" sz="1600" dirty="0" err="1">
                <a:solidFill>
                  <a:schemeClr val="tx1">
                    <a:lumMod val="75000"/>
                    <a:lumOff val="25000"/>
                  </a:schemeClr>
                </a:solidFill>
              </a:rPr>
              <a:t>new_filedir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创建新文件夹来放加压后的文件</a:t>
            </a:r>
          </a:p>
          <a:p>
            <a:pPr>
              <a:lnSpc>
                <a:spcPct val="120000"/>
              </a:lnSpc>
            </a:pPr>
            <a:r>
              <a:rPr lang="en-US" altLang="zh-CN" sz="1600" dirty="0" err="1">
                <a:solidFill>
                  <a:schemeClr val="tx1">
                    <a:lumMod val="75000"/>
                    <a:lumOff val="25000"/>
                  </a:schemeClr>
                </a:solidFill>
              </a:rPr>
              <a:t>os.mkdir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new_filedir</a:t>
            </a:r>
            <a:r>
              <a:rPr lang="en-US" altLang="zh-CN" sz="1600" dirty="0">
                <a:solidFill>
                  <a:schemeClr val="tx1">
                    <a:lumMod val="75000"/>
                    <a:lumOff val="25000"/>
                  </a:schemeClr>
                </a:solidFill>
              </a:rPr>
              <a:t>)  #</a:t>
            </a:r>
            <a:r>
              <a:rPr lang="zh-CN" altLang="en-US" sz="1600" dirty="0">
                <a:solidFill>
                  <a:schemeClr val="tx1">
                    <a:lumMod val="75000"/>
                    <a:lumOff val="25000"/>
                  </a:schemeClr>
                </a:solidFill>
              </a:rPr>
              <a:t>必须确保要创建的文件夹不存在，否则会报错！</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以“</a:t>
            </a:r>
            <a:r>
              <a:rPr lang="en-US" altLang="zh-CN" sz="1600" dirty="0">
                <a:solidFill>
                  <a:schemeClr val="tx1">
                    <a:lumMod val="75000"/>
                    <a:lumOff val="25000"/>
                  </a:schemeClr>
                </a:solidFill>
              </a:rPr>
              <a:t>r”</a:t>
            </a:r>
            <a:r>
              <a:rPr lang="zh-CN" altLang="en-US" sz="1600" dirty="0">
                <a:solidFill>
                  <a:schemeClr val="tx1">
                    <a:lumMod val="75000"/>
                    <a:lumOff val="25000"/>
                  </a:schemeClr>
                </a:solidFill>
              </a:rPr>
              <a:t>模式打开指定</a:t>
            </a:r>
            <a:r>
              <a:rPr lang="en-US" altLang="zh-CN" sz="1600" dirty="0">
                <a:solidFill>
                  <a:schemeClr val="tx1">
                    <a:lumMod val="75000"/>
                    <a:lumOff val="25000"/>
                  </a:schemeClr>
                </a:solidFill>
              </a:rPr>
              <a:t>.zip</a:t>
            </a:r>
            <a:r>
              <a:rPr lang="zh-CN" altLang="en-US" sz="1600" dirty="0">
                <a:solidFill>
                  <a:schemeClr val="tx1">
                    <a:lumMod val="75000"/>
                    <a:lumOff val="25000"/>
                  </a:schemeClr>
                </a:solidFill>
              </a:rPr>
              <a:t>文件</a:t>
            </a:r>
          </a:p>
          <a:p>
            <a:pPr>
              <a:lnSpc>
                <a:spcPct val="120000"/>
              </a:lnSpc>
            </a:pPr>
            <a:r>
              <a:rPr lang="en-US" altLang="zh-CN" sz="1600" dirty="0" err="1">
                <a:solidFill>
                  <a:schemeClr val="tx1">
                    <a:lumMod val="75000"/>
                    <a:lumOff val="25000"/>
                  </a:schemeClr>
                </a:solidFill>
              </a:rPr>
              <a:t>zipfp</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zipfile.ZipFile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,'r')</a:t>
            </a:r>
          </a:p>
          <a:p>
            <a:pPr>
              <a:lnSpc>
                <a:spcPct val="120000"/>
              </a:lnSpc>
            </a:pPr>
            <a:endParaRPr lang="en-US" altLang="zh-CN" sz="1600" dirty="0">
              <a:solidFill>
                <a:schemeClr val="tx1">
                  <a:lumMod val="75000"/>
                  <a:lumOff val="25000"/>
                </a:schemeClr>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5" name="矩形 4"/>
          <p:cNvSpPr/>
          <p:nvPr/>
        </p:nvSpPr>
        <p:spPr>
          <a:xfrm>
            <a:off x="991487" y="2325004"/>
            <a:ext cx="9952052" cy="3909660"/>
          </a:xfrm>
          <a:prstGeom prst="rect">
            <a:avLst/>
          </a:prstGeom>
        </p:spPr>
        <p:txBody>
          <a:bodyPr wrap="square">
            <a:spAutoFit/>
          </a:bodyPr>
          <a:lstStyle/>
          <a:p>
            <a:pPr>
              <a:lnSpc>
                <a:spcPct val="120000"/>
              </a:lnSpc>
            </a:pPr>
            <a:r>
              <a:rPr lang="en-US" altLang="zh-CN" sz="1600" dirty="0">
                <a:solidFill>
                  <a:schemeClr val="tx1">
                    <a:lumMod val="75000"/>
                    <a:lumOff val="25000"/>
                  </a:schemeClr>
                </a:solidFill>
              </a:rPr>
              <a:t>for filename in </a:t>
            </a:r>
            <a:r>
              <a:rPr lang="en-US" altLang="zh-CN" sz="1600" dirty="0" err="1">
                <a:solidFill>
                  <a:schemeClr val="tx1">
                    <a:lumMod val="75000"/>
                    <a:lumOff val="25000"/>
                  </a:schemeClr>
                </a:solidFill>
              </a:rPr>
              <a:t>zipfp.namelist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if(filename[-1]=='/'): #</a:t>
            </a:r>
            <a:r>
              <a:rPr lang="zh-CN" altLang="en-US" sz="1600" dirty="0">
                <a:solidFill>
                  <a:schemeClr val="tx1">
                    <a:lumMod val="75000"/>
                    <a:lumOff val="25000"/>
                  </a:schemeClr>
                </a:solidFill>
              </a:rPr>
              <a:t>目录</a:t>
            </a:r>
          </a:p>
          <a:p>
            <a:pPr>
              <a:lnSpc>
                <a:spcPct val="12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os.mkdir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new_filedir+filename.encode</a:t>
            </a:r>
            <a:r>
              <a:rPr lang="en-US" altLang="zh-CN" sz="1600" dirty="0">
                <a:solidFill>
                  <a:schemeClr val="tx1">
                    <a:lumMod val="75000"/>
                    <a:lumOff val="25000"/>
                  </a:schemeClr>
                </a:solidFill>
              </a:rPr>
              <a:t>('cp437').decode('</a:t>
            </a:r>
            <a:r>
              <a:rPr lang="en-US" altLang="zh-CN" sz="1600" dirty="0" err="1">
                <a:solidFill>
                  <a:schemeClr val="tx1">
                    <a:lumMod val="75000"/>
                    <a:lumOff val="25000"/>
                  </a:schemeClr>
                </a:solidFill>
              </a:rPr>
              <a:t>gbk</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else:</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zipfile_list</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os.path.split</a:t>
            </a:r>
            <a:r>
              <a:rPr lang="en-US" altLang="zh-CN" sz="1600" dirty="0">
                <a:solidFill>
                  <a:schemeClr val="tx1">
                    <a:lumMod val="75000"/>
                    <a:lumOff val="25000"/>
                  </a:schemeClr>
                </a:solidFill>
              </a:rPr>
              <a:t>(filename)</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new_filedir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zipfile_list</a:t>
            </a:r>
            <a:r>
              <a:rPr lang="en-US" altLang="zh-CN" sz="1600" dirty="0">
                <a:solidFill>
                  <a:schemeClr val="tx1">
                    <a:lumMod val="75000"/>
                    <a:lumOff val="25000"/>
                  </a:schemeClr>
                </a:solidFill>
              </a:rPr>
              <a:t>[0].encode('cp437').decode('</a:t>
            </a:r>
            <a:r>
              <a:rPr lang="en-US" altLang="zh-CN" sz="1600" dirty="0" err="1">
                <a:solidFill>
                  <a:schemeClr val="tx1">
                    <a:lumMod val="75000"/>
                    <a:lumOff val="25000"/>
                  </a:schemeClr>
                </a:solidFill>
              </a:rPr>
              <a:t>gbk</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data = </a:t>
            </a:r>
            <a:r>
              <a:rPr lang="en-US" altLang="zh-CN" sz="1600" dirty="0" err="1">
                <a:solidFill>
                  <a:schemeClr val="tx1">
                    <a:lumMod val="75000"/>
                    <a:lumOff val="25000"/>
                  </a:schemeClr>
                </a:solidFill>
              </a:rPr>
              <a:t>zipfp.read</a:t>
            </a:r>
            <a:r>
              <a:rPr lang="en-US" altLang="zh-CN" sz="1600" dirty="0">
                <a:solidFill>
                  <a:schemeClr val="tx1">
                    <a:lumMod val="75000"/>
                    <a:lumOff val="25000"/>
                  </a:schemeClr>
                </a:solidFill>
              </a:rPr>
              <a:t>(filename)</a:t>
            </a:r>
          </a:p>
          <a:p>
            <a:pPr>
              <a:lnSpc>
                <a:spcPct val="120000"/>
              </a:lnSpc>
            </a:pPr>
            <a:r>
              <a:rPr lang="en-US" altLang="zh-CN" sz="1600" dirty="0">
                <a:solidFill>
                  <a:schemeClr val="tx1">
                    <a:lumMod val="75000"/>
                    <a:lumOff val="25000"/>
                  </a:schemeClr>
                </a:solidFill>
              </a:rPr>
              <a:t>        file = open(</a:t>
            </a:r>
            <a:r>
              <a:rPr lang="en-US" altLang="zh-CN" sz="1600" dirty="0" err="1">
                <a:solidFill>
                  <a:schemeClr val="tx1">
                    <a:lumMod val="75000"/>
                    <a:lumOff val="25000"/>
                  </a:schemeClr>
                </a:solidFill>
              </a:rPr>
              <a:t>zipfile_list</a:t>
            </a:r>
            <a:r>
              <a:rPr lang="en-US" altLang="zh-CN" sz="1600" dirty="0">
                <a:solidFill>
                  <a:schemeClr val="tx1">
                    <a:lumMod val="75000"/>
                    <a:lumOff val="25000"/>
                  </a:schemeClr>
                </a:solidFill>
              </a:rPr>
              <a:t>[1].encode('cp437').decode('</a:t>
            </a:r>
            <a:r>
              <a:rPr lang="en-US" altLang="zh-CN" sz="1600" dirty="0" err="1">
                <a:solidFill>
                  <a:schemeClr val="tx1">
                    <a:lumMod val="75000"/>
                    <a:lumOff val="25000"/>
                  </a:schemeClr>
                </a:solidFill>
              </a:rPr>
              <a:t>gbk</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wb</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 </a:t>
            </a:r>
            <a:r>
              <a:rPr lang="zh-CN" altLang="en-US" sz="1600" dirty="0">
                <a:solidFill>
                  <a:schemeClr val="tx1">
                    <a:lumMod val="75000"/>
                    <a:lumOff val="25000"/>
                  </a:schemeClr>
                </a:solidFill>
              </a:rPr>
              <a:t>将解压获得的数据即文件中的内容写入到新的文件中</a:t>
            </a:r>
          </a:p>
          <a:p>
            <a:pPr>
              <a:lnSpc>
                <a:spcPct val="12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file.write</a:t>
            </a:r>
            <a:r>
              <a:rPr lang="en-US" altLang="zh-CN" sz="1600" dirty="0">
                <a:solidFill>
                  <a:schemeClr val="tx1">
                    <a:lumMod val="75000"/>
                    <a:lumOff val="25000"/>
                  </a:schemeClr>
                </a:solidFill>
              </a:rPr>
              <a:t>(data)</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file.close</a:t>
            </a:r>
            <a:r>
              <a:rPr lang="en-US" altLang="zh-CN" sz="1600" dirty="0">
                <a:solidFill>
                  <a:schemeClr val="tx1">
                    <a:lumMod val="75000"/>
                    <a:lumOff val="25000"/>
                  </a:schemeClr>
                </a:solidFill>
              </a:rPr>
              <a:t>()</a:t>
            </a:r>
          </a:p>
          <a:p>
            <a:pPr>
              <a:lnSpc>
                <a:spcPct val="120000"/>
              </a:lnSpc>
            </a:pPr>
            <a:r>
              <a:rPr lang="zh-CN" altLang="zh-CN" sz="1600" dirty="0">
                <a:solidFill>
                  <a:schemeClr val="tx1">
                    <a:lumMod val="75000"/>
                    <a:lumOff val="25000"/>
                  </a:schemeClr>
                </a:solidFill>
              </a:rPr>
              <a:t>注意：代码中“os.mkdir(path)”的作用是创建一个新的文件夹，方法.mkdir()在使用时必须确保要创建的新文件夹不存在，否则会报错！</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6" name="矩形 5"/>
          <p:cNvSpPr/>
          <p:nvPr/>
        </p:nvSpPr>
        <p:spPr>
          <a:xfrm>
            <a:off x="910758" y="2320858"/>
            <a:ext cx="10383911" cy="4425827"/>
          </a:xfrm>
          <a:prstGeom prst="rect">
            <a:avLst/>
          </a:prstGeom>
        </p:spPr>
        <p:txBody>
          <a:bodyPr wrap="square">
            <a:spAutoFit/>
          </a:bodyPr>
          <a:lstStyle/>
          <a:p>
            <a:pPr>
              <a:lnSpc>
                <a:spcPct val="110000"/>
              </a:lnSpc>
            </a:pPr>
            <a:r>
              <a:rPr lang="zh-CN" altLang="zh-CN" sz="1600" dirty="0">
                <a:solidFill>
                  <a:schemeClr val="tx1">
                    <a:lumMod val="75000"/>
                    <a:lumOff val="25000"/>
                  </a:schemeClr>
                </a:solidFill>
              </a:rPr>
              <a:t>【例】压缩指定目录下文件夹内文件，压缩文件内只添加一级子目录中的文件。</a:t>
            </a:r>
          </a:p>
          <a:p>
            <a:pPr>
              <a:lnSpc>
                <a:spcPct val="110000"/>
              </a:lnSpc>
            </a:pPr>
            <a:r>
              <a:rPr lang="en-US" altLang="zh-CN" sz="1600" dirty="0">
                <a:solidFill>
                  <a:schemeClr val="tx1">
                    <a:lumMod val="75000"/>
                    <a:lumOff val="25000"/>
                  </a:schemeClr>
                </a:solidFill>
              </a:rPr>
              <a:t>#coding=utf-8</a:t>
            </a:r>
          </a:p>
          <a:p>
            <a:pPr>
              <a:lnSpc>
                <a:spcPct val="11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1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zipfile</a:t>
            </a:r>
            <a:endParaRPr lang="en-US" altLang="zh-CN" sz="1600" dirty="0">
              <a:solidFill>
                <a:schemeClr val="tx1">
                  <a:lumMod val="75000"/>
                  <a:lumOff val="25000"/>
                </a:schemeClr>
              </a:solidFill>
            </a:endParaRPr>
          </a:p>
          <a:p>
            <a:pPr>
              <a:lnSpc>
                <a:spcPct val="110000"/>
              </a:lnSpc>
            </a:pP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 </a:t>
            </a:r>
            <a:r>
              <a:rPr lang="zh-CN" altLang="en-US" sz="1600" dirty="0">
                <a:solidFill>
                  <a:schemeClr val="tx1">
                    <a:lumMod val="75000"/>
                    <a:lumOff val="25000"/>
                  </a:schemeClr>
                </a:solidFill>
              </a:rPr>
              <a:t>压缩文件包的名字</a:t>
            </a:r>
          </a:p>
          <a:p>
            <a:pPr>
              <a:lnSpc>
                <a:spcPct val="110000"/>
              </a:lnSpc>
            </a:pP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:\11.zip'</a:t>
            </a:r>
          </a:p>
          <a:p>
            <a:pPr>
              <a:lnSpc>
                <a:spcPct val="11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注意这里的第二个参数是</a:t>
            </a:r>
            <a:r>
              <a:rPr lang="en-US" altLang="zh-CN" sz="1600" dirty="0">
                <a:solidFill>
                  <a:schemeClr val="tx1">
                    <a:lumMod val="75000"/>
                    <a:lumOff val="25000"/>
                  </a:schemeClr>
                </a:solidFill>
              </a:rPr>
              <a:t>w</a:t>
            </a:r>
            <a:r>
              <a:rPr lang="zh-CN" altLang="en-US" sz="1600" dirty="0">
                <a:solidFill>
                  <a:schemeClr val="tx1">
                    <a:lumMod val="75000"/>
                    <a:lumOff val="25000"/>
                  </a:schemeClr>
                </a:solidFill>
              </a:rPr>
              <a:t>，这里的</a:t>
            </a:r>
            <a:r>
              <a:rPr lang="en-US" altLang="zh-CN" sz="1600" dirty="0" err="1">
                <a:solidFill>
                  <a:schemeClr val="tx1">
                    <a:lumMod val="75000"/>
                    <a:lumOff val="25000"/>
                  </a:schemeClr>
                </a:solidFill>
              </a:rPr>
              <a:t>zipfilename</a:t>
            </a:r>
            <a:r>
              <a:rPr lang="zh-CN" altLang="en-US" sz="1600" dirty="0">
                <a:solidFill>
                  <a:schemeClr val="tx1">
                    <a:lumMod val="75000"/>
                    <a:lumOff val="25000"/>
                  </a:schemeClr>
                </a:solidFill>
              </a:rPr>
              <a:t>是压缩包的名字</a:t>
            </a:r>
          </a:p>
          <a:p>
            <a:pPr>
              <a:lnSpc>
                <a:spcPct val="110000"/>
              </a:lnSpc>
            </a:pPr>
            <a:r>
              <a:rPr lang="en-US" altLang="zh-CN" sz="1600" dirty="0" err="1">
                <a:solidFill>
                  <a:schemeClr val="tx1">
                    <a:lumMod val="75000"/>
                    <a:lumOff val="25000"/>
                  </a:schemeClr>
                </a:solidFill>
              </a:rPr>
              <a:t>zf</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zipfile.ZipFile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'w') # </a:t>
            </a:r>
            <a:r>
              <a:rPr lang="en-US" altLang="zh-CN" sz="1600" dirty="0" err="1">
                <a:solidFill>
                  <a:schemeClr val="tx1">
                    <a:lumMod val="75000"/>
                    <a:lumOff val="25000"/>
                  </a:schemeClr>
                </a:solidFill>
              </a:rPr>
              <a:t>testdir</a:t>
            </a:r>
            <a:r>
              <a:rPr lang="zh-CN" altLang="en-US" sz="1600" dirty="0">
                <a:solidFill>
                  <a:schemeClr val="tx1">
                    <a:lumMod val="75000"/>
                    <a:lumOff val="25000"/>
                  </a:schemeClr>
                </a:solidFill>
              </a:rPr>
              <a:t>为要压缩的文件夹名</a:t>
            </a:r>
          </a:p>
          <a:p>
            <a:pPr>
              <a:lnSpc>
                <a:spcPct val="11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假设要把一个叫</a:t>
            </a:r>
            <a:r>
              <a:rPr lang="en-US" altLang="zh-CN" sz="1600" dirty="0" err="1">
                <a:solidFill>
                  <a:schemeClr val="tx1">
                    <a:lumMod val="75000"/>
                    <a:lumOff val="25000"/>
                  </a:schemeClr>
                </a:solidFill>
              </a:rPr>
              <a:t>testdir</a:t>
            </a:r>
            <a:r>
              <a:rPr lang="zh-CN" altLang="en-US" sz="1600" dirty="0">
                <a:solidFill>
                  <a:schemeClr val="tx1">
                    <a:lumMod val="75000"/>
                    <a:lumOff val="25000"/>
                  </a:schemeClr>
                </a:solidFill>
              </a:rPr>
              <a:t>中的文件全部添加到压缩包里（这里只添加一级子目录中的文件）</a:t>
            </a:r>
          </a:p>
          <a:p>
            <a:pPr>
              <a:lnSpc>
                <a:spcPct val="110000"/>
              </a:lnSpc>
            </a:pPr>
            <a:r>
              <a:rPr lang="en-US" altLang="zh-CN" sz="1600" dirty="0">
                <a:solidFill>
                  <a:schemeClr val="tx1">
                    <a:lumMod val="75000"/>
                    <a:lumOff val="25000"/>
                  </a:schemeClr>
                </a:solidFill>
              </a:rPr>
              <a:t>if </a:t>
            </a:r>
            <a:r>
              <a:rPr lang="en-US" altLang="zh-CN" sz="1600" dirty="0" err="1">
                <a:solidFill>
                  <a:schemeClr val="tx1">
                    <a:lumMod val="75000"/>
                    <a:lumOff val="25000"/>
                  </a:schemeClr>
                </a:solidFill>
              </a:rPr>
              <a:t>os.path.isdir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for d in </a:t>
            </a:r>
            <a:r>
              <a:rPr lang="en-US" altLang="zh-CN" sz="1600" dirty="0" err="1">
                <a:solidFill>
                  <a:schemeClr val="tx1">
                    <a:lumMod val="75000"/>
                    <a:lumOff val="25000"/>
                  </a:schemeClr>
                </a:solidFill>
              </a:rPr>
              <a:t>os.listdir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zf.write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filedir+os.sep+d</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os.sep</a:t>
            </a:r>
            <a:r>
              <a:rPr lang="zh-CN" altLang="en-US" sz="1600" dirty="0">
                <a:solidFill>
                  <a:schemeClr val="tx1">
                    <a:lumMod val="75000"/>
                    <a:lumOff val="25000"/>
                  </a:schemeClr>
                </a:solidFill>
              </a:rPr>
              <a:t>是文件分隔符</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close() </a:t>
            </a:r>
            <a:r>
              <a:rPr lang="zh-CN" altLang="en-US" sz="1600" dirty="0">
                <a:solidFill>
                  <a:schemeClr val="tx1">
                    <a:lumMod val="75000"/>
                    <a:lumOff val="25000"/>
                  </a:schemeClr>
                </a:solidFill>
              </a:rPr>
              <a:t>是必须调用的！</a:t>
            </a:r>
          </a:p>
          <a:p>
            <a:pPr>
              <a:lnSpc>
                <a:spcPct val="110000"/>
              </a:lnSpc>
            </a:pPr>
            <a:r>
              <a:rPr lang="en-US" altLang="zh-CN" sz="1600" dirty="0" err="1">
                <a:solidFill>
                  <a:schemeClr val="tx1">
                    <a:lumMod val="75000"/>
                    <a:lumOff val="25000"/>
                  </a:schemeClr>
                </a:solidFill>
              </a:rPr>
              <a:t>zf.close</a:t>
            </a:r>
            <a:r>
              <a:rPr lang="en-US" altLang="zh-CN" sz="1600" dirty="0">
                <a:solidFill>
                  <a:schemeClr val="tx1">
                    <a:lumMod val="75000"/>
                    <a:lumOff val="25000"/>
                  </a:schemeClr>
                </a:solidFill>
              </a:rPr>
              <a:t>()</a:t>
            </a:r>
          </a:p>
          <a:p>
            <a:pPr>
              <a:lnSpc>
                <a:spcPct val="110000"/>
              </a:lnSpc>
            </a:pPr>
            <a:r>
              <a:rPr lang="zh-CN" altLang="zh-CN" sz="1600" dirty="0">
                <a:solidFill>
                  <a:schemeClr val="tx1">
                    <a:lumMod val="75000"/>
                    <a:lumOff val="25000"/>
                  </a:schemeClr>
                </a:solidFill>
              </a:rPr>
              <a:t>注意：本例中的代码只能完成将指定文件夹下的全部文件添加到压缩包里，不能添加文件夹下子文件夹里的文件到压缩包，即解压压缩后的文件会发现子文件夹是空的。</a:t>
            </a:r>
            <a:endParaRPr lang="zh-CN" altLang="en-US" sz="3600" dirty="0">
              <a:latin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5" name="矩形 4"/>
          <p:cNvSpPr/>
          <p:nvPr/>
        </p:nvSpPr>
        <p:spPr>
          <a:xfrm>
            <a:off x="979104" y="2181529"/>
            <a:ext cx="10600858" cy="4524315"/>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【例】把整个文件夹进行压缩，包括下级子文件夹里的文件也添加到压缩文件里了，但仍然保持原有的目录结构不变。</a:t>
            </a:r>
          </a:p>
          <a:p>
            <a:pPr>
              <a:lnSpc>
                <a:spcPct val="120000"/>
              </a:lnSpc>
            </a:pPr>
            <a:r>
              <a:rPr lang="en-US" altLang="zh-CN" sz="1600" dirty="0">
                <a:solidFill>
                  <a:schemeClr val="tx1">
                    <a:lumMod val="75000"/>
                    <a:lumOff val="25000"/>
                  </a:schemeClr>
                </a:solidFill>
              </a:rPr>
              <a:t>#coding=utf-8</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zipfile</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 </a:t>
            </a:r>
            <a:r>
              <a:rPr lang="zh-CN" altLang="en-US" sz="1600" dirty="0">
                <a:solidFill>
                  <a:schemeClr val="tx1">
                    <a:lumMod val="75000"/>
                    <a:lumOff val="25000"/>
                  </a:schemeClr>
                </a:solidFill>
              </a:rPr>
              <a:t>压缩文件包的名字</a:t>
            </a:r>
          </a:p>
          <a:p>
            <a:pPr>
              <a:lnSpc>
                <a:spcPct val="120000"/>
              </a:lnSpc>
            </a:pP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:\11.zip'</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注意这里的第二个参数是</a:t>
            </a:r>
            <a:r>
              <a:rPr lang="en-US" altLang="zh-CN" sz="1600" dirty="0">
                <a:solidFill>
                  <a:schemeClr val="tx1">
                    <a:lumMod val="75000"/>
                    <a:lumOff val="25000"/>
                  </a:schemeClr>
                </a:solidFill>
              </a:rPr>
              <a:t>w</a:t>
            </a:r>
            <a:r>
              <a:rPr lang="zh-CN" altLang="en-US" sz="1600" dirty="0">
                <a:solidFill>
                  <a:schemeClr val="tx1">
                    <a:lumMod val="75000"/>
                    <a:lumOff val="25000"/>
                  </a:schemeClr>
                </a:solidFill>
              </a:rPr>
              <a:t>，这里的</a:t>
            </a:r>
            <a:r>
              <a:rPr lang="en-US" altLang="zh-CN" sz="1600" dirty="0" err="1">
                <a:solidFill>
                  <a:schemeClr val="tx1">
                    <a:lumMod val="75000"/>
                    <a:lumOff val="25000"/>
                  </a:schemeClr>
                </a:solidFill>
              </a:rPr>
              <a:t>zipfilename</a:t>
            </a:r>
            <a:r>
              <a:rPr lang="zh-CN" altLang="en-US" sz="1600" dirty="0">
                <a:solidFill>
                  <a:schemeClr val="tx1">
                    <a:lumMod val="75000"/>
                    <a:lumOff val="25000"/>
                  </a:schemeClr>
                </a:solidFill>
              </a:rPr>
              <a:t>是压缩包的名字</a:t>
            </a:r>
          </a:p>
          <a:p>
            <a:pPr>
              <a:lnSpc>
                <a:spcPct val="120000"/>
              </a:lnSpc>
            </a:pPr>
            <a:r>
              <a:rPr lang="en-US" altLang="zh-CN" sz="1600" dirty="0" err="1">
                <a:solidFill>
                  <a:schemeClr val="tx1">
                    <a:lumMod val="75000"/>
                    <a:lumOff val="25000"/>
                  </a:schemeClr>
                </a:solidFill>
              </a:rPr>
              <a:t>zf</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zipfile.ZipFile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'w') # </a:t>
            </a:r>
            <a:r>
              <a:rPr lang="en-US" altLang="zh-CN" sz="1600" dirty="0" err="1">
                <a:solidFill>
                  <a:schemeClr val="tx1">
                    <a:lumMod val="75000"/>
                    <a:lumOff val="25000"/>
                  </a:schemeClr>
                </a:solidFill>
              </a:rPr>
              <a:t>testdir</a:t>
            </a:r>
            <a:r>
              <a:rPr lang="zh-CN" altLang="en-US" sz="1600" dirty="0">
                <a:solidFill>
                  <a:schemeClr val="tx1">
                    <a:lumMod val="75000"/>
                    <a:lumOff val="25000"/>
                  </a:schemeClr>
                </a:solidFill>
              </a:rPr>
              <a:t>为要压缩的文件夹名</a:t>
            </a:r>
          </a:p>
          <a:p>
            <a:pPr>
              <a:lnSpc>
                <a:spcPct val="120000"/>
              </a:lnSpc>
            </a:pPr>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dirpath</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dirnames</a:t>
            </a:r>
            <a:r>
              <a:rPr lang="en-US" altLang="zh-CN" sz="1600" dirty="0">
                <a:solidFill>
                  <a:schemeClr val="tx1">
                    <a:lumMod val="75000"/>
                    <a:lumOff val="25000"/>
                  </a:schemeClr>
                </a:solidFill>
              </a:rPr>
              <a:t>, filenames in </a:t>
            </a:r>
            <a:r>
              <a:rPr lang="en-US" altLang="zh-CN" sz="1600" dirty="0" err="1">
                <a:solidFill>
                  <a:schemeClr val="tx1">
                    <a:lumMod val="75000"/>
                    <a:lumOff val="25000"/>
                  </a:schemeClr>
                </a:solidFill>
              </a:rPr>
              <a:t>os.walk</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dirpath</a:t>
            </a:r>
            <a:r>
              <a:rPr lang="zh-CN" altLang="en-US" sz="1600" dirty="0">
                <a:solidFill>
                  <a:schemeClr val="tx1">
                    <a:lumMod val="75000"/>
                    <a:lumOff val="25000"/>
                  </a:schemeClr>
                </a:solidFill>
              </a:rPr>
              <a:t>是根目录</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dirnames</a:t>
            </a:r>
            <a:r>
              <a:rPr lang="zh-CN" altLang="en-US" sz="1600" dirty="0">
                <a:solidFill>
                  <a:schemeClr val="tx1">
                    <a:lumMod val="75000"/>
                    <a:lumOff val="25000"/>
                  </a:schemeClr>
                </a:solidFill>
              </a:rPr>
              <a:t>存放的是子目录，</a:t>
            </a:r>
            <a:r>
              <a:rPr lang="en-US" altLang="zh-CN" sz="1600" dirty="0">
                <a:solidFill>
                  <a:schemeClr val="tx1">
                    <a:lumMod val="75000"/>
                    <a:lumOff val="25000"/>
                  </a:schemeClr>
                </a:solidFill>
              </a:rPr>
              <a:t>filenames</a:t>
            </a:r>
            <a:r>
              <a:rPr lang="zh-CN" altLang="en-US" sz="1600" dirty="0">
                <a:solidFill>
                  <a:schemeClr val="tx1">
                    <a:lumMod val="75000"/>
                    <a:lumOff val="25000"/>
                  </a:schemeClr>
                </a:solidFill>
              </a:rPr>
              <a:t>存放的是根目录下边的文件</a:t>
            </a:r>
          </a:p>
          <a:p>
            <a:pPr>
              <a:lnSpc>
                <a:spcPct val="12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for filename in filenames:</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通过</a:t>
            </a:r>
            <a:r>
              <a:rPr lang="en-US" altLang="zh-CN" sz="1600" dirty="0" err="1">
                <a:solidFill>
                  <a:schemeClr val="tx1">
                    <a:lumMod val="75000"/>
                    <a:lumOff val="25000"/>
                  </a:schemeClr>
                </a:solidFill>
              </a:rPr>
              <a:t>os.path.join</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得到完整路径</a:t>
            </a:r>
          </a:p>
          <a:p>
            <a:pPr>
              <a:lnSpc>
                <a:spcPct val="12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zf.write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os.path.join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dirpath,filename</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close() </a:t>
            </a:r>
            <a:r>
              <a:rPr lang="zh-CN" altLang="en-US" sz="1600" dirty="0">
                <a:solidFill>
                  <a:schemeClr val="tx1">
                    <a:lumMod val="75000"/>
                    <a:lumOff val="25000"/>
                  </a:schemeClr>
                </a:solidFill>
              </a:rPr>
              <a:t>是必须调用的！</a:t>
            </a:r>
          </a:p>
          <a:p>
            <a:pPr>
              <a:lnSpc>
                <a:spcPct val="120000"/>
              </a:lnSpc>
            </a:pPr>
            <a:r>
              <a:rPr lang="en-US" altLang="zh-CN" sz="1600" dirty="0" err="1">
                <a:solidFill>
                  <a:schemeClr val="tx1">
                    <a:lumMod val="75000"/>
                    <a:lumOff val="25000"/>
                  </a:schemeClr>
                </a:solidFill>
              </a:rPr>
              <a:t>zf.close</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6" name="矩形 5"/>
          <p:cNvSpPr/>
          <p:nvPr/>
        </p:nvSpPr>
        <p:spPr>
          <a:xfrm>
            <a:off x="1096034" y="2287397"/>
            <a:ext cx="10257765" cy="3262432"/>
          </a:xfrm>
          <a:prstGeom prst="rect">
            <a:avLst/>
          </a:prstGeom>
        </p:spPr>
        <p:txBody>
          <a:bodyPr wrap="square">
            <a:spAutoFit/>
          </a:bodyPr>
          <a:lstStyle/>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命令详解：</a:t>
            </a:r>
          </a:p>
          <a:p>
            <a:pPr>
              <a:lnSpc>
                <a:spcPct val="120000"/>
              </a:lnSpc>
            </a:pPr>
            <a:r>
              <a:rPr lang="zh-CN" altLang="zh-CN" sz="1600" dirty="0">
                <a:solidFill>
                  <a:schemeClr val="tx1">
                    <a:lumMod val="75000"/>
                    <a:lumOff val="25000"/>
                  </a:schemeClr>
                </a:solidFill>
              </a:rPr>
              <a:t>import zipfile  #导入zipfile模块</a:t>
            </a:r>
          </a:p>
          <a:p>
            <a:pPr>
              <a:lnSpc>
                <a:spcPct val="120000"/>
              </a:lnSpc>
            </a:pPr>
            <a:r>
              <a:rPr lang="zh-CN" altLang="zh-CN" sz="1600" dirty="0">
                <a:solidFill>
                  <a:schemeClr val="tx1">
                    <a:lumMod val="75000"/>
                    <a:lumOff val="25000"/>
                  </a:schemeClr>
                </a:solidFill>
              </a:rPr>
              <a:t>zf = zipfile.ZipFile( filename[, mode[, compression[, allowZip64]]] )</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利用zipfile模块提供的ZipFile()类构造一个zipfile文件对象，同时打开指定的名为“filename”的“.zip”文件。打开压缩文件的模式“mode”可以是 'r'、'w'、'a'，代表不同的打开文件的方式，'r'表示解压文件，'w'和'a'表示压缩文件，但不能识别“rb”的打开模式。压缩标志“compression”指出这个zipfile用什么压缩方法，默认是ZIP_STORED，另一种选择是ZIP_DEFLATED。allowZip64是个bool型变量，当设置为True的时候可以用来创建大小大于2G的zip文件，默认值是True。</a:t>
            </a:r>
            <a:endParaRPr lang="zh-CN" altLang="zh-CN" sz="1600" dirty="0"/>
          </a:p>
          <a:p>
            <a:pPr indent="271780" eaLnBrk="0" fontAlgn="base" hangingPunct="0">
              <a:spcBef>
                <a:spcPct val="0"/>
              </a:spcBef>
              <a:spcAft>
                <a:spcPct val="0"/>
              </a:spcAft>
              <a:tabLst>
                <a:tab pos="2628900" algn="ctr"/>
                <a:tab pos="5292725" algn="r"/>
              </a:tabLst>
            </a:pPr>
            <a:endParaRPr lang="en-US" altLang="zh-CN" sz="1400" dirty="0">
              <a:solidFill>
                <a:srgbClr val="000000"/>
              </a:solidFill>
              <a:latin typeface="+mn-ea"/>
              <a:cs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5" name="文本框 4"/>
          <p:cNvSpPr txBox="1"/>
          <p:nvPr/>
        </p:nvSpPr>
        <p:spPr>
          <a:xfrm>
            <a:off x="4036456" y="2039726"/>
            <a:ext cx="3379885" cy="419474"/>
          </a:xfrm>
          <a:prstGeom prst="rect">
            <a:avLst/>
          </a:prstGeom>
          <a:noFill/>
        </p:spPr>
        <p:txBody>
          <a:bodyPr wrap="square" rtlCol="0">
            <a:spAutoFit/>
          </a:bodyPr>
          <a:lstStyle/>
          <a:p>
            <a:pPr algn="ctr">
              <a:lnSpc>
                <a:spcPct val="150000"/>
              </a:lnSpc>
            </a:pPr>
            <a:r>
              <a:rPr lang="zh-CN" altLang="zh-CN" sz="1600" dirty="0">
                <a:solidFill>
                  <a:schemeClr val="tx1">
                    <a:lumMod val="75000"/>
                    <a:lumOff val="25000"/>
                  </a:schemeClr>
                </a:solidFill>
              </a:rPr>
              <a:t>zipfile模块的常用方法</a:t>
            </a:r>
          </a:p>
        </p:txBody>
      </p:sp>
      <p:graphicFrame>
        <p:nvGraphicFramePr>
          <p:cNvPr id="7" name="表格 6"/>
          <p:cNvGraphicFramePr>
            <a:graphicFrameLocks noGrp="1"/>
          </p:cNvGraphicFramePr>
          <p:nvPr/>
        </p:nvGraphicFramePr>
        <p:xfrm>
          <a:off x="1089946" y="2519240"/>
          <a:ext cx="10012107" cy="4163058"/>
        </p:xfrm>
        <a:graphic>
          <a:graphicData uri="http://schemas.openxmlformats.org/drawingml/2006/table">
            <a:tbl>
              <a:tblPr firstRow="1" firstCol="1" bandRow="1">
                <a:tableStyleId>{5940675A-B579-460E-94D1-54222C63F5DA}</a:tableStyleId>
              </a:tblPr>
              <a:tblGrid>
                <a:gridCol w="2419152">
                  <a:extLst>
                    <a:ext uri="{9D8B030D-6E8A-4147-A177-3AD203B41FA5}">
                      <a16:colId xmlns:a16="http://schemas.microsoft.com/office/drawing/2014/main" val="20000"/>
                    </a:ext>
                  </a:extLst>
                </a:gridCol>
                <a:gridCol w="7592955">
                  <a:extLst>
                    <a:ext uri="{9D8B030D-6E8A-4147-A177-3AD203B41FA5}">
                      <a16:colId xmlns:a16="http://schemas.microsoft.com/office/drawing/2014/main" val="20001"/>
                    </a:ext>
                  </a:extLst>
                </a:gridCol>
              </a:tblGrid>
              <a:tr h="273050">
                <a:tc>
                  <a:txBody>
                    <a:bodyPr/>
                    <a:lstStyle/>
                    <a:p>
                      <a:pPr algn="ctr" defTabSz="914400">
                        <a:lnSpc>
                          <a:spcPct val="150000"/>
                        </a:lnSpc>
                        <a:buClrTx/>
                        <a:buSzTx/>
                        <a:buFontTx/>
                      </a:pPr>
                      <a:r>
                        <a:rPr lang="en-US" altLang="zh-CN" sz="1400" dirty="0">
                          <a:solidFill>
                            <a:schemeClr val="tx1">
                              <a:lumMod val="75000"/>
                              <a:lumOff val="25000"/>
                            </a:schemeClr>
                          </a:solidFill>
                        </a:rPr>
                        <a:t>方法</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描述</a:t>
                      </a:r>
                    </a:p>
                  </a:txBody>
                  <a:tcPr marL="68580" marR="68580" marT="0" marB="0" anchor="ctr"/>
                </a:tc>
                <a:extLst>
                  <a:ext uri="{0D108BD9-81ED-4DB2-BD59-A6C34878D82A}">
                    <a16:rowId xmlns:a16="http://schemas.microsoft.com/office/drawing/2014/main" val="10000"/>
                  </a:ext>
                </a:extLst>
              </a:tr>
              <a:tr h="581204">
                <a:tc>
                  <a:txBody>
                    <a:bodyPr/>
                    <a:lstStyle/>
                    <a:p>
                      <a:pPr algn="ctr" defTabSz="914400">
                        <a:lnSpc>
                          <a:spcPct val="150000"/>
                        </a:lnSpc>
                        <a:buClrTx/>
                        <a:buSzTx/>
                        <a:buFontTx/>
                      </a:pPr>
                      <a:r>
                        <a:rPr lang="en-US" altLang="zh-CN" sz="1400" dirty="0">
                          <a:solidFill>
                            <a:schemeClr val="tx1">
                              <a:lumMod val="75000"/>
                              <a:lumOff val="25000"/>
                            </a:schemeClr>
                          </a:solidFill>
                        </a:rPr>
                        <a:t>zf.is_ZipFile(filename)</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测试filename文件是否是一个有效的.zip文件，注意：要正确指明文件的路径</a:t>
                      </a:r>
                    </a:p>
                  </a:txBody>
                  <a:tcPr marL="68580" marR="68580" marT="0" marB="0" anchor="ctr"/>
                </a:tc>
                <a:extLst>
                  <a:ext uri="{0D108BD9-81ED-4DB2-BD59-A6C34878D82A}">
                    <a16:rowId xmlns:a16="http://schemas.microsoft.com/office/drawing/2014/main" val="10001"/>
                  </a:ext>
                </a:extLst>
              </a:tr>
              <a:tr h="273187">
                <a:tc>
                  <a:txBody>
                    <a:bodyPr/>
                    <a:lstStyle/>
                    <a:p>
                      <a:pPr algn="ctr" defTabSz="914400">
                        <a:lnSpc>
                          <a:spcPct val="150000"/>
                        </a:lnSpc>
                        <a:buClrTx/>
                        <a:buSzTx/>
                        <a:buFontTx/>
                      </a:pPr>
                      <a:r>
                        <a:rPr lang="en-US" altLang="zh-CN" sz="1400" dirty="0">
                          <a:solidFill>
                            <a:schemeClr val="tx1">
                              <a:lumMod val="75000"/>
                              <a:lumOff val="25000"/>
                            </a:schemeClr>
                          </a:solidFill>
                        </a:rPr>
                        <a:t>zf.read(filename)</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读压缩文件的内容</a:t>
                      </a:r>
                    </a:p>
                  </a:txBody>
                  <a:tcPr marL="68580" marR="68580" marT="0" marB="0" anchor="ctr"/>
                </a:tc>
                <a:extLst>
                  <a:ext uri="{0D108BD9-81ED-4DB2-BD59-A6C34878D82A}">
                    <a16:rowId xmlns:a16="http://schemas.microsoft.com/office/drawing/2014/main" val="10002"/>
                  </a:ext>
                </a:extLst>
              </a:tr>
              <a:tr h="889220">
                <a:tc>
                  <a:txBody>
                    <a:bodyPr/>
                    <a:lstStyle/>
                    <a:p>
                      <a:pPr algn="ctr" defTabSz="914400">
                        <a:lnSpc>
                          <a:spcPct val="150000"/>
                        </a:lnSpc>
                        <a:buClrTx/>
                        <a:buSzTx/>
                        <a:buFontTx/>
                      </a:pPr>
                      <a:r>
                        <a:rPr lang="en-US" altLang="zh-CN" sz="1400" dirty="0">
                          <a:solidFill>
                            <a:schemeClr val="tx1">
                              <a:lumMod val="75000"/>
                              <a:lumOff val="25000"/>
                            </a:schemeClr>
                          </a:solidFill>
                        </a:rPr>
                        <a:t>zf.namelist()</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返回一个列表，内容是zip文件中所有文件夹名包括子文件夹名，以及所有的文件包括所有子文件夹里的文件的文件名，相当于是一个保存了.zip文件内部目录结构的列表，注意，所有文件夹名（包含子文件夹）排列在列表的前面</a:t>
                      </a:r>
                    </a:p>
                  </a:txBody>
                  <a:tcPr marL="68580" marR="68580" marT="0" marB="0" anchor="ctr"/>
                </a:tc>
                <a:extLst>
                  <a:ext uri="{0D108BD9-81ED-4DB2-BD59-A6C34878D82A}">
                    <a16:rowId xmlns:a16="http://schemas.microsoft.com/office/drawing/2014/main" val="10003"/>
                  </a:ext>
                </a:extLst>
              </a:tr>
              <a:tr h="581204">
                <a:tc>
                  <a:txBody>
                    <a:bodyPr/>
                    <a:lstStyle/>
                    <a:p>
                      <a:pPr algn="ctr" defTabSz="914400">
                        <a:lnSpc>
                          <a:spcPct val="150000"/>
                        </a:lnSpc>
                        <a:buClrTx/>
                        <a:buSzTx/>
                        <a:buFontTx/>
                      </a:pPr>
                      <a:r>
                        <a:rPr lang="en-US" altLang="zh-CN" sz="1400" dirty="0">
                          <a:solidFill>
                            <a:schemeClr val="tx1">
                              <a:lumMod val="75000"/>
                              <a:lumOff val="25000"/>
                            </a:schemeClr>
                          </a:solidFill>
                        </a:rPr>
                        <a:t>zf.printdir()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将zip文件的目录结构输出到控制台，包括每个文件的文件名（含路径信息），包括文件名、文件大小、修改时间</a:t>
                      </a:r>
                    </a:p>
                  </a:txBody>
                  <a:tcPr marL="68580" marR="68580" marT="0" marB="0" anchor="ctr"/>
                </a:tc>
                <a:extLst>
                  <a:ext uri="{0D108BD9-81ED-4DB2-BD59-A6C34878D82A}">
                    <a16:rowId xmlns:a16="http://schemas.microsoft.com/office/drawing/2014/main" val="10004"/>
                  </a:ext>
                </a:extLst>
              </a:tr>
              <a:tr h="1197236">
                <a:tc>
                  <a:txBody>
                    <a:bodyPr/>
                    <a:lstStyle/>
                    <a:p>
                      <a:pPr algn="ctr" defTabSz="914400">
                        <a:lnSpc>
                          <a:spcPct val="150000"/>
                        </a:lnSpc>
                        <a:buClrTx/>
                        <a:buSzTx/>
                        <a:buFontTx/>
                      </a:pPr>
                      <a:r>
                        <a:rPr lang="en-US" altLang="zh-CN" sz="1400" dirty="0">
                          <a:solidFill>
                            <a:schemeClr val="tx1">
                              <a:lumMod val="75000"/>
                              <a:lumOff val="25000"/>
                            </a:schemeClr>
                          </a:solidFill>
                        </a:rPr>
                        <a:t>zf.write(filename[,arcname=None[,compression_type=None]]) </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将zip外的文件filename写入到名为arcname的子文件中（arcname也是带有相对zip包的路径的，缺省该参数就写入到当前目录下），compression_type指定了压缩格式，也是ZIP_STORED（只打包不压缩）或ZIP_DEFLATED。ZipFile的打开方式一定要是w或者a才能顺利写入.zip文件中</a:t>
                      </a:r>
                    </a:p>
                  </a:txBody>
                  <a:tcPr marL="68580" marR="68580" marT="0" marB="0" anchor="ctr"/>
                </a:tc>
                <a:extLst>
                  <a:ext uri="{0D108BD9-81ED-4DB2-BD59-A6C34878D82A}">
                    <a16:rowId xmlns:a16="http://schemas.microsoft.com/office/drawing/2014/main" val="10005"/>
                  </a:ext>
                </a:extLst>
              </a:tr>
              <a:tr h="273187">
                <a:tc>
                  <a:txBody>
                    <a:bodyPr/>
                    <a:lstStyle/>
                    <a:p>
                      <a:pPr algn="ctr" defTabSz="914400">
                        <a:lnSpc>
                          <a:spcPct val="150000"/>
                        </a:lnSpc>
                        <a:buClrTx/>
                        <a:buSzTx/>
                        <a:buFontTx/>
                      </a:pPr>
                      <a:r>
                        <a:rPr lang="en-US" altLang="zh-CN" sz="1400" dirty="0">
                          <a:solidFill>
                            <a:schemeClr val="tx1">
                              <a:lumMod val="75000"/>
                              <a:lumOff val="25000"/>
                            </a:schemeClr>
                          </a:solidFill>
                        </a:rPr>
                        <a:t>zf.close()</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关闭文件，操作完成时必须要关闭打开的文件</a:t>
                      </a:r>
                    </a:p>
                  </a:txBody>
                  <a:tcPr marL="68580" marR="68580" marT="0" marB="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6" name="矩形 5"/>
          <p:cNvSpPr/>
          <p:nvPr/>
        </p:nvSpPr>
        <p:spPr>
          <a:xfrm>
            <a:off x="1054154" y="2228270"/>
            <a:ext cx="8165810" cy="1565910"/>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【例】输出指定目录下的.zip文件里的文件信息。</a:t>
            </a:r>
          </a:p>
          <a:p>
            <a:pPr>
              <a:lnSpc>
                <a:spcPct val="120000"/>
              </a:lnSpc>
            </a:pPr>
            <a:r>
              <a:rPr lang="zh-CN" altLang="zh-CN" sz="1600" dirty="0">
                <a:solidFill>
                  <a:schemeClr val="tx1">
                    <a:lumMod val="75000"/>
                    <a:lumOff val="25000"/>
                  </a:schemeClr>
                </a:solidFill>
              </a:rPr>
              <a:t>import zipfile</a:t>
            </a:r>
          </a:p>
          <a:p>
            <a:pPr>
              <a:lnSpc>
                <a:spcPct val="120000"/>
              </a:lnSpc>
            </a:pPr>
            <a:r>
              <a:rPr lang="zh-CN" altLang="zh-CN" sz="1600" dirty="0">
                <a:solidFill>
                  <a:schemeClr val="tx1">
                    <a:lumMod val="75000"/>
                    <a:lumOff val="25000"/>
                  </a:schemeClr>
                </a:solidFill>
              </a:rPr>
              <a:t>zf = zipfile.ZipFile(r'D:\PythonTest\zipfile_document\pdf_document.zip','r')</a:t>
            </a:r>
          </a:p>
          <a:p>
            <a:pPr>
              <a:lnSpc>
                <a:spcPct val="120000"/>
              </a:lnSpc>
            </a:pPr>
            <a:r>
              <a:rPr lang="zh-CN" altLang="zh-CN" sz="1600" dirty="0">
                <a:solidFill>
                  <a:schemeClr val="tx1">
                    <a:lumMod val="75000"/>
                    <a:lumOff val="25000"/>
                  </a:schemeClr>
                </a:solidFill>
              </a:rPr>
              <a:t>zf.printdir() </a:t>
            </a:r>
          </a:p>
          <a:p>
            <a:pPr>
              <a:lnSpc>
                <a:spcPct val="120000"/>
              </a:lnSpc>
            </a:pPr>
            <a:r>
              <a:rPr lang="zh-CN" altLang="zh-CN" sz="1600" dirty="0">
                <a:solidFill>
                  <a:schemeClr val="tx1">
                    <a:lumMod val="75000"/>
                    <a:lumOff val="25000"/>
                  </a:schemeClr>
                </a:solidFill>
              </a:rPr>
              <a:t> #输出zip文件的目录结构，包括文件名、修改时间、大小 </a:t>
            </a:r>
          </a:p>
        </p:txBody>
      </p:sp>
      <p:pic>
        <p:nvPicPr>
          <p:cNvPr id="8" name="图片 7"/>
          <p:cNvPicPr/>
          <p:nvPr/>
        </p:nvPicPr>
        <p:blipFill>
          <a:blip r:embed="rId3" cstate="print"/>
          <a:srcRect/>
          <a:stretch>
            <a:fillRect/>
          </a:stretch>
        </p:blipFill>
        <p:spPr bwMode="auto">
          <a:xfrm>
            <a:off x="1158861" y="3794180"/>
            <a:ext cx="4620189" cy="2719100"/>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文件与目录操作</a:t>
            </a:r>
            <a:endParaRPr lang="en-US" altLang="zh-CN" dirty="0"/>
          </a:p>
          <a:p>
            <a:r>
              <a:rPr lang="zh-CN" altLang="en-US" dirty="0"/>
              <a:t>常见文件格式处理</a:t>
            </a:r>
            <a:endParaRPr lang="en-US" altLang="zh-CN" dirty="0"/>
          </a:p>
          <a:p>
            <a:r>
              <a:rPr lang="zh-CN" altLang="en-US" dirty="0">
                <a:solidFill>
                  <a:srgbClr val="FF0000"/>
                </a:solidFill>
              </a:rPr>
              <a:t>异常</a:t>
            </a:r>
            <a:endParaRPr lang="en-US" altLang="zh-CN" dirty="0">
              <a:solidFill>
                <a:srgbClr val="FF0000"/>
              </a:solidFill>
            </a:endParaRPr>
          </a:p>
          <a:p>
            <a:r>
              <a:rPr lang="zh-CN" altLang="en-US" dirty="0"/>
              <a:t>断言</a:t>
            </a:r>
            <a:endParaRPr lang="en-US" altLang="zh-CN" dirty="0"/>
          </a:p>
          <a:p>
            <a:r>
              <a:rPr lang="zh-CN" altLang="en-US" dirty="0"/>
              <a:t>日志</a:t>
            </a:r>
            <a:endParaRPr lang="en-US" altLang="zh-CN" dirty="0"/>
          </a:p>
          <a:p>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en-US" altLang="zh-CN" dirty="0" err="1">
                <a:solidFill>
                  <a:schemeClr val="tx1">
                    <a:lumMod val="75000"/>
                    <a:lumOff val="25000"/>
                  </a:schemeClr>
                </a:solidFill>
              </a:rPr>
              <a:t>Python有两种错误很容易辨认：语法错误和异常</a:t>
            </a:r>
            <a:r>
              <a:rPr lang="en-US" altLang="zh-CN" dirty="0">
                <a:solidFill>
                  <a:schemeClr val="tx1">
                    <a:lumMod val="75000"/>
                    <a:lumOff val="25000"/>
                  </a:schemeClr>
                </a:solidFill>
              </a:rPr>
              <a:t>。</a:t>
            </a:r>
            <a:endParaRPr lang="zh-CN" altLang="zh-CN" dirty="0"/>
          </a:p>
          <a:p>
            <a:pPr>
              <a:lnSpc>
                <a:spcPct val="150000"/>
              </a:lnSpc>
            </a:pPr>
            <a:endParaRPr lang="zh-CN" altLang="zh-CN" dirty="0">
              <a:solidFill>
                <a:schemeClr val="tx1">
                  <a:lumMod val="75000"/>
                  <a:lumOff val="25000"/>
                </a:schemeClr>
              </a:solidFill>
            </a:endParaRPr>
          </a:p>
        </p:txBody>
      </p:sp>
      <p:sp>
        <p:nvSpPr>
          <p:cNvPr id="12" name="矩形 11"/>
          <p:cNvSpPr/>
          <p:nvPr/>
        </p:nvSpPr>
        <p:spPr>
          <a:xfrm>
            <a:off x="1195026" y="2345462"/>
            <a:ext cx="9828979" cy="1569660"/>
          </a:xfrm>
          <a:prstGeom prst="rect">
            <a:avLst/>
          </a:prstGeom>
        </p:spPr>
        <p:txBody>
          <a:bodyPr wrap="square">
            <a:spAutoFit/>
          </a:bodyPr>
          <a:lstStyle/>
          <a:p>
            <a:pPr algn="l">
              <a:lnSpc>
                <a:spcPct val="150000"/>
              </a:lnSpc>
              <a:buClrTx/>
              <a:buSzTx/>
              <a:buFontTx/>
            </a:pPr>
            <a:r>
              <a:rPr lang="en-US" altLang="zh-CN" sz="1600" dirty="0">
                <a:solidFill>
                  <a:schemeClr val="tx1">
                    <a:lumMod val="75000"/>
                    <a:lumOff val="25000"/>
                  </a:schemeClr>
                </a:solidFill>
              </a:rPr>
              <a:t>程序执行过程中产生的大多数错误是语法错误，是由于程序员的疏忽造成的，如变量未声明、零做除数、参数传递时个数不一致，或者类型匹配问题、文件打开方式与文件操作冲突，等等；也可能是程序执行过程中遇到的不可预知的错误，如内存或硬盘空间不足、网络连接失败、文件不能打开或系统出错等。这些错误产生后如果不做适当处理，程序的正常执行将被中断，这是用户不可接受的。</a:t>
            </a:r>
            <a:endParaRPr lang="zh-CN" altLang="zh-CN"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fontScale="92500" lnSpcReduction="20000"/>
          </a:bodyPr>
          <a:lstStyle/>
          <a:p>
            <a:pPr>
              <a:lnSpc>
                <a:spcPct val="150000"/>
              </a:lnSpc>
            </a:pPr>
            <a:r>
              <a:rPr lang="zh-CN" altLang="en-US" dirty="0">
                <a:solidFill>
                  <a:schemeClr val="tx1">
                    <a:lumMod val="75000"/>
                    <a:lumOff val="25000"/>
                  </a:schemeClr>
                </a:solidFill>
              </a:rPr>
              <a:t>异常是程序运行时发生的错误信号，它在编程过程中是不可避免的。异常就是一个事件，这个事件会在程序执行过程中发生，影响程序的运行。当</a:t>
            </a:r>
            <a:r>
              <a:rPr lang="en-US" altLang="zh-CN" dirty="0">
                <a:solidFill>
                  <a:schemeClr val="tx1">
                    <a:lumMod val="75000"/>
                    <a:lumOff val="25000"/>
                  </a:schemeClr>
                </a:solidFill>
              </a:rPr>
              <a:t>Python</a:t>
            </a:r>
            <a:r>
              <a:rPr lang="zh-CN" altLang="en-US" dirty="0">
                <a:solidFill>
                  <a:schemeClr val="tx1">
                    <a:lumMod val="75000"/>
                    <a:lumOff val="25000"/>
                  </a:schemeClr>
                </a:solidFill>
              </a:rPr>
              <a:t>出现异常时，我们要进行捕获与处理，否则程序会终止执行。</a:t>
            </a:r>
            <a:endParaRPr lang="en-US" altLang="zh-CN" dirty="0">
              <a:solidFill>
                <a:schemeClr val="tx1">
                  <a:lumMod val="75000"/>
                  <a:lumOff val="25000"/>
                </a:schemeClr>
              </a:solidFill>
            </a:endParaRPr>
          </a:p>
          <a:p>
            <a:pPr>
              <a:lnSpc>
                <a:spcPct val="150000"/>
              </a:lnSpc>
            </a:pPr>
            <a:r>
              <a:rPr lang="en-US" altLang="zh-CN" dirty="0">
                <a:solidFill>
                  <a:schemeClr val="tx1">
                    <a:lumMod val="75000"/>
                    <a:lumOff val="25000"/>
                  </a:schemeClr>
                </a:solidFill>
              </a:rPr>
              <a:t>当Python检测到一个错误时，解释器就会指出当前程序已经无法继续执行下去了，这时候就出现了异常，即异常是因为程序出现了错误而在正常控制流以外采取的行为。这个行为又分为两个阶段：首先是发生引起异常的错误，然后是检测及采取可能的措施。</a:t>
            </a:r>
          </a:p>
          <a:p>
            <a:pPr>
              <a:lnSpc>
                <a:spcPct val="150000"/>
              </a:lnSpc>
            </a:pPr>
            <a:endParaRPr lang="zh-CN" altLang="en-US" dirty="0">
              <a:solidFill>
                <a:schemeClr val="tx1">
                  <a:lumMod val="75000"/>
                  <a:lumOff val="25000"/>
                </a:schemeClr>
              </a:solidFill>
            </a:endParaRPr>
          </a:p>
          <a:p>
            <a:pPr>
              <a:lnSpc>
                <a:spcPct val="150000"/>
              </a:lnSpc>
            </a:pPr>
            <a:endParaRPr lang="zh-CN" altLang="zh-CN" dirty="0">
              <a:solidFill>
                <a:schemeClr val="tx1">
                  <a:lumMod val="75000"/>
                  <a:lumOff val="25000"/>
                </a:schemeClr>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err="1">
                <a:solidFill>
                  <a:schemeClr val="tx1">
                    <a:lumMod val="75000"/>
                    <a:lumOff val="25000"/>
                  </a:schemeClr>
                </a:solidFill>
                <a:sym typeface="+mn-ea"/>
              </a:rPr>
              <a:t>Python中有很多内置的异常类型，它们都是由BaseException类派生出来的</a:t>
            </a:r>
            <a:r>
              <a:rPr lang="en-US" altLang="zh-CN" dirty="0">
                <a:solidFill>
                  <a:schemeClr val="tx1">
                    <a:lumMod val="75000"/>
                    <a:lumOff val="25000"/>
                  </a:schemeClr>
                </a:solidFill>
                <a:sym typeface="+mn-ea"/>
              </a:rPr>
              <a:t>。</a:t>
            </a:r>
            <a:endParaRPr lang="zh-CN" altLang="en-US" dirty="0">
              <a:solidFill>
                <a:schemeClr val="tx1">
                  <a:lumMod val="75000"/>
                  <a:lumOff val="25000"/>
                </a:schemeClr>
              </a:solidFill>
            </a:endParaRPr>
          </a:p>
          <a:p>
            <a:pPr>
              <a:lnSpc>
                <a:spcPct val="150000"/>
              </a:lnSpc>
            </a:pPr>
            <a:endParaRPr lang="zh-CN" altLang="zh-CN" dirty="0">
              <a:solidFill>
                <a:schemeClr val="tx1">
                  <a:lumMod val="75000"/>
                  <a:lumOff val="25000"/>
                </a:schemeClr>
              </a:solidFill>
            </a:endParaRPr>
          </a:p>
        </p:txBody>
      </p:sp>
      <p:graphicFrame>
        <p:nvGraphicFramePr>
          <p:cNvPr id="4" name="表格 3"/>
          <p:cNvGraphicFramePr>
            <a:graphicFrameLocks noGrp="1"/>
          </p:cNvGraphicFramePr>
          <p:nvPr/>
        </p:nvGraphicFramePr>
        <p:xfrm>
          <a:off x="2946670" y="2290773"/>
          <a:ext cx="7178724" cy="4434928"/>
        </p:xfrm>
        <a:graphic>
          <a:graphicData uri="http://schemas.openxmlformats.org/drawingml/2006/table">
            <a:tbl>
              <a:tblPr firstRow="1" bandRow="1">
                <a:tableStyleId>{5FD0F851-EC5A-4D38-B0AD-8093EC10F338}</a:tableStyleId>
              </a:tblPr>
              <a:tblGrid>
                <a:gridCol w="3589362">
                  <a:extLst>
                    <a:ext uri="{9D8B030D-6E8A-4147-A177-3AD203B41FA5}">
                      <a16:colId xmlns:a16="http://schemas.microsoft.com/office/drawing/2014/main" val="20000"/>
                    </a:ext>
                  </a:extLst>
                </a:gridCol>
                <a:gridCol w="3589362">
                  <a:extLst>
                    <a:ext uri="{9D8B030D-6E8A-4147-A177-3AD203B41FA5}">
                      <a16:colId xmlns:a16="http://schemas.microsoft.com/office/drawing/2014/main" val="20001"/>
                    </a:ext>
                  </a:extLst>
                </a:gridCol>
              </a:tblGrid>
              <a:tr h="323850">
                <a:tc>
                  <a:txBody>
                    <a:bodyPr/>
                    <a:lstStyle/>
                    <a:p>
                      <a:pPr indent="266700" algn="ctr">
                        <a:lnSpc>
                          <a:spcPct val="100000"/>
                        </a:lnSpc>
                        <a:spcAft>
                          <a:spcPts val="150"/>
                        </a:spcAft>
                        <a:tabLst>
                          <a:tab pos="2628265" algn="ctr"/>
                          <a:tab pos="5292725" algn="r"/>
                        </a:tabLst>
                      </a:pPr>
                      <a:r>
                        <a:rPr lang="en-US" altLang="zh-CN" sz="1400" b="0" dirty="0">
                          <a:solidFill>
                            <a:schemeClr val="tx1">
                              <a:lumMod val="75000"/>
                              <a:lumOff val="25000"/>
                            </a:schemeClr>
                          </a:solidFill>
                        </a:rPr>
                        <a:t>异 常 类 型</a:t>
                      </a:r>
                    </a:p>
                  </a:txBody>
                  <a:tcPr marL="68580" marR="68580" marT="0" marB="0" anchor="ctr"/>
                </a:tc>
                <a:tc>
                  <a:txBody>
                    <a:bodyPr/>
                    <a:lstStyle/>
                    <a:p>
                      <a:pPr indent="266700" algn="ctr">
                        <a:lnSpc>
                          <a:spcPct val="100000"/>
                        </a:lnSpc>
                        <a:spcAft>
                          <a:spcPts val="150"/>
                        </a:spcAft>
                        <a:tabLst>
                          <a:tab pos="2628265" algn="ctr"/>
                          <a:tab pos="5292725" algn="r"/>
                        </a:tabLst>
                      </a:pPr>
                      <a:r>
                        <a:rPr lang="en-US" altLang="zh-CN" sz="1400" b="0" dirty="0">
                          <a:solidFill>
                            <a:schemeClr val="tx1">
                              <a:lumMod val="75000"/>
                              <a:lumOff val="25000"/>
                            </a:schemeClr>
                          </a:solidFill>
                        </a:rPr>
                        <a:t>描    述</a:t>
                      </a:r>
                    </a:p>
                  </a:txBody>
                  <a:tcPr marL="68580" marR="68580" marT="0" marB="0" anchor="ctr"/>
                </a:tc>
                <a:extLst>
                  <a:ext uri="{0D108BD9-81ED-4DB2-BD59-A6C34878D82A}">
                    <a16:rowId xmlns:a16="http://schemas.microsoft.com/office/drawing/2014/main" val="10000"/>
                  </a:ext>
                </a:extLst>
              </a:tr>
              <a:tr h="300355">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AttributeError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引用一个对象不存在的属性时引发的异常</a:t>
                      </a:r>
                    </a:p>
                  </a:txBody>
                  <a:tcPr marL="68580" marR="68580" marT="0" marB="0" anchor="ctr"/>
                </a:tc>
                <a:extLst>
                  <a:ext uri="{0D108BD9-81ED-4DB2-BD59-A6C34878D82A}">
                    <a16:rowId xmlns:a16="http://schemas.microsoft.com/office/drawing/2014/main" val="10001"/>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IOError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输入/输出异常，如打开不存在的文件</a:t>
                      </a:r>
                    </a:p>
                  </a:txBody>
                  <a:tcPr marL="68580" marR="68580" marT="0" marB="0" anchor="ctr"/>
                </a:tc>
                <a:extLst>
                  <a:ext uri="{0D108BD9-81ED-4DB2-BD59-A6C34878D82A}">
                    <a16:rowId xmlns:a16="http://schemas.microsoft.com/office/drawing/2014/main" val="10002"/>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ImportError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导入模块或包异常，如指定的模块不存在</a:t>
                      </a:r>
                    </a:p>
                  </a:txBody>
                  <a:tcPr marL="68580" marR="68580" marT="0" marB="0" anchor="ctr"/>
                </a:tc>
                <a:extLst>
                  <a:ext uri="{0D108BD9-81ED-4DB2-BD59-A6C34878D82A}">
                    <a16:rowId xmlns:a16="http://schemas.microsoft.com/office/drawing/2014/main" val="10003"/>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IndentationError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代码缩进不正确时引发的异常</a:t>
                      </a:r>
                    </a:p>
                  </a:txBody>
                  <a:tcPr marL="68580" marR="68580" marT="0" marB="0" anchor="ctr"/>
                </a:tc>
                <a:extLst>
                  <a:ext uri="{0D108BD9-81ED-4DB2-BD59-A6C34878D82A}">
                    <a16:rowId xmlns:a16="http://schemas.microsoft.com/office/drawing/2014/main" val="10004"/>
                  </a:ext>
                </a:extLst>
              </a:tr>
              <a:tr h="301180">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IndexError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对序列进行操作时，尝试使用一个超出范围的下标     索引时引发的异常</a:t>
                      </a:r>
                    </a:p>
                  </a:txBody>
                  <a:tcPr marL="68580" marR="68580" marT="0" marB="0" anchor="ctr"/>
                </a:tc>
                <a:extLst>
                  <a:ext uri="{0D108BD9-81ED-4DB2-BD59-A6C34878D82A}">
                    <a16:rowId xmlns:a16="http://schemas.microsoft.com/office/drawing/2014/main" val="10005"/>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KeyError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在字典中访问不存在的键时引发的异常</a:t>
                      </a:r>
                    </a:p>
                  </a:txBody>
                  <a:tcPr marL="68580" marR="68580" marT="0" marB="0" anchor="ctr"/>
                </a:tc>
                <a:extLst>
                  <a:ext uri="{0D108BD9-81ED-4DB2-BD59-A6C34878D82A}">
                    <a16:rowId xmlns:a16="http://schemas.microsoft.com/office/drawing/2014/main" val="10006"/>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NameError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访问未定义或未初始化的变量时引发的异常</a:t>
                      </a:r>
                    </a:p>
                  </a:txBody>
                  <a:tcPr marL="68580" marR="68580" marT="0" marB="0" anchor="ctr"/>
                </a:tc>
                <a:extLst>
                  <a:ext uri="{0D108BD9-81ED-4DB2-BD59-A6C34878D82A}">
                    <a16:rowId xmlns:a16="http://schemas.microsoft.com/office/drawing/2014/main" val="10007"/>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SyntaxError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代码中存在语法错误时引发的异常</a:t>
                      </a:r>
                    </a:p>
                  </a:txBody>
                  <a:tcPr marL="68580" marR="68580" marT="0" marB="0" anchor="ctr"/>
                </a:tc>
                <a:extLst>
                  <a:ext uri="{0D108BD9-81ED-4DB2-BD59-A6C34878D82A}">
                    <a16:rowId xmlns:a16="http://schemas.microsoft.com/office/drawing/2014/main" val="10008"/>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TypeError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数据类型错误时引发的异常</a:t>
                      </a:r>
                    </a:p>
                  </a:txBody>
                  <a:tcPr marL="68580" marR="68580" marT="0" marB="0" anchor="ctr"/>
                </a:tc>
                <a:extLst>
                  <a:ext uri="{0D108BD9-81ED-4DB2-BD59-A6C34878D82A}">
                    <a16:rowId xmlns:a16="http://schemas.microsoft.com/office/drawing/2014/main" val="10009"/>
                  </a:ext>
                </a:extLst>
              </a:tr>
              <a:tr h="399986">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ValueError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数值错误，给函数传递了一个不期望的值，如int('abc')，参数'abc'不能转变为数值</a:t>
                      </a:r>
                    </a:p>
                  </a:txBody>
                  <a:tcPr marL="68580" marR="68580" marT="0" marB="0" anchor="ctr"/>
                </a:tc>
                <a:extLst>
                  <a:ext uri="{0D108BD9-81ED-4DB2-BD59-A6C34878D82A}">
                    <a16:rowId xmlns:a16="http://schemas.microsoft.com/office/drawing/2014/main" val="10010"/>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ZeroDivisionError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零作除数时产生的异常</a:t>
                      </a:r>
                    </a:p>
                  </a:txBody>
                  <a:tcPr marL="68580" marR="68580" marT="0" marB="0" anchor="ctr"/>
                </a:tc>
                <a:extLst>
                  <a:ext uri="{0D108BD9-81ED-4DB2-BD59-A6C34878D82A}">
                    <a16:rowId xmlns:a16="http://schemas.microsoft.com/office/drawing/2014/main" val="10011"/>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OSError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调用操作系统完成某些功能失败时产生的异常</a:t>
                      </a:r>
                    </a:p>
                  </a:txBody>
                  <a:tcPr marL="68580" marR="68580" marT="0" marB="0"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3"/>
          <p:cNvSpPr txBox="1"/>
          <p:nvPr/>
        </p:nvSpPr>
        <p:spPr>
          <a:xfrm>
            <a:off x="1038868" y="1602260"/>
            <a:ext cx="9882726" cy="4523105"/>
          </a:xfrm>
          <a:prstGeom prst="rect">
            <a:avLst/>
          </a:prstGeom>
          <a:noFill/>
        </p:spPr>
        <p:txBody>
          <a:bodyPr wrap="square" rtlCol="0">
            <a:spAutoFit/>
          </a:bodyPr>
          <a:lstStyle/>
          <a:p>
            <a:pPr algn="l">
              <a:lnSpc>
                <a:spcPct val="150000"/>
              </a:lnSpc>
              <a:buClrTx/>
              <a:buSzTx/>
              <a:buFontTx/>
            </a:pPr>
            <a:r>
              <a:rPr lang="en-US" altLang="zh-CN" sz="1600" dirty="0">
                <a:solidFill>
                  <a:schemeClr val="tx1">
                    <a:lumMod val="75000"/>
                    <a:lumOff val="25000"/>
                  </a:schemeClr>
                </a:solidFill>
              </a:rPr>
              <a:t>【例】  NameError和ZeroDivisionError异常的示例。</a:t>
            </a:r>
          </a:p>
          <a:p>
            <a:pPr algn="l">
              <a:lnSpc>
                <a:spcPct val="150000"/>
              </a:lnSpc>
              <a:buClrTx/>
              <a:buSzTx/>
              <a:buFontTx/>
            </a:pPr>
            <a:r>
              <a:rPr lang="en-US" altLang="zh-CN" sz="1600" dirty="0">
                <a:solidFill>
                  <a:schemeClr val="tx1">
                    <a:lumMod val="75000"/>
                    <a:lumOff val="25000"/>
                  </a:schemeClr>
                </a:solidFill>
              </a:rPr>
              <a:t>&gt; a = 3</a:t>
            </a:r>
          </a:p>
          <a:p>
            <a:pPr algn="l">
              <a:lnSpc>
                <a:spcPct val="150000"/>
              </a:lnSpc>
              <a:buClrTx/>
              <a:buSzTx/>
              <a:buFontTx/>
            </a:pPr>
            <a:r>
              <a:rPr lang="en-US" altLang="zh-CN" sz="1600" dirty="0">
                <a:solidFill>
                  <a:schemeClr val="tx1">
                    <a:lumMod val="75000"/>
                    <a:lumOff val="25000"/>
                  </a:schemeClr>
                </a:solidFill>
              </a:rPr>
              <a:t>&gt; b = 0</a:t>
            </a:r>
          </a:p>
          <a:p>
            <a:pPr algn="l">
              <a:lnSpc>
                <a:spcPct val="150000"/>
              </a:lnSpc>
              <a:buClrTx/>
              <a:buSzTx/>
              <a:buFontTx/>
            </a:pPr>
            <a:r>
              <a:rPr lang="en-US" altLang="zh-CN" sz="1600" dirty="0">
                <a:solidFill>
                  <a:schemeClr val="tx1">
                    <a:lumMod val="75000"/>
                    <a:lumOff val="25000"/>
                  </a:schemeClr>
                </a:solidFill>
              </a:rPr>
              <a:t>&gt; print(a + c)</a:t>
            </a: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r>
              <a:rPr lang="en-US" altLang="zh-CN" sz="1600" dirty="0">
                <a:solidFill>
                  <a:schemeClr val="tx1">
                    <a:lumMod val="75000"/>
                    <a:lumOff val="25000"/>
                  </a:schemeClr>
                </a:solidFill>
              </a:rPr>
              <a:t>&gt;print(a / b)</a:t>
            </a: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p:txBody>
      </p:sp>
      <p:pic>
        <p:nvPicPr>
          <p:cNvPr id="6" name="图片 1"/>
          <p:cNvPicPr>
            <a:picLocks noChangeAspect="1" noChangeArrowheads="1"/>
          </p:cNvPicPr>
          <p:nvPr/>
        </p:nvPicPr>
        <p:blipFill>
          <a:blip r:embed="rId2" cstate="print"/>
          <a:srcRect/>
          <a:stretch>
            <a:fillRect/>
          </a:stretch>
        </p:blipFill>
        <p:spPr bwMode="auto">
          <a:xfrm>
            <a:off x="1302987" y="3115683"/>
            <a:ext cx="4476468" cy="1282816"/>
          </a:xfrm>
          <a:prstGeom prst="rect">
            <a:avLst/>
          </a:prstGeom>
          <a:noFill/>
          <a:ln w="9525">
            <a:noFill/>
            <a:miter lim="800000"/>
            <a:headEnd/>
            <a:tailEnd/>
          </a:ln>
        </p:spPr>
      </p:pic>
      <p:pic>
        <p:nvPicPr>
          <p:cNvPr id="7" name="图片 4"/>
          <p:cNvPicPr>
            <a:picLocks noChangeAspect="1" noChangeArrowheads="1"/>
          </p:cNvPicPr>
          <p:nvPr/>
        </p:nvPicPr>
        <p:blipFill>
          <a:blip r:embed="rId3" cstate="print"/>
          <a:srcRect/>
          <a:stretch>
            <a:fillRect/>
          </a:stretch>
        </p:blipFill>
        <p:spPr bwMode="auto">
          <a:xfrm>
            <a:off x="1303331" y="4970585"/>
            <a:ext cx="4517409" cy="1201002"/>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8" name="TextBox 72"/>
          <p:cNvSpPr txBox="1"/>
          <p:nvPr/>
        </p:nvSpPr>
        <p:spPr>
          <a:xfrm>
            <a:off x="987748" y="1772975"/>
            <a:ext cx="9385206" cy="3046095"/>
          </a:xfrm>
          <a:prstGeom prst="rect">
            <a:avLst/>
          </a:prstGeom>
          <a:noFill/>
        </p:spPr>
        <p:txBody>
          <a:bodyPr wrap="square" rtlCol="0">
            <a:spAutoFit/>
          </a:bodyPr>
          <a:lstStyle/>
          <a:p>
            <a:pPr algn="l">
              <a:lnSpc>
                <a:spcPct val="150000"/>
              </a:lnSpc>
              <a:buClrTx/>
              <a:buSzTx/>
              <a:buFontTx/>
            </a:pPr>
            <a:r>
              <a:rPr lang="en-US" altLang="zh-CN" sz="1600" dirty="0">
                <a:solidFill>
                  <a:schemeClr val="tx1">
                    <a:lumMod val="75000"/>
                    <a:lumOff val="25000"/>
                  </a:schemeClr>
                </a:solidFill>
              </a:rPr>
              <a:t>【例】  SyntaxError和IndexError异常的示例。</a:t>
            </a:r>
          </a:p>
          <a:p>
            <a:pPr algn="l">
              <a:lnSpc>
                <a:spcPct val="150000"/>
              </a:lnSpc>
              <a:buClrTx/>
              <a:buSzTx/>
              <a:buFontTx/>
            </a:pPr>
            <a:r>
              <a:rPr lang="en-US" altLang="zh-CN" sz="1600" dirty="0">
                <a:solidFill>
                  <a:schemeClr val="tx1">
                    <a:lumMod val="75000"/>
                    <a:lumOff val="25000"/>
                  </a:schemeClr>
                </a:solidFill>
              </a:rPr>
              <a:t>&gt;if a &gt; b</a:t>
            </a: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r>
              <a:rPr lang="en-US" altLang="zh-CN" sz="1600" dirty="0">
                <a:solidFill>
                  <a:schemeClr val="tx1">
                    <a:lumMod val="75000"/>
                    <a:lumOff val="25000"/>
                  </a:schemeClr>
                </a:solidFill>
              </a:rPr>
              <a:t>if条件后缺少了冒号“:”，属于语法错误。 </a:t>
            </a:r>
          </a:p>
          <a:p>
            <a:pPr algn="l">
              <a:lnSpc>
                <a:spcPct val="150000"/>
              </a:lnSpc>
              <a:buClrTx/>
              <a:buSzTx/>
              <a:buFontTx/>
            </a:pPr>
            <a:r>
              <a:rPr lang="en-US" altLang="zh-CN" sz="1600" dirty="0">
                <a:solidFill>
                  <a:schemeClr val="tx1">
                    <a:lumMod val="75000"/>
                    <a:lumOff val="25000"/>
                  </a:schemeClr>
                </a:solidFill>
              </a:rPr>
              <a:t>&gt; ls = [1,2,3,4,5]</a:t>
            </a:r>
          </a:p>
          <a:p>
            <a:pPr algn="l">
              <a:lnSpc>
                <a:spcPct val="150000"/>
              </a:lnSpc>
              <a:buClrTx/>
              <a:buSzTx/>
              <a:buFontTx/>
            </a:pPr>
            <a:r>
              <a:rPr lang="en-US" altLang="zh-CN" sz="1600" dirty="0">
                <a:solidFill>
                  <a:schemeClr val="tx1">
                    <a:lumMod val="75000"/>
                    <a:lumOff val="25000"/>
                  </a:schemeClr>
                </a:solidFill>
              </a:rPr>
              <a:t>&gt; print(ls[5])</a:t>
            </a:r>
          </a:p>
          <a:p>
            <a:pPr algn="l">
              <a:lnSpc>
                <a:spcPct val="150000"/>
              </a:lnSpc>
              <a:buClrTx/>
              <a:buSzTx/>
              <a:buFontTx/>
            </a:pPr>
            <a:endParaRPr lang="en-US" altLang="zh-CN" sz="1600" dirty="0">
              <a:solidFill>
                <a:schemeClr val="tx1">
                  <a:lumMod val="75000"/>
                  <a:lumOff val="25000"/>
                </a:schemeClr>
              </a:solidFill>
            </a:endParaRPr>
          </a:p>
        </p:txBody>
      </p:sp>
      <p:pic>
        <p:nvPicPr>
          <p:cNvPr id="9" name="图片 7"/>
          <p:cNvPicPr>
            <a:picLocks noChangeAspect="1" noChangeArrowheads="1"/>
          </p:cNvPicPr>
          <p:nvPr/>
        </p:nvPicPr>
        <p:blipFill>
          <a:blip r:embed="rId2" cstate="print"/>
          <a:srcRect/>
          <a:stretch>
            <a:fillRect/>
          </a:stretch>
        </p:blipFill>
        <p:spPr bwMode="auto">
          <a:xfrm>
            <a:off x="1222345" y="2588067"/>
            <a:ext cx="4572000" cy="499040"/>
          </a:xfrm>
          <a:prstGeom prst="rect">
            <a:avLst/>
          </a:prstGeom>
          <a:noFill/>
          <a:ln w="9525">
            <a:noFill/>
            <a:miter lim="800000"/>
            <a:headEnd/>
            <a:tailEnd/>
          </a:ln>
        </p:spPr>
      </p:pic>
      <p:pic>
        <p:nvPicPr>
          <p:cNvPr id="10" name="图片 10"/>
          <p:cNvPicPr>
            <a:picLocks noChangeAspect="1" noChangeArrowheads="1"/>
          </p:cNvPicPr>
          <p:nvPr/>
        </p:nvPicPr>
        <p:blipFill>
          <a:blip r:embed="rId3" cstate="print"/>
          <a:srcRect/>
          <a:stretch>
            <a:fillRect/>
          </a:stretch>
        </p:blipFill>
        <p:spPr bwMode="auto">
          <a:xfrm>
            <a:off x="1222337" y="4448352"/>
            <a:ext cx="4558353" cy="1422959"/>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fontScale="70000" lnSpcReduction="20000"/>
          </a:bodyPr>
          <a:lstStyle/>
          <a:p>
            <a:pPr>
              <a:lnSpc>
                <a:spcPct val="150000"/>
              </a:lnSpc>
            </a:pPr>
            <a:r>
              <a:rPr lang="en-US" altLang="zh-CN" dirty="0">
                <a:solidFill>
                  <a:schemeClr val="tx1">
                    <a:lumMod val="75000"/>
                    <a:lumOff val="25000"/>
                  </a:schemeClr>
                </a:solidFill>
              </a:rPr>
              <a:t>异常处理机制能够提高程序的健壮性，良好的异常处理机制可以让程序面对非法输入时有一定的应对能力，清晰的错误信息更能帮助程序员快速修复问题</a:t>
            </a:r>
          </a:p>
          <a:p>
            <a:pPr>
              <a:lnSpc>
                <a:spcPct val="150000"/>
              </a:lnSpc>
              <a:buNone/>
            </a:pPr>
            <a:r>
              <a:rPr lang="en-US" altLang="zh-CN" dirty="0" err="1">
                <a:solidFill>
                  <a:schemeClr val="tx1">
                    <a:lumMod val="75000"/>
                    <a:lumOff val="25000"/>
                  </a:schemeClr>
                </a:solidFill>
              </a:rPr>
              <a:t>try语句有两种主要形式</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（1）try-except</a:t>
            </a:r>
          </a:p>
          <a:p>
            <a:pPr>
              <a:lnSpc>
                <a:spcPct val="150000"/>
              </a:lnSpc>
              <a:buNone/>
            </a:pPr>
            <a:r>
              <a:rPr lang="en-US" altLang="zh-CN" dirty="0">
                <a:solidFill>
                  <a:schemeClr val="tx1">
                    <a:lumMod val="75000"/>
                    <a:lumOff val="25000"/>
                  </a:schemeClr>
                </a:solidFill>
              </a:rPr>
              <a:t>（2）try-finally</a:t>
            </a:r>
          </a:p>
          <a:p>
            <a:pPr>
              <a:lnSpc>
                <a:spcPct val="150000"/>
              </a:lnSpc>
              <a:buNone/>
            </a:pPr>
            <a:r>
              <a:rPr lang="en-US" altLang="zh-CN" dirty="0">
                <a:solidFill>
                  <a:schemeClr val="tx1">
                    <a:lumMod val="75000"/>
                    <a:lumOff val="25000"/>
                  </a:schemeClr>
                </a:solidFill>
              </a:rPr>
              <a:t>一个try语句可以对应一个或多个except子句，但只能对应一个finally子句，或者用于一个try-except-finally复合语句。</a:t>
            </a:r>
          </a:p>
          <a:p>
            <a:pPr>
              <a:lnSpc>
                <a:spcPct val="150000"/>
              </a:lnSpc>
              <a:buNone/>
            </a:pPr>
            <a:r>
              <a:rPr lang="en-US" altLang="zh-CN" dirty="0">
                <a:solidFill>
                  <a:schemeClr val="tx1">
                    <a:lumMod val="75000"/>
                    <a:lumOff val="25000"/>
                  </a:schemeClr>
                </a:solidFill>
              </a:rPr>
              <a:t>Python的异常处理用try-except语句实现，它将可能出现错误的代码放在try语句块中，用except子句来捕获异常并进行处理。</a:t>
            </a:r>
          </a:p>
          <a:p>
            <a:pPr>
              <a:lnSpc>
                <a:spcPct val="150000"/>
              </a:lnSpc>
              <a:buNone/>
            </a:pPr>
            <a:endParaRPr lang="zh-CN" altLang="en-US" dirty="0"/>
          </a:p>
          <a:p>
            <a:pPr>
              <a:lnSpc>
                <a:spcPct val="150000"/>
              </a:lnSpc>
            </a:pPr>
            <a:endParaRPr lang="zh-CN" altLang="zh-CN" dirty="0">
              <a:solidFill>
                <a:schemeClr val="tx1">
                  <a:lumMod val="75000"/>
                  <a:lumOff val="25000"/>
                </a:schemeClr>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err="1">
                <a:solidFill>
                  <a:schemeClr val="tx1">
                    <a:lumMod val="75000"/>
                    <a:lumOff val="25000"/>
                  </a:schemeClr>
                </a:solidFill>
              </a:rPr>
              <a:t>基本语法</a:t>
            </a:r>
            <a:endParaRPr lang="en-US" altLang="zh-CN" dirty="0">
              <a:solidFill>
                <a:schemeClr val="tx1">
                  <a:lumMod val="75000"/>
                  <a:lumOff val="25000"/>
                </a:schemeClr>
              </a:solidFill>
            </a:endParaRPr>
          </a:p>
          <a:p>
            <a:pPr>
              <a:lnSpc>
                <a:spcPct val="150000"/>
              </a:lnSpc>
              <a:buNone/>
            </a:pPr>
            <a:endParaRPr lang="zh-CN" altLang="en-US" dirty="0"/>
          </a:p>
          <a:p>
            <a:pPr>
              <a:lnSpc>
                <a:spcPct val="150000"/>
              </a:lnSpc>
            </a:pPr>
            <a:endParaRPr lang="zh-CN" altLang="zh-CN" dirty="0">
              <a:solidFill>
                <a:schemeClr val="tx1">
                  <a:lumMod val="75000"/>
                  <a:lumOff val="25000"/>
                </a:schemeClr>
              </a:solidFill>
            </a:endParaRPr>
          </a:p>
        </p:txBody>
      </p:sp>
      <p:sp>
        <p:nvSpPr>
          <p:cNvPr id="4" name="TextBox 76"/>
          <p:cNvSpPr txBox="1"/>
          <p:nvPr/>
        </p:nvSpPr>
        <p:spPr>
          <a:xfrm>
            <a:off x="1147280" y="2275219"/>
            <a:ext cx="3807725" cy="403098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&lt;异常类型&gt; [as e1]:</a:t>
            </a:r>
          </a:p>
          <a:p>
            <a:pPr algn="l">
              <a:lnSpc>
                <a:spcPct val="150000"/>
              </a:lnSpc>
              <a:buClrTx/>
              <a:buSzTx/>
              <a:buNone/>
            </a:pPr>
            <a:r>
              <a:rPr lang="en-US" altLang="zh-CN" sz="1600" dirty="0">
                <a:solidFill>
                  <a:schemeClr val="tx1">
                    <a:lumMod val="75000"/>
                    <a:lumOff val="25000"/>
                  </a:schemeClr>
                </a:solidFill>
              </a:rPr>
              <a:t>    &lt;异常处理语句块1&gt;</a:t>
            </a:r>
          </a:p>
          <a:p>
            <a:pPr algn="l">
              <a:lnSpc>
                <a:spcPct val="150000"/>
              </a:lnSpc>
              <a:buClrTx/>
              <a:buSzTx/>
              <a:buNone/>
            </a:pPr>
            <a:r>
              <a:rPr lang="en-US" altLang="zh-CN" sz="1600" dirty="0">
                <a:solidFill>
                  <a:schemeClr val="tx1">
                    <a:lumMod val="75000"/>
                    <a:lumOff val="25000"/>
                  </a:schemeClr>
                </a:solidFill>
              </a:rPr>
              <a:t>[except &lt;异常类型&gt; [as e2]:</a:t>
            </a:r>
          </a:p>
          <a:p>
            <a:pPr algn="l">
              <a:lnSpc>
                <a:spcPct val="150000"/>
              </a:lnSpc>
              <a:buClrTx/>
              <a:buSzTx/>
              <a:buNone/>
            </a:pPr>
            <a:r>
              <a:rPr lang="en-US" altLang="zh-CN" sz="1600" dirty="0">
                <a:solidFill>
                  <a:schemeClr val="tx1">
                    <a:lumMod val="75000"/>
                    <a:lumOff val="25000"/>
                  </a:schemeClr>
                </a:solidFill>
              </a:rPr>
              <a:t>    &lt;异常处理语句块2&gt;]</a:t>
            </a:r>
          </a:p>
          <a:p>
            <a:pPr algn="l">
              <a:lnSpc>
                <a:spcPct val="150000"/>
              </a:lnSpc>
              <a:buClrTx/>
              <a:buSzTx/>
              <a:buNone/>
            </a:pPr>
            <a:r>
              <a:rPr lang="en-US" altLang="zh-CN" sz="1600" dirty="0">
                <a:solidFill>
                  <a:schemeClr val="tx1">
                    <a:lumMod val="75000"/>
                    <a:lumOff val="25000"/>
                  </a:schemeClr>
                </a:solidFill>
              </a:rPr>
              <a:t>[else:</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[finally:</a:t>
            </a:r>
          </a:p>
          <a:p>
            <a:pPr algn="l">
              <a:lnSpc>
                <a:spcPct val="150000"/>
              </a:lnSpc>
              <a:buClrTx/>
              <a:buSzTx/>
              <a:buNone/>
            </a:pPr>
            <a:r>
              <a:rPr lang="en-US" altLang="zh-CN" sz="1600" dirty="0">
                <a:solidFill>
                  <a:schemeClr val="tx1">
                    <a:lumMod val="75000"/>
                    <a:lumOff val="25000"/>
                  </a:schemeClr>
                </a:solidFill>
              </a:rPr>
              <a:t>     &lt;语句块&gt;]</a:t>
            </a:r>
            <a:endParaRPr lang="zh-CN" altLang="en-US" sz="1600" dirty="0"/>
          </a:p>
          <a:p>
            <a:endParaRPr lang="zh-CN" altLang="en-US"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try-except</a:t>
            </a:r>
            <a:r>
              <a:rPr lang="zh-CN" altLang="en-US" dirty="0">
                <a:solidFill>
                  <a:schemeClr val="tx1">
                    <a:lumMod val="75000"/>
                    <a:lumOff val="25000"/>
                  </a:schemeClr>
                </a:solidFill>
              </a:rPr>
              <a:t>语句执行顺序</a:t>
            </a:r>
          </a:p>
          <a:p>
            <a:pPr>
              <a:lnSpc>
                <a:spcPct val="150000"/>
              </a:lnSpc>
              <a:buNone/>
            </a:pPr>
            <a:endParaRPr lang="zh-CN" altLang="en-US" dirty="0"/>
          </a:p>
          <a:p>
            <a:pPr>
              <a:lnSpc>
                <a:spcPct val="150000"/>
              </a:lnSpc>
            </a:pPr>
            <a:endParaRPr lang="zh-CN" altLang="zh-CN" dirty="0">
              <a:solidFill>
                <a:schemeClr val="tx1">
                  <a:lumMod val="75000"/>
                  <a:lumOff val="25000"/>
                </a:schemeClr>
              </a:solidFill>
            </a:endParaRPr>
          </a:p>
        </p:txBody>
      </p:sp>
      <p:sp>
        <p:nvSpPr>
          <p:cNvPr id="5" name="TextBox 76"/>
          <p:cNvSpPr txBox="1"/>
          <p:nvPr/>
        </p:nvSpPr>
        <p:spPr>
          <a:xfrm>
            <a:off x="1085762" y="2249338"/>
            <a:ext cx="10268038" cy="3046988"/>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执行try子句中的语句块（在关键字try和关键字except之间的语句）：</a:t>
            </a:r>
          </a:p>
          <a:p>
            <a:pPr algn="l">
              <a:lnSpc>
                <a:spcPct val="150000"/>
              </a:lnSpc>
              <a:buClrTx/>
              <a:buSzTx/>
              <a:buNone/>
            </a:pPr>
            <a:r>
              <a:rPr lang="en-US" altLang="zh-CN" sz="1600" dirty="0">
                <a:solidFill>
                  <a:schemeClr val="tx1">
                    <a:lumMod val="75000"/>
                    <a:lumOff val="25000"/>
                  </a:schemeClr>
                </a:solidFill>
              </a:rPr>
              <a:t>（1）如果没有异常发生，又有else子句，就执行else子句的代码；否则，执行try语句之后的代码。</a:t>
            </a:r>
          </a:p>
          <a:p>
            <a:pPr algn="l">
              <a:lnSpc>
                <a:spcPct val="150000"/>
              </a:lnSpc>
              <a:buClrTx/>
              <a:buSzTx/>
              <a:buNone/>
            </a:pPr>
            <a:r>
              <a:rPr lang="en-US" altLang="zh-CN" sz="1600" dirty="0">
                <a:solidFill>
                  <a:schemeClr val="tx1">
                    <a:lumMod val="75000"/>
                    <a:lumOff val="25000"/>
                  </a:schemeClr>
                </a:solidFill>
              </a:rPr>
              <a:t>（2）如果在执行try子句中的语句块的过程中发生了异常，那么try子句的语句块中余下的部分将被忽略。</a:t>
            </a:r>
          </a:p>
          <a:p>
            <a:pPr algn="l">
              <a:lnSpc>
                <a:spcPct val="150000"/>
              </a:lnSpc>
              <a:buClrTx/>
              <a:buSzTx/>
              <a:buNone/>
            </a:pPr>
            <a:r>
              <a:rPr lang="en-US" altLang="zh-CN" sz="1600" dirty="0">
                <a:solidFill>
                  <a:schemeClr val="tx1">
                    <a:lumMod val="75000"/>
                    <a:lumOff val="25000"/>
                  </a:schemeClr>
                </a:solidFill>
              </a:rPr>
              <a:t>（3）如果异常的类型和关键字except之后的异常类型相符，则对应的except子句将被执行，以完成异常处理，然后执行try语句之后的代码，程序不会中断。</a:t>
            </a:r>
          </a:p>
          <a:p>
            <a:pPr algn="l">
              <a:lnSpc>
                <a:spcPct val="150000"/>
              </a:lnSpc>
              <a:buClrTx/>
              <a:buSzTx/>
              <a:buNone/>
            </a:pPr>
            <a:r>
              <a:rPr lang="en-US" altLang="zh-CN" sz="1600" dirty="0">
                <a:solidFill>
                  <a:schemeClr val="tx1">
                    <a:lumMod val="75000"/>
                    <a:lumOff val="25000"/>
                  </a:schemeClr>
                </a:solidFill>
              </a:rPr>
              <a:t>（4）如果异常不能与所有except子句的异常类型匹配，则该异常会传递到上层的try语句中处理，如果上层的try语句没有处理异常或上层没有使用try语句，则程序中断执行。</a:t>
            </a:r>
          </a:p>
          <a:p>
            <a:pPr algn="l">
              <a:lnSpc>
                <a:spcPct val="150000"/>
              </a:lnSpc>
              <a:buClrTx/>
              <a:buSzTx/>
              <a:buNone/>
            </a:pPr>
            <a:r>
              <a:rPr lang="en-US" altLang="zh-CN" sz="1600" dirty="0">
                <a:solidFill>
                  <a:schemeClr val="tx1">
                    <a:lumMod val="75000"/>
                    <a:lumOff val="25000"/>
                  </a:schemeClr>
                </a:solidFill>
              </a:rPr>
              <a:t>（5）如果有finally子句，无论try子句是否产生异常，finally子句中的语句都会被执行。</a:t>
            </a:r>
            <a:endParaRPr lang="zh-CN" alt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zh-CN" altLang="en-US" dirty="0">
                <a:solidFill>
                  <a:schemeClr val="tx1">
                    <a:lumMod val="75000"/>
                    <a:lumOff val="25000"/>
                  </a:schemeClr>
                </a:solidFill>
              </a:rPr>
              <a:t>带有单个</a:t>
            </a:r>
            <a:r>
              <a:rPr lang="en-US" altLang="zh-CN" dirty="0">
                <a:solidFill>
                  <a:schemeClr val="tx1">
                    <a:lumMod val="75000"/>
                    <a:lumOff val="25000"/>
                  </a:schemeClr>
                </a:solidFill>
              </a:rPr>
              <a:t>except</a:t>
            </a:r>
            <a:r>
              <a:rPr lang="zh-CN" altLang="en-US" dirty="0">
                <a:solidFill>
                  <a:schemeClr val="tx1">
                    <a:lumMod val="75000"/>
                    <a:lumOff val="25000"/>
                  </a:schemeClr>
                </a:solidFill>
              </a:rPr>
              <a:t>子句的</a:t>
            </a:r>
            <a:r>
              <a:rPr lang="en-US" altLang="zh-CN" dirty="0">
                <a:solidFill>
                  <a:schemeClr val="tx1">
                    <a:lumMod val="75000"/>
                    <a:lumOff val="25000"/>
                  </a:schemeClr>
                </a:solidFill>
              </a:rPr>
              <a:t>try</a:t>
            </a:r>
            <a:r>
              <a:rPr lang="zh-CN" altLang="en-US" dirty="0">
                <a:solidFill>
                  <a:schemeClr val="tx1">
                    <a:lumMod val="75000"/>
                    <a:lumOff val="25000"/>
                  </a:schemeClr>
                </a:solidFill>
              </a:rPr>
              <a:t>语句</a:t>
            </a:r>
          </a:p>
          <a:p>
            <a:pPr>
              <a:lnSpc>
                <a:spcPct val="150000"/>
              </a:lnSpc>
              <a:buNone/>
            </a:pPr>
            <a:endParaRPr lang="zh-CN" altLang="en-US" dirty="0"/>
          </a:p>
          <a:p>
            <a:pPr>
              <a:lnSpc>
                <a:spcPct val="150000"/>
              </a:lnSpc>
            </a:pPr>
            <a:endParaRPr lang="zh-CN" altLang="zh-CN" dirty="0">
              <a:solidFill>
                <a:schemeClr val="tx1">
                  <a:lumMod val="75000"/>
                  <a:lumOff val="25000"/>
                </a:schemeClr>
              </a:solidFill>
            </a:endParaRPr>
          </a:p>
        </p:txBody>
      </p:sp>
      <p:sp>
        <p:nvSpPr>
          <p:cNvPr id="6" name="TextBox 75"/>
          <p:cNvSpPr txBox="1"/>
          <p:nvPr/>
        </p:nvSpPr>
        <p:spPr>
          <a:xfrm>
            <a:off x="1102379" y="2254881"/>
            <a:ext cx="9841160" cy="2677656"/>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带有单个except子句的try-except 语句的基本语法如下：</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  #检测异常</a:t>
            </a:r>
          </a:p>
          <a:p>
            <a:pPr algn="l">
              <a:lnSpc>
                <a:spcPct val="150000"/>
              </a:lnSpc>
              <a:buClrTx/>
              <a:buSzTx/>
              <a:buNone/>
            </a:pPr>
            <a:r>
              <a:rPr lang="en-US" altLang="zh-CN" sz="1600" dirty="0">
                <a:solidFill>
                  <a:schemeClr val="tx1">
                    <a:lumMod val="75000"/>
                    <a:lumOff val="25000"/>
                  </a:schemeClr>
                </a:solidFill>
              </a:rPr>
              <a:t>except &lt;异常类型&gt; [as e]:</a:t>
            </a:r>
          </a:p>
          <a:p>
            <a:pPr algn="l">
              <a:lnSpc>
                <a:spcPct val="150000"/>
              </a:lnSpc>
              <a:buClrTx/>
              <a:buSzTx/>
              <a:buNone/>
            </a:pPr>
            <a:r>
              <a:rPr lang="en-US" altLang="zh-CN" sz="1600" dirty="0">
                <a:solidFill>
                  <a:schemeClr val="tx1">
                    <a:lumMod val="75000"/>
                    <a:lumOff val="25000"/>
                  </a:schemeClr>
                </a:solidFill>
              </a:rPr>
              <a:t>    &lt;异常处理语句块&gt;   #处理异常</a:t>
            </a:r>
          </a:p>
          <a:p>
            <a:pPr algn="l">
              <a:lnSpc>
                <a:spcPct val="150000"/>
              </a:lnSpc>
              <a:buClrTx/>
              <a:buSzTx/>
              <a:buNone/>
            </a:pPr>
            <a:r>
              <a:rPr lang="en-US" altLang="zh-CN" sz="1600" dirty="0">
                <a:solidFill>
                  <a:schemeClr val="tx1">
                    <a:lumMod val="75000"/>
                    <a:lumOff val="25000"/>
                  </a:schemeClr>
                </a:solidFill>
              </a:rPr>
              <a:t>说明：[as e]可以省略，如果没有省略的话，注意，as是关键字，e是参数，名字由用户定义。具体来说，e为异常类实例，其中包含了异常信息，可以用print()将异常信息打印出来。</a:t>
            </a:r>
            <a:endParaRPr lang="zh-CN" altLang="en-US" sz="1600" dirty="0">
              <a:latin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2"/>
          <p:cNvSpPr txBox="1"/>
          <p:nvPr/>
        </p:nvSpPr>
        <p:spPr>
          <a:xfrm>
            <a:off x="988432" y="1602260"/>
            <a:ext cx="10094095" cy="452431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省略except语句中的[as e]，此时程序员不清楚导致异常的原因。</a:t>
            </a:r>
          </a:p>
          <a:p>
            <a:pPr>
              <a:lnSpc>
                <a:spcPct val="150000"/>
              </a:lnSpc>
            </a:pPr>
            <a:r>
              <a:rPr lang="en-US" altLang="zh-CN" sz="1600" dirty="0">
                <a:solidFill>
                  <a:schemeClr val="tx1">
                    <a:lumMod val="75000"/>
                    <a:lumOff val="25000"/>
                  </a:schemeClr>
                </a:solidFill>
              </a:rPr>
              <a:t>#try-except</a:t>
            </a:r>
            <a:r>
              <a:rPr lang="zh-CN" altLang="en-US" sz="1600" dirty="0">
                <a:solidFill>
                  <a:schemeClr val="tx1">
                    <a:lumMod val="75000"/>
                    <a:lumOff val="25000"/>
                  </a:schemeClr>
                </a:solidFill>
              </a:rPr>
              <a:t>语句</a:t>
            </a:r>
          </a:p>
          <a:p>
            <a:pPr>
              <a:lnSpc>
                <a:spcPct val="150000"/>
              </a:lnSpc>
            </a:pPr>
            <a:r>
              <a:rPr lang="en-US" altLang="zh-CN" sz="1600" dirty="0">
                <a:solidFill>
                  <a:schemeClr val="tx1">
                    <a:lumMod val="75000"/>
                    <a:lumOff val="25000"/>
                  </a:schemeClr>
                </a:solidFill>
              </a:rPr>
              <a:t>try:</a:t>
            </a:r>
          </a:p>
          <a:p>
            <a:pPr>
              <a:lnSpc>
                <a:spcPct val="150000"/>
              </a:lnSpc>
            </a:pPr>
            <a:r>
              <a:rPr lang="en-US" altLang="zh-CN" sz="1600" dirty="0">
                <a:solidFill>
                  <a:schemeClr val="tx1">
                    <a:lumMod val="75000"/>
                    <a:lumOff val="25000"/>
                  </a:schemeClr>
                </a:solidFill>
              </a:rPr>
              <a:t>   a = 4</a:t>
            </a:r>
          </a:p>
          <a:p>
            <a:pPr>
              <a:lnSpc>
                <a:spcPct val="150000"/>
              </a:lnSpc>
            </a:pPr>
            <a:r>
              <a:rPr lang="en-US" altLang="zh-CN" sz="1600" dirty="0">
                <a:solidFill>
                  <a:schemeClr val="tx1">
                    <a:lumMod val="75000"/>
                    <a:lumOff val="25000"/>
                  </a:schemeClr>
                </a:solidFill>
              </a:rPr>
              <a:t>   b = 0</a:t>
            </a:r>
          </a:p>
          <a:p>
            <a:pPr>
              <a:lnSpc>
                <a:spcPct val="150000"/>
              </a:lnSpc>
            </a:pPr>
            <a:r>
              <a:rPr lang="en-US" altLang="zh-CN" sz="1600" dirty="0">
                <a:solidFill>
                  <a:schemeClr val="tx1">
                    <a:lumMod val="75000"/>
                    <a:lumOff val="25000"/>
                  </a:schemeClr>
                </a:solidFill>
              </a:rPr>
              <a:t>   c = a / b</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ZeroDivisionError</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ZeroDivisionError</a:t>
            </a:r>
            <a:r>
              <a:rPr lang="zh-CN" altLang="en-US" sz="1600" dirty="0">
                <a:solidFill>
                  <a:schemeClr val="tx1">
                    <a:lumMod val="75000"/>
                    <a:lumOff val="25000"/>
                  </a:schemeClr>
                </a:solidFill>
              </a:rPr>
              <a:t>类型错误</a:t>
            </a:r>
            <a:r>
              <a:rPr lang="en-US" altLang="zh-CN" sz="1600" dirty="0">
                <a:solidFill>
                  <a:schemeClr val="tx1">
                    <a:lumMod val="75000"/>
                    <a:lumOff val="25000"/>
                  </a:schemeClr>
                </a:solidFill>
              </a:rPr>
              <a:t>")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说明：以上代码输出信息“ZeroDivisionError类型错误”是由程序员自己给出的（print()语句输出的结果），但并不清楚此类异常是什么原因导致的，这对后续程序的修改不能起到相应的提示作用！</a:t>
            </a:r>
          </a:p>
          <a:p>
            <a:pPr algn="l">
              <a:lnSpc>
                <a:spcPct val="150000"/>
              </a:lnSpc>
              <a:buClrTx/>
              <a:buSzTx/>
              <a:buNone/>
            </a:pPr>
            <a:endParaRPr lang="en-US" altLang="zh-CN" sz="1600" dirty="0">
              <a:solidFill>
                <a:schemeClr val="tx1">
                  <a:lumMod val="75000"/>
                  <a:lumOff val="25000"/>
                </a:schemeClr>
              </a:solidFill>
            </a:endParaRPr>
          </a:p>
        </p:txBody>
      </p:sp>
      <p:pic>
        <p:nvPicPr>
          <p:cNvPr id="7" name="图片 13"/>
          <p:cNvPicPr>
            <a:picLocks noChangeAspect="1" noChangeArrowheads="1"/>
          </p:cNvPicPr>
          <p:nvPr/>
        </p:nvPicPr>
        <p:blipFill>
          <a:blip r:embed="rId2" cstate="print"/>
          <a:srcRect/>
          <a:stretch>
            <a:fillRect/>
          </a:stretch>
        </p:blipFill>
        <p:spPr bwMode="auto">
          <a:xfrm>
            <a:off x="1194783" y="4602255"/>
            <a:ext cx="3399146" cy="305625"/>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2"/>
          <p:cNvSpPr txBox="1"/>
          <p:nvPr/>
        </p:nvSpPr>
        <p:spPr>
          <a:xfrm>
            <a:off x="918630" y="1602260"/>
            <a:ext cx="10515027" cy="4524315"/>
          </a:xfrm>
          <a:prstGeom prst="rect">
            <a:avLst/>
          </a:prstGeom>
          <a:noFill/>
        </p:spPr>
        <p:txBody>
          <a:bodyPr wrap="square" rtlCol="0">
            <a:spAutoFit/>
          </a:bodyPr>
          <a:lstStyle/>
          <a:p>
            <a:pPr>
              <a:lnSpc>
                <a:spcPct val="120000"/>
              </a:lnSpc>
            </a:pPr>
            <a:r>
              <a:rPr lang="en-US" altLang="zh-CN" sz="1600" dirty="0">
                <a:solidFill>
                  <a:schemeClr val="tx1">
                    <a:lumMod val="75000"/>
                    <a:lumOff val="25000"/>
                  </a:schemeClr>
                </a:solidFill>
              </a:rPr>
              <a:t>【例】  通过except语句的[as e]将异常信息输出。</a:t>
            </a:r>
          </a:p>
          <a:p>
            <a:pPr>
              <a:lnSpc>
                <a:spcPct val="120000"/>
              </a:lnSpc>
            </a:pPr>
            <a:r>
              <a:rPr lang="en-US" altLang="zh-CN" sz="1600" dirty="0">
                <a:solidFill>
                  <a:schemeClr val="tx1">
                    <a:lumMod val="75000"/>
                    <a:lumOff val="25000"/>
                  </a:schemeClr>
                </a:solidFill>
              </a:rPr>
              <a:t>#try-except语句，通过参数e可以输出产生异常的原因！</a:t>
            </a:r>
          </a:p>
          <a:p>
            <a:pPr>
              <a:lnSpc>
                <a:spcPct val="120000"/>
              </a:lnSpc>
            </a:pPr>
            <a:r>
              <a:rPr lang="en-US" altLang="zh-CN" sz="1600" dirty="0">
                <a:solidFill>
                  <a:schemeClr val="tx1">
                    <a:lumMod val="75000"/>
                    <a:lumOff val="25000"/>
                  </a:schemeClr>
                </a:solidFill>
              </a:rPr>
              <a:t>try:  </a:t>
            </a:r>
          </a:p>
          <a:p>
            <a:pPr>
              <a:lnSpc>
                <a:spcPct val="120000"/>
              </a:lnSpc>
            </a:pPr>
            <a:r>
              <a:rPr lang="en-US" altLang="zh-CN" sz="1600" dirty="0">
                <a:solidFill>
                  <a:schemeClr val="tx1">
                    <a:lumMod val="75000"/>
                    <a:lumOff val="25000"/>
                  </a:schemeClr>
                </a:solidFill>
              </a:rPr>
              <a:t>    a = 4</a:t>
            </a:r>
          </a:p>
          <a:p>
            <a:pPr>
              <a:lnSpc>
                <a:spcPct val="120000"/>
              </a:lnSpc>
            </a:pPr>
            <a:r>
              <a:rPr lang="en-US" altLang="zh-CN" sz="1600" dirty="0">
                <a:solidFill>
                  <a:schemeClr val="tx1">
                    <a:lumMod val="75000"/>
                    <a:lumOff val="25000"/>
                  </a:schemeClr>
                </a:solidFill>
              </a:rPr>
              <a:t>    b = 0 </a:t>
            </a:r>
          </a:p>
          <a:p>
            <a:pPr>
              <a:lnSpc>
                <a:spcPct val="120000"/>
              </a:lnSpc>
            </a:pPr>
            <a:r>
              <a:rPr lang="en-US" altLang="zh-CN" sz="1600" dirty="0">
                <a:solidFill>
                  <a:schemeClr val="tx1">
                    <a:lumMod val="75000"/>
                    <a:lumOff val="25000"/>
                  </a:schemeClr>
                </a:solidFill>
              </a:rPr>
              <a:t>    c = a / b</a:t>
            </a:r>
          </a:p>
          <a:p>
            <a:pPr>
              <a:lnSpc>
                <a:spcPct val="120000"/>
              </a:lnSpc>
            </a:pPr>
            <a:r>
              <a:rPr lang="en-US" altLang="zh-CN" sz="1600" dirty="0">
                <a:solidFill>
                  <a:schemeClr val="tx1">
                    <a:lumMod val="75000"/>
                    <a:lumOff val="25000"/>
                  </a:schemeClr>
                </a:solidFill>
              </a:rPr>
              <a:t>except ZeroDivisionError as e:   </a:t>
            </a:r>
          </a:p>
          <a:p>
            <a:pPr>
              <a:lnSpc>
                <a:spcPct val="120000"/>
              </a:lnSpc>
            </a:pPr>
            <a:r>
              <a:rPr lang="en-US" altLang="zh-CN" sz="1600" dirty="0">
                <a:solidFill>
                  <a:schemeClr val="tx1">
                    <a:lumMod val="75000"/>
                    <a:lumOff val="25000"/>
                  </a:schemeClr>
                </a:solidFill>
              </a:rPr>
              <a:t>    print("ZeroDivisionError类型错误，错误的原因是：",e) </a:t>
            </a:r>
          </a:p>
          <a:p>
            <a:pPr>
              <a:lnSpc>
                <a:spcPct val="120000"/>
              </a:lnSpc>
            </a:pP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异常参数：一个异常可以带上参数，而此参数可以作为异常信息输出。如上例中定义了一个“ZeroDivisionError”异常，参数是e，通过输出异常参数的值可以清楚地知道产生异常的原因是0作了除数。下面的例子也是带异常参数的情况。</a:t>
            </a:r>
            <a:br>
              <a:rPr lang="en-US" altLang="zh-CN" sz="1600" dirty="0">
                <a:solidFill>
                  <a:schemeClr val="tx1">
                    <a:lumMod val="75000"/>
                    <a:lumOff val="25000"/>
                  </a:schemeClr>
                </a:solidFill>
              </a:rPr>
            </a:br>
            <a:r>
              <a:rPr lang="en-US" altLang="zh-CN" sz="1600" dirty="0">
                <a:solidFill>
                  <a:schemeClr val="tx1">
                    <a:lumMod val="75000"/>
                    <a:lumOff val="25000"/>
                  </a:schemeClr>
                </a:solidFill>
              </a:rPr>
              <a:t>try:   </a:t>
            </a:r>
          </a:p>
          <a:p>
            <a:pPr>
              <a:lnSpc>
                <a:spcPct val="120000"/>
              </a:lnSpc>
            </a:pPr>
            <a:r>
              <a:rPr lang="en-US" altLang="zh-CN" sz="1600" dirty="0">
                <a:solidFill>
                  <a:schemeClr val="tx1">
                    <a:lumMod val="75000"/>
                    <a:lumOff val="25000"/>
                  </a:schemeClr>
                </a:solidFill>
              </a:rPr>
              <a:t>    f = open('hp', 'r')</a:t>
            </a:r>
          </a:p>
          <a:p>
            <a:pPr>
              <a:lnSpc>
                <a:spcPct val="120000"/>
              </a:lnSpc>
            </a:pPr>
            <a:r>
              <a:rPr lang="en-US" altLang="zh-CN" sz="1600" dirty="0">
                <a:solidFill>
                  <a:schemeClr val="tx1">
                    <a:lumMod val="75000"/>
                    <a:lumOff val="25000"/>
                  </a:schemeClr>
                </a:solidFill>
              </a:rPr>
              <a:t>except IOError as e:  </a:t>
            </a:r>
          </a:p>
          <a:p>
            <a:pPr>
              <a:lnSpc>
                <a:spcPct val="120000"/>
              </a:lnSpc>
            </a:pPr>
            <a:r>
              <a:rPr lang="en-US" altLang="zh-CN" sz="1600" dirty="0">
                <a:solidFill>
                  <a:schemeClr val="tx1">
                    <a:lumMod val="75000"/>
                    <a:lumOff val="25000"/>
                  </a:schemeClr>
                </a:solidFill>
              </a:rPr>
              <a:t>    print('could not open file：原因是', e)</a:t>
            </a:r>
          </a:p>
        </p:txBody>
      </p:sp>
      <p:pic>
        <p:nvPicPr>
          <p:cNvPr id="8" name="图片 16"/>
          <p:cNvPicPr>
            <a:picLocks noChangeAspect="1" noChangeArrowheads="1"/>
          </p:cNvPicPr>
          <p:nvPr/>
        </p:nvPicPr>
        <p:blipFill>
          <a:blip r:embed="rId2" cstate="print"/>
          <a:srcRect/>
          <a:stretch>
            <a:fillRect/>
          </a:stretch>
        </p:blipFill>
        <p:spPr bwMode="auto">
          <a:xfrm>
            <a:off x="1222748" y="3987136"/>
            <a:ext cx="6425377" cy="300251"/>
          </a:xfrm>
          <a:prstGeom prst="rect">
            <a:avLst/>
          </a:prstGeom>
          <a:noFill/>
          <a:ln w="9525">
            <a:noFill/>
            <a:miter lim="800000"/>
            <a:headEnd/>
            <a:tailEnd/>
          </a:ln>
        </p:spPr>
      </p:pic>
      <p:pic>
        <p:nvPicPr>
          <p:cNvPr id="9" name="图片 19"/>
          <p:cNvPicPr>
            <a:picLocks noChangeAspect="1" noChangeArrowheads="1"/>
          </p:cNvPicPr>
          <p:nvPr/>
        </p:nvPicPr>
        <p:blipFill>
          <a:blip r:embed="rId3" cstate="print"/>
          <a:srcRect/>
          <a:stretch>
            <a:fillRect/>
          </a:stretch>
        </p:blipFill>
        <p:spPr bwMode="auto">
          <a:xfrm>
            <a:off x="1017922" y="6126575"/>
            <a:ext cx="6441744" cy="300250"/>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7" name="TextBox 72"/>
          <p:cNvSpPr txBox="1"/>
          <p:nvPr/>
        </p:nvSpPr>
        <p:spPr>
          <a:xfrm>
            <a:off x="838200" y="1310491"/>
            <a:ext cx="10390632" cy="4893647"/>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异常与except子句的异常类型不匹配。</a:t>
            </a:r>
          </a:p>
          <a:p>
            <a:pPr algn="l">
              <a:lnSpc>
                <a:spcPct val="150000"/>
              </a:lnSpc>
              <a:buClrTx/>
              <a:buSzTx/>
              <a:buNone/>
            </a:pPr>
            <a:r>
              <a:rPr lang="en-US" altLang="zh-CN" sz="1600" dirty="0">
                <a:solidFill>
                  <a:schemeClr val="tx1">
                    <a:lumMod val="75000"/>
                    <a:lumOff val="25000"/>
                  </a:schemeClr>
                </a:solidFill>
              </a:rPr>
              <a:t>try:  </a:t>
            </a:r>
          </a:p>
          <a:p>
            <a:pPr algn="l">
              <a:lnSpc>
                <a:spcPct val="150000"/>
              </a:lnSpc>
              <a:buClrTx/>
              <a:buSzTx/>
              <a:buNone/>
            </a:pPr>
            <a:r>
              <a:rPr lang="en-US" altLang="zh-CN" sz="1600" dirty="0">
                <a:solidFill>
                  <a:schemeClr val="tx1">
                    <a:lumMod val="75000"/>
                    <a:lumOff val="25000"/>
                  </a:schemeClr>
                </a:solidFill>
              </a:rPr>
              <a:t>    a = 3</a:t>
            </a:r>
          </a:p>
          <a:p>
            <a:pPr algn="l">
              <a:lnSpc>
                <a:spcPct val="150000"/>
              </a:lnSpc>
              <a:buClrTx/>
              <a:buSzTx/>
              <a:buNone/>
            </a:pPr>
            <a:r>
              <a:rPr lang="en-US" altLang="zh-CN" sz="1600" dirty="0">
                <a:solidFill>
                  <a:schemeClr val="tx1">
                    <a:lumMod val="75000"/>
                    <a:lumOff val="25000"/>
                  </a:schemeClr>
                </a:solidFill>
              </a:rPr>
              <a:t>    b = 0 </a:t>
            </a:r>
          </a:p>
          <a:p>
            <a:pPr algn="l">
              <a:lnSpc>
                <a:spcPct val="150000"/>
              </a:lnSpc>
              <a:buClrTx/>
              <a:buSzTx/>
              <a:buNone/>
            </a:pPr>
            <a:r>
              <a:rPr lang="en-US" altLang="zh-CN" sz="1600" dirty="0">
                <a:solidFill>
                  <a:schemeClr val="tx1">
                    <a:lumMod val="75000"/>
                    <a:lumOff val="25000"/>
                  </a:schemeClr>
                </a:solidFill>
              </a:rPr>
              <a:t>    c = a / b      # 0作了除数</a:t>
            </a:r>
          </a:p>
          <a:p>
            <a:pPr algn="l">
              <a:lnSpc>
                <a:spcPct val="150000"/>
              </a:lnSpc>
              <a:buClrTx/>
              <a:buSzTx/>
              <a:buNone/>
            </a:pPr>
            <a:r>
              <a:rPr lang="en-US" altLang="zh-CN" sz="1600" dirty="0">
                <a:solidFill>
                  <a:schemeClr val="tx1">
                    <a:lumMod val="75000"/>
                    <a:lumOff val="25000"/>
                  </a:schemeClr>
                </a:solidFill>
              </a:rPr>
              <a:t>except ValueError as e:  </a:t>
            </a:r>
          </a:p>
          <a:p>
            <a:pPr algn="l">
              <a:lnSpc>
                <a:spcPct val="150000"/>
              </a:lnSpc>
              <a:buClrTx/>
              <a:buSzTx/>
              <a:buNone/>
            </a:pPr>
            <a:r>
              <a:rPr lang="en-US" altLang="zh-CN" sz="1600" dirty="0">
                <a:solidFill>
                  <a:schemeClr val="tx1">
                    <a:lumMod val="75000"/>
                    <a:lumOff val="25000"/>
                  </a:schemeClr>
                </a:solidFill>
              </a:rPr>
              <a:t>    #发生的异常与except给出的异常类型ValueError不匹配，注意观察输出的错误信息是什么   </a:t>
            </a:r>
          </a:p>
          <a:p>
            <a:pPr algn="l">
              <a:lnSpc>
                <a:spcPct val="150000"/>
              </a:lnSpc>
              <a:buClrTx/>
              <a:buSzTx/>
              <a:buNone/>
            </a:pPr>
            <a:r>
              <a:rPr lang="en-US" altLang="zh-CN" sz="1600" dirty="0">
                <a:solidFill>
                  <a:schemeClr val="tx1">
                    <a:lumMod val="75000"/>
                    <a:lumOff val="25000"/>
                  </a:schemeClr>
                </a:solidFill>
              </a:rPr>
              <a:t>    print("错误的原因是：",e)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说明：在执行try子句的过程中，如果发生的异常不能与except子句的异常类型匹配，则对应的except子句不被执行，即“print("错误的原因是：",e)”不会被执行，程序将直接中断运行并抛出异常。</a:t>
            </a:r>
            <a:endParaRPr lang="zh-CN" altLang="en-US" sz="1600" dirty="0">
              <a:latin typeface="+mn-ea"/>
            </a:endParaRPr>
          </a:p>
        </p:txBody>
      </p:sp>
      <p:pic>
        <p:nvPicPr>
          <p:cNvPr id="10" name="图片 22"/>
          <p:cNvPicPr>
            <a:picLocks noChangeAspect="1" noChangeArrowheads="1"/>
          </p:cNvPicPr>
          <p:nvPr/>
        </p:nvPicPr>
        <p:blipFill>
          <a:blip r:embed="rId2" cstate="print"/>
          <a:srcRect/>
          <a:stretch>
            <a:fillRect/>
          </a:stretch>
        </p:blipFill>
        <p:spPr bwMode="auto">
          <a:xfrm>
            <a:off x="950154" y="4245532"/>
            <a:ext cx="4401604" cy="1202618"/>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zh-CN" altLang="en-US" dirty="0">
                <a:solidFill>
                  <a:schemeClr val="tx1">
                    <a:lumMod val="75000"/>
                    <a:lumOff val="25000"/>
                  </a:schemeClr>
                </a:solidFill>
              </a:rPr>
              <a:t>带有多个</a:t>
            </a:r>
            <a:r>
              <a:rPr lang="en-US" altLang="zh-CN" dirty="0">
                <a:solidFill>
                  <a:schemeClr val="tx1">
                    <a:lumMod val="75000"/>
                    <a:lumOff val="25000"/>
                  </a:schemeClr>
                </a:solidFill>
              </a:rPr>
              <a:t>except</a:t>
            </a:r>
            <a:r>
              <a:rPr lang="zh-CN" altLang="en-US" dirty="0">
                <a:solidFill>
                  <a:schemeClr val="tx1">
                    <a:lumMod val="75000"/>
                    <a:lumOff val="25000"/>
                  </a:schemeClr>
                </a:solidFill>
              </a:rPr>
              <a:t>子句的</a:t>
            </a:r>
            <a:r>
              <a:rPr lang="en-US" altLang="zh-CN" dirty="0">
                <a:solidFill>
                  <a:schemeClr val="tx1">
                    <a:lumMod val="75000"/>
                    <a:lumOff val="25000"/>
                  </a:schemeClr>
                </a:solidFill>
              </a:rPr>
              <a:t>try</a:t>
            </a:r>
            <a:r>
              <a:rPr lang="zh-CN" altLang="en-US" dirty="0">
                <a:solidFill>
                  <a:schemeClr val="tx1">
                    <a:lumMod val="75000"/>
                    <a:lumOff val="25000"/>
                  </a:schemeClr>
                </a:solidFill>
              </a:rPr>
              <a:t>语句</a:t>
            </a:r>
          </a:p>
          <a:p>
            <a:pPr>
              <a:lnSpc>
                <a:spcPct val="150000"/>
              </a:lnSpc>
            </a:pPr>
            <a:endParaRPr lang="zh-CN" altLang="zh-CN" dirty="0">
              <a:solidFill>
                <a:schemeClr val="tx1">
                  <a:lumMod val="75000"/>
                  <a:lumOff val="25000"/>
                </a:schemeClr>
              </a:solidFill>
            </a:endParaRPr>
          </a:p>
        </p:txBody>
      </p:sp>
      <p:sp>
        <p:nvSpPr>
          <p:cNvPr id="6" name="TextBox 75"/>
          <p:cNvSpPr txBox="1"/>
          <p:nvPr/>
        </p:nvSpPr>
        <p:spPr>
          <a:xfrm>
            <a:off x="1040835" y="2077433"/>
            <a:ext cx="10134389" cy="452431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基本语法如下：</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&lt;异常类型&gt; [as e1]:</a:t>
            </a:r>
          </a:p>
          <a:p>
            <a:pPr algn="l">
              <a:lnSpc>
                <a:spcPct val="150000"/>
              </a:lnSpc>
              <a:buClrTx/>
              <a:buSzTx/>
              <a:buNone/>
            </a:pPr>
            <a:r>
              <a:rPr lang="en-US" altLang="zh-CN" sz="1600" dirty="0">
                <a:solidFill>
                  <a:schemeClr val="tx1">
                    <a:lumMod val="75000"/>
                    <a:lumOff val="25000"/>
                  </a:schemeClr>
                </a:solidFill>
              </a:rPr>
              <a:t>   &lt;异常处理语句块1&gt;</a:t>
            </a:r>
          </a:p>
          <a:p>
            <a:pPr algn="l">
              <a:lnSpc>
                <a:spcPct val="150000"/>
              </a:lnSpc>
              <a:buClrTx/>
              <a:buSzTx/>
              <a:buNone/>
            </a:pPr>
            <a:r>
              <a:rPr lang="en-US" altLang="zh-CN" sz="1600" dirty="0">
                <a:solidFill>
                  <a:schemeClr val="tx1">
                    <a:lumMod val="75000"/>
                    <a:lumOff val="25000"/>
                  </a:schemeClr>
                </a:solidFill>
              </a:rPr>
              <a:t>[except &lt;异常类型&gt; [as e2]:</a:t>
            </a:r>
          </a:p>
          <a:p>
            <a:pPr algn="l">
              <a:lnSpc>
                <a:spcPct val="150000"/>
              </a:lnSpc>
              <a:buClrTx/>
              <a:buSzTx/>
              <a:buNone/>
            </a:pPr>
            <a:r>
              <a:rPr lang="en-US" altLang="zh-CN" sz="1600" dirty="0">
                <a:solidFill>
                  <a:schemeClr val="tx1">
                    <a:lumMod val="75000"/>
                    <a:lumOff val="25000"/>
                  </a:schemeClr>
                </a:solidFill>
              </a:rPr>
              <a:t>   &lt;异常处理语句块2&gt;]</a:t>
            </a:r>
          </a:p>
          <a:p>
            <a:pPr algn="l">
              <a:lnSpc>
                <a:spcPct val="150000"/>
              </a:lnSpc>
              <a:buClrTx/>
              <a:buSzTx/>
              <a:buNone/>
            </a:pP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[except &lt;异常类型&gt; [as en]:</a:t>
            </a:r>
          </a:p>
          <a:p>
            <a:pPr algn="l">
              <a:lnSpc>
                <a:spcPct val="150000"/>
              </a:lnSpc>
              <a:buClrTx/>
              <a:buSzTx/>
              <a:buNone/>
            </a:pPr>
            <a:r>
              <a:rPr lang="en-US" altLang="zh-CN" sz="1600" dirty="0">
                <a:solidFill>
                  <a:schemeClr val="tx1">
                    <a:lumMod val="75000"/>
                    <a:lumOff val="25000"/>
                  </a:schemeClr>
                </a:solidFill>
              </a:rPr>
              <a:t>  &lt;异常处理语句块n&gt;]</a:t>
            </a:r>
          </a:p>
          <a:p>
            <a:pPr algn="l">
              <a:lnSpc>
                <a:spcPct val="150000"/>
              </a:lnSpc>
              <a:buClrTx/>
              <a:buSzTx/>
              <a:buNone/>
            </a:pPr>
            <a:r>
              <a:rPr lang="en-US" altLang="zh-CN" sz="1600" dirty="0" err="1">
                <a:solidFill>
                  <a:schemeClr val="tx1">
                    <a:lumMod val="75000"/>
                    <a:lumOff val="25000"/>
                  </a:schemeClr>
                </a:solidFill>
              </a:rPr>
              <a:t>作用：把多个except子句连接在一起，处理一个try语句块中可能发生的多种异常</a:t>
            </a:r>
            <a:r>
              <a:rPr lang="en-US" altLang="zh-CN" sz="1600" dirty="0">
                <a:solidFill>
                  <a:schemeClr val="tx1">
                    <a:lumMod val="75000"/>
                    <a:lumOff val="25000"/>
                  </a:schemeClr>
                </a:solidFill>
              </a:rPr>
              <a:t>。</a:t>
            </a:r>
            <a:endParaRPr lang="zh-CN" altLang="en-US" sz="1600" dirty="0">
              <a:ea typeface="+mj-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4"/>
          <p:cNvSpPr txBox="1"/>
          <p:nvPr/>
        </p:nvSpPr>
        <p:spPr>
          <a:xfrm>
            <a:off x="986161" y="1602260"/>
            <a:ext cx="9993953" cy="489267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从键盘输入两个整数，求其相除的结果。</a:t>
            </a:r>
          </a:p>
          <a:p>
            <a:pPr algn="l">
              <a:lnSpc>
                <a:spcPct val="150000"/>
              </a:lnSpc>
              <a:buClrTx/>
              <a:buSzTx/>
              <a:buNone/>
            </a:pPr>
            <a:r>
              <a:rPr lang="en-US" altLang="zh-CN" sz="1600" dirty="0">
                <a:solidFill>
                  <a:schemeClr val="tx1">
                    <a:lumMod val="75000"/>
                    <a:lumOff val="25000"/>
                  </a:schemeClr>
                </a:solidFill>
              </a:rPr>
              <a:t>try:  </a:t>
            </a:r>
          </a:p>
          <a:p>
            <a:pPr algn="l">
              <a:lnSpc>
                <a:spcPct val="150000"/>
              </a:lnSpc>
              <a:buClrTx/>
              <a:buSzTx/>
              <a:buNone/>
            </a:pPr>
            <a:r>
              <a:rPr lang="en-US" altLang="zh-CN" sz="1600" dirty="0">
                <a:solidFill>
                  <a:schemeClr val="tx1">
                    <a:lumMod val="75000"/>
                    <a:lumOff val="25000"/>
                  </a:schemeClr>
                </a:solidFill>
              </a:rPr>
              <a:t>    a = input("请输入被除数：")  </a:t>
            </a:r>
          </a:p>
          <a:p>
            <a:pPr algn="l">
              <a:lnSpc>
                <a:spcPct val="150000"/>
              </a:lnSpc>
              <a:buClrTx/>
              <a:buSzTx/>
              <a:buNone/>
            </a:pPr>
            <a:r>
              <a:rPr lang="en-US" altLang="zh-CN" sz="1600" dirty="0">
                <a:solidFill>
                  <a:schemeClr val="tx1">
                    <a:lumMod val="75000"/>
                    <a:lumOff val="25000"/>
                  </a:schemeClr>
                </a:solidFill>
              </a:rPr>
              <a:t>    b = input("请输入除数：")   </a:t>
            </a:r>
          </a:p>
          <a:p>
            <a:pPr algn="l">
              <a:lnSpc>
                <a:spcPct val="150000"/>
              </a:lnSpc>
              <a:buClrTx/>
              <a:buSzTx/>
              <a:buNone/>
            </a:pPr>
            <a:r>
              <a:rPr lang="en-US" altLang="zh-CN" sz="1600" dirty="0">
                <a:solidFill>
                  <a:schemeClr val="tx1">
                    <a:lumMod val="75000"/>
                    <a:lumOff val="25000"/>
                  </a:schemeClr>
                </a:solidFill>
              </a:rPr>
              <a:t>    c = int(a) / int(b)  </a:t>
            </a:r>
          </a:p>
          <a:p>
            <a:pPr algn="l">
              <a:lnSpc>
                <a:spcPct val="150000"/>
              </a:lnSpc>
              <a:buClrTx/>
              <a:buSzTx/>
              <a:buNone/>
            </a:pPr>
            <a:r>
              <a:rPr lang="en-US" altLang="zh-CN" sz="1600" dirty="0">
                <a:solidFill>
                  <a:schemeClr val="tx1">
                    <a:lumMod val="75000"/>
                    <a:lumOff val="25000"/>
                  </a:schemeClr>
                </a:solidFill>
              </a:rPr>
              <a:t>except ValueError as e:  </a:t>
            </a:r>
          </a:p>
          <a:p>
            <a:pPr algn="l">
              <a:lnSpc>
                <a:spcPct val="150000"/>
              </a:lnSpc>
              <a:buClrTx/>
              <a:buSzTx/>
              <a:buNone/>
            </a:pPr>
            <a:r>
              <a:rPr lang="en-US" altLang="zh-CN" sz="1600" dirty="0">
                <a:solidFill>
                  <a:schemeClr val="tx1">
                    <a:lumMod val="75000"/>
                    <a:lumOff val="25000"/>
                  </a:schemeClr>
                </a:solidFill>
              </a:rPr>
              <a:t>    print("ValueError类型错误，原因：",e)</a:t>
            </a:r>
          </a:p>
          <a:p>
            <a:pPr algn="l">
              <a:lnSpc>
                <a:spcPct val="150000"/>
              </a:lnSpc>
              <a:buClrTx/>
              <a:buSzTx/>
              <a:buNone/>
            </a:pPr>
            <a:r>
              <a:rPr lang="en-US" altLang="zh-CN" sz="1600" dirty="0">
                <a:solidFill>
                  <a:schemeClr val="tx1">
                    <a:lumMod val="75000"/>
                    <a:lumOff val="25000"/>
                  </a:schemeClr>
                </a:solidFill>
              </a:rPr>
              <a:t>except ZeroDivisionError as e: </a:t>
            </a:r>
          </a:p>
          <a:p>
            <a:pPr algn="l">
              <a:lnSpc>
                <a:spcPct val="150000"/>
              </a:lnSpc>
              <a:buClrTx/>
              <a:buSzTx/>
              <a:buNone/>
            </a:pPr>
            <a:r>
              <a:rPr lang="en-US" altLang="zh-CN" sz="1600" dirty="0">
                <a:solidFill>
                  <a:schemeClr val="tx1">
                    <a:lumMod val="75000"/>
                    <a:lumOff val="25000"/>
                  </a:schemeClr>
                </a:solidFill>
              </a:rPr>
              <a:t>    print("ZeroDivisionError类型错误，原因：",e) </a:t>
            </a:r>
          </a:p>
          <a:p>
            <a:pPr algn="l">
              <a:lnSpc>
                <a:spcPct val="150000"/>
              </a:lnSpc>
              <a:buClrTx/>
              <a:buSzTx/>
              <a:buNone/>
            </a:pPr>
            <a:r>
              <a:rPr lang="en-US" altLang="zh-CN" sz="1600" dirty="0">
                <a:solidFill>
                  <a:schemeClr val="tx1">
                    <a:lumMod val="75000"/>
                    <a:lumOff val="25000"/>
                  </a:schemeClr>
                </a:solidFill>
              </a:rPr>
              <a:t>（1）程序运行后分别输入数6和3，无异常信息输出：</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图片 25"/>
          <p:cNvPicPr>
            <a:picLocks noChangeAspect="1" noChangeArrowheads="1"/>
          </p:cNvPicPr>
          <p:nvPr/>
        </p:nvPicPr>
        <p:blipFill>
          <a:blip r:embed="rId2" cstate="print"/>
          <a:srcRect/>
          <a:stretch>
            <a:fillRect/>
          </a:stretch>
        </p:blipFill>
        <p:spPr bwMode="auto">
          <a:xfrm>
            <a:off x="1316587" y="5385206"/>
            <a:ext cx="3439237" cy="791567"/>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4"/>
          <p:cNvSpPr txBox="1"/>
          <p:nvPr/>
        </p:nvSpPr>
        <p:spPr>
          <a:xfrm>
            <a:off x="965857" y="1602260"/>
            <a:ext cx="9889900" cy="3169285"/>
          </a:xfrm>
          <a:prstGeom prst="rect">
            <a:avLst/>
          </a:prstGeom>
          <a:noFill/>
        </p:spPr>
        <p:txBody>
          <a:bodyPr wrap="square" rtlCol="0">
            <a:spAutoFit/>
          </a:bodyPr>
          <a:lstStyle/>
          <a:p>
            <a:endParaRPr lang="zh-CN" altLang="en-US" sz="1600" dirty="0"/>
          </a:p>
          <a:p>
            <a:pPr algn="l">
              <a:lnSpc>
                <a:spcPct val="150000"/>
              </a:lnSpc>
              <a:buClrTx/>
              <a:buSzTx/>
              <a:buNone/>
            </a:pPr>
            <a:r>
              <a:rPr lang="en-US" altLang="zh-CN" sz="1600" dirty="0">
                <a:solidFill>
                  <a:schemeClr val="tx1">
                    <a:lumMod val="75000"/>
                    <a:lumOff val="25000"/>
                  </a:schemeClr>
                </a:solidFill>
              </a:rPr>
              <a:t>（2）程序运行后分别输入数4和0，由于0作了除数，此时会抛出异常：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（3）程序运行后分别输入abc和3，由于int()函数的本意是把由数字构成的字符串还原为数值，但这里输入了abc，因此，系统抛出异常：</a:t>
            </a:r>
          </a:p>
          <a:p>
            <a:endParaRPr lang="zh-CN" altLang="en-US" sz="1600" dirty="0">
              <a:latin typeface="+mn-ea"/>
            </a:endParaRPr>
          </a:p>
        </p:txBody>
      </p:sp>
      <p:pic>
        <p:nvPicPr>
          <p:cNvPr id="8" name="图片 28"/>
          <p:cNvPicPr>
            <a:picLocks noChangeAspect="1" noChangeArrowheads="1"/>
          </p:cNvPicPr>
          <p:nvPr/>
        </p:nvPicPr>
        <p:blipFill>
          <a:blip r:embed="rId2" cstate="print"/>
          <a:srcRect/>
          <a:stretch>
            <a:fillRect/>
          </a:stretch>
        </p:blipFill>
        <p:spPr bwMode="auto">
          <a:xfrm>
            <a:off x="1400670" y="2335469"/>
            <a:ext cx="5977719" cy="993378"/>
          </a:xfrm>
          <a:prstGeom prst="rect">
            <a:avLst/>
          </a:prstGeom>
          <a:noFill/>
          <a:ln w="9525">
            <a:noFill/>
            <a:miter lim="800000"/>
            <a:headEnd/>
            <a:tailEnd/>
          </a:ln>
        </p:spPr>
      </p:pic>
      <p:pic>
        <p:nvPicPr>
          <p:cNvPr id="9" name="图片 31"/>
          <p:cNvPicPr>
            <a:picLocks noChangeAspect="1" noChangeArrowheads="1"/>
          </p:cNvPicPr>
          <p:nvPr/>
        </p:nvPicPr>
        <p:blipFill>
          <a:blip r:embed="rId3" cstate="print"/>
          <a:srcRect/>
          <a:stretch>
            <a:fillRect/>
          </a:stretch>
        </p:blipFill>
        <p:spPr bwMode="auto">
          <a:xfrm>
            <a:off x="1400337" y="4771678"/>
            <a:ext cx="5905378" cy="1023584"/>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7" name="TextBox 74"/>
          <p:cNvSpPr txBox="1"/>
          <p:nvPr/>
        </p:nvSpPr>
        <p:spPr>
          <a:xfrm>
            <a:off x="889751" y="1602260"/>
            <a:ext cx="9966005" cy="4918269"/>
          </a:xfrm>
          <a:prstGeom prst="rect">
            <a:avLst/>
          </a:prstGeom>
          <a:noFill/>
        </p:spPr>
        <p:txBody>
          <a:bodyPr wrap="square" rtlCol="0">
            <a:spAutoFit/>
          </a:bodyPr>
          <a:lstStyle/>
          <a:p>
            <a:pPr>
              <a:lnSpc>
                <a:spcPct val="140000"/>
              </a:lnSpc>
            </a:pPr>
            <a:r>
              <a:rPr lang="en-US" altLang="zh-CN" sz="1600" dirty="0">
                <a:solidFill>
                  <a:schemeClr val="tx1">
                    <a:lumMod val="75000"/>
                    <a:lumOff val="25000"/>
                  </a:schemeClr>
                </a:solidFill>
              </a:rPr>
              <a:t>【例】  理解“如果在执行try子句的过程中发生了异常，那么try子句余下的部分将被忽略”。</a:t>
            </a:r>
          </a:p>
          <a:p>
            <a:pPr>
              <a:lnSpc>
                <a:spcPct val="140000"/>
              </a:lnSpc>
            </a:pPr>
            <a:r>
              <a:rPr lang="en-US" altLang="zh-CN" sz="1600" dirty="0">
                <a:solidFill>
                  <a:schemeClr val="tx1">
                    <a:lumMod val="75000"/>
                    <a:lumOff val="25000"/>
                  </a:schemeClr>
                </a:solidFill>
              </a:rPr>
              <a:t>#如果在执行try子句的过程中发生了异常，那么try子句余下的部分将被忽略</a:t>
            </a:r>
          </a:p>
          <a:p>
            <a:pPr>
              <a:lnSpc>
                <a:spcPct val="140000"/>
              </a:lnSpc>
            </a:pPr>
            <a:r>
              <a:rPr lang="en-US" altLang="zh-CN" sz="1600" dirty="0">
                <a:solidFill>
                  <a:schemeClr val="tx1">
                    <a:lumMod val="75000"/>
                    <a:lumOff val="25000"/>
                  </a:schemeClr>
                </a:solidFill>
              </a:rPr>
              <a:t>try:  </a:t>
            </a:r>
          </a:p>
          <a:p>
            <a:pPr>
              <a:lnSpc>
                <a:spcPct val="140000"/>
              </a:lnSpc>
            </a:pPr>
            <a:r>
              <a:rPr lang="en-US" altLang="zh-CN" sz="1600" dirty="0">
                <a:solidFill>
                  <a:schemeClr val="tx1">
                    <a:lumMod val="75000"/>
                    <a:lumOff val="25000"/>
                  </a:schemeClr>
                </a:solidFill>
              </a:rPr>
              <a:t>    a = input("请输入被除数：") </a:t>
            </a:r>
          </a:p>
          <a:p>
            <a:pPr>
              <a:lnSpc>
                <a:spcPct val="140000"/>
              </a:lnSpc>
            </a:pPr>
            <a:r>
              <a:rPr lang="en-US" altLang="zh-CN" sz="1600" dirty="0">
                <a:solidFill>
                  <a:schemeClr val="tx1">
                    <a:lumMod val="75000"/>
                    <a:lumOff val="25000"/>
                  </a:schemeClr>
                </a:solidFill>
              </a:rPr>
              <a:t>    b = input("请输入除数：") </a:t>
            </a:r>
          </a:p>
          <a:p>
            <a:pPr>
              <a:lnSpc>
                <a:spcPct val="140000"/>
              </a:lnSpc>
            </a:pPr>
            <a:r>
              <a:rPr lang="en-US" altLang="zh-CN" sz="1600" dirty="0">
                <a:solidFill>
                  <a:schemeClr val="tx1">
                    <a:lumMod val="75000"/>
                    <a:lumOff val="25000"/>
                  </a:schemeClr>
                </a:solidFill>
              </a:rPr>
              <a:t>    c = int(a) / int(b)</a:t>
            </a:r>
          </a:p>
          <a:p>
            <a:pPr>
              <a:lnSpc>
                <a:spcPct val="140000"/>
              </a:lnSpc>
            </a:pPr>
            <a:r>
              <a:rPr lang="en-US" altLang="zh-CN" sz="1600" dirty="0">
                <a:solidFill>
                  <a:schemeClr val="tx1">
                    <a:lumMod val="75000"/>
                    <a:lumOff val="25000"/>
                  </a:schemeClr>
                </a:solidFill>
              </a:rPr>
              <a:t>    print("a = ",a)</a:t>
            </a:r>
          </a:p>
          <a:p>
            <a:pPr>
              <a:lnSpc>
                <a:spcPct val="140000"/>
              </a:lnSpc>
            </a:pPr>
            <a:r>
              <a:rPr lang="en-US" altLang="zh-CN" sz="1600" dirty="0">
                <a:solidFill>
                  <a:schemeClr val="tx1">
                    <a:lumMod val="75000"/>
                    <a:lumOff val="25000"/>
                  </a:schemeClr>
                </a:solidFill>
              </a:rPr>
              <a:t>    print("b = ",b)</a:t>
            </a:r>
          </a:p>
          <a:p>
            <a:pPr>
              <a:lnSpc>
                <a:spcPct val="140000"/>
              </a:lnSpc>
            </a:pPr>
            <a:r>
              <a:rPr lang="en-US" altLang="zh-CN" sz="1600" dirty="0">
                <a:solidFill>
                  <a:schemeClr val="tx1">
                    <a:lumMod val="75000"/>
                    <a:lumOff val="25000"/>
                  </a:schemeClr>
                </a:solidFill>
              </a:rPr>
              <a:t>    print("a/b = ",c)</a:t>
            </a:r>
          </a:p>
          <a:p>
            <a:pPr>
              <a:lnSpc>
                <a:spcPct val="140000"/>
              </a:lnSpc>
            </a:pPr>
            <a:r>
              <a:rPr lang="en-US" altLang="zh-CN" sz="1600" dirty="0">
                <a:solidFill>
                  <a:schemeClr val="tx1">
                    <a:lumMod val="75000"/>
                    <a:lumOff val="25000"/>
                  </a:schemeClr>
                </a:solidFill>
              </a:rPr>
              <a:t>except ValueError as e: </a:t>
            </a:r>
          </a:p>
          <a:p>
            <a:pPr>
              <a:lnSpc>
                <a:spcPct val="140000"/>
              </a:lnSpc>
            </a:pPr>
            <a:r>
              <a:rPr lang="en-US" altLang="zh-CN" sz="1600" dirty="0">
                <a:solidFill>
                  <a:schemeClr val="tx1">
                    <a:lumMod val="75000"/>
                    <a:lumOff val="25000"/>
                  </a:schemeClr>
                </a:solidFill>
              </a:rPr>
              <a:t>    print("ValueError类型错误，原因：",e)</a:t>
            </a:r>
          </a:p>
          <a:p>
            <a:pPr>
              <a:lnSpc>
                <a:spcPct val="140000"/>
              </a:lnSpc>
            </a:pPr>
            <a:r>
              <a:rPr lang="en-US" altLang="zh-CN" sz="1600" dirty="0">
                <a:solidFill>
                  <a:schemeClr val="tx1">
                    <a:lumMod val="75000"/>
                    <a:lumOff val="25000"/>
                  </a:schemeClr>
                </a:solidFill>
              </a:rPr>
              <a:t>except ZeroDivisionError as e: </a:t>
            </a:r>
          </a:p>
          <a:p>
            <a:pPr>
              <a:lnSpc>
                <a:spcPct val="140000"/>
              </a:lnSpc>
            </a:pPr>
            <a:r>
              <a:rPr lang="en-US" altLang="zh-CN" sz="1600" dirty="0">
                <a:solidFill>
                  <a:schemeClr val="tx1">
                    <a:lumMod val="75000"/>
                    <a:lumOff val="25000"/>
                  </a:schemeClr>
                </a:solidFill>
              </a:rPr>
              <a:t>    print("ZeroDivisionError类型错误，原因：",e) </a:t>
            </a:r>
          </a:p>
          <a:p>
            <a:pPr>
              <a:lnSpc>
                <a:spcPct val="140000"/>
              </a:lnSpc>
            </a:pPr>
            <a:r>
              <a:rPr lang="en-US" altLang="zh-CN" sz="1600" dirty="0">
                <a:solidFill>
                  <a:schemeClr val="tx1">
                    <a:lumMod val="75000"/>
                    <a:lumOff val="25000"/>
                  </a:schemeClr>
                </a:solidFill>
              </a:rPr>
              <a:t>请运行以上程序，分别输入4和2、4和0、a和3，观察输出的结果（包含异常信息）。</a:t>
            </a:r>
            <a:endParaRPr lang="zh-CN" altLang="en-US" sz="1600" dirty="0">
              <a:latin typeface="+mn-e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err="1">
                <a:solidFill>
                  <a:schemeClr val="tx1">
                    <a:lumMod val="75000"/>
                    <a:lumOff val="25000"/>
                  </a:schemeClr>
                </a:solidFill>
              </a:rPr>
              <a:t>处理多个异常的except子句</a:t>
            </a:r>
            <a:endParaRPr lang="zh-CN" altLang="zh-CN" dirty="0">
              <a:solidFill>
                <a:schemeClr val="tx1">
                  <a:lumMod val="75000"/>
                  <a:lumOff val="25000"/>
                </a:schemeClr>
              </a:solidFill>
            </a:endParaRPr>
          </a:p>
        </p:txBody>
      </p:sp>
      <p:sp>
        <p:nvSpPr>
          <p:cNvPr id="5" name="TextBox 74"/>
          <p:cNvSpPr txBox="1"/>
          <p:nvPr/>
        </p:nvSpPr>
        <p:spPr>
          <a:xfrm>
            <a:off x="1167646" y="2168998"/>
            <a:ext cx="9527176" cy="2677656"/>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基本语法格式如下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(&lt;异常类型1[, 异常类型2,…, 异常类型n]&gt;) [as e]:</a:t>
            </a:r>
          </a:p>
          <a:p>
            <a:pPr algn="l">
              <a:lnSpc>
                <a:spcPct val="150000"/>
              </a:lnSpc>
              <a:buClrTx/>
              <a:buSzTx/>
              <a:buNone/>
            </a:pPr>
            <a:r>
              <a:rPr lang="en-US" altLang="zh-CN" sz="1600" dirty="0">
                <a:solidFill>
                  <a:schemeClr val="tx1">
                    <a:lumMod val="75000"/>
                    <a:lumOff val="25000"/>
                  </a:schemeClr>
                </a:solidFill>
              </a:rPr>
              <a:t>   &lt;异常处理语句块&gt;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说明：可以在一个except子句里处理多个异常，但前提是多个异常必须被放入一个元组里。</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4"/>
          <p:cNvSpPr txBox="1"/>
          <p:nvPr/>
        </p:nvSpPr>
        <p:spPr>
          <a:xfrm>
            <a:off x="972132" y="1700844"/>
            <a:ext cx="9415451" cy="4154984"/>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一个except子句可以同时处理多个异常，这些异常将被放到一个括号里组成元组。</a:t>
            </a:r>
          </a:p>
          <a:p>
            <a:pPr>
              <a:lnSpc>
                <a:spcPct val="150000"/>
              </a:lnSpc>
            </a:pPr>
            <a:r>
              <a:rPr lang="en-US" altLang="zh-CN" sz="1600" dirty="0">
                <a:solidFill>
                  <a:schemeClr val="tx1">
                    <a:lumMod val="75000"/>
                    <a:lumOff val="25000"/>
                  </a:schemeClr>
                </a:solidFill>
              </a:rPr>
              <a:t>try:</a:t>
            </a:r>
          </a:p>
          <a:p>
            <a:pPr>
              <a:lnSpc>
                <a:spcPct val="150000"/>
              </a:lnSpc>
            </a:pPr>
            <a:r>
              <a:rPr lang="en-US" altLang="zh-CN" sz="1600" dirty="0">
                <a:solidFill>
                  <a:schemeClr val="tx1">
                    <a:lumMod val="75000"/>
                    <a:lumOff val="25000"/>
                  </a:schemeClr>
                </a:solidFill>
              </a:rPr>
              <a:t>    a = </a:t>
            </a:r>
            <a:r>
              <a:rPr lang="en-US" altLang="zh-CN" sz="1600" dirty="0" err="1">
                <a:solidFill>
                  <a:schemeClr val="tx1">
                    <a:lumMod val="75000"/>
                    <a:lumOff val="25000"/>
                  </a:schemeClr>
                </a:solidFill>
              </a:rPr>
              <a:t>int</a:t>
            </a:r>
            <a:r>
              <a:rPr lang="en-US" altLang="zh-CN" sz="1600" dirty="0">
                <a:solidFill>
                  <a:schemeClr val="tx1">
                    <a:lumMod val="75000"/>
                    <a:lumOff val="25000"/>
                  </a:schemeClr>
                </a:solidFill>
              </a:rPr>
              <a:t>(input("</a:t>
            </a:r>
            <a:r>
              <a:rPr lang="zh-CN" altLang="en-US" sz="1600" dirty="0">
                <a:solidFill>
                  <a:schemeClr val="tx1">
                    <a:lumMod val="75000"/>
                    <a:lumOff val="25000"/>
                  </a:schemeClr>
                </a:solidFill>
              </a:rPr>
              <a:t>请输入除数：</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b = </a:t>
            </a:r>
            <a:r>
              <a:rPr lang="en-US" altLang="zh-CN" sz="1600" dirty="0" err="1">
                <a:solidFill>
                  <a:schemeClr val="tx1">
                    <a:lumMod val="75000"/>
                    <a:lumOff val="25000"/>
                  </a:schemeClr>
                </a:solidFill>
              </a:rPr>
              <a:t>int</a:t>
            </a:r>
            <a:r>
              <a:rPr lang="en-US" altLang="zh-CN" sz="1600" dirty="0">
                <a:solidFill>
                  <a:schemeClr val="tx1">
                    <a:lumMod val="75000"/>
                    <a:lumOff val="25000"/>
                  </a:schemeClr>
                </a:solidFill>
              </a:rPr>
              <a:t>(input("</a:t>
            </a:r>
            <a:r>
              <a:rPr lang="zh-CN" altLang="en-US" sz="1600" dirty="0">
                <a:solidFill>
                  <a:schemeClr val="tx1">
                    <a:lumMod val="75000"/>
                    <a:lumOff val="25000"/>
                  </a:schemeClr>
                </a:solidFill>
              </a:rPr>
              <a:t>请输入被除数：</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c = "acv"</a:t>
            </a:r>
          </a:p>
          <a:p>
            <a:pPr>
              <a:lnSpc>
                <a:spcPct val="150000"/>
              </a:lnSpc>
            </a:pPr>
            <a:r>
              <a:rPr lang="en-US" altLang="zh-CN" sz="1600" dirty="0">
                <a:solidFill>
                  <a:schemeClr val="tx1">
                    <a:lumMod val="75000"/>
                    <a:lumOff val="25000"/>
                  </a:schemeClr>
                </a:solidFill>
              </a:rPr>
              <a:t>    print(a/b)</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a+b</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b+c</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ZeroDivisionError,TypeError,ValueError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捕获多个异常，用元组表示多个异常</a:t>
            </a:r>
          </a:p>
          <a:p>
            <a:pPr>
              <a:lnSpc>
                <a:spcPct val="15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print(e)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4"/>
          <p:cNvSpPr txBox="1"/>
          <p:nvPr/>
        </p:nvSpPr>
        <p:spPr>
          <a:xfrm>
            <a:off x="930319" y="1651155"/>
            <a:ext cx="9559677" cy="255333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（1）程序运行后分别输入数5和0，由于0作了除数，此时会抛出异常：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（2）程序运行后分别输入数5和3，由于3不能和"acv"相加，此时会抛出异常：</a:t>
            </a:r>
          </a:p>
          <a:p>
            <a:endParaRPr lang="zh-CN" altLang="en-US" sz="1600" dirty="0"/>
          </a:p>
        </p:txBody>
      </p:sp>
      <p:pic>
        <p:nvPicPr>
          <p:cNvPr id="7" name="图片 34"/>
          <p:cNvPicPr>
            <a:picLocks noChangeAspect="1" noChangeArrowheads="1"/>
          </p:cNvPicPr>
          <p:nvPr/>
        </p:nvPicPr>
        <p:blipFill>
          <a:blip r:embed="rId2" cstate="print"/>
          <a:srcRect/>
          <a:stretch>
            <a:fillRect/>
          </a:stretch>
        </p:blipFill>
        <p:spPr bwMode="auto">
          <a:xfrm>
            <a:off x="1465737" y="2127905"/>
            <a:ext cx="2934268" cy="955343"/>
          </a:xfrm>
          <a:prstGeom prst="rect">
            <a:avLst/>
          </a:prstGeom>
          <a:noFill/>
          <a:ln w="9525">
            <a:noFill/>
            <a:miter lim="800000"/>
            <a:headEnd/>
            <a:tailEnd/>
          </a:ln>
        </p:spPr>
      </p:pic>
      <p:pic>
        <p:nvPicPr>
          <p:cNvPr id="8" name="图片 37"/>
          <p:cNvPicPr>
            <a:picLocks noChangeAspect="1" noChangeArrowheads="1"/>
          </p:cNvPicPr>
          <p:nvPr/>
        </p:nvPicPr>
        <p:blipFill>
          <a:blip r:embed="rId3" cstate="print"/>
          <a:srcRect/>
          <a:stretch>
            <a:fillRect/>
          </a:stretch>
        </p:blipFill>
        <p:spPr bwMode="auto">
          <a:xfrm>
            <a:off x="1465737" y="3995837"/>
            <a:ext cx="4435523" cy="1651018"/>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try-else-except</a:t>
            </a:r>
            <a:r>
              <a:rPr lang="zh-CN" altLang="en-US" dirty="0">
                <a:solidFill>
                  <a:schemeClr val="tx1">
                    <a:lumMod val="75000"/>
                    <a:lumOff val="25000"/>
                  </a:schemeClr>
                </a:solidFill>
              </a:rPr>
              <a:t>语句</a:t>
            </a:r>
          </a:p>
          <a:p>
            <a:pPr>
              <a:lnSpc>
                <a:spcPct val="150000"/>
              </a:lnSpc>
            </a:pPr>
            <a:endParaRPr lang="zh-CN" altLang="zh-CN" dirty="0">
              <a:solidFill>
                <a:schemeClr val="tx1">
                  <a:lumMod val="75000"/>
                  <a:lumOff val="25000"/>
                </a:schemeClr>
              </a:solidFill>
            </a:endParaRPr>
          </a:p>
        </p:txBody>
      </p:sp>
      <p:sp>
        <p:nvSpPr>
          <p:cNvPr id="9" name="TextBox 74"/>
          <p:cNvSpPr txBox="1"/>
          <p:nvPr/>
        </p:nvSpPr>
        <p:spPr>
          <a:xfrm>
            <a:off x="909685" y="2150846"/>
            <a:ext cx="10107006" cy="4154984"/>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带有else子句的try-except语句的基本语法如下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&lt;异常类型&gt; [as e1]:</a:t>
            </a:r>
          </a:p>
          <a:p>
            <a:pPr algn="l">
              <a:lnSpc>
                <a:spcPct val="150000"/>
              </a:lnSpc>
              <a:buClrTx/>
              <a:buSzTx/>
              <a:buNone/>
            </a:pPr>
            <a:r>
              <a:rPr lang="en-US" altLang="zh-CN" sz="1600" dirty="0">
                <a:solidFill>
                  <a:schemeClr val="tx1">
                    <a:lumMod val="75000"/>
                    <a:lumOff val="25000"/>
                  </a:schemeClr>
                </a:solidFill>
              </a:rPr>
              <a:t>   &lt;异常处理语句块1&gt;</a:t>
            </a:r>
          </a:p>
          <a:p>
            <a:pPr algn="l">
              <a:lnSpc>
                <a:spcPct val="150000"/>
              </a:lnSpc>
              <a:buClrTx/>
              <a:buSzTx/>
              <a:buNone/>
            </a:pPr>
            <a:r>
              <a:rPr lang="en-US" altLang="zh-CN" sz="1600" dirty="0">
                <a:solidFill>
                  <a:schemeClr val="tx1">
                    <a:lumMod val="75000"/>
                    <a:lumOff val="25000"/>
                  </a:schemeClr>
                </a:solidFill>
              </a:rPr>
              <a:t>[except &lt;异常类型&gt; [as e2]:</a:t>
            </a:r>
          </a:p>
          <a:p>
            <a:pPr algn="l">
              <a:lnSpc>
                <a:spcPct val="150000"/>
              </a:lnSpc>
              <a:buClrTx/>
              <a:buSzTx/>
              <a:buNone/>
            </a:pPr>
            <a:r>
              <a:rPr lang="en-US" altLang="zh-CN" sz="1600" dirty="0">
                <a:solidFill>
                  <a:schemeClr val="tx1">
                    <a:lumMod val="75000"/>
                    <a:lumOff val="25000"/>
                  </a:schemeClr>
                </a:solidFill>
              </a:rPr>
              <a:t>   &lt;异常处理语句块2&gt;]</a:t>
            </a:r>
          </a:p>
          <a:p>
            <a:pPr algn="l">
              <a:lnSpc>
                <a:spcPct val="150000"/>
              </a:lnSpc>
              <a:buClrTx/>
              <a:buSzTx/>
              <a:buNone/>
            </a:pPr>
            <a:r>
              <a:rPr lang="en-US" altLang="zh-CN" sz="1600" dirty="0">
                <a:solidFill>
                  <a:schemeClr val="tx1">
                    <a:lumMod val="75000"/>
                    <a:lumOff val="25000"/>
                  </a:schemeClr>
                </a:solidFill>
              </a:rPr>
              <a:t>[else:</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说明：如果try子句中没有发生任何异常，将执行else子句的代码块，即不抛出任何异常。</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4"/>
          <p:cNvSpPr txBox="1"/>
          <p:nvPr/>
        </p:nvSpPr>
        <p:spPr>
          <a:xfrm>
            <a:off x="930625" y="1595021"/>
            <a:ext cx="10086066" cy="5262979"/>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理解“没有异常发生的情况”的确切含义。</a:t>
            </a:r>
          </a:p>
          <a:p>
            <a:pPr algn="l">
              <a:lnSpc>
                <a:spcPct val="150000"/>
              </a:lnSpc>
              <a:buClrTx/>
              <a:buSzTx/>
              <a:buNone/>
            </a:pPr>
            <a:r>
              <a:rPr lang="en-US" altLang="zh-CN" sz="1600" dirty="0">
                <a:solidFill>
                  <a:schemeClr val="tx1">
                    <a:lumMod val="75000"/>
                    <a:lumOff val="25000"/>
                  </a:schemeClr>
                </a:solidFill>
              </a:rPr>
              <a:t>#try-except-else语句</a:t>
            </a:r>
          </a:p>
          <a:p>
            <a:pPr>
              <a:lnSpc>
                <a:spcPct val="150000"/>
              </a:lnSpc>
            </a:pPr>
            <a:r>
              <a:rPr lang="en-US" altLang="zh-CN" sz="1600" dirty="0">
                <a:solidFill>
                  <a:schemeClr val="tx1">
                    <a:lumMod val="75000"/>
                    <a:lumOff val="25000"/>
                  </a:schemeClr>
                </a:solidFill>
              </a:rPr>
              <a:t>try:</a:t>
            </a:r>
          </a:p>
          <a:p>
            <a:pPr>
              <a:lnSpc>
                <a:spcPct val="150000"/>
              </a:lnSpc>
            </a:pPr>
            <a:r>
              <a:rPr lang="en-US" altLang="zh-CN" sz="1600" dirty="0">
                <a:solidFill>
                  <a:schemeClr val="tx1">
                    <a:lumMod val="75000"/>
                    <a:lumOff val="25000"/>
                  </a:schemeClr>
                </a:solidFill>
              </a:rPr>
              <a:t>    a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(input("</a:t>
            </a:r>
            <a:r>
              <a:rPr lang="zh-CN" altLang="en-US" sz="1600" dirty="0">
                <a:solidFill>
                  <a:schemeClr val="tx1">
                    <a:lumMod val="75000"/>
                    <a:lumOff val="25000"/>
                  </a:schemeClr>
                </a:solidFill>
              </a:rPr>
              <a:t>请输入</a:t>
            </a:r>
            <a:r>
              <a:rPr lang="en-US" altLang="zh-CN" sz="1600" dirty="0">
                <a:solidFill>
                  <a:schemeClr val="tx1">
                    <a:lumMod val="75000"/>
                    <a:lumOff val="25000"/>
                  </a:schemeClr>
                </a:solidFill>
              </a:rPr>
              <a:t>a</a:t>
            </a:r>
            <a:r>
              <a:rPr lang="zh-CN" altLang="en-US" sz="1600" dirty="0">
                <a:solidFill>
                  <a:schemeClr val="tx1">
                    <a:lumMod val="75000"/>
                    <a:lumOff val="25000"/>
                  </a:schemeClr>
                </a:solidFill>
              </a:rPr>
              <a:t>的值：</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b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(input("</a:t>
            </a:r>
            <a:r>
              <a:rPr lang="zh-CN" altLang="en-US" sz="1600" dirty="0">
                <a:solidFill>
                  <a:schemeClr val="tx1">
                    <a:lumMod val="75000"/>
                    <a:lumOff val="25000"/>
                  </a:schemeClr>
                </a:solidFill>
              </a:rPr>
              <a:t>请输入</a:t>
            </a:r>
            <a:r>
              <a:rPr lang="en-US" altLang="zh-CN" sz="1600" dirty="0">
                <a:solidFill>
                  <a:schemeClr val="tx1">
                    <a:lumMod val="75000"/>
                    <a:lumOff val="25000"/>
                  </a:schemeClr>
                </a:solidFill>
              </a:rPr>
              <a:t>b</a:t>
            </a:r>
            <a:r>
              <a:rPr lang="zh-CN" altLang="en-US" sz="1600" dirty="0">
                <a:solidFill>
                  <a:schemeClr val="tx1">
                    <a:lumMod val="75000"/>
                    <a:lumOff val="25000"/>
                  </a:schemeClr>
                </a:solidFill>
              </a:rPr>
              <a:t>的值：</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print("a / b = ", a / b)</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ZeroDivisionError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ZeroDivisionError</a:t>
            </a:r>
            <a:r>
              <a:rPr lang="zh-CN" altLang="en-US" sz="1600" dirty="0">
                <a:solidFill>
                  <a:schemeClr val="tx1">
                    <a:lumMod val="75000"/>
                    <a:lumOff val="25000"/>
                  </a:schemeClr>
                </a:solidFill>
              </a:rPr>
              <a:t>类型错误，原因是：</a:t>
            </a:r>
            <a:r>
              <a:rPr lang="en-US" altLang="zh-CN" sz="1600" dirty="0">
                <a:solidFill>
                  <a:schemeClr val="tx1">
                    <a:lumMod val="75000"/>
                    <a:lumOff val="25000"/>
                  </a:schemeClr>
                </a:solidFill>
              </a:rPr>
              <a:t>",e)</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ValueError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ValueError</a:t>
            </a:r>
            <a:r>
              <a:rPr lang="zh-CN" altLang="en-US" sz="1600" dirty="0">
                <a:solidFill>
                  <a:schemeClr val="tx1">
                    <a:lumMod val="75000"/>
                    <a:lumOff val="25000"/>
                  </a:schemeClr>
                </a:solidFill>
              </a:rPr>
              <a:t>类型错误，原因是：</a:t>
            </a:r>
            <a:r>
              <a:rPr lang="en-US" altLang="zh-CN" sz="1600" dirty="0">
                <a:solidFill>
                  <a:schemeClr val="tx1">
                    <a:lumMod val="75000"/>
                    <a:lumOff val="25000"/>
                  </a:schemeClr>
                </a:solidFill>
              </a:rPr>
              <a:t>",e)</a:t>
            </a:r>
          </a:p>
          <a:p>
            <a:pPr>
              <a:lnSpc>
                <a:spcPct val="150000"/>
              </a:lnSpc>
            </a:pPr>
            <a:r>
              <a:rPr lang="en-US" altLang="zh-CN" sz="1600" dirty="0">
                <a:solidFill>
                  <a:schemeClr val="tx1">
                    <a:lumMod val="75000"/>
                    <a:lumOff val="25000"/>
                  </a:schemeClr>
                </a:solidFill>
              </a:rPr>
              <a:t>else:</a:t>
            </a:r>
          </a:p>
          <a:p>
            <a:pPr>
              <a:lnSpc>
                <a:spcPct val="15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没有异常发生执行</a:t>
            </a:r>
            <a:r>
              <a:rPr lang="en-US" altLang="zh-CN" sz="1600" dirty="0">
                <a:solidFill>
                  <a:schemeClr val="tx1">
                    <a:lumMod val="75000"/>
                    <a:lumOff val="25000"/>
                  </a:schemeClr>
                </a:solidFill>
              </a:rPr>
              <a:t>else</a:t>
            </a:r>
            <a:r>
              <a:rPr lang="zh-CN" altLang="en-US" sz="1600" dirty="0">
                <a:solidFill>
                  <a:schemeClr val="tx1">
                    <a:lumMod val="75000"/>
                    <a:lumOff val="25000"/>
                  </a:schemeClr>
                </a:solidFill>
              </a:rPr>
              <a:t>子句。注意：这里的异常不仅是</a:t>
            </a:r>
            <a:r>
              <a:rPr lang="en-US" altLang="zh-CN" sz="1600" dirty="0">
                <a:solidFill>
                  <a:schemeClr val="tx1">
                    <a:lumMod val="75000"/>
                    <a:lumOff val="25000"/>
                  </a:schemeClr>
                </a:solidFill>
              </a:rPr>
              <a:t>except</a:t>
            </a:r>
            <a:r>
              <a:rPr lang="zh-CN" altLang="en-US" sz="1600" dirty="0">
                <a:solidFill>
                  <a:schemeClr val="tx1">
                    <a:lumMod val="75000"/>
                    <a:lumOff val="25000"/>
                  </a:schemeClr>
                </a:solidFill>
              </a:rPr>
              <a:t>列出的异常类型</a:t>
            </a:r>
          </a:p>
          <a:p>
            <a:pPr>
              <a:lnSpc>
                <a:spcPct val="15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print("</a:t>
            </a:r>
            <a:r>
              <a:rPr lang="zh-CN" altLang="en-US" sz="1600" dirty="0">
                <a:solidFill>
                  <a:schemeClr val="tx1">
                    <a:lumMod val="75000"/>
                    <a:lumOff val="25000"/>
                  </a:schemeClr>
                </a:solidFill>
              </a:rPr>
              <a:t>没有异常，执行</a:t>
            </a:r>
            <a:r>
              <a:rPr lang="en-US" altLang="zh-CN" sz="1600" dirty="0">
                <a:solidFill>
                  <a:schemeClr val="tx1">
                    <a:lumMod val="75000"/>
                    <a:lumOff val="25000"/>
                  </a:schemeClr>
                </a:solidFill>
              </a:rPr>
              <a:t>else</a:t>
            </a:r>
            <a:r>
              <a:rPr lang="zh-CN" altLang="en-US" sz="1600" dirty="0">
                <a:solidFill>
                  <a:schemeClr val="tx1">
                    <a:lumMod val="75000"/>
                    <a:lumOff val="25000"/>
                  </a:schemeClr>
                </a:solidFill>
              </a:rPr>
              <a:t>子句！</a:t>
            </a:r>
            <a:r>
              <a:rPr lang="en-US" altLang="zh-CN" sz="1600" dirty="0">
                <a:solidFill>
                  <a:schemeClr val="tx1">
                    <a:lumMod val="75000"/>
                    <a:lumOff val="25000"/>
                  </a:schemeClr>
                </a:solidFill>
              </a:rPr>
              <a:t>")</a:t>
            </a:r>
          </a:p>
          <a:p>
            <a:pPr>
              <a:lnSpc>
                <a:spcPct val="150000"/>
              </a:lnSpc>
            </a:pPr>
            <a:r>
              <a:rPr lang="en-US" altLang="zh-CN" sz="1600" dirty="0" err="1">
                <a:solidFill>
                  <a:schemeClr val="tx1">
                    <a:lumMod val="75000"/>
                    <a:lumOff val="25000"/>
                  </a:schemeClr>
                </a:solidFill>
              </a:rPr>
              <a:t>运行程序，根据输入数据的不同，输出如下不同的信息（包含异常信息</a:t>
            </a:r>
            <a:r>
              <a:rPr lang="en-US" altLang="zh-CN" sz="1600" dirty="0">
                <a:solidFill>
                  <a:schemeClr val="tx1">
                    <a:lumMod val="75000"/>
                    <a:lumOff val="25000"/>
                  </a:schemeClr>
                </a:solidFill>
              </a:rPr>
              <a:t>）。</a:t>
            </a:r>
            <a:endParaRPr lang="zh-CN" altLang="en-US" sz="16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4"/>
          <p:cNvSpPr txBox="1"/>
          <p:nvPr/>
        </p:nvSpPr>
        <p:spPr>
          <a:xfrm>
            <a:off x="930303" y="1511980"/>
            <a:ext cx="10122964" cy="526224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（1）没有异常发生，执行else子句：</a:t>
            </a:r>
          </a:p>
          <a:p>
            <a:pPr algn="l">
              <a:lnSpc>
                <a:spcPct val="150000"/>
              </a:lnSpc>
              <a:buClrTx/>
              <a:buSzTx/>
              <a:buNone/>
            </a:pPr>
            <a:r>
              <a:rPr lang="en-US" altLang="zh-CN" sz="1600" dirty="0">
                <a:solidFill>
                  <a:schemeClr val="tx1">
                    <a:lumMod val="75000"/>
                    <a:lumOff val="25000"/>
                  </a:schemeClr>
                </a:solidFill>
              </a:rPr>
              <a:t>         请输入a的值：4</a:t>
            </a:r>
          </a:p>
          <a:p>
            <a:pPr algn="l">
              <a:lnSpc>
                <a:spcPct val="150000"/>
              </a:lnSpc>
              <a:buClrTx/>
              <a:buSzTx/>
              <a:buNone/>
            </a:pPr>
            <a:r>
              <a:rPr lang="en-US" altLang="zh-CN" sz="1600" dirty="0">
                <a:solidFill>
                  <a:schemeClr val="tx1">
                    <a:lumMod val="75000"/>
                    <a:lumOff val="25000"/>
                  </a:schemeClr>
                </a:solidFill>
              </a:rPr>
              <a:t>         请输入b的值：2</a:t>
            </a:r>
          </a:p>
          <a:p>
            <a:pPr algn="l">
              <a:lnSpc>
                <a:spcPct val="150000"/>
              </a:lnSpc>
              <a:buClrTx/>
              <a:buSzTx/>
              <a:buNone/>
            </a:pPr>
            <a:r>
              <a:rPr lang="en-US" altLang="zh-CN" sz="1600" dirty="0">
                <a:solidFill>
                  <a:schemeClr val="tx1">
                    <a:lumMod val="75000"/>
                    <a:lumOff val="25000"/>
                  </a:schemeClr>
                </a:solidFill>
              </a:rPr>
              <a:t>         a/b=2.0</a:t>
            </a:r>
          </a:p>
          <a:p>
            <a:pPr algn="l">
              <a:lnSpc>
                <a:spcPct val="150000"/>
              </a:lnSpc>
              <a:buClrTx/>
              <a:buSzTx/>
              <a:buNone/>
            </a:pPr>
            <a:r>
              <a:rPr lang="en-US" altLang="zh-CN" sz="1600" dirty="0">
                <a:solidFill>
                  <a:schemeClr val="tx1">
                    <a:lumMod val="75000"/>
                    <a:lumOff val="25000"/>
                  </a:schemeClr>
                </a:solidFill>
              </a:rPr>
              <a:t>         没有异常，执行else子句！</a:t>
            </a:r>
          </a:p>
          <a:p>
            <a:pPr algn="l">
              <a:lnSpc>
                <a:spcPct val="150000"/>
              </a:lnSpc>
              <a:buClrTx/>
              <a:buSzTx/>
              <a:buNone/>
            </a:pPr>
            <a:r>
              <a:rPr lang="en-US" altLang="zh-CN" sz="1600" dirty="0">
                <a:solidFill>
                  <a:schemeClr val="tx1">
                    <a:lumMod val="75000"/>
                    <a:lumOff val="25000"/>
                  </a:schemeClr>
                </a:solidFill>
              </a:rPr>
              <a:t>（2）发生了except子句列出的异常，不执行else子句：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（3）发生的是except子句未列出的异常，还是不执行else子句：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图片 43"/>
          <p:cNvPicPr>
            <a:picLocks noChangeAspect="1" noChangeArrowheads="1"/>
          </p:cNvPicPr>
          <p:nvPr/>
        </p:nvPicPr>
        <p:blipFill>
          <a:blip r:embed="rId2" cstate="print"/>
          <a:srcRect/>
          <a:stretch>
            <a:fillRect/>
          </a:stretch>
        </p:blipFill>
        <p:spPr bwMode="auto">
          <a:xfrm>
            <a:off x="1529522" y="3829009"/>
            <a:ext cx="4343408" cy="791570"/>
          </a:xfrm>
          <a:prstGeom prst="rect">
            <a:avLst/>
          </a:prstGeom>
          <a:noFill/>
          <a:ln w="9525">
            <a:noFill/>
            <a:miter lim="800000"/>
            <a:headEnd/>
            <a:tailEnd/>
          </a:ln>
        </p:spPr>
      </p:pic>
      <p:pic>
        <p:nvPicPr>
          <p:cNvPr id="8" name="图片 46"/>
          <p:cNvPicPr>
            <a:picLocks noChangeAspect="1" noChangeArrowheads="1"/>
          </p:cNvPicPr>
          <p:nvPr/>
        </p:nvPicPr>
        <p:blipFill>
          <a:blip r:embed="rId3" cstate="print"/>
          <a:srcRect/>
          <a:stretch>
            <a:fillRect/>
          </a:stretch>
        </p:blipFill>
        <p:spPr bwMode="auto">
          <a:xfrm>
            <a:off x="1529208" y="5326539"/>
            <a:ext cx="4972550" cy="1433015"/>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9" name="TextBox 75"/>
          <p:cNvSpPr txBox="1"/>
          <p:nvPr/>
        </p:nvSpPr>
        <p:spPr>
          <a:xfrm>
            <a:off x="922978" y="1720100"/>
            <a:ext cx="10196126" cy="46037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（4）发生的还是except子句未列出的异常，仍然不执行else子句：</a:t>
            </a:r>
          </a:p>
        </p:txBody>
      </p:sp>
      <p:pic>
        <p:nvPicPr>
          <p:cNvPr id="10" name="图片 49"/>
          <p:cNvPicPr>
            <a:picLocks noChangeAspect="1" noChangeArrowheads="1"/>
          </p:cNvPicPr>
          <p:nvPr/>
        </p:nvPicPr>
        <p:blipFill>
          <a:blip r:embed="rId2" cstate="print"/>
          <a:srcRect/>
          <a:stretch>
            <a:fillRect/>
          </a:stretch>
        </p:blipFill>
        <p:spPr bwMode="auto">
          <a:xfrm>
            <a:off x="1646311" y="2347897"/>
            <a:ext cx="5181777" cy="2060812"/>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Exception</a:t>
            </a:r>
            <a:r>
              <a:rPr lang="zh-CN" altLang="en-US" dirty="0">
                <a:solidFill>
                  <a:schemeClr val="tx1">
                    <a:lumMod val="75000"/>
                    <a:lumOff val="25000"/>
                  </a:schemeClr>
                </a:solidFill>
              </a:rPr>
              <a:t>类型异常</a:t>
            </a:r>
          </a:p>
          <a:p>
            <a:pPr>
              <a:lnSpc>
                <a:spcPct val="150000"/>
              </a:lnSpc>
            </a:pPr>
            <a:endParaRPr lang="zh-CN" altLang="zh-CN" dirty="0">
              <a:solidFill>
                <a:schemeClr val="tx1">
                  <a:lumMod val="75000"/>
                  <a:lumOff val="25000"/>
                </a:schemeClr>
              </a:solidFill>
            </a:endParaRPr>
          </a:p>
        </p:txBody>
      </p:sp>
      <p:sp>
        <p:nvSpPr>
          <p:cNvPr id="6" name="TextBox 75"/>
          <p:cNvSpPr txBox="1"/>
          <p:nvPr/>
        </p:nvSpPr>
        <p:spPr>
          <a:xfrm>
            <a:off x="1091200" y="2168998"/>
            <a:ext cx="9940122" cy="3046988"/>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如果不确定异常类型，可以使用Exception类捕获任意类型的异常</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其语法格式如下：</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Exception [as e]:</a:t>
            </a:r>
          </a:p>
          <a:p>
            <a:pPr algn="l">
              <a:lnSpc>
                <a:spcPct val="150000"/>
              </a:lnSpc>
              <a:buClrTx/>
              <a:buSzTx/>
              <a:buNone/>
            </a:pPr>
            <a:r>
              <a:rPr lang="en-US" altLang="zh-CN" sz="1600" dirty="0">
                <a:solidFill>
                  <a:schemeClr val="tx1">
                    <a:lumMod val="75000"/>
                    <a:lumOff val="25000"/>
                  </a:schemeClr>
                </a:solidFill>
              </a:rPr>
              <a:t>    &lt;异常处理语句块&gt;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注意：“Exception”为关键字，第一个字母必须大写。</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p:nvPr/>
        </p:nvSpPr>
        <p:spPr>
          <a:xfrm>
            <a:off x="977591" y="1833261"/>
            <a:ext cx="9944003" cy="378460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使用Exception类捕获任意类型的异常。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a = input("请输入a的值：")</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r = 1/int(a)</a:t>
            </a:r>
          </a:p>
          <a:p>
            <a:pPr algn="l">
              <a:lnSpc>
                <a:spcPct val="150000"/>
              </a:lnSpc>
              <a:buClrTx/>
              <a:buSzTx/>
              <a:buNone/>
            </a:pPr>
            <a:r>
              <a:rPr lang="en-US" altLang="zh-CN" sz="1600" dirty="0">
                <a:solidFill>
                  <a:schemeClr val="tx1">
                    <a:lumMod val="75000"/>
                    <a:lumOff val="25000"/>
                  </a:schemeClr>
                </a:solidFill>
              </a:rPr>
              <a:t>    print("r = ",r)</a:t>
            </a:r>
          </a:p>
          <a:p>
            <a:pPr algn="l">
              <a:lnSpc>
                <a:spcPct val="150000"/>
              </a:lnSpc>
              <a:buClrTx/>
              <a:buSzTx/>
              <a:buNone/>
            </a:pPr>
            <a:r>
              <a:rPr lang="en-US" altLang="zh-CN" sz="1600" dirty="0">
                <a:solidFill>
                  <a:schemeClr val="tx1">
                    <a:lumMod val="75000"/>
                    <a:lumOff val="25000"/>
                  </a:schemeClr>
                </a:solidFill>
              </a:rPr>
              <a:t>except Exception as e:</a:t>
            </a:r>
          </a:p>
          <a:p>
            <a:pPr algn="l">
              <a:lnSpc>
                <a:spcPct val="150000"/>
              </a:lnSpc>
              <a:buClrTx/>
              <a:buSzTx/>
              <a:buNone/>
            </a:pPr>
            <a:r>
              <a:rPr lang="en-US" altLang="zh-CN" sz="1600" dirty="0">
                <a:solidFill>
                  <a:schemeClr val="tx1">
                    <a:lumMod val="75000"/>
                    <a:lumOff val="25000"/>
                  </a:schemeClr>
                </a:solidFill>
              </a:rPr>
              <a:t>    print("异常是：", e)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程序运行后根据输入的数据不同，得到不同的输出信息（包括异常信息）。</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5"/>
          <p:cNvSpPr txBox="1"/>
          <p:nvPr/>
        </p:nvSpPr>
        <p:spPr>
          <a:xfrm>
            <a:off x="1047393" y="1762086"/>
            <a:ext cx="9881516" cy="378460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（1）未发生异常：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（2）发生了0作除数的异常：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（3）int()函数无法对非数字字符串进行转换，因此发生了异常：</a:t>
            </a:r>
          </a:p>
          <a:p>
            <a:pPr algn="l">
              <a:lnSpc>
                <a:spcPct val="150000"/>
              </a:lnSpc>
              <a:buClrTx/>
              <a:buSzTx/>
              <a:buNone/>
            </a:pPr>
            <a:endParaRPr lang="en-US" altLang="zh-CN" sz="1600" dirty="0">
              <a:solidFill>
                <a:schemeClr val="tx1">
                  <a:lumMod val="75000"/>
                  <a:lumOff val="25000"/>
                </a:schemeClr>
              </a:solidFill>
            </a:endParaRPr>
          </a:p>
        </p:txBody>
      </p:sp>
      <p:pic>
        <p:nvPicPr>
          <p:cNvPr id="7" name="图片 52"/>
          <p:cNvPicPr>
            <a:picLocks noChangeAspect="1" noChangeArrowheads="1"/>
          </p:cNvPicPr>
          <p:nvPr/>
        </p:nvPicPr>
        <p:blipFill>
          <a:blip r:embed="rId2" cstate="print"/>
          <a:srcRect/>
          <a:stretch>
            <a:fillRect/>
          </a:stretch>
        </p:blipFill>
        <p:spPr bwMode="auto">
          <a:xfrm>
            <a:off x="1572937" y="2317881"/>
            <a:ext cx="2938744" cy="668740"/>
          </a:xfrm>
          <a:prstGeom prst="rect">
            <a:avLst/>
          </a:prstGeom>
          <a:noFill/>
          <a:ln w="9525">
            <a:noFill/>
            <a:miter lim="800000"/>
            <a:headEnd/>
            <a:tailEnd/>
          </a:ln>
        </p:spPr>
      </p:pic>
      <p:pic>
        <p:nvPicPr>
          <p:cNvPr id="8" name="图片 55"/>
          <p:cNvPicPr>
            <a:picLocks noChangeAspect="1" noChangeArrowheads="1"/>
          </p:cNvPicPr>
          <p:nvPr/>
        </p:nvPicPr>
        <p:blipFill>
          <a:blip r:embed="rId3" cstate="print"/>
          <a:srcRect/>
          <a:stretch>
            <a:fillRect/>
          </a:stretch>
        </p:blipFill>
        <p:spPr bwMode="auto">
          <a:xfrm>
            <a:off x="1572929" y="3752184"/>
            <a:ext cx="2983553" cy="682388"/>
          </a:xfrm>
          <a:prstGeom prst="rect">
            <a:avLst/>
          </a:prstGeom>
          <a:noFill/>
          <a:ln w="9525">
            <a:noFill/>
            <a:miter lim="800000"/>
            <a:headEnd/>
            <a:tailEnd/>
          </a:ln>
        </p:spPr>
      </p:pic>
      <p:pic>
        <p:nvPicPr>
          <p:cNvPr id="9" name="图片 58"/>
          <p:cNvPicPr>
            <a:picLocks noChangeAspect="1" noChangeArrowheads="1"/>
          </p:cNvPicPr>
          <p:nvPr/>
        </p:nvPicPr>
        <p:blipFill>
          <a:blip r:embed="rId4" cstate="print"/>
          <a:srcRect/>
          <a:stretch>
            <a:fillRect/>
          </a:stretch>
        </p:blipFill>
        <p:spPr bwMode="auto">
          <a:xfrm>
            <a:off x="1572938" y="5186164"/>
            <a:ext cx="5436815" cy="696036"/>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gn="just">
              <a:lnSpc>
                <a:spcPct val="150000"/>
              </a:lnSpc>
            </a:pPr>
            <a:r>
              <a:rPr lang="en-US" altLang="zh-CN" dirty="0" err="1">
                <a:solidFill>
                  <a:schemeClr val="tx1">
                    <a:lumMod val="75000"/>
                    <a:lumOff val="25000"/>
                  </a:schemeClr>
                </a:solidFill>
              </a:rPr>
              <a:t>带有Exception类的except子句可捕获任何异常</a:t>
            </a:r>
            <a:r>
              <a:rPr lang="en-US" altLang="zh-CN" dirty="0">
                <a:solidFill>
                  <a:schemeClr val="tx1">
                    <a:lumMod val="75000"/>
                    <a:lumOff val="25000"/>
                  </a:schemeClr>
                </a:solidFill>
              </a:rPr>
              <a:t>。</a:t>
            </a:r>
          </a:p>
          <a:p>
            <a:pPr algn="just">
              <a:lnSpc>
                <a:spcPct val="150000"/>
              </a:lnSpc>
            </a:pPr>
            <a:r>
              <a:rPr lang="en-US" altLang="zh-CN" dirty="0">
                <a:solidFill>
                  <a:schemeClr val="tx1">
                    <a:lumMod val="75000"/>
                    <a:lumOff val="25000"/>
                  </a:schemeClr>
                </a:solidFill>
              </a:rPr>
              <a:t>捕获Exception类型异常的except子句应该写在捕获准确类型异常的except子句之后，否则捕获不到准确类型的异常，对应的except子句不起作用。</a:t>
            </a:r>
          </a:p>
          <a:p>
            <a:pPr>
              <a:lnSpc>
                <a:spcPct val="150000"/>
              </a:lnSpc>
            </a:pPr>
            <a:endParaRPr lang="zh-CN" altLang="zh-CN" dirty="0">
              <a:solidFill>
                <a:schemeClr val="tx1">
                  <a:lumMod val="75000"/>
                  <a:lumOff val="25000"/>
                </a:schemeClr>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4" name="TextBox 75"/>
          <p:cNvSpPr txBox="1"/>
          <p:nvPr/>
        </p:nvSpPr>
        <p:spPr>
          <a:xfrm>
            <a:off x="931965" y="1330322"/>
            <a:ext cx="9894531" cy="5632311"/>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例如：</a:t>
            </a:r>
          </a:p>
          <a:p>
            <a:pPr>
              <a:lnSpc>
                <a:spcPct val="150000"/>
              </a:lnSpc>
            </a:pPr>
            <a:r>
              <a:rPr lang="en-US" altLang="zh-CN" sz="1600" dirty="0">
                <a:solidFill>
                  <a:schemeClr val="tx1">
                    <a:lumMod val="75000"/>
                    <a:lumOff val="25000"/>
                  </a:schemeClr>
                </a:solidFill>
              </a:rPr>
              <a:t>a = input("</a:t>
            </a:r>
            <a:r>
              <a:rPr lang="zh-CN" altLang="en-US" sz="1600" dirty="0">
                <a:solidFill>
                  <a:schemeClr val="tx1">
                    <a:lumMod val="75000"/>
                    <a:lumOff val="25000"/>
                  </a:schemeClr>
                </a:solidFill>
              </a:rPr>
              <a:t>请输入</a:t>
            </a:r>
            <a:r>
              <a:rPr lang="en-US" altLang="zh-CN" sz="1600" dirty="0">
                <a:solidFill>
                  <a:schemeClr val="tx1">
                    <a:lumMod val="75000"/>
                    <a:lumOff val="25000"/>
                  </a:schemeClr>
                </a:solidFill>
              </a:rPr>
              <a:t>a</a:t>
            </a:r>
            <a:r>
              <a:rPr lang="zh-CN" altLang="en-US" sz="1600" dirty="0">
                <a:solidFill>
                  <a:schemeClr val="tx1">
                    <a:lumMod val="75000"/>
                    <a:lumOff val="25000"/>
                  </a:schemeClr>
                </a:solidFill>
              </a:rPr>
              <a:t>的值：</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b = input("</a:t>
            </a:r>
            <a:r>
              <a:rPr lang="zh-CN" altLang="en-US" sz="1600" dirty="0">
                <a:solidFill>
                  <a:schemeClr val="tx1">
                    <a:lumMod val="75000"/>
                    <a:lumOff val="25000"/>
                  </a:schemeClr>
                </a:solidFill>
              </a:rPr>
              <a:t>请输入</a:t>
            </a:r>
            <a:r>
              <a:rPr lang="en-US" altLang="zh-CN" sz="1600" dirty="0">
                <a:solidFill>
                  <a:schemeClr val="tx1">
                    <a:lumMod val="75000"/>
                    <a:lumOff val="25000"/>
                  </a:schemeClr>
                </a:solidFill>
              </a:rPr>
              <a:t>b</a:t>
            </a:r>
            <a:r>
              <a:rPr lang="zh-CN" altLang="en-US" sz="1600" dirty="0">
                <a:solidFill>
                  <a:schemeClr val="tx1">
                    <a:lumMod val="75000"/>
                    <a:lumOff val="25000"/>
                  </a:schemeClr>
                </a:solidFill>
              </a:rPr>
              <a:t>的值：</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try:</a:t>
            </a:r>
          </a:p>
          <a:p>
            <a:pPr>
              <a:lnSpc>
                <a:spcPct val="150000"/>
              </a:lnSpc>
            </a:pPr>
            <a:r>
              <a:rPr lang="en-US" altLang="zh-CN" sz="1600" dirty="0">
                <a:solidFill>
                  <a:schemeClr val="tx1">
                    <a:lumMod val="75000"/>
                    <a:lumOff val="25000"/>
                  </a:schemeClr>
                </a:solidFill>
              </a:rPr>
              <a:t>    r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(a)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(b)</a:t>
            </a:r>
          </a:p>
          <a:p>
            <a:pPr>
              <a:lnSpc>
                <a:spcPct val="150000"/>
              </a:lnSpc>
            </a:pPr>
            <a:r>
              <a:rPr lang="en-US" altLang="zh-CN" sz="1600" dirty="0">
                <a:solidFill>
                  <a:schemeClr val="tx1">
                    <a:lumMod val="75000"/>
                    <a:lumOff val="25000"/>
                  </a:schemeClr>
                </a:solidFill>
              </a:rPr>
              <a:t>    w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(a)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(b)</a:t>
            </a:r>
          </a:p>
          <a:p>
            <a:pPr>
              <a:lnSpc>
                <a:spcPct val="150000"/>
              </a:lnSpc>
            </a:pPr>
            <a:r>
              <a:rPr lang="en-US" altLang="zh-CN" sz="1600" dirty="0">
                <a:solidFill>
                  <a:schemeClr val="tx1">
                    <a:lumMod val="75000"/>
                    <a:lumOff val="25000"/>
                  </a:schemeClr>
                </a:solidFill>
              </a:rPr>
              <a:t>    print("r = ",r)</a:t>
            </a:r>
          </a:p>
          <a:p>
            <a:pPr>
              <a:lnSpc>
                <a:spcPct val="150000"/>
              </a:lnSpc>
            </a:pPr>
            <a:r>
              <a:rPr lang="en-US" altLang="zh-CN" sz="1600" dirty="0">
                <a:solidFill>
                  <a:schemeClr val="tx1">
                    <a:lumMod val="75000"/>
                    <a:lumOff val="25000"/>
                  </a:schemeClr>
                </a:solidFill>
              </a:rPr>
              <a:t>    print("w = ",w)</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ValueError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ValueError</a:t>
            </a:r>
            <a:r>
              <a:rPr lang="zh-CN" altLang="en-US" sz="1600" dirty="0">
                <a:solidFill>
                  <a:schemeClr val="tx1">
                    <a:lumMod val="75000"/>
                    <a:lumOff val="25000"/>
                  </a:schemeClr>
                </a:solidFill>
              </a:rPr>
              <a:t>类型异常，原因是：</a:t>
            </a:r>
            <a:r>
              <a:rPr lang="en-US" altLang="zh-CN" sz="1600" dirty="0">
                <a:solidFill>
                  <a:schemeClr val="tx1">
                    <a:lumMod val="75000"/>
                    <a:lumOff val="25000"/>
                  </a:schemeClr>
                </a:solidFill>
              </a:rPr>
              <a:t>", e)</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ZeroDivisionError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ZeroDivisionError</a:t>
            </a:r>
            <a:r>
              <a:rPr lang="zh-CN" altLang="en-US" sz="1600" dirty="0">
                <a:solidFill>
                  <a:schemeClr val="tx1">
                    <a:lumMod val="75000"/>
                    <a:lumOff val="25000"/>
                  </a:schemeClr>
                </a:solidFill>
              </a:rPr>
              <a:t>类型异常，原因是：</a:t>
            </a:r>
            <a:r>
              <a:rPr lang="en-US" altLang="zh-CN" sz="1600" dirty="0">
                <a:solidFill>
                  <a:schemeClr val="tx1">
                    <a:lumMod val="75000"/>
                    <a:lumOff val="25000"/>
                  </a:schemeClr>
                </a:solidFill>
              </a:rPr>
              <a:t>", e)</a:t>
            </a:r>
          </a:p>
          <a:p>
            <a:pPr>
              <a:lnSpc>
                <a:spcPct val="150000"/>
              </a:lnSpc>
            </a:pPr>
            <a:r>
              <a:rPr lang="en-US" altLang="zh-CN" sz="1600" dirty="0">
                <a:solidFill>
                  <a:schemeClr val="tx1">
                    <a:lumMod val="75000"/>
                    <a:lumOff val="25000"/>
                  </a:schemeClr>
                </a:solidFill>
              </a:rPr>
              <a:t>except Exception as e:</a:t>
            </a:r>
          </a:p>
          <a:p>
            <a:pPr>
              <a:lnSpc>
                <a:spcPct val="150000"/>
              </a:lnSpc>
            </a:pPr>
            <a:r>
              <a:rPr lang="en-US" altLang="zh-CN" sz="1600" dirty="0">
                <a:solidFill>
                  <a:schemeClr val="tx1">
                    <a:lumMod val="75000"/>
                    <a:lumOff val="25000"/>
                  </a:schemeClr>
                </a:solidFill>
              </a:rPr>
              <a:t>    print("</a:t>
            </a:r>
            <a:r>
              <a:rPr lang="zh-CN" altLang="en-US" sz="1600" dirty="0">
                <a:solidFill>
                  <a:schemeClr val="tx1">
                    <a:lumMod val="75000"/>
                    <a:lumOff val="25000"/>
                  </a:schemeClr>
                </a:solidFill>
              </a:rPr>
              <a:t>其他异常，原因是：</a:t>
            </a:r>
            <a:r>
              <a:rPr lang="en-US" altLang="zh-CN" sz="1600" dirty="0">
                <a:solidFill>
                  <a:schemeClr val="tx1">
                    <a:lumMod val="75000"/>
                    <a:lumOff val="25000"/>
                  </a:schemeClr>
                </a:solidFill>
              </a:rPr>
              <a:t>", e)</a:t>
            </a:r>
          </a:p>
          <a:p>
            <a:pPr>
              <a:lnSpc>
                <a:spcPct val="150000"/>
              </a:lnSpc>
            </a:pPr>
            <a:r>
              <a:rPr lang="en-US" altLang="zh-CN" sz="1600" dirty="0" err="1">
                <a:solidFill>
                  <a:schemeClr val="tx1">
                    <a:lumMod val="75000"/>
                    <a:lumOff val="25000"/>
                  </a:schemeClr>
                </a:solidFill>
              </a:rPr>
              <a:t>运行后根据输入数据的不同会输出不同的信息</a:t>
            </a:r>
            <a:r>
              <a:rPr lang="en-US" altLang="zh-CN" sz="1600" dirty="0">
                <a:solidFill>
                  <a:schemeClr val="tx1">
                    <a:lumMod val="75000"/>
                    <a:lumOff val="25000"/>
                  </a:schemeClr>
                </a:solidFill>
              </a:rPr>
              <a:t>。</a:t>
            </a:r>
            <a:endParaRPr lang="zh-CN" alt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p:nvPr/>
        </p:nvSpPr>
        <p:spPr>
          <a:xfrm>
            <a:off x="960763" y="1690688"/>
            <a:ext cx="9514603" cy="415417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（1）程序正常执行，未抛出异常：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（2）抛出一个确定的异常：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6" name="图片 61"/>
          <p:cNvPicPr>
            <a:picLocks noChangeAspect="1" noChangeArrowheads="1"/>
          </p:cNvPicPr>
          <p:nvPr/>
        </p:nvPicPr>
        <p:blipFill>
          <a:blip r:embed="rId2" cstate="print"/>
          <a:srcRect/>
          <a:stretch>
            <a:fillRect/>
          </a:stretch>
        </p:blipFill>
        <p:spPr bwMode="auto">
          <a:xfrm>
            <a:off x="1486665" y="2205243"/>
            <a:ext cx="3070747" cy="1705342"/>
          </a:xfrm>
          <a:prstGeom prst="rect">
            <a:avLst/>
          </a:prstGeom>
          <a:noFill/>
          <a:ln w="9525">
            <a:noFill/>
            <a:miter lim="800000"/>
            <a:headEnd/>
            <a:tailEnd/>
          </a:ln>
        </p:spPr>
      </p:pic>
      <p:pic>
        <p:nvPicPr>
          <p:cNvPr id="7" name="图片 64"/>
          <p:cNvPicPr>
            <a:picLocks noChangeAspect="1" noChangeArrowheads="1"/>
          </p:cNvPicPr>
          <p:nvPr/>
        </p:nvPicPr>
        <p:blipFill>
          <a:blip r:embed="rId3" cstate="print"/>
          <a:srcRect/>
          <a:stretch>
            <a:fillRect/>
          </a:stretch>
        </p:blipFill>
        <p:spPr bwMode="auto">
          <a:xfrm>
            <a:off x="1486788" y="4797588"/>
            <a:ext cx="6384763" cy="1220859"/>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8" name="TextBox 75"/>
          <p:cNvSpPr txBox="1"/>
          <p:nvPr/>
        </p:nvSpPr>
        <p:spPr>
          <a:xfrm>
            <a:off x="956657" y="1766959"/>
            <a:ext cx="10060033" cy="489267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（3）抛出程序员编程时未知的异常：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（4）抛出程序员编程时未知的异常：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思考：请仔细理解后两种情况，为什么它们抛出的是两种不同的异常？</a:t>
            </a:r>
          </a:p>
          <a:p>
            <a:pPr algn="l">
              <a:lnSpc>
                <a:spcPct val="150000"/>
              </a:lnSpc>
              <a:buClrTx/>
              <a:buSzTx/>
              <a:buNone/>
            </a:pPr>
            <a:r>
              <a:rPr lang="en-US" altLang="zh-CN" sz="1600" dirty="0">
                <a:solidFill>
                  <a:schemeClr val="tx1">
                    <a:lumMod val="75000"/>
                    <a:lumOff val="25000"/>
                  </a:schemeClr>
                </a:solidFill>
              </a:rPr>
              <a:t>说明：应先捕获类型明确的异常，如ValueError或ZeroDivisionError类型的异常，再捕获其他未知异常，以便于异常分析处理和修正程序错误。</a:t>
            </a:r>
          </a:p>
        </p:txBody>
      </p:sp>
      <p:pic>
        <p:nvPicPr>
          <p:cNvPr id="9" name="Picture 2" descr="12"/>
          <p:cNvPicPr>
            <a:picLocks noChangeAspect="1" noChangeArrowheads="1"/>
          </p:cNvPicPr>
          <p:nvPr/>
        </p:nvPicPr>
        <p:blipFill>
          <a:blip r:embed="rId2" cstate="print"/>
          <a:srcRect/>
          <a:stretch>
            <a:fillRect/>
          </a:stretch>
        </p:blipFill>
        <p:spPr bwMode="auto">
          <a:xfrm>
            <a:off x="1468585" y="2258917"/>
            <a:ext cx="5099492" cy="1132764"/>
          </a:xfrm>
          <a:prstGeom prst="rect">
            <a:avLst/>
          </a:prstGeom>
          <a:noFill/>
          <a:ln w="9525">
            <a:noFill/>
            <a:miter lim="800000"/>
            <a:headEnd/>
            <a:tailEnd/>
          </a:ln>
        </p:spPr>
      </p:pic>
      <p:pic>
        <p:nvPicPr>
          <p:cNvPr id="10" name="Picture 3" descr="123"/>
          <p:cNvPicPr>
            <a:picLocks noChangeAspect="1" noChangeArrowheads="1"/>
          </p:cNvPicPr>
          <p:nvPr/>
        </p:nvPicPr>
        <p:blipFill>
          <a:blip r:embed="rId3" cstate="print"/>
          <a:srcRect/>
          <a:stretch>
            <a:fillRect/>
          </a:stretch>
        </p:blipFill>
        <p:spPr bwMode="auto">
          <a:xfrm>
            <a:off x="1468261" y="4071254"/>
            <a:ext cx="5719641" cy="1023582"/>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try-finally </a:t>
            </a:r>
            <a:r>
              <a:rPr lang="zh-CN" altLang="en-US" dirty="0">
                <a:solidFill>
                  <a:schemeClr val="tx1">
                    <a:lumMod val="75000"/>
                    <a:lumOff val="25000"/>
                  </a:schemeClr>
                </a:solidFill>
              </a:rPr>
              <a:t>语句</a:t>
            </a:r>
          </a:p>
          <a:p>
            <a:pPr>
              <a:lnSpc>
                <a:spcPct val="150000"/>
              </a:lnSpc>
            </a:pPr>
            <a:endParaRPr lang="zh-CN" altLang="zh-CN" dirty="0">
              <a:solidFill>
                <a:schemeClr val="tx1">
                  <a:lumMod val="75000"/>
                  <a:lumOff val="25000"/>
                </a:schemeClr>
              </a:solidFill>
            </a:endParaRPr>
          </a:p>
        </p:txBody>
      </p:sp>
      <p:sp>
        <p:nvSpPr>
          <p:cNvPr id="7" name="TextBox 75"/>
          <p:cNvSpPr txBox="1"/>
          <p:nvPr/>
        </p:nvSpPr>
        <p:spPr>
          <a:xfrm>
            <a:off x="1044524" y="2103252"/>
            <a:ext cx="10130700" cy="3785652"/>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其基本语法格式如下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&lt;语句块1&gt;</a:t>
            </a:r>
          </a:p>
          <a:p>
            <a:pPr algn="l">
              <a:lnSpc>
                <a:spcPct val="150000"/>
              </a:lnSpc>
              <a:buClrTx/>
              <a:buSzTx/>
              <a:buNone/>
            </a:pPr>
            <a:r>
              <a:rPr lang="en-US" altLang="zh-CN" sz="1600" dirty="0">
                <a:solidFill>
                  <a:schemeClr val="tx1">
                    <a:lumMod val="75000"/>
                    <a:lumOff val="25000"/>
                  </a:schemeClr>
                </a:solidFill>
              </a:rPr>
              <a:t>finally:</a:t>
            </a:r>
          </a:p>
          <a:p>
            <a:pPr algn="l">
              <a:lnSpc>
                <a:spcPct val="150000"/>
              </a:lnSpc>
              <a:buClrTx/>
              <a:buSzTx/>
              <a:buNone/>
            </a:pPr>
            <a:r>
              <a:rPr lang="en-US" altLang="zh-CN" sz="1600" dirty="0">
                <a:solidFill>
                  <a:schemeClr val="tx1">
                    <a:lumMod val="75000"/>
                    <a:lumOff val="25000"/>
                  </a:schemeClr>
                </a:solidFill>
              </a:rPr>
              <a:t>    &lt;语句块2&gt;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该语句执行流程说明：</a:t>
            </a:r>
          </a:p>
          <a:p>
            <a:pPr algn="l">
              <a:lnSpc>
                <a:spcPct val="150000"/>
              </a:lnSpc>
              <a:buClrTx/>
              <a:buSzTx/>
              <a:buNone/>
            </a:pPr>
            <a:r>
              <a:rPr lang="en-US" altLang="zh-CN" sz="1600" dirty="0">
                <a:solidFill>
                  <a:schemeClr val="tx1">
                    <a:lumMod val="75000"/>
                    <a:lumOff val="25000"/>
                  </a:schemeClr>
                </a:solidFill>
              </a:rPr>
              <a:t>（1）如果在执行语句块1时没有捕获异常，则执行语句块2的代码。</a:t>
            </a:r>
          </a:p>
          <a:p>
            <a:pPr algn="l">
              <a:lnSpc>
                <a:spcPct val="150000"/>
              </a:lnSpc>
              <a:buClrTx/>
              <a:buSzTx/>
              <a:buNone/>
            </a:pPr>
            <a:r>
              <a:rPr lang="en-US" altLang="zh-CN" sz="1600" dirty="0">
                <a:solidFill>
                  <a:schemeClr val="tx1">
                    <a:lumMod val="75000"/>
                    <a:lumOff val="25000"/>
                  </a:schemeClr>
                </a:solidFill>
              </a:rPr>
              <a:t>（2）如果捕获到异常，则先执行语句块2的代码，然后让解释器进行异常处理。总之，无论如何都会执行语句块2的代码。</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p:nvPr/>
        </p:nvSpPr>
        <p:spPr>
          <a:xfrm>
            <a:off x="1051504" y="1690688"/>
            <a:ext cx="9555536" cy="4154984"/>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try-finally语句。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#try-finally语句</a:t>
            </a:r>
          </a:p>
          <a:p>
            <a:pPr algn="l">
              <a:lnSpc>
                <a:spcPct val="150000"/>
              </a:lnSpc>
              <a:buClrTx/>
              <a:buSzTx/>
              <a:buNone/>
            </a:pPr>
            <a:r>
              <a:rPr lang="en-US" altLang="zh-CN" sz="1600" dirty="0">
                <a:solidFill>
                  <a:schemeClr val="tx1">
                    <a:lumMod val="75000"/>
                    <a:lumOff val="25000"/>
                  </a:schemeClr>
                </a:solidFill>
              </a:rPr>
              <a:t>try: </a:t>
            </a:r>
          </a:p>
          <a:p>
            <a:pPr algn="l">
              <a:lnSpc>
                <a:spcPct val="150000"/>
              </a:lnSpc>
              <a:buClrTx/>
              <a:buSzTx/>
              <a:buNone/>
            </a:pPr>
            <a:r>
              <a:rPr lang="en-US" altLang="zh-CN" sz="1600" dirty="0">
                <a:solidFill>
                  <a:schemeClr val="tx1">
                    <a:lumMod val="75000"/>
                    <a:lumOff val="25000"/>
                  </a:schemeClr>
                </a:solidFill>
              </a:rPr>
              <a:t>   a = eval(input("请输入a的值：")) </a:t>
            </a:r>
          </a:p>
          <a:p>
            <a:pPr algn="l">
              <a:lnSpc>
                <a:spcPct val="150000"/>
              </a:lnSpc>
              <a:buClrTx/>
              <a:buSzTx/>
              <a:buNone/>
            </a:pPr>
            <a:r>
              <a:rPr lang="en-US" altLang="zh-CN" sz="1600" dirty="0">
                <a:solidFill>
                  <a:schemeClr val="tx1">
                    <a:lumMod val="75000"/>
                    <a:lumOff val="25000"/>
                  </a:schemeClr>
                </a:solidFill>
              </a:rPr>
              <a:t>   print("a的倒数为：", 1 / a)</a:t>
            </a:r>
          </a:p>
          <a:p>
            <a:pPr algn="l">
              <a:lnSpc>
                <a:spcPct val="150000"/>
              </a:lnSpc>
              <a:buClrTx/>
              <a:buSzTx/>
              <a:buNone/>
            </a:pPr>
            <a:r>
              <a:rPr lang="en-US" altLang="zh-CN" sz="1600" dirty="0">
                <a:solidFill>
                  <a:schemeClr val="tx1">
                    <a:lumMod val="75000"/>
                    <a:lumOff val="25000"/>
                  </a:schemeClr>
                </a:solidFill>
              </a:rPr>
              <a:t>finally:  </a:t>
            </a:r>
          </a:p>
          <a:p>
            <a:pPr algn="l">
              <a:lnSpc>
                <a:spcPct val="150000"/>
              </a:lnSpc>
              <a:buClrTx/>
              <a:buSzTx/>
              <a:buNone/>
            </a:pPr>
            <a:r>
              <a:rPr lang="en-US" altLang="zh-CN" sz="1600" dirty="0">
                <a:solidFill>
                  <a:schemeClr val="tx1">
                    <a:lumMod val="75000"/>
                    <a:lumOff val="25000"/>
                  </a:schemeClr>
                </a:solidFill>
              </a:rPr>
              <a:t>  #无论是否捕获异常，此语句都将被执行</a:t>
            </a:r>
          </a:p>
          <a:p>
            <a:pPr algn="l">
              <a:lnSpc>
                <a:spcPct val="150000"/>
              </a:lnSpc>
              <a:buClrTx/>
              <a:buSzTx/>
              <a:buNone/>
            </a:pPr>
            <a:r>
              <a:rPr lang="en-US" altLang="zh-CN" sz="1600" dirty="0">
                <a:solidFill>
                  <a:schemeClr val="tx1">
                    <a:lumMod val="75000"/>
                    <a:lumOff val="25000"/>
                  </a:schemeClr>
                </a:solidFill>
              </a:rPr>
              <a:t>    print("finally，结束了！")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说明：无论是否捕获异常，finally后的语句都会被执行，仔细观察以上程序运行后输出的信息。</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5"/>
          <p:cNvSpPr txBox="1"/>
          <p:nvPr/>
        </p:nvSpPr>
        <p:spPr>
          <a:xfrm>
            <a:off x="932841" y="1623942"/>
            <a:ext cx="10032644" cy="267652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（1）没有发生异常，执行了关键字finally后的语句：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（2）发生了异常，还是执行了关键字finally后的语句，之后再抛出异常信息：</a:t>
            </a:r>
          </a:p>
          <a:p>
            <a:pPr algn="l">
              <a:lnSpc>
                <a:spcPct val="150000"/>
              </a:lnSpc>
              <a:buClrTx/>
              <a:buSzTx/>
              <a:buNone/>
            </a:pPr>
            <a:endParaRPr lang="en-US" altLang="zh-CN" sz="1600" dirty="0">
              <a:solidFill>
                <a:schemeClr val="tx1">
                  <a:lumMod val="75000"/>
                  <a:lumOff val="25000"/>
                </a:schemeClr>
              </a:solidFill>
            </a:endParaRPr>
          </a:p>
        </p:txBody>
      </p:sp>
      <p:pic>
        <p:nvPicPr>
          <p:cNvPr id="7" name="图片 1"/>
          <p:cNvPicPr>
            <a:picLocks noChangeAspect="1" noChangeArrowheads="1"/>
          </p:cNvPicPr>
          <p:nvPr/>
        </p:nvPicPr>
        <p:blipFill>
          <a:blip r:embed="rId2" cstate="print"/>
          <a:srcRect/>
          <a:stretch>
            <a:fillRect/>
          </a:stretch>
        </p:blipFill>
        <p:spPr bwMode="auto">
          <a:xfrm>
            <a:off x="1612394" y="2107673"/>
            <a:ext cx="2089098" cy="906189"/>
          </a:xfrm>
          <a:prstGeom prst="rect">
            <a:avLst/>
          </a:prstGeom>
          <a:noFill/>
          <a:ln w="9525">
            <a:noFill/>
            <a:miter lim="800000"/>
            <a:headEnd/>
            <a:tailEnd/>
          </a:ln>
        </p:spPr>
      </p:pic>
      <p:pic>
        <p:nvPicPr>
          <p:cNvPr id="8" name="图片 4"/>
          <p:cNvPicPr>
            <a:picLocks noChangeAspect="1" noChangeArrowheads="1"/>
          </p:cNvPicPr>
          <p:nvPr/>
        </p:nvPicPr>
        <p:blipFill>
          <a:blip r:embed="rId3" cstate="print"/>
          <a:srcRect/>
          <a:stretch>
            <a:fillRect/>
          </a:stretch>
        </p:blipFill>
        <p:spPr bwMode="auto">
          <a:xfrm>
            <a:off x="1612698" y="3925413"/>
            <a:ext cx="4189862" cy="2094932"/>
          </a:xfrm>
          <a:prstGeom prst="rect">
            <a:avLst/>
          </a:prstGeom>
          <a:noFill/>
          <a:ln w="9525">
            <a:noFill/>
            <a:miter lim="800000"/>
            <a:headEnd/>
            <a:tailEnd/>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try-except-finally</a:t>
            </a:r>
            <a:r>
              <a:rPr lang="zh-CN" altLang="en-US" dirty="0">
                <a:solidFill>
                  <a:schemeClr val="tx1">
                    <a:lumMod val="75000"/>
                    <a:lumOff val="25000"/>
                  </a:schemeClr>
                </a:solidFill>
              </a:rPr>
              <a:t>语句</a:t>
            </a:r>
          </a:p>
          <a:p>
            <a:pPr>
              <a:lnSpc>
                <a:spcPct val="150000"/>
              </a:lnSpc>
            </a:pPr>
            <a:endParaRPr lang="zh-CN" altLang="zh-CN" dirty="0">
              <a:solidFill>
                <a:schemeClr val="tx1">
                  <a:lumMod val="75000"/>
                  <a:lumOff val="25000"/>
                </a:schemeClr>
              </a:solidFill>
            </a:endParaRPr>
          </a:p>
        </p:txBody>
      </p:sp>
      <p:sp>
        <p:nvSpPr>
          <p:cNvPr id="9" name="TextBox 75"/>
          <p:cNvSpPr txBox="1"/>
          <p:nvPr/>
        </p:nvSpPr>
        <p:spPr>
          <a:xfrm>
            <a:off x="1065786" y="2174947"/>
            <a:ext cx="9928960" cy="4154984"/>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其基本语法格式如下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&lt;语句块1&gt;</a:t>
            </a:r>
          </a:p>
          <a:p>
            <a:pPr algn="l">
              <a:lnSpc>
                <a:spcPct val="150000"/>
              </a:lnSpc>
              <a:buClrTx/>
              <a:buSzTx/>
              <a:buNone/>
            </a:pPr>
            <a:r>
              <a:rPr lang="en-US" altLang="zh-CN" sz="1600" dirty="0">
                <a:solidFill>
                  <a:schemeClr val="tx1">
                    <a:lumMod val="75000"/>
                    <a:lumOff val="25000"/>
                  </a:schemeClr>
                </a:solidFill>
              </a:rPr>
              <a:t>except:</a:t>
            </a:r>
          </a:p>
          <a:p>
            <a:pPr algn="l">
              <a:lnSpc>
                <a:spcPct val="150000"/>
              </a:lnSpc>
              <a:buClrTx/>
              <a:buSzTx/>
              <a:buNone/>
            </a:pPr>
            <a:r>
              <a:rPr lang="en-US" altLang="zh-CN" sz="1600" dirty="0">
                <a:solidFill>
                  <a:schemeClr val="tx1">
                    <a:lumMod val="75000"/>
                    <a:lumOff val="25000"/>
                  </a:schemeClr>
                </a:solidFill>
              </a:rPr>
              <a:t>    &lt;语句块2&gt;</a:t>
            </a:r>
          </a:p>
          <a:p>
            <a:pPr algn="l">
              <a:lnSpc>
                <a:spcPct val="150000"/>
              </a:lnSpc>
              <a:buClrTx/>
              <a:buSzTx/>
              <a:buNone/>
            </a:pPr>
            <a:r>
              <a:rPr lang="en-US" altLang="zh-CN" sz="1600" dirty="0">
                <a:solidFill>
                  <a:schemeClr val="tx1">
                    <a:lumMod val="75000"/>
                    <a:lumOff val="25000"/>
                  </a:schemeClr>
                </a:solidFill>
              </a:rPr>
              <a:t>finally:</a:t>
            </a:r>
          </a:p>
          <a:p>
            <a:pPr algn="l">
              <a:lnSpc>
                <a:spcPct val="150000"/>
              </a:lnSpc>
              <a:buClrTx/>
              <a:buSzTx/>
              <a:buNone/>
            </a:pPr>
            <a:r>
              <a:rPr lang="en-US" altLang="zh-CN" sz="1600" dirty="0">
                <a:solidFill>
                  <a:schemeClr val="tx1">
                    <a:lumMod val="75000"/>
                    <a:lumOff val="25000"/>
                  </a:schemeClr>
                </a:solidFill>
              </a:rPr>
              <a:t>    &lt;语句块3&gt;</a:t>
            </a:r>
          </a:p>
          <a:p>
            <a:pPr algn="l">
              <a:lnSpc>
                <a:spcPct val="150000"/>
              </a:lnSpc>
              <a:buClrTx/>
              <a:buSzTx/>
              <a:buNone/>
            </a:pPr>
            <a:r>
              <a:rPr lang="en-US" altLang="zh-CN" sz="1600" dirty="0">
                <a:solidFill>
                  <a:schemeClr val="tx1">
                    <a:lumMod val="75000"/>
                    <a:lumOff val="25000"/>
                  </a:schemeClr>
                </a:solidFill>
              </a:rPr>
              <a:t>该语句执行流程说明：</a:t>
            </a:r>
          </a:p>
          <a:p>
            <a:pPr algn="l">
              <a:lnSpc>
                <a:spcPct val="150000"/>
              </a:lnSpc>
              <a:buClrTx/>
              <a:buSzTx/>
              <a:buNone/>
            </a:pPr>
            <a:r>
              <a:rPr lang="en-US" altLang="zh-CN" sz="1600" dirty="0">
                <a:solidFill>
                  <a:schemeClr val="tx1">
                    <a:lumMod val="75000"/>
                    <a:lumOff val="25000"/>
                  </a:schemeClr>
                </a:solidFill>
              </a:rPr>
              <a:t>（1）如果try语句块没有发生异常，则执行finally子句。</a:t>
            </a:r>
          </a:p>
          <a:p>
            <a:pPr algn="l">
              <a:lnSpc>
                <a:spcPct val="150000"/>
              </a:lnSpc>
              <a:buClrTx/>
              <a:buSzTx/>
              <a:buNone/>
            </a:pPr>
            <a:r>
              <a:rPr lang="en-US" altLang="zh-CN" sz="1600" dirty="0">
                <a:solidFill>
                  <a:schemeClr val="tx1">
                    <a:lumMod val="75000"/>
                    <a:lumOff val="25000"/>
                  </a:schemeClr>
                </a:solidFill>
              </a:rPr>
              <a:t>（2）如果try语句块发生异常，则先处理except</a:t>
            </a:r>
            <a:r>
              <a:rPr lang="zh-CN" altLang="en-US" sz="1600" dirty="0">
                <a:solidFill>
                  <a:schemeClr val="tx1">
                    <a:lumMod val="75000"/>
                    <a:lumOff val="25000"/>
                  </a:schemeClr>
                </a:solidFill>
              </a:rPr>
              <a:t>中确定的</a:t>
            </a:r>
            <a:r>
              <a:rPr lang="en-US" altLang="zh-CN" sz="1600" dirty="0" err="1">
                <a:solidFill>
                  <a:schemeClr val="tx1">
                    <a:lumMod val="75000"/>
                    <a:lumOff val="25000"/>
                  </a:schemeClr>
                </a:solidFill>
              </a:rPr>
              <a:t>异常，然后执行finally子句</a:t>
            </a:r>
            <a:r>
              <a:rPr lang="zh-CN" altLang="en-US" sz="1600" dirty="0">
                <a:solidFill>
                  <a:schemeClr val="tx1">
                    <a:lumMod val="75000"/>
                    <a:lumOff val="25000"/>
                  </a:schemeClr>
                </a:solidFill>
              </a:rPr>
              <a:t>，最后处理不确定的异常</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总之，无论如何都会执行finally子句。</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a:spLocks noGrp="1"/>
          </p:cNvSpPr>
          <p:nvPr>
            <p:ph idx="1"/>
          </p:nvPr>
        </p:nvSpPr>
        <p:spPr>
          <a:xfrm>
            <a:off x="838200" y="1601788"/>
            <a:ext cx="10337800" cy="4939814"/>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try-except-finally语句的执行情况分析。</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a = eval(input("请输入a的值："))</a:t>
            </a:r>
          </a:p>
          <a:p>
            <a:pPr algn="l">
              <a:lnSpc>
                <a:spcPct val="150000"/>
              </a:lnSpc>
              <a:buClrTx/>
              <a:buSzTx/>
              <a:buNone/>
            </a:pPr>
            <a:r>
              <a:rPr lang="en-US" altLang="zh-CN" sz="1600" dirty="0">
                <a:solidFill>
                  <a:schemeClr val="tx1">
                    <a:lumMod val="75000"/>
                    <a:lumOff val="25000"/>
                  </a:schemeClr>
                </a:solidFill>
              </a:rPr>
              <a:t>    print("a的倒数为：", 1 / a)</a:t>
            </a:r>
          </a:p>
          <a:p>
            <a:pPr algn="l">
              <a:lnSpc>
                <a:spcPct val="150000"/>
              </a:lnSpc>
              <a:buClrTx/>
              <a:buSzTx/>
              <a:buNone/>
            </a:pPr>
            <a:r>
              <a:rPr lang="en-US" altLang="zh-CN" sz="1600" dirty="0">
                <a:solidFill>
                  <a:schemeClr val="tx1">
                    <a:lumMod val="75000"/>
                    <a:lumOff val="25000"/>
                  </a:schemeClr>
                </a:solidFill>
              </a:rPr>
              <a:t>except ZeroDivisionError as e: </a:t>
            </a:r>
          </a:p>
          <a:p>
            <a:pPr algn="l">
              <a:lnSpc>
                <a:spcPct val="150000"/>
              </a:lnSpc>
              <a:buClrTx/>
              <a:buSzTx/>
              <a:buNone/>
            </a:pPr>
            <a:r>
              <a:rPr lang="en-US" altLang="zh-CN" sz="1600" dirty="0">
                <a:solidFill>
                  <a:schemeClr val="tx1">
                    <a:lumMod val="75000"/>
                    <a:lumOff val="25000"/>
                  </a:schemeClr>
                </a:solidFill>
              </a:rPr>
              <a:t>   print("ZeroDivisionError类型错误，原因是：",e)</a:t>
            </a:r>
          </a:p>
          <a:p>
            <a:pPr algn="l">
              <a:lnSpc>
                <a:spcPct val="150000"/>
              </a:lnSpc>
              <a:buClrTx/>
              <a:buSzTx/>
              <a:buNone/>
            </a:pPr>
            <a:r>
              <a:rPr lang="en-US" altLang="zh-CN" sz="1600" dirty="0">
                <a:solidFill>
                  <a:schemeClr val="tx1">
                    <a:lumMod val="75000"/>
                    <a:lumOff val="25000"/>
                  </a:schemeClr>
                </a:solidFill>
              </a:rPr>
              <a:t>finally: </a:t>
            </a:r>
          </a:p>
          <a:p>
            <a:pPr algn="l">
              <a:lnSpc>
                <a:spcPct val="150000"/>
              </a:lnSpc>
              <a:buClrTx/>
              <a:buSzTx/>
              <a:buNone/>
            </a:pPr>
            <a:r>
              <a:rPr lang="en-US" altLang="zh-CN" sz="1600" dirty="0">
                <a:solidFill>
                  <a:schemeClr val="tx1">
                    <a:lumMod val="75000"/>
                    <a:lumOff val="25000"/>
                  </a:schemeClr>
                </a:solidFill>
              </a:rPr>
              <a:t>   #有无异常都要执行关键字finally后的语句！</a:t>
            </a:r>
          </a:p>
          <a:p>
            <a:pPr algn="l">
              <a:lnSpc>
                <a:spcPct val="150000"/>
              </a:lnSpc>
              <a:buClrTx/>
              <a:buSzTx/>
              <a:buNone/>
            </a:pPr>
            <a:r>
              <a:rPr lang="en-US" altLang="zh-CN" sz="1600" dirty="0">
                <a:solidFill>
                  <a:schemeClr val="tx1">
                    <a:lumMod val="75000"/>
                    <a:lumOff val="25000"/>
                  </a:schemeClr>
                </a:solidFill>
              </a:rPr>
              <a:t>    print("哈哈，都要执行finally！") </a:t>
            </a:r>
          </a:p>
          <a:p>
            <a:pPr algn="l">
              <a:lnSpc>
                <a:spcPct val="150000"/>
              </a:lnSpc>
              <a:buClrTx/>
              <a:buSzTx/>
              <a:buNone/>
            </a:pPr>
            <a:r>
              <a:rPr lang="en-US" altLang="zh-CN" sz="1600" dirty="0" err="1">
                <a:solidFill>
                  <a:schemeClr val="tx1">
                    <a:lumMod val="75000"/>
                    <a:lumOff val="25000"/>
                  </a:schemeClr>
                </a:solidFill>
              </a:rPr>
              <a:t>说明：无论是否捕获异常，关键字finally后的语句都会被执行，仔细观察以上程序运行后的结果</a:t>
            </a:r>
            <a:r>
              <a:rPr lang="en-US" altLang="zh-CN" sz="1600" dirty="0">
                <a:solidFill>
                  <a:schemeClr val="tx1">
                    <a:lumMod val="75000"/>
                    <a:lumOff val="25000"/>
                  </a:schemeClr>
                </a:solidFill>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5"/>
          <p:cNvSpPr txBox="1"/>
          <p:nvPr/>
        </p:nvSpPr>
        <p:spPr>
          <a:xfrm>
            <a:off x="681878" y="1690688"/>
            <a:ext cx="9522826" cy="452431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（1）没有发生异常，执行了关键字finally后的语句：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（2）发生了一个确定的异常， </a:t>
            </a:r>
            <a:r>
              <a:rPr lang="zh-CN" altLang="en-US" sz="1600" dirty="0">
                <a:solidFill>
                  <a:schemeClr val="tx1">
                    <a:lumMod val="75000"/>
                    <a:lumOff val="25000"/>
                  </a:schemeClr>
                </a:solidFill>
              </a:rPr>
              <a:t>先</a:t>
            </a:r>
            <a:r>
              <a:rPr lang="en-US" altLang="zh-CN" sz="1600" dirty="0" err="1">
                <a:solidFill>
                  <a:schemeClr val="tx1">
                    <a:lumMod val="75000"/>
                    <a:lumOff val="25000"/>
                  </a:schemeClr>
                </a:solidFill>
              </a:rPr>
              <a:t>抛出异常</a:t>
            </a:r>
            <a:r>
              <a:rPr lang="zh-CN" altLang="en-US" sz="1600" dirty="0">
                <a:solidFill>
                  <a:schemeClr val="tx1">
                    <a:lumMod val="75000"/>
                    <a:lumOff val="25000"/>
                  </a:schemeClr>
                </a:solidFill>
              </a:rPr>
              <a:t>，然后</a:t>
            </a:r>
            <a:r>
              <a:rPr lang="en-US" altLang="zh-CN" sz="1600" dirty="0" err="1">
                <a:solidFill>
                  <a:schemeClr val="tx1">
                    <a:lumMod val="75000"/>
                    <a:lumOff val="25000"/>
                  </a:schemeClr>
                </a:solidFill>
              </a:rPr>
              <a:t>执行关键字finally后的语句</a:t>
            </a:r>
            <a:r>
              <a:rPr lang="en-US" altLang="zh-CN" sz="1600" dirty="0">
                <a:solidFill>
                  <a:schemeClr val="tx1">
                    <a:lumMod val="75000"/>
                    <a:lumOff val="25000"/>
                  </a:schemeClr>
                </a:solidFill>
              </a:rPr>
              <a: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（3）发生了一个程序员不能确定的异常，</a:t>
            </a:r>
            <a:r>
              <a:rPr lang="zh-CN" altLang="en-US" sz="1600" dirty="0">
                <a:solidFill>
                  <a:schemeClr val="tx1">
                    <a:lumMod val="75000"/>
                    <a:lumOff val="25000"/>
                  </a:schemeClr>
                </a:solidFill>
              </a:rPr>
              <a:t>先</a:t>
            </a:r>
            <a:r>
              <a:rPr lang="en-US" altLang="zh-CN" sz="1600" dirty="0" err="1">
                <a:solidFill>
                  <a:schemeClr val="tx1">
                    <a:lumMod val="75000"/>
                    <a:lumOff val="25000"/>
                  </a:schemeClr>
                </a:solidFill>
              </a:rPr>
              <a:t>执行关键字finally后的语句，然后抛出异常</a:t>
            </a:r>
            <a:r>
              <a:rPr lang="en-US" altLang="zh-CN" sz="1600" dirty="0">
                <a:solidFill>
                  <a:schemeClr val="tx1">
                    <a:lumMod val="75000"/>
                    <a:lumOff val="25000"/>
                  </a:schemeClr>
                </a:solidFill>
              </a:rPr>
              <a: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图片 76"/>
          <p:cNvPicPr>
            <a:picLocks noChangeAspect="1" noChangeArrowheads="1"/>
          </p:cNvPicPr>
          <p:nvPr/>
        </p:nvPicPr>
        <p:blipFill>
          <a:blip r:embed="rId2" cstate="print"/>
          <a:srcRect/>
          <a:stretch>
            <a:fillRect/>
          </a:stretch>
        </p:blipFill>
        <p:spPr bwMode="auto">
          <a:xfrm>
            <a:off x="1259794" y="2182357"/>
            <a:ext cx="2415653" cy="1027347"/>
          </a:xfrm>
          <a:prstGeom prst="rect">
            <a:avLst/>
          </a:prstGeom>
          <a:noFill/>
          <a:ln w="9525">
            <a:noFill/>
            <a:miter lim="800000"/>
            <a:headEnd/>
            <a:tailEnd/>
          </a:ln>
        </p:spPr>
      </p:pic>
      <p:pic>
        <p:nvPicPr>
          <p:cNvPr id="8" name="图片 73"/>
          <p:cNvPicPr>
            <a:picLocks noChangeAspect="1" noChangeArrowheads="1"/>
          </p:cNvPicPr>
          <p:nvPr/>
        </p:nvPicPr>
        <p:blipFill>
          <a:blip r:embed="rId3" cstate="print"/>
          <a:srcRect/>
          <a:stretch>
            <a:fillRect/>
          </a:stretch>
        </p:blipFill>
        <p:spPr bwMode="auto">
          <a:xfrm>
            <a:off x="1255036" y="3562677"/>
            <a:ext cx="3984042" cy="764275"/>
          </a:xfrm>
          <a:prstGeom prst="rect">
            <a:avLst/>
          </a:prstGeom>
          <a:noFill/>
          <a:ln w="9525">
            <a:noFill/>
            <a:miter lim="800000"/>
            <a:headEnd/>
            <a:tailEnd/>
          </a:ln>
        </p:spPr>
      </p:pic>
      <p:pic>
        <p:nvPicPr>
          <p:cNvPr id="9" name="图片 88"/>
          <p:cNvPicPr>
            <a:picLocks noChangeAspect="1" noChangeArrowheads="1"/>
          </p:cNvPicPr>
          <p:nvPr/>
        </p:nvPicPr>
        <p:blipFill>
          <a:blip r:embed="rId4" cstate="print"/>
          <a:srcRect/>
          <a:stretch>
            <a:fillRect/>
          </a:stretch>
        </p:blipFill>
        <p:spPr bwMode="auto">
          <a:xfrm>
            <a:off x="1255036" y="4722531"/>
            <a:ext cx="3835021" cy="1492472"/>
          </a:xfrm>
          <a:prstGeom prst="rect">
            <a:avLst/>
          </a:prstGeom>
          <a:noFill/>
          <a:ln w="9525">
            <a:noFill/>
            <a:miter lim="800000"/>
            <a:headEnd/>
            <a:tailEnd/>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p:txBody>
          <a:bodyPr/>
          <a:lstStyle/>
          <a:p>
            <a:r>
              <a:rPr lang="en-US" altLang="zh-CN" dirty="0"/>
              <a:t>try-except-else-finally</a:t>
            </a:r>
            <a:r>
              <a:rPr lang="zh-CN" altLang="en-US" dirty="0"/>
              <a:t>语句</a:t>
            </a:r>
          </a:p>
          <a:p>
            <a:endParaRPr lang="zh-CN" altLang="en-US" dirty="0"/>
          </a:p>
        </p:txBody>
      </p:sp>
      <p:sp>
        <p:nvSpPr>
          <p:cNvPr id="10" name="TextBox 75"/>
          <p:cNvSpPr txBox="1"/>
          <p:nvPr/>
        </p:nvSpPr>
        <p:spPr>
          <a:xfrm>
            <a:off x="1009944" y="2155938"/>
            <a:ext cx="9992117" cy="4893647"/>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其基本语法格式如下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&lt;语句块1&gt;</a:t>
            </a:r>
          </a:p>
          <a:p>
            <a:pPr algn="l">
              <a:lnSpc>
                <a:spcPct val="150000"/>
              </a:lnSpc>
              <a:buClrTx/>
              <a:buSzTx/>
              <a:buNone/>
            </a:pPr>
            <a:r>
              <a:rPr lang="en-US" altLang="zh-CN" sz="1600" dirty="0">
                <a:solidFill>
                  <a:schemeClr val="tx1">
                    <a:lumMod val="75000"/>
                    <a:lumOff val="25000"/>
                  </a:schemeClr>
                </a:solidFill>
              </a:rPr>
              <a:t>except:</a:t>
            </a:r>
          </a:p>
          <a:p>
            <a:pPr algn="l">
              <a:lnSpc>
                <a:spcPct val="150000"/>
              </a:lnSpc>
              <a:buClrTx/>
              <a:buSzTx/>
              <a:buNone/>
            </a:pPr>
            <a:r>
              <a:rPr lang="en-US" altLang="zh-CN" sz="1600" dirty="0">
                <a:solidFill>
                  <a:schemeClr val="tx1">
                    <a:lumMod val="75000"/>
                    <a:lumOff val="25000"/>
                  </a:schemeClr>
                </a:solidFill>
              </a:rPr>
              <a:t>    &lt;语句块2&gt;</a:t>
            </a:r>
          </a:p>
          <a:p>
            <a:pPr algn="l">
              <a:lnSpc>
                <a:spcPct val="150000"/>
              </a:lnSpc>
              <a:buClrTx/>
              <a:buSzTx/>
              <a:buNone/>
            </a:pPr>
            <a:r>
              <a:rPr lang="en-US" altLang="zh-CN" sz="1600" dirty="0">
                <a:solidFill>
                  <a:schemeClr val="tx1">
                    <a:lumMod val="75000"/>
                    <a:lumOff val="25000"/>
                  </a:schemeClr>
                </a:solidFill>
              </a:rPr>
              <a:t>else:</a:t>
            </a:r>
          </a:p>
          <a:p>
            <a:pPr algn="l">
              <a:lnSpc>
                <a:spcPct val="150000"/>
              </a:lnSpc>
              <a:buClrTx/>
              <a:buSzTx/>
              <a:buNone/>
            </a:pPr>
            <a:r>
              <a:rPr lang="en-US" altLang="zh-CN" sz="1600" dirty="0">
                <a:solidFill>
                  <a:schemeClr val="tx1">
                    <a:lumMod val="75000"/>
                    <a:lumOff val="25000"/>
                  </a:schemeClr>
                </a:solidFill>
              </a:rPr>
              <a:t>    &lt;语句块3&gt;</a:t>
            </a:r>
          </a:p>
          <a:p>
            <a:pPr algn="l">
              <a:lnSpc>
                <a:spcPct val="150000"/>
              </a:lnSpc>
              <a:buClrTx/>
              <a:buSzTx/>
              <a:buNone/>
            </a:pPr>
            <a:r>
              <a:rPr lang="en-US" altLang="zh-CN" sz="1600" dirty="0">
                <a:solidFill>
                  <a:schemeClr val="tx1">
                    <a:lumMod val="75000"/>
                    <a:lumOff val="25000"/>
                  </a:schemeClr>
                </a:solidFill>
              </a:rPr>
              <a:t>finally:</a:t>
            </a:r>
          </a:p>
          <a:p>
            <a:pPr algn="l">
              <a:lnSpc>
                <a:spcPct val="150000"/>
              </a:lnSpc>
              <a:buClrTx/>
              <a:buSzTx/>
              <a:buNone/>
            </a:pPr>
            <a:r>
              <a:rPr lang="en-US" altLang="zh-CN" sz="1600" dirty="0">
                <a:solidFill>
                  <a:schemeClr val="tx1">
                    <a:lumMod val="75000"/>
                    <a:lumOff val="25000"/>
                  </a:schemeClr>
                </a:solidFill>
              </a:rPr>
              <a:t>    &lt;语句块4&gt;</a:t>
            </a:r>
          </a:p>
          <a:p>
            <a:pPr algn="l">
              <a:lnSpc>
                <a:spcPct val="150000"/>
              </a:lnSpc>
              <a:buClrTx/>
              <a:buSzTx/>
              <a:buNone/>
            </a:pPr>
            <a:r>
              <a:rPr lang="en-US" altLang="zh-CN" sz="1600" dirty="0">
                <a:solidFill>
                  <a:schemeClr val="tx1">
                    <a:lumMod val="75000"/>
                    <a:lumOff val="25000"/>
                  </a:schemeClr>
                </a:solidFill>
              </a:rPr>
              <a:t>该语句执行流程说明：</a:t>
            </a:r>
          </a:p>
          <a:p>
            <a:pPr algn="l">
              <a:lnSpc>
                <a:spcPct val="150000"/>
              </a:lnSpc>
              <a:buClrTx/>
              <a:buSzTx/>
              <a:buNone/>
            </a:pPr>
            <a:r>
              <a:rPr lang="en-US" altLang="zh-CN" sz="1600" dirty="0">
                <a:solidFill>
                  <a:schemeClr val="tx1">
                    <a:lumMod val="75000"/>
                    <a:lumOff val="25000"/>
                  </a:schemeClr>
                </a:solidFill>
              </a:rPr>
              <a:t>（1）如果try语句块没有发生异常，则执行else和finally子句。</a:t>
            </a:r>
          </a:p>
          <a:p>
            <a:pPr algn="l">
              <a:lnSpc>
                <a:spcPct val="150000"/>
              </a:lnSpc>
              <a:buClrTx/>
              <a:buSzTx/>
              <a:buNone/>
            </a:pPr>
            <a:r>
              <a:rPr lang="en-US" altLang="zh-CN" sz="1600" dirty="0">
                <a:solidFill>
                  <a:schemeClr val="tx1">
                    <a:lumMod val="75000"/>
                    <a:lumOff val="25000"/>
                  </a:schemeClr>
                </a:solidFill>
              </a:rPr>
              <a:t>（2）如果try语句块发生异常，则先处理异常，然后执行finally子句，此时不执行else子句。</a:t>
            </a:r>
          </a:p>
          <a:p>
            <a:pPr algn="l">
              <a:lnSpc>
                <a:spcPct val="150000"/>
              </a:lnSpc>
              <a:buClrTx/>
              <a:buSzTx/>
              <a:buNone/>
            </a:pPr>
            <a:r>
              <a:rPr lang="en-US" altLang="zh-CN" sz="1600" dirty="0">
                <a:solidFill>
                  <a:schemeClr val="tx1">
                    <a:lumMod val="75000"/>
                    <a:lumOff val="25000"/>
                  </a:schemeClr>
                </a:solidFill>
              </a:rPr>
              <a:t>总之，无论如何都会执行finally子句。</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p:nvPr/>
        </p:nvSpPr>
        <p:spPr>
          <a:xfrm>
            <a:off x="838200" y="1588714"/>
            <a:ext cx="10149230" cy="5105400"/>
          </a:xfrm>
          <a:prstGeom prst="rect">
            <a:avLst/>
          </a:prstGeom>
          <a:noFill/>
        </p:spPr>
        <p:txBody>
          <a:bodyPr wrap="square" rtlCol="0">
            <a:spAutoFit/>
          </a:bodyPr>
          <a:lstStyle/>
          <a:p>
            <a:pPr>
              <a:lnSpc>
                <a:spcPct val="120000"/>
              </a:lnSpc>
            </a:pPr>
            <a:r>
              <a:rPr lang="en-US" altLang="zh-CN" sz="1600" dirty="0">
                <a:solidFill>
                  <a:schemeClr val="tx1">
                    <a:lumMod val="75000"/>
                    <a:lumOff val="25000"/>
                  </a:schemeClr>
                </a:solidFill>
              </a:rPr>
              <a:t>【例】  try-except-else-finally语句的执行情况分析。</a:t>
            </a:r>
          </a:p>
          <a:p>
            <a:pPr>
              <a:lnSpc>
                <a:spcPct val="120000"/>
              </a:lnSpc>
            </a:pPr>
            <a:r>
              <a:rPr lang="en-US" altLang="zh-CN" sz="1600" dirty="0">
                <a:solidFill>
                  <a:schemeClr val="tx1">
                    <a:lumMod val="75000"/>
                    <a:lumOff val="25000"/>
                  </a:schemeClr>
                </a:solidFill>
              </a:rPr>
              <a:t>try:</a:t>
            </a:r>
          </a:p>
          <a:p>
            <a:pPr>
              <a:lnSpc>
                <a:spcPct val="120000"/>
              </a:lnSpc>
            </a:pPr>
            <a:r>
              <a:rPr lang="en-US" altLang="zh-CN" sz="1600" dirty="0">
                <a:solidFill>
                  <a:schemeClr val="tx1">
                    <a:lumMod val="75000"/>
                    <a:lumOff val="25000"/>
                  </a:schemeClr>
                </a:solidFill>
              </a:rPr>
              <a:t>    a = eval(input("请输入a的值："))</a:t>
            </a:r>
          </a:p>
          <a:p>
            <a:pPr>
              <a:lnSpc>
                <a:spcPct val="120000"/>
              </a:lnSpc>
            </a:pPr>
            <a:r>
              <a:rPr lang="en-US" altLang="zh-CN" sz="1600" dirty="0">
                <a:solidFill>
                  <a:schemeClr val="tx1">
                    <a:lumMod val="75000"/>
                    <a:lumOff val="25000"/>
                  </a:schemeClr>
                </a:solidFill>
              </a:rPr>
              <a:t>    b = eval(input("请输入b的值："))</a:t>
            </a:r>
          </a:p>
          <a:p>
            <a:pPr>
              <a:lnSpc>
                <a:spcPct val="120000"/>
              </a:lnSpc>
            </a:pPr>
            <a:r>
              <a:rPr lang="en-US" altLang="zh-CN" sz="1600" dirty="0">
                <a:solidFill>
                  <a:schemeClr val="tx1">
                    <a:lumMod val="75000"/>
                    <a:lumOff val="25000"/>
                  </a:schemeClr>
                </a:solidFill>
              </a:rPr>
              <a:t>    print("a / b = ", a / b)</a:t>
            </a:r>
          </a:p>
          <a:p>
            <a:pPr>
              <a:lnSpc>
                <a:spcPct val="120000"/>
              </a:lnSpc>
            </a:pPr>
            <a:r>
              <a:rPr lang="en-US" altLang="zh-CN" sz="1600" dirty="0">
                <a:solidFill>
                  <a:schemeClr val="tx1">
                    <a:lumMod val="75000"/>
                    <a:lumOff val="25000"/>
                  </a:schemeClr>
                </a:solidFill>
              </a:rPr>
              <a:t>except ZeroDivisionError as e:</a:t>
            </a:r>
          </a:p>
          <a:p>
            <a:pPr>
              <a:lnSpc>
                <a:spcPct val="120000"/>
              </a:lnSpc>
            </a:pPr>
            <a:r>
              <a:rPr lang="en-US" altLang="zh-CN" sz="1600" dirty="0">
                <a:solidFill>
                  <a:schemeClr val="tx1">
                    <a:lumMod val="75000"/>
                    <a:lumOff val="25000"/>
                  </a:schemeClr>
                </a:solidFill>
              </a:rPr>
              <a:t>    print("ZeroDivisionError类型错误，原因是：",e)</a:t>
            </a:r>
          </a:p>
          <a:p>
            <a:pPr>
              <a:lnSpc>
                <a:spcPct val="120000"/>
              </a:lnSpc>
            </a:pPr>
            <a:r>
              <a:rPr lang="en-US" altLang="zh-CN" sz="1600" dirty="0">
                <a:solidFill>
                  <a:schemeClr val="tx1">
                    <a:lumMod val="75000"/>
                    <a:lumOff val="25000"/>
                  </a:schemeClr>
                </a:solidFill>
              </a:rPr>
              <a:t>except ValueError as e: </a:t>
            </a:r>
          </a:p>
          <a:p>
            <a:pPr>
              <a:lnSpc>
                <a:spcPct val="120000"/>
              </a:lnSpc>
            </a:pPr>
            <a:r>
              <a:rPr lang="en-US" altLang="zh-CN" sz="1600" dirty="0">
                <a:solidFill>
                  <a:schemeClr val="tx1">
                    <a:lumMod val="75000"/>
                    <a:lumOff val="25000"/>
                  </a:schemeClr>
                </a:solidFill>
              </a:rPr>
              <a:t>    print("ValueError类型错误，原因是：",e)</a:t>
            </a:r>
          </a:p>
          <a:p>
            <a:pPr>
              <a:lnSpc>
                <a:spcPct val="120000"/>
              </a:lnSpc>
            </a:pPr>
            <a:r>
              <a:rPr lang="en-US" altLang="zh-CN" sz="1600" dirty="0">
                <a:solidFill>
                  <a:schemeClr val="tx1">
                    <a:lumMod val="75000"/>
                    <a:lumOff val="25000"/>
                  </a:schemeClr>
                </a:solidFill>
              </a:rPr>
              <a:t>else:   </a:t>
            </a:r>
          </a:p>
          <a:p>
            <a:pPr>
              <a:lnSpc>
                <a:spcPct val="120000"/>
              </a:lnSpc>
            </a:pPr>
            <a:r>
              <a:rPr lang="en-US" altLang="zh-CN" sz="1600" dirty="0">
                <a:solidFill>
                  <a:schemeClr val="tx1">
                    <a:lumMod val="75000"/>
                    <a:lumOff val="25000"/>
                  </a:schemeClr>
                </a:solidFill>
              </a:rPr>
              <a:t>   #没有异常才执行else子句！</a:t>
            </a:r>
          </a:p>
          <a:p>
            <a:pPr>
              <a:lnSpc>
                <a:spcPct val="120000"/>
              </a:lnSpc>
            </a:pPr>
            <a:r>
              <a:rPr lang="en-US" altLang="zh-CN" sz="1600" dirty="0">
                <a:solidFill>
                  <a:schemeClr val="tx1">
                    <a:lumMod val="75000"/>
                    <a:lumOff val="25000"/>
                  </a:schemeClr>
                </a:solidFill>
              </a:rPr>
              <a:t>    print("没有异常，执行else子句！ ")</a:t>
            </a:r>
          </a:p>
          <a:p>
            <a:pPr>
              <a:lnSpc>
                <a:spcPct val="120000"/>
              </a:lnSpc>
            </a:pPr>
            <a:r>
              <a:rPr lang="en-US" altLang="zh-CN" sz="1600" dirty="0">
                <a:solidFill>
                  <a:schemeClr val="tx1">
                    <a:lumMod val="75000"/>
                    <a:lumOff val="25000"/>
                  </a:schemeClr>
                </a:solidFill>
              </a:rPr>
              <a:t>finally:</a:t>
            </a:r>
          </a:p>
          <a:p>
            <a:pPr>
              <a:lnSpc>
                <a:spcPct val="120000"/>
              </a:lnSpc>
            </a:pPr>
            <a:r>
              <a:rPr lang="en-US" altLang="zh-CN" sz="1600" dirty="0">
                <a:solidFill>
                  <a:schemeClr val="tx1">
                    <a:lumMod val="75000"/>
                    <a:lumOff val="25000"/>
                  </a:schemeClr>
                </a:solidFill>
              </a:rPr>
              <a:t>    #有无异常都要执行finally子句！</a:t>
            </a:r>
          </a:p>
          <a:p>
            <a:pPr>
              <a:lnSpc>
                <a:spcPct val="120000"/>
              </a:lnSpc>
            </a:pPr>
            <a:r>
              <a:rPr lang="en-US" altLang="zh-CN" sz="1600" dirty="0">
                <a:solidFill>
                  <a:schemeClr val="tx1">
                    <a:lumMod val="75000"/>
                    <a:lumOff val="25000"/>
                  </a:schemeClr>
                </a:solidFill>
              </a:rPr>
              <a:t>    print("嘻嘻，我最大，还是要执行finally！") </a:t>
            </a:r>
          </a:p>
          <a:p>
            <a:pPr>
              <a:lnSpc>
                <a:spcPct val="120000"/>
              </a:lnSpc>
            </a:pPr>
            <a:r>
              <a:rPr lang="en-US" altLang="zh-CN" sz="1600" dirty="0">
                <a:solidFill>
                  <a:schemeClr val="tx1">
                    <a:lumMod val="75000"/>
                    <a:lumOff val="25000"/>
                  </a:schemeClr>
                </a:solidFill>
              </a:rPr>
              <a:t>无论是否捕获异常，关键字finally后的语句都会被执行，仔细理解以上程序运行后的输出信息，将会发现，无论在什么情况下，关键字finally后的语句都会被执行。</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5"/>
          <p:cNvSpPr txBox="1"/>
          <p:nvPr/>
        </p:nvSpPr>
        <p:spPr>
          <a:xfrm>
            <a:off x="838199" y="1451119"/>
            <a:ext cx="10397947" cy="452431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（1）没有发生异常，else子句和finally子句都要执行：</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（2）发生了一个确定的异常，</a:t>
            </a:r>
            <a:r>
              <a:rPr lang="zh-CN" altLang="en-US" sz="1600" dirty="0">
                <a:solidFill>
                  <a:schemeClr val="tx1">
                    <a:lumMod val="75000"/>
                    <a:lumOff val="25000"/>
                  </a:schemeClr>
                </a:solidFill>
              </a:rPr>
              <a:t>先</a:t>
            </a:r>
            <a:r>
              <a:rPr lang="en-US" altLang="zh-CN" sz="1600" dirty="0" err="1">
                <a:solidFill>
                  <a:schemeClr val="tx1">
                    <a:lumMod val="75000"/>
                    <a:lumOff val="25000"/>
                  </a:schemeClr>
                </a:solidFill>
              </a:rPr>
              <a:t>抛出异常</a:t>
            </a:r>
            <a:r>
              <a:rPr lang="zh-CN" altLang="en-US" sz="1600" dirty="0">
                <a:solidFill>
                  <a:schemeClr val="tx1">
                    <a:lumMod val="75000"/>
                    <a:lumOff val="25000"/>
                  </a:schemeClr>
                </a:solidFill>
              </a:rPr>
              <a:t>，然后</a:t>
            </a:r>
            <a:r>
              <a:rPr lang="en-US" altLang="zh-CN" sz="1600" dirty="0" err="1">
                <a:solidFill>
                  <a:schemeClr val="tx1">
                    <a:lumMod val="75000"/>
                    <a:lumOff val="25000"/>
                  </a:schemeClr>
                </a:solidFill>
              </a:rPr>
              <a:t>执行关键字finally后的语句</a:t>
            </a:r>
            <a:r>
              <a:rPr lang="en-US" altLang="zh-CN" sz="1600" dirty="0">
                <a:solidFill>
                  <a:schemeClr val="tx1">
                    <a:lumMod val="75000"/>
                    <a:lumOff val="25000"/>
                  </a:schemeClr>
                </a:solidFill>
              </a:rPr>
              <a:t>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（3）发生了一个程序员不能确定的异常，</a:t>
            </a:r>
            <a:r>
              <a:rPr lang="zh-CN" altLang="en-US" sz="1600" dirty="0">
                <a:solidFill>
                  <a:schemeClr val="tx1">
                    <a:lumMod val="75000"/>
                    <a:lumOff val="25000"/>
                  </a:schemeClr>
                </a:solidFill>
              </a:rPr>
              <a:t>先</a:t>
            </a:r>
            <a:r>
              <a:rPr lang="en-US" altLang="zh-CN" sz="1600" dirty="0" err="1">
                <a:solidFill>
                  <a:schemeClr val="tx1">
                    <a:lumMod val="75000"/>
                    <a:lumOff val="25000"/>
                  </a:schemeClr>
                </a:solidFill>
              </a:rPr>
              <a:t>执行finally子句，然后再抛出异常</a:t>
            </a:r>
            <a:r>
              <a:rPr lang="en-US" altLang="zh-CN" sz="1600" dirty="0">
                <a:solidFill>
                  <a:schemeClr val="tx1">
                    <a:lumMod val="75000"/>
                    <a:lumOff val="25000"/>
                  </a:schemeClr>
                </a:solidFill>
              </a:rPr>
              <a: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Picture 2" descr="12"/>
          <p:cNvPicPr>
            <a:picLocks noChangeAspect="1" noChangeArrowheads="1"/>
          </p:cNvPicPr>
          <p:nvPr/>
        </p:nvPicPr>
        <p:blipFill>
          <a:blip r:embed="rId3" cstate="print"/>
          <a:srcRect/>
          <a:stretch>
            <a:fillRect/>
          </a:stretch>
        </p:blipFill>
        <p:spPr bwMode="auto">
          <a:xfrm>
            <a:off x="1460280" y="1941528"/>
            <a:ext cx="2715906" cy="1308526"/>
          </a:xfrm>
          <a:prstGeom prst="rect">
            <a:avLst/>
          </a:prstGeom>
          <a:noFill/>
          <a:ln w="9525">
            <a:noFill/>
            <a:miter lim="800000"/>
            <a:headEnd/>
            <a:tailEnd/>
          </a:ln>
        </p:spPr>
      </p:pic>
      <p:pic>
        <p:nvPicPr>
          <p:cNvPr id="8" name="图片 94"/>
          <p:cNvPicPr>
            <a:picLocks noChangeAspect="1" noChangeArrowheads="1"/>
          </p:cNvPicPr>
          <p:nvPr/>
        </p:nvPicPr>
        <p:blipFill>
          <a:blip r:embed="rId4" cstate="print"/>
          <a:srcRect/>
          <a:stretch>
            <a:fillRect/>
          </a:stretch>
        </p:blipFill>
        <p:spPr bwMode="auto">
          <a:xfrm>
            <a:off x="1460291" y="3740873"/>
            <a:ext cx="3393387" cy="846161"/>
          </a:xfrm>
          <a:prstGeom prst="rect">
            <a:avLst/>
          </a:prstGeom>
          <a:noFill/>
          <a:ln w="9525">
            <a:noFill/>
            <a:miter lim="800000"/>
            <a:headEnd/>
            <a:tailEnd/>
          </a:ln>
        </p:spPr>
      </p:pic>
      <p:pic>
        <p:nvPicPr>
          <p:cNvPr id="9" name="图片 85"/>
          <p:cNvPicPr>
            <a:picLocks noChangeAspect="1" noChangeArrowheads="1"/>
          </p:cNvPicPr>
          <p:nvPr/>
        </p:nvPicPr>
        <p:blipFill>
          <a:blip r:embed="rId5" cstate="print"/>
          <a:srcRect/>
          <a:stretch>
            <a:fillRect/>
          </a:stretch>
        </p:blipFill>
        <p:spPr bwMode="auto">
          <a:xfrm>
            <a:off x="1460604" y="5300906"/>
            <a:ext cx="3889613" cy="1557094"/>
          </a:xfrm>
          <a:prstGeom prst="rect">
            <a:avLst/>
          </a:prstGeom>
          <a:noFill/>
          <a:ln w="9525">
            <a:noFill/>
            <a:miter lim="800000"/>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p:txBody>
          <a:bodyPr/>
          <a:lstStyle/>
          <a:p>
            <a:r>
              <a:rPr lang="en-US" altLang="zh-CN" dirty="0" err="1">
                <a:solidFill>
                  <a:schemeClr val="tx1">
                    <a:lumMod val="75000"/>
                    <a:lumOff val="25000"/>
                  </a:schemeClr>
                </a:solidFill>
              </a:rPr>
              <a:t>raise语句</a:t>
            </a:r>
            <a:endParaRPr lang="en-US" altLang="zh-CN" dirty="0">
              <a:solidFill>
                <a:schemeClr val="tx1">
                  <a:lumMod val="75000"/>
                  <a:lumOff val="25000"/>
                </a:schemeClr>
              </a:solidFill>
            </a:endParaRPr>
          </a:p>
          <a:p>
            <a:endParaRPr lang="zh-CN" altLang="en-US" dirty="0"/>
          </a:p>
        </p:txBody>
      </p:sp>
      <p:sp>
        <p:nvSpPr>
          <p:cNvPr id="8" name="TextBox 75"/>
          <p:cNvSpPr txBox="1"/>
          <p:nvPr/>
        </p:nvSpPr>
        <p:spPr>
          <a:xfrm>
            <a:off x="1024249" y="2140382"/>
            <a:ext cx="10029018" cy="156966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在编程过程中，可以利用Python提供的raise语句抛出异常。使用raise语句时，一般需要应用某种异常类型生成异常实例，如直接使用raise语句会抛出一个指定的异常。对比下面的两段程序：</a:t>
            </a:r>
          </a:p>
          <a:p>
            <a:pPr algn="l">
              <a:lnSpc>
                <a:spcPct val="150000"/>
              </a:lnSpc>
              <a:buClrTx/>
              <a:buSzTx/>
              <a:buNone/>
            </a:pPr>
            <a:r>
              <a:rPr lang="en-US" altLang="zh-CN" sz="1600" dirty="0">
                <a:solidFill>
                  <a:schemeClr val="tx1">
                    <a:lumMod val="75000"/>
                    <a:lumOff val="25000"/>
                  </a:schemeClr>
                </a:solidFill>
              </a:rPr>
              <a:t>程序1：</a:t>
            </a:r>
          </a:p>
          <a:p>
            <a:pPr>
              <a:lnSpc>
                <a:spcPct val="150000"/>
              </a:lnSpc>
            </a:pPr>
            <a:r>
              <a:rPr lang="en-US" altLang="zh-CN" sz="1600" dirty="0">
                <a:solidFill>
                  <a:schemeClr val="tx1">
                    <a:lumMod val="75000"/>
                    <a:lumOff val="25000"/>
                  </a:schemeClr>
                </a:solidFill>
              </a:rPr>
              <a:t>raise </a:t>
            </a:r>
            <a:r>
              <a:rPr lang="en-US" altLang="zh-CN" sz="1600" dirty="0" err="1">
                <a:solidFill>
                  <a:schemeClr val="tx1">
                    <a:lumMod val="75000"/>
                    <a:lumOff val="25000"/>
                  </a:schemeClr>
                </a:solidFill>
              </a:rPr>
              <a:t>NameError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NameError</a:t>
            </a:r>
            <a:r>
              <a:rPr lang="en-US" altLang="zh-CN" sz="1600" dirty="0">
                <a:solidFill>
                  <a:schemeClr val="tx1">
                    <a:lumMod val="75000"/>
                    <a:lumOff val="25000"/>
                  </a:schemeClr>
                </a:solidFill>
              </a:rPr>
              <a:t>')</a:t>
            </a:r>
          </a:p>
        </p:txBody>
      </p:sp>
      <p:pic>
        <p:nvPicPr>
          <p:cNvPr id="9" name="图片 97"/>
          <p:cNvPicPr>
            <a:picLocks noChangeAspect="1" noChangeArrowheads="1"/>
          </p:cNvPicPr>
          <p:nvPr/>
        </p:nvPicPr>
        <p:blipFill>
          <a:blip r:embed="rId2" cstate="print"/>
          <a:srcRect/>
          <a:stretch>
            <a:fillRect/>
          </a:stretch>
        </p:blipFill>
        <p:spPr bwMode="auto">
          <a:xfrm>
            <a:off x="1047939" y="4446997"/>
            <a:ext cx="4451189" cy="1381053"/>
          </a:xfrm>
          <a:prstGeom prst="rect">
            <a:avLst/>
          </a:prstGeom>
          <a:noFill/>
          <a:ln w="9525">
            <a:noFill/>
            <a:miter lim="800000"/>
            <a:headEnd/>
            <a:tailEnd/>
          </a:ln>
        </p:spPr>
      </p:pic>
      <p:sp>
        <p:nvSpPr>
          <p:cNvPr id="10" name="TextBox 76"/>
          <p:cNvSpPr txBox="1"/>
          <p:nvPr/>
        </p:nvSpPr>
        <p:spPr>
          <a:xfrm>
            <a:off x="5820539" y="2875483"/>
            <a:ext cx="3329927" cy="1938992"/>
          </a:xfrm>
          <a:prstGeom prst="rect">
            <a:avLst/>
          </a:prstGeom>
          <a:noFill/>
        </p:spPr>
        <p:txBody>
          <a:bodyPr wrap="square" rtlCol="0">
            <a:spAutoFit/>
          </a:bodyPr>
          <a:lstStyle/>
          <a:p>
            <a:pPr>
              <a:lnSpc>
                <a:spcPct val="150000"/>
              </a:lnSpc>
            </a:pPr>
            <a:r>
              <a:rPr lang="en-US" altLang="zh-CN" sz="1600" dirty="0">
                <a:solidFill>
                  <a:schemeClr val="tx1">
                    <a:lumMod val="75000"/>
                    <a:lumOff val="25000"/>
                  </a:schemeClr>
                </a:solidFill>
              </a:rPr>
              <a:t>程序2：</a:t>
            </a:r>
          </a:p>
          <a:p>
            <a:pPr>
              <a:lnSpc>
                <a:spcPct val="150000"/>
              </a:lnSpc>
            </a:pPr>
            <a:r>
              <a:rPr lang="en-US" altLang="zh-CN" sz="1600" dirty="0">
                <a:solidFill>
                  <a:schemeClr val="tx1">
                    <a:lumMod val="75000"/>
                    <a:lumOff val="25000"/>
                  </a:schemeClr>
                </a:solidFill>
              </a:rPr>
              <a:t>try: </a:t>
            </a:r>
          </a:p>
          <a:p>
            <a:pPr>
              <a:lnSpc>
                <a:spcPct val="150000"/>
              </a:lnSpc>
            </a:pPr>
            <a:r>
              <a:rPr lang="en-US" altLang="zh-CN" sz="1600" dirty="0">
                <a:solidFill>
                  <a:schemeClr val="tx1">
                    <a:lumMod val="75000"/>
                    <a:lumOff val="25000"/>
                  </a:schemeClr>
                </a:solidFill>
              </a:rPr>
              <a:t>    raise </a:t>
            </a:r>
            <a:r>
              <a:rPr lang="en-US" altLang="zh-CN" sz="1600" dirty="0" err="1">
                <a:solidFill>
                  <a:schemeClr val="tx1">
                    <a:lumMod val="75000"/>
                    <a:lumOff val="25000"/>
                  </a:schemeClr>
                </a:solidFill>
              </a:rPr>
              <a:t>NameError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NameError</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except NameError as e: </a:t>
            </a:r>
          </a:p>
          <a:p>
            <a:pPr>
              <a:lnSpc>
                <a:spcPct val="150000"/>
              </a:lnSpc>
            </a:pPr>
            <a:r>
              <a:rPr lang="en-US" altLang="zh-CN" sz="1600" dirty="0">
                <a:solidFill>
                  <a:schemeClr val="tx1">
                    <a:lumMod val="75000"/>
                    <a:lumOff val="25000"/>
                  </a:schemeClr>
                </a:solidFill>
              </a:rPr>
              <a:t>    print(e) </a:t>
            </a:r>
          </a:p>
        </p:txBody>
      </p:sp>
      <p:pic>
        <p:nvPicPr>
          <p:cNvPr id="11" name="图片 10"/>
          <p:cNvPicPr>
            <a:picLocks noChangeAspect="1" noChangeArrowheads="1"/>
          </p:cNvPicPr>
          <p:nvPr/>
        </p:nvPicPr>
        <p:blipFill>
          <a:blip r:embed="rId3" cstate="print"/>
          <a:srcRect/>
          <a:stretch>
            <a:fillRect/>
          </a:stretch>
        </p:blipFill>
        <p:spPr>
          <a:xfrm>
            <a:off x="5942926" y="4814475"/>
            <a:ext cx="1542576" cy="341736"/>
          </a:xfrm>
          <a:prstGeom prst="rect">
            <a:avLst/>
          </a:prstGeom>
          <a:noFill/>
          <a:ln w="9525">
            <a:noFill/>
            <a:miter lim="800000"/>
            <a:headEnd/>
            <a:tailEnd/>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12" name="矩形 11"/>
          <p:cNvSpPr/>
          <p:nvPr/>
        </p:nvSpPr>
        <p:spPr>
          <a:xfrm>
            <a:off x="1166143" y="1512083"/>
            <a:ext cx="4572000" cy="3784600"/>
          </a:xfrm>
          <a:prstGeom prst="rect">
            <a:avLst/>
          </a:prstGeom>
        </p:spPr>
        <p:txBody>
          <a:bodyPr>
            <a:spAutoFit/>
          </a:bodyPr>
          <a:lstStyle/>
          <a:p>
            <a:pPr algn="l">
              <a:lnSpc>
                <a:spcPct val="150000"/>
              </a:lnSpc>
              <a:buClrTx/>
              <a:buSzTx/>
              <a:buNone/>
            </a:pPr>
            <a:r>
              <a:rPr lang="en-US" altLang="zh-CN" sz="1600" dirty="0">
                <a:solidFill>
                  <a:schemeClr val="tx1">
                    <a:lumMod val="75000"/>
                    <a:lumOff val="25000"/>
                  </a:schemeClr>
                </a:solidFill>
              </a:rPr>
              <a:t>#raise语句的使用</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try:</a:t>
            </a:r>
          </a:p>
          <a:p>
            <a:pPr algn="l">
              <a:lnSpc>
                <a:spcPct val="150000"/>
              </a:lnSpc>
              <a:buClrTx/>
              <a:buSzTx/>
              <a:buNone/>
            </a:pPr>
            <a:r>
              <a:rPr lang="en-US" altLang="zh-CN" sz="1600" dirty="0">
                <a:solidFill>
                  <a:schemeClr val="tx1">
                    <a:lumMod val="75000"/>
                    <a:lumOff val="25000"/>
                  </a:schemeClr>
                </a:solidFill>
              </a:rPr>
              <a:t>        a = 1/0</a:t>
            </a:r>
          </a:p>
          <a:p>
            <a:pPr algn="l">
              <a:lnSpc>
                <a:spcPct val="150000"/>
              </a:lnSpc>
              <a:buClrTx/>
              <a:buSzTx/>
              <a:buNone/>
            </a:pPr>
            <a:r>
              <a:rPr lang="en-US" altLang="zh-CN" sz="1600" dirty="0">
                <a:solidFill>
                  <a:schemeClr val="tx1">
                    <a:lumMod val="75000"/>
                    <a:lumOff val="25000"/>
                  </a:schemeClr>
                </a:solidFill>
              </a:rPr>
              <a:t>    except ZeroDivisionError as e:</a:t>
            </a:r>
          </a:p>
          <a:p>
            <a:pPr algn="l">
              <a:lnSpc>
                <a:spcPct val="150000"/>
              </a:lnSpc>
              <a:buClrTx/>
              <a:buSzTx/>
              <a:buNone/>
            </a:pPr>
            <a:r>
              <a:rPr lang="en-US" altLang="zh-CN" sz="1600" dirty="0">
                <a:solidFill>
                  <a:schemeClr val="tx1">
                    <a:lumMod val="75000"/>
                    <a:lumOff val="25000"/>
                  </a:schemeClr>
                </a:solidFill>
              </a:rPr>
              <a:t>        print("内层异常：", e) </a:t>
            </a:r>
          </a:p>
          <a:p>
            <a:pPr algn="l">
              <a:lnSpc>
                <a:spcPct val="150000"/>
              </a:lnSpc>
              <a:buClrTx/>
              <a:buSzTx/>
              <a:buNone/>
            </a:pPr>
            <a:r>
              <a:rPr lang="en-US" altLang="zh-CN" sz="1600" dirty="0">
                <a:solidFill>
                  <a:schemeClr val="tx1">
                    <a:lumMod val="75000"/>
                    <a:lumOff val="25000"/>
                  </a:schemeClr>
                </a:solidFill>
              </a:rPr>
              <a:t>        raise </a:t>
            </a:r>
          </a:p>
          <a:p>
            <a:pPr algn="l">
              <a:lnSpc>
                <a:spcPct val="150000"/>
              </a:lnSpc>
              <a:buClrTx/>
              <a:buSzTx/>
              <a:buNone/>
            </a:pPr>
            <a:r>
              <a:rPr lang="en-US" altLang="zh-CN" sz="1600" dirty="0">
                <a:solidFill>
                  <a:schemeClr val="tx1">
                    <a:lumMod val="75000"/>
                    <a:lumOff val="25000"/>
                  </a:schemeClr>
                </a:solidFill>
              </a:rPr>
              <a:t>        #前后对比，理解raise语句的作用</a:t>
            </a:r>
          </a:p>
          <a:p>
            <a:pPr algn="l">
              <a:lnSpc>
                <a:spcPct val="150000"/>
              </a:lnSpc>
              <a:buClrTx/>
              <a:buSzTx/>
              <a:buNone/>
            </a:pPr>
            <a:r>
              <a:rPr lang="en-US" altLang="zh-CN" sz="1600" dirty="0">
                <a:solidFill>
                  <a:schemeClr val="tx1">
                    <a:lumMod val="75000"/>
                    <a:lumOff val="25000"/>
                  </a:schemeClr>
                </a:solidFill>
              </a:rPr>
              <a:t>except ZeroDivisionError as e:  </a:t>
            </a:r>
          </a:p>
          <a:p>
            <a:pPr algn="l">
              <a:lnSpc>
                <a:spcPct val="150000"/>
              </a:lnSpc>
              <a:buClrTx/>
              <a:buSzTx/>
              <a:buNone/>
            </a:pPr>
            <a:r>
              <a:rPr lang="en-US" altLang="zh-CN" sz="1600" dirty="0">
                <a:solidFill>
                  <a:schemeClr val="tx1">
                    <a:lumMod val="75000"/>
                    <a:lumOff val="25000"/>
                  </a:schemeClr>
                </a:solidFill>
              </a:rPr>
              <a:t>    print("外层异常：", e) </a:t>
            </a:r>
          </a:p>
        </p:txBody>
      </p:sp>
      <p:sp>
        <p:nvSpPr>
          <p:cNvPr id="13" name="TextBox 78"/>
          <p:cNvSpPr txBox="1"/>
          <p:nvPr/>
        </p:nvSpPr>
        <p:spPr>
          <a:xfrm>
            <a:off x="5420677" y="1508908"/>
            <a:ext cx="3705302" cy="366141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#没有raise语句</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try:</a:t>
            </a:r>
          </a:p>
          <a:p>
            <a:pPr algn="l">
              <a:lnSpc>
                <a:spcPct val="150000"/>
              </a:lnSpc>
              <a:buClrTx/>
              <a:buSzTx/>
              <a:buNone/>
            </a:pPr>
            <a:r>
              <a:rPr lang="en-US" altLang="zh-CN" sz="1600" dirty="0">
                <a:solidFill>
                  <a:schemeClr val="tx1">
                    <a:lumMod val="75000"/>
                    <a:lumOff val="25000"/>
                  </a:schemeClr>
                </a:solidFill>
              </a:rPr>
              <a:t>        a = 1/0</a:t>
            </a:r>
          </a:p>
          <a:p>
            <a:pPr algn="l">
              <a:lnSpc>
                <a:spcPct val="150000"/>
              </a:lnSpc>
              <a:buClrTx/>
              <a:buSzTx/>
              <a:buNone/>
            </a:pPr>
            <a:r>
              <a:rPr lang="en-US" altLang="zh-CN" sz="1600" dirty="0">
                <a:solidFill>
                  <a:schemeClr val="tx1">
                    <a:lumMod val="75000"/>
                    <a:lumOff val="25000"/>
                  </a:schemeClr>
                </a:solidFill>
              </a:rPr>
              <a:t>    except ZeroDivisionError as e:</a:t>
            </a:r>
          </a:p>
          <a:p>
            <a:pPr algn="l">
              <a:lnSpc>
                <a:spcPct val="150000"/>
              </a:lnSpc>
              <a:buClrTx/>
              <a:buSzTx/>
              <a:buNone/>
            </a:pPr>
            <a:r>
              <a:rPr lang="en-US" altLang="zh-CN" sz="1600" dirty="0">
                <a:solidFill>
                  <a:schemeClr val="tx1">
                    <a:lumMod val="75000"/>
                    <a:lumOff val="25000"/>
                  </a:schemeClr>
                </a:solidFill>
              </a:rPr>
              <a:t>        print("内层异常：", e)</a:t>
            </a:r>
          </a:p>
          <a:p>
            <a:pPr algn="l">
              <a:lnSpc>
                <a:spcPct val="150000"/>
              </a:lnSpc>
              <a:buClrTx/>
              <a:buSzTx/>
              <a:buNone/>
            </a:pPr>
            <a:r>
              <a:rPr lang="en-US" altLang="zh-CN" sz="1600" dirty="0">
                <a:solidFill>
                  <a:schemeClr val="tx1">
                    <a:lumMod val="75000"/>
                    <a:lumOff val="25000"/>
                  </a:schemeClr>
                </a:solidFill>
              </a:rPr>
              <a:t>        #raise</a:t>
            </a:r>
          </a:p>
          <a:p>
            <a:pPr algn="l">
              <a:lnSpc>
                <a:spcPct val="150000"/>
              </a:lnSpc>
              <a:buClrTx/>
              <a:buSzTx/>
              <a:buNone/>
            </a:pPr>
            <a:r>
              <a:rPr lang="en-US" altLang="zh-CN" sz="1600" dirty="0">
                <a:solidFill>
                  <a:schemeClr val="tx1">
                    <a:lumMod val="75000"/>
                    <a:lumOff val="25000"/>
                  </a:schemeClr>
                </a:solidFill>
              </a:rPr>
              <a:t>except ZeroDivisionError as e:</a:t>
            </a:r>
          </a:p>
          <a:p>
            <a:pPr algn="l">
              <a:lnSpc>
                <a:spcPct val="150000"/>
              </a:lnSpc>
              <a:buClrTx/>
              <a:buSzTx/>
              <a:buNone/>
            </a:pPr>
            <a:r>
              <a:rPr lang="en-US" altLang="zh-CN" sz="1600" dirty="0">
                <a:solidFill>
                  <a:schemeClr val="tx1">
                    <a:lumMod val="75000"/>
                    <a:lumOff val="25000"/>
                  </a:schemeClr>
                </a:solidFill>
              </a:rPr>
              <a:t>    print("外层异常：", e) </a:t>
            </a:r>
            <a:endParaRPr lang="zh-CN" altLang="en-US" sz="1600" dirty="0"/>
          </a:p>
          <a:p>
            <a:endParaRPr lang="zh-CN" altLang="en-US" sz="1600" dirty="0"/>
          </a:p>
        </p:txBody>
      </p:sp>
      <p:pic>
        <p:nvPicPr>
          <p:cNvPr id="14" name="Picture 2"/>
          <p:cNvPicPr>
            <a:picLocks noChangeAspect="1" noChangeArrowheads="1"/>
          </p:cNvPicPr>
          <p:nvPr/>
        </p:nvPicPr>
        <p:blipFill>
          <a:blip r:embed="rId2" cstate="print"/>
          <a:srcRect/>
          <a:stretch>
            <a:fillRect/>
          </a:stretch>
        </p:blipFill>
        <p:spPr bwMode="auto">
          <a:xfrm>
            <a:off x="1345476" y="5296929"/>
            <a:ext cx="2190750" cy="542925"/>
          </a:xfrm>
          <a:prstGeom prst="rect">
            <a:avLst/>
          </a:prstGeom>
          <a:noFill/>
          <a:ln w="9525">
            <a:noFill/>
            <a:miter lim="800000"/>
            <a:headEnd/>
            <a:tailEnd/>
          </a:ln>
        </p:spPr>
      </p:pic>
      <p:pic>
        <p:nvPicPr>
          <p:cNvPr id="15" name="Picture 3"/>
          <p:cNvPicPr>
            <a:picLocks noChangeAspect="1" noChangeArrowheads="1"/>
          </p:cNvPicPr>
          <p:nvPr/>
        </p:nvPicPr>
        <p:blipFill>
          <a:blip r:embed="rId3" cstate="print"/>
          <a:srcRect/>
          <a:stretch>
            <a:fillRect/>
          </a:stretch>
        </p:blipFill>
        <p:spPr bwMode="auto">
          <a:xfrm>
            <a:off x="5633688" y="4884491"/>
            <a:ext cx="2171700" cy="285750"/>
          </a:xfrm>
          <a:prstGeom prst="rect">
            <a:avLst/>
          </a:prstGeom>
          <a:noFill/>
          <a:ln w="9525">
            <a:noFill/>
            <a:miter lim="800000"/>
            <a:headEnd/>
            <a:tailEnd/>
          </a:ln>
        </p:spPr>
      </p:pic>
      <p:sp>
        <p:nvSpPr>
          <p:cNvPr id="16" name="矩形 15"/>
          <p:cNvSpPr/>
          <p:nvPr/>
        </p:nvSpPr>
        <p:spPr>
          <a:xfrm>
            <a:off x="1345352" y="5965987"/>
            <a:ext cx="9554296" cy="829945"/>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以上两段代码表明：内层try语句用raise语句将异常原样抛给外层try语句。</a:t>
            </a:r>
          </a:p>
          <a:p>
            <a:pPr algn="l">
              <a:lnSpc>
                <a:spcPct val="150000"/>
              </a:lnSpc>
              <a:buClrTx/>
              <a:buSzTx/>
              <a:buNone/>
            </a:pPr>
            <a:r>
              <a:rPr lang="en-US" altLang="zh-CN" sz="1600" dirty="0">
                <a:solidFill>
                  <a:schemeClr val="tx1">
                    <a:lumMod val="75000"/>
                    <a:lumOff val="25000"/>
                  </a:schemeClr>
                </a:solidFill>
              </a:rPr>
              <a:t>                              raise是关键字，主动触发一个错误。</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文件与目录操作</a:t>
            </a:r>
            <a:endParaRPr lang="en-US" altLang="zh-CN" dirty="0"/>
          </a:p>
          <a:p>
            <a:r>
              <a:rPr lang="zh-CN" altLang="en-US" dirty="0"/>
              <a:t>常见文件格式处理</a:t>
            </a:r>
            <a:endParaRPr lang="en-US" altLang="zh-CN" dirty="0"/>
          </a:p>
          <a:p>
            <a:r>
              <a:rPr lang="zh-CN" altLang="en-US" dirty="0"/>
              <a:t>异常</a:t>
            </a:r>
            <a:endParaRPr lang="en-US" altLang="zh-CN" dirty="0"/>
          </a:p>
          <a:p>
            <a:r>
              <a:rPr lang="zh-CN" altLang="en-US" dirty="0">
                <a:solidFill>
                  <a:srgbClr val="FF0000"/>
                </a:solidFill>
              </a:rPr>
              <a:t>断言</a:t>
            </a:r>
            <a:endParaRPr lang="en-US" altLang="zh-CN" dirty="0">
              <a:solidFill>
                <a:srgbClr val="FF0000"/>
              </a:solidFill>
            </a:endParaRPr>
          </a:p>
          <a:p>
            <a:r>
              <a:rPr lang="zh-CN" altLang="en-US" dirty="0"/>
              <a:t>日志</a:t>
            </a:r>
            <a:endParaRPr lang="en-US" altLang="zh-CN" dirty="0"/>
          </a:p>
          <a:p>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9" name="矩形 8"/>
          <p:cNvSpPr/>
          <p:nvPr/>
        </p:nvSpPr>
        <p:spPr>
          <a:xfrm>
            <a:off x="887192" y="1562838"/>
            <a:ext cx="10231912" cy="2677656"/>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断言（assert）是一个调试工具，用来检查代码的正确性。它用来判断一个条件，如果条件为真，说明断言成功，则不采取任何措施，即不抛出异常；否则（条件不成立），触发AssertionError（断言错误）的异常。</a:t>
            </a:r>
          </a:p>
          <a:p>
            <a:pPr algn="l">
              <a:lnSpc>
                <a:spcPct val="150000"/>
              </a:lnSpc>
              <a:buClrTx/>
              <a:buSzTx/>
              <a:buNone/>
            </a:pPr>
            <a:r>
              <a:rPr lang="en-US" altLang="zh-CN" sz="1600" dirty="0">
                <a:solidFill>
                  <a:schemeClr val="tx1">
                    <a:lumMod val="75000"/>
                    <a:lumOff val="25000"/>
                  </a:schemeClr>
                </a:solidFill>
              </a:rPr>
              <a:t>可以在assert后面加任意判断条件，如果条件为假，说明断言失败，则会抛出异常。</a:t>
            </a:r>
          </a:p>
          <a:p>
            <a:pPr algn="l">
              <a:lnSpc>
                <a:spcPct val="150000"/>
              </a:lnSpc>
              <a:buClrTx/>
              <a:buSzTx/>
              <a:buNone/>
            </a:pPr>
            <a:r>
              <a:rPr lang="en-US" altLang="zh-CN" sz="1600" dirty="0">
                <a:solidFill>
                  <a:schemeClr val="tx1">
                    <a:lumMod val="75000"/>
                    <a:lumOff val="25000"/>
                  </a:schemeClr>
                </a:solidFill>
              </a:rPr>
              <a:t>&gt;assert 1 == 1     </a:t>
            </a:r>
          </a:p>
          <a:p>
            <a:pPr algn="l">
              <a:lnSpc>
                <a:spcPct val="150000"/>
              </a:lnSpc>
              <a:buClrTx/>
              <a:buSzTx/>
              <a:buNone/>
            </a:pPr>
            <a:r>
              <a:rPr lang="en-US" altLang="zh-CN" sz="1600" dirty="0">
                <a:solidFill>
                  <a:schemeClr val="tx1">
                    <a:lumMod val="75000"/>
                    <a:lumOff val="25000"/>
                  </a:schemeClr>
                </a:solidFill>
              </a:rPr>
              <a:t> 执行以上命令无任何输出</a:t>
            </a:r>
          </a:p>
          <a:p>
            <a:pPr algn="l">
              <a:lnSpc>
                <a:spcPct val="150000"/>
              </a:lnSpc>
              <a:buClrTx/>
              <a:buSzTx/>
              <a:buNone/>
            </a:pPr>
            <a:r>
              <a:rPr lang="en-US" altLang="zh-CN" sz="1600" dirty="0">
                <a:solidFill>
                  <a:schemeClr val="tx1">
                    <a:lumMod val="75000"/>
                    <a:lumOff val="25000"/>
                  </a:schemeClr>
                </a:solidFill>
              </a:rPr>
              <a:t>&gt; assert 1 == 2</a:t>
            </a:r>
          </a:p>
          <a:p>
            <a:pPr algn="l">
              <a:lnSpc>
                <a:spcPct val="150000"/>
              </a:lnSpc>
              <a:buClrTx/>
              <a:buSzTx/>
              <a:buNone/>
            </a:pPr>
            <a:endParaRPr lang="en-US" altLang="zh-CN" sz="1600" dirty="0">
              <a:solidFill>
                <a:schemeClr val="tx1">
                  <a:lumMod val="75000"/>
                  <a:lumOff val="25000"/>
                </a:schemeClr>
              </a:solidFill>
            </a:endParaRPr>
          </a:p>
        </p:txBody>
      </p:sp>
      <p:pic>
        <p:nvPicPr>
          <p:cNvPr id="10" name="图片 109"/>
          <p:cNvPicPr>
            <a:picLocks noChangeAspect="1" noChangeArrowheads="1"/>
          </p:cNvPicPr>
          <p:nvPr/>
        </p:nvPicPr>
        <p:blipFill>
          <a:blip r:embed="rId2" cstate="print"/>
          <a:srcRect/>
          <a:stretch>
            <a:fillRect/>
          </a:stretch>
        </p:blipFill>
        <p:spPr bwMode="auto">
          <a:xfrm>
            <a:off x="1056625" y="3960005"/>
            <a:ext cx="4012442" cy="1248723"/>
          </a:xfrm>
          <a:prstGeom prst="rect">
            <a:avLst/>
          </a:prstGeom>
          <a:noFill/>
          <a:ln w="9525">
            <a:noFill/>
            <a:miter lim="800000"/>
            <a:headEnd/>
            <a:tailEnd/>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6" name="矩形 5"/>
          <p:cNvSpPr/>
          <p:nvPr/>
        </p:nvSpPr>
        <p:spPr>
          <a:xfrm>
            <a:off x="838200" y="1601958"/>
            <a:ext cx="10332110" cy="3046988"/>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assert语句的语法格式如下：</a:t>
            </a:r>
          </a:p>
          <a:p>
            <a:pPr algn="l">
              <a:lnSpc>
                <a:spcPct val="150000"/>
              </a:lnSpc>
              <a:buClrTx/>
              <a:buSzTx/>
              <a:buNone/>
            </a:pPr>
            <a:r>
              <a:rPr lang="en-US" altLang="zh-CN" sz="1600" dirty="0">
                <a:solidFill>
                  <a:schemeClr val="tx1">
                    <a:lumMod val="75000"/>
                    <a:lumOff val="25000"/>
                  </a:schemeClr>
                </a:solidFill>
              </a:rPr>
              <a:t>assert expression [, arguments]  # assert 表达式 [, 参数]</a:t>
            </a:r>
          </a:p>
          <a:p>
            <a:pPr algn="l">
              <a:lnSpc>
                <a:spcPct val="150000"/>
              </a:lnSpc>
              <a:buClrTx/>
              <a:buSzTx/>
              <a:buNone/>
            </a:pPr>
            <a:r>
              <a:rPr lang="en-US" altLang="zh-CN" sz="1600" dirty="0">
                <a:solidFill>
                  <a:schemeClr val="tx1">
                    <a:lumMod val="75000"/>
                    <a:lumOff val="25000"/>
                  </a:schemeClr>
                </a:solidFill>
              </a:rPr>
              <a:t>assert的异常参数arguments，其实就是在断言表达式后添加的字符串信息，用来解释断言，帮助程序员知道是哪里出了问题。</a:t>
            </a:r>
          </a:p>
          <a:p>
            <a:pPr algn="l">
              <a:lnSpc>
                <a:spcPct val="150000"/>
              </a:lnSpc>
              <a:buClrTx/>
              <a:buSzTx/>
              <a:buNone/>
            </a:pPr>
            <a:r>
              <a:rPr lang="en-US" altLang="zh-CN" sz="1600" dirty="0">
                <a:solidFill>
                  <a:schemeClr val="tx1">
                    <a:lumMod val="75000"/>
                    <a:lumOff val="25000"/>
                  </a:schemeClr>
                </a:solidFill>
              </a:rPr>
              <a:t>说明：（1）如果省略参数[, arguments]，当表达式的值为假时，就会抛出AssertionError异常，等同于如下代码：</a:t>
            </a:r>
          </a:p>
          <a:p>
            <a:pPr algn="l">
              <a:lnSpc>
                <a:spcPct val="150000"/>
              </a:lnSpc>
              <a:buClrTx/>
              <a:buSzTx/>
              <a:buNone/>
            </a:pPr>
            <a:r>
              <a:rPr lang="en-US" altLang="zh-CN" sz="1600" dirty="0">
                <a:solidFill>
                  <a:schemeClr val="tx1">
                    <a:lumMod val="75000"/>
                    <a:lumOff val="25000"/>
                  </a:schemeClr>
                </a:solidFill>
              </a:rPr>
              <a:t>&gt;if not assert_condition:    raise AssertionError </a:t>
            </a:r>
          </a:p>
          <a:p>
            <a:pPr algn="l">
              <a:lnSpc>
                <a:spcPct val="150000"/>
              </a:lnSpc>
              <a:buClrTx/>
              <a:buSzTx/>
              <a:buNone/>
            </a:pPr>
            <a:r>
              <a:rPr lang="en-US" altLang="zh-CN" sz="1600" dirty="0">
                <a:solidFill>
                  <a:schemeClr val="tx1">
                    <a:lumMod val="75000"/>
                    <a:lumOff val="25000"/>
                  </a:schemeClr>
                </a:solidFill>
              </a:rPr>
              <a:t>（2）如果带有参数[, arguments]，当表达式的值为假时，由异常参数arguments来描述异常信息，即由程序员自己给出异常信息。</a:t>
            </a:r>
            <a:endParaRPr lang="zh-CN" altLang="en-US" sz="1600" dirty="0">
              <a:latin typeface="+mn-ea"/>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5" name="矩形 4"/>
          <p:cNvSpPr/>
          <p:nvPr/>
        </p:nvSpPr>
        <p:spPr>
          <a:xfrm>
            <a:off x="838200" y="1479191"/>
            <a:ext cx="10083394" cy="341503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assert语句省略参数[, arguments] 。</a:t>
            </a:r>
          </a:p>
          <a:p>
            <a:pPr algn="l">
              <a:lnSpc>
                <a:spcPct val="150000"/>
              </a:lnSpc>
              <a:buClrTx/>
              <a:buSzTx/>
              <a:buNone/>
            </a:pPr>
            <a:r>
              <a:rPr lang="en-US" altLang="zh-CN" sz="1600" dirty="0">
                <a:solidFill>
                  <a:schemeClr val="tx1">
                    <a:lumMod val="75000"/>
                    <a:lumOff val="25000"/>
                  </a:schemeClr>
                </a:solidFill>
              </a:rPr>
              <a:t>&gt;assert 2==1 </a:t>
            </a:r>
          </a:p>
          <a:p>
            <a:pPr algn="l">
              <a:lnSpc>
                <a:spcPct val="150000"/>
              </a:lnSpc>
              <a:buClrTx/>
              <a:buSzTx/>
              <a:buFont typeface="Wingdings" panose="05000000000000000000"/>
              <a:buChar char="Ø"/>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【例】  assert语句省略参数[, arguments] 。</a:t>
            </a:r>
          </a:p>
          <a:p>
            <a:pPr algn="l">
              <a:lnSpc>
                <a:spcPct val="150000"/>
              </a:lnSpc>
              <a:buClrTx/>
              <a:buSzTx/>
              <a:buNone/>
            </a:pPr>
            <a:r>
              <a:rPr lang="en-US" altLang="zh-CN" sz="1600" dirty="0">
                <a:solidFill>
                  <a:schemeClr val="tx1">
                    <a:lumMod val="75000"/>
                    <a:lumOff val="25000"/>
                  </a:schemeClr>
                </a:solidFill>
              </a:rPr>
              <a:t>&gt;ls = [1,2,3,4,5,6]</a:t>
            </a:r>
          </a:p>
          <a:p>
            <a:pPr algn="l">
              <a:lnSpc>
                <a:spcPct val="150000"/>
              </a:lnSpc>
              <a:buClrTx/>
              <a:buSzTx/>
              <a:buNone/>
            </a:pPr>
            <a:r>
              <a:rPr lang="en-US" altLang="zh-CN" sz="1600" dirty="0">
                <a:solidFill>
                  <a:schemeClr val="tx1">
                    <a:lumMod val="75000"/>
                    <a:lumOff val="25000"/>
                  </a:schemeClr>
                </a:solidFill>
              </a:rPr>
              <a:t>&gt; assert len(ls) &gt;= 7</a:t>
            </a:r>
          </a:p>
        </p:txBody>
      </p:sp>
      <p:pic>
        <p:nvPicPr>
          <p:cNvPr id="7" name="图片 112"/>
          <p:cNvPicPr>
            <a:picLocks noChangeAspect="1" noChangeArrowheads="1"/>
          </p:cNvPicPr>
          <p:nvPr/>
        </p:nvPicPr>
        <p:blipFill>
          <a:blip r:embed="rId2" cstate="print"/>
          <a:srcRect/>
          <a:stretch>
            <a:fillRect/>
          </a:stretch>
        </p:blipFill>
        <p:spPr bwMode="auto">
          <a:xfrm>
            <a:off x="1103593" y="2303198"/>
            <a:ext cx="4109386" cy="1241948"/>
          </a:xfrm>
          <a:prstGeom prst="rect">
            <a:avLst/>
          </a:prstGeom>
          <a:noFill/>
          <a:ln w="9525">
            <a:noFill/>
            <a:miter lim="800000"/>
            <a:headEnd/>
            <a:tailEnd/>
          </a:ln>
        </p:spPr>
      </p:pic>
      <p:pic>
        <p:nvPicPr>
          <p:cNvPr id="8" name="图片 115"/>
          <p:cNvPicPr>
            <a:picLocks noChangeAspect="1" noChangeArrowheads="1"/>
          </p:cNvPicPr>
          <p:nvPr/>
        </p:nvPicPr>
        <p:blipFill>
          <a:blip r:embed="rId3" cstate="print"/>
          <a:srcRect/>
          <a:stretch>
            <a:fillRect/>
          </a:stretch>
        </p:blipFill>
        <p:spPr bwMode="auto">
          <a:xfrm>
            <a:off x="1103498" y="4894073"/>
            <a:ext cx="4359172" cy="1282890"/>
          </a:xfrm>
          <a:prstGeom prst="rect">
            <a:avLst/>
          </a:prstGeom>
          <a:noFill/>
          <a:ln w="9525">
            <a:noFill/>
            <a:miter lim="800000"/>
            <a:headEnd/>
            <a:tailEnd/>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9" name="矩形 8"/>
          <p:cNvSpPr/>
          <p:nvPr/>
        </p:nvSpPr>
        <p:spPr>
          <a:xfrm>
            <a:off x="838200" y="1690688"/>
            <a:ext cx="10207752" cy="341503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assert语句省略参数[, arguments] 。</a:t>
            </a:r>
          </a:p>
          <a:p>
            <a:pPr algn="l">
              <a:lnSpc>
                <a:spcPct val="150000"/>
              </a:lnSpc>
              <a:buClrTx/>
              <a:buSzTx/>
              <a:buNone/>
            </a:pPr>
            <a:r>
              <a:rPr lang="en-US" altLang="zh-CN" sz="1600" dirty="0">
                <a:solidFill>
                  <a:schemeClr val="tx1">
                    <a:lumMod val="75000"/>
                    <a:lumOff val="25000"/>
                  </a:schemeClr>
                </a:solidFill>
              </a:rPr>
              <a:t>&gt;assert isinstance(2, int)   #这句的条件为真</a:t>
            </a:r>
          </a:p>
          <a:p>
            <a:pPr algn="l">
              <a:lnSpc>
                <a:spcPct val="150000"/>
              </a:lnSpc>
              <a:buClrTx/>
              <a:buSzTx/>
              <a:buNone/>
            </a:pPr>
            <a:r>
              <a:rPr lang="en-US" altLang="zh-CN" sz="1600" dirty="0">
                <a:solidFill>
                  <a:schemeClr val="tx1">
                    <a:lumMod val="75000"/>
                    <a:lumOff val="25000"/>
                  </a:schemeClr>
                </a:solidFill>
              </a:rPr>
              <a:t>&gt;assert isinstance("2", int)  #这句的条件为假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说明：isinstance(object,classinfo)是Python的一个内置函数，用于判断一个对象是否是一个已知的类型，如果object的类型与classinfo相同，则返回True；否则，返回False。</a:t>
            </a:r>
          </a:p>
        </p:txBody>
      </p:sp>
      <p:pic>
        <p:nvPicPr>
          <p:cNvPr id="10" name="图片 118"/>
          <p:cNvPicPr>
            <a:picLocks noChangeAspect="1" noChangeArrowheads="1"/>
          </p:cNvPicPr>
          <p:nvPr/>
        </p:nvPicPr>
        <p:blipFill>
          <a:blip r:embed="rId2" cstate="print"/>
          <a:srcRect/>
          <a:stretch>
            <a:fillRect/>
          </a:stretch>
        </p:blipFill>
        <p:spPr bwMode="auto">
          <a:xfrm>
            <a:off x="1139997" y="2858467"/>
            <a:ext cx="4500144" cy="1378423"/>
          </a:xfrm>
          <a:prstGeom prst="rect">
            <a:avLst/>
          </a:prstGeom>
          <a:noFill/>
          <a:ln w="9525">
            <a:noFill/>
            <a:miter lim="800000"/>
            <a:headEnd/>
            <a:tailEnd/>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7" name="矩形 6"/>
          <p:cNvSpPr/>
          <p:nvPr/>
        </p:nvSpPr>
        <p:spPr>
          <a:xfrm>
            <a:off x="838200" y="1595755"/>
            <a:ext cx="10185806" cy="5262245"/>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带异常参数的assert示例。</a:t>
            </a:r>
          </a:p>
          <a:p>
            <a:pPr algn="l">
              <a:lnSpc>
                <a:spcPct val="150000"/>
              </a:lnSpc>
              <a:buClrTx/>
              <a:buSzTx/>
              <a:buNone/>
            </a:pPr>
            <a:r>
              <a:rPr lang="en-US" altLang="zh-CN" sz="1600" dirty="0">
                <a:solidFill>
                  <a:schemeClr val="tx1">
                    <a:lumMod val="75000"/>
                    <a:lumOff val="25000"/>
                  </a:schemeClr>
                </a:solidFill>
              </a:rPr>
              <a:t>&gt;assert 2==1," 2不等于1！" </a:t>
            </a:r>
          </a:p>
          <a:p>
            <a:pPr algn="l">
              <a:lnSpc>
                <a:spcPct val="150000"/>
              </a:lnSpc>
              <a:buClrTx/>
              <a:buSzTx/>
              <a:buFont typeface="Wingdings" panose="05000000000000000000"/>
              <a:buChar char="Ø"/>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Font typeface="Wingdings" panose="05000000000000000000"/>
              <a:buChar char="Ø"/>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【例】  带异常参数的assert示例。</a:t>
            </a:r>
          </a:p>
          <a:p>
            <a:pPr algn="l">
              <a:lnSpc>
                <a:spcPct val="150000"/>
              </a:lnSpc>
              <a:buClrTx/>
              <a:buSzTx/>
              <a:buNone/>
            </a:pPr>
            <a:r>
              <a:rPr lang="en-US" altLang="zh-CN" sz="1600" dirty="0">
                <a:solidFill>
                  <a:schemeClr val="tx1">
                    <a:lumMod val="75000"/>
                    <a:lumOff val="25000"/>
                  </a:schemeClr>
                </a:solidFill>
              </a:rPr>
              <a:t>&gt; ls = [1,2,3,4,5,6]</a:t>
            </a:r>
          </a:p>
          <a:p>
            <a:pPr algn="l">
              <a:lnSpc>
                <a:spcPct val="150000"/>
              </a:lnSpc>
              <a:buClrTx/>
              <a:buSzTx/>
              <a:buNone/>
            </a:pPr>
            <a:r>
              <a:rPr lang="en-US" altLang="zh-CN" sz="1600" dirty="0">
                <a:solidFill>
                  <a:schemeClr val="tx1">
                    <a:lumMod val="75000"/>
                    <a:lumOff val="25000"/>
                  </a:schemeClr>
                </a:solidFill>
              </a:rPr>
              <a:t>&gt; assert len(ls) &gt;= 7, "列表ls中元素个数小于7"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由于条件“len(ls) &gt;= 7”不成立，所以，抛出了异常。</a:t>
            </a:r>
          </a:p>
        </p:txBody>
      </p:sp>
      <p:pic>
        <p:nvPicPr>
          <p:cNvPr id="8" name="图片 121"/>
          <p:cNvPicPr>
            <a:picLocks noChangeAspect="1" noChangeArrowheads="1"/>
          </p:cNvPicPr>
          <p:nvPr/>
        </p:nvPicPr>
        <p:blipFill>
          <a:blip r:embed="rId3" cstate="print"/>
          <a:srcRect/>
          <a:stretch>
            <a:fillRect/>
          </a:stretch>
        </p:blipFill>
        <p:spPr bwMode="auto">
          <a:xfrm>
            <a:off x="1101878" y="2410577"/>
            <a:ext cx="4541658" cy="1201003"/>
          </a:xfrm>
          <a:prstGeom prst="rect">
            <a:avLst/>
          </a:prstGeom>
          <a:noFill/>
          <a:ln w="9525">
            <a:noFill/>
            <a:miter lim="800000"/>
            <a:headEnd/>
            <a:tailEnd/>
          </a:ln>
        </p:spPr>
      </p:pic>
      <p:pic>
        <p:nvPicPr>
          <p:cNvPr id="11" name="图片 124"/>
          <p:cNvPicPr>
            <a:picLocks noChangeAspect="1" noChangeArrowheads="1"/>
          </p:cNvPicPr>
          <p:nvPr/>
        </p:nvPicPr>
        <p:blipFill>
          <a:blip r:embed="rId4" cstate="print"/>
          <a:srcRect/>
          <a:stretch>
            <a:fillRect/>
          </a:stretch>
        </p:blipFill>
        <p:spPr bwMode="auto">
          <a:xfrm>
            <a:off x="1101908" y="4990385"/>
            <a:ext cx="5172501" cy="1358046"/>
          </a:xfrm>
          <a:prstGeom prst="rect">
            <a:avLst/>
          </a:prstGeom>
          <a:noFill/>
          <a:ln w="9525">
            <a:noFill/>
            <a:miter lim="800000"/>
            <a:headEnd/>
            <a:tailEnd/>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9" name="矩形 8"/>
          <p:cNvSpPr/>
          <p:nvPr/>
        </p:nvSpPr>
        <p:spPr>
          <a:xfrm>
            <a:off x="1041016" y="1690688"/>
            <a:ext cx="9895208" cy="2676525"/>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AssertionError异常和其他的异常一样可以用try-except语句捕获，但是如果没有被捕获，则它将终止程序运行而且提供一个Traceback，例如：</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#无try-except语句捕获异常</a:t>
            </a:r>
          </a:p>
          <a:p>
            <a:pPr algn="l">
              <a:lnSpc>
                <a:spcPct val="150000"/>
              </a:lnSpc>
              <a:buClrTx/>
              <a:buSzTx/>
              <a:buNone/>
            </a:pPr>
            <a:r>
              <a:rPr lang="en-US" altLang="zh-CN" sz="1600" dirty="0">
                <a:solidFill>
                  <a:schemeClr val="tx1">
                    <a:lumMod val="75000"/>
                    <a:lumOff val="25000"/>
                  </a:schemeClr>
                </a:solidFill>
              </a:rPr>
              <a:t>a = input("请输入一个数字而非字符串：")</a:t>
            </a:r>
          </a:p>
          <a:p>
            <a:pPr algn="l">
              <a:lnSpc>
                <a:spcPct val="150000"/>
              </a:lnSpc>
              <a:buClrTx/>
              <a:buSzTx/>
              <a:buNone/>
            </a:pPr>
            <a:r>
              <a:rPr lang="en-US" altLang="zh-CN" sz="1600" dirty="0">
                <a:solidFill>
                  <a:schemeClr val="tx1">
                    <a:lumMod val="75000"/>
                    <a:lumOff val="25000"/>
                  </a:schemeClr>
                </a:solidFill>
              </a:rPr>
              <a:t>b = int(a) * 2</a:t>
            </a:r>
          </a:p>
          <a:p>
            <a:pPr algn="l">
              <a:lnSpc>
                <a:spcPct val="150000"/>
              </a:lnSpc>
              <a:buClrTx/>
              <a:buSzTx/>
              <a:buNone/>
            </a:pPr>
            <a:r>
              <a:rPr lang="en-US" altLang="zh-CN" sz="1600" dirty="0">
                <a:solidFill>
                  <a:schemeClr val="tx1">
                    <a:lumMod val="75000"/>
                    <a:lumOff val="25000"/>
                  </a:schemeClr>
                </a:solidFill>
              </a:rPr>
              <a:t>print("{}*2={}".format(a,b))</a:t>
            </a:r>
          </a:p>
        </p:txBody>
      </p:sp>
      <p:pic>
        <p:nvPicPr>
          <p:cNvPr id="10" name="图片 139"/>
          <p:cNvPicPr>
            <a:picLocks noChangeAspect="1" noChangeArrowheads="1"/>
          </p:cNvPicPr>
          <p:nvPr/>
        </p:nvPicPr>
        <p:blipFill>
          <a:blip r:embed="rId2" cstate="print"/>
          <a:srcRect/>
          <a:stretch>
            <a:fillRect/>
          </a:stretch>
        </p:blipFill>
        <p:spPr bwMode="auto">
          <a:xfrm>
            <a:off x="1330453" y="4367185"/>
            <a:ext cx="6441744" cy="1916829"/>
          </a:xfrm>
          <a:prstGeom prst="rect">
            <a:avLst/>
          </a:prstGeom>
          <a:noFill/>
          <a:ln w="9525">
            <a:noFill/>
            <a:miter lim="800000"/>
            <a:headEnd/>
            <a:tailEnd/>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6" name="矩形 5"/>
          <p:cNvSpPr/>
          <p:nvPr/>
        </p:nvSpPr>
        <p:spPr>
          <a:xfrm>
            <a:off x="992181" y="1580832"/>
            <a:ext cx="10083032" cy="4401205"/>
          </a:xfrm>
          <a:prstGeom prst="rect">
            <a:avLst/>
          </a:prstGeom>
        </p:spPr>
        <p:txBody>
          <a:bodyPr wrap="square">
            <a:spAutoFit/>
          </a:bodyPr>
          <a:lstStyle/>
          <a:p>
            <a:endParaRPr lang="en-US" sz="1600" dirty="0"/>
          </a:p>
          <a:p>
            <a:pPr algn="l">
              <a:lnSpc>
                <a:spcPct val="150000"/>
              </a:lnSpc>
              <a:buClrTx/>
              <a:buSzTx/>
              <a:buNone/>
            </a:pPr>
            <a:r>
              <a:rPr lang="en-US" altLang="zh-CN" sz="1600" dirty="0">
                <a:solidFill>
                  <a:schemeClr val="tx1">
                    <a:lumMod val="75000"/>
                    <a:lumOff val="25000"/>
                  </a:schemeClr>
                </a:solidFill>
              </a:rPr>
              <a:t>【例】  用try-except语句来捕获异常。要求输入一个数值进行运算，如果输入的是一个非数值数据，则抛出异常。</a:t>
            </a:r>
          </a:p>
          <a:p>
            <a:pPr algn="l">
              <a:lnSpc>
                <a:spcPct val="150000"/>
              </a:lnSpc>
              <a:buClrTx/>
              <a:buSzTx/>
              <a:buNone/>
            </a:pPr>
            <a:r>
              <a:rPr lang="en-US" altLang="zh-CN" sz="1600" dirty="0">
                <a:solidFill>
                  <a:schemeClr val="tx1">
                    <a:lumMod val="75000"/>
                    <a:lumOff val="25000"/>
                  </a:schemeClr>
                </a:solidFill>
              </a:rPr>
              <a:t>a = input("请输入一个数字而非字符串：")</a:t>
            </a:r>
          </a:p>
          <a:p>
            <a:pPr algn="l">
              <a:lnSpc>
                <a:spcPct val="150000"/>
              </a:lnSpc>
              <a:buClrTx/>
              <a:buSzTx/>
              <a:buNone/>
            </a:pPr>
            <a:r>
              <a:rPr lang="en-US" altLang="zh-CN" sz="1600" dirty="0">
                <a:solidFill>
                  <a:schemeClr val="tx1">
                    <a:lumMod val="75000"/>
                    <a:lumOff val="25000"/>
                  </a:schemeClr>
                </a:solidFill>
              </a:rPr>
              <a:t>try:   </a:t>
            </a:r>
          </a:p>
          <a:p>
            <a:pPr algn="l">
              <a:lnSpc>
                <a:spcPct val="150000"/>
              </a:lnSpc>
              <a:buClrTx/>
              <a:buSzTx/>
              <a:buNone/>
            </a:pPr>
            <a:r>
              <a:rPr lang="en-US" altLang="zh-CN" sz="1600" dirty="0">
                <a:solidFill>
                  <a:schemeClr val="tx1">
                    <a:lumMod val="75000"/>
                    <a:lumOff val="25000"/>
                  </a:schemeClr>
                </a:solidFill>
              </a:rPr>
              <a:t>    b = int(a) * 2</a:t>
            </a:r>
          </a:p>
          <a:p>
            <a:pPr algn="l">
              <a:lnSpc>
                <a:spcPct val="150000"/>
              </a:lnSpc>
              <a:buClrTx/>
              <a:buSzTx/>
              <a:buNone/>
            </a:pPr>
            <a:r>
              <a:rPr lang="en-US" altLang="zh-CN" sz="1600" dirty="0">
                <a:solidFill>
                  <a:schemeClr val="tx1">
                    <a:lumMod val="75000"/>
                    <a:lumOff val="25000"/>
                  </a:schemeClr>
                </a:solidFill>
              </a:rPr>
              <a:t>    print("{}*2={}".format(a,b))</a:t>
            </a:r>
          </a:p>
          <a:p>
            <a:pPr algn="l">
              <a:lnSpc>
                <a:spcPct val="150000"/>
              </a:lnSpc>
              <a:buClrTx/>
              <a:buSzTx/>
              <a:buNone/>
            </a:pPr>
            <a:r>
              <a:rPr lang="en-US" altLang="zh-CN" sz="1600" dirty="0">
                <a:solidFill>
                  <a:schemeClr val="tx1">
                    <a:lumMod val="75000"/>
                    <a:lumOff val="25000"/>
                  </a:schemeClr>
                </a:solidFill>
              </a:rPr>
              <a:t>except Exception as e: </a:t>
            </a:r>
          </a:p>
          <a:p>
            <a:pPr algn="l">
              <a:lnSpc>
                <a:spcPct val="150000"/>
              </a:lnSpc>
              <a:buClrTx/>
              <a:buSzTx/>
              <a:buNone/>
            </a:pPr>
            <a:r>
              <a:rPr lang="en-US" altLang="zh-CN" sz="1600" dirty="0">
                <a:solidFill>
                  <a:schemeClr val="tx1">
                    <a:lumMod val="75000"/>
                    <a:lumOff val="25000"/>
                  </a:schemeClr>
                </a:solidFill>
              </a:rPr>
              <a:t>    print("异常原因是：", e)</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   以上程序也可以通过使用assert语句来实现。</a:t>
            </a:r>
          </a:p>
        </p:txBody>
      </p:sp>
      <p:pic>
        <p:nvPicPr>
          <p:cNvPr id="7" name="图片 130"/>
          <p:cNvPicPr>
            <a:picLocks noChangeAspect="1" noChangeArrowheads="1"/>
          </p:cNvPicPr>
          <p:nvPr/>
        </p:nvPicPr>
        <p:blipFill>
          <a:blip r:embed="rId2" cstate="print"/>
          <a:srcRect/>
          <a:stretch>
            <a:fillRect/>
          </a:stretch>
        </p:blipFill>
        <p:spPr bwMode="auto">
          <a:xfrm>
            <a:off x="1095494" y="4511107"/>
            <a:ext cx="6567743" cy="859808"/>
          </a:xfrm>
          <a:prstGeom prst="rect">
            <a:avLst/>
          </a:prstGeom>
          <a:noFill/>
          <a:ln w="9525">
            <a:noFill/>
            <a:miter lim="800000"/>
            <a:headEnd/>
            <a:tailEnd/>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9" name="矩形 8"/>
          <p:cNvSpPr/>
          <p:nvPr/>
        </p:nvSpPr>
        <p:spPr>
          <a:xfrm>
            <a:off x="978220" y="1690688"/>
            <a:ext cx="10177459" cy="3046988"/>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用不带参数的assert语句实现。要求输入一个数值进行运算，如果输入的是一个非数值数据，则抛出异常。</a:t>
            </a:r>
            <a:br>
              <a:rPr lang="en-US" altLang="zh-CN" sz="1600" dirty="0">
                <a:solidFill>
                  <a:schemeClr val="tx1">
                    <a:lumMod val="75000"/>
                    <a:lumOff val="25000"/>
                  </a:schemeClr>
                </a:solidFill>
              </a:rPr>
            </a:br>
            <a:r>
              <a:rPr lang="en-US" altLang="zh-CN" sz="1600" dirty="0">
                <a:solidFill>
                  <a:schemeClr val="tx1">
                    <a:lumMod val="75000"/>
                    <a:lumOff val="25000"/>
                  </a:schemeClr>
                </a:solidFill>
              </a:rPr>
              <a:t>#用来检查一个条件，如果条件为真，就不做任何处理；如果条件为假，则抛出AssertError异常。</a:t>
            </a:r>
          </a:p>
          <a:p>
            <a:pPr algn="l">
              <a:lnSpc>
                <a:spcPct val="150000"/>
              </a:lnSpc>
              <a:buClrTx/>
              <a:buSzTx/>
              <a:buNone/>
            </a:pPr>
            <a:r>
              <a:rPr lang="en-US" altLang="zh-CN" sz="1600" dirty="0">
                <a:solidFill>
                  <a:schemeClr val="tx1">
                    <a:lumMod val="75000"/>
                    <a:lumOff val="25000"/>
                  </a:schemeClr>
                </a:solidFill>
              </a:rPr>
              <a:t>a = input("请输入一个数字而非字符串：")</a:t>
            </a:r>
          </a:p>
          <a:p>
            <a:pPr algn="l">
              <a:lnSpc>
                <a:spcPct val="150000"/>
              </a:lnSpc>
              <a:buClrTx/>
              <a:buSzTx/>
              <a:buNone/>
            </a:pPr>
            <a:r>
              <a:rPr lang="en-US" altLang="zh-CN" sz="1600" dirty="0">
                <a:solidFill>
                  <a:schemeClr val="tx1">
                    <a:lumMod val="75000"/>
                    <a:lumOff val="25000"/>
                  </a:schemeClr>
                </a:solidFill>
              </a:rPr>
              <a:t>assert str(a). isdigit()</a:t>
            </a:r>
          </a:p>
          <a:p>
            <a:pPr algn="l">
              <a:lnSpc>
                <a:spcPct val="150000"/>
              </a:lnSpc>
              <a:buClrTx/>
              <a:buSzTx/>
              <a:buNone/>
            </a:pPr>
            <a:r>
              <a:rPr lang="en-US" altLang="zh-CN" sz="1600" dirty="0">
                <a:solidFill>
                  <a:schemeClr val="tx1">
                    <a:lumMod val="75000"/>
                    <a:lumOff val="25000"/>
                  </a:schemeClr>
                </a:solidFill>
              </a:rPr>
              <a:t>b = int(a) * 2</a:t>
            </a:r>
          </a:p>
          <a:p>
            <a:pPr algn="l">
              <a:lnSpc>
                <a:spcPct val="150000"/>
              </a:lnSpc>
              <a:buClrTx/>
              <a:buSzTx/>
              <a:buNone/>
            </a:pPr>
            <a:r>
              <a:rPr lang="en-US" altLang="zh-CN" sz="1600" dirty="0">
                <a:solidFill>
                  <a:schemeClr val="tx1">
                    <a:lumMod val="75000"/>
                    <a:lumOff val="25000"/>
                  </a:schemeClr>
                </a:solidFill>
              </a:rPr>
              <a:t>print("{}*2={}".format(</a:t>
            </a:r>
            <a:r>
              <a:rPr lang="en-US" altLang="zh-CN" sz="1600" dirty="0" err="1">
                <a:solidFill>
                  <a:schemeClr val="tx1">
                    <a:lumMod val="75000"/>
                    <a:lumOff val="25000"/>
                  </a:schemeClr>
                </a:solidFill>
              </a:rPr>
              <a:t>a,b</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 </a:t>
            </a:r>
          </a:p>
          <a:p>
            <a:pPr algn="l">
              <a:lnSpc>
                <a:spcPct val="150000"/>
              </a:lnSpc>
              <a:buClrTx/>
              <a:buSzTx/>
              <a:buNone/>
            </a:pPr>
            <a:endParaRPr lang="en-US" altLang="zh-CN" sz="1600" dirty="0">
              <a:solidFill>
                <a:schemeClr val="tx1">
                  <a:lumMod val="75000"/>
                  <a:lumOff val="25000"/>
                </a:schemeClr>
              </a:solidFill>
            </a:endParaRPr>
          </a:p>
        </p:txBody>
      </p:sp>
      <p:pic>
        <p:nvPicPr>
          <p:cNvPr id="10" name="图片 136"/>
          <p:cNvPicPr>
            <a:picLocks noChangeAspect="1" noChangeArrowheads="1"/>
          </p:cNvPicPr>
          <p:nvPr/>
        </p:nvPicPr>
        <p:blipFill>
          <a:blip r:embed="rId2" cstate="print"/>
          <a:srcRect/>
          <a:stretch>
            <a:fillRect/>
          </a:stretch>
        </p:blipFill>
        <p:spPr bwMode="auto">
          <a:xfrm>
            <a:off x="1044805" y="4031924"/>
            <a:ext cx="4189863" cy="1768818"/>
          </a:xfrm>
          <a:prstGeom prst="rect">
            <a:avLst/>
          </a:prstGeom>
          <a:noFill/>
          <a:ln w="9525">
            <a:noFill/>
            <a:miter lim="800000"/>
            <a:headEnd/>
            <a:tailEnd/>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6" name="矩形 5"/>
          <p:cNvSpPr/>
          <p:nvPr/>
        </p:nvSpPr>
        <p:spPr>
          <a:xfrm>
            <a:off x="908419" y="1825625"/>
            <a:ext cx="9969283" cy="4892675"/>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用带参数的assert语句实现。要求输入一个数值进行运算，如果输入的是一个非数值数据，则抛出异常，异常信息由程序员自己定义。</a:t>
            </a:r>
          </a:p>
          <a:p>
            <a:pPr algn="l">
              <a:lnSpc>
                <a:spcPct val="150000"/>
              </a:lnSpc>
              <a:buClrTx/>
              <a:buSzTx/>
              <a:buNone/>
            </a:pPr>
            <a:r>
              <a:rPr lang="en-US" altLang="zh-CN" sz="1600" dirty="0">
                <a:solidFill>
                  <a:schemeClr val="tx1">
                    <a:lumMod val="75000"/>
                    <a:lumOff val="25000"/>
                  </a:schemeClr>
                </a:solidFill>
              </a:rPr>
              <a:t>a = input("请输入一个数字而非字符串：")</a:t>
            </a:r>
          </a:p>
          <a:p>
            <a:pPr algn="l">
              <a:lnSpc>
                <a:spcPct val="150000"/>
              </a:lnSpc>
              <a:buClrTx/>
              <a:buSzTx/>
              <a:buNone/>
            </a:pPr>
            <a:r>
              <a:rPr lang="en-US" altLang="zh-CN" sz="1600" dirty="0">
                <a:solidFill>
                  <a:schemeClr val="tx1">
                    <a:lumMod val="75000"/>
                    <a:lumOff val="25000"/>
                  </a:schemeClr>
                </a:solidFill>
              </a:rPr>
              <a:t>assert str(a).isdigit(),"错了，输入的是非数值了！“</a:t>
            </a:r>
          </a:p>
          <a:p>
            <a:pPr algn="l">
              <a:lnSpc>
                <a:spcPct val="150000"/>
              </a:lnSpc>
              <a:buClrTx/>
              <a:buSzTx/>
              <a:buNone/>
            </a:pPr>
            <a:r>
              <a:rPr lang="en-US" altLang="zh-CN" sz="1600" dirty="0">
                <a:solidFill>
                  <a:schemeClr val="tx1">
                    <a:lumMod val="75000"/>
                    <a:lumOff val="25000"/>
                  </a:schemeClr>
                </a:solidFill>
              </a:rPr>
              <a:t>b = int(a) * 2</a:t>
            </a:r>
          </a:p>
          <a:p>
            <a:pPr algn="l">
              <a:lnSpc>
                <a:spcPct val="150000"/>
              </a:lnSpc>
              <a:buClrTx/>
              <a:buSzTx/>
              <a:buNone/>
            </a:pPr>
            <a:r>
              <a:rPr lang="en-US" altLang="zh-CN" sz="1600" dirty="0">
                <a:solidFill>
                  <a:schemeClr val="tx1">
                    <a:lumMod val="75000"/>
                    <a:lumOff val="25000"/>
                  </a:schemeClr>
                </a:solidFill>
              </a:rPr>
              <a:t>print("{}*2={}".format(a,b)) </a:t>
            </a:r>
          </a:p>
          <a:p>
            <a:pPr algn="l">
              <a:lnSpc>
                <a:spcPct val="150000"/>
              </a:lnSpc>
              <a:buClrTx/>
              <a:buSzTx/>
              <a:buNone/>
            </a:pPr>
            <a:r>
              <a:rPr lang="en-US" altLang="zh-CN" sz="1600" dirty="0">
                <a:solidFill>
                  <a:schemeClr val="tx1">
                    <a:lumMod val="75000"/>
                    <a:lumOff val="25000"/>
                  </a:schemeClr>
                </a:solidFill>
              </a:rPr>
              <a:t>运行后的情况分析：</a:t>
            </a:r>
          </a:p>
          <a:p>
            <a:pPr algn="l">
              <a:lnSpc>
                <a:spcPct val="150000"/>
              </a:lnSpc>
              <a:buClrTx/>
              <a:buSzTx/>
              <a:buNone/>
            </a:pPr>
            <a:r>
              <a:rPr lang="en-US" altLang="zh-CN" sz="1600" dirty="0">
                <a:solidFill>
                  <a:schemeClr val="tx1">
                    <a:lumMod val="75000"/>
                    <a:lumOff val="25000"/>
                  </a:schemeClr>
                </a:solidFill>
              </a:rPr>
              <a:t>（1）输入数字3符合要求，没有出现异常：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图片 142"/>
          <p:cNvPicPr>
            <a:picLocks noChangeAspect="1" noChangeArrowheads="1"/>
          </p:cNvPicPr>
          <p:nvPr/>
        </p:nvPicPr>
        <p:blipFill>
          <a:blip r:embed="rId2" cstate="print"/>
          <a:srcRect/>
          <a:stretch>
            <a:fillRect/>
          </a:stretch>
        </p:blipFill>
        <p:spPr bwMode="auto">
          <a:xfrm>
            <a:off x="1183188" y="4842784"/>
            <a:ext cx="4306020" cy="846161"/>
          </a:xfrm>
          <a:prstGeom prst="rect">
            <a:avLst/>
          </a:prstGeom>
          <a:noFill/>
          <a:ln w="9525">
            <a:noFill/>
            <a:miter lim="800000"/>
            <a:headEnd/>
            <a:tailEnd/>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8" name="TextBox 68"/>
          <p:cNvSpPr txBox="1"/>
          <p:nvPr/>
        </p:nvSpPr>
        <p:spPr>
          <a:xfrm>
            <a:off x="999805" y="1825625"/>
            <a:ext cx="8524585" cy="3785652"/>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（2）输入了一个字母s，不符合要求，抛出了异常，但异常的信息是程序员自己定义的：</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（3）输入了一个分号，不符合要求，抛出了异常，但异常的信息是程序员自己定义的：</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9" name="图片 145"/>
          <p:cNvPicPr>
            <a:picLocks noChangeAspect="1" noChangeArrowheads="1"/>
          </p:cNvPicPr>
          <p:nvPr/>
        </p:nvPicPr>
        <p:blipFill>
          <a:blip r:embed="rId2" cstate="print"/>
          <a:srcRect/>
          <a:stretch>
            <a:fillRect/>
          </a:stretch>
        </p:blipFill>
        <p:spPr bwMode="auto">
          <a:xfrm>
            <a:off x="1354931" y="2319382"/>
            <a:ext cx="4435522" cy="1399069"/>
          </a:xfrm>
          <a:prstGeom prst="rect">
            <a:avLst/>
          </a:prstGeom>
          <a:noFill/>
          <a:ln w="9525">
            <a:noFill/>
            <a:miter lim="800000"/>
            <a:headEnd/>
            <a:tailEnd/>
          </a:ln>
        </p:spPr>
      </p:pic>
      <p:pic>
        <p:nvPicPr>
          <p:cNvPr id="10" name="图片 148"/>
          <p:cNvPicPr>
            <a:picLocks noChangeAspect="1" noChangeArrowheads="1"/>
          </p:cNvPicPr>
          <p:nvPr/>
        </p:nvPicPr>
        <p:blipFill>
          <a:blip r:embed="rId3" cstate="print"/>
          <a:srcRect/>
          <a:stretch>
            <a:fillRect/>
          </a:stretch>
        </p:blipFill>
        <p:spPr bwMode="auto">
          <a:xfrm>
            <a:off x="1354931" y="4212208"/>
            <a:ext cx="4590370" cy="1501253"/>
          </a:xfrm>
          <a:prstGeom prst="rect">
            <a:avLst/>
          </a:prstGeom>
          <a:noFill/>
          <a:ln w="9525">
            <a:noFill/>
            <a:miter lim="800000"/>
            <a:headEnd/>
            <a:tailEnd/>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4" name="内容占位符 3"/>
          <p:cNvSpPr>
            <a:spLocks noGrp="1"/>
          </p:cNvSpPr>
          <p:nvPr>
            <p:ph idx="1"/>
          </p:nvPr>
        </p:nvSpPr>
        <p:spPr/>
        <p:txBody>
          <a:bodyPr>
            <a:normAutofit fontScale="92500"/>
          </a:bodyPr>
          <a:lstStyle/>
          <a:p>
            <a:pPr>
              <a:lnSpc>
                <a:spcPct val="150000"/>
              </a:lnSpc>
            </a:pPr>
            <a:r>
              <a:rPr lang="en-US" altLang="zh-CN" dirty="0" err="1">
                <a:solidFill>
                  <a:schemeClr val="tx1">
                    <a:lumMod val="75000"/>
                    <a:lumOff val="25000"/>
                  </a:schemeClr>
                </a:solidFill>
              </a:rPr>
              <a:t>assert语句本身起到了很好的注释作用，assert语句主要用于以下方面</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（1）防御型的编程。</a:t>
            </a:r>
          </a:p>
          <a:p>
            <a:pPr>
              <a:lnSpc>
                <a:spcPct val="150000"/>
              </a:lnSpc>
              <a:buNone/>
            </a:pPr>
            <a:r>
              <a:rPr lang="en-US" altLang="zh-CN" dirty="0">
                <a:solidFill>
                  <a:schemeClr val="tx1">
                    <a:lumMod val="75000"/>
                    <a:lumOff val="25000"/>
                  </a:schemeClr>
                </a:solidFill>
              </a:rPr>
              <a:t>（2）运行时检查程序逻辑。</a:t>
            </a:r>
          </a:p>
          <a:p>
            <a:pPr>
              <a:lnSpc>
                <a:spcPct val="150000"/>
              </a:lnSpc>
              <a:buNone/>
            </a:pPr>
            <a:r>
              <a:rPr lang="en-US" altLang="zh-CN" dirty="0">
                <a:solidFill>
                  <a:schemeClr val="tx1">
                    <a:lumMod val="75000"/>
                    <a:lumOff val="25000"/>
                  </a:schemeClr>
                </a:solidFill>
              </a:rPr>
              <a:t>（3）检查约定。</a:t>
            </a:r>
          </a:p>
          <a:p>
            <a:pPr>
              <a:lnSpc>
                <a:spcPct val="150000"/>
              </a:lnSpc>
              <a:buNone/>
            </a:pPr>
            <a:r>
              <a:rPr lang="en-US" altLang="zh-CN" dirty="0">
                <a:solidFill>
                  <a:schemeClr val="tx1">
                    <a:lumMod val="75000"/>
                    <a:lumOff val="25000"/>
                  </a:schemeClr>
                </a:solidFill>
              </a:rPr>
              <a:t>（4）程序常量。</a:t>
            </a:r>
          </a:p>
          <a:p>
            <a:pPr>
              <a:lnSpc>
                <a:spcPct val="150000"/>
              </a:lnSpc>
              <a:buNone/>
            </a:pPr>
            <a:r>
              <a:rPr lang="en-US" altLang="zh-CN" dirty="0">
                <a:solidFill>
                  <a:schemeClr val="tx1">
                    <a:lumMod val="75000"/>
                    <a:lumOff val="25000"/>
                  </a:schemeClr>
                </a:solidFill>
              </a:rPr>
              <a:t>（5）检查文档。</a:t>
            </a:r>
          </a:p>
          <a:p>
            <a:endParaRPr lang="zh-CN" alt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文件与目录操作</a:t>
            </a:r>
            <a:endParaRPr lang="en-US" altLang="zh-CN" dirty="0"/>
          </a:p>
          <a:p>
            <a:r>
              <a:rPr lang="zh-CN" altLang="en-US" dirty="0"/>
              <a:t>常见文件格式处理</a:t>
            </a:r>
            <a:endParaRPr lang="en-US" altLang="zh-CN" dirty="0"/>
          </a:p>
          <a:p>
            <a:r>
              <a:rPr lang="zh-CN" altLang="en-US" dirty="0"/>
              <a:t>异常</a:t>
            </a:r>
            <a:endParaRPr lang="en-US" altLang="zh-CN" dirty="0"/>
          </a:p>
          <a:p>
            <a:r>
              <a:rPr lang="zh-CN" altLang="en-US" dirty="0"/>
              <a:t>断言</a:t>
            </a:r>
            <a:endParaRPr lang="en-US" altLang="zh-CN" dirty="0"/>
          </a:p>
          <a:p>
            <a:r>
              <a:rPr lang="zh-CN" altLang="en-US" dirty="0">
                <a:solidFill>
                  <a:srgbClr val="FF0000"/>
                </a:solidFill>
              </a:rPr>
              <a:t>日志</a:t>
            </a:r>
            <a:endParaRPr lang="en-US" altLang="zh-CN" dirty="0">
              <a:solidFill>
                <a:srgbClr val="FF0000"/>
              </a:solidFill>
            </a:endParaRPr>
          </a:p>
          <a:p>
            <a:endParaRPr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r>
              <a:rPr lang="en-US" altLang="zh-CN" dirty="0" err="1">
                <a:solidFill>
                  <a:schemeClr val="tx1">
                    <a:lumMod val="75000"/>
                    <a:lumOff val="25000"/>
                  </a:schemeClr>
                </a:solidFill>
              </a:rPr>
              <a:t>logging模块主要分为如下四个部分</a:t>
            </a:r>
            <a:endParaRPr lang="zh-CN" altLang="en-US" dirty="0"/>
          </a:p>
        </p:txBody>
      </p:sp>
      <p:sp>
        <p:nvSpPr>
          <p:cNvPr id="6" name="矩形 5"/>
          <p:cNvSpPr/>
          <p:nvPr/>
        </p:nvSpPr>
        <p:spPr>
          <a:xfrm>
            <a:off x="1013193" y="2310948"/>
            <a:ext cx="8266551" cy="2677656"/>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（1）Logger：提供日志接口，供应用程序使用。</a:t>
            </a:r>
          </a:p>
          <a:p>
            <a:pPr algn="l">
              <a:lnSpc>
                <a:spcPct val="150000"/>
              </a:lnSpc>
              <a:buClrTx/>
              <a:buSzTx/>
              <a:buNone/>
            </a:pPr>
            <a:r>
              <a:rPr lang="en-US" altLang="zh-CN" sz="1600" dirty="0">
                <a:solidFill>
                  <a:schemeClr val="tx1">
                    <a:lumMod val="75000"/>
                    <a:lumOff val="25000"/>
                  </a:schemeClr>
                </a:solidFill>
              </a:rPr>
              <a:t>&gt; import logging</a:t>
            </a:r>
          </a:p>
          <a:p>
            <a:pPr algn="l">
              <a:lnSpc>
                <a:spcPct val="150000"/>
              </a:lnSpc>
              <a:buClrTx/>
              <a:buSzTx/>
              <a:buNone/>
            </a:pPr>
            <a:r>
              <a:rPr lang="en-US" altLang="zh-CN" sz="1600" dirty="0">
                <a:solidFill>
                  <a:schemeClr val="tx1">
                    <a:lumMod val="75000"/>
                    <a:lumOff val="25000"/>
                  </a:schemeClr>
                </a:solidFill>
              </a:rPr>
              <a:t>&gt; logging.getLogger()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（2）Handler：将Logger产生的日志传到指定位置。</a:t>
            </a:r>
          </a:p>
          <a:p>
            <a:pPr algn="l">
              <a:lnSpc>
                <a:spcPct val="150000"/>
              </a:lnSpc>
              <a:buClrTx/>
              <a:buSzTx/>
              <a:buNone/>
            </a:pPr>
            <a:r>
              <a:rPr lang="en-US" altLang="zh-CN" sz="1600" dirty="0">
                <a:solidFill>
                  <a:schemeClr val="tx1">
                    <a:lumMod val="75000"/>
                    <a:lumOff val="25000"/>
                  </a:schemeClr>
                </a:solidFill>
              </a:rPr>
              <a:t>（3）Filter：对输出日志进行过滤。</a:t>
            </a:r>
          </a:p>
          <a:p>
            <a:pPr algn="l">
              <a:lnSpc>
                <a:spcPct val="150000"/>
              </a:lnSpc>
              <a:buClrTx/>
              <a:buSzTx/>
              <a:buNone/>
            </a:pPr>
            <a:r>
              <a:rPr lang="en-US" altLang="zh-CN" sz="1600" dirty="0">
                <a:solidFill>
                  <a:schemeClr val="tx1">
                    <a:lumMod val="75000"/>
                    <a:lumOff val="25000"/>
                  </a:schemeClr>
                </a:solidFill>
              </a:rPr>
              <a:t>（4）Formatter：指定日志记录输出的具体格式。</a:t>
            </a:r>
            <a:endParaRPr lang="zh-CN" altLang="zh-CN" sz="1600" dirty="0"/>
          </a:p>
        </p:txBody>
      </p:sp>
      <p:pic>
        <p:nvPicPr>
          <p:cNvPr id="7" name="图片 6"/>
          <p:cNvPicPr>
            <a:picLocks noChangeAspect="1" noChangeArrowheads="1"/>
          </p:cNvPicPr>
          <p:nvPr/>
        </p:nvPicPr>
        <p:blipFill>
          <a:blip r:embed="rId2" cstate="print"/>
          <a:srcRect/>
          <a:stretch>
            <a:fillRect/>
          </a:stretch>
        </p:blipFill>
        <p:spPr>
          <a:xfrm>
            <a:off x="1226013" y="3484801"/>
            <a:ext cx="2380426" cy="219457"/>
          </a:xfrm>
          <a:prstGeom prst="rect">
            <a:avLst/>
          </a:prstGeom>
          <a:noFill/>
          <a:ln w="9525">
            <a:noFill/>
            <a:miter lim="800000"/>
            <a:headEnd/>
            <a:tailEnd/>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fontScale="92500" lnSpcReduction="20000"/>
          </a:bodyPr>
          <a:lstStyle/>
          <a:p>
            <a:pPr>
              <a:lnSpc>
                <a:spcPct val="150000"/>
              </a:lnSpc>
              <a:buNone/>
            </a:pPr>
            <a:r>
              <a:rPr lang="en-US" altLang="zh-CN" dirty="0">
                <a:solidFill>
                  <a:schemeClr val="tx1">
                    <a:lumMod val="75000"/>
                    <a:lumOff val="25000"/>
                  </a:schemeClr>
                </a:solidFill>
              </a:rPr>
              <a:t>（1）Logger可以包含一个或多个Handler和Filter，即Logger与Handler或Fitler是一对多的关系。</a:t>
            </a:r>
          </a:p>
          <a:p>
            <a:pPr>
              <a:lnSpc>
                <a:spcPct val="150000"/>
              </a:lnSpc>
              <a:buNone/>
            </a:pPr>
            <a:r>
              <a:rPr lang="en-US" altLang="zh-CN" dirty="0">
                <a:solidFill>
                  <a:schemeClr val="tx1">
                    <a:lumMod val="75000"/>
                    <a:lumOff val="25000"/>
                  </a:schemeClr>
                </a:solidFill>
              </a:rPr>
              <a:t>（2）Handler可以包含一个或多个Filter，但只能包含一个Formatter，即Handler与Filter是一对多的关系，与Formatter是一对一的关系。</a:t>
            </a:r>
          </a:p>
          <a:p>
            <a:pPr>
              <a:lnSpc>
                <a:spcPct val="150000"/>
              </a:lnSpc>
              <a:buNone/>
            </a:pPr>
            <a:r>
              <a:rPr lang="en-US" altLang="zh-CN" dirty="0">
                <a:solidFill>
                  <a:schemeClr val="tx1">
                    <a:lumMod val="75000"/>
                    <a:lumOff val="25000"/>
                  </a:schemeClr>
                </a:solidFill>
              </a:rPr>
              <a:t>（3）Filter可以多次被包含在Logger和Handler中。</a:t>
            </a:r>
          </a:p>
          <a:p>
            <a:pPr>
              <a:lnSpc>
                <a:spcPct val="150000"/>
              </a:lnSpc>
              <a:buNone/>
            </a:pPr>
            <a:r>
              <a:rPr lang="en-US" altLang="zh-CN" dirty="0">
                <a:solidFill>
                  <a:schemeClr val="tx1">
                    <a:lumMod val="75000"/>
                    <a:lumOff val="25000"/>
                  </a:schemeClr>
                </a:solidFill>
              </a:rPr>
              <a:t>（4）Formatter只能被包含在Handler中，不能被包含在Logger中，并且只能有一个Formatter被包含在Handler中。</a:t>
            </a:r>
            <a:endParaRPr lang="zh-CN" altLang="en-US" dirty="0">
              <a:latin typeface="+mn-ea"/>
            </a:endParaRPr>
          </a:p>
          <a:p>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fontScale="85000" lnSpcReduction="20000"/>
          </a:bodyPr>
          <a:lstStyle/>
          <a:p>
            <a:pPr>
              <a:lnSpc>
                <a:spcPct val="150000"/>
              </a:lnSpc>
              <a:buNone/>
            </a:pPr>
            <a:r>
              <a:rPr lang="en-US" altLang="zh-CN" dirty="0" err="1">
                <a:solidFill>
                  <a:schemeClr val="tx1">
                    <a:lumMod val="75000"/>
                    <a:lumOff val="25000"/>
                  </a:schemeClr>
                </a:solidFill>
              </a:rPr>
              <a:t>logging模块将日志分成五个等级，从低到高分别是</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DEBUG→INFO→WARNING→ERROR→CRITICAL</a:t>
            </a:r>
          </a:p>
          <a:p>
            <a:pPr>
              <a:lnSpc>
                <a:spcPct val="150000"/>
              </a:lnSpc>
              <a:buNone/>
            </a:pPr>
            <a:r>
              <a:rPr lang="en-US" altLang="zh-CN" dirty="0" err="1">
                <a:solidFill>
                  <a:schemeClr val="tx1">
                    <a:lumMod val="75000"/>
                    <a:lumOff val="25000"/>
                  </a:schemeClr>
                </a:solidFill>
              </a:rPr>
              <a:t>DEBUG：等级最低，用来打印一些调试信息</a:t>
            </a:r>
            <a:r>
              <a:rPr lang="en-US" altLang="zh-CN" dirty="0">
                <a:solidFill>
                  <a:schemeClr val="tx1">
                    <a:lumMod val="75000"/>
                    <a:lumOff val="25000"/>
                  </a:schemeClr>
                </a:solidFill>
              </a:rPr>
              <a:t>。</a:t>
            </a:r>
          </a:p>
          <a:p>
            <a:pPr>
              <a:lnSpc>
                <a:spcPct val="150000"/>
              </a:lnSpc>
              <a:buNone/>
            </a:pPr>
            <a:r>
              <a:rPr lang="en-US" altLang="zh-CN" dirty="0" err="1">
                <a:solidFill>
                  <a:schemeClr val="tx1">
                    <a:lumMod val="75000"/>
                    <a:lumOff val="25000"/>
                  </a:schemeClr>
                </a:solidFill>
              </a:rPr>
              <a:t>INFO：输出正常信息，用来打印一些正常的操作</a:t>
            </a:r>
            <a:r>
              <a:rPr lang="en-US" altLang="zh-CN" dirty="0">
                <a:solidFill>
                  <a:schemeClr val="tx1">
                    <a:lumMod val="75000"/>
                    <a:lumOff val="25000"/>
                  </a:schemeClr>
                </a:solidFill>
              </a:rPr>
              <a:t>。</a:t>
            </a:r>
          </a:p>
          <a:p>
            <a:pPr>
              <a:lnSpc>
                <a:spcPct val="150000"/>
              </a:lnSpc>
              <a:buNone/>
            </a:pPr>
            <a:r>
              <a:rPr lang="en-US" altLang="zh-CN" dirty="0" err="1">
                <a:solidFill>
                  <a:schemeClr val="tx1">
                    <a:lumMod val="75000"/>
                    <a:lumOff val="25000"/>
                  </a:schemeClr>
                </a:solidFill>
              </a:rPr>
              <a:t>WARNING：用来打印警告信息</a:t>
            </a:r>
            <a:r>
              <a:rPr lang="en-US" altLang="zh-CN" dirty="0">
                <a:solidFill>
                  <a:schemeClr val="tx1">
                    <a:lumMod val="75000"/>
                    <a:lumOff val="25000"/>
                  </a:schemeClr>
                </a:solidFill>
              </a:rPr>
              <a:t>。</a:t>
            </a:r>
          </a:p>
          <a:p>
            <a:pPr>
              <a:lnSpc>
                <a:spcPct val="150000"/>
              </a:lnSpc>
              <a:buNone/>
            </a:pPr>
            <a:r>
              <a:rPr lang="en-US" altLang="zh-CN" dirty="0" err="1">
                <a:solidFill>
                  <a:schemeClr val="tx1">
                    <a:lumMod val="75000"/>
                    <a:lumOff val="25000"/>
                  </a:schemeClr>
                </a:solidFill>
              </a:rPr>
              <a:t>ERROR：用来打印一些错误信息</a:t>
            </a:r>
            <a:r>
              <a:rPr lang="en-US" altLang="zh-CN" dirty="0">
                <a:solidFill>
                  <a:schemeClr val="tx1">
                    <a:lumMod val="75000"/>
                    <a:lumOff val="25000"/>
                  </a:schemeClr>
                </a:solidFill>
              </a:rPr>
              <a:t>。</a:t>
            </a:r>
          </a:p>
          <a:p>
            <a:pPr>
              <a:lnSpc>
                <a:spcPct val="150000"/>
              </a:lnSpc>
              <a:buNone/>
            </a:pPr>
            <a:r>
              <a:rPr lang="en-US" altLang="zh-CN" dirty="0" err="1">
                <a:solidFill>
                  <a:schemeClr val="tx1">
                    <a:lumMod val="75000"/>
                    <a:lumOff val="25000"/>
                  </a:schemeClr>
                </a:solidFill>
              </a:rPr>
              <a:t>CRITICAL：用来打印一些致命的错误信息，等级最高</a:t>
            </a:r>
            <a:r>
              <a:rPr lang="en-US" altLang="zh-CN" dirty="0">
                <a:solidFill>
                  <a:schemeClr val="tx1">
                    <a:lumMod val="75000"/>
                    <a:lumOff val="25000"/>
                  </a:schemeClr>
                </a:solidFill>
              </a:rPr>
              <a:t>。</a:t>
            </a:r>
            <a:endParaRPr lang="zh-CN" altLang="en-US" dirty="0">
              <a:latin typeface="+mn-ea"/>
            </a:endParaRPr>
          </a:p>
          <a:p>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r>
              <a:rPr lang="zh-CN" altLang="en-US" dirty="0">
                <a:solidFill>
                  <a:schemeClr val="tx1">
                    <a:lumMod val="75000"/>
                    <a:lumOff val="25000"/>
                  </a:schemeClr>
                </a:solidFill>
              </a:rPr>
              <a:t>日志级别</a:t>
            </a:r>
          </a:p>
          <a:p>
            <a:endParaRPr lang="zh-CN" altLang="en-US" dirty="0"/>
          </a:p>
        </p:txBody>
      </p:sp>
      <p:graphicFrame>
        <p:nvGraphicFramePr>
          <p:cNvPr id="5" name="表格 4"/>
          <p:cNvGraphicFramePr>
            <a:graphicFrameLocks noGrp="1"/>
          </p:cNvGraphicFramePr>
          <p:nvPr/>
        </p:nvGraphicFramePr>
        <p:xfrm>
          <a:off x="1099756" y="2717654"/>
          <a:ext cx="7506269" cy="3039809"/>
        </p:xfrm>
        <a:graphic>
          <a:graphicData uri="http://schemas.openxmlformats.org/drawingml/2006/table">
            <a:tbl>
              <a:tblPr/>
              <a:tblGrid>
                <a:gridCol w="1167130">
                  <a:extLst>
                    <a:ext uri="{9D8B030D-6E8A-4147-A177-3AD203B41FA5}">
                      <a16:colId xmlns:a16="http://schemas.microsoft.com/office/drawing/2014/main" val="20000"/>
                    </a:ext>
                  </a:extLst>
                </a:gridCol>
                <a:gridCol w="6339139">
                  <a:extLst>
                    <a:ext uri="{9D8B030D-6E8A-4147-A177-3AD203B41FA5}">
                      <a16:colId xmlns:a16="http://schemas.microsoft.com/office/drawing/2014/main" val="20001"/>
                    </a:ext>
                  </a:extLst>
                </a:gridCol>
              </a:tblGrid>
              <a:tr h="487045">
                <a:tc>
                  <a:txBody>
                    <a:bodyPr/>
                    <a:lstStyle/>
                    <a:p>
                      <a:pPr algn="ctr" defTabSz="914400">
                        <a:lnSpc>
                          <a:spcPct val="150000"/>
                        </a:lnSpc>
                        <a:buClrTx/>
                        <a:buSzTx/>
                        <a:buNone/>
                      </a:pPr>
                      <a:r>
                        <a:rPr lang="en-US" altLang="zh-CN" sz="1400" dirty="0">
                          <a:solidFill>
                            <a:schemeClr val="tx1">
                              <a:lumMod val="75000"/>
                              <a:lumOff val="25000"/>
                            </a:schemeClr>
                          </a:solidFill>
                        </a:rPr>
                        <a:t>级    别</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使 用 描 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7299">
                <a:tc>
                  <a:txBody>
                    <a:bodyPr/>
                    <a:lstStyle/>
                    <a:p>
                      <a:pPr algn="ctr" defTabSz="914400">
                        <a:lnSpc>
                          <a:spcPct val="150000"/>
                        </a:lnSpc>
                        <a:buClrTx/>
                        <a:buSzTx/>
                        <a:buNone/>
                      </a:pPr>
                      <a:r>
                        <a:rPr lang="en-US" altLang="zh-CN" sz="1400" dirty="0">
                          <a:solidFill>
                            <a:schemeClr val="tx1">
                              <a:lumMod val="75000"/>
                              <a:lumOff val="25000"/>
                            </a:schemeClr>
                          </a:solidFill>
                        </a:rPr>
                        <a:t>DEBUG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记录详细的信息，调试代码时使用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7299">
                <a:tc>
                  <a:txBody>
                    <a:bodyPr/>
                    <a:lstStyle/>
                    <a:p>
                      <a:pPr algn="ctr" defTabSz="914400">
                        <a:lnSpc>
                          <a:spcPct val="150000"/>
                        </a:lnSpc>
                        <a:buClrTx/>
                        <a:buSzTx/>
                        <a:buNone/>
                      </a:pPr>
                      <a:r>
                        <a:rPr lang="en-US" altLang="zh-CN" sz="1400" dirty="0">
                          <a:solidFill>
                            <a:schemeClr val="tx1">
                              <a:lumMod val="75000"/>
                              <a:lumOff val="25000"/>
                            </a:schemeClr>
                          </a:solidFill>
                        </a:rPr>
                        <a:t>INFO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确认一切按预期运行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4323">
                <a:tc>
                  <a:txBody>
                    <a:bodyPr/>
                    <a:lstStyle/>
                    <a:p>
                      <a:pPr algn="ctr" defTabSz="914400">
                        <a:lnSpc>
                          <a:spcPct val="150000"/>
                        </a:lnSpc>
                        <a:buClrTx/>
                        <a:buSzTx/>
                        <a:buNone/>
                      </a:pPr>
                      <a:r>
                        <a:rPr lang="en-US" altLang="zh-CN" sz="1400" dirty="0">
                          <a:solidFill>
                            <a:schemeClr val="tx1">
                              <a:lumMod val="75000"/>
                              <a:lumOff val="25000"/>
                            </a:schemeClr>
                          </a:solidFill>
                        </a:rPr>
                        <a:t>WARNING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表明发生了一些意外，或在不久的将来会发生问题（如磁盘空间低）。程序还在正常运行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7299">
                <a:tc>
                  <a:txBody>
                    <a:bodyPr/>
                    <a:lstStyle/>
                    <a:p>
                      <a:pPr algn="ctr" defTabSz="914400">
                        <a:lnSpc>
                          <a:spcPct val="150000"/>
                        </a:lnSpc>
                        <a:buClrTx/>
                        <a:buSzTx/>
                        <a:buNone/>
                      </a:pPr>
                      <a:r>
                        <a:rPr lang="en-US" altLang="zh-CN" sz="1400" dirty="0">
                          <a:solidFill>
                            <a:schemeClr val="tx1">
                              <a:lumMod val="75000"/>
                              <a:lumOff val="25000"/>
                            </a:schemeClr>
                          </a:solidFill>
                        </a:rPr>
                        <a:t>ERROR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由于一些错误问题，程序已不能能执行一些功能</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87299">
                <a:tc>
                  <a:txBody>
                    <a:bodyPr/>
                    <a:lstStyle/>
                    <a:p>
                      <a:pPr algn="ctr" defTabSz="914400">
                        <a:lnSpc>
                          <a:spcPct val="150000"/>
                        </a:lnSpc>
                        <a:buClrTx/>
                        <a:buSzTx/>
                        <a:buNone/>
                      </a:pPr>
                      <a:r>
                        <a:rPr lang="en-US" altLang="zh-CN" sz="1400" dirty="0">
                          <a:solidFill>
                            <a:schemeClr val="tx1">
                              <a:lumMod val="75000"/>
                              <a:lumOff val="25000"/>
                            </a:schemeClr>
                          </a:solidFill>
                        </a:rPr>
                        <a:t>CRITICAL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严重错误，表明程序已不能继续运行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pPr>
              <a:lnSpc>
                <a:spcPct val="150000"/>
              </a:lnSpc>
            </a:pPr>
            <a:r>
              <a:rPr lang="en-US" altLang="zh-CN" dirty="0" err="1">
                <a:solidFill>
                  <a:schemeClr val="tx1">
                    <a:lumMod val="75000"/>
                    <a:lumOff val="25000"/>
                  </a:schemeClr>
                </a:solidFill>
              </a:rPr>
              <a:t>日志的五个等级分别对应五种打印日志的方式：logger.debug</a:t>
            </a:r>
            <a:r>
              <a:rPr lang="en-US" altLang="zh-CN" dirty="0">
                <a:solidFill>
                  <a:schemeClr val="tx1">
                    <a:lumMod val="75000"/>
                    <a:lumOff val="25000"/>
                  </a:schemeClr>
                </a:solidFill>
              </a:rPr>
              <a:t>()、logger.info()、</a:t>
            </a:r>
            <a:r>
              <a:rPr lang="en-US" altLang="zh-CN" dirty="0" err="1">
                <a:solidFill>
                  <a:schemeClr val="tx1">
                    <a:lumMod val="75000"/>
                    <a:lumOff val="25000"/>
                  </a:schemeClr>
                </a:solidFill>
              </a:rPr>
              <a:t>logger.warning</a:t>
            </a:r>
            <a:r>
              <a:rPr lang="en-US" altLang="zh-CN" dirty="0">
                <a:solidFill>
                  <a:schemeClr val="tx1">
                    <a:lumMod val="75000"/>
                    <a:lumOff val="25000"/>
                  </a:schemeClr>
                </a:solidFill>
              </a:rPr>
              <a:t>()、</a:t>
            </a:r>
            <a:r>
              <a:rPr lang="en-US" altLang="zh-CN" dirty="0" err="1">
                <a:solidFill>
                  <a:schemeClr val="tx1">
                    <a:lumMod val="75000"/>
                    <a:lumOff val="25000"/>
                  </a:schemeClr>
                </a:solidFill>
              </a:rPr>
              <a:t>logger.error</a:t>
            </a:r>
            <a:r>
              <a:rPr lang="en-US" altLang="zh-CN" dirty="0">
                <a:solidFill>
                  <a:schemeClr val="tx1">
                    <a:lumMod val="75000"/>
                    <a:lumOff val="25000"/>
                  </a:schemeClr>
                </a:solidFill>
              </a:rPr>
              <a:t>()、</a:t>
            </a:r>
            <a:r>
              <a:rPr lang="en-US" altLang="zh-CN" dirty="0" err="1">
                <a:solidFill>
                  <a:schemeClr val="tx1">
                    <a:lumMod val="75000"/>
                    <a:lumOff val="25000"/>
                  </a:schemeClr>
                </a:solidFill>
              </a:rPr>
              <a:t>logger.critical</a:t>
            </a:r>
            <a:r>
              <a:rPr lang="en-US" altLang="zh-CN" dirty="0">
                <a:solidFill>
                  <a:schemeClr val="tx1">
                    <a:lumMod val="75000"/>
                    <a:lumOff val="25000"/>
                  </a:schemeClr>
                </a:solidFill>
              </a:rPr>
              <a:t>()。</a:t>
            </a:r>
          </a:p>
          <a:p>
            <a:pPr>
              <a:lnSpc>
                <a:spcPct val="150000"/>
              </a:lnSpc>
            </a:pPr>
            <a:r>
              <a:rPr lang="en-US" altLang="zh-CN" dirty="0">
                <a:solidFill>
                  <a:schemeClr val="tx1">
                    <a:lumMod val="75000"/>
                    <a:lumOff val="25000"/>
                  </a:schemeClr>
                </a:solidFill>
              </a:rPr>
              <a:t>默认的输出等级是WARNING级别，也就是WARNING级别及其以上的日志才会被输出。如果日志输出级别设置为DEBUG，则表明所有的日志都将被输出。</a:t>
            </a:r>
            <a:endParaRPr lang="zh-CN" altLang="en-US" dirty="0">
              <a:latin typeface="+mn-ea"/>
            </a:endParaRPr>
          </a:p>
          <a:p>
            <a:endParaRPr lang="zh-CN" alt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r>
              <a:rPr lang="en-US" altLang="zh-CN" dirty="0"/>
              <a:t>logging</a:t>
            </a:r>
            <a:r>
              <a:rPr lang="zh-CN" altLang="en-US" dirty="0"/>
              <a:t>模块的使用</a:t>
            </a:r>
          </a:p>
          <a:p>
            <a:endParaRPr lang="zh-CN" altLang="en-US" dirty="0"/>
          </a:p>
        </p:txBody>
      </p:sp>
      <p:sp>
        <p:nvSpPr>
          <p:cNvPr id="5" name="矩形 4"/>
          <p:cNvSpPr/>
          <p:nvPr/>
        </p:nvSpPr>
        <p:spPr>
          <a:xfrm>
            <a:off x="1034652" y="2293134"/>
            <a:ext cx="10121028" cy="3416320"/>
          </a:xfrm>
          <a:prstGeom prst="rect">
            <a:avLst/>
          </a:prstGeom>
        </p:spPr>
        <p:txBody>
          <a:bodyPr wrap="square">
            <a:spAutoFit/>
          </a:bodyPr>
          <a:lstStyle/>
          <a:p>
            <a:pPr>
              <a:lnSpc>
                <a:spcPct val="150000"/>
              </a:lnSpc>
            </a:pPr>
            <a:r>
              <a:rPr lang="en-US" altLang="zh-CN" sz="1600" dirty="0">
                <a:solidFill>
                  <a:schemeClr val="tx1">
                    <a:lumMod val="75000"/>
                    <a:lumOff val="25000"/>
                  </a:schemeClr>
                </a:solidFill>
              </a:rPr>
              <a:t>import logging</a:t>
            </a:r>
          </a:p>
          <a:p>
            <a:pPr>
              <a:lnSpc>
                <a:spcPct val="15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设置日志输出级别为“</a:t>
            </a:r>
            <a:r>
              <a:rPr lang="en-US" altLang="zh-CN" sz="1600" dirty="0">
                <a:solidFill>
                  <a:schemeClr val="tx1">
                    <a:lumMod val="75000"/>
                    <a:lumOff val="25000"/>
                  </a:schemeClr>
                </a:solidFill>
              </a:rPr>
              <a:t>WARNING”</a:t>
            </a:r>
            <a:r>
              <a:rPr lang="zh-CN" altLang="en-US" sz="1600" dirty="0">
                <a:solidFill>
                  <a:schemeClr val="tx1">
                    <a:lumMod val="75000"/>
                    <a:lumOff val="25000"/>
                  </a:schemeClr>
                </a:solidFill>
              </a:rPr>
              <a:t>，则只有该级别或以上级别的日志才会被输出！</a:t>
            </a:r>
          </a:p>
          <a:p>
            <a:pPr>
              <a:lnSpc>
                <a:spcPct val="150000"/>
              </a:lnSpc>
            </a:pPr>
            <a:r>
              <a:rPr lang="en-US" altLang="zh-CN" sz="1600" dirty="0" err="1">
                <a:solidFill>
                  <a:schemeClr val="tx1">
                    <a:lumMod val="75000"/>
                    <a:lumOff val="25000"/>
                  </a:schemeClr>
                </a:solidFill>
              </a:rPr>
              <a:t>logging.basicConfig</a:t>
            </a:r>
            <a:r>
              <a:rPr lang="en-US" altLang="zh-CN" sz="1600" dirty="0">
                <a:solidFill>
                  <a:schemeClr val="tx1">
                    <a:lumMod val="75000"/>
                    <a:lumOff val="25000"/>
                  </a:schemeClr>
                </a:solidFill>
              </a:rPr>
              <a:t>(level=</a:t>
            </a:r>
            <a:r>
              <a:rPr lang="en-US" altLang="zh-CN" sz="1600" dirty="0" err="1">
                <a:solidFill>
                  <a:schemeClr val="tx1">
                    <a:lumMod val="75000"/>
                    <a:lumOff val="25000"/>
                  </a:schemeClr>
                </a:solidFill>
              </a:rPr>
              <a:t>logging.WARNING,format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asctime</a:t>
            </a:r>
            <a:r>
              <a:rPr lang="en-US" altLang="zh-CN" sz="1600" dirty="0">
                <a:solidFill>
                  <a:schemeClr val="tx1">
                    <a:lumMod val="75000"/>
                    <a:lumOff val="25000"/>
                  </a:schemeClr>
                </a:solidFill>
              </a:rPr>
              <a:t>)s - %(filename)s[line:%(</a:t>
            </a:r>
            <a:r>
              <a:rPr lang="en-US" altLang="zh-CN" sz="1600" dirty="0" err="1">
                <a:solidFill>
                  <a:schemeClr val="tx1">
                    <a:lumMod val="75000"/>
                    <a:lumOff val="25000"/>
                  </a:schemeClr>
                </a:solidFill>
              </a:rPr>
              <a:t>lineno</a:t>
            </a:r>
            <a:r>
              <a:rPr lang="en-US" altLang="zh-CN" sz="1600" dirty="0">
                <a:solidFill>
                  <a:schemeClr val="tx1">
                    <a:lumMod val="75000"/>
                    <a:lumOff val="25000"/>
                  </a:schemeClr>
                </a:solidFill>
              </a:rPr>
              <a:t>)d] - %(</a:t>
            </a:r>
            <a:r>
              <a:rPr lang="en-US" altLang="zh-CN" sz="1600" dirty="0" err="1">
                <a:solidFill>
                  <a:schemeClr val="tx1">
                    <a:lumMod val="75000"/>
                    <a:lumOff val="25000"/>
                  </a:schemeClr>
                </a:solidFill>
              </a:rPr>
              <a:t>levelname</a:t>
            </a:r>
            <a:r>
              <a:rPr lang="en-US" altLang="zh-CN" sz="1600" dirty="0">
                <a:solidFill>
                  <a:schemeClr val="tx1">
                    <a:lumMod val="75000"/>
                    <a:lumOff val="25000"/>
                  </a:schemeClr>
                </a:solidFill>
              </a:rPr>
              <a:t>)s: %(message)s')</a:t>
            </a:r>
          </a:p>
          <a:p>
            <a:pPr>
              <a:lnSpc>
                <a:spcPct val="150000"/>
              </a:lnSpc>
            </a:pPr>
            <a:r>
              <a:rPr lang="en-US" altLang="zh-CN" sz="1600" dirty="0">
                <a:solidFill>
                  <a:schemeClr val="tx1">
                    <a:lumMod val="75000"/>
                    <a:lumOff val="25000"/>
                  </a:schemeClr>
                </a:solidFill>
              </a:rPr>
              <a:t># use logging logging.info('this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info message')</a:t>
            </a:r>
          </a:p>
          <a:p>
            <a:pPr>
              <a:lnSpc>
                <a:spcPct val="150000"/>
              </a:lnSpc>
            </a:pPr>
            <a:r>
              <a:rPr lang="en-US" altLang="zh-CN" sz="1600" dirty="0" err="1">
                <a:solidFill>
                  <a:schemeClr val="tx1">
                    <a:lumMod val="75000"/>
                    <a:lumOff val="25000"/>
                  </a:schemeClr>
                </a:solidFill>
              </a:rPr>
              <a:t>logging.debug</a:t>
            </a:r>
            <a:r>
              <a:rPr lang="en-US" altLang="zh-CN" sz="1600" dirty="0">
                <a:solidFill>
                  <a:schemeClr val="tx1">
                    <a:lumMod val="75000"/>
                    <a:lumOff val="25000"/>
                  </a:schemeClr>
                </a:solidFill>
              </a:rPr>
              <a:t>('this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debug message')</a:t>
            </a:r>
          </a:p>
          <a:p>
            <a:pPr>
              <a:lnSpc>
                <a:spcPct val="150000"/>
              </a:lnSpc>
            </a:pPr>
            <a:r>
              <a:rPr lang="en-US" altLang="zh-CN" sz="1600" dirty="0" err="1">
                <a:solidFill>
                  <a:schemeClr val="tx1">
                    <a:lumMod val="75000"/>
                    <a:lumOff val="25000"/>
                  </a:schemeClr>
                </a:solidFill>
              </a:rPr>
              <a:t>logging.warning</a:t>
            </a:r>
            <a:r>
              <a:rPr lang="en-US" altLang="zh-CN" sz="1600" dirty="0">
                <a:solidFill>
                  <a:schemeClr val="tx1">
                    <a:lumMod val="75000"/>
                    <a:lumOff val="25000"/>
                  </a:schemeClr>
                </a:solidFill>
              </a:rPr>
              <a:t>('this is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a warning message')</a:t>
            </a:r>
          </a:p>
          <a:p>
            <a:pPr>
              <a:lnSpc>
                <a:spcPct val="150000"/>
              </a:lnSpc>
            </a:pPr>
            <a:r>
              <a:rPr lang="en-US" altLang="zh-CN" sz="1600" dirty="0" err="1">
                <a:solidFill>
                  <a:schemeClr val="tx1">
                    <a:lumMod val="75000"/>
                    <a:lumOff val="25000"/>
                  </a:schemeClr>
                </a:solidFill>
              </a:rPr>
              <a:t>logging.error</a:t>
            </a:r>
            <a:r>
              <a:rPr lang="en-US" altLang="zh-CN" sz="1600" dirty="0">
                <a:solidFill>
                  <a:schemeClr val="tx1">
                    <a:lumMod val="75000"/>
                    <a:lumOff val="25000"/>
                  </a:schemeClr>
                </a:solidFill>
              </a:rPr>
              <a:t>('this is an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error message')</a:t>
            </a:r>
          </a:p>
          <a:p>
            <a:pPr>
              <a:lnSpc>
                <a:spcPct val="150000"/>
              </a:lnSpc>
            </a:pPr>
            <a:r>
              <a:rPr lang="en-US" altLang="zh-CN" sz="1600" dirty="0" err="1">
                <a:solidFill>
                  <a:schemeClr val="tx1">
                    <a:lumMod val="75000"/>
                    <a:lumOff val="25000"/>
                  </a:schemeClr>
                </a:solidFill>
              </a:rPr>
              <a:t>logging.critical</a:t>
            </a:r>
            <a:r>
              <a:rPr lang="en-US" altLang="zh-CN" sz="1600" dirty="0">
                <a:solidFill>
                  <a:schemeClr val="tx1">
                    <a:lumMod val="75000"/>
                    <a:lumOff val="25000"/>
                  </a:schemeClr>
                </a:solidFill>
              </a:rPr>
              <a:t>('this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critical message')</a:t>
            </a:r>
          </a:p>
        </p:txBody>
      </p:sp>
      <p:pic>
        <p:nvPicPr>
          <p:cNvPr id="7" name="图片 6"/>
          <p:cNvPicPr>
            <a:picLocks noChangeAspect="1"/>
          </p:cNvPicPr>
          <p:nvPr/>
        </p:nvPicPr>
        <p:blipFill>
          <a:blip r:embed="rId2"/>
          <a:stretch>
            <a:fillRect/>
          </a:stretch>
        </p:blipFill>
        <p:spPr>
          <a:xfrm>
            <a:off x="1097966" y="5709454"/>
            <a:ext cx="10420350" cy="1019175"/>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pPr>
              <a:lnSpc>
                <a:spcPct val="150000"/>
              </a:lnSpc>
              <a:buNone/>
            </a:pPr>
            <a:r>
              <a:rPr lang="en-US" altLang="zh-CN" dirty="0" err="1">
                <a:solidFill>
                  <a:schemeClr val="tx1">
                    <a:lumMod val="75000"/>
                    <a:lumOff val="25000"/>
                  </a:schemeClr>
                </a:solidFill>
              </a:rPr>
              <a:t>思考：请修改以上程序中的配置代码分别为</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（1）logging.basicConfig(level=</a:t>
            </a:r>
            <a:r>
              <a:rPr lang="en-US" altLang="zh-CN" dirty="0" err="1">
                <a:solidFill>
                  <a:schemeClr val="tx1">
                    <a:lumMod val="75000"/>
                    <a:lumOff val="25000"/>
                  </a:schemeClr>
                </a:solidFill>
              </a:rPr>
              <a:t>logging.DEBUG</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（2）如果设置level = logging.INFO</a:t>
            </a:r>
          </a:p>
          <a:p>
            <a:pPr>
              <a:lnSpc>
                <a:spcPct val="150000"/>
              </a:lnSpc>
              <a:buNone/>
            </a:pPr>
            <a:r>
              <a:rPr lang="en-US" altLang="zh-CN" dirty="0" err="1">
                <a:solidFill>
                  <a:schemeClr val="tx1">
                    <a:lumMod val="75000"/>
                    <a:lumOff val="25000"/>
                  </a:schemeClr>
                </a:solidFill>
              </a:rPr>
              <a:t>然后运行程序观察输出的结果并加以理解</a:t>
            </a:r>
            <a:r>
              <a:rPr lang="en-US" altLang="zh-CN" dirty="0">
                <a:solidFill>
                  <a:schemeClr val="tx1">
                    <a:lumMod val="75000"/>
                    <a:lumOff val="25000"/>
                  </a:schemeClr>
                </a:solidFill>
              </a:rPr>
              <a:t>。</a:t>
            </a:r>
          </a:p>
          <a:p>
            <a:endParaRPr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a:xfrm>
            <a:off x="838200" y="1576909"/>
            <a:ext cx="10515600" cy="4351338"/>
          </a:xfrm>
        </p:spPr>
        <p:txBody>
          <a:bodyPr>
            <a:normAutofit/>
          </a:bodyPr>
          <a:lstStyle/>
          <a:p>
            <a:pPr>
              <a:lnSpc>
                <a:spcPct val="150000"/>
              </a:lnSpc>
              <a:buNone/>
            </a:pPr>
            <a:r>
              <a:rPr lang="en-US" altLang="zh-CN" sz="1800" dirty="0" err="1">
                <a:solidFill>
                  <a:schemeClr val="tx1">
                    <a:lumMod val="75000"/>
                    <a:lumOff val="25000"/>
                  </a:schemeClr>
                </a:solidFill>
              </a:rPr>
              <a:t>在logging.basicConfig</a:t>
            </a:r>
            <a:r>
              <a:rPr lang="en-US" altLang="zh-CN" sz="1800" dirty="0">
                <a:solidFill>
                  <a:schemeClr val="tx1">
                    <a:lumMod val="75000"/>
                    <a:lumOff val="25000"/>
                  </a:schemeClr>
                </a:solidFill>
              </a:rPr>
              <a:t>()配置函数中，除了可以配置日志级别，也可以配置日志的输出格式。日志的输出格式由参数format指定，通过设置这个参数可以输出很多有用的信息。</a:t>
            </a:r>
          </a:p>
          <a:p>
            <a:endParaRPr lang="zh-CN" altLang="en-US" dirty="0"/>
          </a:p>
        </p:txBody>
      </p:sp>
      <p:graphicFrame>
        <p:nvGraphicFramePr>
          <p:cNvPr id="5" name="表格 4"/>
          <p:cNvGraphicFramePr>
            <a:graphicFrameLocks noGrp="1"/>
          </p:cNvGraphicFramePr>
          <p:nvPr/>
        </p:nvGraphicFramePr>
        <p:xfrm>
          <a:off x="1001135" y="2443874"/>
          <a:ext cx="9384327" cy="3908847"/>
        </p:xfrm>
        <a:graphic>
          <a:graphicData uri="http://schemas.openxmlformats.org/drawingml/2006/table">
            <a:tbl>
              <a:tblPr/>
              <a:tblGrid>
                <a:gridCol w="1961276">
                  <a:extLst>
                    <a:ext uri="{9D8B030D-6E8A-4147-A177-3AD203B41FA5}">
                      <a16:colId xmlns:a16="http://schemas.microsoft.com/office/drawing/2014/main" val="20000"/>
                    </a:ext>
                  </a:extLst>
                </a:gridCol>
                <a:gridCol w="7423051">
                  <a:extLst>
                    <a:ext uri="{9D8B030D-6E8A-4147-A177-3AD203B41FA5}">
                      <a16:colId xmlns:a16="http://schemas.microsoft.com/office/drawing/2014/main" val="20001"/>
                    </a:ext>
                  </a:extLst>
                </a:gridCol>
              </a:tblGrid>
              <a:tr h="285553">
                <a:tc>
                  <a:txBody>
                    <a:bodyPr/>
                    <a:lstStyle/>
                    <a:p>
                      <a:pPr algn="ctr" defTabSz="914400">
                        <a:lnSpc>
                          <a:spcPct val="150000"/>
                        </a:lnSpc>
                        <a:buClrTx/>
                        <a:buSzTx/>
                        <a:buFontTx/>
                      </a:pPr>
                      <a:r>
                        <a:rPr lang="en-US" altLang="zh-CN" sz="1400" dirty="0">
                          <a:solidFill>
                            <a:schemeClr val="tx1">
                              <a:lumMod val="75000"/>
                              <a:lumOff val="25000"/>
                            </a:schemeClr>
                          </a:solidFill>
                        </a:rPr>
                        <a:t>格    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描    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0990">
                <a:tc>
                  <a:txBody>
                    <a:bodyPr/>
                    <a:lstStyle/>
                    <a:p>
                      <a:pPr algn="ctr" defTabSz="914400">
                        <a:lnSpc>
                          <a:spcPct val="150000"/>
                        </a:lnSpc>
                        <a:buClrTx/>
                        <a:buSzTx/>
                        <a:buFontTx/>
                      </a:pPr>
                      <a:r>
                        <a:rPr lang="en-US" altLang="zh-CN" sz="1400" dirty="0">
                          <a:solidFill>
                            <a:schemeClr val="tx1">
                              <a:lumMod val="75000"/>
                              <a:lumOff val="25000"/>
                            </a:schemeClr>
                          </a:solidFill>
                        </a:rPr>
                        <a:t>%(levelno)s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打印代表日志级别的数值</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3080">
                <a:tc>
                  <a:txBody>
                    <a:bodyPr/>
                    <a:lstStyle/>
                    <a:p>
                      <a:pPr algn="ctr" defTabSz="914400">
                        <a:lnSpc>
                          <a:spcPct val="150000"/>
                        </a:lnSpc>
                        <a:buClrTx/>
                        <a:buSzTx/>
                        <a:buFontTx/>
                      </a:pPr>
                      <a:r>
                        <a:rPr lang="en-US" altLang="zh-CN" sz="1400" dirty="0">
                          <a:solidFill>
                            <a:schemeClr val="tx1">
                              <a:lumMod val="75000"/>
                              <a:lumOff val="25000"/>
                            </a:schemeClr>
                          </a:solidFill>
                        </a:rPr>
                        <a:t>%(levelname)s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打印日志级别的名称（DEBUG、INFO、WARNING、ERROR、CRITICAL）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%(pathname)s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打印当前执行程序的路径</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%(filename)s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打印当前执行程序名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%(funcName)s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打印日志的当前函数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%(lineno)d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打印日志的当前行号（在代码中所在的行号）</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%(asctime)s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打印日志的时间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%(thread)d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打印线程ID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%(threadName)s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打印线程名称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%(process)d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打印进程ID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571106">
                <a:tc>
                  <a:txBody>
                    <a:bodyPr/>
                    <a:lstStyle/>
                    <a:p>
                      <a:pPr algn="ctr" defTabSz="914400">
                        <a:lnSpc>
                          <a:spcPct val="150000"/>
                        </a:lnSpc>
                        <a:buClrTx/>
                        <a:buSzTx/>
                        <a:buFontTx/>
                      </a:pPr>
                      <a:r>
                        <a:rPr lang="en-US" altLang="zh-CN" sz="1400" dirty="0">
                          <a:solidFill>
                            <a:schemeClr val="tx1">
                              <a:lumMod val="75000"/>
                              <a:lumOff val="25000"/>
                            </a:schemeClr>
                          </a:solidFill>
                        </a:rPr>
                        <a:t>%(message)s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打印日志信息，如果没有设置此参数，则日志信息不会输出（无论是控制台上还是文件中，都不会有日志信息输出）</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5" name="矩形 4"/>
          <p:cNvSpPr/>
          <p:nvPr/>
        </p:nvSpPr>
        <p:spPr>
          <a:xfrm>
            <a:off x="1134951" y="1943623"/>
            <a:ext cx="9120959" cy="341632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有两种方式来记录跟踪日志，一种是输出到控制台上，另一种是记录到文件中，形成日志文件。</a:t>
            </a:r>
          </a:p>
          <a:p>
            <a:pPr algn="l">
              <a:lnSpc>
                <a:spcPct val="150000"/>
              </a:lnSpc>
              <a:buClrTx/>
              <a:buSzTx/>
              <a:buNone/>
            </a:pPr>
            <a:r>
              <a:rPr lang="en-US" altLang="zh-CN" sz="1600" dirty="0">
                <a:solidFill>
                  <a:schemeClr val="tx1">
                    <a:lumMod val="75000"/>
                    <a:lumOff val="25000"/>
                  </a:schemeClr>
                </a:solidFill>
              </a:rPr>
              <a:t>1）将日志输出到控制台上</a:t>
            </a:r>
          </a:p>
          <a:p>
            <a:pPr algn="l">
              <a:lnSpc>
                <a:spcPct val="150000"/>
              </a:lnSpc>
              <a:buClrTx/>
              <a:buSzTx/>
              <a:buNone/>
            </a:pPr>
            <a:r>
              <a:rPr lang="en-US" altLang="zh-CN" sz="1600" dirty="0">
                <a:solidFill>
                  <a:schemeClr val="tx1">
                    <a:lumMod val="75000"/>
                    <a:lumOff val="25000"/>
                  </a:schemeClr>
                </a:solidFill>
              </a:rPr>
              <a:t>#logging模块的使用</a:t>
            </a:r>
          </a:p>
          <a:p>
            <a:pPr algn="l">
              <a:lnSpc>
                <a:spcPct val="150000"/>
              </a:lnSpc>
              <a:buClrTx/>
              <a:buSzTx/>
              <a:buNone/>
            </a:pPr>
            <a:r>
              <a:rPr lang="en-US" altLang="zh-CN" sz="1600" dirty="0">
                <a:solidFill>
                  <a:schemeClr val="tx1">
                    <a:lumMod val="75000"/>
                    <a:lumOff val="25000"/>
                  </a:schemeClr>
                </a:solidFill>
              </a:rPr>
              <a:t>import logging</a:t>
            </a:r>
          </a:p>
          <a:p>
            <a:pPr algn="l">
              <a:lnSpc>
                <a:spcPct val="150000"/>
              </a:lnSpc>
              <a:buClrTx/>
              <a:buSzTx/>
              <a:buNone/>
            </a:pPr>
            <a:r>
              <a:rPr lang="en-US" altLang="zh-CN" sz="1600" dirty="0">
                <a:solidFill>
                  <a:schemeClr val="tx1">
                    <a:lumMod val="75000"/>
                    <a:lumOff val="25000"/>
                  </a:schemeClr>
                </a:solidFill>
              </a:rPr>
              <a:t>#将日志打印到控制台上</a:t>
            </a:r>
          </a:p>
          <a:p>
            <a:pPr algn="l">
              <a:lnSpc>
                <a:spcPct val="150000"/>
              </a:lnSpc>
              <a:buClrTx/>
              <a:buSzTx/>
              <a:buNone/>
            </a:pPr>
            <a:r>
              <a:rPr lang="en-US" altLang="zh-CN" sz="1600" dirty="0">
                <a:solidFill>
                  <a:schemeClr val="tx1">
                    <a:lumMod val="75000"/>
                    <a:lumOff val="25000"/>
                  </a:schemeClr>
                </a:solidFill>
              </a:rPr>
              <a:t>logging.debug('debug 信息')</a:t>
            </a:r>
          </a:p>
          <a:p>
            <a:pPr algn="l">
              <a:lnSpc>
                <a:spcPct val="150000"/>
              </a:lnSpc>
              <a:buClrTx/>
              <a:buSzTx/>
              <a:buNone/>
            </a:pPr>
            <a:r>
              <a:rPr lang="en-US" altLang="zh-CN" sz="1600" dirty="0">
                <a:solidFill>
                  <a:schemeClr val="tx1">
                    <a:lumMod val="75000"/>
                    <a:lumOff val="25000"/>
                  </a:schemeClr>
                </a:solidFill>
              </a:rPr>
              <a:t>#由于默认设置的等级是“WARNING”，所以只有“warning”的信息会输出到控制台上！</a:t>
            </a:r>
          </a:p>
          <a:p>
            <a:pPr algn="l">
              <a:lnSpc>
                <a:spcPct val="150000"/>
              </a:lnSpc>
              <a:buClrTx/>
              <a:buSzTx/>
              <a:buNone/>
            </a:pPr>
            <a:r>
              <a:rPr lang="en-US" altLang="zh-CN" sz="1600" dirty="0">
                <a:solidFill>
                  <a:schemeClr val="tx1">
                    <a:lumMod val="75000"/>
                    <a:lumOff val="25000"/>
                  </a:schemeClr>
                </a:solidFill>
              </a:rPr>
              <a:t>logging.warning('</a:t>
            </a:r>
            <a:r>
              <a:rPr lang="en-US" altLang="zh-CN" sz="1600" dirty="0" err="1">
                <a:solidFill>
                  <a:schemeClr val="tx1">
                    <a:lumMod val="75000"/>
                    <a:lumOff val="25000"/>
                  </a:schemeClr>
                </a:solidFill>
              </a:rPr>
              <a:t>只有这个会输出</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logging.info('info 信息')</a:t>
            </a:r>
          </a:p>
        </p:txBody>
      </p:sp>
      <p:pic>
        <p:nvPicPr>
          <p:cNvPr id="6" name="图片 157"/>
          <p:cNvPicPr>
            <a:picLocks noChangeAspect="1" noChangeArrowheads="1"/>
          </p:cNvPicPr>
          <p:nvPr/>
        </p:nvPicPr>
        <p:blipFill>
          <a:blip r:embed="rId2" cstate="print"/>
          <a:srcRect/>
          <a:stretch>
            <a:fillRect/>
          </a:stretch>
        </p:blipFill>
        <p:spPr bwMode="auto">
          <a:xfrm>
            <a:off x="1134951" y="5378317"/>
            <a:ext cx="5277124" cy="409432"/>
          </a:xfrm>
          <a:prstGeom prst="rect">
            <a:avLst/>
          </a:prstGeom>
          <a:noFill/>
          <a:ln w="9525">
            <a:noFill/>
            <a:miter lim="800000"/>
            <a:headEnd/>
            <a:tailEnd/>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7" name="矩形 6"/>
          <p:cNvSpPr/>
          <p:nvPr/>
        </p:nvSpPr>
        <p:spPr>
          <a:xfrm>
            <a:off x="1037228" y="1825625"/>
            <a:ext cx="10608569" cy="5262979"/>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可以通过logging.basicConfig()函数设置打印日志的等级。</a:t>
            </a:r>
          </a:p>
          <a:p>
            <a:pPr algn="l">
              <a:lnSpc>
                <a:spcPct val="150000"/>
              </a:lnSpc>
              <a:buClrTx/>
              <a:buSzTx/>
              <a:buNone/>
            </a:pPr>
            <a:r>
              <a:rPr lang="en-US" altLang="zh-CN" sz="1600" dirty="0">
                <a:solidFill>
                  <a:schemeClr val="tx1">
                    <a:lumMod val="75000"/>
                    <a:lumOff val="25000"/>
                  </a:schemeClr>
                </a:solidFill>
              </a:rPr>
              <a:t>#logging模块的使用</a:t>
            </a:r>
          </a:p>
          <a:p>
            <a:pPr algn="l">
              <a:lnSpc>
                <a:spcPct val="150000"/>
              </a:lnSpc>
              <a:buClrTx/>
              <a:buSzTx/>
              <a:buNone/>
            </a:pPr>
            <a:r>
              <a:rPr lang="en-US" altLang="zh-CN" sz="1600" dirty="0">
                <a:solidFill>
                  <a:schemeClr val="tx1">
                    <a:lumMod val="75000"/>
                    <a:lumOff val="25000"/>
                  </a:schemeClr>
                </a:solidFill>
              </a:rPr>
              <a:t>#使用logging.basicConfig()函数设置打印日志的等级</a:t>
            </a:r>
          </a:p>
          <a:p>
            <a:pPr algn="l">
              <a:lnSpc>
                <a:spcPct val="150000"/>
              </a:lnSpc>
              <a:buClrTx/>
              <a:buSzTx/>
              <a:buNone/>
            </a:pPr>
            <a:r>
              <a:rPr lang="en-US" altLang="zh-CN" sz="1600" dirty="0">
                <a:solidFill>
                  <a:schemeClr val="tx1">
                    <a:lumMod val="75000"/>
                    <a:lumOff val="25000"/>
                  </a:schemeClr>
                </a:solidFill>
              </a:rPr>
              <a:t>import logging</a:t>
            </a:r>
          </a:p>
          <a:p>
            <a:pPr algn="l">
              <a:lnSpc>
                <a:spcPct val="150000"/>
              </a:lnSpc>
              <a:buClrTx/>
              <a:buSzTx/>
              <a:buNone/>
            </a:pPr>
            <a:r>
              <a:rPr lang="en-US" altLang="zh-CN" sz="1600" dirty="0">
                <a:solidFill>
                  <a:schemeClr val="tx1">
                    <a:lumMod val="75000"/>
                    <a:lumOff val="25000"/>
                  </a:schemeClr>
                </a:solidFill>
              </a:rPr>
              <a:t>#设置打印日志的级别</a:t>
            </a:r>
          </a:p>
          <a:p>
            <a:pPr algn="l">
              <a:lnSpc>
                <a:spcPct val="150000"/>
              </a:lnSpc>
              <a:buClrTx/>
              <a:buSzTx/>
              <a:buNone/>
            </a:pPr>
            <a:r>
              <a:rPr lang="en-US" altLang="zh-CN" sz="1600" dirty="0">
                <a:solidFill>
                  <a:schemeClr val="tx1">
                    <a:lumMod val="75000"/>
                    <a:lumOff val="25000"/>
                  </a:schemeClr>
                </a:solidFill>
              </a:rPr>
              <a:t>logging.basicConfig(level=logging.INFO)</a:t>
            </a:r>
          </a:p>
          <a:p>
            <a:pPr algn="l">
              <a:lnSpc>
                <a:spcPct val="150000"/>
              </a:lnSpc>
              <a:buClrTx/>
              <a:buSzTx/>
              <a:buNone/>
            </a:pPr>
            <a:r>
              <a:rPr lang="en-US" altLang="zh-CN" sz="1600" dirty="0">
                <a:solidFill>
                  <a:schemeClr val="tx1">
                    <a:lumMod val="75000"/>
                    <a:lumOff val="25000"/>
                  </a:schemeClr>
                </a:solidFill>
              </a:rPr>
              <a:t>#将日志打印到控制台上</a:t>
            </a:r>
          </a:p>
          <a:p>
            <a:pPr algn="l">
              <a:lnSpc>
                <a:spcPct val="150000"/>
              </a:lnSpc>
              <a:buClrTx/>
              <a:buSzTx/>
              <a:buNone/>
            </a:pPr>
            <a:r>
              <a:rPr lang="en-US" altLang="zh-CN" sz="1600" dirty="0">
                <a:solidFill>
                  <a:schemeClr val="tx1">
                    <a:lumMod val="75000"/>
                    <a:lumOff val="25000"/>
                  </a:schemeClr>
                </a:solidFill>
              </a:rPr>
              <a:t>logging.debug('debug 信息')</a:t>
            </a:r>
          </a:p>
          <a:p>
            <a:pPr algn="l">
              <a:lnSpc>
                <a:spcPct val="150000"/>
              </a:lnSpc>
              <a:buClrTx/>
              <a:buSzTx/>
              <a:buNone/>
            </a:pPr>
            <a:r>
              <a:rPr lang="en-US" altLang="zh-CN" sz="1600" dirty="0">
                <a:solidFill>
                  <a:schemeClr val="tx1">
                    <a:lumMod val="75000"/>
                    <a:lumOff val="25000"/>
                  </a:schemeClr>
                </a:solidFill>
              </a:rPr>
              <a:t>logging.warning('只有这个会输出……')</a:t>
            </a:r>
          </a:p>
          <a:p>
            <a:pPr algn="l">
              <a:lnSpc>
                <a:spcPct val="150000"/>
              </a:lnSpc>
              <a:buClrTx/>
              <a:buSzTx/>
              <a:buNone/>
            </a:pPr>
            <a:r>
              <a:rPr lang="en-US" altLang="zh-CN" sz="1600" dirty="0">
                <a:solidFill>
                  <a:schemeClr val="tx1">
                    <a:lumMod val="75000"/>
                    <a:lumOff val="25000"/>
                  </a:schemeClr>
                </a:solidFill>
              </a:rPr>
              <a:t>logging.info('info </a:t>
            </a:r>
            <a:r>
              <a:rPr lang="en-US" altLang="zh-CN" sz="1600" dirty="0" err="1">
                <a:solidFill>
                  <a:schemeClr val="tx1">
                    <a:lumMod val="75000"/>
                    <a:lumOff val="25000"/>
                  </a:schemeClr>
                </a:solidFill>
              </a:rPr>
              <a:t>信息</a:t>
            </a:r>
            <a:r>
              <a:rPr lang="en-US" altLang="zh-CN" sz="1600" dirty="0">
                <a:solidFill>
                  <a:schemeClr val="tx1">
                    <a:lumMod val="75000"/>
                    <a:lumOff val="25000"/>
                  </a:schemeClr>
                </a:solidFill>
              </a:rPr>
              <a: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由于输出日志的级别依次为：DUBUG→INFO→WARNING，因此，只有“.warning”和“.info”两个信息将被输出到控制台上。</a:t>
            </a:r>
          </a:p>
          <a:p>
            <a:pPr algn="l">
              <a:lnSpc>
                <a:spcPct val="150000"/>
              </a:lnSpc>
              <a:buClrTx/>
              <a:buSzTx/>
              <a:buNone/>
            </a:pPr>
            <a:endParaRPr lang="en-US" altLang="zh-CN" sz="1600" dirty="0">
              <a:solidFill>
                <a:schemeClr val="tx1">
                  <a:lumMod val="75000"/>
                  <a:lumOff val="25000"/>
                </a:schemeClr>
              </a:solidFill>
            </a:endParaRPr>
          </a:p>
        </p:txBody>
      </p:sp>
      <p:pic>
        <p:nvPicPr>
          <p:cNvPr id="8" name="图片 160"/>
          <p:cNvPicPr>
            <a:picLocks noChangeAspect="1" noChangeArrowheads="1"/>
          </p:cNvPicPr>
          <p:nvPr/>
        </p:nvPicPr>
        <p:blipFill>
          <a:blip r:embed="rId2" cstate="print"/>
          <a:srcRect/>
          <a:stretch>
            <a:fillRect/>
          </a:stretch>
        </p:blipFill>
        <p:spPr bwMode="auto">
          <a:xfrm>
            <a:off x="1112514" y="5610225"/>
            <a:ext cx="4694830" cy="744554"/>
          </a:xfrm>
          <a:prstGeom prst="rect">
            <a:avLst/>
          </a:prstGeom>
          <a:noFill/>
          <a:ln w="9525">
            <a:noFill/>
            <a:miter lim="800000"/>
            <a:headEnd/>
            <a:tailEnd/>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6" name="矩形 5"/>
          <p:cNvSpPr/>
          <p:nvPr/>
        </p:nvSpPr>
        <p:spPr>
          <a:xfrm>
            <a:off x="1107030" y="1894806"/>
            <a:ext cx="9748727" cy="2677656"/>
          </a:xfrm>
          <a:prstGeom prst="rect">
            <a:avLst/>
          </a:prstGeom>
        </p:spPr>
        <p:txBody>
          <a:bodyPr wrap="square">
            <a:spAutoFit/>
          </a:bodyPr>
          <a:lstStyle/>
          <a:p>
            <a:pPr algn="l">
              <a:lnSpc>
                <a:spcPct val="150000"/>
              </a:lnSpc>
              <a:buClrTx/>
              <a:buSzTx/>
              <a:buNone/>
            </a:pPr>
            <a:r>
              <a:rPr lang="en-US" altLang="zh-CN" sz="1600" dirty="0" err="1">
                <a:solidFill>
                  <a:schemeClr val="tx1">
                    <a:lumMod val="75000"/>
                    <a:lumOff val="25000"/>
                  </a:schemeClr>
                </a:solidFill>
              </a:rPr>
              <a:t>logging.basicConfig</a:t>
            </a:r>
            <a:r>
              <a:rPr lang="en-US" altLang="zh-CN" sz="1600" dirty="0">
                <a:solidFill>
                  <a:schemeClr val="tx1">
                    <a:lumMod val="75000"/>
                    <a:lumOff val="25000"/>
                  </a:schemeClr>
                </a:solidFill>
              </a:rPr>
              <a:t>()函数实现打印日志的基础配置，它提供了非常便捷的方式来配置logging模块，通过传入不同的参数实现不同的配置功能。logging.basicConfig()函数的语法格式如下：</a:t>
            </a:r>
          </a:p>
          <a:p>
            <a:pPr algn="l">
              <a:lnSpc>
                <a:spcPct val="150000"/>
              </a:lnSpc>
              <a:buClrTx/>
              <a:buSzTx/>
              <a:buNone/>
            </a:pPr>
            <a:r>
              <a:rPr lang="en-US" altLang="zh-CN" sz="1600" dirty="0">
                <a:solidFill>
                  <a:schemeClr val="tx1">
                    <a:lumMod val="75000"/>
                    <a:lumOff val="25000"/>
                  </a:schemeClr>
                </a:solidFill>
              </a:rPr>
              <a:t>logging.basicConfig(level=logging.DEBUG, </a:t>
            </a:r>
          </a:p>
          <a:p>
            <a:pPr algn="l">
              <a:lnSpc>
                <a:spcPct val="150000"/>
              </a:lnSpc>
              <a:buClrTx/>
              <a:buSzTx/>
              <a:buNone/>
            </a:pPr>
            <a:r>
              <a:rPr lang="en-US" altLang="zh-CN" sz="1600" dirty="0">
                <a:solidFill>
                  <a:schemeClr val="tx1">
                    <a:lumMod val="75000"/>
                    <a:lumOff val="25000"/>
                  </a:schemeClr>
                </a:solidFill>
              </a:rPr>
              <a:t>       filename='new.log',               </a:t>
            </a:r>
          </a:p>
          <a:p>
            <a:pPr algn="l">
              <a:lnSpc>
                <a:spcPct val="150000"/>
              </a:lnSpc>
              <a:buClrTx/>
              <a:buSzTx/>
              <a:buNone/>
            </a:pPr>
            <a:r>
              <a:rPr lang="en-US" altLang="zh-CN" sz="1600" dirty="0">
                <a:solidFill>
                  <a:schemeClr val="tx1">
                    <a:lumMod val="75000"/>
                    <a:lumOff val="25000"/>
                  </a:schemeClr>
                </a:solidFill>
              </a:rPr>
              <a:t>       filemode='a',              </a:t>
            </a:r>
          </a:p>
          <a:p>
            <a:pPr algn="l">
              <a:lnSpc>
                <a:spcPct val="150000"/>
              </a:lnSpc>
              <a:buClrTx/>
              <a:buSzTx/>
              <a:buNone/>
            </a:pPr>
            <a:r>
              <a:rPr lang="en-US" altLang="zh-CN" sz="1600" dirty="0">
                <a:solidFill>
                  <a:schemeClr val="tx1">
                    <a:lumMod val="75000"/>
                    <a:lumOff val="25000"/>
                  </a:schemeClr>
                </a:solidFill>
              </a:rPr>
              <a:t>        format= '%(asctime)s - %(filename)s[line:%(lineno)d] - %(levelname)s: %(message)s'</a:t>
            </a:r>
          </a:p>
          <a:p>
            <a:pPr algn="l">
              <a:lnSpc>
                <a:spcPct val="150000"/>
              </a:lnSpc>
              <a:buClrTx/>
              <a:buSzTx/>
              <a:buNone/>
            </a:pPr>
            <a:r>
              <a:rPr lang="en-US" altLang="zh-CN" sz="1600" dirty="0">
                <a:solidFill>
                  <a:schemeClr val="tx1">
                    <a:lumMod val="75000"/>
                    <a:lumOff val="25000"/>
                  </a:schemeClr>
                </a:solidFill>
              </a:rPr>
              <a:t>       )</a:t>
            </a:r>
            <a:endParaRPr lang="zh-CN" altLang="en-US" sz="1600" dirty="0">
              <a:latin typeface="+mn-ea"/>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5" name="矩形 4"/>
          <p:cNvSpPr/>
          <p:nvPr/>
        </p:nvSpPr>
        <p:spPr>
          <a:xfrm>
            <a:off x="1078411" y="1825625"/>
            <a:ext cx="10069954" cy="3785652"/>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函数各参数的含义如下：</a:t>
            </a:r>
          </a:p>
          <a:p>
            <a:pPr algn="l">
              <a:lnSpc>
                <a:spcPct val="150000"/>
              </a:lnSpc>
              <a:buClrTx/>
              <a:buSzTx/>
              <a:buNone/>
            </a:pPr>
            <a:r>
              <a:rPr lang="en-US" altLang="zh-CN" sz="1600" dirty="0">
                <a:solidFill>
                  <a:schemeClr val="tx1">
                    <a:lumMod val="75000"/>
                    <a:lumOff val="25000"/>
                  </a:schemeClr>
                </a:solidFill>
              </a:rPr>
              <a:t>level：设置日志级别，默认为logging.WARNING，即WARNING级别。</a:t>
            </a:r>
          </a:p>
          <a:p>
            <a:pPr algn="l">
              <a:lnSpc>
                <a:spcPct val="150000"/>
              </a:lnSpc>
              <a:buClrTx/>
              <a:buSzTx/>
              <a:buNone/>
            </a:pPr>
            <a:r>
              <a:rPr lang="en-US" altLang="zh-CN" sz="1600" dirty="0">
                <a:solidFill>
                  <a:schemeClr val="tx1">
                    <a:lumMod val="75000"/>
                    <a:lumOff val="25000"/>
                  </a:schemeClr>
                </a:solidFill>
              </a:rPr>
              <a:t>filename：指定日志文件名，日志文件的扩展名为.log。</a:t>
            </a:r>
          </a:p>
          <a:p>
            <a:pPr algn="l">
              <a:lnSpc>
                <a:spcPct val="150000"/>
              </a:lnSpc>
              <a:buClrTx/>
              <a:buSzTx/>
              <a:buNone/>
            </a:pPr>
            <a:r>
              <a:rPr lang="en-US" altLang="zh-CN" sz="1600" dirty="0">
                <a:solidFill>
                  <a:schemeClr val="tx1">
                    <a:lumMod val="75000"/>
                    <a:lumOff val="25000"/>
                  </a:schemeClr>
                </a:solidFill>
              </a:rPr>
              <a:t>filemode：指定日志文件的打开模式，包括'w'和'a'。'w'为写模式，其每次都会重新写日志，覆盖之前的日志。'a'为追加模式，filemode默认的就是追加模式。</a:t>
            </a:r>
          </a:p>
          <a:p>
            <a:pPr algn="l">
              <a:lnSpc>
                <a:spcPct val="150000"/>
              </a:lnSpc>
              <a:buClrTx/>
              <a:buSzTx/>
              <a:buNone/>
            </a:pPr>
            <a:r>
              <a:rPr lang="en-US" altLang="zh-CN" sz="1600" dirty="0">
                <a:solidFill>
                  <a:schemeClr val="tx1">
                    <a:lumMod val="75000"/>
                    <a:lumOff val="25000"/>
                  </a:schemeClr>
                </a:solidFill>
              </a:rPr>
              <a:t>如果在logging.basicConfig()中设置filename和filemode，则只会将日志保存到文件中，不会输出到控制台上。</a:t>
            </a:r>
          </a:p>
          <a:p>
            <a:pPr algn="l">
              <a:lnSpc>
                <a:spcPct val="150000"/>
              </a:lnSpc>
              <a:buClrTx/>
              <a:buSzTx/>
              <a:buNone/>
            </a:pPr>
            <a:r>
              <a:rPr lang="en-US" altLang="zh-CN" sz="1600" dirty="0">
                <a:solidFill>
                  <a:schemeClr val="tx1">
                    <a:lumMod val="75000"/>
                    <a:lumOff val="25000"/>
                  </a:schemeClr>
                </a:solidFill>
              </a:rPr>
              <a:t>format：指定输出的格式和内容，通过设置format，可以输出很多有用信息。</a:t>
            </a:r>
          </a:p>
          <a:p>
            <a:pPr algn="l">
              <a:lnSpc>
                <a:spcPct val="150000"/>
              </a:lnSpc>
              <a:buClrTx/>
              <a:buSzTx/>
              <a:buNone/>
            </a:pPr>
            <a:r>
              <a:rPr lang="en-US" altLang="zh-CN" sz="1600" dirty="0">
                <a:solidFill>
                  <a:schemeClr val="tx1">
                    <a:lumMod val="75000"/>
                    <a:lumOff val="25000"/>
                  </a:schemeClr>
                </a:solidFill>
              </a:rPr>
              <a:t>有关logging.basicConfig()更详细的使用可通过命令“help(logging)”进行查阅。</a:t>
            </a:r>
          </a:p>
          <a:p>
            <a:pPr algn="l">
              <a:lnSpc>
                <a:spcPct val="150000"/>
              </a:lnSpc>
              <a:buClrTx/>
              <a:buSzTx/>
              <a:buNone/>
            </a:pPr>
            <a:r>
              <a:rPr lang="en-US" altLang="zh-CN" sz="1600" dirty="0">
                <a:solidFill>
                  <a:schemeClr val="tx1">
                    <a:lumMod val="75000"/>
                    <a:lumOff val="25000"/>
                  </a:schemeClr>
                </a:solidFill>
              </a:rPr>
              <a:t>&gt; import logging</a:t>
            </a:r>
          </a:p>
          <a:p>
            <a:pPr algn="l">
              <a:lnSpc>
                <a:spcPct val="150000"/>
              </a:lnSpc>
              <a:buClrTx/>
              <a:buSzTx/>
              <a:buNone/>
            </a:pPr>
            <a:r>
              <a:rPr lang="en-US" altLang="zh-CN" sz="1600" dirty="0">
                <a:solidFill>
                  <a:schemeClr val="tx1">
                    <a:lumMod val="75000"/>
                    <a:lumOff val="25000"/>
                  </a:schemeClr>
                </a:solidFill>
              </a:rPr>
              <a:t>&gt; help(logging)</a:t>
            </a:r>
            <a:endParaRPr lang="zh-CN" altLang="en-US" sz="1600" dirty="0">
              <a:latin typeface="+mn-ea"/>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6" name="矩形 5"/>
          <p:cNvSpPr/>
          <p:nvPr/>
        </p:nvSpPr>
        <p:spPr>
          <a:xfrm>
            <a:off x="1085399" y="1968903"/>
            <a:ext cx="9916661" cy="2308324"/>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2）将日志输出到文件中</a:t>
            </a:r>
          </a:p>
          <a:p>
            <a:pPr algn="l">
              <a:lnSpc>
                <a:spcPct val="150000"/>
              </a:lnSpc>
              <a:buClrTx/>
              <a:buSzTx/>
              <a:buNone/>
            </a:pPr>
            <a:r>
              <a:rPr lang="en-US" altLang="zh-CN" sz="1600" dirty="0">
                <a:solidFill>
                  <a:schemeClr val="tx1">
                    <a:lumMod val="75000"/>
                    <a:lumOff val="25000"/>
                  </a:schemeClr>
                </a:solidFill>
              </a:rPr>
              <a:t>       在logging.basicConfig()函数中，通过设置输出文件（.log文件，也可以是.txt文件）的文件名和写文件的模式（‘w’或‘a’），</a:t>
            </a:r>
            <a:r>
              <a:rPr lang="en-US" altLang="zh-CN" sz="1600" dirty="0" err="1">
                <a:solidFill>
                  <a:schemeClr val="tx1">
                    <a:lumMod val="75000"/>
                    <a:lumOff val="25000"/>
                  </a:schemeClr>
                </a:solidFill>
              </a:rPr>
              <a:t>就能将日志信息写入日志文件中。但必须注意</a:t>
            </a:r>
            <a:r>
              <a:rPr lang="en-US" altLang="zh-CN" sz="1600" dirty="0">
                <a:solidFill>
                  <a:schemeClr val="tx1">
                    <a:lumMod val="75000"/>
                    <a:lumOff val="25000"/>
                  </a:schemeClr>
                </a:solidFill>
              </a:rPr>
              <a:t>：</a:t>
            </a:r>
          </a:p>
          <a:p>
            <a:pPr algn="l">
              <a:lnSpc>
                <a:spcPct val="150000"/>
              </a:lnSpc>
              <a:buClrTx/>
              <a:buSzTx/>
              <a:buNone/>
            </a:pPr>
            <a:r>
              <a:rPr lang="en-US" altLang="zh-CN" sz="1600" dirty="0" err="1">
                <a:solidFill>
                  <a:schemeClr val="tx1">
                    <a:lumMod val="75000"/>
                    <a:lumOff val="25000"/>
                  </a:schemeClr>
                </a:solidFill>
              </a:rPr>
              <a:t>如果在logging.basicConfig</a:t>
            </a:r>
            <a:r>
              <a:rPr lang="en-US" altLang="zh-CN" sz="1600" dirty="0">
                <a:solidFill>
                  <a:schemeClr val="tx1">
                    <a:lumMod val="75000"/>
                    <a:lumOff val="25000"/>
                  </a:schemeClr>
                </a:solidFill>
              </a:rPr>
              <a:t>()函数中要传入format参数，就必须要有“%(message)s”，</a:t>
            </a:r>
            <a:r>
              <a:rPr lang="en-US" altLang="zh-CN" sz="1600" dirty="0" err="1">
                <a:solidFill>
                  <a:schemeClr val="tx1">
                    <a:lumMod val="75000"/>
                    <a:lumOff val="25000"/>
                  </a:schemeClr>
                </a:solidFill>
              </a:rPr>
              <a:t>否则，logging.debug</a:t>
            </a:r>
            <a:r>
              <a:rPr lang="en-US" altLang="zh-CN" sz="1600" dirty="0">
                <a:solidFill>
                  <a:schemeClr val="tx1">
                    <a:lumMod val="75000"/>
                    <a:lumOff val="25000"/>
                  </a:schemeClr>
                </a:solidFill>
              </a:rPr>
              <a:t>()、logging.info()、logging.warning()、logging.error()、logging.critical()的相关信息无法写入日志文件中，也不能输出到控制台上。</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5" name="矩形 4"/>
          <p:cNvSpPr/>
          <p:nvPr/>
        </p:nvSpPr>
        <p:spPr>
          <a:xfrm>
            <a:off x="890646" y="1162685"/>
            <a:ext cx="8261267" cy="5695315"/>
          </a:xfrm>
          <a:prstGeom prst="rect">
            <a:avLst/>
          </a:prstGeom>
        </p:spPr>
        <p:txBody>
          <a:bodyPr wrap="square">
            <a:spAutoFit/>
          </a:bodyPr>
          <a:lstStyle/>
          <a:p>
            <a:pPr>
              <a:lnSpc>
                <a:spcPct val="120000"/>
              </a:lnSpc>
            </a:pPr>
            <a:r>
              <a:rPr lang="en-US" altLang="zh-CN" sz="1600" dirty="0">
                <a:solidFill>
                  <a:schemeClr val="tx1">
                    <a:lumMod val="75000"/>
                    <a:lumOff val="25000"/>
                  </a:schemeClr>
                </a:solidFill>
              </a:rPr>
              <a:t>#logging</a:t>
            </a:r>
            <a:r>
              <a:rPr lang="zh-CN" altLang="en-US" sz="1600" dirty="0">
                <a:solidFill>
                  <a:schemeClr val="tx1">
                    <a:lumMod val="75000"/>
                    <a:lumOff val="25000"/>
                  </a:schemeClr>
                </a:solidFill>
              </a:rPr>
              <a:t>模块的使用</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使用</a:t>
            </a:r>
            <a:r>
              <a:rPr lang="en-US" altLang="zh-CN" sz="1600" dirty="0" err="1">
                <a:solidFill>
                  <a:schemeClr val="tx1">
                    <a:lumMod val="75000"/>
                    <a:lumOff val="25000"/>
                  </a:schemeClr>
                </a:solidFill>
              </a:rPr>
              <a:t>logging.basicConfig</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函数设置打印日志的等级</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import logging</a:t>
            </a:r>
          </a:p>
          <a:p>
            <a:pPr>
              <a:lnSpc>
                <a:spcPct val="120000"/>
              </a:lnSpc>
            </a:pPr>
            <a:r>
              <a:rPr lang="en-US" altLang="zh-CN" sz="1600" dirty="0">
                <a:solidFill>
                  <a:schemeClr val="tx1">
                    <a:lumMod val="75000"/>
                    <a:lumOff val="25000"/>
                  </a:schemeClr>
                </a:solidFill>
              </a:rPr>
              <a:t>path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a:t>
            </a:r>
          </a:p>
          <a:p>
            <a:pPr>
              <a:lnSpc>
                <a:spcPct val="120000"/>
              </a:lnSpc>
            </a:pP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(path)</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设置打印日志的级别</a:t>
            </a:r>
          </a:p>
          <a:p>
            <a:pPr>
              <a:lnSpc>
                <a:spcPct val="120000"/>
              </a:lnSpc>
            </a:pPr>
            <a:r>
              <a:rPr lang="en-US" altLang="zh-CN" sz="1600" dirty="0" err="1">
                <a:solidFill>
                  <a:schemeClr val="tx1">
                    <a:lumMod val="75000"/>
                    <a:lumOff val="25000"/>
                  </a:schemeClr>
                </a:solidFill>
              </a:rPr>
              <a:t>logging.basicConfig</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level=logging.INFO,</a:t>
            </a:r>
          </a:p>
          <a:p>
            <a:pPr>
              <a:lnSpc>
                <a:spcPct val="120000"/>
              </a:lnSpc>
            </a:pPr>
            <a:r>
              <a:rPr lang="en-US" altLang="zh-CN" sz="1600" dirty="0">
                <a:solidFill>
                  <a:schemeClr val="tx1">
                    <a:lumMod val="75000"/>
                    <a:lumOff val="25000"/>
                  </a:schemeClr>
                </a:solidFill>
              </a:rPr>
              <a:t>    filename='chapter4_4_3_5.log',</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filemode</a:t>
            </a:r>
            <a:r>
              <a:rPr lang="en-US" altLang="zh-CN" sz="1600" dirty="0">
                <a:solidFill>
                  <a:schemeClr val="tx1">
                    <a:lumMod val="75000"/>
                    <a:lumOff val="25000"/>
                  </a:schemeClr>
                </a:solidFill>
              </a:rPr>
              <a:t>='w', #</a:t>
            </a:r>
            <a:r>
              <a:rPr lang="zh-CN" altLang="en-US" sz="1600" dirty="0">
                <a:solidFill>
                  <a:schemeClr val="tx1">
                    <a:lumMod val="75000"/>
                    <a:lumOff val="25000"/>
                  </a:schemeClr>
                </a:solidFill>
              </a:rPr>
              <a:t>写模式</a:t>
            </a:r>
          </a:p>
          <a:p>
            <a:pPr>
              <a:lnSpc>
                <a:spcPct val="12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末尾“</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为续行符</a:t>
            </a:r>
          </a:p>
          <a:p>
            <a:pPr>
              <a:lnSpc>
                <a:spcPct val="12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format='</a:t>
            </a:r>
            <a:r>
              <a:rPr lang="en-US" altLang="zh-CN" sz="1600" dirty="0" err="1">
                <a:solidFill>
                  <a:schemeClr val="tx1">
                    <a:lumMod val="75000"/>
                    <a:lumOff val="25000"/>
                  </a:schemeClr>
                </a:solidFill>
              </a:rPr>
              <a:t>levelname</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levelname</a:t>
            </a:r>
            <a:r>
              <a:rPr lang="en-US" altLang="zh-CN" sz="1600" dirty="0">
                <a:solidFill>
                  <a:schemeClr val="tx1">
                    <a:lumMod val="75000"/>
                    <a:lumOff val="25000"/>
                  </a:schemeClr>
                </a:solidFill>
              </a:rPr>
              <a:t>)s--</a:t>
            </a:r>
            <a:r>
              <a:rPr lang="zh-CN" altLang="en-US" sz="1600" dirty="0">
                <a:solidFill>
                  <a:schemeClr val="tx1">
                    <a:lumMod val="75000"/>
                    <a:lumOff val="25000"/>
                  </a:schemeClr>
                </a:solidFill>
              </a:rPr>
              <a:t>进程</a:t>
            </a:r>
            <a:r>
              <a:rPr lang="en-US" altLang="zh-CN" sz="1600" dirty="0">
                <a:solidFill>
                  <a:schemeClr val="tx1">
                    <a:lumMod val="75000"/>
                    <a:lumOff val="25000"/>
                  </a:schemeClr>
                </a:solidFill>
              </a:rPr>
              <a:t>ID %(process)d-- \</a:t>
            </a:r>
          </a:p>
          <a:p>
            <a:pPr>
              <a:lnSpc>
                <a:spcPct val="120000"/>
              </a:lnSpc>
            </a:pPr>
            <a:r>
              <a:rPr lang="en-US" altLang="zh-CN" sz="1600" dirty="0">
                <a:solidFill>
                  <a:schemeClr val="tx1">
                    <a:lumMod val="75000"/>
                    <a:lumOff val="25000"/>
                  </a:schemeClr>
                </a:solidFill>
              </a:rPr>
              <a:t>           filename: %(filename)s \n %(</a:t>
            </a:r>
            <a:r>
              <a:rPr lang="en-US" altLang="zh-CN" sz="1600" dirty="0" err="1">
                <a:solidFill>
                  <a:schemeClr val="tx1">
                    <a:lumMod val="75000"/>
                    <a:lumOff val="25000"/>
                  </a:schemeClr>
                </a:solidFill>
              </a:rPr>
              <a:t>levelname</a:t>
            </a:r>
            <a:r>
              <a:rPr lang="en-US" altLang="zh-CN" sz="1600" dirty="0">
                <a:solidFill>
                  <a:schemeClr val="tx1">
                    <a:lumMod val="75000"/>
                    <a:lumOff val="25000"/>
                  </a:schemeClr>
                </a:solidFill>
              </a:rPr>
              <a:t>)s:%(message)s',</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没有打印日志时间的选项</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asctime</a:t>
            </a:r>
            <a:r>
              <a:rPr lang="en-US" altLang="zh-CN" sz="1600" dirty="0">
                <a:solidFill>
                  <a:schemeClr val="tx1">
                    <a:lumMod val="75000"/>
                    <a:lumOff val="25000"/>
                  </a:schemeClr>
                </a:solidFill>
              </a:rPr>
              <a:t>)s</a:t>
            </a:r>
            <a:r>
              <a:rPr lang="zh-CN" altLang="en-US" sz="1600" dirty="0">
                <a:solidFill>
                  <a:schemeClr val="tx1">
                    <a:lumMod val="75000"/>
                    <a:lumOff val="25000"/>
                  </a:schemeClr>
                </a:solidFill>
              </a:rPr>
              <a:t>，因此，</a:t>
            </a:r>
            <a:r>
              <a:rPr lang="en-US" altLang="zh-CN" sz="1600" dirty="0" err="1">
                <a:solidFill>
                  <a:schemeClr val="tx1">
                    <a:lumMod val="75000"/>
                    <a:lumOff val="25000"/>
                  </a:schemeClr>
                </a:solidFill>
              </a:rPr>
              <a:t>datefmt</a:t>
            </a:r>
            <a:r>
              <a:rPr lang="zh-CN" altLang="en-US" sz="1600" dirty="0">
                <a:solidFill>
                  <a:schemeClr val="tx1">
                    <a:lumMod val="75000"/>
                    <a:lumOff val="25000"/>
                  </a:schemeClr>
                </a:solidFill>
              </a:rPr>
              <a:t>设置不起作用！</a:t>
            </a:r>
          </a:p>
          <a:p>
            <a:pPr>
              <a:lnSpc>
                <a:spcPct val="12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datefmt</a:t>
            </a:r>
            <a:r>
              <a:rPr lang="en-US" altLang="zh-CN" sz="1600" dirty="0">
                <a:solidFill>
                  <a:schemeClr val="tx1">
                    <a:lumMod val="75000"/>
                    <a:lumOff val="25000"/>
                  </a:schemeClr>
                </a:solidFill>
              </a:rPr>
              <a:t>='[%d/%b/%Y %H:%M:%S]'</a:t>
            </a:r>
          </a:p>
          <a:p>
            <a:pPr>
              <a:lnSpc>
                <a:spcPct val="120000"/>
              </a:lnSpc>
            </a:pPr>
            <a:r>
              <a:rPr lang="en-US" altLang="zh-CN" sz="1600" dirty="0">
                <a:solidFill>
                  <a:schemeClr val="tx1">
                    <a:lumMod val="75000"/>
                    <a:lumOff val="25000"/>
                  </a:schemeClr>
                </a:solidFill>
              </a:rPr>
              <a:t>         )</a:t>
            </a:r>
          </a:p>
          <a:p>
            <a:pPr>
              <a:lnSpc>
                <a:spcPct val="120000"/>
              </a:lnSpc>
            </a:pPr>
            <a:r>
              <a:rPr lang="en-US" altLang="zh-CN" sz="1600" dirty="0" err="1">
                <a:solidFill>
                  <a:schemeClr val="tx1">
                    <a:lumMod val="75000"/>
                    <a:lumOff val="25000"/>
                  </a:schemeClr>
                </a:solidFill>
              </a:rPr>
              <a:t>logging.debug</a:t>
            </a:r>
            <a:r>
              <a:rPr lang="en-US" altLang="zh-CN" sz="1600" dirty="0">
                <a:solidFill>
                  <a:schemeClr val="tx1">
                    <a:lumMod val="75000"/>
                    <a:lumOff val="25000"/>
                  </a:schemeClr>
                </a:solidFill>
              </a:rPr>
              <a:t>('this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debug message</a:t>
            </a:r>
            <a:r>
              <a:rPr lang="zh-CN" altLang="en-US" sz="1600" dirty="0">
                <a:solidFill>
                  <a:schemeClr val="tx1">
                    <a:lumMod val="75000"/>
                    <a:lumOff val="25000"/>
                  </a:schemeClr>
                </a:solidFill>
              </a:rPr>
              <a: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logging.info('</a:t>
            </a:r>
            <a:r>
              <a:rPr lang="zh-CN" altLang="en-US" sz="1600" dirty="0">
                <a:solidFill>
                  <a:schemeClr val="tx1">
                    <a:lumMod val="75000"/>
                    <a:lumOff val="25000"/>
                  </a:schemeClr>
                </a:solidFill>
              </a:rPr>
              <a:t>这是 </a:t>
            </a:r>
            <a:r>
              <a:rPr lang="en-US" altLang="zh-CN" sz="1600" dirty="0">
                <a:solidFill>
                  <a:schemeClr val="tx1">
                    <a:lumMod val="75000"/>
                    <a:lumOff val="25000"/>
                  </a:schemeClr>
                </a:solidFill>
              </a:rPr>
              <a:t>info </a:t>
            </a:r>
            <a:r>
              <a:rPr lang="zh-CN" altLang="en-US" sz="1600" dirty="0">
                <a:solidFill>
                  <a:schemeClr val="tx1">
                    <a:lumMod val="75000"/>
                    <a:lumOff val="25000"/>
                  </a:schemeClr>
                </a:solidFill>
              </a:rPr>
              <a:t>信息！</a:t>
            </a:r>
            <a:r>
              <a:rPr lang="en-US" altLang="zh-CN" sz="1600" dirty="0">
                <a:solidFill>
                  <a:schemeClr val="tx1">
                    <a:lumMod val="75000"/>
                    <a:lumOff val="25000"/>
                  </a:schemeClr>
                </a:solidFill>
              </a:rPr>
              <a:t>')</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6" name="矩形 5"/>
          <p:cNvSpPr/>
          <p:nvPr/>
        </p:nvSpPr>
        <p:spPr>
          <a:xfrm>
            <a:off x="961328" y="2016535"/>
            <a:ext cx="9792015" cy="3415030"/>
          </a:xfrm>
          <a:prstGeom prst="rect">
            <a:avLst/>
          </a:prstGeom>
        </p:spPr>
        <p:txBody>
          <a:bodyPr wrap="square">
            <a:spAutoFit/>
          </a:bodyPr>
          <a:lstStyle/>
          <a:p>
            <a:pPr algn="l">
              <a:lnSpc>
                <a:spcPct val="150000"/>
              </a:lnSpc>
              <a:buClrTx/>
              <a:buSzTx/>
              <a:buNone/>
            </a:pPr>
            <a:r>
              <a:rPr lang="zh-CN" altLang="en-US" sz="1600" dirty="0"/>
              <a:t>  </a:t>
            </a:r>
            <a:r>
              <a:rPr lang="en-US" altLang="zh-CN" sz="1600" dirty="0">
                <a:solidFill>
                  <a:schemeClr val="tx1">
                    <a:lumMod val="75000"/>
                    <a:lumOff val="25000"/>
                  </a:schemeClr>
                </a:solidFill>
              </a:rPr>
              <a:t>打开文件指定路径下的日志文件“chapter4_4_3_5.log”，显示如下结果：</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 注意：如果format格式没有设置“%(message)s”，则之后的logging.info()</a:t>
            </a:r>
            <a:r>
              <a:rPr lang="en-US" altLang="zh-CN" sz="1600" dirty="0" err="1">
                <a:solidFill>
                  <a:schemeClr val="tx1">
                    <a:lumMod val="75000"/>
                    <a:lumOff val="25000"/>
                  </a:schemeClr>
                </a:solidFill>
              </a:rPr>
              <a:t>中的信息也不会输出到文件中！请自行进行测试</a:t>
            </a:r>
            <a:r>
              <a:rPr lang="en-US" altLang="zh-CN" sz="1600" dirty="0">
                <a:solidFill>
                  <a:schemeClr val="tx1">
                    <a:lumMod val="75000"/>
                    <a:lumOff val="25000"/>
                  </a:schemeClr>
                </a:solidFill>
              </a:rPr>
              <a:t>。</a:t>
            </a:r>
          </a:p>
        </p:txBody>
      </p:sp>
      <p:pic>
        <p:nvPicPr>
          <p:cNvPr id="7" name="图片 163"/>
          <p:cNvPicPr>
            <a:picLocks noChangeAspect="1" noChangeArrowheads="1"/>
          </p:cNvPicPr>
          <p:nvPr/>
        </p:nvPicPr>
        <p:blipFill>
          <a:blip r:embed="rId2" cstate="print"/>
          <a:srcRect/>
          <a:stretch>
            <a:fillRect/>
          </a:stretch>
        </p:blipFill>
        <p:spPr bwMode="auto">
          <a:xfrm>
            <a:off x="1240923" y="2534277"/>
            <a:ext cx="7296599" cy="1733266"/>
          </a:xfrm>
          <a:prstGeom prst="rect">
            <a:avLst/>
          </a:prstGeom>
          <a:noFill/>
          <a:ln w="9525">
            <a:noFill/>
            <a:miter lim="800000"/>
            <a:headEnd/>
            <a:tailEnd/>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8" name="矩形 7"/>
          <p:cNvSpPr/>
          <p:nvPr/>
        </p:nvSpPr>
        <p:spPr>
          <a:xfrm>
            <a:off x="838200" y="1580984"/>
            <a:ext cx="10338168" cy="5401479"/>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在logging.basicConfig()配置中设置了filename（指定日志文件名，意味着将日志输出到文件中）参数的前提下，通过调用logging.StreamHandler()可实现将日志输出到控制台。</a:t>
            </a:r>
          </a:p>
          <a:p>
            <a:pPr algn="l">
              <a:lnSpc>
                <a:spcPct val="150000"/>
              </a:lnSpc>
              <a:buClrTx/>
              <a:buSzTx/>
              <a:buNone/>
            </a:pPr>
            <a:r>
              <a:rPr lang="en-US" altLang="zh-CN" sz="1600" dirty="0">
                <a:solidFill>
                  <a:schemeClr val="tx1">
                    <a:lumMod val="75000"/>
                    <a:lumOff val="25000"/>
                  </a:schemeClr>
                </a:solidFill>
              </a:rPr>
              <a:t>【例】  调用日志对象的方法setLevel(logging.INFO)，</a:t>
            </a:r>
            <a:r>
              <a:rPr lang="en-US" altLang="zh-CN" sz="1600" dirty="0" err="1">
                <a:solidFill>
                  <a:schemeClr val="tx1">
                    <a:lumMod val="75000"/>
                    <a:lumOff val="25000"/>
                  </a:schemeClr>
                </a:solidFill>
              </a:rPr>
              <a:t>将日志输出到控制台的级别设为“INFO</a:t>
            </a:r>
            <a:r>
              <a:rPr lang="en-US" altLang="zh-CN" sz="1600" dirty="0">
                <a:solidFill>
                  <a:schemeClr val="tx1">
                    <a:lumMod val="75000"/>
                    <a:lumOff val="25000"/>
                  </a:schemeClr>
                </a:solidFill>
              </a:rPr>
              <a:t>”。</a:t>
            </a:r>
          </a:p>
          <a:p>
            <a:pPr>
              <a:lnSpc>
                <a:spcPct val="150000"/>
              </a:lnSpc>
            </a:pPr>
            <a:r>
              <a:rPr lang="en-US" altLang="zh-CN" sz="1400" dirty="0">
                <a:solidFill>
                  <a:schemeClr val="tx1">
                    <a:lumMod val="75000"/>
                    <a:lumOff val="25000"/>
                  </a:schemeClr>
                </a:solidFill>
              </a:rPr>
              <a:t>import logging</a:t>
            </a:r>
          </a:p>
          <a:p>
            <a:pPr>
              <a:lnSpc>
                <a:spcPct val="150000"/>
              </a:lnSpc>
            </a:pPr>
            <a:r>
              <a:rPr lang="en-US" altLang="zh-CN" sz="1400" dirty="0" err="1">
                <a:solidFill>
                  <a:schemeClr val="tx1">
                    <a:lumMod val="75000"/>
                    <a:lumOff val="25000"/>
                  </a:schemeClr>
                </a:solidFill>
              </a:rPr>
              <a:t>logging.basicConfig</a:t>
            </a:r>
            <a:r>
              <a:rPr lang="en-US" altLang="zh-CN" sz="1400" dirty="0">
                <a:solidFill>
                  <a:schemeClr val="tx1">
                    <a:lumMod val="75000"/>
                    <a:lumOff val="25000"/>
                  </a:schemeClr>
                </a:solidFill>
              </a:rPr>
              <a:t>(level=</a:t>
            </a:r>
            <a:r>
              <a:rPr lang="en-US" altLang="zh-CN" sz="1400" dirty="0" err="1">
                <a:solidFill>
                  <a:schemeClr val="tx1">
                    <a:lumMod val="75000"/>
                    <a:lumOff val="25000"/>
                  </a:schemeClr>
                </a:solidFill>
              </a:rPr>
              <a:t>logging.DEBUG</a:t>
            </a:r>
            <a:r>
              <a:rPr lang="en-US" altLang="zh-CN" sz="1400" dirty="0">
                <a:solidFill>
                  <a:schemeClr val="tx1">
                    <a:lumMod val="75000"/>
                    <a:lumOff val="25000"/>
                  </a:schemeClr>
                </a:solidFill>
              </a:rPr>
              <a:t>, format='%(</a:t>
            </a:r>
            <a:r>
              <a:rPr lang="en-US" altLang="zh-CN" sz="1400" dirty="0" err="1">
                <a:solidFill>
                  <a:schemeClr val="tx1">
                    <a:lumMod val="75000"/>
                    <a:lumOff val="25000"/>
                  </a:schemeClr>
                </a:solidFill>
              </a:rPr>
              <a:t>asctime</a:t>
            </a:r>
            <a:r>
              <a:rPr lang="en-US" altLang="zh-CN" sz="1400" dirty="0">
                <a:solidFill>
                  <a:schemeClr val="tx1">
                    <a:lumMod val="75000"/>
                    <a:lumOff val="25000"/>
                  </a:schemeClr>
                </a:solidFill>
              </a:rPr>
              <a:t>)s - %(filename)s[line:%(</a:t>
            </a:r>
            <a:r>
              <a:rPr lang="en-US" altLang="zh-CN" sz="1400" dirty="0" err="1">
                <a:solidFill>
                  <a:schemeClr val="tx1">
                    <a:lumMod val="75000"/>
                    <a:lumOff val="25000"/>
                  </a:schemeClr>
                </a:solidFill>
              </a:rPr>
              <a:t>lineno</a:t>
            </a:r>
            <a:r>
              <a:rPr lang="en-US" altLang="zh-CN" sz="1400" dirty="0">
                <a:solidFill>
                  <a:schemeClr val="tx1">
                    <a:lumMod val="75000"/>
                    <a:lumOff val="25000"/>
                  </a:schemeClr>
                </a:solidFill>
              </a:rPr>
              <a:t>)d] - %(</a:t>
            </a:r>
            <a:r>
              <a:rPr lang="en-US" altLang="zh-CN" sz="1400" dirty="0" err="1">
                <a:solidFill>
                  <a:schemeClr val="tx1">
                    <a:lumMod val="75000"/>
                    <a:lumOff val="25000"/>
                  </a:schemeClr>
                </a:solidFill>
              </a:rPr>
              <a:t>levelname</a:t>
            </a:r>
            <a:r>
              <a:rPr lang="en-US" altLang="zh-CN" sz="1400" dirty="0">
                <a:solidFill>
                  <a:schemeClr val="tx1">
                    <a:lumMod val="75000"/>
                    <a:lumOff val="25000"/>
                  </a:schemeClr>
                </a:solidFill>
              </a:rPr>
              <a:t>)s: %(message)s', filename='1.log', </a:t>
            </a:r>
            <a:r>
              <a:rPr lang="en-US" altLang="zh-CN" sz="1400" dirty="0" err="1">
                <a:solidFill>
                  <a:schemeClr val="tx1">
                    <a:lumMod val="75000"/>
                    <a:lumOff val="25000"/>
                  </a:schemeClr>
                </a:solidFill>
              </a:rPr>
              <a:t>filemode</a:t>
            </a:r>
            <a:r>
              <a:rPr lang="en-US" altLang="zh-CN" sz="1400" dirty="0">
                <a:solidFill>
                  <a:schemeClr val="tx1">
                    <a:lumMod val="75000"/>
                    <a:lumOff val="25000"/>
                  </a:schemeClr>
                </a:solidFill>
              </a:rPr>
              <a:t>='w')</a:t>
            </a:r>
          </a:p>
          <a:p>
            <a:pPr>
              <a:lnSpc>
                <a:spcPct val="150000"/>
              </a:lnSpc>
            </a:pPr>
            <a:r>
              <a:rPr lang="en-US" altLang="zh-CN" sz="1400" dirty="0">
                <a:solidFill>
                  <a:schemeClr val="tx1">
                    <a:lumMod val="75000"/>
                    <a:lumOff val="25000"/>
                  </a:schemeClr>
                </a:solidFill>
              </a:rPr>
              <a:t>console = </a:t>
            </a:r>
            <a:r>
              <a:rPr lang="en-US" altLang="zh-CN" sz="1400" dirty="0" err="1">
                <a:solidFill>
                  <a:schemeClr val="tx1">
                    <a:lumMod val="75000"/>
                    <a:lumOff val="25000"/>
                  </a:schemeClr>
                </a:solidFill>
              </a:rPr>
              <a:t>logging.StreamHandler</a:t>
            </a:r>
            <a:r>
              <a:rPr lang="en-US" altLang="zh-CN" sz="1400" dirty="0">
                <a:solidFill>
                  <a:schemeClr val="tx1">
                    <a:lumMod val="75000"/>
                    <a:lumOff val="25000"/>
                  </a:schemeClr>
                </a:solidFill>
              </a:rPr>
              <a:t>()</a:t>
            </a:r>
          </a:p>
          <a:p>
            <a:pPr>
              <a:lnSpc>
                <a:spcPct val="150000"/>
              </a:lnSpc>
            </a:pPr>
            <a:r>
              <a:rPr lang="en-US" altLang="zh-CN" sz="1400" dirty="0" err="1">
                <a:solidFill>
                  <a:schemeClr val="tx1">
                    <a:lumMod val="75000"/>
                    <a:lumOff val="25000"/>
                  </a:schemeClr>
                </a:solidFill>
              </a:rPr>
              <a:t>console.setLevel</a:t>
            </a:r>
            <a:r>
              <a:rPr lang="en-US" altLang="zh-CN" sz="1400" dirty="0">
                <a:solidFill>
                  <a:schemeClr val="tx1">
                    <a:lumMod val="75000"/>
                    <a:lumOff val="25000"/>
                  </a:schemeClr>
                </a:solidFill>
              </a:rPr>
              <a:t>(logging.INFO)</a:t>
            </a:r>
          </a:p>
          <a:p>
            <a:pPr>
              <a:lnSpc>
                <a:spcPct val="150000"/>
              </a:lnSpc>
            </a:pPr>
            <a:r>
              <a:rPr lang="en-US" altLang="zh-CN" sz="1400" dirty="0">
                <a:solidFill>
                  <a:schemeClr val="tx1">
                    <a:lumMod val="75000"/>
                    <a:lumOff val="25000"/>
                  </a:schemeClr>
                </a:solidFill>
              </a:rPr>
              <a:t>formatter = </a:t>
            </a:r>
            <a:r>
              <a:rPr lang="en-US" altLang="zh-CN" sz="1400" dirty="0" err="1">
                <a:solidFill>
                  <a:schemeClr val="tx1">
                    <a:lumMod val="75000"/>
                    <a:lumOff val="25000"/>
                  </a:schemeClr>
                </a:solidFill>
              </a:rPr>
              <a:t>logging.Formatter</a:t>
            </a:r>
            <a:r>
              <a:rPr lang="en-US" altLang="zh-CN" sz="1400" dirty="0">
                <a:solidFill>
                  <a:schemeClr val="tx1">
                    <a:lumMod val="75000"/>
                    <a:lumOff val="25000"/>
                  </a:schemeClr>
                </a:solidFill>
              </a:rPr>
              <a:t>('%(name)-12s: %(</a:t>
            </a:r>
            <a:r>
              <a:rPr lang="en-US" altLang="zh-CN" sz="1400" dirty="0" err="1">
                <a:solidFill>
                  <a:schemeClr val="tx1">
                    <a:lumMod val="75000"/>
                    <a:lumOff val="25000"/>
                  </a:schemeClr>
                </a:solidFill>
              </a:rPr>
              <a:t>levelname</a:t>
            </a:r>
            <a:r>
              <a:rPr lang="en-US" altLang="zh-CN" sz="1400" dirty="0">
                <a:solidFill>
                  <a:schemeClr val="tx1">
                    <a:lumMod val="75000"/>
                    <a:lumOff val="25000"/>
                  </a:schemeClr>
                </a:solidFill>
              </a:rPr>
              <a:t>)-8s: %(message)s')</a:t>
            </a:r>
          </a:p>
          <a:p>
            <a:pPr>
              <a:lnSpc>
                <a:spcPct val="150000"/>
              </a:lnSpc>
            </a:pPr>
            <a:r>
              <a:rPr lang="en-US" altLang="zh-CN" sz="1400" dirty="0" err="1">
                <a:solidFill>
                  <a:schemeClr val="tx1">
                    <a:lumMod val="75000"/>
                    <a:lumOff val="25000"/>
                  </a:schemeClr>
                </a:solidFill>
              </a:rPr>
              <a:t>console.setFormatter</a:t>
            </a:r>
            <a:r>
              <a:rPr lang="en-US" altLang="zh-CN" sz="1400" dirty="0">
                <a:solidFill>
                  <a:schemeClr val="tx1">
                    <a:lumMod val="75000"/>
                    <a:lumOff val="25000"/>
                  </a:schemeClr>
                </a:solidFill>
              </a:rPr>
              <a:t>(formatter)</a:t>
            </a:r>
          </a:p>
          <a:p>
            <a:pPr>
              <a:lnSpc>
                <a:spcPct val="150000"/>
              </a:lnSpc>
            </a:pPr>
            <a:r>
              <a:rPr lang="en-US" altLang="zh-CN" sz="1400" dirty="0" err="1">
                <a:solidFill>
                  <a:schemeClr val="tx1">
                    <a:lumMod val="75000"/>
                    <a:lumOff val="25000"/>
                  </a:schemeClr>
                </a:solidFill>
              </a:rPr>
              <a:t>logging.getLogger</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addHandler</a:t>
            </a:r>
            <a:r>
              <a:rPr lang="en-US" altLang="zh-CN" sz="1400" dirty="0">
                <a:solidFill>
                  <a:schemeClr val="tx1">
                    <a:lumMod val="75000"/>
                    <a:lumOff val="25000"/>
                  </a:schemeClr>
                </a:solidFill>
              </a:rPr>
              <a:t>(console)</a:t>
            </a:r>
          </a:p>
          <a:p>
            <a:pPr>
              <a:lnSpc>
                <a:spcPct val="150000"/>
              </a:lnSpc>
            </a:pPr>
            <a:r>
              <a:rPr lang="en-US" altLang="zh-CN" sz="1400" dirty="0" err="1">
                <a:solidFill>
                  <a:schemeClr val="tx1">
                    <a:lumMod val="75000"/>
                    <a:lumOff val="25000"/>
                  </a:schemeClr>
                </a:solidFill>
              </a:rPr>
              <a:t>logging.debug</a:t>
            </a:r>
            <a:r>
              <a:rPr lang="en-US" altLang="zh-CN" sz="1400" dirty="0">
                <a:solidFill>
                  <a:schemeClr val="tx1">
                    <a:lumMod val="75000"/>
                    <a:lumOff val="25000"/>
                  </a:schemeClr>
                </a:solidFill>
              </a:rPr>
              <a:t>('this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debug message')</a:t>
            </a:r>
          </a:p>
          <a:p>
            <a:pPr>
              <a:lnSpc>
                <a:spcPct val="150000"/>
              </a:lnSpc>
            </a:pPr>
            <a:r>
              <a:rPr lang="en-US" altLang="zh-CN" sz="1400" dirty="0">
                <a:solidFill>
                  <a:schemeClr val="tx1">
                    <a:lumMod val="75000"/>
                    <a:lumOff val="25000"/>
                  </a:schemeClr>
                </a:solidFill>
              </a:rPr>
              <a:t>logging.info('this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info message')</a:t>
            </a:r>
          </a:p>
          <a:p>
            <a:pPr>
              <a:lnSpc>
                <a:spcPct val="150000"/>
              </a:lnSpc>
            </a:pPr>
            <a:r>
              <a:rPr lang="en-US" altLang="zh-CN" sz="1400" dirty="0" err="1">
                <a:solidFill>
                  <a:schemeClr val="tx1">
                    <a:lumMod val="75000"/>
                    <a:lumOff val="25000"/>
                  </a:schemeClr>
                </a:solidFill>
              </a:rPr>
              <a:t>logging.warning</a:t>
            </a:r>
            <a:r>
              <a:rPr lang="en-US" altLang="zh-CN" sz="1400" dirty="0">
                <a:solidFill>
                  <a:schemeClr val="tx1">
                    <a:lumMod val="75000"/>
                    <a:lumOff val="25000"/>
                  </a:schemeClr>
                </a:solidFill>
              </a:rPr>
              <a:t>('this is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a warning message')</a:t>
            </a:r>
          </a:p>
          <a:p>
            <a:pPr>
              <a:lnSpc>
                <a:spcPct val="150000"/>
              </a:lnSpc>
            </a:pPr>
            <a:r>
              <a:rPr lang="en-US" altLang="zh-CN" sz="1400" dirty="0" err="1">
                <a:solidFill>
                  <a:schemeClr val="tx1">
                    <a:lumMod val="75000"/>
                    <a:lumOff val="25000"/>
                  </a:schemeClr>
                </a:solidFill>
              </a:rPr>
              <a:t>logging.error</a:t>
            </a:r>
            <a:r>
              <a:rPr lang="en-US" altLang="zh-CN" sz="1400" dirty="0">
                <a:solidFill>
                  <a:schemeClr val="tx1">
                    <a:lumMod val="75000"/>
                    <a:lumOff val="25000"/>
                  </a:schemeClr>
                </a:solidFill>
              </a:rPr>
              <a:t>('this is an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error message')</a:t>
            </a:r>
          </a:p>
          <a:p>
            <a:pPr>
              <a:lnSpc>
                <a:spcPct val="150000"/>
              </a:lnSpc>
            </a:pPr>
            <a:r>
              <a:rPr lang="en-US" altLang="zh-CN" sz="1400" dirty="0" err="1">
                <a:solidFill>
                  <a:schemeClr val="tx1">
                    <a:lumMod val="75000"/>
                    <a:lumOff val="25000"/>
                  </a:schemeClr>
                </a:solidFill>
              </a:rPr>
              <a:t>logging.critical</a:t>
            </a:r>
            <a:r>
              <a:rPr lang="en-US" altLang="zh-CN" sz="1400" dirty="0">
                <a:solidFill>
                  <a:schemeClr val="tx1">
                    <a:lumMod val="75000"/>
                    <a:lumOff val="25000"/>
                  </a:schemeClr>
                </a:solidFill>
              </a:rPr>
              <a:t>('this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critical message')</a:t>
            </a:r>
          </a:p>
        </p:txBody>
      </p:sp>
      <p:pic>
        <p:nvPicPr>
          <p:cNvPr id="5" name="图片 4"/>
          <p:cNvPicPr>
            <a:picLocks noChangeAspect="1"/>
          </p:cNvPicPr>
          <p:nvPr/>
        </p:nvPicPr>
        <p:blipFill>
          <a:blip r:embed="rId3"/>
          <a:stretch>
            <a:fillRect/>
          </a:stretch>
        </p:blipFill>
        <p:spPr>
          <a:xfrm>
            <a:off x="5126279" y="5458249"/>
            <a:ext cx="6972300" cy="1247775"/>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7" name="矩形 6"/>
          <p:cNvSpPr/>
          <p:nvPr/>
        </p:nvSpPr>
        <p:spPr>
          <a:xfrm>
            <a:off x="949574" y="1825625"/>
            <a:ext cx="10089063" cy="3785652"/>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打开日志文件看到的信息如下：</a:t>
            </a:r>
          </a:p>
          <a:p>
            <a:pPr>
              <a:lnSpc>
                <a:spcPct val="150000"/>
              </a:lnSpc>
            </a:pPr>
            <a:r>
              <a:rPr lang="en-US" altLang="zh-CN" sz="1600" dirty="0">
                <a:solidFill>
                  <a:schemeClr val="tx1">
                    <a:lumMod val="75000"/>
                    <a:lumOff val="25000"/>
                  </a:schemeClr>
                </a:solidFill>
              </a:rPr>
              <a:t>2020-12-29 15:27:05,831 - main.py[line:13] - DEBUG: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debug message</a:t>
            </a:r>
          </a:p>
          <a:p>
            <a:pPr>
              <a:lnSpc>
                <a:spcPct val="150000"/>
              </a:lnSpc>
            </a:pPr>
            <a:r>
              <a:rPr lang="en-US" altLang="zh-CN" sz="1600" dirty="0">
                <a:solidFill>
                  <a:schemeClr val="tx1">
                    <a:lumMod val="75000"/>
                    <a:lumOff val="25000"/>
                  </a:schemeClr>
                </a:solidFill>
              </a:rPr>
              <a:t>2020-12-29 15:27:05,831 - main.py[line:14] - INFO: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info message</a:t>
            </a:r>
          </a:p>
          <a:p>
            <a:pPr>
              <a:lnSpc>
                <a:spcPct val="150000"/>
              </a:lnSpc>
            </a:pPr>
            <a:r>
              <a:rPr lang="en-US" altLang="zh-CN" sz="1600" dirty="0">
                <a:solidFill>
                  <a:schemeClr val="tx1">
                    <a:lumMod val="75000"/>
                    <a:lumOff val="25000"/>
                  </a:schemeClr>
                </a:solidFill>
              </a:rPr>
              <a:t>2020-12-29 15:27:05,831 - main.py[line:15] - WARNING: this is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a warning message</a:t>
            </a:r>
          </a:p>
          <a:p>
            <a:pPr>
              <a:lnSpc>
                <a:spcPct val="150000"/>
              </a:lnSpc>
            </a:pPr>
            <a:r>
              <a:rPr lang="en-US" altLang="zh-CN" sz="1600" dirty="0">
                <a:solidFill>
                  <a:schemeClr val="tx1">
                    <a:lumMod val="75000"/>
                    <a:lumOff val="25000"/>
                  </a:schemeClr>
                </a:solidFill>
              </a:rPr>
              <a:t>2020-12-29 15:27:05,831 - main.py[line:16] - ERROR: this is an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error message</a:t>
            </a:r>
          </a:p>
          <a:p>
            <a:pPr>
              <a:lnSpc>
                <a:spcPct val="150000"/>
              </a:lnSpc>
            </a:pPr>
            <a:r>
              <a:rPr lang="en-US" altLang="zh-CN" sz="1600" dirty="0">
                <a:solidFill>
                  <a:schemeClr val="tx1">
                    <a:lumMod val="75000"/>
                    <a:lumOff val="25000"/>
                  </a:schemeClr>
                </a:solidFill>
              </a:rPr>
              <a:t>2020-12-29 15:27:05,831 - main.py[line:17] - CRITICAL: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critical message</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首先通过logging.StreamHandler()创建一个将日志输出到控制台的处理对象，然后通过方法setLevel(logging.INFO)设置日志输出到控制台的级别，日志输出的格式通过方法Formatter来设置，但最后还要通过addHandler方法将处理对象添加到Logger中，这样才能真正地将日志信息输出到控制台。</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6" name="矩形 5"/>
          <p:cNvSpPr/>
          <p:nvPr/>
        </p:nvSpPr>
        <p:spPr>
          <a:xfrm>
            <a:off x="960447" y="1825625"/>
            <a:ext cx="10136711" cy="498598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调用日志对象的方法setLevel(logging.WARNING)</a:t>
            </a:r>
            <a:r>
              <a:rPr lang="en-US" altLang="zh-CN" sz="1600" dirty="0" err="1">
                <a:solidFill>
                  <a:schemeClr val="tx1">
                    <a:lumMod val="75000"/>
                    <a:lumOff val="25000"/>
                  </a:schemeClr>
                </a:solidFill>
              </a:rPr>
              <a:t>来将日志输出到控制台的级别设置为“WARNING</a:t>
            </a:r>
            <a:r>
              <a:rPr lang="en-US" altLang="zh-CN" sz="1600" dirty="0">
                <a:solidFill>
                  <a:schemeClr val="tx1">
                    <a:lumMod val="75000"/>
                    <a:lumOff val="25000"/>
                  </a:schemeClr>
                </a:solidFill>
              </a:rPr>
              <a:t>”。</a:t>
            </a:r>
          </a:p>
          <a:p>
            <a:pPr>
              <a:lnSpc>
                <a:spcPct val="150000"/>
              </a:lnSpc>
            </a:pPr>
            <a:r>
              <a:rPr lang="en-US" altLang="zh-CN" sz="1400" dirty="0">
                <a:solidFill>
                  <a:schemeClr val="tx1">
                    <a:lumMod val="75000"/>
                    <a:lumOff val="25000"/>
                  </a:schemeClr>
                </a:solidFill>
              </a:rPr>
              <a:t>import logging</a:t>
            </a:r>
          </a:p>
          <a:p>
            <a:pPr>
              <a:lnSpc>
                <a:spcPct val="150000"/>
              </a:lnSpc>
            </a:pPr>
            <a:r>
              <a:rPr lang="en-US" altLang="zh-CN" sz="1400" dirty="0">
                <a:solidFill>
                  <a:schemeClr val="tx1">
                    <a:lumMod val="75000"/>
                    <a:lumOff val="25000"/>
                  </a:schemeClr>
                </a:solidFill>
              </a:rPr>
              <a:t>#</a:t>
            </a:r>
            <a:r>
              <a:rPr lang="zh-CN" altLang="en-US" sz="1400" dirty="0">
                <a:solidFill>
                  <a:schemeClr val="tx1">
                    <a:lumMod val="75000"/>
                    <a:lumOff val="25000"/>
                  </a:schemeClr>
                </a:solidFill>
              </a:rPr>
              <a:t>设置日志输出级别为“</a:t>
            </a:r>
            <a:r>
              <a:rPr lang="en-US" altLang="zh-CN" sz="1400" dirty="0">
                <a:solidFill>
                  <a:schemeClr val="tx1">
                    <a:lumMod val="75000"/>
                    <a:lumOff val="25000"/>
                  </a:schemeClr>
                </a:solidFill>
              </a:rPr>
              <a:t>WARNING”</a:t>
            </a:r>
            <a:r>
              <a:rPr lang="zh-CN" altLang="en-US" sz="1400" dirty="0">
                <a:solidFill>
                  <a:schemeClr val="tx1">
                    <a:lumMod val="75000"/>
                    <a:lumOff val="25000"/>
                  </a:schemeClr>
                </a:solidFill>
              </a:rPr>
              <a:t>，则只有该级别或以上级别的日志才会被输出！</a:t>
            </a:r>
          </a:p>
          <a:p>
            <a:pPr>
              <a:lnSpc>
                <a:spcPct val="150000"/>
              </a:lnSpc>
            </a:pPr>
            <a:r>
              <a:rPr lang="en-US" altLang="zh-CN" sz="1400" dirty="0" err="1">
                <a:solidFill>
                  <a:schemeClr val="tx1">
                    <a:lumMod val="75000"/>
                    <a:lumOff val="25000"/>
                  </a:schemeClr>
                </a:solidFill>
              </a:rPr>
              <a:t>logging.basicConfig</a:t>
            </a:r>
            <a:r>
              <a:rPr lang="en-US" altLang="zh-CN" sz="1400" dirty="0">
                <a:solidFill>
                  <a:schemeClr val="tx1">
                    <a:lumMod val="75000"/>
                    <a:lumOff val="25000"/>
                  </a:schemeClr>
                </a:solidFill>
              </a:rPr>
              <a:t>(level=</a:t>
            </a:r>
            <a:r>
              <a:rPr lang="en-US" altLang="zh-CN" sz="1400" dirty="0" err="1">
                <a:solidFill>
                  <a:schemeClr val="tx1">
                    <a:lumMod val="75000"/>
                    <a:lumOff val="25000"/>
                  </a:schemeClr>
                </a:solidFill>
              </a:rPr>
              <a:t>logging.DEBUG</a:t>
            </a:r>
            <a:r>
              <a:rPr lang="en-US" altLang="zh-CN" sz="1400" dirty="0">
                <a:solidFill>
                  <a:schemeClr val="tx1">
                    <a:lumMod val="75000"/>
                    <a:lumOff val="25000"/>
                  </a:schemeClr>
                </a:solidFill>
              </a:rPr>
              <a:t>, format='%(</a:t>
            </a:r>
            <a:r>
              <a:rPr lang="en-US" altLang="zh-CN" sz="1400" dirty="0" err="1">
                <a:solidFill>
                  <a:schemeClr val="tx1">
                    <a:lumMod val="75000"/>
                    <a:lumOff val="25000"/>
                  </a:schemeClr>
                </a:solidFill>
              </a:rPr>
              <a:t>asctime</a:t>
            </a:r>
            <a:r>
              <a:rPr lang="en-US" altLang="zh-CN" sz="1400" dirty="0">
                <a:solidFill>
                  <a:schemeClr val="tx1">
                    <a:lumMod val="75000"/>
                    <a:lumOff val="25000"/>
                  </a:schemeClr>
                </a:solidFill>
              </a:rPr>
              <a:t>)s - %(filename)s[line:%(</a:t>
            </a:r>
            <a:r>
              <a:rPr lang="en-US" altLang="zh-CN" sz="1400" dirty="0" err="1">
                <a:solidFill>
                  <a:schemeClr val="tx1">
                    <a:lumMod val="75000"/>
                    <a:lumOff val="25000"/>
                  </a:schemeClr>
                </a:solidFill>
              </a:rPr>
              <a:t>lineno</a:t>
            </a:r>
            <a:r>
              <a:rPr lang="en-US" altLang="zh-CN" sz="1400" dirty="0">
                <a:solidFill>
                  <a:schemeClr val="tx1">
                    <a:lumMod val="75000"/>
                    <a:lumOff val="25000"/>
                  </a:schemeClr>
                </a:solidFill>
              </a:rPr>
              <a:t>)d] - %(</a:t>
            </a:r>
            <a:r>
              <a:rPr lang="en-US" altLang="zh-CN" sz="1400" dirty="0" err="1">
                <a:solidFill>
                  <a:schemeClr val="tx1">
                    <a:lumMod val="75000"/>
                    <a:lumOff val="25000"/>
                  </a:schemeClr>
                </a:solidFill>
              </a:rPr>
              <a:t>levelname</a:t>
            </a:r>
            <a:r>
              <a:rPr lang="en-US" altLang="zh-CN" sz="1400" dirty="0">
                <a:solidFill>
                  <a:schemeClr val="tx1">
                    <a:lumMod val="75000"/>
                    <a:lumOff val="25000"/>
                  </a:schemeClr>
                </a:solidFill>
              </a:rPr>
              <a:t>)s: %(message)s', filename='1.log',filemode='w')</a:t>
            </a:r>
          </a:p>
          <a:p>
            <a:pPr>
              <a:lnSpc>
                <a:spcPct val="150000"/>
              </a:lnSpc>
            </a:pPr>
            <a:r>
              <a:rPr lang="en-US" altLang="zh-CN" sz="1400" dirty="0">
                <a:solidFill>
                  <a:schemeClr val="tx1">
                    <a:lumMod val="75000"/>
                    <a:lumOff val="25000"/>
                  </a:schemeClr>
                </a:solidFill>
              </a:rPr>
              <a:t>console = </a:t>
            </a:r>
            <a:r>
              <a:rPr lang="en-US" altLang="zh-CN" sz="1400" dirty="0" err="1">
                <a:solidFill>
                  <a:schemeClr val="tx1">
                    <a:lumMod val="75000"/>
                    <a:lumOff val="25000"/>
                  </a:schemeClr>
                </a:solidFill>
              </a:rPr>
              <a:t>logging.StreamHandler</a:t>
            </a:r>
            <a:r>
              <a:rPr lang="en-US" altLang="zh-CN" sz="1400" dirty="0">
                <a:solidFill>
                  <a:schemeClr val="tx1">
                    <a:lumMod val="75000"/>
                    <a:lumOff val="25000"/>
                  </a:schemeClr>
                </a:solidFill>
              </a:rPr>
              <a:t>()</a:t>
            </a:r>
          </a:p>
          <a:p>
            <a:pPr>
              <a:lnSpc>
                <a:spcPct val="150000"/>
              </a:lnSpc>
            </a:pPr>
            <a:r>
              <a:rPr lang="en-US" altLang="zh-CN" sz="1400" dirty="0" err="1">
                <a:solidFill>
                  <a:schemeClr val="tx1">
                    <a:lumMod val="75000"/>
                    <a:lumOff val="25000"/>
                  </a:schemeClr>
                </a:solidFill>
              </a:rPr>
              <a:t>console.setLevel</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logging.WARNING</a:t>
            </a:r>
            <a:r>
              <a:rPr lang="en-US" altLang="zh-CN" sz="1400" dirty="0">
                <a:solidFill>
                  <a:schemeClr val="tx1">
                    <a:lumMod val="75000"/>
                    <a:lumOff val="25000"/>
                  </a:schemeClr>
                </a:solidFill>
              </a:rPr>
              <a:t>)</a:t>
            </a:r>
          </a:p>
          <a:p>
            <a:pPr>
              <a:lnSpc>
                <a:spcPct val="150000"/>
              </a:lnSpc>
            </a:pPr>
            <a:r>
              <a:rPr lang="en-US" altLang="zh-CN" sz="1400" dirty="0">
                <a:solidFill>
                  <a:schemeClr val="tx1">
                    <a:lumMod val="75000"/>
                    <a:lumOff val="25000"/>
                  </a:schemeClr>
                </a:solidFill>
              </a:rPr>
              <a:t>formatter = </a:t>
            </a:r>
            <a:r>
              <a:rPr lang="en-US" altLang="zh-CN" sz="1400" dirty="0" err="1">
                <a:solidFill>
                  <a:schemeClr val="tx1">
                    <a:lumMod val="75000"/>
                    <a:lumOff val="25000"/>
                  </a:schemeClr>
                </a:solidFill>
              </a:rPr>
              <a:t>logging.Formatter</a:t>
            </a:r>
            <a:r>
              <a:rPr lang="en-US" altLang="zh-CN" sz="1400" dirty="0">
                <a:solidFill>
                  <a:schemeClr val="tx1">
                    <a:lumMod val="75000"/>
                    <a:lumOff val="25000"/>
                  </a:schemeClr>
                </a:solidFill>
              </a:rPr>
              <a:t>('%(name)-12s: %(</a:t>
            </a:r>
            <a:r>
              <a:rPr lang="en-US" altLang="zh-CN" sz="1400" dirty="0" err="1">
                <a:solidFill>
                  <a:schemeClr val="tx1">
                    <a:lumMod val="75000"/>
                    <a:lumOff val="25000"/>
                  </a:schemeClr>
                </a:solidFill>
              </a:rPr>
              <a:t>levelname</a:t>
            </a:r>
            <a:r>
              <a:rPr lang="en-US" altLang="zh-CN" sz="1400" dirty="0">
                <a:solidFill>
                  <a:schemeClr val="tx1">
                    <a:lumMod val="75000"/>
                    <a:lumOff val="25000"/>
                  </a:schemeClr>
                </a:solidFill>
              </a:rPr>
              <a:t>)-8s: %(message)s')</a:t>
            </a:r>
          </a:p>
          <a:p>
            <a:pPr>
              <a:lnSpc>
                <a:spcPct val="150000"/>
              </a:lnSpc>
            </a:pPr>
            <a:r>
              <a:rPr lang="en-US" altLang="zh-CN" sz="1400" dirty="0" err="1">
                <a:solidFill>
                  <a:schemeClr val="tx1">
                    <a:lumMod val="75000"/>
                    <a:lumOff val="25000"/>
                  </a:schemeClr>
                </a:solidFill>
              </a:rPr>
              <a:t>console.setFormatter</a:t>
            </a:r>
            <a:r>
              <a:rPr lang="en-US" altLang="zh-CN" sz="1400" dirty="0">
                <a:solidFill>
                  <a:schemeClr val="tx1">
                    <a:lumMod val="75000"/>
                    <a:lumOff val="25000"/>
                  </a:schemeClr>
                </a:solidFill>
              </a:rPr>
              <a:t>(formatter)</a:t>
            </a:r>
          </a:p>
          <a:p>
            <a:pPr>
              <a:lnSpc>
                <a:spcPct val="150000"/>
              </a:lnSpc>
            </a:pPr>
            <a:r>
              <a:rPr lang="en-US" altLang="zh-CN" sz="1400" dirty="0" err="1">
                <a:solidFill>
                  <a:schemeClr val="tx1">
                    <a:lumMod val="75000"/>
                    <a:lumOff val="25000"/>
                  </a:schemeClr>
                </a:solidFill>
              </a:rPr>
              <a:t>logging.getLogger</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addHandler</a:t>
            </a:r>
            <a:r>
              <a:rPr lang="en-US" altLang="zh-CN" sz="1400" dirty="0">
                <a:solidFill>
                  <a:schemeClr val="tx1">
                    <a:lumMod val="75000"/>
                    <a:lumOff val="25000"/>
                  </a:schemeClr>
                </a:solidFill>
              </a:rPr>
              <a:t>(console)</a:t>
            </a:r>
          </a:p>
          <a:p>
            <a:pPr>
              <a:lnSpc>
                <a:spcPct val="150000"/>
              </a:lnSpc>
            </a:pPr>
            <a:r>
              <a:rPr lang="en-US" altLang="zh-CN" sz="1400" dirty="0" err="1">
                <a:solidFill>
                  <a:schemeClr val="tx1">
                    <a:lumMod val="75000"/>
                    <a:lumOff val="25000"/>
                  </a:schemeClr>
                </a:solidFill>
              </a:rPr>
              <a:t>logging.debug</a:t>
            </a:r>
            <a:r>
              <a:rPr lang="en-US" altLang="zh-CN" sz="1400" dirty="0">
                <a:solidFill>
                  <a:schemeClr val="tx1">
                    <a:lumMod val="75000"/>
                    <a:lumOff val="25000"/>
                  </a:schemeClr>
                </a:solidFill>
              </a:rPr>
              <a:t>('this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debug message')</a:t>
            </a:r>
          </a:p>
          <a:p>
            <a:pPr>
              <a:lnSpc>
                <a:spcPct val="150000"/>
              </a:lnSpc>
            </a:pPr>
            <a:r>
              <a:rPr lang="en-US" altLang="zh-CN" sz="1400" dirty="0">
                <a:solidFill>
                  <a:schemeClr val="tx1">
                    <a:lumMod val="75000"/>
                    <a:lumOff val="25000"/>
                  </a:schemeClr>
                </a:solidFill>
              </a:rPr>
              <a:t>logging.info('this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info message')</a:t>
            </a:r>
          </a:p>
          <a:p>
            <a:pPr>
              <a:lnSpc>
                <a:spcPct val="150000"/>
              </a:lnSpc>
            </a:pPr>
            <a:r>
              <a:rPr lang="en-US" altLang="zh-CN" sz="1400" dirty="0" err="1">
                <a:solidFill>
                  <a:schemeClr val="tx1">
                    <a:lumMod val="75000"/>
                    <a:lumOff val="25000"/>
                  </a:schemeClr>
                </a:solidFill>
              </a:rPr>
              <a:t>logging.warning</a:t>
            </a:r>
            <a:r>
              <a:rPr lang="en-US" altLang="zh-CN" sz="1400" dirty="0">
                <a:solidFill>
                  <a:schemeClr val="tx1">
                    <a:lumMod val="75000"/>
                    <a:lumOff val="25000"/>
                  </a:schemeClr>
                </a:solidFill>
              </a:rPr>
              <a:t>('this is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a warning message')</a:t>
            </a:r>
          </a:p>
          <a:p>
            <a:pPr>
              <a:lnSpc>
                <a:spcPct val="150000"/>
              </a:lnSpc>
            </a:pPr>
            <a:r>
              <a:rPr lang="en-US" altLang="zh-CN" sz="1400" dirty="0" err="1">
                <a:solidFill>
                  <a:schemeClr val="tx1">
                    <a:lumMod val="75000"/>
                    <a:lumOff val="25000"/>
                  </a:schemeClr>
                </a:solidFill>
              </a:rPr>
              <a:t>logging.error</a:t>
            </a:r>
            <a:r>
              <a:rPr lang="en-US" altLang="zh-CN" sz="1400" dirty="0">
                <a:solidFill>
                  <a:schemeClr val="tx1">
                    <a:lumMod val="75000"/>
                    <a:lumOff val="25000"/>
                  </a:schemeClr>
                </a:solidFill>
              </a:rPr>
              <a:t>('this is an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error message')</a:t>
            </a:r>
          </a:p>
          <a:p>
            <a:pPr>
              <a:lnSpc>
                <a:spcPct val="150000"/>
              </a:lnSpc>
            </a:pPr>
            <a:r>
              <a:rPr lang="en-US" altLang="zh-CN" sz="1400" dirty="0" err="1">
                <a:solidFill>
                  <a:schemeClr val="tx1">
                    <a:lumMod val="75000"/>
                    <a:lumOff val="25000"/>
                  </a:schemeClr>
                </a:solidFill>
              </a:rPr>
              <a:t>logging.critical</a:t>
            </a:r>
            <a:r>
              <a:rPr lang="en-US" altLang="zh-CN" sz="1400" dirty="0">
                <a:solidFill>
                  <a:schemeClr val="tx1">
                    <a:lumMod val="75000"/>
                    <a:lumOff val="25000"/>
                  </a:schemeClr>
                </a:solidFill>
              </a:rPr>
              <a:t>('this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critical message')</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7" name="矩形 6"/>
          <p:cNvSpPr/>
          <p:nvPr/>
        </p:nvSpPr>
        <p:spPr>
          <a:xfrm>
            <a:off x="1152062" y="1825625"/>
            <a:ext cx="8261267" cy="4154984"/>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运行后的结果如下：</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err="1">
                <a:solidFill>
                  <a:schemeClr val="tx1">
                    <a:lumMod val="75000"/>
                    <a:lumOff val="25000"/>
                  </a:schemeClr>
                </a:solidFill>
              </a:rPr>
              <a:t>打开日志文件看到的信息如下</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2020-12-29 15:31:56,726 - main.py[line:10] - DEBUG: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debug message</a:t>
            </a:r>
          </a:p>
          <a:p>
            <a:pPr>
              <a:lnSpc>
                <a:spcPct val="150000"/>
              </a:lnSpc>
            </a:pPr>
            <a:r>
              <a:rPr lang="en-US" altLang="zh-CN" sz="1600" dirty="0">
                <a:solidFill>
                  <a:schemeClr val="tx1">
                    <a:lumMod val="75000"/>
                    <a:lumOff val="25000"/>
                  </a:schemeClr>
                </a:solidFill>
              </a:rPr>
              <a:t>2020-12-29 15:31:56,726 - main.py[line:11] - INFO: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info message</a:t>
            </a:r>
          </a:p>
          <a:p>
            <a:pPr>
              <a:lnSpc>
                <a:spcPct val="150000"/>
              </a:lnSpc>
            </a:pPr>
            <a:r>
              <a:rPr lang="en-US" altLang="zh-CN" sz="1600" dirty="0">
                <a:solidFill>
                  <a:schemeClr val="tx1">
                    <a:lumMod val="75000"/>
                    <a:lumOff val="25000"/>
                  </a:schemeClr>
                </a:solidFill>
              </a:rPr>
              <a:t>2020-12-29 15:31:56,726 - main.py[line:12] - WARNING: this is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a warning message</a:t>
            </a:r>
          </a:p>
          <a:p>
            <a:pPr>
              <a:lnSpc>
                <a:spcPct val="150000"/>
              </a:lnSpc>
            </a:pPr>
            <a:r>
              <a:rPr lang="en-US" altLang="zh-CN" sz="1600" dirty="0">
                <a:solidFill>
                  <a:schemeClr val="tx1">
                    <a:lumMod val="75000"/>
                    <a:lumOff val="25000"/>
                  </a:schemeClr>
                </a:solidFill>
              </a:rPr>
              <a:t>2020-12-29 15:31:56,726 - main.py[line:13] - ERROR: this is an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error message</a:t>
            </a:r>
          </a:p>
          <a:p>
            <a:pPr>
              <a:lnSpc>
                <a:spcPct val="150000"/>
              </a:lnSpc>
            </a:pPr>
            <a:r>
              <a:rPr lang="en-US" altLang="zh-CN" sz="1600" dirty="0">
                <a:solidFill>
                  <a:schemeClr val="tx1">
                    <a:lumMod val="75000"/>
                    <a:lumOff val="25000"/>
                  </a:schemeClr>
                </a:solidFill>
              </a:rPr>
              <a:t>2020-12-29 15:31:56,726 - main.py[line:14] - CRITICAL: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critical message</a:t>
            </a:r>
          </a:p>
          <a:p>
            <a:pPr algn="l">
              <a:lnSpc>
                <a:spcPct val="150000"/>
              </a:lnSpc>
              <a:buClrTx/>
              <a:buSzTx/>
              <a:buNone/>
            </a:pPr>
            <a:endParaRPr lang="en-US" altLang="zh-CN" sz="1600" dirty="0">
              <a:solidFill>
                <a:schemeClr val="tx1">
                  <a:lumMod val="75000"/>
                  <a:lumOff val="25000"/>
                </a:schemeClr>
              </a:solidFill>
            </a:endParaRPr>
          </a:p>
        </p:txBody>
      </p:sp>
      <p:pic>
        <p:nvPicPr>
          <p:cNvPr id="3" name="图片 2"/>
          <p:cNvPicPr>
            <a:picLocks noChangeAspect="1"/>
          </p:cNvPicPr>
          <p:nvPr/>
        </p:nvPicPr>
        <p:blipFill>
          <a:blip r:embed="rId2"/>
          <a:stretch>
            <a:fillRect/>
          </a:stretch>
        </p:blipFill>
        <p:spPr>
          <a:xfrm>
            <a:off x="1271035" y="2328514"/>
            <a:ext cx="6972300" cy="91440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p:txBody>
          <a:bodyPr/>
          <a:lstStyle/>
          <a:p>
            <a:r>
              <a:rPr lang="zh-CN" altLang="zh-CN" dirty="0"/>
              <a:t>写一个程序找到文件中最长的英文单词。</a:t>
            </a:r>
          </a:p>
          <a:p>
            <a:r>
              <a:rPr lang="zh-CN" altLang="zh-CN" dirty="0"/>
              <a:t>写一个程序将一个字符串列表写入文件</a:t>
            </a:r>
          </a:p>
          <a:p>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TotalTime>
  <Words>12836</Words>
  <Application>Microsoft Office PowerPoint</Application>
  <PresentationFormat>宽屏</PresentationFormat>
  <Paragraphs>1661</Paragraphs>
  <Slides>140</Slides>
  <Notes>20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140</vt:i4>
      </vt:variant>
    </vt:vector>
  </HeadingPairs>
  <TitlesOfParts>
    <vt:vector size="147" baseType="lpstr">
      <vt:lpstr>宋体</vt:lpstr>
      <vt:lpstr>Arial</vt:lpstr>
      <vt:lpstr>Calibri</vt:lpstr>
      <vt:lpstr>Calibri Light</vt:lpstr>
      <vt:lpstr>Wingdings</vt:lpstr>
      <vt:lpstr>Office 主题</vt:lpstr>
      <vt:lpstr>BMP 图像</vt:lpstr>
      <vt:lpstr>文件和异常</vt:lpstr>
      <vt:lpstr>主要内容</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主要内容</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主要内容</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主要内容</vt:lpstr>
      <vt:lpstr>断言</vt:lpstr>
      <vt:lpstr>断言</vt:lpstr>
      <vt:lpstr>断言</vt:lpstr>
      <vt:lpstr>断言</vt:lpstr>
      <vt:lpstr>断言</vt:lpstr>
      <vt:lpstr>断言</vt:lpstr>
      <vt:lpstr>断言</vt:lpstr>
      <vt:lpstr>断言</vt:lpstr>
      <vt:lpstr>断言</vt:lpstr>
      <vt:lpstr>断言</vt:lpstr>
      <vt:lpstr>断言</vt:lpstr>
      <vt:lpstr>主要内容</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文件和异常</dc:title>
  <dc:creator>cao dong lin</dc:creator>
  <cp:lastModifiedBy>承乾 马</cp:lastModifiedBy>
  <cp:revision>173</cp:revision>
  <dcterms:created xsi:type="dcterms:W3CDTF">2020-06-21T21:51:00Z</dcterms:created>
  <dcterms:modified xsi:type="dcterms:W3CDTF">2023-06-18T13:14:55Z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9B35960AFE1341BE852C43908FFA6C4B</vt:lpwstr>
  </property>
  <property fmtid="{D5CDD505-2E9C-101B-9397-08002B2CF9AE}" pid="3" name="KSOProductBuildVer">
    <vt:lpwstr>2052-11.1.0.11220</vt:lpwstr>
  </property>
</Properties>
</file>