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3"/>
  </p:handoutMasterIdLst>
  <p:sldIdLst>
    <p:sldId id="3266" r:id="rId4"/>
    <p:sldId id="3280" r:id="rId6"/>
    <p:sldId id="3285" r:id="rId7"/>
    <p:sldId id="3286" r:id="rId8"/>
    <p:sldId id="3279" r:id="rId9"/>
    <p:sldId id="3282" r:id="rId10"/>
    <p:sldId id="3284" r:id="rId11"/>
    <p:sldId id="3283" r:id="rId12"/>
  </p:sldIdLst>
  <p:sldSz cx="1219200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5" userDrawn="1">
          <p15:clr>
            <a:srgbClr val="A4A3A4"/>
          </p15:clr>
        </p15:guide>
        <p15:guide id="2" orient="horz" pos="21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FF99"/>
    <a:srgbClr val="FF9900"/>
    <a:srgbClr val="99CCFF"/>
    <a:srgbClr val="FF8810"/>
    <a:srgbClr val="FAFBD7"/>
    <a:srgbClr val="F8EEA2"/>
    <a:srgbClr val="FFFFFF"/>
    <a:srgbClr val="CC9900"/>
    <a:srgbClr val="66FF66"/>
    <a:srgbClr val="137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75" autoAdjust="0"/>
    <p:restoredTop sz="93991" autoAdjust="0"/>
  </p:normalViewPr>
  <p:slideViewPr>
    <p:cSldViewPr snapToGrid="0" showGuides="1">
      <p:cViewPr varScale="1">
        <p:scale>
          <a:sx n="89" d="100"/>
          <a:sy n="89" d="100"/>
        </p:scale>
        <p:origin x="72" y="84"/>
      </p:cViewPr>
      <p:guideLst>
        <p:guide pos="3845"/>
        <p:guide orient="horz" pos="2174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75" d="100"/>
        <a:sy n="75" d="100"/>
      </p:scale>
      <p:origin x="0" y="-1440"/>
    </p:cViewPr>
  </p:sorterViewPr>
  <p:notesViewPr>
    <p:cSldViewPr snapToGrid="0">
      <p:cViewPr varScale="1">
        <p:scale>
          <a:sx n="121" d="100"/>
          <a:sy n="121" d="100"/>
        </p:scale>
        <p:origin x="4938" y="96"/>
      </p:cViewPr>
      <p:guideLst>
        <p:guide orient="horz" pos="2899"/>
        <p:guide pos="21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6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7C4803FF-7A1D-4EE9-8F21-D3681F14740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9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19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9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98AA420E-8999-4B68-9F06-563144D81D6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2AE938-3C14-4393-BB4F-5B268C47B9B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" y="0"/>
            <a:ext cx="3340100" cy="876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 b="1">
              <a:solidFill>
                <a:schemeClr val="bg1"/>
              </a:solidFill>
              <a:latin typeface="黑体" panose="02010609060101010101" pitchFamily="2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177367" y="2889250"/>
            <a:ext cx="3340100" cy="876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 b="1">
              <a:solidFill>
                <a:schemeClr val="bg1"/>
              </a:solidFill>
              <a:latin typeface="黑体" panose="02010609060101010101" pitchFamily="2" charset="-122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fld id="{A2549619-5BB4-4CE2-B062-4DE22A47627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 bwMode="auto">
          <a:xfrm>
            <a:off x="5412318" y="4054476"/>
            <a:ext cx="5590116" cy="7715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57353" name="Rectangle 9"/>
          <p:cNvSpPr>
            <a:spLocks noGrp="1" noChangeArrowheads="1"/>
          </p:cNvSpPr>
          <p:nvPr>
            <p:ph type="ctrTitle"/>
          </p:nvPr>
        </p:nvSpPr>
        <p:spPr>
          <a:xfrm>
            <a:off x="914400" y="1798639"/>
            <a:ext cx="10363200" cy="1470025"/>
          </a:xfrm>
        </p:spPr>
        <p:txBody>
          <a:bodyPr tIns="45720" anchor="ctr"/>
          <a:lstStyle>
            <a:lvl1pPr>
              <a:defRPr sz="43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57354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957638"/>
            <a:ext cx="8534400" cy="1079500"/>
          </a:xfrm>
        </p:spPr>
        <p:txBody>
          <a:bodyPr anchor="ctr" anchorCtr="1"/>
          <a:lstStyle>
            <a:lvl1pPr marL="0" indent="0" algn="ctr">
              <a:buFontTx/>
              <a:buNone/>
              <a:defRPr sz="2400">
                <a:solidFill>
                  <a:srgbClr val="16388A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49226"/>
            <a:ext cx="11277600" cy="688975"/>
          </a:xfrm>
        </p:spPr>
        <p:txBody>
          <a:bodyPr/>
          <a:lstStyle>
            <a:lvl1pPr>
              <a:defRPr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51719"/>
            <a:ext cx="10972800" cy="5065712"/>
          </a:xfrm>
        </p:spPr>
        <p:txBody>
          <a:bodyPr/>
          <a:lstStyle>
            <a:lvl1pPr marL="449580" indent="-44958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/>
          <a:lstStyle>
            <a:lvl1pPr>
              <a:defRPr lang="zh-CN" altLang="en-US" sz="3200">
                <a:solidFill>
                  <a:srgbClr val="C00000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5733" y="1268413"/>
            <a:ext cx="53848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63733" y="1268413"/>
            <a:ext cx="5384800" cy="5065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noFill/>
          <a:ln>
            <a:noFill/>
          </a:ln>
          <a:effectLst/>
        </p:spPr>
        <p:txBody>
          <a:bodyPr/>
          <a:lstStyle>
            <a:lvl1pPr>
              <a:defRPr lang="zh-CN" altLang="en-US" sz="3200">
                <a:solidFill>
                  <a:srgbClr val="C00000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/>
          <a:lstStyle>
            <a:lvl1pPr>
              <a:defRPr lang="zh-CN" altLang="en-US" sz="3200">
                <a:solidFill>
                  <a:srgbClr val="C00000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/>
          <a:lstStyle>
            <a:lvl1pPr>
              <a:defRPr lang="zh-CN" altLang="en-US" sz="3200">
                <a:solidFill>
                  <a:srgbClr val="C00000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179389"/>
            <a:ext cx="3048000" cy="61547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9"/>
            <a:ext cx="8940800" cy="61547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4CDAF70-E7C9-4E42-BBEB-55D73CDA69E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460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182717"/>
            <a:ext cx="11176000" cy="5762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592" y="1052513"/>
            <a:ext cx="11018809" cy="5472112"/>
          </a:xfrm>
          <a:ln>
            <a:noFill/>
          </a:ln>
        </p:spPr>
        <p:txBody>
          <a:bodyPr/>
          <a:lstStyle>
            <a:lvl1pPr>
              <a:defRPr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23900" indent="-189230">
              <a:buFont typeface="Wingdings" panose="05000000000000000000" pitchFamily="2" charset="2"/>
              <a:buChar char="p"/>
              <a:defRPr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>
              <a:defRPr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3pPr>
            <a:lvl4pPr>
              <a:defRPr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4pPr>
            <a:lvl5pPr>
              <a:defRPr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47917" y="6611939"/>
            <a:ext cx="1344083" cy="217487"/>
          </a:xfrm>
        </p:spPr>
        <p:txBody>
          <a:bodyPr/>
          <a:lstStyle>
            <a:lvl1pPr>
              <a:defRPr/>
            </a:lvl1pPr>
          </a:lstStyle>
          <a:p>
            <a:fld id="{50611F1F-B0D0-4543-BE4D-C428D4BCA17B}" type="slidenum">
              <a:rPr lang="en-US" altLang="zh-CN"/>
            </a:fld>
            <a:endParaRPr lang="en-US" altLang="zh-CN"/>
          </a:p>
        </p:txBody>
      </p:sp>
      <p:pic>
        <p:nvPicPr>
          <p:cNvPr id="6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71" y="128818"/>
            <a:ext cx="1344083" cy="57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10"/>
          <p:cNvSpPr txBox="1">
            <a:spLocks noChangeArrowheads="1"/>
          </p:cNvSpPr>
          <p:nvPr userDrawn="1"/>
        </p:nvSpPr>
        <p:spPr bwMode="auto">
          <a:xfrm>
            <a:off x="10533760" y="703829"/>
            <a:ext cx="1515003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700" b="1">
                <a:solidFill>
                  <a:srgbClr val="27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XIAMEN UNIVERSITY</a:t>
            </a:r>
            <a:endParaRPr lang="zh-CN" altLang="en-US" sz="700" b="1">
              <a:solidFill>
                <a:srgbClr val="274F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460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/>
          <a:lstStyle>
            <a:lvl1pPr>
              <a:defRPr/>
            </a:lvl1pPr>
          </a:lstStyle>
          <a:p>
            <a:fld id="{7648B618-1D7A-4F9B-835C-2A7751C100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460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1" y="260351"/>
            <a:ext cx="10668000" cy="5762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052513"/>
            <a:ext cx="5232400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67400" y="1052513"/>
            <a:ext cx="5232400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/>
          <a:lstStyle>
            <a:lvl1pPr>
              <a:defRPr/>
            </a:lvl1pPr>
          </a:lstStyle>
          <a:p>
            <a:fld id="{1FD96561-1A22-412A-AE5C-CFD04665E827}" type="slidenum">
              <a:rPr lang="en-US" altLang="zh-CN"/>
            </a:fld>
            <a:endParaRPr lang="en-US" altLang="zh-CN"/>
          </a:p>
        </p:txBody>
      </p:sp>
      <p:pic>
        <p:nvPicPr>
          <p:cNvPr id="11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71" y="128818"/>
            <a:ext cx="1344083" cy="57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0"/>
          <p:cNvSpPr txBox="1">
            <a:spLocks noChangeArrowheads="1"/>
          </p:cNvSpPr>
          <p:nvPr userDrawn="1"/>
        </p:nvSpPr>
        <p:spPr bwMode="auto">
          <a:xfrm>
            <a:off x="10533760" y="703829"/>
            <a:ext cx="1515003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700" b="1">
                <a:solidFill>
                  <a:srgbClr val="27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XIAMEN UNIVERSITY</a:t>
            </a:r>
            <a:endParaRPr lang="zh-CN" altLang="en-US" sz="700" b="1">
              <a:solidFill>
                <a:srgbClr val="274F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460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/>
          <a:lstStyle>
            <a:lvl1pPr>
              <a:defRPr/>
            </a:lvl1pPr>
          </a:lstStyle>
          <a:p>
            <a:fld id="{0CD24DFD-8591-4C9D-8C58-E25F0957899B}" type="slidenum">
              <a:rPr lang="en-US" altLang="zh-CN"/>
            </a:fld>
            <a:endParaRPr lang="en-US" altLang="zh-CN"/>
          </a:p>
        </p:txBody>
      </p:sp>
      <p:pic>
        <p:nvPicPr>
          <p:cNvPr id="13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71" y="128818"/>
            <a:ext cx="1344083" cy="57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0"/>
          <p:cNvSpPr txBox="1">
            <a:spLocks noChangeArrowheads="1"/>
          </p:cNvSpPr>
          <p:nvPr userDrawn="1"/>
        </p:nvSpPr>
        <p:spPr bwMode="auto">
          <a:xfrm>
            <a:off x="10533760" y="703829"/>
            <a:ext cx="1515003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700" b="1">
                <a:solidFill>
                  <a:srgbClr val="27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XIAMEN UNIVERSITY</a:t>
            </a:r>
            <a:endParaRPr lang="zh-CN" altLang="en-US" sz="700" b="1">
              <a:solidFill>
                <a:srgbClr val="274F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460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1" y="260351"/>
            <a:ext cx="10668000" cy="5762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47917" y="6640514"/>
            <a:ext cx="1344083" cy="217487"/>
          </a:xfrm>
        </p:spPr>
        <p:txBody>
          <a:bodyPr/>
          <a:lstStyle>
            <a:lvl1pPr>
              <a:defRPr/>
            </a:lvl1pPr>
          </a:lstStyle>
          <a:p>
            <a:fld id="{D294704E-8F2A-40AC-9EF1-756684C03F33}" type="slidenum">
              <a:rPr lang="en-US" altLang="zh-CN"/>
            </a:fld>
            <a:endParaRPr lang="en-US" altLang="zh-CN"/>
          </a:p>
        </p:txBody>
      </p:sp>
      <p:pic>
        <p:nvPicPr>
          <p:cNvPr id="9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71" y="128818"/>
            <a:ext cx="1344083" cy="57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0533760" y="703829"/>
            <a:ext cx="1515003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700" b="1">
                <a:solidFill>
                  <a:srgbClr val="27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XIAMEN UNIVERSITY</a:t>
            </a:r>
            <a:endParaRPr lang="zh-CN" altLang="en-US" sz="700" b="1">
              <a:solidFill>
                <a:srgbClr val="274F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460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D2F46F-2ADE-4A01-A615-1AE21D8E2FE0}" type="slidenum">
              <a:rPr lang="en-US" altLang="zh-CN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271" y="128818"/>
            <a:ext cx="1344083" cy="57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10"/>
          <p:cNvSpPr txBox="1">
            <a:spLocks noChangeArrowheads="1"/>
          </p:cNvSpPr>
          <p:nvPr userDrawn="1"/>
        </p:nvSpPr>
        <p:spPr bwMode="auto">
          <a:xfrm>
            <a:off x="10533760" y="703829"/>
            <a:ext cx="1515003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700" b="1">
                <a:solidFill>
                  <a:srgbClr val="27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XIAMEN UNIVERSITY</a:t>
            </a:r>
            <a:endParaRPr lang="zh-CN" altLang="en-US" sz="700" b="1">
              <a:solidFill>
                <a:srgbClr val="274F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460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09C243-AA33-4B2D-B1A6-A3D29449F3E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460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E814B08-037D-4A90-A61B-A0540D605A0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460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1" y="260351"/>
            <a:ext cx="10668000" cy="5762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F685A90-DFBF-42A9-BF2A-B3037C5488D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460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1" y="260351"/>
            <a:ext cx="2749551" cy="626427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1800" y="260351"/>
            <a:ext cx="8051800" cy="6264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F9DB52A-FA70-4980-BFAA-EE8712B468A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advTm="460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371" y="188640"/>
            <a:ext cx="9121013" cy="476672"/>
          </a:xfrm>
          <a:prstGeom prst="rect">
            <a:avLst/>
          </a:prstGeom>
        </p:spPr>
        <p:txBody>
          <a:bodyPr anchor="ctr"/>
          <a:lstStyle>
            <a:lvl1pPr algn="l"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advTm="460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68413"/>
            <a:ext cx="10972800" cy="50657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矩形 4"/>
          <p:cNvSpPr/>
          <p:nvPr userDrawn="1"/>
        </p:nvSpPr>
        <p:spPr bwMode="auto">
          <a:xfrm>
            <a:off x="71968" y="0"/>
            <a:ext cx="2529417" cy="800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49226"/>
            <a:ext cx="10668000" cy="6889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54000" rIns="91440" bIns="45720" numCol="1" anchor="t" anchorCtr="1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63033" y="862013"/>
            <a:ext cx="11099800" cy="74612"/>
          </a:xfrm>
          <a:prstGeom prst="rect">
            <a:avLst/>
          </a:prstGeom>
          <a:gradFill flip="none" rotWithShape="1">
            <a:gsLst>
              <a:gs pos="0">
                <a:srgbClr val="0000FF"/>
              </a:gs>
              <a:gs pos="0">
                <a:srgbClr val="0070C0"/>
              </a:gs>
              <a:gs pos="45000">
                <a:srgbClr val="0070C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zh-CN" altLang="en-US" sz="3200" b="1">
          <a:solidFill>
            <a:srgbClr val="C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ea"/>
          <a:ea typeface="+mn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黑体" panose="02010609060101010101" pitchFamily="2" charset="-122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黑体" panose="02010609060101010101" pitchFamily="2" charset="-122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C00000"/>
          </a:solidFill>
          <a:latin typeface="黑体" panose="02010609060101010101" pitchFamily="2" charset="-122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449580" indent="-44958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4"/>
        </a:buBlip>
        <a:defRPr lang="zh-CN" altLang="en-US" sz="2800" dirty="0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0066"/>
        </a:buClr>
        <a:buChar char="•"/>
        <a:defRPr sz="2400">
          <a:solidFill>
            <a:srgbClr val="133984"/>
          </a:solidFill>
          <a:latin typeface="+mn-lt"/>
          <a:ea typeface="+mn-ea"/>
        </a:defRPr>
      </a:lvl2pPr>
      <a:lvl3pPr marL="1322705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13868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958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30530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5102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96748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1" y="260351"/>
            <a:ext cx="1123103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1" y="1052513"/>
            <a:ext cx="11231033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833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47917" y="6621464"/>
            <a:ext cx="1344083" cy="2174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CF5A2957-612D-4015-B5F7-FF3DE4EB2D2F}" type="slidenum">
              <a:rPr lang="en-US" altLang="zh-CN"/>
            </a:fld>
            <a:endParaRPr lang="en-US" altLang="zh-CN"/>
          </a:p>
        </p:txBody>
      </p:sp>
      <p:sp>
        <p:nvSpPr>
          <p:cNvPr id="3" name="矩形 2"/>
          <p:cNvSpPr/>
          <p:nvPr userDrawn="1"/>
        </p:nvSpPr>
        <p:spPr>
          <a:xfrm>
            <a:off x="563033" y="862013"/>
            <a:ext cx="11099800" cy="74612"/>
          </a:xfrm>
          <a:prstGeom prst="rect">
            <a:avLst/>
          </a:prstGeom>
          <a:gradFill flip="none" rotWithShape="1">
            <a:gsLst>
              <a:gs pos="0">
                <a:srgbClr val="0000FF"/>
              </a:gs>
              <a:gs pos="0">
                <a:srgbClr val="0070C0"/>
              </a:gs>
              <a:gs pos="45000">
                <a:srgbClr val="0070C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advTm="4600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Verdana" panose="020B0604030504040204" pitchFamily="34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Verdana" panose="020B0604030504040204" pitchFamily="34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Verdana" panose="020B0604030504040204" pitchFamily="34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Verdana" panose="020B0604030504040204" pitchFamily="34" charset="0"/>
          <a:ea typeface="黑体" panose="02010609060101010101" pitchFamily="2" charset="-122"/>
        </a:defRPr>
      </a:lvl9pPr>
    </p:titleStyle>
    <p:bodyStyle>
      <a:lvl1pPr marL="355600" indent="-355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tabLst>
          <a:tab pos="804545" algn="l"/>
        </a:tabLst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23900" indent="-189230" algn="l" rtl="0" eaLnBrk="0" fontAlgn="base" hangingPunct="0">
        <a:spcBef>
          <a:spcPct val="20000"/>
        </a:spcBef>
        <a:spcAft>
          <a:spcPct val="0"/>
        </a:spcAft>
        <a:buClr>
          <a:srgbClr val="33CC33"/>
        </a:buClr>
        <a:buFont typeface="Wingdings" panose="05000000000000000000" pitchFamily="2" charset="2"/>
        <a:buChar char="n"/>
        <a:tabLst>
          <a:tab pos="804545" algn="l"/>
        </a:tabLst>
        <a:defRPr sz="2600">
          <a:solidFill>
            <a:schemeClr val="tx1"/>
          </a:solidFill>
          <a:latin typeface="+mn-lt"/>
          <a:ea typeface="+mn-ea"/>
        </a:defRPr>
      </a:lvl2pPr>
      <a:lvl3pPr marL="14827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tabLst>
          <a:tab pos="804545" algn="l"/>
        </a:tabLst>
        <a:defRPr sz="2300">
          <a:solidFill>
            <a:schemeClr val="tx1"/>
          </a:solidFill>
          <a:latin typeface="+mn-lt"/>
          <a:ea typeface="+mn-ea"/>
        </a:defRPr>
      </a:lvl3pPr>
      <a:lvl4pPr marL="20497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tabLst>
          <a:tab pos="804545" algn="l"/>
        </a:tabLst>
        <a:defRPr sz="2000">
          <a:solidFill>
            <a:schemeClr val="tx1"/>
          </a:solidFill>
          <a:latin typeface="+mn-lt"/>
          <a:ea typeface="+mn-ea"/>
        </a:defRPr>
      </a:lvl4pPr>
      <a:lvl5pPr marL="26276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tabLst>
          <a:tab pos="804545" algn="l"/>
        </a:tabLst>
        <a:defRPr sz="2000">
          <a:solidFill>
            <a:schemeClr val="tx1"/>
          </a:solidFill>
          <a:latin typeface="+mn-lt"/>
          <a:ea typeface="+mn-ea"/>
        </a:defRPr>
      </a:lvl5pPr>
      <a:lvl6pPr marL="30848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tabLst>
          <a:tab pos="804545" algn="l"/>
        </a:tabLst>
        <a:defRPr sz="2000">
          <a:solidFill>
            <a:schemeClr val="tx1"/>
          </a:solidFill>
          <a:latin typeface="+mn-lt"/>
          <a:ea typeface="+mn-ea"/>
        </a:defRPr>
      </a:lvl6pPr>
      <a:lvl7pPr marL="35420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tabLst>
          <a:tab pos="804545" algn="l"/>
        </a:tabLst>
        <a:defRPr sz="2000">
          <a:solidFill>
            <a:schemeClr val="tx1"/>
          </a:solidFill>
          <a:latin typeface="+mn-lt"/>
          <a:ea typeface="+mn-ea"/>
        </a:defRPr>
      </a:lvl7pPr>
      <a:lvl8pPr marL="3999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tabLst>
          <a:tab pos="804545" algn="l"/>
        </a:tabLst>
        <a:defRPr sz="2000">
          <a:solidFill>
            <a:schemeClr val="tx1"/>
          </a:solidFill>
          <a:latin typeface="+mn-lt"/>
          <a:ea typeface="+mn-ea"/>
        </a:defRPr>
      </a:lvl8pPr>
      <a:lvl9pPr marL="44564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tabLst>
          <a:tab pos="804545" algn="l"/>
        </a:tabLs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6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999942" y="6545264"/>
            <a:ext cx="1344083" cy="21748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78460"/>
            <a:ext cx="4106545" cy="3251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错题讲解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9051" t="37563" r="48068" b="60154"/>
          <a:stretch>
            <a:fillRect/>
          </a:stretch>
        </p:blipFill>
        <p:spPr>
          <a:xfrm>
            <a:off x="1021715" y="1191260"/>
            <a:ext cx="7209155" cy="83058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1171575" y="2275840"/>
            <a:ext cx="5080000" cy="258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zh-CN" sz="1800" b="0">
                <a:ea typeface="宋体" panose="02010600030101010101" pitchFamily="2" charset="-122"/>
              </a:rPr>
              <a:t>（</a:t>
            </a:r>
            <a:r>
              <a:rPr lang="en-US" sz="1800" b="0">
                <a:latin typeface="Times New Roman" panose="02020603050405020304" pitchFamily="18" charset="0"/>
              </a:rPr>
              <a:t>a</a:t>
            </a:r>
            <a:r>
              <a:rPr lang="zh-CN" sz="1800" b="0">
                <a:ea typeface="宋体" panose="02010600030101010101" pitchFamily="2" charset="-122"/>
              </a:rPr>
              <a:t>）整型</a:t>
            </a:r>
            <a:r>
              <a:rPr lang="en-US" sz="1800" b="0">
                <a:latin typeface="Times New Roman" panose="02020603050405020304" pitchFamily="18" charset="0"/>
              </a:rPr>
              <a:t>(Int) - </a:t>
            </a:r>
            <a:r>
              <a:rPr lang="zh-CN" sz="1800" b="0">
                <a:ea typeface="宋体" panose="02010600030101010101" pitchFamily="2" charset="-122"/>
              </a:rPr>
              <a:t>通常被称为是整型或整数，是正或负整数，不带小数点。（</a:t>
            </a:r>
            <a:r>
              <a:rPr lang="en-US" sz="1800" b="0">
                <a:latin typeface="Times New Roman" panose="02020603050405020304" pitchFamily="18" charset="0"/>
              </a:rPr>
              <a:t>b</a:t>
            </a:r>
            <a:r>
              <a:rPr lang="zh-CN" sz="1800" b="0">
                <a:ea typeface="宋体" panose="02010600030101010101" pitchFamily="2" charset="-122"/>
              </a:rPr>
              <a:t>）长整型</a:t>
            </a:r>
            <a:r>
              <a:rPr lang="en-US" sz="1800" b="0">
                <a:latin typeface="Times New Roman" panose="02020603050405020304" pitchFamily="18" charset="0"/>
              </a:rPr>
              <a:t>(long integers) - </a:t>
            </a:r>
            <a:r>
              <a:rPr lang="zh-CN" sz="1800" b="0">
                <a:ea typeface="宋体" panose="02010600030101010101" pitchFamily="2" charset="-122"/>
              </a:rPr>
              <a:t>无限大小的整数，整数最后是一个大写或小写的</a:t>
            </a:r>
            <a:r>
              <a:rPr lang="en-US" sz="1800" b="0">
                <a:latin typeface="Times New Roman" panose="02020603050405020304" pitchFamily="18" charset="0"/>
              </a:rPr>
              <a:t>L</a:t>
            </a:r>
            <a:r>
              <a:rPr lang="zh-CN" sz="1800" b="0">
                <a:ea typeface="宋体" panose="02010600030101010101" pitchFamily="2" charset="-122"/>
              </a:rPr>
              <a:t>。（</a:t>
            </a:r>
            <a:r>
              <a:rPr lang="en-US" sz="1800" b="0">
                <a:latin typeface="Times New Roman" panose="02020603050405020304" pitchFamily="18" charset="0"/>
              </a:rPr>
              <a:t>c</a:t>
            </a:r>
            <a:r>
              <a:rPr lang="zh-CN" sz="1800" b="0">
                <a:ea typeface="宋体" panose="02010600030101010101" pitchFamily="2" charset="-122"/>
              </a:rPr>
              <a:t>）浮点型</a:t>
            </a:r>
            <a:r>
              <a:rPr lang="en-US" sz="1800" b="0">
                <a:latin typeface="Times New Roman" panose="02020603050405020304" pitchFamily="18" charset="0"/>
              </a:rPr>
              <a:t>(floating point real values) - </a:t>
            </a:r>
            <a:r>
              <a:rPr lang="zh-CN" sz="1800" b="0">
                <a:ea typeface="宋体" panose="02010600030101010101" pitchFamily="2" charset="-122"/>
              </a:rPr>
              <a:t>浮点型由整数部分与小数部分组成，浮点型也可以使用科学计数法表示。（</a:t>
            </a:r>
            <a:r>
              <a:rPr lang="en-US" sz="1800" b="0">
                <a:latin typeface="Times New Roman" panose="02020603050405020304" pitchFamily="18" charset="0"/>
              </a:rPr>
              <a:t>d</a:t>
            </a:r>
            <a:r>
              <a:rPr lang="zh-CN" sz="1800" b="0">
                <a:ea typeface="宋体" panose="02010600030101010101" pitchFamily="2" charset="-122"/>
              </a:rPr>
              <a:t>）复数</a:t>
            </a:r>
            <a:r>
              <a:rPr lang="en-US" sz="1800" b="0">
                <a:latin typeface="Times New Roman" panose="02020603050405020304" pitchFamily="18" charset="0"/>
              </a:rPr>
              <a:t>(complex numbers) - </a:t>
            </a:r>
            <a:r>
              <a:rPr lang="zh-CN" sz="1800" b="0">
                <a:ea typeface="宋体" panose="02010600030101010101" pitchFamily="2" charset="-122"/>
              </a:rPr>
              <a:t>复数由实数部分和虚数部分构成。</a:t>
            </a: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Tm="35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999942" y="6545264"/>
            <a:ext cx="1344083" cy="21748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78460"/>
            <a:ext cx="4106545" cy="3251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错题讲解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9966" t="44048" r="58880" b="53397"/>
          <a:stretch>
            <a:fillRect/>
          </a:stretch>
        </p:blipFill>
        <p:spPr>
          <a:xfrm>
            <a:off x="699135" y="1161415"/>
            <a:ext cx="4474845" cy="79438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824865" y="2306638"/>
            <a:ext cx="5080000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0"/>
            <a:r>
              <a:rPr lang="zh-CN" sz="1800" b="0">
                <a:ea typeface="宋体" panose="02010600030101010101" pitchFamily="2" charset="-122"/>
              </a:rPr>
              <a:t>（</a:t>
            </a:r>
            <a:r>
              <a:rPr lang="en-US" sz="1800" b="0">
                <a:latin typeface="Times New Roman" panose="02020603050405020304" pitchFamily="18" charset="0"/>
              </a:rPr>
              <a:t>1</a:t>
            </a:r>
            <a:r>
              <a:rPr lang="zh-CN" sz="1800" b="0">
                <a:ea typeface="宋体" panose="02010600030101010101" pitchFamily="2" charset="-122"/>
              </a:rPr>
              <a:t>）通过健（</a:t>
            </a:r>
            <a:r>
              <a:rPr lang="en-US" sz="1800" b="0">
                <a:latin typeface="Times New Roman" panose="02020603050405020304" pitchFamily="18" charset="0"/>
              </a:rPr>
              <a:t>key</a:t>
            </a:r>
            <a:r>
              <a:rPr lang="zh-CN" sz="1800" b="0">
                <a:ea typeface="宋体" panose="02010600030101010101" pitchFamily="2" charset="-122"/>
              </a:rPr>
              <a:t>）而非下标索引（位置偏移）访问数据（</a:t>
            </a:r>
            <a:r>
              <a:rPr lang="en-US" sz="1800" b="0">
                <a:latin typeface="Times New Roman" panose="02020603050405020304" pitchFamily="18" charset="0"/>
              </a:rPr>
              <a:t>2</a:t>
            </a:r>
            <a:r>
              <a:rPr lang="zh-CN" sz="1800" b="0">
                <a:ea typeface="宋体" panose="02010600030101010101" pitchFamily="2" charset="-122"/>
              </a:rPr>
              <a:t>）可包含任意对象的无序集合（</a:t>
            </a:r>
            <a:r>
              <a:rPr lang="en-US" sz="1800" b="0">
                <a:latin typeface="Times New Roman" panose="02020603050405020304" pitchFamily="18" charset="0"/>
              </a:rPr>
              <a:t>3</a:t>
            </a:r>
            <a:r>
              <a:rPr lang="zh-CN" sz="1800" b="0">
                <a:ea typeface="宋体" panose="02010600030101010101" pitchFamily="2" charset="-122"/>
              </a:rPr>
              <a:t>）可变长度、异质、可以任意嵌套（</a:t>
            </a:r>
            <a:r>
              <a:rPr lang="en-US" sz="1800" b="0">
                <a:latin typeface="Times New Roman" panose="02020603050405020304" pitchFamily="18" charset="0"/>
              </a:rPr>
              <a:t>4</a:t>
            </a:r>
            <a:r>
              <a:rPr lang="zh-CN" sz="1800" b="0">
                <a:ea typeface="宋体" panose="02010600030101010101" pitchFamily="2" charset="-122"/>
              </a:rPr>
              <a:t>）属于可变映射分类（</a:t>
            </a:r>
            <a:r>
              <a:rPr lang="en-US" sz="1800" b="0">
                <a:latin typeface="Times New Roman" panose="02020603050405020304" pitchFamily="18" charset="0"/>
              </a:rPr>
              <a:t>5</a:t>
            </a:r>
            <a:r>
              <a:rPr lang="zh-CN" sz="1800" b="0">
                <a:ea typeface="宋体" panose="02010600030101010101" pitchFamily="2" charset="-122"/>
              </a:rPr>
              <a:t>）采用哈希表实现对象引用表</a:t>
            </a: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Tm="3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999942" y="6545264"/>
            <a:ext cx="1344083" cy="21748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78460"/>
            <a:ext cx="4106545" cy="3251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错题讲解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54641" t="48492" r="5566" b="36057"/>
          <a:stretch>
            <a:fillRect/>
          </a:stretch>
        </p:blipFill>
        <p:spPr>
          <a:xfrm>
            <a:off x="1851660" y="1551940"/>
            <a:ext cx="3279775" cy="275653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/>
          <a:srcRect l="11843" t="76878" r="45359" b="20998"/>
          <a:stretch>
            <a:fillRect/>
          </a:stretch>
        </p:blipFill>
        <p:spPr>
          <a:xfrm>
            <a:off x="1553845" y="1172845"/>
            <a:ext cx="3527425" cy="3790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61735" y="1971993"/>
            <a:ext cx="5080000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66700" indent="-266700"/>
            <a:r>
              <a:rPr lang="en-US" sz="1800" b="0">
                <a:latin typeface="Times New Roman" panose="02020603050405020304" pitchFamily="18" charset="0"/>
              </a:rPr>
              <a:t>1. </a:t>
            </a:r>
            <a:r>
              <a:rPr lang="zh-CN" sz="1800" b="0">
                <a:ea typeface="宋体" panose="02010600030101010101" pitchFamily="2" charset="-122"/>
              </a:rPr>
              <a:t>（每项</a:t>
            </a:r>
            <a:r>
              <a:rPr lang="en-US" sz="1800" b="0">
                <a:latin typeface="Times New Roman" panose="02020603050405020304" pitchFamily="18" charset="0"/>
              </a:rPr>
              <a:t>2.25</a:t>
            </a:r>
            <a:r>
              <a:rPr lang="zh-CN" sz="1800" b="0">
                <a:ea typeface="宋体" panose="02010600030101010101" pitchFamily="2" charset="-122"/>
              </a:rPr>
              <a:t>分）第</a:t>
            </a:r>
            <a:r>
              <a:rPr lang="en-US" sz="1800" b="0">
                <a:latin typeface="Times New Roman" panose="02020603050405020304" pitchFamily="18" charset="0"/>
              </a:rPr>
              <a:t>2</a:t>
            </a:r>
            <a:r>
              <a:rPr lang="zh-CN" sz="1800" b="0">
                <a:ea typeface="宋体" panose="02010600030101010101" pitchFamily="2" charset="-122"/>
              </a:rPr>
              <a:t>行修改为：</a:t>
            </a:r>
            <a:r>
              <a:rPr lang="en-US" sz="1800" b="0">
                <a:latin typeface="Times New Roman" panose="02020603050405020304" pitchFamily="18" charset="0"/>
              </a:rPr>
              <a:t>for i in range(101,201):</a:t>
            </a:r>
            <a:r>
              <a:rPr lang="zh-CN" sz="1800" b="0">
                <a:ea typeface="宋体" panose="02010600030101010101" pitchFamily="2" charset="-122"/>
              </a:rPr>
              <a:t>第</a:t>
            </a:r>
            <a:r>
              <a:rPr lang="en-US" sz="1800" b="0">
                <a:latin typeface="Times New Roman" panose="02020603050405020304" pitchFamily="18" charset="0"/>
              </a:rPr>
              <a:t>4</a:t>
            </a:r>
            <a:r>
              <a:rPr lang="zh-CN" sz="1800" b="0">
                <a:ea typeface="宋体" panose="02010600030101010101" pitchFamily="2" charset="-122"/>
              </a:rPr>
              <a:t>行修改为：</a:t>
            </a:r>
            <a:r>
              <a:rPr lang="en-US" sz="1800" b="0">
                <a:latin typeface="Times New Roman" panose="02020603050405020304" pitchFamily="18" charset="0"/>
              </a:rPr>
              <a:t>for j in range(2,round(math.sqrt(i))+1):</a:t>
            </a:r>
            <a:r>
              <a:rPr lang="zh-CN" sz="1800" b="0">
                <a:ea typeface="宋体" panose="02010600030101010101" pitchFamily="2" charset="-122"/>
              </a:rPr>
              <a:t>第</a:t>
            </a:r>
            <a:r>
              <a:rPr lang="en-US" sz="1800" b="0">
                <a:latin typeface="Times New Roman" panose="02020603050405020304" pitchFamily="18" charset="0"/>
              </a:rPr>
              <a:t>6</a:t>
            </a:r>
            <a:r>
              <a:rPr lang="zh-CN" sz="1800" b="0">
                <a:ea typeface="宋体" panose="02010600030101010101" pitchFamily="2" charset="-122"/>
              </a:rPr>
              <a:t>行修改为：</a:t>
            </a:r>
            <a:r>
              <a:rPr lang="en-US" sz="1800" b="0">
                <a:latin typeface="Times New Roman" panose="02020603050405020304" pitchFamily="18" charset="0"/>
              </a:rPr>
              <a:t>flag=1</a:t>
            </a:r>
            <a:r>
              <a:rPr lang="zh-CN" sz="1800" b="0">
                <a:ea typeface="宋体" panose="02010600030101010101" pitchFamily="2" charset="-122"/>
              </a:rPr>
              <a:t>第</a:t>
            </a:r>
            <a:r>
              <a:rPr lang="en-US" sz="1800" b="0">
                <a:latin typeface="Times New Roman" panose="02020603050405020304" pitchFamily="18" charset="0"/>
              </a:rPr>
              <a:t>7</a:t>
            </a:r>
            <a:r>
              <a:rPr lang="zh-CN" sz="1800" b="0">
                <a:ea typeface="宋体" panose="02010600030101010101" pitchFamily="2" charset="-122"/>
              </a:rPr>
              <a:t>行修改为：</a:t>
            </a:r>
            <a:r>
              <a:rPr lang="en-US" sz="1800" b="0">
                <a:latin typeface="Times New Roman" panose="02020603050405020304" pitchFamily="18" charset="0"/>
              </a:rPr>
              <a:t>break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Tm="3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999942" y="6545264"/>
            <a:ext cx="1344083" cy="21748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78460"/>
            <a:ext cx="4106545" cy="3251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错题讲解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53516" t="63904" r="5427" b="29978"/>
          <a:stretch>
            <a:fillRect/>
          </a:stretch>
        </p:blipFill>
        <p:spPr>
          <a:xfrm>
            <a:off x="821690" y="1437640"/>
            <a:ext cx="3383915" cy="109156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6096000" y="2256472"/>
            <a:ext cx="5080000" cy="2030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66700" indent="-266700"/>
            <a:r>
              <a:rPr lang="en-US" sz="2100" b="0">
                <a:latin typeface="Times New Roman" panose="02020603050405020304" pitchFamily="18" charset="0"/>
              </a:rPr>
              <a:t>1. </a:t>
            </a:r>
            <a:r>
              <a:rPr lang="zh-CN" sz="2100" b="0">
                <a:ea typeface="宋体" panose="02010600030101010101" pitchFamily="2" charset="-122"/>
              </a:rPr>
              <a:t>（每项</a:t>
            </a:r>
            <a:r>
              <a:rPr lang="en-US" sz="2100" b="0">
                <a:latin typeface="Times New Roman" panose="02020603050405020304" pitchFamily="18" charset="0"/>
              </a:rPr>
              <a:t>2</a:t>
            </a:r>
            <a:r>
              <a:rPr lang="zh-CN" sz="2100" b="0">
                <a:ea typeface="宋体" panose="02010600030101010101" pitchFamily="2" charset="-122"/>
              </a:rPr>
              <a:t>分）</a:t>
            </a:r>
            <a:r>
              <a:rPr lang="zh-CN" sz="2100" b="0">
                <a:cs typeface="Times New Roman" panose="02020603050405020304" pitchFamily="18" charset="0"/>
              </a:rPr>
              <a:t>（1）</a:t>
            </a:r>
            <a:r>
              <a:rPr lang="en-US" sz="2100" b="0">
                <a:latin typeface="Times New Roman" panose="02020603050405020304" pitchFamily="18" charset="0"/>
              </a:rPr>
              <a:t> </a:t>
            </a:r>
            <a:r>
              <a:rPr lang="en-US" sz="1800" b="0">
                <a:latin typeface="Times New Roman" panose="02020603050405020304" pitchFamily="18" charset="0"/>
              </a:rPr>
              <a:t>num = []</a:t>
            </a:r>
            <a:r>
              <a:rPr lang="zh-CN" sz="2100" b="0">
                <a:cs typeface="Times New Roman" panose="02020603050405020304" pitchFamily="18" charset="0"/>
              </a:rPr>
              <a:t>（2）</a:t>
            </a:r>
            <a:r>
              <a:rPr lang="en-US" sz="2100" b="0">
                <a:latin typeface="Times New Roman" panose="02020603050405020304" pitchFamily="18" charset="0"/>
              </a:rPr>
              <a:t> </a:t>
            </a:r>
            <a:r>
              <a:rPr lang="en-US" sz="1800" b="0">
                <a:latin typeface="Times New Roman" panose="02020603050405020304" pitchFamily="18" charset="0"/>
              </a:rPr>
              <a:t>k = 0</a:t>
            </a:r>
            <a:r>
              <a:rPr lang="zh-CN" sz="2100" b="0">
                <a:cs typeface="Times New Roman" panose="02020603050405020304" pitchFamily="18" charset="0"/>
              </a:rPr>
              <a:t>（3）</a:t>
            </a:r>
            <a:r>
              <a:rPr lang="en-US" sz="2100" b="0">
                <a:latin typeface="Times New Roman" panose="02020603050405020304" pitchFamily="18" charset="0"/>
              </a:rPr>
              <a:t> </a:t>
            </a:r>
            <a:r>
              <a:rPr lang="en-US" sz="1800" b="0">
                <a:latin typeface="Times New Roman" panose="02020603050405020304" pitchFamily="18" charset="0"/>
              </a:rPr>
              <a:t>if k == 3:</a:t>
            </a:r>
            <a:r>
              <a:rPr lang="zh-CN" sz="2100" b="0">
                <a:cs typeface="Times New Roman" panose="02020603050405020304" pitchFamily="18" charset="0"/>
              </a:rPr>
              <a:t>（4）</a:t>
            </a:r>
            <a:r>
              <a:rPr lang="en-US" sz="2100" b="0">
                <a:latin typeface="Times New Roman" panose="02020603050405020304" pitchFamily="18" charset="0"/>
              </a:rPr>
              <a:t> </a:t>
            </a:r>
            <a:r>
              <a:rPr lang="en-US" sz="1800" b="0">
                <a:latin typeface="Times New Roman" panose="02020603050405020304" pitchFamily="18" charset="0"/>
              </a:rPr>
              <a:t>i += 1</a:t>
            </a:r>
            <a:r>
              <a:rPr lang="zh-CN" sz="2100" b="0">
                <a:cs typeface="Times New Roman" panose="02020603050405020304" pitchFamily="18" charset="0"/>
              </a:rPr>
              <a:t>（5）</a:t>
            </a:r>
            <a:r>
              <a:rPr lang="en-US" sz="2100" b="0">
                <a:latin typeface="Times New Roman" panose="02020603050405020304" pitchFamily="18" charset="0"/>
              </a:rPr>
              <a:t> </a:t>
            </a:r>
            <a:r>
              <a:rPr lang="en-US" sz="1800" b="0">
                <a:latin typeface="Times New Roman" panose="02020603050405020304" pitchFamily="18" charset="0"/>
              </a:rPr>
              <a:t>num[i] == 0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4046" t="23660" r="46410" b="51606"/>
          <a:stretch>
            <a:fillRect/>
          </a:stretch>
        </p:blipFill>
        <p:spPr>
          <a:xfrm>
            <a:off x="1214755" y="2529205"/>
            <a:ext cx="3060065" cy="4143375"/>
          </a:xfrm>
          <a:prstGeom prst="rect">
            <a:avLst/>
          </a:prstGeom>
        </p:spPr>
      </p:pic>
    </p:spTree>
  </p:cSld>
  <p:clrMapOvr>
    <a:masterClrMapping/>
  </p:clrMapOvr>
  <p:transition advTm="3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999942" y="6545264"/>
            <a:ext cx="1344083" cy="21748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78460"/>
            <a:ext cx="4106545" cy="3251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错题讲解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863" t="49254" r="5872" b="46126"/>
          <a:stretch>
            <a:fillRect/>
          </a:stretch>
        </p:blipFill>
        <p:spPr>
          <a:xfrm>
            <a:off x="695325" y="1029970"/>
            <a:ext cx="7984490" cy="91503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844550" y="1945005"/>
            <a:ext cx="9711690" cy="47447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228600" indent="-228600"/>
            <a:r>
              <a:rPr lang="en-US" sz="1600" b="0">
                <a:latin typeface="Times New Roman" panose="02020603050405020304" pitchFamily="18" charset="0"/>
              </a:rPr>
              <a:t>1. </a:t>
            </a:r>
            <a:r>
              <a:rPr lang="zh-CN" sz="1600" b="0">
                <a:ea typeface="宋体" panose="02010600030101010101" pitchFamily="2" charset="-122"/>
              </a:rPr>
              <a:t>（总体思路</a:t>
            </a:r>
            <a:r>
              <a:rPr lang="en-US" sz="1600" b="0">
                <a:latin typeface="Times New Roman" panose="02020603050405020304" pitchFamily="18" charset="0"/>
              </a:rPr>
              <a:t>10</a:t>
            </a:r>
            <a:r>
              <a:rPr lang="zh-CN" sz="1600" b="0">
                <a:ea typeface="宋体" panose="02010600030101010101" pitchFamily="2" charset="-122"/>
              </a:rPr>
              <a:t>分，细节</a:t>
            </a:r>
            <a:r>
              <a:rPr lang="en-US" sz="1600" b="0">
                <a:latin typeface="Times New Roman" panose="02020603050405020304" pitchFamily="18" charset="0"/>
              </a:rPr>
              <a:t>5</a:t>
            </a:r>
            <a:r>
              <a:rPr lang="zh-CN" sz="1600" b="0">
                <a:ea typeface="宋体" panose="02010600030101010101" pitchFamily="2" charset="-122"/>
              </a:rPr>
              <a:t>分）</a:t>
            </a:r>
            <a:r>
              <a:rPr lang="en-US" sz="1600" b="0">
                <a:latin typeface="Times New Roman" panose="02020603050405020304" pitchFamily="18" charset="0"/>
              </a:rPr>
              <a:t># </a:t>
            </a:r>
            <a:r>
              <a:rPr lang="zh-CN" sz="1600" b="0">
                <a:ea typeface="宋体" panose="02010600030101010101" pitchFamily="2" charset="-122"/>
              </a:rPr>
              <a:t>输入两组数据 </a:t>
            </a:r>
            <a:r>
              <a:rPr lang="en-US" sz="1600" b="0">
                <a:latin typeface="Times New Roman" panose="02020603050405020304" pitchFamily="18" charset="0"/>
              </a:rPr>
              <a:t>x </a:t>
            </a:r>
            <a:r>
              <a:rPr lang="zh-CN" sz="1600" b="0">
                <a:ea typeface="宋体" panose="02010600030101010101" pitchFamily="2" charset="-122"/>
              </a:rPr>
              <a:t>和 </a:t>
            </a:r>
            <a:r>
              <a:rPr lang="en-US" sz="1600" b="0">
                <a:latin typeface="Times New Roman" panose="02020603050405020304" pitchFamily="18" charset="0"/>
              </a:rPr>
              <a:t>yx = eval(input("</a:t>
            </a:r>
            <a:r>
              <a:rPr lang="zh-CN" sz="1600" b="0">
                <a:ea typeface="宋体" panose="02010600030101010101" pitchFamily="2" charset="-122"/>
              </a:rPr>
              <a:t>请输入</a:t>
            </a:r>
            <a:r>
              <a:rPr lang="en-US" sz="1600" b="0">
                <a:latin typeface="Times New Roman" panose="02020603050405020304" pitchFamily="18" charset="0"/>
              </a:rPr>
              <a:t>x</a:t>
            </a:r>
            <a:r>
              <a:rPr lang="zh-CN" sz="1600" b="0">
                <a:ea typeface="宋体" panose="02010600030101010101" pitchFamily="2" charset="-122"/>
              </a:rPr>
              <a:t>的两个值，逗号分割：</a:t>
            </a:r>
            <a:r>
              <a:rPr lang="en-US" sz="1600" b="0">
                <a:latin typeface="Times New Roman" panose="02020603050405020304" pitchFamily="18" charset="0"/>
              </a:rPr>
              <a:t>"))y = eval(input("</a:t>
            </a:r>
            <a:r>
              <a:rPr lang="zh-CN" sz="1600" b="0">
                <a:ea typeface="宋体" panose="02010600030101010101" pitchFamily="2" charset="-122"/>
              </a:rPr>
              <a:t>请输入</a:t>
            </a:r>
            <a:r>
              <a:rPr lang="en-US" sz="1600" b="0">
                <a:latin typeface="Times New Roman" panose="02020603050405020304" pitchFamily="18" charset="0"/>
              </a:rPr>
              <a:t>y</a:t>
            </a:r>
            <a:r>
              <a:rPr lang="zh-CN" sz="1600" b="0">
                <a:ea typeface="宋体" panose="02010600030101010101" pitchFamily="2" charset="-122"/>
              </a:rPr>
              <a:t>的两个值，逗号分割：</a:t>
            </a:r>
            <a:r>
              <a:rPr lang="en-US" sz="1600" b="0">
                <a:latin typeface="Times New Roman" panose="02020603050405020304" pitchFamily="18" charset="0"/>
              </a:rPr>
              <a:t>"))# </a:t>
            </a:r>
            <a:r>
              <a:rPr lang="zh-CN" sz="1600" b="0">
                <a:ea typeface="宋体" panose="02010600030101010101" pitchFamily="2" charset="-122"/>
              </a:rPr>
              <a:t>定义最小二乘法函数</a:t>
            </a:r>
            <a:r>
              <a:rPr lang="en-US" sz="1600" b="0">
                <a:latin typeface="Times New Roman" panose="02020603050405020304" pitchFamily="18" charset="0"/>
              </a:rPr>
              <a:t>def least_squares(x, y):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n = len(x)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x_mean = sum(x) / n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y_mean = sum(y) / n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xy_mean = sum([x[i] * y[i] for i in range(n)]) / n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xx_mean = sum([x[i]**2 for i in range(n)]) / n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a = (xy_mean - x_mean * y_mean) / (xx_mean - x_mean**2)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b = y_mean - a * x_mean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return a, b</a:t>
            </a:r>
            <a:r>
              <a:rPr lang="en-US" sz="1600" b="0">
                <a:latin typeface="宋体" panose="02010600030101010101" pitchFamily="2" charset="-122"/>
              </a:rPr>
              <a:t> </a:t>
            </a:r>
            <a:r>
              <a:rPr lang="en-US" sz="1600" b="0">
                <a:latin typeface="Times New Roman" panose="02020603050405020304" pitchFamily="18" charset="0"/>
              </a:rPr>
              <a:t># </a:t>
            </a:r>
            <a:r>
              <a:rPr lang="zh-CN" sz="1600" b="0">
                <a:ea typeface="宋体" panose="02010600030101010101" pitchFamily="2" charset="-122"/>
              </a:rPr>
              <a:t>调用函数求解参数</a:t>
            </a:r>
            <a:r>
              <a:rPr lang="en-US" sz="1600" b="0">
                <a:latin typeface="Times New Roman" panose="02020603050405020304" pitchFamily="18" charset="0"/>
              </a:rPr>
              <a:t>a, b = least_squares(x, y)# </a:t>
            </a:r>
            <a:r>
              <a:rPr lang="zh-CN" sz="1600" b="0">
                <a:ea typeface="宋体" panose="02010600030101010101" pitchFamily="2" charset="-122"/>
              </a:rPr>
              <a:t>打印结果</a:t>
            </a:r>
            <a:r>
              <a:rPr lang="en-US" sz="1600" b="0">
                <a:latin typeface="Times New Roman" panose="02020603050405020304" pitchFamily="18" charset="0"/>
              </a:rPr>
              <a:t>print("a =", a)print("b =", b)</a:t>
            </a:r>
            <a:endParaRPr lang="en-US" altLang="en-US" sz="16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Tm="3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999942" y="6545264"/>
            <a:ext cx="1344083" cy="21748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78460"/>
            <a:ext cx="4106545" cy="3251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错题讲解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9299" t="53681" r="10761" b="37694"/>
          <a:stretch>
            <a:fillRect/>
          </a:stretch>
        </p:blipFill>
        <p:spPr>
          <a:xfrm>
            <a:off x="638810" y="1078230"/>
            <a:ext cx="5939155" cy="138684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586105" y="2589530"/>
            <a:ext cx="5080000" cy="35693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28600" indent="-228600"/>
            <a:r>
              <a:rPr lang="en-US" sz="1600" b="0">
                <a:latin typeface="Times New Roman" panose="02020603050405020304" pitchFamily="18" charset="0"/>
              </a:rPr>
              <a:t>1. </a:t>
            </a:r>
            <a:r>
              <a:rPr lang="zh-CN" sz="1600" b="0">
                <a:ea typeface="宋体" panose="02010600030101010101" pitchFamily="2" charset="-122"/>
              </a:rPr>
              <a:t>（总体思路</a:t>
            </a:r>
            <a:r>
              <a:rPr lang="en-US" sz="1600" b="0">
                <a:latin typeface="Times New Roman" panose="02020603050405020304" pitchFamily="18" charset="0"/>
              </a:rPr>
              <a:t>10</a:t>
            </a:r>
            <a:r>
              <a:rPr lang="zh-CN" sz="1600" b="0">
                <a:ea typeface="宋体" panose="02010600030101010101" pitchFamily="2" charset="-122"/>
              </a:rPr>
              <a:t>分，细节</a:t>
            </a:r>
            <a:r>
              <a:rPr lang="en-US" sz="1600" b="0">
                <a:latin typeface="Times New Roman" panose="02020603050405020304" pitchFamily="18" charset="0"/>
              </a:rPr>
              <a:t>5</a:t>
            </a:r>
            <a:r>
              <a:rPr lang="zh-CN" sz="1600" b="0">
                <a:ea typeface="宋体" panose="02010600030101010101" pitchFamily="2" charset="-122"/>
              </a:rPr>
              <a:t>分）</a:t>
            </a:r>
            <a:r>
              <a:rPr lang="en-US" sz="1600" b="0">
                <a:latin typeface="Times New Roman" panose="02020603050405020304" pitchFamily="18" charset="0"/>
              </a:rPr>
              <a:t>import randomimport time</a:t>
            </a:r>
            <a:r>
              <a:rPr lang="en-US" sz="1600" b="0">
                <a:latin typeface="宋体" panose="02010600030101010101" pitchFamily="2" charset="-122"/>
              </a:rPr>
              <a:t> </a:t>
            </a:r>
            <a:r>
              <a:rPr lang="en-US" sz="1600" b="0">
                <a:latin typeface="Times New Roman" panose="02020603050405020304" pitchFamily="18" charset="0"/>
              </a:rPr>
              <a:t># </a:t>
            </a:r>
            <a:r>
              <a:rPr lang="zh-CN" sz="1600" b="0">
                <a:ea typeface="宋体" panose="02010600030101010101" pitchFamily="2" charset="-122"/>
              </a:rPr>
              <a:t>游戏参数</a:t>
            </a:r>
            <a:r>
              <a:rPr lang="en-US" sz="1600" b="0">
                <a:latin typeface="Times New Roman" panose="02020603050405020304" pitchFamily="18" charset="0"/>
              </a:rPr>
              <a:t>score = 0time_left = 10</a:t>
            </a:r>
            <a:r>
              <a:rPr lang="en-US" sz="1600" b="0">
                <a:latin typeface="宋体" panose="02010600030101010101" pitchFamily="2" charset="-122"/>
              </a:rPr>
              <a:t> </a:t>
            </a:r>
            <a:r>
              <a:rPr lang="en-US" sz="1600" b="0">
                <a:latin typeface="Times New Roman" panose="02020603050405020304" pitchFamily="18" charset="0"/>
              </a:rPr>
              <a:t># </a:t>
            </a:r>
            <a:r>
              <a:rPr lang="zh-CN" sz="1600" b="0">
                <a:ea typeface="宋体" panose="02010600030101010101" pitchFamily="2" charset="-122"/>
              </a:rPr>
              <a:t>定义生成地鼠的函数</a:t>
            </a:r>
            <a:r>
              <a:rPr lang="en-US" sz="1600" b="0">
                <a:latin typeface="Times New Roman" panose="02020603050405020304" pitchFamily="18" charset="0"/>
              </a:rPr>
              <a:t>def generate_mole():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mole_y = random.randint(0, 9)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return mole_y</a:t>
            </a:r>
            <a:r>
              <a:rPr lang="en-US" sz="1600" b="0">
                <a:latin typeface="宋体" panose="02010600030101010101" pitchFamily="2" charset="-122"/>
              </a:rPr>
              <a:t> </a:t>
            </a:r>
            <a:r>
              <a:rPr lang="en-US" sz="1600" b="0">
                <a:latin typeface="Times New Roman" panose="02020603050405020304" pitchFamily="18" charset="0"/>
              </a:rPr>
              <a:t></a:t>
            </a:r>
            <a:r>
              <a:rPr lang="en-US" sz="1800">
                <a:latin typeface="Times New Roman" panose="02020603050405020304" pitchFamily="18" charset="0"/>
                <a:sym typeface="+mn-ea"/>
              </a:rPr>
              <a:t># </a:t>
            </a:r>
            <a:r>
              <a:rPr lang="zh-CN" sz="1800">
                <a:sym typeface="+mn-ea"/>
              </a:rPr>
              <a:t>定义游戏主循环函数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/>
          <a:srcRect l="17410" t="55940" r="36325" b="42571"/>
          <a:stretch>
            <a:fillRect/>
          </a:stretch>
        </p:blipFill>
        <p:spPr>
          <a:xfrm>
            <a:off x="4124325" y="4970145"/>
            <a:ext cx="7239000" cy="504190"/>
          </a:xfrm>
          <a:prstGeom prst="rect">
            <a:avLst/>
          </a:prstGeom>
        </p:spPr>
      </p:pic>
    </p:spTree>
  </p:cSld>
  <p:clrMapOvr>
    <a:masterClrMapping/>
  </p:clrMapOvr>
  <p:transition advTm="35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999942" y="6545264"/>
            <a:ext cx="1344083" cy="21748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78460"/>
            <a:ext cx="4106545" cy="3251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错题讲解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102995" y="1234440"/>
            <a:ext cx="9897110" cy="538289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228600" indent="-228600"/>
            <a:r>
              <a:rPr lang="en-US" sz="1600" b="0">
                <a:latin typeface="Times New Roman" panose="02020603050405020304" pitchFamily="18" charset="0"/>
              </a:rPr>
              <a:t>def game_loop():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global score, time_left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wait_time = 10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while time_left &gt; 0:</a:t>
            </a:r>
            <a:r>
              <a:rPr lang="en-US" sz="1600" b="0">
                <a:latin typeface="宋体" panose="02010600030101010101" pitchFamily="2" charset="-122"/>
              </a:rPr>
              <a:t> </a:t>
            </a:r>
            <a:r>
              <a:rPr lang="en-US" sz="1600" b="0">
                <a:latin typeface="Times New Roman" panose="02020603050405020304" pitchFamily="18" charset="0"/>
              </a:rPr>
              <a:t># </a:t>
            </a:r>
            <a:r>
              <a:rPr lang="zh-CN" sz="1600" b="0">
                <a:ea typeface="宋体" panose="02010600030101010101" pitchFamily="2" charset="-122"/>
              </a:rPr>
              <a:t>更新时间和地鼠位置</a:t>
            </a:r>
            <a:r>
              <a:rPr lang="en-US" sz="1600" b="0">
                <a:latin typeface="宋体" panose="02010600030101010101" pitchFamily="2" charset="-122"/>
              </a:rPr>
              <a:t>        </a:t>
            </a:r>
            <a:r>
              <a:rPr lang="en-US" sz="1600" b="0">
                <a:latin typeface="Times New Roman" panose="02020603050405020304" pitchFamily="18" charset="0"/>
              </a:rPr>
              <a:t>time_left -= 1</a:t>
            </a:r>
            <a:r>
              <a:rPr lang="en-US" sz="1600" b="0">
                <a:latin typeface="宋体" panose="02010600030101010101" pitchFamily="2" charset="-122"/>
              </a:rPr>
              <a:t>        </a:t>
            </a:r>
            <a:r>
              <a:rPr lang="en-US" sz="1600" b="0">
                <a:latin typeface="Times New Roman" panose="02020603050405020304" pitchFamily="18" charset="0"/>
              </a:rPr>
              <a:t>mole_y = generate_mole()</a:t>
            </a:r>
            <a:r>
              <a:rPr lang="en-US" sz="1600" b="0">
                <a:latin typeface="宋体" panose="02010600030101010101" pitchFamily="2" charset="-122"/>
              </a:rPr>
              <a:t>        </a:t>
            </a:r>
            <a:r>
              <a:rPr lang="en-US" sz="1600" b="0">
                <a:latin typeface="Times New Roman" panose="02020603050405020304" pitchFamily="18" charset="0"/>
              </a:rPr>
              <a:t>print("</a:t>
            </a:r>
            <a:r>
              <a:rPr lang="zh-CN" sz="1600" b="0">
                <a:ea typeface="宋体" panose="02010600030101010101" pitchFamily="2" charset="-122"/>
              </a:rPr>
              <a:t>剩余次数：</a:t>
            </a:r>
            <a:r>
              <a:rPr lang="en-US" sz="1600" b="0">
                <a:latin typeface="Times New Roman" panose="02020603050405020304" pitchFamily="18" charset="0"/>
              </a:rPr>
              <a:t>%d </a:t>
            </a:r>
            <a:r>
              <a:rPr lang="zh-CN" sz="1600" b="0">
                <a:ea typeface="宋体" panose="02010600030101010101" pitchFamily="2" charset="-122"/>
              </a:rPr>
              <a:t>次，得分：</a:t>
            </a:r>
            <a:r>
              <a:rPr lang="en-US" sz="1600" b="0">
                <a:latin typeface="Times New Roman" panose="02020603050405020304" pitchFamily="18" charset="0"/>
              </a:rPr>
              <a:t>%d </a:t>
            </a:r>
            <a:r>
              <a:rPr lang="zh-CN" sz="1600" b="0">
                <a:ea typeface="宋体" panose="02010600030101010101" pitchFamily="2" charset="-122"/>
              </a:rPr>
              <a:t>分</a:t>
            </a:r>
            <a:r>
              <a:rPr lang="en-US" sz="1600" b="0">
                <a:latin typeface="Times New Roman" panose="02020603050405020304" pitchFamily="18" charset="0"/>
              </a:rPr>
              <a:t>" % (time_left, score))</a:t>
            </a:r>
            <a:r>
              <a:rPr lang="en-US" sz="1600">
                <a:latin typeface="Times New Roman" panose="02020603050405020304" pitchFamily="18" charset="0"/>
                <a:sym typeface="+mn-ea"/>
              </a:rPr>
              <a:t># </a:t>
            </a:r>
            <a:r>
              <a:rPr lang="zh-CN" sz="1600">
                <a:sym typeface="+mn-ea"/>
              </a:rPr>
              <a:t>显示游戏状态和得分</a:t>
            </a:r>
            <a:r>
              <a:rPr lang="en-US" sz="1600" b="0">
                <a:latin typeface="宋体" panose="02010600030101010101" pitchFamily="2" charset="-122"/>
              </a:rPr>
              <a:t>        </a:t>
            </a:r>
            <a:r>
              <a:rPr lang="en-US" sz="1600" b="0">
                <a:latin typeface="Times New Roman" panose="02020603050405020304" pitchFamily="18" charset="0"/>
              </a:rPr>
              <a:t>time.sleep(random.randint(1, 3))</a:t>
            </a:r>
            <a:r>
              <a:rPr lang="en-US" sz="1600">
                <a:latin typeface="Times New Roman" panose="02020603050405020304" pitchFamily="18" charset="0"/>
                <a:sym typeface="+mn-ea"/>
              </a:rPr>
              <a:t># </a:t>
            </a:r>
            <a:r>
              <a:rPr lang="zh-CN" sz="1600">
                <a:sym typeface="+mn-ea"/>
              </a:rPr>
              <a:t>等待地鼠出现</a:t>
            </a:r>
            <a:r>
              <a:rPr lang="en-US" sz="1600" b="0">
                <a:latin typeface="宋体" panose="02010600030101010101" pitchFamily="2" charset="-122"/>
              </a:rPr>
              <a:t>                </a:t>
            </a:r>
            <a:r>
              <a:rPr lang="en-US" sz="1600" b="0">
                <a:latin typeface="Times New Roman" panose="02020603050405020304" pitchFamily="18" charset="0"/>
              </a:rPr>
              <a:t>print("*" * mole_y + "O" + "*" * (10 - mole_y - 1))</a:t>
            </a:r>
            <a:r>
              <a:rPr lang="en-US" sz="1600">
                <a:latin typeface="Times New Roman" panose="02020603050405020304" pitchFamily="18" charset="0"/>
                <a:sym typeface="+mn-ea"/>
              </a:rPr>
              <a:t># </a:t>
            </a:r>
            <a:r>
              <a:rPr lang="zh-CN" sz="1600">
                <a:sym typeface="+mn-ea"/>
              </a:rPr>
              <a:t>显示地鼠</a:t>
            </a:r>
            <a:r>
              <a:rPr lang="en-US" sz="1600" b="0">
                <a:latin typeface="宋体" panose="02010600030101010101" pitchFamily="2" charset="-122"/>
              </a:rPr>
              <a:t>                </a:t>
            </a:r>
            <a:r>
              <a:rPr lang="en-US" sz="1600" b="0">
                <a:latin typeface="Times New Roman" panose="02020603050405020304" pitchFamily="18" charset="0"/>
              </a:rPr>
              <a:t>start_time = time.time()</a:t>
            </a:r>
            <a:r>
              <a:rPr lang="en-US" sz="1600">
                <a:latin typeface="Times New Roman" panose="02020603050405020304" pitchFamily="18" charset="0"/>
                <a:sym typeface="+mn-ea"/>
              </a:rPr>
              <a:t># </a:t>
            </a:r>
            <a:r>
              <a:rPr lang="zh-CN" sz="1600">
                <a:sym typeface="+mn-ea"/>
              </a:rPr>
              <a:t>等待玩家按下空格键</a:t>
            </a:r>
            <a:r>
              <a:rPr lang="en-US" sz="1600" b="0">
                <a:latin typeface="宋体" panose="02010600030101010101" pitchFamily="2" charset="-122"/>
              </a:rPr>
              <a:t>        </a:t>
            </a:r>
            <a:r>
              <a:rPr lang="en-US" sz="1600" b="0">
                <a:latin typeface="Times New Roman" panose="02020603050405020304" pitchFamily="18" charset="0"/>
              </a:rPr>
              <a:t>input_char = input()</a:t>
            </a:r>
            <a:r>
              <a:rPr lang="en-US" sz="1600" b="0">
                <a:latin typeface="宋体" panose="02010600030101010101" pitchFamily="2" charset="-122"/>
              </a:rPr>
              <a:t>        </a:t>
            </a:r>
            <a:r>
              <a:rPr lang="en-US" sz="1600" b="0">
                <a:latin typeface="Times New Roman" panose="02020603050405020304" pitchFamily="18" charset="0"/>
              </a:rPr>
              <a:t>end_time = time.time()</a:t>
            </a:r>
            <a:r>
              <a:rPr lang="en-US" sz="1600" b="0">
                <a:latin typeface="宋体" panose="02010600030101010101" pitchFamily="2" charset="-122"/>
              </a:rPr>
              <a:t>        </a:t>
            </a:r>
            <a:r>
              <a:rPr lang="en-US" sz="1600" b="0">
                <a:latin typeface="Times New Roman" panose="02020603050405020304" pitchFamily="18" charset="0"/>
              </a:rPr>
              <a:t>if end_time - start_time &lt;= wait_time and mole_y+1 == int(input_char):</a:t>
            </a:r>
            <a:r>
              <a:rPr lang="en-US" sz="1600">
                <a:latin typeface="Times New Roman" panose="02020603050405020304" pitchFamily="18" charset="0"/>
                <a:sym typeface="+mn-ea"/>
              </a:rPr>
              <a:t># </a:t>
            </a:r>
            <a:r>
              <a:rPr lang="zh-CN" sz="1600">
                <a:sym typeface="+mn-ea"/>
              </a:rPr>
              <a:t>判断是否击中地鼠</a:t>
            </a:r>
            <a:r>
              <a:rPr lang="en-US" sz="1600" b="0">
                <a:latin typeface="宋体" panose="02010600030101010101" pitchFamily="2" charset="-122"/>
              </a:rPr>
              <a:t>            </a:t>
            </a:r>
            <a:r>
              <a:rPr lang="en-US" sz="1600" b="0">
                <a:latin typeface="Times New Roman" panose="02020603050405020304" pitchFamily="18" charset="0"/>
              </a:rPr>
              <a:t>score += 1</a:t>
            </a:r>
            <a:r>
              <a:rPr lang="en-US" sz="1600" b="0">
                <a:latin typeface="宋体" panose="02010600030101010101" pitchFamily="2" charset="-122"/>
              </a:rPr>
              <a:t>            </a:t>
            </a:r>
            <a:r>
              <a:rPr lang="en-US" sz="1600" b="0">
                <a:latin typeface="Times New Roman" panose="02020603050405020304" pitchFamily="18" charset="0"/>
              </a:rPr>
              <a:t>print("</a:t>
            </a:r>
            <a:r>
              <a:rPr lang="zh-CN" sz="1600" b="0">
                <a:ea typeface="宋体" panose="02010600030101010101" pitchFamily="2" charset="-122"/>
              </a:rPr>
              <a:t>恭喜你，击中了地鼠！</a:t>
            </a:r>
            <a:r>
              <a:rPr lang="en-US" sz="1600" b="0">
                <a:latin typeface="Times New Roman" panose="02020603050405020304" pitchFamily="18" charset="0"/>
              </a:rPr>
              <a:t>")</a:t>
            </a:r>
            <a:r>
              <a:rPr lang="en-US" sz="1600" b="0">
                <a:latin typeface="宋体" panose="02010600030101010101" pitchFamily="2" charset="-122"/>
              </a:rPr>
              <a:t>        </a:t>
            </a:r>
            <a:r>
              <a:rPr lang="en-US" sz="1600" b="0">
                <a:latin typeface="Times New Roman" panose="02020603050405020304" pitchFamily="18" charset="0"/>
              </a:rPr>
              <a:t>else:</a:t>
            </a:r>
            <a:r>
              <a:rPr lang="en-US" sz="1600" b="0">
                <a:latin typeface="宋体" panose="02010600030101010101" pitchFamily="2" charset="-122"/>
              </a:rPr>
              <a:t>            </a:t>
            </a:r>
            <a:r>
              <a:rPr lang="en-US" sz="1600" b="0">
                <a:latin typeface="Times New Roman" panose="02020603050405020304" pitchFamily="18" charset="0"/>
              </a:rPr>
              <a:t>print("</a:t>
            </a:r>
            <a:r>
              <a:rPr lang="zh-CN" sz="1600" b="0">
                <a:ea typeface="宋体" panose="02010600030101010101" pitchFamily="2" charset="-122"/>
              </a:rPr>
              <a:t>很遗憾，你没有击中地鼠。</a:t>
            </a:r>
            <a:r>
              <a:rPr lang="en-US" sz="1600" b="0">
                <a:latin typeface="Times New Roman" panose="02020603050405020304" pitchFamily="18" charset="0"/>
              </a:rPr>
              <a:t>")</a:t>
            </a:r>
            <a:r>
              <a:rPr lang="en-US" sz="1600" b="0">
                <a:latin typeface="宋体" panose="02010600030101010101" pitchFamily="2" charset="-122"/>
              </a:rPr>
              <a:t>    </a:t>
            </a:r>
            <a:r>
              <a:rPr lang="en-US" sz="1600" b="0">
                <a:latin typeface="Times New Roman" panose="02020603050405020304" pitchFamily="18" charset="0"/>
              </a:rPr>
              <a:t>print("\n</a:t>
            </a:r>
            <a:r>
              <a:rPr lang="zh-CN" sz="1600" b="0">
                <a:ea typeface="宋体" panose="02010600030101010101" pitchFamily="2" charset="-122"/>
              </a:rPr>
              <a:t>游戏结束！你的得分是：</a:t>
            </a:r>
            <a:r>
              <a:rPr lang="en-US" sz="1600" b="0">
                <a:latin typeface="Times New Roman" panose="02020603050405020304" pitchFamily="18" charset="0"/>
              </a:rPr>
              <a:t>%d </a:t>
            </a:r>
            <a:r>
              <a:rPr lang="zh-CN" sz="1600" b="0">
                <a:ea typeface="宋体" panose="02010600030101010101" pitchFamily="2" charset="-122"/>
              </a:rPr>
              <a:t>分</a:t>
            </a:r>
            <a:r>
              <a:rPr lang="en-US" sz="1600" b="0">
                <a:latin typeface="Times New Roman" panose="02020603050405020304" pitchFamily="18" charset="0"/>
              </a:rPr>
              <a:t>" % score)</a:t>
            </a:r>
            <a:r>
              <a:rPr lang="en-US" sz="1800">
                <a:latin typeface="Times New Roman" panose="02020603050405020304" pitchFamily="18" charset="0"/>
                <a:sym typeface="+mn-ea"/>
              </a:rPr>
              <a:t># </a:t>
            </a:r>
            <a:r>
              <a:rPr lang="zh-CN" sz="1800">
                <a:sym typeface="+mn-ea"/>
              </a:rPr>
              <a:t>显示游戏结束界面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9880" t="57097" r="62889" b="41493"/>
          <a:stretch>
            <a:fillRect/>
          </a:stretch>
        </p:blipFill>
        <p:spPr>
          <a:xfrm>
            <a:off x="7630795" y="4939030"/>
            <a:ext cx="3103880" cy="549910"/>
          </a:xfrm>
          <a:prstGeom prst="rect">
            <a:avLst/>
          </a:prstGeom>
        </p:spPr>
      </p:pic>
    </p:spTree>
  </p:cSld>
  <p:clrMapOvr>
    <a:masterClrMapping/>
  </p:clrMapOvr>
  <p:transition advTm="35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999942" y="6545264"/>
            <a:ext cx="1344083" cy="21748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FD937A-0DFE-4B00-9C15-AFE5D202C97A}" type="slidenum">
              <a:rPr lang="en-US" altLang="zh-CN" sz="1200">
                <a:solidFill>
                  <a:srgbClr val="000000"/>
                </a:solidFill>
              </a:rPr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810" y="378460"/>
            <a:ext cx="4106545" cy="3251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错题讲解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9299" t="53681" r="10761" b="37694"/>
          <a:stretch>
            <a:fillRect/>
          </a:stretch>
        </p:blipFill>
        <p:spPr>
          <a:xfrm>
            <a:off x="638810" y="1078230"/>
            <a:ext cx="5939155" cy="138684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900430" y="3269615"/>
            <a:ext cx="5080000" cy="258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28600" indent="-228600"/>
            <a:r>
              <a:rPr lang="en-US" sz="1800" b="0">
                <a:latin typeface="宋体" panose="02010600030101010101" pitchFamily="2" charset="-122"/>
              </a:rPr>
              <a:t> </a:t>
            </a:r>
            <a:r>
              <a:rPr lang="en-US" sz="1800" b="0">
                <a:latin typeface="Times New Roman" panose="02020603050405020304" pitchFamily="18" charset="0"/>
              </a:rPr>
              <a:t># </a:t>
            </a:r>
            <a:r>
              <a:rPr lang="zh-CN" sz="1800" b="0">
                <a:ea typeface="宋体" panose="02010600030101010101" pitchFamily="2" charset="-122"/>
              </a:rPr>
              <a:t>游戏开始</a:t>
            </a:r>
            <a:r>
              <a:rPr lang="en-US" sz="1800" b="0">
                <a:latin typeface="Times New Roman" panose="02020603050405020304" pitchFamily="18" charset="0"/>
              </a:rPr>
              <a:t>print("</a:t>
            </a:r>
            <a:r>
              <a:rPr lang="zh-CN" sz="1800" b="0">
                <a:ea typeface="宋体" panose="02010600030101010101" pitchFamily="2" charset="-122"/>
              </a:rPr>
              <a:t>欢迎来到打地鼠游戏！</a:t>
            </a:r>
            <a:r>
              <a:rPr lang="en-US" sz="1800" b="0">
                <a:latin typeface="Times New Roman" panose="02020603050405020304" pitchFamily="18" charset="0"/>
              </a:rPr>
              <a:t>")print("</a:t>
            </a:r>
            <a:r>
              <a:rPr lang="zh-CN" sz="1800" b="0">
                <a:ea typeface="宋体" panose="02010600030101010101" pitchFamily="2" charset="-122"/>
              </a:rPr>
              <a:t>按回车键开始游戏</a:t>
            </a:r>
            <a:r>
              <a:rPr lang="en-US" sz="1800" b="0">
                <a:latin typeface="Times New Roman" panose="02020603050405020304" pitchFamily="18" charset="0"/>
              </a:rPr>
              <a:t>...")input()game_loop()# </a:t>
            </a:r>
            <a:r>
              <a:rPr lang="zh-CN" sz="1800" b="0">
                <a:ea typeface="宋体" panose="02010600030101010101" pitchFamily="2" charset="-122"/>
              </a:rPr>
              <a:t>等待关闭窗口</a:t>
            </a:r>
            <a:r>
              <a:rPr lang="en-US" sz="1800" b="0">
                <a:latin typeface="Times New Roman" panose="02020603050405020304" pitchFamily="18" charset="0"/>
              </a:rPr>
              <a:t>input("</a:t>
            </a:r>
            <a:r>
              <a:rPr lang="zh-CN" sz="1800" b="0">
                <a:ea typeface="宋体" panose="02010600030101010101" pitchFamily="2" charset="-122"/>
              </a:rPr>
              <a:t>按回车键退出游戏</a:t>
            </a:r>
            <a:r>
              <a:rPr lang="en-US" sz="1800" b="0">
                <a:latin typeface="Times New Roman" panose="02020603050405020304" pitchFamily="18" charset="0"/>
              </a:rPr>
              <a:t>...")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Tm="35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PP_MARK_KEY" val="38bcfb4b-83a1-4954-bee7-d1af858645a5"/>
  <p:tag name="COMMONDATA" val="eyJoZGlkIjoiZmFhNDkwNTdmMGVmOTFjMzVhNTliYWNkYjNiNTMzZjYifQ=="/>
</p:tagLst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/>
      <a:bodyPr anchor="ctr"/>
      <a:lstStyle>
        <a:defPPr algn="ctr">
          <a:defRPr sz="800" b="1" dirty="0">
            <a:solidFill>
              <a:schemeClr val="tx1"/>
            </a:solidFill>
          </a:defRPr>
        </a:defPPr>
      </a:lstStyle>
      <a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28575" cap="flat" cmpd="sng" algn="ctr">
          <a:solidFill>
            <a:srgbClr val="922706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2E6EF">
            <a:alpha val="97000"/>
          </a:srgbClr>
        </a:solidFill>
        <a:ln w="31750">
          <a:noFill/>
          <a:prstDash val="dash"/>
        </a:ln>
      </a:spPr>
      <a:bodyPr rtlCol="0" anchor="ctr"/>
      <a:lstStyle>
        <a:defPPr algn="ctr">
          <a:defRPr kumimoji="1" sz="1350" dirty="0"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</a:spPr>
      <a:bodyPr vert="horz" wrap="square" lIns="108000" tIns="0" rIns="108000" bIns="0" numCol="1" anchor="ctr" anchorCtr="1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2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Verdana" panose="020B0604030504040204" pitchFamily="34" charset="0"/>
            <a:ea typeface="黑体" panose="02010609060101010101" pitchFamily="2" charset="-122"/>
          </a:defRPr>
        </a:defPPr>
      </a:lstStyle>
    </a:lnDef>
    <a:txDef>
      <a:spPr>
        <a:solidFill>
          <a:schemeClr val="bg1"/>
        </a:solidFill>
      </a:spPr>
      <a:bodyPr wrap="square">
        <a:noAutofit/>
      </a:bodyPr>
      <a:lstStyle>
        <a:defPPr>
          <a:defRPr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1913</Words>
  <Application>WPS 演示</Application>
  <PresentationFormat>宽屏</PresentationFormat>
  <Paragraphs>122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Verdana</vt:lpstr>
      <vt:lpstr>黑体</vt:lpstr>
      <vt:lpstr>华文新魏</vt:lpstr>
      <vt:lpstr>微软雅黑</vt:lpstr>
      <vt:lpstr>Times New Roman</vt:lpstr>
      <vt:lpstr>Cambria Math</vt:lpstr>
      <vt:lpstr>Calibri</vt:lpstr>
      <vt:lpstr>Arial Unicode MS</vt:lpstr>
      <vt:lpstr>1_自定义设计方案</vt:lpstr>
      <vt:lpstr>1_Profile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Jamie</cp:lastModifiedBy>
  <cp:revision>39</cp:revision>
  <dcterms:created xsi:type="dcterms:W3CDTF">2020-11-10T03:01:00Z</dcterms:created>
  <dcterms:modified xsi:type="dcterms:W3CDTF">2023-06-13T18:08:10Z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EA76A09232E149F3B6AC5C9D04F1FFBF</vt:lpwstr>
  </property>
  <property fmtid="{D5CDD505-2E9C-101B-9397-08002B2CF9AE}" pid="3" name="KSOProductBuildVer">
    <vt:lpwstr>2052-11.1.0.14309</vt:lpwstr>
  </property>
</Properties>
</file>