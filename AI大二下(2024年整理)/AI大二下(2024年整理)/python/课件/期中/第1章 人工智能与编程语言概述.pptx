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12" r:id="rId4"/>
    <p:sldId id="313" r:id="rId5"/>
    <p:sldId id="314" r:id="rId6"/>
    <p:sldId id="257" r:id="rId7"/>
    <p:sldId id="258" r:id="rId8"/>
    <p:sldId id="259" r:id="rId9"/>
    <p:sldId id="260" r:id="rId10"/>
    <p:sldId id="261" r:id="rId11"/>
    <p:sldId id="309" r:id="rId12"/>
    <p:sldId id="263" r:id="rId13"/>
    <p:sldId id="262" r:id="rId14"/>
    <p:sldId id="264" r:id="rId15"/>
    <p:sldId id="265" r:id="rId16"/>
    <p:sldId id="266" r:id="rId17"/>
    <p:sldId id="267" r:id="rId18"/>
    <p:sldId id="310" r:id="rId19"/>
    <p:sldId id="268" r:id="rId20"/>
    <p:sldId id="269" r:id="rId21"/>
    <p:sldId id="298" r:id="rId22"/>
    <p:sldId id="270" r:id="rId23"/>
    <p:sldId id="299" r:id="rId24"/>
    <p:sldId id="302" r:id="rId25"/>
    <p:sldId id="303" r:id="rId26"/>
    <p:sldId id="304" r:id="rId27"/>
    <p:sldId id="305" r:id="rId28"/>
    <p:sldId id="306" r:id="rId29"/>
    <p:sldId id="307" r:id="rId30"/>
    <p:sldId id="308" r:id="rId31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gs" Target="tags/tag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04BA-6080-451B-9F6C-257ACE277E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222F6-25C9-466F-BA97-32FFFE0235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60704BA-6080-451B-9F6C-257ACE277E3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222F6-25C9-466F-BA97-32FFFE0235F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anose="05020102010507070707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 dirty="0"/>
              <a:t>人工智能与编程语言概述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21DF86A-3B6D-4EF5-805D-360A0CD705E5}" type="slidenum">
              <a:rPr lang="zh-CN" altLang="en-US" sz="1200"/>
            </a:fld>
            <a:endParaRPr lang="en-US" altLang="zh-CN" sz="1200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简介</a:t>
            </a:r>
            <a:endParaRPr lang="zh-CN" altLang="en-US" dirty="0" smtClean="0"/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曹冬林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实验室：智能多媒体实验室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zh-CN" altLang="en-US" dirty="0" smtClean="0"/>
              <a:t>微信</a:t>
            </a:r>
            <a:r>
              <a:rPr lang="en-US" altLang="zh-CN" dirty="0" smtClean="0"/>
              <a:t>:another22592210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E-mail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another@xmu.edu.cn</a:t>
            </a:r>
            <a:endParaRPr lang="en-US" altLang="zh-CN" dirty="0" smtClean="0"/>
          </a:p>
          <a:p>
            <a:r>
              <a:rPr lang="zh-CN" altLang="en-US" dirty="0" smtClean="0"/>
              <a:t>课件：</a:t>
            </a:r>
            <a:r>
              <a:rPr lang="en-US" altLang="zh-CN" dirty="0" smtClean="0"/>
              <a:t>https://box.xmu.edu.cn/share/57d57a882a1a51c6635a7d35b4 访问密码：77dc</a:t>
            </a:r>
            <a:endParaRPr lang="en-US" altLang="zh-CN" dirty="0" smtClean="0"/>
          </a:p>
          <a:p>
            <a:r>
              <a:rPr lang="zh-CN" altLang="en-US" dirty="0"/>
              <a:t>助教：唐雄、钱益新</a:t>
            </a:r>
            <a:endParaRPr lang="zh-CN" alt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78A141B-506D-4D89-BBF6-4EFB17D2915C}" type="slidenum">
              <a:rPr lang="zh-CN" altLang="en-US" sz="1200"/>
            </a:fld>
            <a:endParaRPr lang="en-US" altLang="zh-CN" sz="1200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课程简介</a:t>
            </a:r>
            <a:endParaRPr lang="zh-CN" altLang="en-US" smtClean="0"/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考核方式</a:t>
            </a: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闭卷考试</a:t>
            </a:r>
            <a:r>
              <a:rPr lang="en-US" altLang="zh-CN" dirty="0" smtClean="0"/>
              <a:t>+</a:t>
            </a:r>
            <a:r>
              <a:rPr lang="zh-CN" altLang="en-US" dirty="0" smtClean="0"/>
              <a:t>实验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计分方式</a:t>
            </a: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平时成绩</a:t>
            </a:r>
            <a:r>
              <a:rPr lang="en-US" altLang="zh-CN" dirty="0" smtClean="0"/>
              <a:t>10%</a:t>
            </a: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 smtClean="0"/>
              <a:t>实验成绩</a:t>
            </a:r>
            <a:r>
              <a:rPr lang="en-US" altLang="zh-CN" dirty="0"/>
              <a:t>3</a:t>
            </a:r>
            <a:r>
              <a:rPr lang="en-US" altLang="zh-CN" dirty="0" smtClean="0"/>
              <a:t>0%</a:t>
            </a: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 smtClean="0"/>
              <a:t>期中成绩</a:t>
            </a:r>
            <a:r>
              <a:rPr lang="en-US" altLang="zh-CN" dirty="0" smtClean="0"/>
              <a:t>10%</a:t>
            </a: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smtClean="0"/>
              <a:t>	</a:t>
            </a:r>
            <a:r>
              <a:rPr lang="zh-CN" altLang="en-US" dirty="0" smtClean="0"/>
              <a:t>期末成绩</a:t>
            </a:r>
            <a:r>
              <a:rPr lang="en-US" altLang="zh-CN" dirty="0" smtClean="0"/>
              <a:t>50%</a:t>
            </a: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 smtClean="0"/>
          </a:p>
          <a:p>
            <a:pPr eaLnBrk="1" hangingPunct="1"/>
            <a:endParaRPr lang="zh-CN" altLang="en-US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3F054AD-983D-44B3-A29A-D70E8A7B6175}" type="slidenum">
              <a:rPr lang="zh-CN" altLang="en-US" sz="1200"/>
            </a:fld>
            <a:endParaRPr lang="en-US" altLang="zh-CN" sz="1200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课程简介</a:t>
            </a:r>
            <a:endParaRPr lang="zh-CN" altLang="en-US" smtClean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为什么要学习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？</a:t>
            </a:r>
            <a:endParaRPr lang="zh-CN" altLang="en-US" dirty="0" smtClean="0"/>
          </a:p>
          <a:p>
            <a:pPr eaLnBrk="1" hangingPunct="1"/>
            <a:r>
              <a:rPr lang="en-US" altLang="zh-CN" dirty="0" smtClean="0"/>
              <a:t>Python</a:t>
            </a:r>
            <a:r>
              <a:rPr lang="zh-CN" altLang="en-US" dirty="0" smtClean="0"/>
              <a:t>语言的</a:t>
            </a:r>
            <a:r>
              <a:rPr lang="zh-CN" altLang="en-US" dirty="0" smtClean="0"/>
              <a:t>主要特点？</a:t>
            </a:r>
            <a:endParaRPr lang="zh-CN" altLang="en-US" dirty="0" smtClean="0"/>
          </a:p>
          <a:p>
            <a:pPr eaLnBrk="1" hangingPunct="1"/>
            <a:r>
              <a:rPr lang="en-US" altLang="zh-CN" dirty="0" smtClean="0"/>
              <a:t>Python</a:t>
            </a:r>
            <a:r>
              <a:rPr lang="zh-CN" altLang="en-US" dirty="0" smtClean="0"/>
              <a:t>如何采集和分析数据？</a:t>
            </a:r>
            <a:endParaRPr lang="zh-CN" altLang="en-US" dirty="0" smtClean="0"/>
          </a:p>
          <a:p>
            <a:pPr eaLnBrk="1" hangingPunct="1"/>
            <a:endParaRPr lang="zh-CN" altLang="en-US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人工智能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深度学习</a:t>
            </a:r>
            <a:endParaRPr lang="en-US" altLang="zh-CN" dirty="0" smtClean="0"/>
          </a:p>
          <a:p>
            <a:r>
              <a:rPr lang="zh-CN" altLang="en-US" dirty="0" smtClean="0"/>
              <a:t>人工智能编程语言</a:t>
            </a:r>
            <a:r>
              <a:rPr lang="en-US" altLang="zh-CN" dirty="0" smtClean="0"/>
              <a:t>Python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人工智能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人工智能是让机器获得像人类一样具有思考和推理机制的智能</a:t>
            </a:r>
            <a:r>
              <a:rPr lang="zh-CN" altLang="en-US" dirty="0" smtClean="0"/>
              <a:t>技术</a:t>
            </a:r>
            <a:endParaRPr lang="en-US" altLang="zh-CN" dirty="0" smtClean="0"/>
          </a:p>
          <a:p>
            <a:r>
              <a:rPr lang="zh-CN" altLang="en-US" dirty="0"/>
              <a:t>人工智能、机器学习、神经网络和深度</a:t>
            </a:r>
            <a:r>
              <a:rPr lang="zh-CN" altLang="en-US" dirty="0" smtClean="0"/>
              <a:t>学习之间的关系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3675" y="3436437"/>
            <a:ext cx="4746607" cy="2743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人工智能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机器学习</a:t>
            </a:r>
            <a:endParaRPr lang="en-US" altLang="zh-CN" dirty="0" smtClean="0"/>
          </a:p>
          <a:p>
            <a:pPr lvl="1"/>
            <a:r>
              <a:rPr lang="zh-CN" altLang="en-US" dirty="0"/>
              <a:t>有</a:t>
            </a:r>
            <a:r>
              <a:rPr lang="zh-CN" altLang="en-US" dirty="0" smtClean="0"/>
              <a:t>监督学习</a:t>
            </a:r>
            <a:endParaRPr lang="en-US" altLang="zh-CN" dirty="0" smtClean="0"/>
          </a:p>
          <a:p>
            <a:pPr marL="201295" lvl="1" indent="0">
              <a:buNone/>
            </a:pPr>
            <a:r>
              <a:rPr lang="zh-CN" altLang="en-US" dirty="0" smtClean="0"/>
              <a:t>从样本</a:t>
            </a:r>
            <a:r>
              <a:rPr lang="en-US" altLang="zh-CN" dirty="0" smtClean="0"/>
              <a:t>x</a:t>
            </a:r>
            <a:r>
              <a:rPr lang="zh-CN" altLang="en-US" dirty="0" smtClean="0"/>
              <a:t>和样本标签</a:t>
            </a:r>
            <a:r>
              <a:rPr lang="en-US" altLang="zh-CN" dirty="0" smtClean="0"/>
              <a:t>y</a:t>
            </a:r>
            <a:r>
              <a:rPr lang="zh-CN" altLang="en-US" dirty="0" smtClean="0"/>
              <a:t>中学习从</a:t>
            </a:r>
            <a:r>
              <a:rPr lang="en-US" altLang="zh-CN" dirty="0" smtClean="0"/>
              <a:t>x</a:t>
            </a:r>
            <a:r>
              <a:rPr lang="zh-CN" altLang="en-US" dirty="0" smtClean="0"/>
              <a:t>到</a:t>
            </a:r>
            <a:r>
              <a:rPr lang="en-US" altLang="zh-CN" dirty="0" smtClean="0"/>
              <a:t>y</a:t>
            </a:r>
            <a:r>
              <a:rPr lang="zh-CN" altLang="en-US" dirty="0" smtClean="0"/>
              <a:t>的映射关系</a:t>
            </a:r>
            <a:r>
              <a:rPr lang="en-US" altLang="zh-CN" dirty="0" smtClean="0"/>
              <a:t>f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无监督学习</a:t>
            </a:r>
            <a:endParaRPr lang="en-US" altLang="zh-CN" dirty="0" smtClean="0"/>
          </a:p>
          <a:p>
            <a:pPr marL="201295" lvl="1" indent="0">
              <a:buNone/>
            </a:pPr>
            <a:r>
              <a:rPr lang="zh-CN" altLang="en-US" dirty="0" smtClean="0"/>
              <a:t>从样本</a:t>
            </a:r>
            <a:r>
              <a:rPr lang="en-US" altLang="zh-CN" dirty="0" smtClean="0"/>
              <a:t>x</a:t>
            </a:r>
            <a:r>
              <a:rPr lang="zh-CN" altLang="en-US" dirty="0" smtClean="0"/>
              <a:t>（不具备标签</a:t>
            </a:r>
            <a:r>
              <a:rPr lang="en-US" altLang="zh-CN" dirty="0" smtClean="0"/>
              <a:t>y</a:t>
            </a:r>
            <a:r>
              <a:rPr lang="zh-CN" altLang="en-US" dirty="0" smtClean="0"/>
              <a:t>）中学习数据的模态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强化学习</a:t>
            </a:r>
            <a:endParaRPr lang="en-US" altLang="zh-CN" dirty="0" smtClean="0"/>
          </a:p>
          <a:p>
            <a:pPr marL="201295" lvl="1" indent="0">
              <a:buNone/>
            </a:pPr>
            <a:r>
              <a:rPr lang="zh-CN" altLang="en-US" dirty="0" smtClean="0"/>
              <a:t>通过与环境进行交互来学习解决问题的策略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2311" y="4722257"/>
            <a:ext cx="5204974" cy="18850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人工智能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神经网络与深度学习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浅层神经网络（</a:t>
            </a:r>
            <a:r>
              <a:rPr lang="en-US" altLang="zh-CN" dirty="0" smtClean="0"/>
              <a:t>1943-2006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zh-CN" altLang="en-US" dirty="0" smtClean="0"/>
              <a:t>以神经元模型和感知机模型为代表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zh-CN" altLang="en-US" dirty="0" smtClean="0"/>
              <a:t>网络一般</a:t>
            </a:r>
            <a:r>
              <a:rPr lang="en-US" altLang="zh-CN" dirty="0" smtClean="0"/>
              <a:t>1-4</a:t>
            </a:r>
            <a:r>
              <a:rPr lang="zh-CN" altLang="en-US" dirty="0" smtClean="0"/>
              <a:t>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深度学习（</a:t>
            </a:r>
            <a:r>
              <a:rPr lang="en-US" altLang="zh-CN" dirty="0" smtClean="0"/>
              <a:t>2006-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zh-CN" altLang="en-US" dirty="0" smtClean="0"/>
              <a:t>以</a:t>
            </a:r>
            <a:r>
              <a:rPr lang="en-US" altLang="zh-CN" dirty="0" err="1" smtClean="0"/>
              <a:t>AlexNet</a:t>
            </a:r>
            <a:r>
              <a:rPr lang="zh-CN" altLang="en-US" dirty="0" smtClean="0"/>
              <a:t>、</a:t>
            </a:r>
            <a:r>
              <a:rPr lang="en-US" altLang="zh-CN" dirty="0" smtClean="0"/>
              <a:t>VGG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ResNet</a:t>
            </a:r>
            <a:r>
              <a:rPr lang="zh-CN" altLang="en-US" dirty="0" smtClean="0"/>
              <a:t>等为代表的多层神经网络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zh-CN" altLang="en-US" dirty="0" smtClean="0"/>
              <a:t>网络一般</a:t>
            </a:r>
            <a:r>
              <a:rPr lang="en-US" altLang="zh-CN" dirty="0" smtClean="0"/>
              <a:t>8</a:t>
            </a:r>
            <a:r>
              <a:rPr lang="zh-CN" altLang="en-US" dirty="0" smtClean="0"/>
              <a:t>层以上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1352" y="2072505"/>
            <a:ext cx="3337200" cy="1287600"/>
          </a:xfrm>
          <a:prstGeom prst="rect">
            <a:avLst/>
          </a:prstGeom>
        </p:spPr>
      </p:pic>
      <p:pic>
        <p:nvPicPr>
          <p:cNvPr id="1026" name="Picture 2" descr="https://miro.medium.com/max/2304/1*qyc21qM0oxWEuRaj-XJKc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0236" y="4400036"/>
            <a:ext cx="6900134" cy="2380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人工智能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规则系统、机器学习、神经网络与深度学习的区别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3541" y="2314566"/>
            <a:ext cx="6848353" cy="43955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人工智能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深度学习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人工智能编程语言</a:t>
            </a:r>
            <a:r>
              <a:rPr lang="en-US" altLang="zh-CN" dirty="0" smtClean="0"/>
              <a:t>Python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深度学习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深度学习特点</a:t>
            </a:r>
            <a:endParaRPr lang="en-US" altLang="zh-CN" dirty="0" smtClean="0"/>
          </a:p>
          <a:p>
            <a:pPr lvl="1"/>
            <a:r>
              <a:rPr lang="zh-CN" altLang="en-US" dirty="0"/>
              <a:t>数据</a:t>
            </a:r>
            <a:r>
              <a:rPr lang="zh-CN" altLang="en-US" dirty="0" smtClean="0"/>
              <a:t>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计算量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网络规模</a:t>
            </a:r>
            <a:endParaRPr lang="en-US" altLang="zh-CN" dirty="0" smtClean="0"/>
          </a:p>
          <a:p>
            <a:pPr lvl="1"/>
            <a:r>
              <a:rPr lang="zh-CN" altLang="en-US" dirty="0"/>
              <a:t>通用性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深度学习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828800"/>
            <a:ext cx="5206049" cy="4351337"/>
          </a:xfrm>
        </p:spPr>
        <p:txBody>
          <a:bodyPr>
            <a:normAutofit lnSpcReduction="10000"/>
          </a:bodyPr>
          <a:lstStyle/>
          <a:p>
            <a:r>
              <a:rPr lang="zh-CN" altLang="en-US" dirty="0" smtClean="0"/>
              <a:t>数据量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1936</a:t>
            </a:r>
            <a:r>
              <a:rPr lang="zh-CN" altLang="en-US" dirty="0" smtClean="0"/>
              <a:t>年</a:t>
            </a:r>
            <a:r>
              <a:rPr lang="zh-CN" altLang="en-US" dirty="0"/>
              <a:t>由英国统计学家</a:t>
            </a:r>
            <a:r>
              <a:rPr lang="en-US" altLang="zh-CN" dirty="0"/>
              <a:t>Ronald Fisher </a:t>
            </a:r>
            <a:r>
              <a:rPr lang="zh-CN" altLang="en-US" dirty="0"/>
              <a:t>收集整理的鸢尾花卉数据集</a:t>
            </a:r>
            <a:r>
              <a:rPr lang="en-US" altLang="zh-CN" dirty="0"/>
              <a:t>Iris </a:t>
            </a:r>
            <a:r>
              <a:rPr lang="zh-CN" altLang="en-US" dirty="0"/>
              <a:t>共包含</a:t>
            </a:r>
            <a:r>
              <a:rPr lang="en-US" altLang="zh-CN" dirty="0"/>
              <a:t>3 </a:t>
            </a:r>
            <a:r>
              <a:rPr lang="zh-CN" altLang="en-US" dirty="0"/>
              <a:t>个类别花卉，</a:t>
            </a:r>
            <a:r>
              <a:rPr lang="zh-CN" altLang="en-US" dirty="0" smtClean="0"/>
              <a:t>每个</a:t>
            </a:r>
            <a:r>
              <a:rPr lang="zh-CN" altLang="en-US" dirty="0"/>
              <a:t>类别</a:t>
            </a:r>
            <a:r>
              <a:rPr lang="en-US" altLang="zh-CN" dirty="0"/>
              <a:t>50 </a:t>
            </a:r>
            <a:r>
              <a:rPr lang="zh-CN" altLang="en-US" dirty="0"/>
              <a:t>个</a:t>
            </a:r>
            <a:r>
              <a:rPr lang="zh-CN" altLang="en-US" dirty="0" smtClean="0"/>
              <a:t>样本</a:t>
            </a:r>
            <a:endParaRPr lang="en-US" altLang="zh-CN" dirty="0" smtClean="0"/>
          </a:p>
          <a:p>
            <a:pPr lvl="1"/>
            <a:r>
              <a:rPr lang="en-US" altLang="zh-CN" dirty="0"/>
              <a:t>1998 </a:t>
            </a:r>
            <a:r>
              <a:rPr lang="zh-CN" altLang="en-US" dirty="0"/>
              <a:t>年由</a:t>
            </a:r>
            <a:r>
              <a:rPr lang="en-US" altLang="zh-CN" dirty="0"/>
              <a:t>Yann </a:t>
            </a:r>
            <a:r>
              <a:rPr lang="en-US" altLang="zh-CN" dirty="0" err="1"/>
              <a:t>LeCun</a:t>
            </a:r>
            <a:r>
              <a:rPr lang="en-US" altLang="zh-CN" dirty="0"/>
              <a:t> </a:t>
            </a:r>
            <a:r>
              <a:rPr lang="zh-CN" altLang="en-US" dirty="0"/>
              <a:t>收集整理的</a:t>
            </a:r>
            <a:r>
              <a:rPr lang="en-US" altLang="zh-CN" dirty="0"/>
              <a:t>MNIST </a:t>
            </a:r>
            <a:r>
              <a:rPr lang="zh-CN" altLang="en-US" dirty="0"/>
              <a:t>手写数字图片数据集共包含</a:t>
            </a:r>
            <a:r>
              <a:rPr lang="en-US" altLang="zh-CN" dirty="0"/>
              <a:t>0~9 </a:t>
            </a:r>
            <a:r>
              <a:rPr lang="zh-CN" altLang="en-US" dirty="0"/>
              <a:t>共</a:t>
            </a:r>
            <a:r>
              <a:rPr lang="en-US" altLang="zh-CN" dirty="0" smtClean="0"/>
              <a:t>10</a:t>
            </a:r>
            <a:r>
              <a:rPr lang="zh-CN" altLang="en-US" dirty="0"/>
              <a:t>类数字，每个类别多达</a:t>
            </a:r>
            <a:r>
              <a:rPr lang="en-US" altLang="zh-CN" dirty="0"/>
              <a:t>7000 </a:t>
            </a:r>
            <a:r>
              <a:rPr lang="zh-CN" altLang="en-US" dirty="0"/>
              <a:t>张</a:t>
            </a:r>
            <a:r>
              <a:rPr lang="zh-CN" altLang="en-US" dirty="0" smtClean="0"/>
              <a:t>图片</a:t>
            </a:r>
            <a:endParaRPr lang="en-US" altLang="zh-CN" dirty="0" smtClean="0"/>
          </a:p>
          <a:p>
            <a:pPr lvl="1"/>
            <a:r>
              <a:rPr lang="en-US" altLang="zh-CN" dirty="0"/>
              <a:t>2010 </a:t>
            </a:r>
            <a:r>
              <a:rPr lang="zh-CN" altLang="en-US" dirty="0"/>
              <a:t>年发布</a:t>
            </a:r>
            <a:r>
              <a:rPr lang="zh-CN" altLang="en-US" dirty="0" smtClean="0"/>
              <a:t>的</a:t>
            </a:r>
            <a:r>
              <a:rPr lang="en-US" altLang="zh-CN" dirty="0" smtClean="0"/>
              <a:t>ImageNet </a:t>
            </a:r>
            <a:r>
              <a:rPr lang="zh-CN" altLang="en-US" dirty="0"/>
              <a:t>数据集收录了共</a:t>
            </a:r>
            <a:r>
              <a:rPr lang="en-US" altLang="zh-CN" smtClean="0"/>
              <a:t>14,197,122 </a:t>
            </a:r>
            <a:r>
              <a:rPr lang="zh-CN" altLang="en-US" dirty="0"/>
              <a:t>张图片，整个数据集的压缩文件大小就有</a:t>
            </a:r>
            <a:r>
              <a:rPr lang="en-US" altLang="zh-CN" dirty="0" smtClean="0"/>
              <a:t>154GB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0250" y="2084295"/>
            <a:ext cx="5863170" cy="40404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828800"/>
            <a:ext cx="5286732" cy="4351337"/>
          </a:xfrm>
        </p:spPr>
        <p:txBody>
          <a:bodyPr/>
          <a:lstStyle/>
          <a:p>
            <a:r>
              <a:rPr lang="zh-CN" altLang="en-US" dirty="0"/>
              <a:t>计算</a:t>
            </a:r>
            <a:r>
              <a:rPr lang="zh-CN" altLang="en-US" dirty="0" smtClean="0"/>
              <a:t>量</a:t>
            </a:r>
            <a:endParaRPr lang="en-US" altLang="zh-CN" dirty="0" smtClean="0"/>
          </a:p>
          <a:p>
            <a:pPr lvl="1"/>
            <a:r>
              <a:rPr lang="en-US" altLang="zh-CN" dirty="0"/>
              <a:t>2012 </a:t>
            </a:r>
            <a:r>
              <a:rPr lang="zh-CN" altLang="en-US" dirty="0"/>
              <a:t>年，基于两块</a:t>
            </a:r>
            <a:r>
              <a:rPr lang="en-US" altLang="zh-CN" dirty="0"/>
              <a:t>GTX580 GPU </a:t>
            </a:r>
            <a:r>
              <a:rPr lang="zh-CN" altLang="en-US" dirty="0"/>
              <a:t>训练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AlexNet</a:t>
            </a:r>
            <a:endParaRPr lang="en-US" altLang="zh-CN" dirty="0" smtClean="0"/>
          </a:p>
          <a:p>
            <a:pPr lvl="1"/>
            <a:r>
              <a:rPr lang="en-US" altLang="zh-CN" dirty="0" err="1"/>
              <a:t>AlphaGo</a:t>
            </a:r>
            <a:r>
              <a:rPr lang="en-US" altLang="zh-CN" dirty="0"/>
              <a:t> Zero </a:t>
            </a:r>
            <a:r>
              <a:rPr lang="zh-CN" altLang="en-US" dirty="0"/>
              <a:t>在</a:t>
            </a:r>
            <a:r>
              <a:rPr lang="en-US" altLang="zh-CN" dirty="0"/>
              <a:t>64 </a:t>
            </a:r>
            <a:r>
              <a:rPr lang="zh-CN" altLang="en-US" dirty="0"/>
              <a:t>块</a:t>
            </a:r>
            <a:r>
              <a:rPr lang="en-US" altLang="zh-CN" dirty="0"/>
              <a:t>GPU </a:t>
            </a:r>
            <a:r>
              <a:rPr lang="zh-CN" altLang="en-US" dirty="0"/>
              <a:t>上</a:t>
            </a:r>
            <a:r>
              <a:rPr lang="zh-CN" altLang="en-US" dirty="0" smtClean="0"/>
              <a:t>从零</a:t>
            </a:r>
            <a:r>
              <a:rPr lang="zh-CN" altLang="en-US" dirty="0"/>
              <a:t>开始训练了</a:t>
            </a:r>
            <a:r>
              <a:rPr lang="en-US" altLang="zh-CN" dirty="0"/>
              <a:t>40 </a:t>
            </a:r>
            <a:r>
              <a:rPr lang="zh-CN" altLang="en-US" dirty="0"/>
              <a:t>天才得以超越所有的</a:t>
            </a:r>
            <a:r>
              <a:rPr lang="en-US" altLang="zh-CN" dirty="0" err="1"/>
              <a:t>AlphaGo</a:t>
            </a:r>
            <a:r>
              <a:rPr lang="en-US" altLang="zh-CN" dirty="0"/>
              <a:t> </a:t>
            </a:r>
            <a:r>
              <a:rPr lang="zh-CN" altLang="en-US" dirty="0"/>
              <a:t>历史</a:t>
            </a:r>
            <a:r>
              <a:rPr lang="zh-CN" altLang="en-US" dirty="0" smtClean="0"/>
              <a:t>版本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1859" y="2227614"/>
            <a:ext cx="5385547" cy="40505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网络</a:t>
            </a:r>
            <a:r>
              <a:rPr lang="zh-CN" altLang="en-US" dirty="0" smtClean="0"/>
              <a:t>规模</a:t>
            </a:r>
            <a:endParaRPr lang="en-US" altLang="zh-CN" dirty="0" smtClean="0"/>
          </a:p>
          <a:p>
            <a:pPr lvl="1"/>
            <a:r>
              <a:rPr lang="zh-CN" altLang="en-US" dirty="0"/>
              <a:t>早期的感知机模型和多层神经网络层数只有</a:t>
            </a:r>
            <a:r>
              <a:rPr lang="en-US" altLang="zh-CN" dirty="0"/>
              <a:t>1 </a:t>
            </a:r>
            <a:r>
              <a:rPr lang="zh-CN" altLang="en-US" dirty="0"/>
              <a:t>层或者</a:t>
            </a:r>
            <a:r>
              <a:rPr lang="en-US" altLang="zh-CN" dirty="0"/>
              <a:t>2~4 </a:t>
            </a:r>
            <a:r>
              <a:rPr lang="zh-CN" altLang="en-US" dirty="0" smtClean="0"/>
              <a:t>层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AlexNet</a:t>
            </a:r>
            <a:r>
              <a:rPr lang="en-US" altLang="zh-CN" dirty="0" smtClean="0"/>
              <a:t>(8 </a:t>
            </a:r>
            <a:r>
              <a:rPr lang="zh-CN" altLang="en-US" dirty="0"/>
              <a:t>层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VGG16(16 </a:t>
            </a:r>
            <a:r>
              <a:rPr lang="zh-CN" altLang="en-US" dirty="0"/>
              <a:t>层</a:t>
            </a:r>
            <a:r>
              <a:rPr lang="en-US" altLang="zh-CN" dirty="0" smtClean="0"/>
              <a:t>)</a:t>
            </a:r>
            <a:endParaRPr lang="zh-CN" altLang="en-US" dirty="0"/>
          </a:p>
          <a:p>
            <a:pPr lvl="1"/>
            <a:r>
              <a:rPr lang="en-US" altLang="zh-CN" dirty="0" err="1"/>
              <a:t>GoogLeNet</a:t>
            </a:r>
            <a:r>
              <a:rPr lang="en-US" altLang="zh-CN" dirty="0"/>
              <a:t>(22 </a:t>
            </a:r>
            <a:r>
              <a:rPr lang="zh-CN" altLang="en-US" dirty="0"/>
              <a:t>层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ResNet50(50 </a:t>
            </a:r>
            <a:r>
              <a:rPr lang="zh-CN" altLang="en-US" dirty="0"/>
              <a:t>层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DenseNet121(121 </a:t>
            </a:r>
            <a:r>
              <a:rPr lang="zh-CN" altLang="en-US" dirty="0"/>
              <a:t>层</a:t>
            </a:r>
            <a:r>
              <a:rPr lang="en-US" altLang="zh-CN" dirty="0"/>
              <a:t>)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4991" y="2900779"/>
            <a:ext cx="5807040" cy="36277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通用性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传统机器学习算法一旦场景或任务发生变化，人工设计的特征和先验假设将无法适应变化，需要重新设计特征和算法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深度学习可同时适应多个场景和任务，并通过端到端的学习方式自动抽取有效的特征。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主要的应用领域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机器视觉</a:t>
            </a:r>
            <a:endParaRPr lang="en-US" altLang="zh-CN" dirty="0" smtClean="0"/>
          </a:p>
          <a:p>
            <a:pPr lvl="2"/>
            <a:r>
              <a:rPr lang="zh-CN" altLang="en-US" dirty="0"/>
              <a:t>图像</a:t>
            </a:r>
            <a:r>
              <a:rPr lang="zh-CN" altLang="en-US" dirty="0" smtClean="0"/>
              <a:t>识别、目标检测、语义分割、视频理解、图像生成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自然语言处理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机器翻译、聊天机器人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机器人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自动驾驶、机器人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4989" y="3800687"/>
            <a:ext cx="1877175" cy="23794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083" y="1525354"/>
            <a:ext cx="3093863" cy="1709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人工智能</a:t>
            </a:r>
            <a:endParaRPr lang="en-US" altLang="zh-CN" dirty="0" smtClean="0"/>
          </a:p>
          <a:p>
            <a:r>
              <a:rPr lang="zh-CN" altLang="en-US" dirty="0" smtClean="0"/>
              <a:t>深度学习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人工智能编程语言</a:t>
            </a:r>
            <a:r>
              <a:rPr lang="en-US" altLang="zh-CN" dirty="0" smtClean="0">
                <a:solidFill>
                  <a:srgbClr val="FF0000"/>
                </a:solidFill>
              </a:rPr>
              <a:t>Python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人工智能</a:t>
            </a:r>
            <a:r>
              <a:rPr lang="zh-CN" altLang="en-US" dirty="0" smtClean="0"/>
              <a:t>编程语言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早期的人工智能语言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LISP</a:t>
            </a:r>
            <a:endParaRPr lang="en-US" altLang="zh-CN" dirty="0" smtClean="0"/>
          </a:p>
          <a:p>
            <a:pPr lvl="2"/>
            <a:r>
              <a:rPr lang="en-US" altLang="zh-CN" dirty="0"/>
              <a:t>LISP</a:t>
            </a:r>
            <a:r>
              <a:rPr lang="zh-CN" altLang="en-US" dirty="0"/>
              <a:t>（</a:t>
            </a:r>
            <a:r>
              <a:rPr lang="en-US" altLang="zh-CN" dirty="0"/>
              <a:t>List Processing</a:t>
            </a:r>
            <a:r>
              <a:rPr lang="zh-CN" altLang="en-US" dirty="0"/>
              <a:t>）由来自麻省理工学院的人工智能研究先驱 约翰・麦卡锡（</a:t>
            </a:r>
            <a:r>
              <a:rPr lang="en-US" altLang="zh-CN" dirty="0"/>
              <a:t>John McCarthy</a:t>
            </a:r>
            <a:r>
              <a:rPr lang="zh-CN" altLang="en-US" dirty="0"/>
              <a:t>）在 </a:t>
            </a:r>
            <a:r>
              <a:rPr lang="en-US" altLang="zh-CN" dirty="0"/>
              <a:t>1958 </a:t>
            </a:r>
            <a:r>
              <a:rPr lang="zh-CN" altLang="en-US" dirty="0"/>
              <a:t>年基于 「</a:t>
            </a:r>
            <a:r>
              <a:rPr lang="el-GR" altLang="zh-CN" dirty="0"/>
              <a:t>λ </a:t>
            </a:r>
            <a:r>
              <a:rPr lang="zh-CN" altLang="en-US" dirty="0"/>
              <a:t>演算」 所创造，采用抽象数据列表与递归作符号演算来衍生人工智能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Prolog</a:t>
            </a:r>
            <a:endParaRPr lang="en-US" altLang="zh-CN" dirty="0" smtClean="0"/>
          </a:p>
          <a:p>
            <a:pPr lvl="2"/>
            <a:r>
              <a:rPr lang="en-US" altLang="zh-CN" dirty="0"/>
              <a:t>Prolog</a:t>
            </a:r>
            <a:r>
              <a:rPr lang="zh-CN" altLang="en-US" dirty="0"/>
              <a:t>一种逻辑编程语言，广泛应用</a:t>
            </a:r>
            <a:r>
              <a:rPr lang="zh-CN" altLang="en-US" dirty="0" smtClean="0"/>
              <a:t>于人工智能的专家系统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人工智能编程语言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017121" y="2180896"/>
          <a:ext cx="7219202" cy="333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5793"/>
                <a:gridCol w="1241194"/>
                <a:gridCol w="828238"/>
                <a:gridCol w="938966"/>
                <a:gridCol w="948017"/>
                <a:gridCol w="826994"/>
              </a:tblGrid>
              <a:tr h="333912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深度学习框架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Python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C++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Lua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java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</a:tr>
              <a:tr h="333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Theano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</a:tr>
              <a:tr h="333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Scikit-learn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</a:tr>
              <a:tr h="333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Caffe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</a:tr>
              <a:tr h="333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Torch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</a:tr>
              <a:tr h="333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MXNet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</a:tr>
              <a:tr h="333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PyTorch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</a:tr>
              <a:tr h="333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Keras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</a:tr>
              <a:tr h="333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TensorFlow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</a:tr>
              <a:tr h="33391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u="none" strike="noStrike">
                          <a:effectLst/>
                          <a:latin typeface="+mn-ea"/>
                          <a:ea typeface="+mn-ea"/>
                        </a:rPr>
                        <a:t>Deeplearning4j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2000" u="none" strike="noStrike">
                          <a:effectLst/>
                          <a:latin typeface="+mn-ea"/>
                          <a:ea typeface="+mn-ea"/>
                        </a:rPr>
                        <a:t>√</a:t>
                      </a:r>
                      <a:endParaRPr lang="zh-CN" altLang="en-US" sz="2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Python的创始人是荷兰的吉多·范罗苏姆（Guido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van Rossum）。1989年感恩节期间，吉多为了打发圣诞节的无趣，开发一个新的脚本解释程序，他为了营造一种编程语言的神秘感，把它命名为Python。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Python语言诞生于1989年，但第1个公开发行版本发行于1991年，2000年10月Python2.0正式发布，2008年12月Python3.0正式发布。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是一种面向对象、直译式计算机程序设计语言，也是一种功能强大的通用程序设计语言。它包含了一组完善且容易理解的标准库，并且拥有大量第三方库的支持，它的语法非常简捷、清晰，它采用强制缩进来定义语句块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Python的设计哲学是“优雅、明确、简单、可读性强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”。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Python是完全面向对象的语言，Python一切皆对象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特点</a:t>
            </a:r>
            <a:endParaRPr lang="en-US" altLang="zh-CN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dirty="0" smtClean="0"/>
              <a:t>易学</a:t>
            </a:r>
            <a:r>
              <a:rPr lang="en-US" altLang="zh-CN" dirty="0" smtClean="0"/>
              <a:t> </a:t>
            </a:r>
            <a:endParaRPr lang="en-US" altLang="zh-C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en-US" dirty="0" smtClean="0"/>
              <a:t>开发速度快</a:t>
            </a:r>
            <a:endParaRPr lang="en-US" altLang="zh-C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en-US" dirty="0" smtClean="0"/>
              <a:t>跨平台</a:t>
            </a:r>
            <a:endParaRPr lang="en-US" altLang="zh-C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en-US" dirty="0" smtClean="0"/>
              <a:t>开源</a:t>
            </a:r>
            <a:endParaRPr lang="en-US" altLang="zh-C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en-US" dirty="0" smtClean="0"/>
              <a:t>可扩展</a:t>
            </a:r>
            <a:endParaRPr lang="en-US" altLang="zh-C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en-US" dirty="0" smtClean="0"/>
              <a:t>可嵌入</a:t>
            </a:r>
            <a:r>
              <a:rPr lang="en-US" altLang="zh-CN" dirty="0" smtClean="0"/>
              <a:t> </a:t>
            </a:r>
            <a:endParaRPr lang="en-US" altLang="zh-C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dirty="0"/>
              <a:t> </a:t>
            </a:r>
            <a:r>
              <a:rPr lang="zh-CN" altLang="en-US" dirty="0" smtClean="0"/>
              <a:t>大量扩展库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828800"/>
            <a:ext cx="10515600" cy="4969869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Python的用途非常广泛，它可以用在以下方面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（1）网页开发；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（2）可视化（GUI）界面开发；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（3）网络（可用于网络方面的编程）；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（4）系统编程；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（5）数据分析；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（6）机器学习（Python有各种各样的库来支持）；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（7）网络爬虫（如谷歌使用的网络爬虫）；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（8）科学计算（很多方面的科学计算都用到了Python）。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比如谷歌的很多服务里面都用到了Python；YouTube网站也是用Python来实现的；国内的豆瓣网的基本构架也是用Python实现的。</a:t>
            </a:r>
            <a:endParaRPr lang="zh-CN" altLang="zh-CN" sz="2000" dirty="0">
              <a:latin typeface="+mn-ea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安装与运行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下载Python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安装包可以到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Python的官方网站（www.Python.org）</a:t>
            </a:r>
            <a:r>
              <a:rPr lang="en-US" altLang="zh-CN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去下载</a:t>
            </a:r>
            <a:r>
              <a:rPr lang="en-US" altLang="zh-CN" dirty="0" smtClean="0">
                <a:latin typeface="+mn-ea"/>
              </a:rPr>
              <a:t>       </a:t>
            </a:r>
            <a:endParaRPr lang="zh-CN" altLang="zh-CN" sz="1800" dirty="0">
              <a:latin typeface="+mn-ea"/>
            </a:endParaRPr>
          </a:p>
          <a:p>
            <a:endParaRPr lang="zh-CN" altLang="en-US" dirty="0"/>
          </a:p>
        </p:txBody>
      </p:sp>
      <p:pic>
        <p:nvPicPr>
          <p:cNvPr id="4" name="图片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4895" y="3231810"/>
            <a:ext cx="5452107" cy="3413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安装与运行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启动Python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可以通过以下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三</a:t>
            </a:r>
            <a:r>
              <a:rPr lang="en-US" altLang="zh-CN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种方式来启动</a:t>
            </a: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1）启动Python自带的IDLE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在Windows桌面单击“开始”按钮，在出现的搜索框中输入“IDLE”来启动Python的一个桌面应用程序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zh-CN" altLang="en-US" sz="2000" dirty="0"/>
          </a:p>
        </p:txBody>
      </p:sp>
      <p:pic>
        <p:nvPicPr>
          <p:cNvPr id="5" name="图片 15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216" y="4461677"/>
            <a:ext cx="7309717" cy="1476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安装与运行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2）在Windows提示符下启动Python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在Windows搜索框里（或按“Win+R”键打开运行提示框，注意是键盘上的“Win”键）输入“cmd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”，或者单击开始按钮在弹出的搜索框中输入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“cmd”后回车来启动Windows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命令行窗口。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zh-CN" altLang="en-US" sz="2000" dirty="0"/>
          </a:p>
        </p:txBody>
      </p:sp>
      <p:pic>
        <p:nvPicPr>
          <p:cNvPr id="6" name="图片 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509" y="3742721"/>
            <a:ext cx="3516656" cy="2076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428" y="3742721"/>
            <a:ext cx="6528311" cy="1588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安装与运行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3）运行脚本文件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如果是一个比较大的程序，可以先把代码写到一个文件中，然后再去启动Python的脚本文件来运行，这种形式称为“运行脚本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”。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可以使用Python自带的IDLE来完成代码的编写。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打开一个新的代码编辑窗口，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可以在此窗口中编写代码，并以文件的方式保存，文件的扩展名为“.py”。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zh-CN" altLang="en-US" sz="2000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659" y="4640651"/>
            <a:ext cx="5245389" cy="1128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安装与运行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Tx/>
            </a:pP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如果想要调用本机安装好的Python来运行编写好的代码，假设代码文件路径为“D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:\Python\</a:t>
            </a: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PythonEXample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\</a:t>
            </a: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jiaocai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\hello.py”，</a:t>
            </a: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在Windows命令行窗口中通过调用Python来执行“hello.py”脚本文件，</a:t>
            </a:r>
            <a:r>
              <a:rPr lang="en-US" altLang="zh-CN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则运行结果如图所示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zh-CN" altLang="en-US" sz="20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664" y="4004468"/>
            <a:ext cx="5739141" cy="1310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安装与运行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 err="1" smtClean="0"/>
              <a:t>Pycharm</a:t>
            </a:r>
            <a:r>
              <a:rPr lang="zh-CN" altLang="en-US" sz="2000" dirty="0" smtClean="0"/>
              <a:t>集成环境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9093" y="2557032"/>
            <a:ext cx="6935945" cy="376058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安装与运行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Anaconda是一个集成式的Python科学计算开发环境，它涵盖了Python2.x和Python3.x版本，并且它覆盖了Windows、Linux、MacOS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系统，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其中包含了大量的科学计算扩展包，它内置的科学计算包版本都比较新。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conda是专注于数据分析的Python发行版本，其中包含了conda、Python等180多个科学计算扩展包及其依赖项。Anaconda提供了强大而方便的包管理与环境管理功能，可以很方便地解决多版本Python并存、切换及各种第三方包安装问题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Anaconda是一款完全免费的软件，可以到官网（https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://www.anaconda.com/）</a:t>
            </a:r>
            <a:r>
              <a:rPr lang="en-US" altLang="zh-CN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下载安装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需要特别说明的是：在安装Anconda之前需要卸载之前已经安装的任何Python解释器，包括Python2.x和Python3.x版本等，只用Anconda作为默认的Python解释器，即安装Anconda并且将它作为默认解释器。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4c6fc080-449a-4a9e-bead-09e92f8322a2"/>
  <p:tag name="COMMONDATA" val="eyJoZGlkIjoiMGRlMzE1NmU5NGVjNjg2MzIyYjQyMTM1ZjkxNWYxOTEifQ==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3132</Words>
  <Application>WPS 演示</Application>
  <PresentationFormat>宽屏</PresentationFormat>
  <Paragraphs>283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Arial</vt:lpstr>
      <vt:lpstr>宋体</vt:lpstr>
      <vt:lpstr>Wingdings</vt:lpstr>
      <vt:lpstr>Wingdings 2</vt:lpstr>
      <vt:lpstr>Verdana</vt:lpstr>
      <vt:lpstr>Calibri Light</vt:lpstr>
      <vt:lpstr>Calibri</vt:lpstr>
      <vt:lpstr>微软雅黑</vt:lpstr>
      <vt:lpstr>Arial Unicode MS</vt:lpstr>
      <vt:lpstr>HDOfficeLightV0</vt:lpstr>
      <vt:lpstr>人工智能与编程语言概述</vt:lpstr>
      <vt:lpstr>简介</vt:lpstr>
      <vt:lpstr>课程简介</vt:lpstr>
      <vt:lpstr>课程简介</vt:lpstr>
      <vt:lpstr>主要内容</vt:lpstr>
      <vt:lpstr>人工智能</vt:lpstr>
      <vt:lpstr>人工智能</vt:lpstr>
      <vt:lpstr>人工智能</vt:lpstr>
      <vt:lpstr>人工智能</vt:lpstr>
      <vt:lpstr>主要内容</vt:lpstr>
      <vt:lpstr>深度学习</vt:lpstr>
      <vt:lpstr>深度学习</vt:lpstr>
      <vt:lpstr>深度学习</vt:lpstr>
      <vt:lpstr>深度学习</vt:lpstr>
      <vt:lpstr>深度学习</vt:lpstr>
      <vt:lpstr>深度学习</vt:lpstr>
      <vt:lpstr>主要内容</vt:lpstr>
      <vt:lpstr>人工智能编程语言</vt:lpstr>
      <vt:lpstr>人工智能编程语言</vt:lpstr>
      <vt:lpstr>Python简介</vt:lpstr>
      <vt:lpstr>Python简介</vt:lpstr>
      <vt:lpstr>Python简介</vt:lpstr>
      <vt:lpstr>Python安装与运行</vt:lpstr>
      <vt:lpstr>Python安装与运行</vt:lpstr>
      <vt:lpstr>Python安装与运行</vt:lpstr>
      <vt:lpstr>Python安装与运行</vt:lpstr>
      <vt:lpstr>Python安装与运行</vt:lpstr>
      <vt:lpstr>Python安装与运行</vt:lpstr>
      <vt:lpstr>Python安装与运行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人工智能与编程语言概述</dc:title>
  <dc:creator>cao dong lin</dc:creator>
  <cp:lastModifiedBy>anoth</cp:lastModifiedBy>
  <cp:revision>32</cp:revision>
  <dcterms:created xsi:type="dcterms:W3CDTF">2020-06-15T14:31:00Z</dcterms:created>
  <dcterms:modified xsi:type="dcterms:W3CDTF">2023-02-21T12:32:00Z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88EA5806F8CF47F39235DFD35EE3491B</vt:lpwstr>
  </property>
  <property fmtid="{D5CDD505-2E9C-101B-9397-08002B2CF9AE}" pid="3" name="KSOProductBuildVer">
    <vt:lpwstr>2052-11.1.0.12132</vt:lpwstr>
  </property>
</Properties>
</file>