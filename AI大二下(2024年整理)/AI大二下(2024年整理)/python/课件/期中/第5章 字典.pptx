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9" r:id="rId4"/>
    <p:sldId id="280" r:id="rId5"/>
    <p:sldId id="281" r:id="rId6"/>
    <p:sldId id="282" r:id="rId7"/>
    <p:sldId id="283" r:id="rId8"/>
    <p:sldId id="284" r:id="rId9"/>
    <p:sldId id="285" r:id="rId10"/>
    <p:sldId id="286" r:id="rId11"/>
    <p:sldId id="287" r:id="rId12"/>
    <p:sldId id="288" r:id="rId13"/>
    <p:sldId id="289" r:id="rId14"/>
    <p:sldId id="290" r:id="rId15"/>
    <p:sldId id="301" r:id="rId16"/>
    <p:sldId id="291" r:id="rId17"/>
    <p:sldId id="292" r:id="rId18"/>
    <p:sldId id="293" r:id="rId19"/>
    <p:sldId id="294" r:id="rId20"/>
    <p:sldId id="313" r:id="rId21"/>
    <p:sldId id="295" r:id="rId22"/>
    <p:sldId id="296" r:id="rId23"/>
    <p:sldId id="298" r:id="rId24"/>
    <p:sldId id="297" r:id="rId25"/>
    <p:sldId id="299" r:id="rId26"/>
    <p:sldId id="300" r:id="rId27"/>
    <p:sldId id="314" r:id="rId28"/>
    <p:sldId id="315" r:id="rId29"/>
    <p:sldId id="316" r:id="rId30"/>
    <p:sldId id="302"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58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7DCB353-A13A-4B90-A7A4-735337AE183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088D2D1-ECD8-49A9-92CD-FC43CBC2476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7DCB353-A13A-4B90-A7A4-735337AE183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088D2D1-ECD8-49A9-92CD-FC43CBC2476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E7DCB353-A13A-4B90-A7A4-735337AE183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088D2D1-ECD8-49A9-92CD-FC43CBC2476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7DCB353-A13A-4B90-A7A4-735337AE183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088D2D1-ECD8-49A9-92CD-FC43CBC2476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7DCB353-A13A-4B90-A7A4-735337AE183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088D2D1-ECD8-49A9-92CD-FC43CBC2476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7DCB353-A13A-4B90-A7A4-735337AE183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088D2D1-ECD8-49A9-92CD-FC43CBC2476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7DCB353-A13A-4B90-A7A4-735337AE183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088D2D1-ECD8-49A9-92CD-FC43CBC2476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E7DCB353-A13A-4B90-A7A4-735337AE183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088D2D1-ECD8-49A9-92CD-FC43CBC2476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E7DCB353-A13A-4B90-A7A4-735337AE183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088D2D1-ECD8-49A9-92CD-FC43CBC2476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7DCB353-A13A-4B90-A7A4-735337AE183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088D2D1-ECD8-49A9-92CD-FC43CBC2476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7DCB353-A13A-4B90-A7A4-735337AE183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088D2D1-ECD8-49A9-92CD-FC43CBC2476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DCB353-A13A-4B90-A7A4-735337AE183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88D2D1-ECD8-49A9-92CD-FC43CBC2476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17.wmf"/><Relationship Id="rId3" Type="http://schemas.openxmlformats.org/officeDocument/2006/relationships/oleObject" Target="../embeddings/oleObject2.bin"/><Relationship Id="rId2" Type="http://schemas.openxmlformats.org/officeDocument/2006/relationships/image" Target="../media/image16.wmf"/><Relationship Id="rId1"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字典</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solidFill>
                  <a:srgbClr val="FF0000"/>
                </a:solidFill>
              </a:rPr>
              <a:t>基本概念</a:t>
            </a:r>
            <a:endParaRPr lang="en-US" altLang="zh-CN" dirty="0" smtClean="0">
              <a:solidFill>
                <a:srgbClr val="FF0000"/>
              </a:solidFill>
            </a:endParaRPr>
          </a:p>
          <a:p>
            <a:r>
              <a:rPr lang="zh-CN" altLang="en-US" dirty="0" smtClean="0"/>
              <a:t>主要方法</a:t>
            </a:r>
            <a:endParaRPr lang="zh-CN" altLang="en-US" dirty="0" smtClean="0"/>
          </a:p>
          <a:p>
            <a:r>
              <a:rPr lang="zh-CN" altLang="en-US" dirty="0"/>
              <a:t>推导式</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fontScale="92500"/>
          </a:bodyPr>
          <a:lstStyle/>
          <a:p>
            <a:pPr>
              <a:lnSpc>
                <a:spcPct val="150000"/>
              </a:lnSpc>
              <a:spcBef>
                <a:spcPts val="600"/>
              </a:spcBef>
            </a:pPr>
            <a:r>
              <a:rPr lang="en-US" altLang="zh-CN" dirty="0" err="1">
                <a:solidFill>
                  <a:schemeClr val="tx1">
                    <a:lumMod val="75000"/>
                    <a:lumOff val="25000"/>
                  </a:schemeClr>
                </a:solidFill>
              </a:rPr>
              <a:t>字典，属于核心数据类型</a:t>
            </a:r>
            <a:r>
              <a:rPr lang="en-US" altLang="zh-CN" dirty="0">
                <a:solidFill>
                  <a:schemeClr val="tx1">
                    <a:lumMod val="75000"/>
                    <a:lumOff val="25000"/>
                  </a:schemeClr>
                </a:solidFill>
              </a:rPr>
              <a:t>---</a:t>
            </a:r>
            <a:r>
              <a:rPr lang="en-US" altLang="zh-CN" dirty="0" err="1">
                <a:solidFill>
                  <a:schemeClr val="tx1">
                    <a:lumMod val="75000"/>
                    <a:lumOff val="25000"/>
                  </a:schemeClr>
                </a:solidFill>
              </a:rPr>
              <a:t>映射。字典可以说是在Python中除了list列表之外使用频率最高的一个数据类型</a:t>
            </a:r>
            <a:r>
              <a:rPr lang="en-US" altLang="zh-CN" dirty="0">
                <a:solidFill>
                  <a:schemeClr val="tx1">
                    <a:lumMod val="75000"/>
                    <a:lumOff val="25000"/>
                  </a:schemeClr>
                </a:solidFill>
              </a:rPr>
              <a:t>。</a:t>
            </a:r>
            <a:endParaRPr lang="en-US" altLang="zh-CN" dirty="0">
              <a:solidFill>
                <a:schemeClr val="tx1">
                  <a:lumMod val="75000"/>
                  <a:lumOff val="25000"/>
                </a:schemeClr>
              </a:solidFill>
            </a:endParaRPr>
          </a:p>
          <a:p>
            <a:pPr>
              <a:lnSpc>
                <a:spcPct val="150000"/>
              </a:lnSpc>
              <a:spcBef>
                <a:spcPts val="600"/>
              </a:spcBef>
            </a:pPr>
            <a:r>
              <a:rPr lang="en-US" altLang="zh-CN" dirty="0" err="1">
                <a:solidFill>
                  <a:schemeClr val="tx1">
                    <a:lumMod val="75000"/>
                    <a:lumOff val="25000"/>
                  </a:schemeClr>
                </a:solidFill>
              </a:rPr>
              <a:t>字典（dictionary）是由键值对</a:t>
            </a:r>
            <a:r>
              <a:rPr lang="en-US" altLang="zh-CN" dirty="0">
                <a:solidFill>
                  <a:schemeClr val="tx1">
                    <a:lumMod val="75000"/>
                    <a:lumOff val="25000"/>
                  </a:schemeClr>
                </a:solidFill>
              </a:rPr>
              <a:t>(</a:t>
            </a:r>
            <a:r>
              <a:rPr lang="en-US" altLang="zh-CN" dirty="0" err="1">
                <a:solidFill>
                  <a:schemeClr val="tx1">
                    <a:lumMod val="75000"/>
                    <a:lumOff val="25000"/>
                  </a:schemeClr>
                </a:solidFill>
              </a:rPr>
              <a:t>key:value</a:t>
            </a:r>
            <a:r>
              <a:rPr lang="en-US" altLang="zh-CN" dirty="0">
                <a:solidFill>
                  <a:schemeClr val="tx1">
                    <a:lumMod val="75000"/>
                    <a:lumOff val="25000"/>
                  </a:schemeClr>
                </a:solidFill>
              </a:rPr>
              <a:t>) 构成的集合，它的应用场景非常广泛。当我们要保存一对一对的信息，如要将一个键和一个对应值添加到一个大的数据结构里面，在这种情况下就非常适合使用字典</a:t>
            </a:r>
            <a:r>
              <a:rPr lang="en-US" altLang="zh-CN" dirty="0" smtClean="0">
                <a:solidFill>
                  <a:schemeClr val="tx1">
                    <a:lumMod val="75000"/>
                    <a:lumOff val="25000"/>
                  </a:schemeClr>
                </a:solidFill>
              </a:rPr>
              <a:t>。</a:t>
            </a:r>
            <a:endParaRPr lang="en-US" altLang="zh-CN" dirty="0" smtClean="0">
              <a:solidFill>
                <a:schemeClr val="tx1">
                  <a:lumMod val="75000"/>
                  <a:lumOff val="25000"/>
                </a:schemeClr>
              </a:solidFill>
            </a:endParaRPr>
          </a:p>
          <a:p>
            <a:pPr lvl="1">
              <a:lnSpc>
                <a:spcPct val="150000"/>
              </a:lnSpc>
              <a:spcBef>
                <a:spcPts val="600"/>
              </a:spcBef>
            </a:pPr>
            <a:r>
              <a:rPr lang="en-US" altLang="zh-CN" dirty="0" err="1" smtClean="0">
                <a:solidFill>
                  <a:schemeClr val="tx1">
                    <a:lumMod val="75000"/>
                    <a:lumOff val="25000"/>
                  </a:schemeClr>
                </a:solidFill>
              </a:rPr>
              <a:t>电话号码本</a:t>
            </a:r>
            <a:r>
              <a:rPr lang="en-US" altLang="zh-CN" dirty="0" err="1">
                <a:solidFill>
                  <a:schemeClr val="tx1">
                    <a:lumMod val="75000"/>
                    <a:lumOff val="25000"/>
                  </a:schemeClr>
                </a:solidFill>
              </a:rPr>
              <a:t>，人名就可以当做是一个键（key</a:t>
            </a:r>
            <a:r>
              <a:rPr lang="en-US" altLang="zh-CN" dirty="0">
                <a:solidFill>
                  <a:schemeClr val="tx1">
                    <a:lumMod val="75000"/>
                    <a:lumOff val="25000"/>
                  </a:schemeClr>
                </a:solidFill>
              </a:rPr>
              <a:t>），</a:t>
            </a:r>
            <a:r>
              <a:rPr lang="en-US" altLang="zh-CN" dirty="0" err="1">
                <a:solidFill>
                  <a:schemeClr val="tx1">
                    <a:lumMod val="75000"/>
                    <a:lumOff val="25000"/>
                  </a:schemeClr>
                </a:solidFill>
              </a:rPr>
              <a:t>每一个电话号码就可以是这个键（人名）所对应的值（value</a:t>
            </a:r>
            <a:r>
              <a:rPr lang="en-US" altLang="zh-CN" dirty="0">
                <a:solidFill>
                  <a:schemeClr val="tx1">
                    <a:lumMod val="75000"/>
                    <a:lumOff val="25000"/>
                  </a:schemeClr>
                </a:solidFill>
              </a:rPr>
              <a:t>）。</a:t>
            </a:r>
            <a:endParaRPr lang="en-US" altLang="zh-CN" dirty="0">
              <a:solidFill>
                <a:schemeClr val="tx1">
                  <a:lumMod val="75000"/>
                  <a:lumOff val="25000"/>
                </a:schemeClr>
              </a:solidFill>
            </a:endParaRPr>
          </a:p>
          <a:p>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字典的特性</a:t>
            </a:r>
            <a:endParaRPr lang="zh-CN" altLang="en-US" dirty="0">
              <a:solidFill>
                <a:schemeClr val="tx1">
                  <a:lumMod val="75000"/>
                  <a:lumOff val="25000"/>
                </a:schemeClr>
              </a:solidFill>
            </a:endParaRPr>
          </a:p>
          <a:p>
            <a:endParaRPr lang="zh-CN" altLang="en-US" dirty="0"/>
          </a:p>
        </p:txBody>
      </p:sp>
      <p:sp>
        <p:nvSpPr>
          <p:cNvPr id="4" name="文本框 3"/>
          <p:cNvSpPr txBox="1"/>
          <p:nvPr/>
        </p:nvSpPr>
        <p:spPr>
          <a:xfrm>
            <a:off x="1014675" y="2385772"/>
            <a:ext cx="10339125" cy="4401205"/>
          </a:xfrm>
          <a:prstGeom prst="rect">
            <a:avLst/>
          </a:prstGeom>
          <a:noFill/>
        </p:spPr>
        <p:txBody>
          <a:bodyPr wrap="square" rtlCol="0">
            <a:spAutoFit/>
          </a:bodyPr>
          <a:lstStyle/>
          <a:p>
            <a:pPr>
              <a:lnSpc>
                <a:spcPct val="150000"/>
              </a:lnSpc>
              <a:spcBef>
                <a:spcPts val="600"/>
              </a:spcBef>
            </a:pPr>
            <a:r>
              <a:rPr lang="en-US" altLang="zh-CN" sz="1600" dirty="0" smtClean="0">
                <a:solidFill>
                  <a:schemeClr val="tx1">
                    <a:lumMod val="75000"/>
                    <a:lumOff val="25000"/>
                  </a:schemeClr>
                </a:solidFill>
              </a:rPr>
              <a:t>（</a:t>
            </a:r>
            <a:r>
              <a:rPr lang="en-US" altLang="zh-CN" sz="1600" dirty="0">
                <a:solidFill>
                  <a:schemeClr val="tx1">
                    <a:lumMod val="75000"/>
                    <a:lumOff val="25000"/>
                  </a:schemeClr>
                </a:solidFill>
              </a:rPr>
              <a:t>1）通过健（key）而非下标索引（位置偏移）访问数据</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字典的数据访问不是通过下标索引，而是通过它的键来访问，这里的键叫做“key”，它所存储的值叫做“value”，所以说它的存储结构基本上就是一个键一个值，就是平时我们所说的键值对。</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（2）可包含任意对象的无序集合</a:t>
            </a:r>
            <a:endParaRPr lang="en-US" altLang="zh-CN" sz="1600" dirty="0">
              <a:solidFill>
                <a:schemeClr val="tx1">
                  <a:lumMod val="75000"/>
                  <a:lumOff val="25000"/>
                </a:schemeClr>
              </a:solidFill>
            </a:endParaRPr>
          </a:p>
          <a:p>
            <a:pPr>
              <a:lnSpc>
                <a:spcPct val="150000"/>
              </a:lnSpc>
              <a:spcBef>
                <a:spcPts val="600"/>
              </a:spcBef>
            </a:pPr>
            <a:r>
              <a:rPr lang="en-US" altLang="zh-CN" sz="1600" dirty="0" err="1">
                <a:solidFill>
                  <a:schemeClr val="tx1">
                    <a:lumMod val="75000"/>
                    <a:lumOff val="25000"/>
                  </a:schemeClr>
                </a:solidFill>
              </a:rPr>
              <a:t>在默认的字典表里，它里边的元素是无序的，创建字典时的顺序和呈现时的顺序可能会不一样</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dt</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name":"Tom</a:t>
            </a:r>
            <a:r>
              <a:rPr lang="en-US" altLang="zh-CN" sz="1600" dirty="0">
                <a:solidFill>
                  <a:schemeClr val="tx1">
                    <a:lumMod val="75000"/>
                    <a:lumOff val="25000"/>
                  </a:schemeClr>
                </a:solidFill>
              </a:rPr>
              <a:t>", "number":201505160021, "age":20}</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dt</a:t>
            </a: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p:txBody>
      </p:sp>
      <p:pic>
        <p:nvPicPr>
          <p:cNvPr id="5" name="图片 4"/>
          <p:cNvPicPr/>
          <p:nvPr/>
        </p:nvPicPr>
        <p:blipFill>
          <a:blip r:embed="rId1" cstate="print"/>
          <a:srcRect/>
          <a:stretch>
            <a:fillRect/>
          </a:stretch>
        </p:blipFill>
        <p:spPr bwMode="auto">
          <a:xfrm>
            <a:off x="1193769" y="5520829"/>
            <a:ext cx="4534007" cy="37270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字典的特性</a:t>
            </a:r>
            <a:endParaRPr lang="zh-CN" altLang="en-US" dirty="0">
              <a:solidFill>
                <a:schemeClr val="tx1">
                  <a:lumMod val="75000"/>
                  <a:lumOff val="25000"/>
                </a:schemeClr>
              </a:solidFill>
            </a:endParaRPr>
          </a:p>
          <a:p>
            <a:endParaRPr lang="zh-CN" altLang="en-US" dirty="0"/>
          </a:p>
        </p:txBody>
      </p:sp>
      <p:sp>
        <p:nvSpPr>
          <p:cNvPr id="6" name="文本框 5"/>
          <p:cNvSpPr txBox="1"/>
          <p:nvPr/>
        </p:nvSpPr>
        <p:spPr>
          <a:xfrm>
            <a:off x="944874" y="2610644"/>
            <a:ext cx="8079300" cy="2245360"/>
          </a:xfrm>
          <a:prstGeom prst="rect">
            <a:avLst/>
          </a:prstGeom>
          <a:noFill/>
        </p:spPr>
        <p:txBody>
          <a:bodyPr wrap="square" rtlCol="0">
            <a:spAutoFit/>
          </a:bodyPr>
          <a:lstStyle/>
          <a:p>
            <a:pPr>
              <a:lnSpc>
                <a:spcPct val="150000"/>
              </a:lnSpc>
              <a:spcBef>
                <a:spcPts val="600"/>
              </a:spcBef>
            </a:pPr>
            <a:r>
              <a:rPr lang="en-US" altLang="zh-CN" sz="1600" dirty="0">
                <a:solidFill>
                  <a:schemeClr val="tx1">
                    <a:lumMod val="75000"/>
                    <a:lumOff val="25000"/>
                  </a:schemeClr>
                </a:solidFill>
              </a:rPr>
              <a:t>（3）可变长度、异质、可以任意嵌套</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（4）属于可变映射分类</a:t>
            </a:r>
            <a:endParaRPr lang="en-US" altLang="zh-CN" sz="1600" dirty="0">
              <a:solidFill>
                <a:schemeClr val="tx1">
                  <a:lumMod val="75000"/>
                  <a:lumOff val="25000"/>
                </a:schemeClr>
              </a:solidFill>
            </a:endParaRPr>
          </a:p>
          <a:p>
            <a:pPr>
              <a:lnSpc>
                <a:spcPct val="150000"/>
              </a:lnSpc>
              <a:spcBef>
                <a:spcPts val="600"/>
              </a:spcBef>
            </a:pPr>
            <a:r>
              <a:rPr lang="en-US" altLang="zh-CN" sz="1600" dirty="0" err="1">
                <a:solidFill>
                  <a:schemeClr val="tx1">
                    <a:lumMod val="75000"/>
                    <a:lumOff val="25000"/>
                  </a:schemeClr>
                </a:solidFill>
              </a:rPr>
              <a:t>在映射里，字典属于可变映射分类</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（5）对象引用表（Hash Table）</a:t>
            </a:r>
            <a:endParaRPr lang="en-US" altLang="zh-CN" sz="1600" dirty="0">
              <a:solidFill>
                <a:schemeClr val="tx1">
                  <a:lumMod val="75000"/>
                  <a:lumOff val="25000"/>
                </a:schemeClr>
              </a:solidFill>
            </a:endParaRPr>
          </a:p>
          <a:p>
            <a:pPr>
              <a:lnSpc>
                <a:spcPct val="150000"/>
              </a:lnSpc>
              <a:spcBef>
                <a:spcPts val="600"/>
              </a:spcBef>
            </a:pPr>
            <a:r>
              <a:rPr lang="en-US" altLang="zh-CN" sz="1600" dirty="0" err="1">
                <a:solidFill>
                  <a:schemeClr val="tx1">
                    <a:lumMod val="75000"/>
                    <a:lumOff val="25000"/>
                  </a:schemeClr>
                </a:solidFill>
              </a:rPr>
              <a:t>字典的存储本质是一个对象引用的表，</a:t>
            </a:r>
            <a:r>
              <a:rPr lang="en-US" altLang="zh-CN" sz="1600" dirty="0" err="1" smtClean="0">
                <a:solidFill>
                  <a:schemeClr val="tx1">
                    <a:lumMod val="75000"/>
                    <a:lumOff val="25000"/>
                  </a:schemeClr>
                </a:solidFill>
              </a:rPr>
              <a:t>它的存储机制是哈希表</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创建字典的方法</a:t>
            </a:r>
            <a:endParaRPr lang="zh-CN" altLang="en-US" dirty="0">
              <a:solidFill>
                <a:schemeClr val="tx1">
                  <a:lumMod val="75000"/>
                  <a:lumOff val="25000"/>
                </a:schemeClr>
              </a:solidFill>
            </a:endParaRPr>
          </a:p>
          <a:p>
            <a:endParaRPr lang="zh-CN" altLang="en-US" dirty="0"/>
          </a:p>
        </p:txBody>
      </p:sp>
      <p:sp>
        <p:nvSpPr>
          <p:cNvPr id="5" name="文本框 4"/>
          <p:cNvSpPr txBox="1"/>
          <p:nvPr/>
        </p:nvSpPr>
        <p:spPr>
          <a:xfrm>
            <a:off x="1062506" y="2560519"/>
            <a:ext cx="9991409" cy="3062377"/>
          </a:xfrm>
          <a:prstGeom prst="rect">
            <a:avLst/>
          </a:prstGeom>
          <a:noFill/>
        </p:spPr>
        <p:txBody>
          <a:bodyPr wrap="square" rtlCol="0">
            <a:spAutoFit/>
          </a:bodyPr>
          <a:lstStyle/>
          <a:p>
            <a:pPr>
              <a:lnSpc>
                <a:spcPct val="150000"/>
              </a:lnSpc>
              <a:spcBef>
                <a:spcPts val="600"/>
              </a:spcBef>
            </a:pPr>
            <a:r>
              <a:rPr lang="en-US" altLang="zh-CN" sz="1600" dirty="0" smtClean="0">
                <a:solidFill>
                  <a:schemeClr val="tx1">
                    <a:lumMod val="75000"/>
                    <a:lumOff val="25000"/>
                  </a:schemeClr>
                </a:solidFill>
              </a:rPr>
              <a:t>Python</a:t>
            </a:r>
            <a:r>
              <a:rPr lang="en-US" altLang="zh-CN" sz="1600" dirty="0">
                <a:solidFill>
                  <a:schemeClr val="tx1">
                    <a:lumMod val="75000"/>
                    <a:lumOff val="25000"/>
                  </a:schemeClr>
                </a:solidFill>
              </a:rPr>
              <a:t>中的字典用大括号表示，注意每个项目的键和对应值之间用冒号分隔，冒号“:”左边是键，右边是对应值；每个项目之间用“,”分隔。在同一个字典中，可以包含多种不同类型的数据。</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（1）创建一个空字典{}</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d = {}</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d</a:t>
            </a: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type(d)</a:t>
            </a:r>
            <a:endParaRPr lang="en-US" altLang="zh-CN" sz="1600" dirty="0">
              <a:solidFill>
                <a:schemeClr val="tx1">
                  <a:lumMod val="75000"/>
                  <a:lumOff val="25000"/>
                </a:schemeClr>
              </a:solidFill>
            </a:endParaRPr>
          </a:p>
        </p:txBody>
      </p:sp>
      <p:pic>
        <p:nvPicPr>
          <p:cNvPr id="7" name="图片 6"/>
          <p:cNvPicPr/>
          <p:nvPr/>
        </p:nvPicPr>
        <p:blipFill>
          <a:blip r:embed="rId1" cstate="print"/>
          <a:srcRect/>
          <a:stretch>
            <a:fillRect/>
          </a:stretch>
        </p:blipFill>
        <p:spPr bwMode="auto">
          <a:xfrm>
            <a:off x="1271110" y="4751222"/>
            <a:ext cx="401601" cy="358961"/>
          </a:xfrm>
          <a:prstGeom prst="rect">
            <a:avLst/>
          </a:prstGeom>
          <a:noFill/>
          <a:ln w="9525">
            <a:noFill/>
            <a:miter lim="800000"/>
            <a:headEnd/>
            <a:tailEnd/>
          </a:ln>
        </p:spPr>
      </p:pic>
      <p:pic>
        <p:nvPicPr>
          <p:cNvPr id="8" name="图片 7"/>
          <p:cNvPicPr/>
          <p:nvPr/>
        </p:nvPicPr>
        <p:blipFill>
          <a:blip r:embed="rId2" cstate="print"/>
          <a:srcRect/>
          <a:stretch>
            <a:fillRect/>
          </a:stretch>
        </p:blipFill>
        <p:spPr bwMode="auto">
          <a:xfrm>
            <a:off x="1284627" y="5733518"/>
            <a:ext cx="2215714" cy="43566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创建字典的方法</a:t>
            </a:r>
            <a:endParaRPr lang="zh-CN" altLang="en-US" dirty="0">
              <a:solidFill>
                <a:schemeClr val="tx1">
                  <a:lumMod val="75000"/>
                  <a:lumOff val="25000"/>
                </a:schemeClr>
              </a:solidFill>
            </a:endParaRPr>
          </a:p>
          <a:p>
            <a:endParaRPr lang="zh-CN" altLang="en-US" dirty="0"/>
          </a:p>
        </p:txBody>
      </p:sp>
      <p:sp>
        <p:nvSpPr>
          <p:cNvPr id="10" name="文本框 9"/>
          <p:cNvSpPr txBox="1"/>
          <p:nvPr/>
        </p:nvSpPr>
        <p:spPr>
          <a:xfrm>
            <a:off x="1013760" y="2414286"/>
            <a:ext cx="10261382" cy="3585597"/>
          </a:xfrm>
          <a:prstGeom prst="rect">
            <a:avLst/>
          </a:prstGeom>
          <a:noFill/>
        </p:spPr>
        <p:txBody>
          <a:bodyPr wrap="square" rtlCol="0">
            <a:spAutoFit/>
          </a:bodyPr>
          <a:lstStyle/>
          <a:p>
            <a:pPr>
              <a:lnSpc>
                <a:spcPct val="150000"/>
              </a:lnSpc>
              <a:spcBef>
                <a:spcPts val="600"/>
              </a:spcBef>
            </a:pPr>
            <a:r>
              <a:rPr lang="en-US" altLang="zh-CN" sz="1600" dirty="0">
                <a:solidFill>
                  <a:schemeClr val="tx1">
                    <a:lumMod val="75000"/>
                    <a:lumOff val="25000"/>
                  </a:schemeClr>
                </a:solidFill>
              </a:rPr>
              <a:t>（2）创建包含若干元素的字典表{</a:t>
            </a:r>
            <a:r>
              <a:rPr lang="en-US" altLang="zh-CN" sz="1600" dirty="0" err="1">
                <a:solidFill>
                  <a:schemeClr val="tx1">
                    <a:lumMod val="75000"/>
                    <a:lumOff val="25000"/>
                  </a:schemeClr>
                </a:solidFill>
              </a:rPr>
              <a:t>key:value</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50000"/>
              </a:lnSpc>
              <a:spcBef>
                <a:spcPts val="600"/>
              </a:spcBef>
            </a:pPr>
            <a:r>
              <a:rPr lang="en-US" altLang="zh-CN" sz="1600" dirty="0" err="1">
                <a:solidFill>
                  <a:schemeClr val="tx1">
                    <a:lumMod val="75000"/>
                    <a:lumOff val="25000"/>
                  </a:schemeClr>
                </a:solidFill>
              </a:rPr>
              <a:t>用花括号来表示字典表，将我们所关注的信息的标签和实际的值用键值对的方式来进行存储</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std</a:t>
            </a:r>
            <a:r>
              <a:rPr lang="en-US" altLang="zh-CN" sz="1600" dirty="0">
                <a:solidFill>
                  <a:schemeClr val="tx1">
                    <a:lumMod val="75000"/>
                    <a:lumOff val="25000"/>
                  </a:schemeClr>
                </a:solidFill>
              </a:rPr>
              <a:t> = {"name":"Tom","number":"20150516021","age":19,"native place":"</a:t>
            </a:r>
            <a:r>
              <a:rPr lang="en-US" altLang="zh-CN" sz="1600" dirty="0" err="1">
                <a:solidFill>
                  <a:schemeClr val="tx1">
                    <a:lumMod val="75000"/>
                    <a:lumOff val="25000"/>
                  </a:schemeClr>
                </a:solidFill>
              </a:rPr>
              <a:t>重庆</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type(</a:t>
            </a:r>
            <a:r>
              <a:rPr lang="en-US" altLang="zh-CN" sz="1600" dirty="0" err="1">
                <a:solidFill>
                  <a:schemeClr val="tx1">
                    <a:lumMod val="75000"/>
                    <a:lumOff val="25000"/>
                  </a:schemeClr>
                </a:solidFill>
              </a:rPr>
              <a:t>std</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std</a:t>
            </a: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r>
              <a:rPr lang="en-US" altLang="zh-CN" sz="1600" dirty="0" err="1">
                <a:solidFill>
                  <a:schemeClr val="tx1">
                    <a:lumMod val="75000"/>
                    <a:lumOff val="25000"/>
                  </a:schemeClr>
                </a:solidFill>
              </a:rPr>
              <a:t>键和对应值之间用冒号来加以分隔，称为键值对</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p:txBody>
      </p:sp>
      <p:pic>
        <p:nvPicPr>
          <p:cNvPr id="11" name="图片 10"/>
          <p:cNvPicPr/>
          <p:nvPr/>
        </p:nvPicPr>
        <p:blipFill>
          <a:blip r:embed="rId1" cstate="print"/>
          <a:srcRect/>
          <a:stretch>
            <a:fillRect/>
          </a:stretch>
        </p:blipFill>
        <p:spPr bwMode="auto">
          <a:xfrm>
            <a:off x="1251116" y="4207084"/>
            <a:ext cx="1598981" cy="332005"/>
          </a:xfrm>
          <a:prstGeom prst="rect">
            <a:avLst/>
          </a:prstGeom>
          <a:noFill/>
          <a:ln w="9525">
            <a:noFill/>
            <a:miter lim="800000"/>
            <a:headEnd/>
            <a:tailEnd/>
          </a:ln>
        </p:spPr>
      </p:pic>
      <p:pic>
        <p:nvPicPr>
          <p:cNvPr id="12" name="图片 11"/>
          <p:cNvPicPr/>
          <p:nvPr/>
        </p:nvPicPr>
        <p:blipFill>
          <a:blip r:embed="rId2" cstate="print"/>
          <a:srcRect/>
          <a:stretch>
            <a:fillRect/>
          </a:stretch>
        </p:blipFill>
        <p:spPr bwMode="auto">
          <a:xfrm>
            <a:off x="1251116" y="5127750"/>
            <a:ext cx="4820737" cy="3534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创建字典的方法</a:t>
            </a:r>
            <a:endParaRPr lang="zh-CN" altLang="en-US" dirty="0">
              <a:solidFill>
                <a:schemeClr val="tx1">
                  <a:lumMod val="75000"/>
                  <a:lumOff val="25000"/>
                </a:schemeClr>
              </a:solidFill>
            </a:endParaRPr>
          </a:p>
          <a:p>
            <a:endParaRPr lang="zh-CN" altLang="en-US" dirty="0"/>
          </a:p>
        </p:txBody>
      </p:sp>
      <p:sp>
        <p:nvSpPr>
          <p:cNvPr id="7" name="文本框 6"/>
          <p:cNvSpPr txBox="1"/>
          <p:nvPr/>
        </p:nvSpPr>
        <p:spPr>
          <a:xfrm>
            <a:off x="1083561" y="2358445"/>
            <a:ext cx="10095716" cy="4401205"/>
          </a:xfrm>
          <a:prstGeom prst="rect">
            <a:avLst/>
          </a:prstGeom>
          <a:noFill/>
        </p:spPr>
        <p:txBody>
          <a:bodyPr wrap="square" rtlCol="0">
            <a:spAutoFit/>
          </a:bodyPr>
          <a:lstStyle/>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dct</a:t>
            </a:r>
            <a:r>
              <a:rPr lang="en-US" altLang="zh-CN" sz="1600" dirty="0">
                <a:solidFill>
                  <a:schemeClr val="tx1">
                    <a:lumMod val="75000"/>
                    <a:lumOff val="25000"/>
                  </a:schemeClr>
                </a:solidFill>
              </a:rPr>
              <a:t> = </a:t>
            </a:r>
            <a:r>
              <a:rPr lang="en-US" altLang="zh-CN" sz="1600" dirty="0" smtClean="0">
                <a:solidFill>
                  <a:schemeClr val="tx1">
                    <a:lumMod val="75000"/>
                    <a:lumOff val="25000"/>
                  </a:schemeClr>
                </a:solidFill>
              </a:rPr>
              <a:t>{“</a:t>
            </a:r>
            <a:r>
              <a:rPr lang="en-US" altLang="zh-CN" sz="1600" dirty="0" err="1" smtClean="0">
                <a:solidFill>
                  <a:schemeClr val="tx1">
                    <a:lumMod val="75000"/>
                    <a:lumOff val="25000"/>
                  </a:schemeClr>
                </a:solidFill>
              </a:rPr>
              <a:t>name”:“Tom</a:t>
            </a:r>
            <a:r>
              <a:rPr lang="en-US" altLang="zh-CN" sz="1600" dirty="0" smtClean="0">
                <a:solidFill>
                  <a:schemeClr val="tx1">
                    <a:lumMod val="75000"/>
                    <a:lumOff val="25000"/>
                  </a:schemeClr>
                </a:solidFill>
              </a:rPr>
              <a:t>”, </a:t>
            </a:r>
            <a:r>
              <a:rPr lang="en-US" altLang="zh-CN" sz="1600" dirty="0">
                <a:solidFill>
                  <a:schemeClr val="tx1">
                    <a:lumMod val="75000"/>
                    <a:lumOff val="25000"/>
                  </a:schemeClr>
                </a:solidFill>
              </a:rPr>
              <a:t>3</a:t>
            </a:r>
            <a:r>
              <a:rPr lang="en-US" altLang="zh-CN" sz="1600" dirty="0" smtClean="0">
                <a:solidFill>
                  <a:schemeClr val="tx1">
                    <a:lumMod val="75000"/>
                    <a:lumOff val="25000"/>
                  </a:schemeClr>
                </a:solidFill>
              </a:rPr>
              <a:t>:“20150516021”}  </a:t>
            </a:r>
            <a:r>
              <a:rPr lang="en-US" altLang="zh-CN" sz="1600" dirty="0">
                <a:solidFill>
                  <a:schemeClr val="tx1">
                    <a:lumMod val="75000"/>
                    <a:lumOff val="25000"/>
                  </a:schemeClr>
                </a:solidFill>
              </a:rPr>
              <a:t>#</a:t>
            </a:r>
            <a:r>
              <a:rPr lang="en-US" altLang="zh-CN" sz="1600" dirty="0" smtClean="0">
                <a:solidFill>
                  <a:schemeClr val="tx1">
                    <a:lumMod val="75000"/>
                    <a:lumOff val="25000"/>
                  </a:schemeClr>
                </a:solidFill>
              </a:rPr>
              <a:t>键</a:t>
            </a:r>
            <a:r>
              <a:rPr lang="zh-CN" altLang="en-US" sz="1600" dirty="0" smtClean="0">
                <a:solidFill>
                  <a:schemeClr val="tx1">
                    <a:lumMod val="75000"/>
                    <a:lumOff val="25000"/>
                  </a:schemeClr>
                </a:solidFill>
              </a:rPr>
              <a:t>可以</a:t>
            </a:r>
            <a:r>
              <a:rPr lang="en-US" altLang="zh-CN" sz="1600" dirty="0" err="1" smtClean="0">
                <a:solidFill>
                  <a:schemeClr val="tx1">
                    <a:lumMod val="75000"/>
                    <a:lumOff val="25000"/>
                  </a:schemeClr>
                </a:solidFill>
              </a:rPr>
              <a:t>是整数，</a:t>
            </a:r>
            <a:r>
              <a:rPr lang="en-US" altLang="zh-CN" sz="1600" dirty="0" err="1">
                <a:solidFill>
                  <a:schemeClr val="tx1">
                    <a:lumMod val="75000"/>
                    <a:lumOff val="25000"/>
                  </a:schemeClr>
                </a:solidFill>
              </a:rPr>
              <a:t>但没有什么意义</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dct</a:t>
            </a: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dct3 = {"</a:t>
            </a:r>
            <a:r>
              <a:rPr lang="en-US" altLang="zh-CN" sz="1600" dirty="0" err="1">
                <a:solidFill>
                  <a:schemeClr val="tx1">
                    <a:lumMod val="75000"/>
                    <a:lumOff val="25000"/>
                  </a:schemeClr>
                </a:solidFill>
              </a:rPr>
              <a:t>name":"Tom</a:t>
            </a:r>
            <a:r>
              <a:rPr lang="en-US" altLang="zh-CN" sz="1600" dirty="0">
                <a:solidFill>
                  <a:schemeClr val="tx1">
                    <a:lumMod val="75000"/>
                    <a:lumOff val="25000"/>
                  </a:schemeClr>
                </a:solidFill>
              </a:rPr>
              <a:t>", ["num",3]:"20150516021"}  #</a:t>
            </a:r>
            <a:r>
              <a:rPr lang="en-US" altLang="zh-CN" sz="1600" dirty="0" err="1">
                <a:solidFill>
                  <a:schemeClr val="tx1">
                    <a:lumMod val="75000"/>
                    <a:lumOff val="25000"/>
                  </a:schemeClr>
                </a:solidFill>
              </a:rPr>
              <a:t>字典的键不能是列表，因为它是可变序列</a:t>
            </a: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endParaRPr lang="en-US" altLang="zh-CN" sz="1600" dirty="0" smtClean="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r>
              <a:rPr lang="en-US" altLang="zh-CN" sz="1600" dirty="0" err="1">
                <a:solidFill>
                  <a:schemeClr val="tx1">
                    <a:lumMod val="75000"/>
                    <a:lumOff val="25000"/>
                  </a:schemeClr>
                </a:solidFill>
              </a:rPr>
              <a:t>注意：字典的键只能是不可变的元素</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虽然从语法上来说，整数、小数、元组，只要是不可变的元素都是可以作为键的，但实际开发的时候键是有实际意义的，代表具体的要存储的信息。</a:t>
            </a:r>
            <a:endParaRPr lang="zh-CN" altLang="zh-CN" sz="1600" dirty="0"/>
          </a:p>
        </p:txBody>
      </p:sp>
      <p:pic>
        <p:nvPicPr>
          <p:cNvPr id="8" name="图片 7"/>
          <p:cNvPicPr/>
          <p:nvPr/>
        </p:nvPicPr>
        <p:blipFill>
          <a:blip r:embed="rId1" cstate="print"/>
          <a:srcRect/>
          <a:stretch>
            <a:fillRect/>
          </a:stretch>
        </p:blipFill>
        <p:spPr bwMode="auto">
          <a:xfrm>
            <a:off x="1352411" y="3276655"/>
            <a:ext cx="2800784" cy="342800"/>
          </a:xfrm>
          <a:prstGeom prst="rect">
            <a:avLst/>
          </a:prstGeom>
          <a:noFill/>
          <a:ln w="9525">
            <a:noFill/>
            <a:miter lim="800000"/>
            <a:headEnd/>
            <a:tailEnd/>
          </a:ln>
        </p:spPr>
      </p:pic>
      <p:pic>
        <p:nvPicPr>
          <p:cNvPr id="9" name="图片 8"/>
          <p:cNvPicPr/>
          <p:nvPr/>
        </p:nvPicPr>
        <p:blipFill>
          <a:blip r:embed="rId2" cstate="print"/>
          <a:srcRect/>
          <a:stretch>
            <a:fillRect/>
          </a:stretch>
        </p:blipFill>
        <p:spPr bwMode="auto">
          <a:xfrm>
            <a:off x="1352411" y="4152275"/>
            <a:ext cx="4459789" cy="133096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类型转换</a:t>
            </a:r>
            <a:r>
              <a:rPr lang="en-US" altLang="zh-CN" dirty="0">
                <a:solidFill>
                  <a:schemeClr val="tx1">
                    <a:lumMod val="75000"/>
                    <a:lumOff val="25000"/>
                  </a:schemeClr>
                </a:solidFill>
              </a:rPr>
              <a:t>——</a:t>
            </a:r>
            <a:r>
              <a:rPr lang="en-US" altLang="zh-CN" dirty="0" err="1">
                <a:solidFill>
                  <a:schemeClr val="tx1">
                    <a:lumMod val="75000"/>
                    <a:lumOff val="25000"/>
                  </a:schemeClr>
                </a:solidFill>
              </a:rPr>
              <a:t>dict</a:t>
            </a:r>
            <a:r>
              <a:rPr lang="en-US" altLang="zh-CN" dirty="0">
                <a:solidFill>
                  <a:schemeClr val="tx1">
                    <a:lumMod val="75000"/>
                    <a:lumOff val="25000"/>
                  </a:schemeClr>
                </a:solidFill>
              </a:rPr>
              <a:t>()</a:t>
            </a:r>
            <a:r>
              <a:rPr lang="zh-CN" altLang="en-US" dirty="0">
                <a:solidFill>
                  <a:schemeClr val="tx1">
                    <a:lumMod val="75000"/>
                    <a:lumOff val="25000"/>
                  </a:schemeClr>
                </a:solidFill>
              </a:rPr>
              <a:t>函数</a:t>
            </a:r>
            <a:endParaRPr lang="zh-CN" altLang="en-US" dirty="0">
              <a:solidFill>
                <a:schemeClr val="tx1">
                  <a:lumMod val="75000"/>
                  <a:lumOff val="25000"/>
                </a:schemeClr>
              </a:solidFill>
            </a:endParaRPr>
          </a:p>
          <a:p>
            <a:endParaRPr lang="zh-CN" altLang="en-US" dirty="0"/>
          </a:p>
        </p:txBody>
      </p:sp>
      <p:sp>
        <p:nvSpPr>
          <p:cNvPr id="10" name="文本框 9"/>
          <p:cNvSpPr txBox="1"/>
          <p:nvPr/>
        </p:nvSpPr>
        <p:spPr>
          <a:xfrm>
            <a:off x="999800" y="2330524"/>
            <a:ext cx="9235581" cy="3585597"/>
          </a:xfrm>
          <a:prstGeom prst="rect">
            <a:avLst/>
          </a:prstGeom>
          <a:noFill/>
        </p:spPr>
        <p:txBody>
          <a:bodyPr wrap="square" rtlCol="0">
            <a:spAutoFit/>
          </a:bodyPr>
          <a:lstStyle/>
          <a:p>
            <a:pPr>
              <a:lnSpc>
                <a:spcPct val="150000"/>
              </a:lnSpc>
              <a:spcBef>
                <a:spcPts val="600"/>
              </a:spcBef>
            </a:pPr>
            <a:r>
              <a:rPr lang="en-US" altLang="zh-CN" sz="1600" dirty="0" err="1" smtClean="0">
                <a:solidFill>
                  <a:schemeClr val="tx1">
                    <a:lumMod val="75000"/>
                    <a:lumOff val="25000"/>
                  </a:schemeClr>
                </a:solidFill>
              </a:rPr>
              <a:t>在字典表里有一个叫</a:t>
            </a: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的函数，它能够将参数中指定的信息转换为字典表的数据结构。其语法如下</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50000"/>
              </a:lnSpc>
              <a:spcBef>
                <a:spcPts val="600"/>
              </a:spcBef>
            </a:pP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(key=value)</a:t>
            </a:r>
            <a:endParaRPr lang="en-US" altLang="zh-CN" sz="1600" dirty="0">
              <a:solidFill>
                <a:schemeClr val="tx1">
                  <a:lumMod val="75000"/>
                  <a:lumOff val="25000"/>
                </a:schemeClr>
              </a:solidFill>
            </a:endParaRPr>
          </a:p>
          <a:p>
            <a:pPr>
              <a:lnSpc>
                <a:spcPct val="150000"/>
              </a:lnSpc>
              <a:spcBef>
                <a:spcPts val="600"/>
              </a:spcBef>
            </a:pPr>
            <a:r>
              <a:rPr lang="en-US" altLang="zh-CN" sz="1600" dirty="0" err="1">
                <a:solidFill>
                  <a:schemeClr val="tx1">
                    <a:lumMod val="75000"/>
                    <a:lumOff val="25000"/>
                  </a:schemeClr>
                </a:solidFill>
              </a:rPr>
              <a:t>注意：括号里参数的形式和一般函数参数传入的方式不同，是以关键字参数形式进行传参</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以函数形式定义字典表时，键不加引号，但输出时是加了引号的</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book = </a:t>
            </a: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(title="</a:t>
            </a:r>
            <a:r>
              <a:rPr lang="en-US" altLang="zh-CN" sz="1600" dirty="0" err="1">
                <a:solidFill>
                  <a:schemeClr val="tx1">
                    <a:lumMod val="75000"/>
                    <a:lumOff val="25000"/>
                  </a:schemeClr>
                </a:solidFill>
              </a:rPr>
              <a:t>Python入门</a:t>
            </a:r>
            <a:r>
              <a:rPr lang="en-US" altLang="zh-CN" sz="1600" dirty="0">
                <a:solidFill>
                  <a:schemeClr val="tx1">
                    <a:lumMod val="75000"/>
                    <a:lumOff val="25000"/>
                  </a:schemeClr>
                </a:solidFill>
              </a:rPr>
              <a:t>", author="Tom", price=59.9)</a:t>
            </a:r>
            <a:endParaRPr lang="en-US" altLang="zh-CN" sz="1600" dirty="0">
              <a:solidFill>
                <a:schemeClr val="tx1">
                  <a:lumMod val="75000"/>
                  <a:lumOff val="25000"/>
                </a:schemeClr>
              </a:solidFill>
            </a:endParaRPr>
          </a:p>
          <a:p>
            <a:pPr>
              <a:lnSpc>
                <a:spcPct val="150000"/>
              </a:lnSpc>
              <a:spcBef>
                <a:spcPts val="600"/>
              </a:spcBef>
            </a:pPr>
            <a:r>
              <a:rPr lang="en-US" altLang="zh-CN" sz="1600" dirty="0">
                <a:solidFill>
                  <a:schemeClr val="tx1">
                    <a:lumMod val="75000"/>
                    <a:lumOff val="25000"/>
                  </a:schemeClr>
                </a:solidFill>
              </a:rPr>
              <a:t>&gt; book</a:t>
            </a: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a:p>
            <a:pPr>
              <a:lnSpc>
                <a:spcPct val="150000"/>
              </a:lnSpc>
              <a:spcBef>
                <a:spcPts val="600"/>
              </a:spcBef>
            </a:pPr>
            <a:endParaRPr lang="en-US" altLang="zh-CN" sz="1600" dirty="0">
              <a:solidFill>
                <a:schemeClr val="tx1">
                  <a:lumMod val="75000"/>
                  <a:lumOff val="25000"/>
                </a:schemeClr>
              </a:solidFill>
            </a:endParaRPr>
          </a:p>
        </p:txBody>
      </p:sp>
      <p:pic>
        <p:nvPicPr>
          <p:cNvPr id="11" name="图片 10"/>
          <p:cNvPicPr/>
          <p:nvPr/>
        </p:nvPicPr>
        <p:blipFill>
          <a:blip r:embed="rId1" cstate="print"/>
          <a:srcRect/>
          <a:stretch>
            <a:fillRect/>
          </a:stretch>
        </p:blipFill>
        <p:spPr bwMode="auto">
          <a:xfrm>
            <a:off x="1213677" y="5060192"/>
            <a:ext cx="4688051" cy="4457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类型转换</a:t>
            </a:r>
            <a:r>
              <a:rPr lang="en-US" altLang="zh-CN" dirty="0">
                <a:solidFill>
                  <a:schemeClr val="tx1">
                    <a:lumMod val="75000"/>
                    <a:lumOff val="25000"/>
                  </a:schemeClr>
                </a:solidFill>
              </a:rPr>
              <a:t>——</a:t>
            </a:r>
            <a:r>
              <a:rPr lang="en-US" altLang="zh-CN" dirty="0" err="1">
                <a:solidFill>
                  <a:schemeClr val="tx1">
                    <a:lumMod val="75000"/>
                    <a:lumOff val="25000"/>
                  </a:schemeClr>
                </a:solidFill>
              </a:rPr>
              <a:t>dict</a:t>
            </a:r>
            <a:r>
              <a:rPr lang="en-US" altLang="zh-CN" dirty="0">
                <a:solidFill>
                  <a:schemeClr val="tx1">
                    <a:lumMod val="75000"/>
                    <a:lumOff val="25000"/>
                  </a:schemeClr>
                </a:solidFill>
              </a:rPr>
              <a:t>()</a:t>
            </a:r>
            <a:r>
              <a:rPr lang="zh-CN" altLang="en-US" dirty="0">
                <a:solidFill>
                  <a:schemeClr val="tx1">
                    <a:lumMod val="75000"/>
                    <a:lumOff val="25000"/>
                  </a:schemeClr>
                </a:solidFill>
              </a:rPr>
              <a:t>函数</a:t>
            </a:r>
            <a:endParaRPr lang="zh-CN" altLang="en-US" dirty="0">
              <a:solidFill>
                <a:schemeClr val="tx1">
                  <a:lumMod val="75000"/>
                  <a:lumOff val="25000"/>
                </a:schemeClr>
              </a:solidFill>
            </a:endParaRPr>
          </a:p>
          <a:p>
            <a:endParaRPr lang="zh-CN" altLang="en-US" dirty="0"/>
          </a:p>
        </p:txBody>
      </p:sp>
      <p:sp>
        <p:nvSpPr>
          <p:cNvPr id="6" name="文本框 5"/>
          <p:cNvSpPr txBox="1"/>
          <p:nvPr/>
        </p:nvSpPr>
        <p:spPr>
          <a:xfrm>
            <a:off x="999799" y="2319992"/>
            <a:ext cx="10354001" cy="3881062"/>
          </a:xfrm>
          <a:prstGeom prst="rect">
            <a:avLst/>
          </a:prstGeom>
          <a:noFill/>
        </p:spPr>
        <p:txBody>
          <a:bodyPr wrap="square" rtlCol="0">
            <a:spAutoFit/>
          </a:bodyPr>
          <a:lstStyle/>
          <a:p>
            <a:pPr>
              <a:lnSpc>
                <a:spcPct val="120000"/>
              </a:lnSpc>
              <a:spcBef>
                <a:spcPts val="600"/>
              </a:spcBef>
            </a:pPr>
            <a:r>
              <a:rPr lang="en-US" altLang="zh-CN" sz="1600" dirty="0" err="1">
                <a:solidFill>
                  <a:schemeClr val="tx1">
                    <a:lumMod val="75000"/>
                    <a:lumOff val="25000"/>
                  </a:schemeClr>
                </a:solidFill>
              </a:rPr>
              <a:t>注意：在用dict</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函数申明字典表的方式中，以参数等于值（key</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value）的形式呈现，参数在写的时候不要加上引号（即字符串</a:t>
            </a:r>
            <a:r>
              <a:rPr lang="en-US" altLang="zh-CN" sz="1600" dirty="0">
                <a:solidFill>
                  <a:schemeClr val="tx1">
                    <a:lumMod val="75000"/>
                    <a:lumOff val="25000"/>
                  </a:schemeClr>
                </a:solidFill>
              </a:rPr>
              <a:t>），但不加引号申明的键它默认会加上一个引号。即它以字符串的类型来转换你输入的键。但是请注意这种申明方式时键不能是整数、浮点数、元组以及列表。</a:t>
            </a:r>
            <a:endParaRPr lang="en-US" altLang="zh-CN" sz="1600" dirty="0">
              <a:solidFill>
                <a:schemeClr val="tx1">
                  <a:lumMod val="75000"/>
                  <a:lumOff val="25000"/>
                </a:schemeClr>
              </a:solidFill>
            </a:endParaRPr>
          </a:p>
          <a:p>
            <a:pPr>
              <a:lnSpc>
                <a:spcPct val="120000"/>
              </a:lnSpc>
              <a:spcBef>
                <a:spcPts val="600"/>
              </a:spcBef>
            </a:pPr>
            <a:r>
              <a:rPr lang="en-US" altLang="zh-CN" sz="1600" dirty="0" err="1">
                <a:solidFill>
                  <a:schemeClr val="tx1">
                    <a:lumMod val="75000"/>
                    <a:lumOff val="25000"/>
                  </a:schemeClr>
                </a:solidFill>
              </a:rPr>
              <a:t>实际上，使用“dict</a:t>
            </a:r>
            <a:r>
              <a:rPr lang="en-US" altLang="zh-CN" sz="1600" dirty="0">
                <a:solidFill>
                  <a:schemeClr val="tx1">
                    <a:lumMod val="75000"/>
                    <a:lumOff val="25000"/>
                  </a:schemeClr>
                </a:solidFill>
              </a:rPr>
              <a:t>( )”</a:t>
            </a:r>
            <a:r>
              <a:rPr lang="en-US" altLang="zh-CN" sz="1600" dirty="0" err="1">
                <a:solidFill>
                  <a:schemeClr val="tx1">
                    <a:lumMod val="75000"/>
                    <a:lumOff val="25000"/>
                  </a:schemeClr>
                </a:solidFill>
              </a:rPr>
              <a:t>函数的形式来申明字典表，还有更多更灵活的方式：比如将一个列表转换为一个字典表。注意：列表的每个元素又是一个元组或者一个列表</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20000"/>
              </a:lnSpc>
              <a:spcBef>
                <a:spcPts val="600"/>
              </a:spcBef>
            </a:pP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key,value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key,value</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将由元组构成的列表转换为字典表</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y = </a:t>
            </a: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([("name", "Tom"), ("age", 20)])  #</a:t>
            </a:r>
            <a:r>
              <a:rPr lang="en-US" altLang="zh-CN" sz="1600" dirty="0" err="1">
                <a:solidFill>
                  <a:schemeClr val="tx1">
                    <a:lumMod val="75000"/>
                    <a:lumOff val="25000"/>
                  </a:schemeClr>
                </a:solidFill>
              </a:rPr>
              <a:t>列表里的每个元素是一个元组</a:t>
            </a: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y</a:t>
            </a:r>
            <a:endParaRPr lang="en-US" altLang="zh-CN" sz="1600" dirty="0">
              <a:solidFill>
                <a:schemeClr val="tx1">
                  <a:lumMod val="75000"/>
                  <a:lumOff val="25000"/>
                </a:schemeClr>
              </a:solidFill>
            </a:endParaRPr>
          </a:p>
          <a:p>
            <a:pPr>
              <a:lnSpc>
                <a:spcPct val="120000"/>
              </a:lnSpc>
              <a:spcBef>
                <a:spcPts val="600"/>
              </a:spcBef>
            </a:pP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x = </a:t>
            </a:r>
            <a:r>
              <a:rPr lang="en-US" altLang="zh-CN" sz="1600" dirty="0" err="1">
                <a:solidFill>
                  <a:schemeClr val="tx1">
                    <a:lumMod val="75000"/>
                    <a:lumOff val="25000"/>
                  </a:schemeClr>
                </a:solidFill>
              </a:rPr>
              <a:t>dict</a:t>
            </a:r>
            <a:r>
              <a:rPr lang="en-US" altLang="zh-CN" sz="1600" dirty="0">
                <a:solidFill>
                  <a:schemeClr val="tx1">
                    <a:lumMod val="75000"/>
                    <a:lumOff val="25000"/>
                  </a:schemeClr>
                </a:solidFill>
              </a:rPr>
              <a:t>([["name", "Tom"], ["age", 20]])  #</a:t>
            </a:r>
            <a:r>
              <a:rPr lang="en-US" altLang="zh-CN" sz="1600" dirty="0" err="1">
                <a:solidFill>
                  <a:schemeClr val="tx1">
                    <a:lumMod val="75000"/>
                    <a:lumOff val="25000"/>
                  </a:schemeClr>
                </a:solidFill>
              </a:rPr>
              <a:t>列表里的每个元素又是一个列表</a:t>
            </a: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x</a:t>
            </a:r>
            <a:endParaRPr lang="en-US" altLang="zh-CN" sz="1600" dirty="0">
              <a:solidFill>
                <a:schemeClr val="tx1">
                  <a:lumMod val="75000"/>
                  <a:lumOff val="25000"/>
                </a:schemeClr>
              </a:solidFill>
            </a:endParaRPr>
          </a:p>
        </p:txBody>
      </p:sp>
      <p:pic>
        <p:nvPicPr>
          <p:cNvPr id="7" name="图片 6"/>
          <p:cNvPicPr/>
          <p:nvPr/>
        </p:nvPicPr>
        <p:blipFill>
          <a:blip r:embed="rId1" cstate="print"/>
          <a:srcRect/>
          <a:stretch>
            <a:fillRect/>
          </a:stretch>
        </p:blipFill>
        <p:spPr bwMode="auto">
          <a:xfrm>
            <a:off x="1204841" y="5048771"/>
            <a:ext cx="2688123" cy="356453"/>
          </a:xfrm>
          <a:prstGeom prst="rect">
            <a:avLst/>
          </a:prstGeom>
          <a:noFill/>
          <a:ln w="9525">
            <a:noFill/>
            <a:miter lim="800000"/>
            <a:headEnd/>
            <a:tailEnd/>
          </a:ln>
        </p:spPr>
      </p:pic>
      <p:pic>
        <p:nvPicPr>
          <p:cNvPr id="8" name="图片 7"/>
          <p:cNvPicPr/>
          <p:nvPr/>
        </p:nvPicPr>
        <p:blipFill>
          <a:blip r:embed="rId1" cstate="print"/>
          <a:srcRect/>
          <a:stretch>
            <a:fillRect/>
          </a:stretch>
        </p:blipFill>
        <p:spPr bwMode="auto">
          <a:xfrm>
            <a:off x="1204841" y="6218439"/>
            <a:ext cx="2688123" cy="36848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字典的方法“</a:t>
            </a:r>
            <a:r>
              <a:rPr lang="en-US" altLang="zh-CN" dirty="0">
                <a:solidFill>
                  <a:schemeClr val="tx1">
                    <a:lumMod val="75000"/>
                    <a:lumOff val="25000"/>
                  </a:schemeClr>
                </a:solidFill>
              </a:rPr>
              <a:t>.</a:t>
            </a:r>
            <a:r>
              <a:rPr lang="en-US" altLang="zh-CN" dirty="0" err="1">
                <a:solidFill>
                  <a:schemeClr val="tx1">
                    <a:lumMod val="75000"/>
                    <a:lumOff val="25000"/>
                  </a:schemeClr>
                </a:solidFill>
              </a:rPr>
              <a:t>fromkeys</a:t>
            </a:r>
            <a:r>
              <a:rPr lang="en-US" altLang="zh-CN" dirty="0">
                <a:solidFill>
                  <a:schemeClr val="tx1">
                    <a:lumMod val="75000"/>
                    <a:lumOff val="25000"/>
                  </a:schemeClr>
                </a:solidFill>
              </a:rPr>
              <a:t>( )”</a:t>
            </a:r>
            <a:endParaRPr lang="en-US" altLang="zh-CN" dirty="0">
              <a:solidFill>
                <a:schemeClr val="tx1">
                  <a:lumMod val="75000"/>
                  <a:lumOff val="25000"/>
                </a:schemeClr>
              </a:solidFill>
            </a:endParaRPr>
          </a:p>
          <a:p>
            <a:endParaRPr lang="zh-CN" altLang="en-US" dirty="0"/>
          </a:p>
        </p:txBody>
      </p:sp>
      <p:sp>
        <p:nvSpPr>
          <p:cNvPr id="9" name="文本框 8"/>
          <p:cNvSpPr txBox="1"/>
          <p:nvPr/>
        </p:nvSpPr>
        <p:spPr>
          <a:xfrm>
            <a:off x="1055640" y="2386007"/>
            <a:ext cx="9895037" cy="2545312"/>
          </a:xfrm>
          <a:prstGeom prst="rect">
            <a:avLst/>
          </a:prstGeom>
          <a:noFill/>
        </p:spPr>
        <p:txBody>
          <a:bodyPr wrap="square" rtlCol="0">
            <a:spAutoFit/>
          </a:bodyPr>
          <a:lstStyle/>
          <a:p>
            <a:pPr>
              <a:lnSpc>
                <a:spcPct val="120000"/>
              </a:lnSpc>
              <a:spcBef>
                <a:spcPts val="600"/>
              </a:spcBef>
            </a:pPr>
            <a:r>
              <a:rPr lang="en-US" altLang="zh-CN" sz="1600" dirty="0" err="1" smtClean="0">
                <a:solidFill>
                  <a:schemeClr val="tx1">
                    <a:lumMod val="75000"/>
                    <a:lumOff val="25000"/>
                  </a:schemeClr>
                </a:solidFill>
              </a:rPr>
              <a:t>通过字典表里的一个方法</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fromkeys</a:t>
            </a:r>
            <a:r>
              <a:rPr lang="en-US" altLang="zh-CN" sz="1600" dirty="0">
                <a:solidFill>
                  <a:schemeClr val="tx1">
                    <a:lumMod val="75000"/>
                    <a:lumOff val="25000"/>
                  </a:schemeClr>
                </a:solidFill>
              </a:rPr>
              <a:t>( )”来申明，将列表中的每个元素作为字典表里的一个键，没有值的地方总是设定为“None”，</a:t>
            </a:r>
            <a:r>
              <a:rPr lang="en-US" altLang="zh-CN" sz="1600" dirty="0" err="1">
                <a:solidFill>
                  <a:schemeClr val="tx1">
                    <a:lumMod val="75000"/>
                    <a:lumOff val="25000"/>
                  </a:schemeClr>
                </a:solidFill>
              </a:rPr>
              <a:t>就是空对象</a:t>
            </a:r>
            <a:r>
              <a:rPr lang="en-US" altLang="zh-CN" sz="1600" dirty="0">
                <a:solidFill>
                  <a:schemeClr val="tx1">
                    <a:lumMod val="75000"/>
                    <a:lumOff val="25000"/>
                  </a:schemeClr>
                </a:solidFill>
              </a:rPr>
              <a:t>。</a:t>
            </a: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keys = ['name', 'age', 'job']    #</a:t>
            </a:r>
            <a:r>
              <a:rPr lang="en-US" altLang="zh-CN" sz="1600" dirty="0" err="1">
                <a:solidFill>
                  <a:schemeClr val="tx1">
                    <a:lumMod val="75000"/>
                    <a:lumOff val="25000"/>
                  </a:schemeClr>
                </a:solidFill>
              </a:rPr>
              <a:t>注意此处是一个列表</a:t>
            </a: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emp</a:t>
            </a:r>
            <a:r>
              <a:rPr lang="en-US" altLang="zh-CN" sz="1600" dirty="0">
                <a:solidFill>
                  <a:schemeClr val="tx1">
                    <a:lumMod val="75000"/>
                    <a:lumOff val="25000"/>
                  </a:schemeClr>
                </a:solidFill>
              </a:rPr>
              <a:t> = </a:t>
            </a:r>
            <a:r>
              <a:rPr lang="en-US" altLang="zh-CN" sz="1600" dirty="0" err="1">
                <a:solidFill>
                  <a:schemeClr val="tx1">
                    <a:lumMod val="75000"/>
                    <a:lumOff val="25000"/>
                  </a:schemeClr>
                </a:solidFill>
              </a:rPr>
              <a:t>dict.fromkeys</a:t>
            </a:r>
            <a:r>
              <a:rPr lang="en-US" altLang="zh-CN" sz="1600" dirty="0">
                <a:solidFill>
                  <a:schemeClr val="tx1">
                    <a:lumMod val="75000"/>
                    <a:lumOff val="25000"/>
                  </a:schemeClr>
                </a:solidFill>
              </a:rPr>
              <a:t>(keys)   #</a:t>
            </a:r>
            <a:r>
              <a:rPr lang="en-US" altLang="zh-CN" sz="1600" dirty="0" err="1">
                <a:solidFill>
                  <a:schemeClr val="tx1">
                    <a:lumMod val="75000"/>
                    <a:lumOff val="25000"/>
                  </a:schemeClr>
                </a:solidFill>
              </a:rPr>
              <a:t>调用字典表的方法</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fromkeys</a:t>
            </a:r>
            <a:r>
              <a:rPr lang="en-US" altLang="zh-CN" sz="1600" dirty="0">
                <a:solidFill>
                  <a:schemeClr val="tx1">
                    <a:lumMod val="75000"/>
                    <a:lumOff val="25000"/>
                  </a:schemeClr>
                </a:solidFill>
              </a:rPr>
              <a:t>()”</a:t>
            </a:r>
            <a:r>
              <a:rPr lang="en-US" altLang="zh-CN" sz="1600" dirty="0" err="1">
                <a:solidFill>
                  <a:schemeClr val="tx1">
                    <a:lumMod val="75000"/>
                    <a:lumOff val="25000"/>
                  </a:schemeClr>
                </a:solidFill>
              </a:rPr>
              <a:t>来申明一个字典</a:t>
            </a:r>
            <a:endParaRPr lang="en-US" altLang="zh-CN" sz="1600" dirty="0">
              <a:solidFill>
                <a:schemeClr val="tx1">
                  <a:lumMod val="75000"/>
                  <a:lumOff val="25000"/>
                </a:schemeClr>
              </a:solidFill>
            </a:endParaRPr>
          </a:p>
          <a:p>
            <a:pPr>
              <a:lnSpc>
                <a:spcPct val="120000"/>
              </a:lnSpc>
              <a:spcBef>
                <a:spcPts val="600"/>
              </a:spcBef>
            </a:pPr>
            <a:r>
              <a:rPr lang="en-US" altLang="zh-CN" sz="1600" dirty="0">
                <a:solidFill>
                  <a:schemeClr val="tx1">
                    <a:lumMod val="75000"/>
                    <a:lumOff val="25000"/>
                  </a:schemeClr>
                </a:solidFill>
              </a:rPr>
              <a:t>&gt; </a:t>
            </a:r>
            <a:r>
              <a:rPr lang="en-US" altLang="zh-CN" sz="1600" dirty="0" err="1">
                <a:solidFill>
                  <a:schemeClr val="tx1">
                    <a:lumMod val="75000"/>
                    <a:lumOff val="25000"/>
                  </a:schemeClr>
                </a:solidFill>
              </a:rPr>
              <a:t>emp</a:t>
            </a:r>
            <a:endParaRPr lang="en-US" altLang="zh-CN" sz="1600" dirty="0">
              <a:solidFill>
                <a:schemeClr val="tx1">
                  <a:lumMod val="75000"/>
                  <a:lumOff val="25000"/>
                </a:schemeClr>
              </a:solidFill>
            </a:endParaRPr>
          </a:p>
          <a:p>
            <a:pPr>
              <a:lnSpc>
                <a:spcPct val="120000"/>
              </a:lnSpc>
              <a:spcBef>
                <a:spcPts val="600"/>
              </a:spcBef>
            </a:pPr>
            <a:endParaRPr lang="en-US" altLang="zh-CN" sz="1600" dirty="0">
              <a:solidFill>
                <a:schemeClr val="tx1">
                  <a:lumMod val="75000"/>
                  <a:lumOff val="25000"/>
                </a:schemeClr>
              </a:solidFill>
            </a:endParaRPr>
          </a:p>
          <a:p>
            <a:pPr>
              <a:lnSpc>
                <a:spcPct val="120000"/>
              </a:lnSpc>
              <a:spcBef>
                <a:spcPts val="600"/>
              </a:spcBef>
            </a:pPr>
            <a:endParaRPr lang="en-US" altLang="zh-CN" sz="1600" dirty="0">
              <a:solidFill>
                <a:schemeClr val="tx1">
                  <a:lumMod val="75000"/>
                  <a:lumOff val="25000"/>
                </a:schemeClr>
              </a:solidFill>
            </a:endParaRPr>
          </a:p>
        </p:txBody>
      </p:sp>
      <p:pic>
        <p:nvPicPr>
          <p:cNvPr id="10" name="图片 9"/>
          <p:cNvPicPr/>
          <p:nvPr/>
        </p:nvPicPr>
        <p:blipFill>
          <a:blip r:embed="rId1" cstate="print"/>
          <a:srcRect/>
          <a:stretch>
            <a:fillRect/>
          </a:stretch>
        </p:blipFill>
        <p:spPr bwMode="auto">
          <a:xfrm>
            <a:off x="1208474" y="4278645"/>
            <a:ext cx="4585853" cy="37483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smtClean="0">
                <a:solidFill>
                  <a:schemeClr val="tx1">
                    <a:lumMod val="75000"/>
                    <a:lumOff val="25000"/>
                  </a:schemeClr>
                </a:solidFill>
              </a:rPr>
              <a:t>元素去重</a:t>
            </a:r>
            <a:endParaRPr lang="en-US" altLang="zh-CN" dirty="0">
              <a:solidFill>
                <a:schemeClr val="tx1">
                  <a:lumMod val="75000"/>
                  <a:lumOff val="25000"/>
                </a:schemeClr>
              </a:solidFill>
            </a:endParaRPr>
          </a:p>
          <a:p>
            <a:endParaRPr lang="zh-CN" altLang="en-US" dirty="0"/>
          </a:p>
        </p:txBody>
      </p:sp>
      <p:sp>
        <p:nvSpPr>
          <p:cNvPr id="6" name="文本框 5"/>
          <p:cNvSpPr txBox="1"/>
          <p:nvPr/>
        </p:nvSpPr>
        <p:spPr>
          <a:xfrm>
            <a:off x="1066335" y="2446641"/>
            <a:ext cx="10112942" cy="830997"/>
          </a:xfrm>
          <a:prstGeom prst="rect">
            <a:avLst/>
          </a:prstGeom>
          <a:noFill/>
        </p:spPr>
        <p:txBody>
          <a:bodyPr wrap="square" rtlCol="0">
            <a:spAutoFit/>
          </a:bodyPr>
          <a:lstStyle/>
          <a:p>
            <a:pPr>
              <a:lnSpc>
                <a:spcPct val="150000"/>
              </a:lnSpc>
              <a:spcBef>
                <a:spcPts val="600"/>
              </a:spcBef>
            </a:pPr>
            <a:r>
              <a:rPr lang="en-US" altLang="zh-CN" sz="1600" dirty="0" smtClean="0">
                <a:solidFill>
                  <a:schemeClr val="tx1">
                    <a:lumMod val="75000"/>
                    <a:lumOff val="25000"/>
                  </a:schemeClr>
                </a:solidFill>
              </a:rPr>
              <a:t>一个字典里不允许同一个键出现两次</a:t>
            </a:r>
            <a:r>
              <a:rPr lang="en-US" altLang="zh-CN" sz="1600" dirty="0">
                <a:solidFill>
                  <a:schemeClr val="tx1">
                    <a:lumMod val="75000"/>
                    <a:lumOff val="25000"/>
                  </a:schemeClr>
                </a:solidFill>
              </a:rPr>
              <a:t>！即每个key都是独一无二的！因此，将一个列表或者元组转换成字典的过程实际上达到了将相同的多余元素删除的目的。</a:t>
            </a:r>
            <a:endParaRPr lang="zh-CN" altLang="zh-CN"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zh-CN" altLang="en-US" dirty="0" smtClean="0"/>
              <a:t>概念</a:t>
            </a:r>
            <a:endParaRPr lang="zh-CN" altLang="en-US" dirty="0"/>
          </a:p>
        </p:txBody>
      </p:sp>
      <p:sp>
        <p:nvSpPr>
          <p:cNvPr id="3" name="内容占位符 2"/>
          <p:cNvSpPr>
            <a:spLocks noGrp="1"/>
          </p:cNvSpPr>
          <p:nvPr>
            <p:ph idx="1"/>
          </p:nvPr>
        </p:nvSpPr>
        <p:spPr/>
        <p:txBody>
          <a:bodyPr>
            <a:normAutofit/>
          </a:bodyPr>
          <a:lstStyle/>
          <a:p>
            <a:pPr>
              <a:lnSpc>
                <a:spcPct val="150000"/>
              </a:lnSpc>
              <a:spcBef>
                <a:spcPts val="600"/>
              </a:spcBef>
            </a:pPr>
            <a:r>
              <a:rPr lang="zh-CN" altLang="en-US" dirty="0">
                <a:solidFill>
                  <a:schemeClr val="tx1">
                    <a:lumMod val="75000"/>
                    <a:lumOff val="25000"/>
                  </a:schemeClr>
                </a:solidFill>
              </a:rPr>
              <a:t>字典元素的访问</a:t>
            </a:r>
            <a:endParaRPr lang="zh-CN" altLang="en-US" dirty="0">
              <a:solidFill>
                <a:schemeClr val="tx1">
                  <a:lumMod val="75000"/>
                  <a:lumOff val="25000"/>
                </a:schemeClr>
              </a:solidFill>
            </a:endParaRPr>
          </a:p>
          <a:p>
            <a:endParaRPr lang="zh-CN" altLang="en-US" dirty="0"/>
          </a:p>
        </p:txBody>
      </p:sp>
      <p:sp>
        <p:nvSpPr>
          <p:cNvPr id="5" name="文本框 4"/>
          <p:cNvSpPr txBox="1"/>
          <p:nvPr/>
        </p:nvSpPr>
        <p:spPr>
          <a:xfrm>
            <a:off x="1043496" y="2278456"/>
            <a:ext cx="10096828" cy="830997"/>
          </a:xfrm>
          <a:prstGeom prst="rect">
            <a:avLst/>
          </a:prstGeom>
          <a:noFill/>
        </p:spPr>
        <p:txBody>
          <a:bodyPr wrap="square" rtlCol="0">
            <a:spAutoFit/>
          </a:bodyPr>
          <a:lstStyle/>
          <a:p>
            <a:pPr>
              <a:lnSpc>
                <a:spcPct val="150000"/>
              </a:lnSpc>
            </a:pPr>
            <a:r>
              <a:rPr lang="zh-CN" altLang="zh-CN" sz="1600" dirty="0">
                <a:solidFill>
                  <a:schemeClr val="tx1">
                    <a:lumMod val="75000"/>
                    <a:lumOff val="25000"/>
                  </a:schemeClr>
                </a:solidFill>
              </a:rPr>
              <a:t>字典是一个无序的结构，对字典的访问操作是</a:t>
            </a:r>
            <a:r>
              <a:rPr lang="zh-CN" altLang="zh-CN" sz="1600" b="1" dirty="0">
                <a:solidFill>
                  <a:schemeClr val="tx1">
                    <a:lumMod val="75000"/>
                    <a:lumOff val="25000"/>
                  </a:schemeClr>
                </a:solidFill>
              </a:rPr>
              <a:t>通过键而不是下标索引</a:t>
            </a:r>
            <a:r>
              <a:rPr lang="zh-CN" altLang="zh-CN" sz="1600" dirty="0">
                <a:solidFill>
                  <a:schemeClr val="tx1">
                    <a:lumMod val="75000"/>
                    <a:lumOff val="25000"/>
                  </a:schemeClr>
                </a:solidFill>
              </a:rPr>
              <a:t>来进行的。同样，对字典元素的修改、增加或者删除字典元素也都是通过键而非下标索引来进行。假设定义了字典</a:t>
            </a:r>
            <a:r>
              <a:rPr lang="en-US" altLang="zh-CN" sz="1600" dirty="0" err="1">
                <a:solidFill>
                  <a:schemeClr val="tx1">
                    <a:lumMod val="75000"/>
                    <a:lumOff val="25000"/>
                  </a:schemeClr>
                </a:solidFill>
              </a:rPr>
              <a:t>dt</a:t>
            </a:r>
            <a:r>
              <a:rPr lang="zh-CN" altLang="zh-CN" sz="1600" dirty="0">
                <a:solidFill>
                  <a:schemeClr val="tx1">
                    <a:lumMod val="75000"/>
                    <a:lumOff val="25000"/>
                  </a:schemeClr>
                </a:solidFill>
              </a:rPr>
              <a:t>，具体的访问操作</a:t>
            </a:r>
            <a:r>
              <a:rPr lang="zh-CN" altLang="zh-CN" sz="1600" dirty="0" smtClean="0">
                <a:solidFill>
                  <a:schemeClr val="tx1">
                    <a:lumMod val="75000"/>
                    <a:lumOff val="25000"/>
                  </a:schemeClr>
                </a:solidFill>
              </a:rPr>
              <a:t>见</a:t>
            </a:r>
            <a:r>
              <a:rPr lang="zh-CN" altLang="en-US" sz="1600" dirty="0" smtClean="0">
                <a:solidFill>
                  <a:schemeClr val="tx1">
                    <a:lumMod val="75000"/>
                    <a:lumOff val="25000"/>
                  </a:schemeClr>
                </a:solidFill>
              </a:rPr>
              <a:t>下表</a:t>
            </a:r>
            <a:r>
              <a:rPr lang="zh-CN" altLang="zh-CN" sz="1600" dirty="0" smtClean="0">
                <a:solidFill>
                  <a:schemeClr val="tx1">
                    <a:lumMod val="75000"/>
                    <a:lumOff val="25000"/>
                  </a:schemeClr>
                </a:solidFill>
              </a:rPr>
              <a:t>。</a:t>
            </a:r>
            <a:endParaRPr lang="zh-CN" altLang="zh-CN" sz="1600" dirty="0">
              <a:solidFill>
                <a:schemeClr val="tx1">
                  <a:lumMod val="75000"/>
                  <a:lumOff val="25000"/>
                </a:schemeClr>
              </a:solidFill>
            </a:endParaRPr>
          </a:p>
        </p:txBody>
      </p:sp>
      <p:graphicFrame>
        <p:nvGraphicFramePr>
          <p:cNvPr id="7" name="表格 6"/>
          <p:cNvGraphicFramePr>
            <a:graphicFrameLocks noGrp="1"/>
          </p:cNvGraphicFramePr>
          <p:nvPr/>
        </p:nvGraphicFramePr>
        <p:xfrm>
          <a:off x="1169622" y="3109453"/>
          <a:ext cx="8770791" cy="3443541"/>
        </p:xfrm>
        <a:graphic>
          <a:graphicData uri="http://schemas.openxmlformats.org/drawingml/2006/table">
            <a:tbl>
              <a:tblPr firstRow="1" firstCol="1" bandRow="1">
                <a:tableStyleId>{5940675A-B579-460E-94D1-54222C63F5DA}</a:tableStyleId>
              </a:tblPr>
              <a:tblGrid>
                <a:gridCol w="2566047"/>
                <a:gridCol w="6204744"/>
              </a:tblGrid>
              <a:tr h="302980">
                <a:tc>
                  <a:txBody>
                    <a:bodyPr/>
                    <a:lstStyle/>
                    <a:p>
                      <a:pPr algn="ctr" defTabSz="914400">
                        <a:lnSpc>
                          <a:spcPct val="150000"/>
                        </a:lnSpc>
                        <a:buClrTx/>
                        <a:buSzTx/>
                        <a:buFontTx/>
                      </a:pPr>
                      <a:r>
                        <a:rPr lang="en-US" altLang="zh-CN" sz="1400" dirty="0" smtClean="0">
                          <a:solidFill>
                            <a:schemeClr val="tx1">
                              <a:lumMod val="75000"/>
                              <a:lumOff val="25000"/>
                            </a:schemeClr>
                          </a:solidFill>
                        </a:rPr>
                        <a:t>操作符或函数</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描述</a:t>
                      </a:r>
                      <a:endParaRPr lang="en-US" altLang="zh-CN" sz="1400" dirty="0" smtClean="0">
                        <a:solidFill>
                          <a:schemeClr val="tx1">
                            <a:lumMod val="75000"/>
                            <a:lumOff val="25000"/>
                          </a:schemeClr>
                        </a:solidFill>
                      </a:endParaRPr>
                    </a:p>
                  </a:txBody>
                  <a:tcPr marL="68580" marR="68580" marT="0" marB="0" anchor="ctr"/>
                </a:tc>
              </a:tr>
              <a:tr h="401087">
                <a:tc>
                  <a:txBody>
                    <a:bodyPr/>
                    <a:lstStyle/>
                    <a:p>
                      <a:pPr algn="ctr" defTabSz="914400">
                        <a:lnSpc>
                          <a:spcPct val="150000"/>
                        </a:lnSpc>
                        <a:buClrTx/>
                        <a:buSzTx/>
                        <a:buFontTx/>
                      </a:pPr>
                      <a:r>
                        <a:rPr lang="en-US" altLang="zh-CN" sz="1400" dirty="0" smtClean="0">
                          <a:solidFill>
                            <a:schemeClr val="tx1">
                              <a:lumMod val="75000"/>
                              <a:lumOff val="25000"/>
                            </a:schemeClr>
                          </a:solidFill>
                        </a:rPr>
                        <a:t>dt[k]</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访问。返回字典元素的键k对应的值v，如果键不存在，则产生异常“KeyError”</a:t>
                      </a:r>
                      <a:endParaRPr lang="en-US" altLang="zh-CN" sz="1400" dirty="0" smtClean="0">
                        <a:solidFill>
                          <a:schemeClr val="tx1">
                            <a:lumMod val="75000"/>
                            <a:lumOff val="25000"/>
                          </a:schemeClr>
                        </a:solidFill>
                      </a:endParaRPr>
                    </a:p>
                  </a:txBody>
                  <a:tcPr marL="68580" marR="68580" marT="0" marB="0" anchor="ctr"/>
                </a:tc>
              </a:tr>
              <a:tr h="401087">
                <a:tc>
                  <a:txBody>
                    <a:bodyPr/>
                    <a:lstStyle/>
                    <a:p>
                      <a:pPr algn="ctr" defTabSz="914400">
                        <a:lnSpc>
                          <a:spcPct val="150000"/>
                        </a:lnSpc>
                        <a:buClrTx/>
                        <a:buSzTx/>
                        <a:buFontTx/>
                      </a:pPr>
                      <a:r>
                        <a:rPr lang="en-US" altLang="zh-CN" sz="1400" dirty="0" smtClean="0">
                          <a:solidFill>
                            <a:schemeClr val="tx1">
                              <a:lumMod val="75000"/>
                              <a:lumOff val="25000"/>
                            </a:schemeClr>
                          </a:solidFill>
                        </a:rPr>
                        <a:t>dt[k] = new_v</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修改或者增加。修改字典元素的键k对应的值v为new_v，如果键不存在，则增加一个键值对</a:t>
                      </a:r>
                      <a:endParaRPr lang="en-US" altLang="zh-CN" sz="1400" dirty="0" smtClean="0">
                        <a:solidFill>
                          <a:schemeClr val="tx1">
                            <a:lumMod val="75000"/>
                            <a:lumOff val="25000"/>
                          </a:schemeClr>
                        </a:solidFill>
                      </a:endParaRPr>
                    </a:p>
                  </a:txBody>
                  <a:tcPr marL="68580" marR="68580" marT="0" marB="0" anchor="ctr"/>
                </a:tc>
              </a:tr>
              <a:tr h="401087">
                <a:tc>
                  <a:txBody>
                    <a:bodyPr/>
                    <a:lstStyle/>
                    <a:p>
                      <a:pPr algn="ctr" defTabSz="914400">
                        <a:lnSpc>
                          <a:spcPct val="150000"/>
                        </a:lnSpc>
                        <a:buClrTx/>
                        <a:buSzTx/>
                        <a:buFontTx/>
                      </a:pPr>
                      <a:r>
                        <a:rPr lang="en-US" altLang="zh-CN" sz="1400" dirty="0" smtClean="0">
                          <a:solidFill>
                            <a:schemeClr val="tx1">
                              <a:lumMod val="75000"/>
                              <a:lumOff val="25000"/>
                            </a:schemeClr>
                          </a:solidFill>
                        </a:rPr>
                        <a:t>del dt[k]</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删除键值对。删除键值对&lt;k, v&gt;，如果键不存在，则产生异常“KeyError”</a:t>
                      </a:r>
                      <a:endParaRPr lang="en-US" altLang="zh-CN" sz="1400" dirty="0" smtClean="0">
                        <a:solidFill>
                          <a:schemeClr val="tx1">
                            <a:lumMod val="75000"/>
                            <a:lumOff val="25000"/>
                          </a:schemeClr>
                        </a:solidFill>
                      </a:endParaRPr>
                    </a:p>
                  </a:txBody>
                  <a:tcPr marL="68580" marR="68580" marT="0" marB="0" anchor="ctr"/>
                </a:tc>
              </a:tr>
              <a:tr h="401087">
                <a:tc>
                  <a:txBody>
                    <a:bodyPr/>
                    <a:lstStyle/>
                    <a:p>
                      <a:pPr algn="ctr" defTabSz="914400">
                        <a:lnSpc>
                          <a:spcPct val="150000"/>
                        </a:lnSpc>
                        <a:buClrTx/>
                        <a:buSzTx/>
                        <a:buFontTx/>
                      </a:pPr>
                      <a:r>
                        <a:rPr lang="en-US" altLang="zh-CN" sz="1400" dirty="0" smtClean="0">
                          <a:solidFill>
                            <a:schemeClr val="tx1">
                              <a:lumMod val="75000"/>
                              <a:lumOff val="25000"/>
                            </a:schemeClr>
                          </a:solidFill>
                        </a:rPr>
                        <a:t>del dt</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删除字典。字典dt删除之后就不存在了，再次输出字典元素会产生异常“NameError”</a:t>
                      </a:r>
                      <a:endParaRPr lang="en-US" altLang="zh-CN" sz="1400" dirty="0" smtClean="0">
                        <a:solidFill>
                          <a:schemeClr val="tx1">
                            <a:lumMod val="75000"/>
                            <a:lumOff val="25000"/>
                          </a:schemeClr>
                        </a:solidFill>
                      </a:endParaRPr>
                    </a:p>
                  </a:txBody>
                  <a:tcPr marL="68580" marR="68580" marT="0" marB="0" anchor="ctr"/>
                </a:tc>
              </a:tr>
              <a:tr h="401087">
                <a:tc>
                  <a:txBody>
                    <a:bodyPr/>
                    <a:lstStyle/>
                    <a:p>
                      <a:pPr algn="ctr" defTabSz="914400">
                        <a:lnSpc>
                          <a:spcPct val="150000"/>
                        </a:lnSpc>
                        <a:buClrTx/>
                        <a:buSzTx/>
                        <a:buFontTx/>
                      </a:pPr>
                      <a:r>
                        <a:rPr lang="en-US" altLang="zh-CN" sz="1400" dirty="0" smtClean="0">
                          <a:solidFill>
                            <a:schemeClr val="tx1">
                              <a:lumMod val="75000"/>
                              <a:lumOff val="25000"/>
                            </a:schemeClr>
                          </a:solidFill>
                        </a:rPr>
                        <a:t>len(dt)</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求长度。返回字典中元素个数，注意，是键值对个数。这是一个全局函数</a:t>
                      </a:r>
                      <a:endParaRPr lang="en-US" altLang="zh-CN" sz="1400" dirty="0" smtClean="0">
                        <a:solidFill>
                          <a:schemeClr val="tx1">
                            <a:lumMod val="75000"/>
                            <a:lumOff val="25000"/>
                          </a:schemeClr>
                        </a:solidFill>
                      </a:endParaRPr>
                    </a:p>
                  </a:txBody>
                  <a:tcPr marL="68580" marR="68580" marT="0" marB="0" anchor="ctr"/>
                </a:tc>
              </a:tr>
              <a:tr h="268534">
                <a:tc>
                  <a:txBody>
                    <a:bodyPr/>
                    <a:lstStyle/>
                    <a:p>
                      <a:pPr algn="ctr" defTabSz="914400">
                        <a:lnSpc>
                          <a:spcPct val="150000"/>
                        </a:lnSpc>
                        <a:buClrTx/>
                        <a:buSzTx/>
                        <a:buFontTx/>
                      </a:pPr>
                      <a:r>
                        <a:rPr lang="en-US" altLang="zh-CN" sz="1400" dirty="0" smtClean="0">
                          <a:solidFill>
                            <a:schemeClr val="tx1">
                              <a:lumMod val="75000"/>
                              <a:lumOff val="25000"/>
                            </a:schemeClr>
                          </a:solidFill>
                        </a:rPr>
                        <a:t>k in dt</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如果键k在字典中，则返回True，否则返回False</a:t>
                      </a:r>
                      <a:endParaRPr lang="en-US" altLang="zh-CN" sz="1400" dirty="0" smtClean="0">
                        <a:solidFill>
                          <a:schemeClr val="tx1">
                            <a:lumMod val="75000"/>
                            <a:lumOff val="25000"/>
                          </a:schemeClr>
                        </a:solidFill>
                      </a:endParaRPr>
                    </a:p>
                  </a:txBody>
                  <a:tcPr marL="68580" marR="68580" marT="0" marB="0" anchor="ctr"/>
                </a:tc>
              </a:tr>
              <a:tr h="284558">
                <a:tc>
                  <a:txBody>
                    <a:bodyPr/>
                    <a:lstStyle/>
                    <a:p>
                      <a:pPr algn="ctr" defTabSz="914400">
                        <a:lnSpc>
                          <a:spcPct val="150000"/>
                        </a:lnSpc>
                        <a:buClrTx/>
                        <a:buSzTx/>
                        <a:buFontTx/>
                      </a:pPr>
                      <a:r>
                        <a:rPr lang="en-US" altLang="zh-CN" sz="1400" dirty="0" smtClean="0">
                          <a:solidFill>
                            <a:schemeClr val="tx1">
                              <a:lumMod val="75000"/>
                              <a:lumOff val="25000"/>
                            </a:schemeClr>
                          </a:solidFill>
                        </a:rPr>
                        <a:t>k not in dt</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如果键k不在字典中，则返回True，否则返回False</a:t>
                      </a:r>
                      <a:endParaRPr lang="en-US" altLang="zh-CN" sz="1400" dirty="0" smtClean="0">
                        <a:solidFill>
                          <a:schemeClr val="tx1">
                            <a:lumMod val="75000"/>
                            <a:lumOff val="25000"/>
                          </a:schemeClr>
                        </a:solidFill>
                      </a:endParaRPr>
                    </a:p>
                  </a:txBody>
                  <a:tcPr marL="68580" marR="68580" marT="0" marB="0"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t>基本概念</a:t>
            </a:r>
            <a:endParaRPr lang="en-US" altLang="zh-CN" dirty="0" smtClean="0"/>
          </a:p>
          <a:p>
            <a:r>
              <a:rPr lang="zh-CN" altLang="en-US" dirty="0" smtClean="0">
                <a:solidFill>
                  <a:srgbClr val="FF0000"/>
                </a:solidFill>
              </a:rPr>
              <a:t>主要方法</a:t>
            </a:r>
            <a:endParaRPr lang="zh-CN" altLang="en-US" dirty="0" smtClean="0">
              <a:solidFill>
                <a:srgbClr val="FF0000"/>
              </a:solidFill>
            </a:endParaRPr>
          </a:p>
          <a:p>
            <a:r>
              <a:rPr lang="zh-CN" altLang="en-US" dirty="0">
                <a:solidFill>
                  <a:schemeClr val="tx1"/>
                </a:solidFill>
              </a:rPr>
              <a:t>推导式</a:t>
            </a:r>
            <a:endParaRPr lang="zh-CN" altLang="en-US"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graphicFrame>
        <p:nvGraphicFramePr>
          <p:cNvPr id="8" name="表格 7"/>
          <p:cNvGraphicFramePr>
            <a:graphicFrameLocks noGrp="1"/>
          </p:cNvGraphicFramePr>
          <p:nvPr>
            <p:custDataLst>
              <p:tags r:id="rId1"/>
            </p:custDataLst>
          </p:nvPr>
        </p:nvGraphicFramePr>
        <p:xfrm>
          <a:off x="838200" y="1670820"/>
          <a:ext cx="10402529" cy="5187180"/>
        </p:xfrm>
        <a:graphic>
          <a:graphicData uri="http://schemas.openxmlformats.org/drawingml/2006/table">
            <a:tbl>
              <a:tblPr firstRow="1" firstCol="1" bandRow="1">
                <a:tableStyleId>{5940675A-B579-460E-94D1-54222C63F5DA}</a:tableStyleId>
              </a:tblPr>
              <a:tblGrid>
                <a:gridCol w="2574822"/>
                <a:gridCol w="7827707"/>
              </a:tblGrid>
              <a:tr h="320040">
                <a:tc>
                  <a:txBody>
                    <a:bodyPr/>
                    <a:lstStyle/>
                    <a:p>
                      <a:pPr algn="ctr" defTabSz="914400">
                        <a:lnSpc>
                          <a:spcPct val="150000"/>
                        </a:lnSpc>
                        <a:buClrTx/>
                        <a:buSzTx/>
                        <a:buFontTx/>
                      </a:pPr>
                      <a:r>
                        <a:rPr lang="en-US" altLang="zh-CN" sz="1400" dirty="0" smtClean="0">
                          <a:solidFill>
                            <a:schemeClr val="tx1">
                              <a:lumMod val="75000"/>
                              <a:lumOff val="25000"/>
                            </a:schemeClr>
                          </a:solidFill>
                        </a:rPr>
                        <a:t>方法</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描述</a:t>
                      </a:r>
                      <a:endParaRPr lang="en-US" altLang="zh-CN" sz="1400" dirty="0" smtClean="0">
                        <a:solidFill>
                          <a:schemeClr val="tx1">
                            <a:lumMod val="75000"/>
                            <a:lumOff val="25000"/>
                          </a:schemeClr>
                        </a:solidFill>
                      </a:endParaRPr>
                    </a:p>
                  </a:txBody>
                  <a:tcPr marL="68580" marR="68580" marT="0" marB="0" anchor="ctr"/>
                </a:tc>
              </a:tr>
              <a:tr h="386580">
                <a:tc>
                  <a:txBody>
                    <a:bodyPr/>
                    <a:lstStyle/>
                    <a:p>
                      <a:pPr algn="ctr" defTabSz="914400">
                        <a:lnSpc>
                          <a:spcPct val="150000"/>
                        </a:lnSpc>
                        <a:buClrTx/>
                        <a:buSzTx/>
                        <a:buFontTx/>
                      </a:pPr>
                      <a:r>
                        <a:rPr lang="en-US" altLang="zh-CN" sz="1400" dirty="0" smtClean="0">
                          <a:solidFill>
                            <a:schemeClr val="tx1">
                              <a:lumMod val="75000"/>
                              <a:lumOff val="25000"/>
                            </a:schemeClr>
                          </a:solidFill>
                        </a:rPr>
                        <a:t>dt. clear()</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清空字典。清空字典后，该字典还存在，但里面的元素全都没有了，因此，这个方法要谨慎使用</a:t>
                      </a:r>
                      <a:endParaRPr lang="en-US" altLang="zh-CN" sz="1400" dirty="0" smtClean="0">
                        <a:solidFill>
                          <a:schemeClr val="tx1">
                            <a:lumMod val="75000"/>
                            <a:lumOff val="25000"/>
                          </a:schemeClr>
                        </a:solidFill>
                      </a:endParaRPr>
                    </a:p>
                  </a:txBody>
                  <a:tcPr marL="68580" marR="68580" marT="0" marB="0" anchor="ctr"/>
                </a:tc>
              </a:tr>
              <a:tr h="467995">
                <a:tc>
                  <a:txBody>
                    <a:bodyPr/>
                    <a:lstStyle/>
                    <a:p>
                      <a:pPr algn="ctr" defTabSz="914400">
                        <a:lnSpc>
                          <a:spcPct val="150000"/>
                        </a:lnSpc>
                        <a:buClrTx/>
                        <a:buSzTx/>
                        <a:buFontTx/>
                      </a:pPr>
                      <a:r>
                        <a:rPr lang="en-US" altLang="zh-CN" sz="1400" dirty="0" smtClean="0">
                          <a:solidFill>
                            <a:schemeClr val="tx1">
                              <a:lumMod val="75000"/>
                              <a:lumOff val="25000"/>
                            </a:schemeClr>
                          </a:solidFill>
                        </a:rPr>
                        <a:t>dt. get(k[,d])</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当键k存在于字典中时，返回该键所对应的值dt[k]，如果键不存在，则返回d，如果省略d，则返回“None”。与直接访问dt[k]的区别是即使键不存在，也不抛出异常</a:t>
                      </a:r>
                      <a:endParaRPr lang="en-US" altLang="zh-CN" sz="1400" dirty="0" smtClean="0">
                        <a:solidFill>
                          <a:schemeClr val="tx1">
                            <a:lumMod val="75000"/>
                            <a:lumOff val="25000"/>
                          </a:schemeClr>
                        </a:solidFill>
                      </a:endParaRPr>
                    </a:p>
                  </a:txBody>
                  <a:tcPr marL="68580" marR="68580" marT="0" marB="0" anchor="ctr"/>
                </a:tc>
              </a:tr>
              <a:tr h="386580">
                <a:tc>
                  <a:txBody>
                    <a:bodyPr/>
                    <a:lstStyle/>
                    <a:p>
                      <a:pPr algn="ctr" defTabSz="914400">
                        <a:lnSpc>
                          <a:spcPct val="150000"/>
                        </a:lnSpc>
                        <a:buClrTx/>
                        <a:buSzTx/>
                        <a:buFontTx/>
                      </a:pPr>
                      <a:r>
                        <a:rPr lang="en-US" altLang="zh-CN" sz="1400" dirty="0" smtClean="0">
                          <a:solidFill>
                            <a:schemeClr val="tx1">
                              <a:lumMod val="75000"/>
                              <a:lumOff val="25000"/>
                            </a:schemeClr>
                          </a:solidFill>
                        </a:rPr>
                        <a:t>dt. keys( )</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获取所有键。注意，返回的类型是一个视图，跟列表很像，但不是列表。但可以将获得的视图转换成列表</a:t>
                      </a:r>
                      <a:endParaRPr lang="en-US" altLang="zh-CN" sz="1400" dirty="0" smtClean="0">
                        <a:solidFill>
                          <a:schemeClr val="tx1">
                            <a:lumMod val="75000"/>
                            <a:lumOff val="25000"/>
                          </a:schemeClr>
                        </a:solidFill>
                      </a:endParaRPr>
                    </a:p>
                  </a:txBody>
                  <a:tcPr marL="68580" marR="68580" marT="0" marB="0" anchor="ctr"/>
                </a:tc>
              </a:tr>
              <a:tr h="312162">
                <a:tc>
                  <a:txBody>
                    <a:bodyPr/>
                    <a:lstStyle/>
                    <a:p>
                      <a:pPr algn="ctr" defTabSz="914400">
                        <a:lnSpc>
                          <a:spcPct val="150000"/>
                        </a:lnSpc>
                        <a:buClrTx/>
                        <a:buSzTx/>
                        <a:buFontTx/>
                      </a:pPr>
                      <a:r>
                        <a:rPr lang="en-US" altLang="zh-CN" sz="1400" dirty="0" smtClean="0">
                          <a:solidFill>
                            <a:schemeClr val="tx1">
                              <a:lumMod val="75000"/>
                              <a:lumOff val="25000"/>
                            </a:schemeClr>
                          </a:solidFill>
                        </a:rPr>
                        <a:t>dt. values( )</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获取所有值。得到字典的所有值构成的视图，可以将获得的视图转换成列表</a:t>
                      </a:r>
                      <a:endParaRPr lang="en-US" altLang="zh-CN" sz="1400" dirty="0" smtClean="0">
                        <a:solidFill>
                          <a:schemeClr val="tx1">
                            <a:lumMod val="75000"/>
                            <a:lumOff val="25000"/>
                          </a:schemeClr>
                        </a:solidFill>
                      </a:endParaRPr>
                    </a:p>
                  </a:txBody>
                  <a:tcPr marL="68580" marR="68580" marT="0" marB="0" anchor="ctr"/>
                </a:tc>
              </a:tr>
              <a:tr h="386580">
                <a:tc>
                  <a:txBody>
                    <a:bodyPr/>
                    <a:lstStyle/>
                    <a:p>
                      <a:pPr algn="ctr" defTabSz="914400">
                        <a:lnSpc>
                          <a:spcPct val="150000"/>
                        </a:lnSpc>
                        <a:buClrTx/>
                        <a:buSzTx/>
                        <a:buFontTx/>
                      </a:pPr>
                      <a:r>
                        <a:rPr lang="en-US" altLang="zh-CN" sz="1400" dirty="0" smtClean="0">
                          <a:solidFill>
                            <a:schemeClr val="tx1">
                              <a:lumMod val="75000"/>
                              <a:lumOff val="25000"/>
                            </a:schemeClr>
                          </a:solidFill>
                        </a:rPr>
                        <a:t>dt.items( )</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获取所有键值对。得到字典所有的键值对（每一个键值对是以元组的形式呈现）构成的视图，可以将获得的视图转换成列表</a:t>
                      </a:r>
                      <a:endParaRPr lang="en-US" altLang="zh-CN" sz="1400" dirty="0" smtClean="0">
                        <a:solidFill>
                          <a:schemeClr val="tx1">
                            <a:lumMod val="75000"/>
                            <a:lumOff val="25000"/>
                          </a:schemeClr>
                        </a:solidFill>
                      </a:endParaRPr>
                    </a:p>
                  </a:txBody>
                  <a:tcPr marL="68580" marR="68580" marT="0" marB="0" anchor="ctr"/>
                </a:tc>
              </a:tr>
              <a:tr h="312162">
                <a:tc>
                  <a:txBody>
                    <a:bodyPr/>
                    <a:lstStyle/>
                    <a:p>
                      <a:pPr algn="ctr" defTabSz="914400">
                        <a:lnSpc>
                          <a:spcPct val="150000"/>
                        </a:lnSpc>
                        <a:buClrTx/>
                        <a:buSzTx/>
                        <a:buFontTx/>
                      </a:pPr>
                      <a:r>
                        <a:rPr lang="en-US" altLang="zh-CN" sz="1400" dirty="0" smtClean="0">
                          <a:solidFill>
                            <a:schemeClr val="tx1">
                              <a:lumMod val="75000"/>
                              <a:lumOff val="25000"/>
                            </a:schemeClr>
                          </a:solidFill>
                        </a:rPr>
                        <a:t>dt. copy( )</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复制字典。方法copy( )产生一个真实的拷贝，赋值得到的新字典和原字典不属于共享引用</a:t>
                      </a:r>
                      <a:endParaRPr lang="en-US" altLang="zh-CN" sz="1400" dirty="0" smtClean="0">
                        <a:solidFill>
                          <a:schemeClr val="tx1">
                            <a:lumMod val="75000"/>
                            <a:lumOff val="25000"/>
                          </a:schemeClr>
                        </a:solidFill>
                      </a:endParaRPr>
                    </a:p>
                  </a:txBody>
                  <a:tcPr marL="68580" marR="68580" marT="0" marB="0" anchor="ctr"/>
                </a:tc>
              </a:tr>
              <a:tr h="468243">
                <a:tc>
                  <a:txBody>
                    <a:bodyPr/>
                    <a:lstStyle/>
                    <a:p>
                      <a:pPr algn="ctr" defTabSz="914400">
                        <a:lnSpc>
                          <a:spcPct val="150000"/>
                        </a:lnSpc>
                        <a:buClrTx/>
                        <a:buSzTx/>
                        <a:buFontTx/>
                      </a:pPr>
                      <a:r>
                        <a:rPr lang="en-US" altLang="zh-CN" sz="1400" dirty="0" smtClean="0">
                          <a:solidFill>
                            <a:schemeClr val="tx1">
                              <a:lumMod val="75000"/>
                              <a:lumOff val="25000"/>
                            </a:schemeClr>
                          </a:solidFill>
                        </a:rPr>
                        <a:t>dt1.update(dt2)</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更新或合并字典。用字典dt2里的元素来更新字典dt1里的相同元素，不同的元素添加到字典dt1里，所以，该方法既可以实现更新，也可以实现合并，因此，也可称为合并更新</a:t>
                      </a:r>
                      <a:endParaRPr lang="en-US" altLang="zh-CN" sz="1400" dirty="0" smtClean="0">
                        <a:solidFill>
                          <a:schemeClr val="tx1">
                            <a:lumMod val="75000"/>
                            <a:lumOff val="25000"/>
                          </a:schemeClr>
                        </a:solidFill>
                      </a:endParaRPr>
                    </a:p>
                  </a:txBody>
                  <a:tcPr marL="68580" marR="68580" marT="0" marB="0" anchor="ctr"/>
                </a:tc>
              </a:tr>
              <a:tr h="386580">
                <a:tc>
                  <a:txBody>
                    <a:bodyPr/>
                    <a:lstStyle/>
                    <a:p>
                      <a:pPr algn="ctr" defTabSz="914400">
                        <a:lnSpc>
                          <a:spcPct val="150000"/>
                        </a:lnSpc>
                        <a:buClrTx/>
                        <a:buSzTx/>
                        <a:buFontTx/>
                      </a:pPr>
                      <a:r>
                        <a:rPr lang="en-US" altLang="zh-CN" sz="1400" dirty="0" smtClean="0">
                          <a:solidFill>
                            <a:schemeClr val="tx1">
                              <a:lumMod val="75000"/>
                              <a:lumOff val="25000"/>
                            </a:schemeClr>
                          </a:solidFill>
                        </a:rPr>
                        <a:t>dt. pop(k[,d] )</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弹出键k所对应的值dt[k]，同时删除该键值对&lt;k,dt[k]&gt;。如果键不存在，则返回d, 如果省略d，则会抛出异常“KeyError”</a:t>
                      </a:r>
                      <a:endParaRPr lang="en-US" altLang="zh-CN" sz="1400" dirty="0" smtClean="0">
                        <a:solidFill>
                          <a:schemeClr val="tx1">
                            <a:lumMod val="75000"/>
                            <a:lumOff val="25000"/>
                          </a:schemeClr>
                        </a:solidFill>
                      </a:endParaRPr>
                    </a:p>
                  </a:txBody>
                  <a:tcPr marL="68580" marR="68580" marT="0" marB="0" anchor="ctr"/>
                </a:tc>
              </a:tr>
              <a:tr h="386580">
                <a:tc>
                  <a:txBody>
                    <a:bodyPr/>
                    <a:lstStyle/>
                    <a:p>
                      <a:pPr algn="ctr" defTabSz="914400">
                        <a:lnSpc>
                          <a:spcPct val="150000"/>
                        </a:lnSpc>
                        <a:buClrTx/>
                        <a:buSzTx/>
                        <a:buFontTx/>
                      </a:pPr>
                      <a:r>
                        <a:rPr lang="en-US" altLang="zh-CN" sz="1400" dirty="0" smtClean="0">
                          <a:solidFill>
                            <a:schemeClr val="tx1">
                              <a:lumMod val="75000"/>
                              <a:lumOff val="25000"/>
                            </a:schemeClr>
                          </a:solidFill>
                        </a:rPr>
                        <a:t>dt. popitem ( )</a:t>
                      </a:r>
                      <a:endParaRPr lang="en-US" altLang="zh-CN" sz="1400" dirty="0" smtClean="0">
                        <a:solidFill>
                          <a:schemeClr val="tx1">
                            <a:lumMod val="75000"/>
                            <a:lumOff val="25000"/>
                          </a:schemeClr>
                        </a:solidFill>
                      </a:endParaRPr>
                    </a:p>
                  </a:txBody>
                  <a:tcPr marL="68580" marR="68580" marT="0" marB="0" anchor="ctr"/>
                </a:tc>
                <a:tc>
                  <a:txBody>
                    <a:bodyPr/>
                    <a:lstStyle/>
                    <a:p>
                      <a:pPr algn="ctr" defTabSz="914400">
                        <a:lnSpc>
                          <a:spcPct val="150000"/>
                        </a:lnSpc>
                        <a:buClrTx/>
                        <a:buSzTx/>
                        <a:buFontTx/>
                      </a:pPr>
                      <a:r>
                        <a:rPr lang="en-US" altLang="zh-CN" sz="1400" dirty="0" smtClean="0">
                          <a:solidFill>
                            <a:schemeClr val="tx1">
                              <a:lumMod val="75000"/>
                              <a:lumOff val="25000"/>
                            </a:schemeClr>
                          </a:solidFill>
                        </a:rPr>
                        <a:t>弹出键值对。popitem( )方法是不带参数的，一次弹出一个键值对，并且键值对是以元组的形式呈现，多次调用该方法后字典变成了空{}</a:t>
                      </a:r>
                      <a:endParaRPr lang="en-US" altLang="zh-CN" sz="1400" dirty="0" smtClean="0">
                        <a:solidFill>
                          <a:schemeClr val="tx1">
                            <a:lumMod val="75000"/>
                            <a:lumOff val="25000"/>
                          </a:schemeClr>
                        </a:solidFill>
                      </a:endParaRPr>
                    </a:p>
                  </a:txBody>
                  <a:tcPr marL="68580" marR="68580" marT="0" marB="0"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zh-CN" dirty="0">
                <a:solidFill>
                  <a:schemeClr val="tx1">
                    <a:lumMod val="75000"/>
                    <a:lumOff val="25000"/>
                  </a:schemeClr>
                </a:solidFill>
              </a:rPr>
              <a:t>get()方法的使用</a:t>
            </a:r>
            <a:endParaRPr lang="zh-CN" altLang="en-US" dirty="0"/>
          </a:p>
        </p:txBody>
      </p:sp>
      <p:sp>
        <p:nvSpPr>
          <p:cNvPr id="5" name="文本框 4"/>
          <p:cNvSpPr txBox="1"/>
          <p:nvPr/>
        </p:nvSpPr>
        <p:spPr>
          <a:xfrm>
            <a:off x="954652" y="2369863"/>
            <a:ext cx="7569077" cy="3378104"/>
          </a:xfrm>
          <a:prstGeom prst="rect">
            <a:avLst/>
          </a:prstGeom>
          <a:noFill/>
        </p:spPr>
        <p:txBody>
          <a:bodyPr wrap="square" rtlCol="0">
            <a:spAutoFit/>
          </a:bodyPr>
          <a:lstStyle/>
          <a:p>
            <a:pPr>
              <a:lnSpc>
                <a:spcPct val="150000"/>
              </a:lnSpc>
            </a:pPr>
            <a:r>
              <a:rPr lang="zh-CN" altLang="zh-CN" sz="1600" dirty="0" smtClean="0">
                <a:solidFill>
                  <a:schemeClr val="tx1">
                    <a:lumMod val="75000"/>
                    <a:lumOff val="25000"/>
                  </a:schemeClr>
                </a:solidFill>
              </a:rPr>
              <a:t>&gt; </a:t>
            </a:r>
            <a:r>
              <a:rPr lang="zh-CN" altLang="zh-CN" sz="1600" dirty="0">
                <a:solidFill>
                  <a:schemeClr val="tx1">
                    <a:lumMod val="75000"/>
                    <a:lumOff val="25000"/>
                  </a:schemeClr>
                </a:solidFill>
              </a:rPr>
              <a:t>book = {'title':'Python入门经典', 'author':'云创', 'price':59.90}</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y = book.get('title')   #通过get()方法来进行访问</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y</a:t>
            </a:r>
            <a:endParaRPr lang="zh-CN" altLang="zh-CN" sz="1600" dirty="0">
              <a:solidFill>
                <a:schemeClr val="tx1">
                  <a:lumMod val="75000"/>
                  <a:lumOff val="25000"/>
                </a:schemeClr>
              </a:solidFill>
            </a:endParaRP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w = book.get('Title')   #通过get()方法进行访问的好处是不抛出异常</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print(w)</a:t>
            </a:r>
            <a:endParaRPr lang="zh-CN" altLang="zh-CN" sz="1600" dirty="0">
              <a:solidFill>
                <a:schemeClr val="tx1">
                  <a:lumMod val="75000"/>
                  <a:lumOff val="25000"/>
                </a:schemeClr>
              </a:solidFill>
            </a:endParaRPr>
          </a:p>
          <a:p>
            <a:pPr>
              <a:lnSpc>
                <a:spcPct val="150000"/>
              </a:lnSpc>
            </a:pP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q = book.get('Title', '未找到！')   #使用get()方法进行访问还可以给出提示文本信息</a:t>
            </a:r>
            <a:endParaRPr lang="zh-CN" altLang="zh-CN" sz="1600" dirty="0">
              <a:solidFill>
                <a:schemeClr val="tx1">
                  <a:lumMod val="75000"/>
                  <a:lumOff val="25000"/>
                </a:schemeClr>
              </a:solidFill>
            </a:endParaRPr>
          </a:p>
          <a:p>
            <a:pPr>
              <a:lnSpc>
                <a:spcPct val="150000"/>
              </a:lnSpc>
            </a:pPr>
            <a:r>
              <a:rPr lang="zh-CN" altLang="zh-CN" sz="1600" dirty="0">
                <a:solidFill>
                  <a:schemeClr val="tx1">
                    <a:lumMod val="75000"/>
                    <a:lumOff val="25000"/>
                  </a:schemeClr>
                </a:solidFill>
              </a:rPr>
              <a:t>&gt; q</a:t>
            </a:r>
            <a:endParaRPr lang="zh-CN" altLang="zh-CN" sz="1600" dirty="0">
              <a:solidFill>
                <a:schemeClr val="tx1">
                  <a:lumMod val="75000"/>
                  <a:lumOff val="25000"/>
                </a:schemeClr>
              </a:solidFill>
            </a:endParaRPr>
          </a:p>
        </p:txBody>
      </p:sp>
      <p:pic>
        <p:nvPicPr>
          <p:cNvPr id="6" name="图片 5"/>
          <p:cNvPicPr/>
          <p:nvPr/>
        </p:nvPicPr>
        <p:blipFill>
          <a:blip r:embed="rId1" cstate="print"/>
          <a:srcRect/>
          <a:stretch>
            <a:fillRect/>
          </a:stretch>
        </p:blipFill>
        <p:spPr bwMode="auto">
          <a:xfrm>
            <a:off x="1268998" y="3550991"/>
            <a:ext cx="2578355" cy="349247"/>
          </a:xfrm>
          <a:prstGeom prst="rect">
            <a:avLst/>
          </a:prstGeom>
          <a:noFill/>
          <a:ln w="9525">
            <a:noFill/>
            <a:miter lim="800000"/>
            <a:headEnd/>
            <a:tailEnd/>
          </a:ln>
        </p:spPr>
      </p:pic>
      <p:pic>
        <p:nvPicPr>
          <p:cNvPr id="7" name="图片 6"/>
          <p:cNvPicPr/>
          <p:nvPr/>
        </p:nvPicPr>
        <p:blipFill>
          <a:blip r:embed="rId2" cstate="print"/>
          <a:srcRect/>
          <a:stretch>
            <a:fillRect/>
          </a:stretch>
        </p:blipFill>
        <p:spPr bwMode="auto">
          <a:xfrm>
            <a:off x="1266457" y="4684449"/>
            <a:ext cx="885984" cy="370924"/>
          </a:xfrm>
          <a:prstGeom prst="rect">
            <a:avLst/>
          </a:prstGeom>
          <a:noFill/>
          <a:ln w="9525">
            <a:noFill/>
            <a:miter lim="800000"/>
            <a:headEnd/>
            <a:tailEnd/>
          </a:ln>
        </p:spPr>
      </p:pic>
      <p:pic>
        <p:nvPicPr>
          <p:cNvPr id="9" name="图片 8"/>
          <p:cNvPicPr/>
          <p:nvPr/>
        </p:nvPicPr>
        <p:blipFill>
          <a:blip r:embed="rId3" cstate="print"/>
          <a:srcRect/>
          <a:stretch>
            <a:fillRect/>
          </a:stretch>
        </p:blipFill>
        <p:spPr bwMode="auto">
          <a:xfrm>
            <a:off x="1266457" y="5747967"/>
            <a:ext cx="1160861" cy="428996"/>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zh-CN" dirty="0">
                <a:solidFill>
                  <a:schemeClr val="tx1">
                    <a:lumMod val="75000"/>
                    <a:lumOff val="25000"/>
                  </a:schemeClr>
                </a:solidFill>
              </a:rPr>
              <a:t>get()方法的使用</a:t>
            </a:r>
            <a:endParaRPr lang="zh-CN" altLang="en-US" dirty="0"/>
          </a:p>
        </p:txBody>
      </p:sp>
      <p:sp>
        <p:nvSpPr>
          <p:cNvPr id="8" name="文本框 7"/>
          <p:cNvSpPr txBox="1"/>
          <p:nvPr/>
        </p:nvSpPr>
        <p:spPr>
          <a:xfrm>
            <a:off x="1059354" y="2176241"/>
            <a:ext cx="10294446" cy="4154984"/>
          </a:xfrm>
          <a:prstGeom prst="rect">
            <a:avLst/>
          </a:prstGeom>
          <a:noFill/>
        </p:spPr>
        <p:txBody>
          <a:bodyPr wrap="square" rtlCol="0">
            <a:spAutoFit/>
          </a:bodyPr>
          <a:lstStyle/>
          <a:p>
            <a:pPr>
              <a:lnSpc>
                <a:spcPct val="150000"/>
              </a:lnSpc>
            </a:pPr>
            <a:r>
              <a:rPr lang="en-US" altLang="zh-CN" sz="1600" dirty="0" smtClean="0">
                <a:solidFill>
                  <a:schemeClr val="tx1">
                    <a:lumMod val="75000"/>
                    <a:lumOff val="25000"/>
                  </a:schemeClr>
                </a:solidFill>
              </a:rPr>
              <a:t>&gt; </a:t>
            </a:r>
            <a:r>
              <a:rPr lang="zh-CN" altLang="zh-CN" sz="1600" dirty="0" smtClean="0">
                <a:solidFill>
                  <a:schemeClr val="tx1">
                    <a:lumMod val="75000"/>
                    <a:lumOff val="25000"/>
                  </a:schemeClr>
                </a:solidFill>
              </a:rPr>
              <a:t>book['Title']</a:t>
            </a:r>
            <a:endParaRPr lang="en-US" altLang="zh-CN" sz="1600" dirty="0" smtClean="0">
              <a:solidFill>
                <a:schemeClr val="tx1">
                  <a:lumMod val="75000"/>
                  <a:lumOff val="25000"/>
                </a:schemeClr>
              </a:solidFill>
            </a:endParaRPr>
          </a:p>
          <a:p>
            <a:pPr marL="285750" indent="-285750">
              <a:lnSpc>
                <a:spcPct val="150000"/>
              </a:lnSpc>
              <a:buFont typeface="Wingdings" panose="05000000000000000000" pitchFamily="2" charset="2"/>
              <a:buChar char="Ø"/>
            </a:pPr>
            <a:endParaRPr lang="en-US" altLang="zh-CN" sz="1600" dirty="0">
              <a:solidFill>
                <a:schemeClr val="tx1">
                  <a:lumMod val="75000"/>
                  <a:lumOff val="25000"/>
                </a:schemeClr>
              </a:solidFill>
            </a:endParaRPr>
          </a:p>
          <a:p>
            <a:pPr marL="285750" indent="-285750">
              <a:lnSpc>
                <a:spcPct val="150000"/>
              </a:lnSpc>
              <a:buFont typeface="Wingdings" panose="05000000000000000000" pitchFamily="2" charset="2"/>
              <a:buChar char="Ø"/>
            </a:pPr>
            <a:endParaRPr lang="en-US" altLang="zh-CN" sz="1600" dirty="0" smtClean="0">
              <a:solidFill>
                <a:schemeClr val="tx1">
                  <a:lumMod val="75000"/>
                  <a:lumOff val="25000"/>
                </a:schemeClr>
              </a:solidFill>
            </a:endParaRPr>
          </a:p>
          <a:p>
            <a:pPr marL="285750" indent="-285750">
              <a:lnSpc>
                <a:spcPct val="150000"/>
              </a:lnSpc>
              <a:buFont typeface="Wingdings" panose="05000000000000000000" pitchFamily="2" charset="2"/>
              <a:buChar char="Ø"/>
            </a:pPr>
            <a:endParaRPr lang="en-US" altLang="zh-CN" sz="1600" dirty="0">
              <a:solidFill>
                <a:schemeClr val="tx1">
                  <a:lumMod val="75000"/>
                  <a:lumOff val="25000"/>
                </a:schemeClr>
              </a:solidFill>
            </a:endParaRPr>
          </a:p>
          <a:p>
            <a:pPr marL="285750" indent="-285750">
              <a:lnSpc>
                <a:spcPct val="150000"/>
              </a:lnSpc>
              <a:buFont typeface="Wingdings" panose="05000000000000000000" pitchFamily="2" charset="2"/>
              <a:buChar char="Ø"/>
            </a:pPr>
            <a:endParaRPr lang="en-US" altLang="zh-CN" sz="1600" dirty="0" smtClean="0">
              <a:solidFill>
                <a:schemeClr val="tx1">
                  <a:lumMod val="75000"/>
                  <a:lumOff val="25000"/>
                </a:schemeClr>
              </a:solidFill>
            </a:endParaRPr>
          </a:p>
          <a:p>
            <a:pPr algn="l">
              <a:lnSpc>
                <a:spcPct val="150000"/>
              </a:lnSpc>
              <a:buClrTx/>
              <a:buSzTx/>
              <a:buNone/>
            </a:pPr>
            <a:r>
              <a:rPr lang="zh-CN" altLang="zh-CN" sz="1600" dirty="0" smtClean="0">
                <a:solidFill>
                  <a:schemeClr val="tx1">
                    <a:lumMod val="75000"/>
                    <a:lumOff val="25000"/>
                  </a:schemeClr>
                </a:solidFill>
              </a:rPr>
              <a:t>通过</a:t>
            </a:r>
            <a:r>
              <a:rPr lang="zh-CN" altLang="zh-CN" sz="1600" dirty="0">
                <a:solidFill>
                  <a:schemeClr val="tx1">
                    <a:lumMod val="75000"/>
                    <a:lumOff val="25000"/>
                  </a:schemeClr>
                </a:solidFill>
              </a:rPr>
              <a:t>get()方法访问字典元素的方式与中括号的访问方式的区别是：即使访问的键不存在，它也不会抛出异常。而是返回一个“None”，如果说返回“None”不能满足你的要求，比如在做网页或者实际开发时如果说没有得到想要的信息的话，可以返回提示信息。如</a:t>
            </a:r>
            <a:r>
              <a:rPr lang="zh-CN" altLang="zh-CN" sz="1600" dirty="0" smtClean="0">
                <a:solidFill>
                  <a:schemeClr val="tx1">
                    <a:lumMod val="75000"/>
                    <a:lumOff val="25000"/>
                  </a:schemeClr>
                </a:solidFill>
              </a:rPr>
              <a:t>：</a:t>
            </a:r>
            <a:endParaRPr lang="en-US" altLang="zh-CN" sz="1600" dirty="0" smtClean="0">
              <a:solidFill>
                <a:schemeClr val="tx1">
                  <a:lumMod val="75000"/>
                  <a:lumOff val="25000"/>
                </a:schemeClr>
              </a:solidFill>
            </a:endParaRPr>
          </a:p>
          <a:p>
            <a:pPr>
              <a:lnSpc>
                <a:spcPct val="150000"/>
              </a:lnSpc>
            </a:pPr>
            <a:r>
              <a:rPr lang="en-US" altLang="zh-CN" sz="1600" dirty="0" smtClean="0">
                <a:solidFill>
                  <a:schemeClr val="tx1">
                    <a:lumMod val="75000"/>
                    <a:lumOff val="25000"/>
                  </a:schemeClr>
                </a:solidFill>
              </a:rPr>
              <a:t>&gt; </a:t>
            </a:r>
            <a:r>
              <a:rPr lang="zh-CN" altLang="zh-CN" sz="1600" dirty="0" smtClean="0">
                <a:solidFill>
                  <a:schemeClr val="tx1">
                    <a:lumMod val="75000"/>
                    <a:lumOff val="25000"/>
                  </a:schemeClr>
                </a:solidFill>
              </a:rPr>
              <a:t>book</a:t>
            </a:r>
            <a:r>
              <a:rPr lang="zh-CN" altLang="zh-CN" sz="1600" dirty="0">
                <a:solidFill>
                  <a:schemeClr val="tx1">
                    <a:lumMod val="75000"/>
                    <a:lumOff val="25000"/>
                  </a:schemeClr>
                </a:solidFill>
              </a:rPr>
              <a:t>.get('Title', '未找到!')</a:t>
            </a:r>
            <a:endParaRPr lang="zh-CN" altLang="zh-CN" sz="1600" dirty="0">
              <a:solidFill>
                <a:schemeClr val="tx1">
                  <a:lumMod val="75000"/>
                  <a:lumOff val="25000"/>
                </a:schemeClr>
              </a:solidFill>
            </a:endParaRPr>
          </a:p>
          <a:p>
            <a:pPr algn="l">
              <a:lnSpc>
                <a:spcPct val="150000"/>
              </a:lnSpc>
              <a:buClrTx/>
              <a:buSzTx/>
              <a:buNone/>
            </a:pPr>
            <a:r>
              <a:rPr lang="zh-CN" altLang="zh-CN" sz="1600" dirty="0" smtClean="0">
                <a:solidFill>
                  <a:schemeClr val="tx1">
                    <a:lumMod val="75000"/>
                    <a:lumOff val="25000"/>
                  </a:schemeClr>
                </a:solidFill>
              </a:rPr>
              <a:t>这里</a:t>
            </a:r>
            <a:r>
              <a:rPr lang="zh-CN" altLang="zh-CN" sz="1600" dirty="0">
                <a:solidFill>
                  <a:schemeClr val="tx1">
                    <a:lumMod val="75000"/>
                    <a:lumOff val="25000"/>
                  </a:schemeClr>
                </a:solidFill>
              </a:rPr>
              <a:t>，后一项“未找到”为方法“get”未能成功获取时返回的一个默认值（字符串），这样可能更能满足实际开发时的需求。</a:t>
            </a:r>
            <a:endParaRPr lang="zh-CN" altLang="zh-CN" sz="1600" dirty="0">
              <a:solidFill>
                <a:schemeClr val="tx1">
                  <a:lumMod val="75000"/>
                  <a:lumOff val="25000"/>
                </a:schemeClr>
              </a:solidFill>
            </a:endParaRPr>
          </a:p>
        </p:txBody>
      </p:sp>
      <p:pic>
        <p:nvPicPr>
          <p:cNvPr id="10" name="图片 9"/>
          <p:cNvPicPr/>
          <p:nvPr/>
        </p:nvPicPr>
        <p:blipFill>
          <a:blip r:embed="rId1" cstate="print"/>
          <a:srcRect/>
          <a:stretch>
            <a:fillRect/>
          </a:stretch>
        </p:blipFill>
        <p:spPr bwMode="auto">
          <a:xfrm>
            <a:off x="1396350" y="2570564"/>
            <a:ext cx="3602991" cy="135133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tx1">
                    <a:lumMod val="75000"/>
                    <a:lumOff val="25000"/>
                  </a:schemeClr>
                </a:solidFill>
              </a:rPr>
              <a:t>获取所有键：字典名</a:t>
            </a:r>
            <a:r>
              <a:rPr lang="en-US" altLang="zh-CN" dirty="0">
                <a:solidFill>
                  <a:schemeClr val="tx1">
                    <a:lumMod val="75000"/>
                    <a:lumOff val="25000"/>
                  </a:schemeClr>
                </a:solidFill>
              </a:rPr>
              <a:t>.keys()</a:t>
            </a:r>
            <a:endParaRPr lang="en-US" altLang="zh-CN" dirty="0">
              <a:solidFill>
                <a:schemeClr val="tx1">
                  <a:lumMod val="75000"/>
                  <a:lumOff val="25000"/>
                </a:schemeClr>
              </a:solidFill>
            </a:endParaRPr>
          </a:p>
        </p:txBody>
      </p:sp>
      <p:sp>
        <p:nvSpPr>
          <p:cNvPr id="6" name="文本框 5"/>
          <p:cNvSpPr txBox="1"/>
          <p:nvPr/>
        </p:nvSpPr>
        <p:spPr>
          <a:xfrm>
            <a:off x="996534" y="2134359"/>
            <a:ext cx="10357266" cy="3046988"/>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rPr>
              <a:t>当</a:t>
            </a:r>
            <a:r>
              <a:rPr lang="zh-CN" altLang="zh-CN" sz="1600" dirty="0">
                <a:solidFill>
                  <a:schemeClr val="tx1">
                    <a:lumMod val="75000"/>
                    <a:lumOff val="25000"/>
                  </a:schemeClr>
                </a:solidFill>
              </a:rPr>
              <a:t>访问元素的时候，不管是用中括号还是get()方法，它总是根据给定的一个键得到相对应的一个值，而通过方法“.keys()”来得到所有的键，但请注意，返回的类型是一个视图，跟列表很像，但不是列表。但可以将获得的视图转换成列表。</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book = {'title':'Python入门经典', 'author':'云创', 'price':59.90}</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keys = book.keys()   #得到字典表的所有键的信息，但返回的是一个视图，不是一个列表</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keys</a:t>
            </a:r>
            <a:endParaRPr lang="zh-CN" altLang="zh-CN" sz="1600" dirty="0">
              <a:solidFill>
                <a:schemeClr val="tx1">
                  <a:lumMod val="75000"/>
                  <a:lumOff val="25000"/>
                </a:schemeClr>
              </a:solidFill>
            </a:endParaRPr>
          </a:p>
          <a:p>
            <a:pPr algn="l">
              <a:lnSpc>
                <a:spcPct val="150000"/>
              </a:lnSpc>
              <a:buClrTx/>
              <a:buSzTx/>
              <a:buNone/>
            </a:pP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type(keys)</a:t>
            </a:r>
            <a:endParaRPr lang="zh-CN" altLang="zh-CN" sz="1600" dirty="0">
              <a:solidFill>
                <a:schemeClr val="tx1">
                  <a:lumMod val="75000"/>
                  <a:lumOff val="25000"/>
                </a:schemeClr>
              </a:solidFill>
            </a:endParaRPr>
          </a:p>
        </p:txBody>
      </p:sp>
      <p:pic>
        <p:nvPicPr>
          <p:cNvPr id="7" name="图片 6"/>
          <p:cNvPicPr/>
          <p:nvPr/>
        </p:nvPicPr>
        <p:blipFill>
          <a:blip r:embed="rId1" cstate="print"/>
          <a:srcRect/>
          <a:stretch>
            <a:fillRect/>
          </a:stretch>
        </p:blipFill>
        <p:spPr bwMode="auto">
          <a:xfrm>
            <a:off x="1214541" y="4383343"/>
            <a:ext cx="3390784" cy="354831"/>
          </a:xfrm>
          <a:prstGeom prst="rect">
            <a:avLst/>
          </a:prstGeom>
          <a:noFill/>
          <a:ln w="9525">
            <a:noFill/>
            <a:miter lim="800000"/>
            <a:headEnd/>
            <a:tailEnd/>
          </a:ln>
        </p:spPr>
      </p:pic>
      <p:pic>
        <p:nvPicPr>
          <p:cNvPr id="9" name="图片 8"/>
          <p:cNvPicPr/>
          <p:nvPr/>
        </p:nvPicPr>
        <p:blipFill>
          <a:blip r:embed="rId2" cstate="print"/>
          <a:srcRect/>
          <a:stretch>
            <a:fillRect/>
          </a:stretch>
        </p:blipFill>
        <p:spPr bwMode="auto">
          <a:xfrm>
            <a:off x="1214541" y="5185972"/>
            <a:ext cx="2332455" cy="342597"/>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ym typeface="+mn-ea"/>
              </a:rPr>
              <a:t>主要方法</a:t>
            </a:r>
            <a:endParaRPr lang="zh-CN" altLang="en-US"/>
          </a:p>
        </p:txBody>
      </p:sp>
      <p:sp>
        <p:nvSpPr>
          <p:cNvPr id="3" name="内容占位符 2"/>
          <p:cNvSpPr>
            <a:spLocks noGrp="1"/>
          </p:cNvSpPr>
          <p:nvPr>
            <p:ph idx="1"/>
          </p:nvPr>
        </p:nvSpPr>
        <p:spPr/>
        <p:txBody>
          <a:bodyPr>
            <a:normAutofit fontScale="80000"/>
          </a:bodyPr>
          <a:p>
            <a:r>
              <a:rPr lang="zh-CN" altLang="en-US"/>
              <a:t>视图</a:t>
            </a:r>
            <a:endParaRPr lang="zh-CN" altLang="en-US"/>
          </a:p>
          <a:p>
            <a:pPr algn="l">
              <a:lnSpc>
                <a:spcPct val="150000"/>
              </a:lnSpc>
              <a:buClrTx/>
              <a:buSzTx/>
              <a:buNone/>
            </a:pPr>
            <a:r>
              <a:rPr lang="zh-CN" altLang="zh-CN" sz="2400" dirty="0">
                <a:solidFill>
                  <a:schemeClr val="tx1">
                    <a:lumMod val="75000"/>
                    <a:lumOff val="25000"/>
                  </a:schemeClr>
                </a:solidFill>
                <a:sym typeface="+mn-ea"/>
              </a:rPr>
              <a:t>&gt; book = {'title':'Python入门经典', 'author':'云创', 'price':59.90}</a:t>
            </a:r>
            <a:endParaRPr lang="zh-CN" altLang="zh-CN" sz="2400" dirty="0">
              <a:solidFill>
                <a:schemeClr val="tx1">
                  <a:lumMod val="75000"/>
                  <a:lumOff val="25000"/>
                </a:schemeClr>
              </a:solidFill>
            </a:endParaRPr>
          </a:p>
          <a:p>
            <a:pPr algn="l">
              <a:lnSpc>
                <a:spcPct val="150000"/>
              </a:lnSpc>
              <a:buClrTx/>
              <a:buSzTx/>
              <a:buNone/>
            </a:pPr>
            <a:r>
              <a:rPr lang="zh-CN" altLang="zh-CN" sz="2400" dirty="0">
                <a:solidFill>
                  <a:schemeClr val="tx1">
                    <a:lumMod val="75000"/>
                    <a:lumOff val="25000"/>
                  </a:schemeClr>
                </a:solidFill>
                <a:sym typeface="+mn-ea"/>
              </a:rPr>
              <a:t>&gt; keys = book.keys()  </a:t>
            </a:r>
            <a:endParaRPr lang="zh-CN" altLang="zh-CN" sz="2400" dirty="0">
              <a:solidFill>
                <a:schemeClr val="tx1">
                  <a:lumMod val="75000"/>
                  <a:lumOff val="25000"/>
                </a:schemeClr>
              </a:solidFill>
              <a:sym typeface="+mn-ea"/>
            </a:endParaRPr>
          </a:p>
          <a:p>
            <a:pPr algn="l">
              <a:lnSpc>
                <a:spcPct val="150000"/>
              </a:lnSpc>
              <a:buClrTx/>
              <a:buSzTx/>
              <a:buNone/>
            </a:pPr>
            <a:r>
              <a:rPr lang="zh-CN" altLang="zh-CN" sz="2400" dirty="0">
                <a:solidFill>
                  <a:schemeClr val="tx1">
                    <a:lumMod val="75000"/>
                    <a:lumOff val="25000"/>
                  </a:schemeClr>
                </a:solidFill>
                <a:sym typeface="+mn-ea"/>
              </a:rPr>
              <a:t>&gt; keys</a:t>
            </a:r>
            <a:r>
              <a:rPr lang="en-US" altLang="zh-CN" sz="2400" dirty="0">
                <a:solidFill>
                  <a:schemeClr val="tx1">
                    <a:lumMod val="75000"/>
                    <a:lumOff val="25000"/>
                  </a:schemeClr>
                </a:solidFill>
                <a:sym typeface="+mn-ea"/>
              </a:rPr>
              <a:t>[0]</a:t>
            </a:r>
            <a:endParaRPr lang="zh-CN" altLang="zh-CN" sz="2400" dirty="0">
              <a:solidFill>
                <a:schemeClr val="tx1">
                  <a:lumMod val="75000"/>
                  <a:lumOff val="25000"/>
                </a:schemeClr>
              </a:solidFill>
            </a:endParaRPr>
          </a:p>
          <a:p>
            <a:pPr algn="l">
              <a:lnSpc>
                <a:spcPct val="150000"/>
              </a:lnSpc>
              <a:buClrTx/>
              <a:buSzTx/>
              <a:buNone/>
            </a:pPr>
            <a:endParaRPr lang="zh-CN" altLang="zh-CN" sz="2400" dirty="0">
              <a:solidFill>
                <a:schemeClr val="tx1">
                  <a:lumMod val="75000"/>
                  <a:lumOff val="25000"/>
                </a:schemeClr>
              </a:solidFill>
            </a:endParaRPr>
          </a:p>
          <a:p>
            <a:pPr algn="l">
              <a:lnSpc>
                <a:spcPct val="150000"/>
              </a:lnSpc>
              <a:buClrTx/>
              <a:buSzTx/>
              <a:buNone/>
            </a:pPr>
            <a:r>
              <a:rPr lang="zh-CN" altLang="zh-CN" sz="2400" dirty="0">
                <a:solidFill>
                  <a:schemeClr val="tx1">
                    <a:lumMod val="75000"/>
                    <a:lumOff val="25000"/>
                  </a:schemeClr>
                </a:solidFill>
                <a:sym typeface="+mn-ea"/>
              </a:rPr>
              <a:t>&gt;book['pages']=100</a:t>
            </a:r>
            <a:endParaRPr lang="zh-CN" altLang="zh-CN" sz="2400" dirty="0">
              <a:solidFill>
                <a:schemeClr val="tx1">
                  <a:lumMod val="75000"/>
                  <a:lumOff val="25000"/>
                </a:schemeClr>
              </a:solidFill>
              <a:sym typeface="+mn-ea"/>
            </a:endParaRPr>
          </a:p>
          <a:p>
            <a:pPr algn="l">
              <a:lnSpc>
                <a:spcPct val="150000"/>
              </a:lnSpc>
              <a:buClrTx/>
              <a:buSzTx/>
              <a:buNone/>
            </a:pPr>
            <a:r>
              <a:rPr lang="zh-CN" altLang="zh-CN" sz="2400" dirty="0">
                <a:solidFill>
                  <a:schemeClr val="tx1">
                    <a:lumMod val="75000"/>
                    <a:lumOff val="25000"/>
                  </a:schemeClr>
                </a:solidFill>
                <a:sym typeface="+mn-ea"/>
              </a:rPr>
              <a:t>&gt;</a:t>
            </a:r>
            <a:r>
              <a:rPr lang="zh-CN" altLang="zh-CN" sz="2400" dirty="0">
                <a:solidFill>
                  <a:schemeClr val="tx1">
                    <a:lumMod val="75000"/>
                    <a:lumOff val="25000"/>
                  </a:schemeClr>
                </a:solidFill>
                <a:sym typeface="+mn-ea"/>
              </a:rPr>
              <a:t>print(keys)</a:t>
            </a:r>
            <a:endParaRPr lang="zh-CN" altLang="zh-CN" sz="2400" dirty="0">
              <a:solidFill>
                <a:schemeClr val="tx1">
                  <a:lumMod val="75000"/>
                  <a:lumOff val="25000"/>
                </a:schemeClr>
              </a:solidFill>
              <a:sym typeface="+mn-ea"/>
            </a:endParaRPr>
          </a:p>
          <a:p>
            <a:pPr algn="l">
              <a:lnSpc>
                <a:spcPct val="150000"/>
              </a:lnSpc>
              <a:buClrTx/>
              <a:buSzTx/>
              <a:buNone/>
            </a:pPr>
            <a:r>
              <a:rPr lang="zh-CN" altLang="zh-CN" sz="2400" dirty="0">
                <a:solidFill>
                  <a:schemeClr val="tx1">
                    <a:lumMod val="75000"/>
                    <a:lumOff val="25000"/>
                  </a:schemeClr>
                </a:solidFill>
                <a:sym typeface="+mn-ea"/>
              </a:rPr>
              <a:t>&gt;</a:t>
            </a:r>
            <a:r>
              <a:rPr lang="zh-CN" altLang="zh-CN" sz="2400" dirty="0">
                <a:solidFill>
                  <a:schemeClr val="tx1">
                    <a:lumMod val="75000"/>
                    <a:lumOff val="25000"/>
                  </a:schemeClr>
                </a:solidFill>
                <a:sym typeface="+mn-ea"/>
              </a:rPr>
              <a:t>keylist=list(keys)</a:t>
            </a:r>
            <a:endParaRPr lang="zh-CN" altLang="zh-CN" sz="2400" dirty="0">
              <a:solidFill>
                <a:schemeClr val="tx1">
                  <a:lumMod val="75000"/>
                  <a:lumOff val="25000"/>
                </a:schemeClr>
              </a:solidFill>
              <a:sym typeface="+mn-ea"/>
            </a:endParaRPr>
          </a:p>
          <a:p>
            <a:pPr lvl="1"/>
            <a:endParaRPr lang="zh-CN" altLang="en-US"/>
          </a:p>
        </p:txBody>
      </p:sp>
      <p:graphicFrame>
        <p:nvGraphicFramePr>
          <p:cNvPr id="4" name="对象 3"/>
          <p:cNvGraphicFramePr/>
          <p:nvPr/>
        </p:nvGraphicFramePr>
        <p:xfrm>
          <a:off x="1081405" y="3898900"/>
          <a:ext cx="3820795" cy="703580"/>
        </p:xfrm>
        <a:graphic>
          <a:graphicData uri="http://schemas.openxmlformats.org/presentationml/2006/ole">
            <mc:AlternateContent xmlns:mc="http://schemas.openxmlformats.org/markup-compatibility/2006">
              <mc:Choice xmlns:v="urn:schemas-microsoft-com:vml" Requires="v">
                <p:oleObj spid="_x0000_s5" name="" r:id="rId1" imgW="3817620" imgH="541020" progId="Paint.Picture">
                  <p:embed/>
                </p:oleObj>
              </mc:Choice>
              <mc:Fallback>
                <p:oleObj name="" r:id="rId1" imgW="3817620" imgH="541020" progId="Paint.Picture">
                  <p:embed/>
                  <p:pic>
                    <p:nvPicPr>
                      <p:cNvPr id="0" name="图片 4"/>
                      <p:cNvPicPr/>
                      <p:nvPr/>
                    </p:nvPicPr>
                    <p:blipFill>
                      <a:blip r:embed="rId2"/>
                      <a:stretch>
                        <a:fillRect/>
                      </a:stretch>
                    </p:blipFill>
                    <p:spPr>
                      <a:xfrm>
                        <a:off x="1081405" y="3898900"/>
                        <a:ext cx="3820795" cy="703580"/>
                      </a:xfrm>
                      <a:prstGeom prst="rect">
                        <a:avLst/>
                      </a:prstGeom>
                    </p:spPr>
                  </p:pic>
                </p:oleObj>
              </mc:Fallback>
            </mc:AlternateContent>
          </a:graphicData>
        </a:graphic>
      </p:graphicFrame>
      <p:graphicFrame>
        <p:nvGraphicFramePr>
          <p:cNvPr id="6" name="对象 5"/>
          <p:cNvGraphicFramePr/>
          <p:nvPr/>
        </p:nvGraphicFramePr>
        <p:xfrm>
          <a:off x="1081405" y="5543550"/>
          <a:ext cx="3347720" cy="258445"/>
        </p:xfrm>
        <a:graphic>
          <a:graphicData uri="http://schemas.openxmlformats.org/presentationml/2006/ole">
            <mc:AlternateContent xmlns:mc="http://schemas.openxmlformats.org/markup-compatibility/2006">
              <mc:Choice xmlns:v="urn:schemas-microsoft-com:vml" Requires="v">
                <p:oleObj spid="_x0000_s7" name="" r:id="rId3" imgW="3345180" imgH="137160" progId="Paint.Picture">
                  <p:embed/>
                </p:oleObj>
              </mc:Choice>
              <mc:Fallback>
                <p:oleObj name="" r:id="rId3" imgW="3345180" imgH="137160" progId="Paint.Picture">
                  <p:embed/>
                  <p:pic>
                    <p:nvPicPr>
                      <p:cNvPr id="0" name="图片 6"/>
                      <p:cNvPicPr/>
                      <p:nvPr/>
                    </p:nvPicPr>
                    <p:blipFill>
                      <a:blip r:embed="rId4"/>
                      <a:stretch>
                        <a:fillRect/>
                      </a:stretch>
                    </p:blipFill>
                    <p:spPr>
                      <a:xfrm>
                        <a:off x="1081405" y="5543550"/>
                        <a:ext cx="3347720" cy="258445"/>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tx1">
                    <a:lumMod val="75000"/>
                    <a:lumOff val="25000"/>
                  </a:schemeClr>
                </a:solidFill>
              </a:rPr>
              <a:t>获取所有键：字典名</a:t>
            </a:r>
            <a:r>
              <a:rPr lang="en-US" altLang="zh-CN" dirty="0">
                <a:solidFill>
                  <a:schemeClr val="tx1">
                    <a:lumMod val="75000"/>
                    <a:lumOff val="25000"/>
                  </a:schemeClr>
                </a:solidFill>
              </a:rPr>
              <a:t>.keys()</a:t>
            </a:r>
            <a:endParaRPr lang="en-US" altLang="zh-CN" dirty="0">
              <a:solidFill>
                <a:schemeClr val="tx1">
                  <a:lumMod val="75000"/>
                  <a:lumOff val="25000"/>
                </a:schemeClr>
              </a:solidFill>
            </a:endParaRPr>
          </a:p>
        </p:txBody>
      </p:sp>
      <p:sp>
        <p:nvSpPr>
          <p:cNvPr id="8" name="文本框 7"/>
          <p:cNvSpPr txBox="1"/>
          <p:nvPr/>
        </p:nvSpPr>
        <p:spPr>
          <a:xfrm>
            <a:off x="1075095" y="2262171"/>
            <a:ext cx="8393370" cy="1200329"/>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rPr>
              <a:t>如果只是希望循环打印它的结果，那不用转换成列表而直接用fon-in遍历循环就能达成目标。</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for key in book.keys():   #如果只是遍历就不需要转换成列表</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         print(key)</a:t>
            </a:r>
            <a:endParaRPr lang="zh-CN" altLang="zh-CN" sz="1600" dirty="0">
              <a:solidFill>
                <a:schemeClr val="tx1">
                  <a:lumMod val="75000"/>
                  <a:lumOff val="25000"/>
                </a:schemeClr>
              </a:solidFill>
            </a:endParaRPr>
          </a:p>
        </p:txBody>
      </p:sp>
      <p:pic>
        <p:nvPicPr>
          <p:cNvPr id="10" name="图片 9"/>
          <p:cNvPicPr/>
          <p:nvPr/>
        </p:nvPicPr>
        <p:blipFill>
          <a:blip r:embed="rId1" cstate="print"/>
          <a:srcRect/>
          <a:stretch>
            <a:fillRect/>
          </a:stretch>
        </p:blipFill>
        <p:spPr bwMode="auto">
          <a:xfrm>
            <a:off x="1301900" y="3462500"/>
            <a:ext cx="1095475" cy="1322689"/>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tx1">
                    <a:lumMod val="75000"/>
                    <a:lumOff val="25000"/>
                  </a:schemeClr>
                </a:solidFill>
              </a:rPr>
              <a:t>获取所有键值对：字典名</a:t>
            </a:r>
            <a:r>
              <a:rPr lang="en-US" altLang="zh-CN" dirty="0">
                <a:solidFill>
                  <a:schemeClr val="tx1">
                    <a:lumMod val="75000"/>
                    <a:lumOff val="25000"/>
                  </a:schemeClr>
                </a:solidFill>
              </a:rPr>
              <a:t>.items()</a:t>
            </a:r>
            <a:endParaRPr lang="en-US" altLang="zh-CN" dirty="0">
              <a:solidFill>
                <a:schemeClr val="tx1">
                  <a:lumMod val="75000"/>
                  <a:lumOff val="25000"/>
                </a:schemeClr>
              </a:solidFill>
            </a:endParaRPr>
          </a:p>
        </p:txBody>
      </p:sp>
      <p:sp>
        <p:nvSpPr>
          <p:cNvPr id="6" name="文本框 5"/>
          <p:cNvSpPr txBox="1"/>
          <p:nvPr/>
        </p:nvSpPr>
        <p:spPr>
          <a:xfrm>
            <a:off x="1047175" y="2255190"/>
            <a:ext cx="10168973" cy="1938992"/>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rPr>
              <a:t>可以</a:t>
            </a:r>
            <a:r>
              <a:rPr lang="zh-CN" altLang="zh-CN" sz="1600" dirty="0">
                <a:solidFill>
                  <a:schemeClr val="tx1">
                    <a:lumMod val="75000"/>
                    <a:lumOff val="25000"/>
                  </a:schemeClr>
                </a:solidFill>
              </a:rPr>
              <a:t>使用方法items()一次获取字典所有的键值对信息。注意，方法items()得到的仍然是一个视图，但视图里的键值对使用元组呈现的。</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book = {'书名': 'Python入门经典', '作者': '静好', '价格': 59.9, "出版社":"天使出版社"}</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items = book.items()   #方法items得到字典表所有的键值对信息</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items</a:t>
            </a:r>
            <a:endParaRPr lang="zh-CN" altLang="zh-CN" sz="1600" dirty="0">
              <a:solidFill>
                <a:schemeClr val="tx1">
                  <a:lumMod val="75000"/>
                  <a:lumOff val="25000"/>
                </a:schemeClr>
              </a:solidFill>
            </a:endParaRPr>
          </a:p>
        </p:txBody>
      </p:sp>
      <p:pic>
        <p:nvPicPr>
          <p:cNvPr id="7" name="图片 6"/>
          <p:cNvPicPr/>
          <p:nvPr/>
        </p:nvPicPr>
        <p:blipFill>
          <a:blip r:embed="rId1" cstate="print"/>
          <a:srcRect/>
          <a:stretch>
            <a:fillRect/>
          </a:stretch>
        </p:blipFill>
        <p:spPr bwMode="auto">
          <a:xfrm>
            <a:off x="1285173" y="4220154"/>
            <a:ext cx="5665988" cy="403593"/>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tx1">
                    <a:lumMod val="75000"/>
                    <a:lumOff val="25000"/>
                  </a:schemeClr>
                </a:solidFill>
              </a:rPr>
              <a:t>获取所有键值对：字典名</a:t>
            </a:r>
            <a:r>
              <a:rPr lang="en-US" altLang="zh-CN" dirty="0">
                <a:solidFill>
                  <a:schemeClr val="tx1">
                    <a:lumMod val="75000"/>
                    <a:lumOff val="25000"/>
                  </a:schemeClr>
                </a:solidFill>
              </a:rPr>
              <a:t>.items()</a:t>
            </a:r>
            <a:endParaRPr lang="en-US" altLang="zh-CN" dirty="0">
              <a:solidFill>
                <a:schemeClr val="tx1">
                  <a:lumMod val="75000"/>
                  <a:lumOff val="25000"/>
                </a:schemeClr>
              </a:solidFill>
            </a:endParaRPr>
          </a:p>
        </p:txBody>
      </p:sp>
      <p:sp>
        <p:nvSpPr>
          <p:cNvPr id="8" name="文本框 7"/>
          <p:cNvSpPr txBox="1"/>
          <p:nvPr/>
        </p:nvSpPr>
        <p:spPr>
          <a:xfrm>
            <a:off x="1123957" y="2269151"/>
            <a:ext cx="9435888" cy="1200329"/>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rPr>
              <a:t>通过for-in遍历循环打印输出每一个键值对信息（“.format( )”格式中的花括号是占位符）。</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for (k,v) in book.items():  #遍历字典表book得到所有的键值对</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         print("{0}: {1}".format(k,v))</a:t>
            </a:r>
            <a:endParaRPr lang="zh-CN" altLang="zh-CN" sz="1600" dirty="0">
              <a:solidFill>
                <a:schemeClr val="tx1">
                  <a:lumMod val="75000"/>
                  <a:lumOff val="25000"/>
                </a:schemeClr>
              </a:solidFill>
            </a:endParaRPr>
          </a:p>
        </p:txBody>
      </p:sp>
      <p:pic>
        <p:nvPicPr>
          <p:cNvPr id="9" name="图片 8"/>
          <p:cNvPicPr/>
          <p:nvPr/>
        </p:nvPicPr>
        <p:blipFill>
          <a:blip r:embed="rId1" cstate="print"/>
          <a:srcRect/>
          <a:stretch>
            <a:fillRect/>
          </a:stretch>
        </p:blipFill>
        <p:spPr bwMode="auto">
          <a:xfrm>
            <a:off x="1433078" y="3469480"/>
            <a:ext cx="2199119" cy="1579262"/>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tx1">
                    <a:lumMod val="75000"/>
                    <a:lumOff val="25000"/>
                  </a:schemeClr>
                </a:solidFill>
              </a:rPr>
              <a:t>复制字典：字典名</a:t>
            </a:r>
            <a:r>
              <a:rPr lang="en-US" altLang="zh-CN" dirty="0">
                <a:solidFill>
                  <a:schemeClr val="tx1">
                    <a:lumMod val="75000"/>
                    <a:lumOff val="25000"/>
                  </a:schemeClr>
                </a:solidFill>
              </a:rPr>
              <a:t>.copy( </a:t>
            </a:r>
            <a:r>
              <a:rPr lang="en-US" altLang="zh-CN" dirty="0" smtClean="0">
                <a:solidFill>
                  <a:schemeClr val="tx1">
                    <a:lumMod val="75000"/>
                    <a:lumOff val="25000"/>
                  </a:schemeClr>
                </a:solidFill>
              </a:rPr>
              <a:t>)</a:t>
            </a:r>
            <a:endParaRPr lang="en-US" altLang="zh-CN" dirty="0" smtClean="0">
              <a:solidFill>
                <a:schemeClr val="tx1">
                  <a:lumMod val="75000"/>
                  <a:lumOff val="25000"/>
                </a:schemeClr>
              </a:solidFill>
            </a:endParaRPr>
          </a:p>
          <a:p>
            <a:endParaRPr lang="en-US" altLang="zh-CN" dirty="0">
              <a:solidFill>
                <a:schemeClr val="tx1">
                  <a:lumMod val="75000"/>
                  <a:lumOff val="25000"/>
                </a:schemeClr>
              </a:solidFill>
            </a:endParaRPr>
          </a:p>
          <a:p>
            <a:r>
              <a:rPr lang="zh-CN" altLang="zh-CN" dirty="0" smtClean="0">
                <a:solidFill>
                  <a:schemeClr val="tx1">
                    <a:lumMod val="75000"/>
                    <a:lumOff val="25000"/>
                  </a:schemeClr>
                </a:solidFill>
              </a:rPr>
              <a:t>更新</a:t>
            </a:r>
            <a:r>
              <a:rPr lang="zh-CN" altLang="zh-CN" dirty="0">
                <a:solidFill>
                  <a:schemeClr val="tx1">
                    <a:lumMod val="75000"/>
                    <a:lumOff val="25000"/>
                  </a:schemeClr>
                </a:solidFill>
              </a:rPr>
              <a:t>字典：字典名1.update(字典名2)</a:t>
            </a:r>
            <a:endParaRPr lang="zh-CN" altLang="zh-CN" dirty="0">
              <a:solidFill>
                <a:schemeClr val="tx1">
                  <a:lumMod val="75000"/>
                  <a:lumOff val="25000"/>
                </a:schemeClr>
              </a:solidFill>
            </a:endParaRPr>
          </a:p>
          <a:p>
            <a:endParaRPr lang="en-US" altLang="zh-CN" dirty="0">
              <a:solidFill>
                <a:schemeClr val="tx1">
                  <a:lumMod val="75000"/>
                  <a:lumOff val="25000"/>
                </a:schemeClr>
              </a:solidFill>
            </a:endParaRPr>
          </a:p>
        </p:txBody>
      </p:sp>
      <p:sp>
        <p:nvSpPr>
          <p:cNvPr id="10" name="文本框 9"/>
          <p:cNvSpPr txBox="1"/>
          <p:nvPr/>
        </p:nvSpPr>
        <p:spPr>
          <a:xfrm>
            <a:off x="1047176" y="2126959"/>
            <a:ext cx="10306624" cy="3416320"/>
          </a:xfrm>
          <a:prstGeom prst="rect">
            <a:avLst/>
          </a:prstGeom>
          <a:noFill/>
        </p:spPr>
        <p:txBody>
          <a:bodyPr wrap="square" rtlCol="0">
            <a:spAutoFit/>
          </a:bodyPr>
          <a:lstStyle/>
          <a:p>
            <a:pPr algn="l">
              <a:lnSpc>
                <a:spcPct val="150000"/>
              </a:lnSpc>
              <a:buClrTx/>
              <a:buSzTx/>
              <a:buNone/>
            </a:pPr>
            <a:r>
              <a:rPr lang="zh-CN" altLang="zh-CN" sz="1600" dirty="0" smtClean="0">
                <a:solidFill>
                  <a:schemeClr val="tx1">
                    <a:lumMod val="75000"/>
                    <a:lumOff val="25000"/>
                  </a:schemeClr>
                </a:solidFill>
              </a:rPr>
              <a:t>如果</a:t>
            </a:r>
            <a:r>
              <a:rPr lang="zh-CN" altLang="zh-CN" sz="1600" dirty="0">
                <a:solidFill>
                  <a:schemeClr val="tx1">
                    <a:lumMod val="75000"/>
                    <a:lumOff val="25000"/>
                  </a:schemeClr>
                </a:solidFill>
              </a:rPr>
              <a:t>新建的字典的信息来自于一个已经创建好了的字典，此时可以通过方法copy( )来完成</a:t>
            </a:r>
            <a:r>
              <a:rPr lang="zh-CN" altLang="zh-CN" sz="1600" dirty="0" smtClean="0">
                <a:solidFill>
                  <a:schemeClr val="tx1">
                    <a:lumMod val="75000"/>
                    <a:lumOff val="25000"/>
                  </a:schemeClr>
                </a:solidFill>
              </a:rPr>
              <a:t>。</a:t>
            </a:r>
            <a:endParaRPr lang="en-US" altLang="zh-CN" sz="1600" dirty="0" smtClean="0">
              <a:solidFill>
                <a:schemeClr val="tx1">
                  <a:lumMod val="75000"/>
                  <a:lumOff val="25000"/>
                </a:schemeClr>
              </a:solidFill>
            </a:endParaRPr>
          </a:p>
          <a:p>
            <a:pPr algn="l">
              <a:lnSpc>
                <a:spcPct val="150000"/>
              </a:lnSpc>
              <a:buClrTx/>
              <a:buSzTx/>
              <a:buNone/>
            </a:pPr>
            <a:endParaRPr lang="en-US" altLang="zh-CN" sz="1600" dirty="0" smtClean="0">
              <a:solidFill>
                <a:schemeClr val="tx1">
                  <a:lumMod val="75000"/>
                  <a:lumOff val="25000"/>
                </a:schemeClr>
              </a:solidFill>
            </a:endParaRPr>
          </a:p>
          <a:p>
            <a:pPr algn="l">
              <a:lnSpc>
                <a:spcPct val="150000"/>
              </a:lnSpc>
              <a:buClrTx/>
              <a:buSzTx/>
              <a:buNone/>
            </a:pPr>
            <a:endParaRPr lang="en-US" altLang="zh-CN" sz="1600" dirty="0" smtClean="0">
              <a:solidFill>
                <a:schemeClr val="tx1">
                  <a:lumMod val="75000"/>
                  <a:lumOff val="25000"/>
                </a:schemeClr>
              </a:solidFill>
            </a:endParaRPr>
          </a:p>
          <a:p>
            <a:pPr algn="l">
              <a:lnSpc>
                <a:spcPct val="150000"/>
              </a:lnSpc>
              <a:buClrTx/>
              <a:buSzTx/>
              <a:buNone/>
            </a:pPr>
            <a:r>
              <a:rPr lang="zh-CN" altLang="zh-CN" sz="1600" dirty="0" smtClean="0">
                <a:solidFill>
                  <a:schemeClr val="tx1">
                    <a:lumMod val="75000"/>
                    <a:lumOff val="25000"/>
                  </a:schemeClr>
                </a:solidFill>
              </a:rPr>
              <a:t>方法</a:t>
            </a:r>
            <a:r>
              <a:rPr lang="zh-CN" altLang="zh-CN" sz="1600" dirty="0">
                <a:solidFill>
                  <a:schemeClr val="tx1">
                    <a:lumMod val="75000"/>
                    <a:lumOff val="25000"/>
                  </a:schemeClr>
                </a:solidFill>
              </a:rPr>
              <a:t>update( )是用“字典2”里的元素来更新“字典1”里的相同元素，不同的元素添加到字典1里，所以，该方法实际上是合并更新（当两个字典里没有相同的元素时就相当于是合并）。</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book = {'title':'Python入门经典', 'author':'云创', 'price':59.90}</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c1 = {'price':56}</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book.update(c1)   #更新合并，即把两个字典表合并起来</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book</a:t>
            </a:r>
            <a:endParaRPr lang="zh-CN" altLang="zh-CN" sz="1600" dirty="0">
              <a:solidFill>
                <a:schemeClr val="tx1">
                  <a:lumMod val="75000"/>
                  <a:lumOff val="25000"/>
                </a:schemeClr>
              </a:solidFill>
            </a:endParaRPr>
          </a:p>
        </p:txBody>
      </p:sp>
      <p:pic>
        <p:nvPicPr>
          <p:cNvPr id="11" name="图片 10"/>
          <p:cNvPicPr/>
          <p:nvPr/>
        </p:nvPicPr>
        <p:blipFill>
          <a:blip r:embed="rId1" cstate="print"/>
          <a:srcRect/>
          <a:stretch>
            <a:fillRect/>
          </a:stretch>
        </p:blipFill>
        <p:spPr bwMode="auto">
          <a:xfrm>
            <a:off x="1225597" y="5489863"/>
            <a:ext cx="4424145" cy="376706"/>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6" name="文本框 5"/>
          <p:cNvSpPr txBox="1"/>
          <p:nvPr/>
        </p:nvSpPr>
        <p:spPr>
          <a:xfrm>
            <a:off x="1047986" y="1894755"/>
            <a:ext cx="10305814" cy="3785652"/>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rPr>
              <a:t>强调：在实际开发工作中，字典的值不仅仅局限于某一个常规类型的字典值，它也可以是一个行为方法----函数。函数是定义一个行为的，其实可以将一个函数作为值赋给一个字典也是可以的。</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仔细理解下面的代码：</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def say_hello(): </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     print("hello, 大家好！")</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say_hello()</a:t>
            </a:r>
            <a:endParaRPr lang="zh-CN" altLang="zh-CN" sz="1600" dirty="0">
              <a:solidFill>
                <a:schemeClr val="tx1">
                  <a:lumMod val="75000"/>
                  <a:lumOff val="25000"/>
                </a:schemeClr>
              </a:solidFill>
            </a:endParaRPr>
          </a:p>
          <a:p>
            <a:pPr algn="l">
              <a:lnSpc>
                <a:spcPct val="150000"/>
              </a:lnSpc>
              <a:buClrTx/>
              <a:buSzTx/>
              <a:buNone/>
            </a:pP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person = {'name':'Tom','hello':say_hello}</a:t>
            </a: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person</a:t>
            </a:r>
            <a:endParaRPr lang="zh-CN" altLang="zh-CN" sz="1600" dirty="0">
              <a:solidFill>
                <a:schemeClr val="tx1">
                  <a:lumMod val="75000"/>
                  <a:lumOff val="25000"/>
                </a:schemeClr>
              </a:solidFill>
            </a:endParaRPr>
          </a:p>
          <a:p>
            <a:pPr algn="l">
              <a:lnSpc>
                <a:spcPct val="150000"/>
              </a:lnSpc>
              <a:buClrTx/>
              <a:buSzTx/>
              <a:buNone/>
            </a:pPr>
            <a:endParaRPr lang="en-US" altLang="zh-CN" sz="1600" dirty="0" smtClean="0">
              <a:solidFill>
                <a:schemeClr val="tx1">
                  <a:lumMod val="75000"/>
                  <a:lumOff val="25000"/>
                </a:schemeClr>
              </a:solidFill>
            </a:endParaRPr>
          </a:p>
        </p:txBody>
      </p:sp>
      <p:pic>
        <p:nvPicPr>
          <p:cNvPr id="7" name="图片 6"/>
          <p:cNvPicPr/>
          <p:nvPr/>
        </p:nvPicPr>
        <p:blipFill>
          <a:blip r:embed="rId1" cstate="print"/>
          <a:srcRect/>
          <a:stretch>
            <a:fillRect/>
          </a:stretch>
        </p:blipFill>
        <p:spPr bwMode="auto">
          <a:xfrm>
            <a:off x="1263573" y="4244264"/>
            <a:ext cx="1695233" cy="315245"/>
          </a:xfrm>
          <a:prstGeom prst="rect">
            <a:avLst/>
          </a:prstGeom>
          <a:noFill/>
          <a:ln w="9525">
            <a:noFill/>
            <a:miter lim="800000"/>
            <a:headEnd/>
            <a:tailEnd/>
          </a:ln>
        </p:spPr>
      </p:pic>
      <p:pic>
        <p:nvPicPr>
          <p:cNvPr id="8" name="图片 7"/>
          <p:cNvPicPr/>
          <p:nvPr/>
        </p:nvPicPr>
        <p:blipFill>
          <a:blip r:embed="rId2" cstate="print"/>
          <a:srcRect/>
          <a:stretch>
            <a:fillRect/>
          </a:stretch>
        </p:blipFill>
        <p:spPr bwMode="auto">
          <a:xfrm>
            <a:off x="1263573" y="5281515"/>
            <a:ext cx="4952182" cy="354514"/>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主要方法</a:t>
            </a:r>
            <a:endParaRPr lang="zh-CN" altLang="en-US" dirty="0"/>
          </a:p>
        </p:txBody>
      </p:sp>
      <p:sp>
        <p:nvSpPr>
          <p:cNvPr id="9" name="文本框 8"/>
          <p:cNvSpPr txBox="1"/>
          <p:nvPr/>
        </p:nvSpPr>
        <p:spPr>
          <a:xfrm>
            <a:off x="1124767" y="2076239"/>
            <a:ext cx="10511710" cy="3046988"/>
          </a:xfrm>
          <a:prstGeom prst="rect">
            <a:avLst/>
          </a:prstGeom>
          <a:noFill/>
        </p:spPr>
        <p:txBody>
          <a:bodyPr wrap="square" rtlCol="0">
            <a:spAutoFit/>
          </a:bodyPr>
          <a:lstStyle/>
          <a:p>
            <a:pPr algn="l">
              <a:lnSpc>
                <a:spcPct val="150000"/>
              </a:lnSpc>
              <a:buClrTx/>
              <a:buSzTx/>
              <a:buNone/>
            </a:pPr>
            <a:r>
              <a:rPr lang="zh-CN" altLang="zh-CN" sz="1600" dirty="0">
                <a:solidFill>
                  <a:schemeClr val="tx1">
                    <a:lumMod val="75000"/>
                    <a:lumOff val="25000"/>
                  </a:schemeClr>
                </a:solidFill>
              </a:rPr>
              <a:t>&gt; person['name']   #访问键对应的值</a:t>
            </a:r>
            <a:endParaRPr lang="zh-CN" altLang="zh-CN" sz="1600" dirty="0">
              <a:solidFill>
                <a:schemeClr val="tx1">
                  <a:lumMod val="75000"/>
                  <a:lumOff val="25000"/>
                </a:schemeClr>
              </a:solidFill>
            </a:endParaRPr>
          </a:p>
          <a:p>
            <a:pPr algn="l">
              <a:lnSpc>
                <a:spcPct val="150000"/>
              </a:lnSpc>
              <a:buClrTx/>
              <a:buSzTx/>
              <a:buNone/>
            </a:pP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person['hello']()   #注意：后面加了括号的！相当于调用函数“say_hello()”，因此，得到“hello, 大家好！”的结果！</a:t>
            </a:r>
            <a:endParaRPr lang="zh-CN" altLang="zh-CN" sz="1600" dirty="0">
              <a:solidFill>
                <a:schemeClr val="tx1">
                  <a:lumMod val="75000"/>
                  <a:lumOff val="25000"/>
                </a:schemeClr>
              </a:solidFill>
            </a:endParaRPr>
          </a:p>
          <a:p>
            <a:pPr algn="l">
              <a:lnSpc>
                <a:spcPct val="150000"/>
              </a:lnSpc>
              <a:buClrTx/>
              <a:buSzTx/>
              <a:buNone/>
            </a:pP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person['hello']   #注意：后面没有加括号！只是说明键“hello”对应的值“say_hello”是一个函数而已，但并不执行此函数！</a:t>
            </a:r>
            <a:endParaRPr lang="zh-CN" altLang="zh-CN" sz="1600" dirty="0">
              <a:solidFill>
                <a:schemeClr val="tx1">
                  <a:lumMod val="75000"/>
                  <a:lumOff val="25000"/>
                </a:schemeClr>
              </a:solidFill>
            </a:endParaRPr>
          </a:p>
          <a:p>
            <a:pPr algn="l">
              <a:lnSpc>
                <a:spcPct val="150000"/>
              </a:lnSpc>
              <a:buClrTx/>
              <a:buSzTx/>
              <a:buNone/>
            </a:pPr>
            <a:endParaRPr lang="zh-CN" altLang="zh-CN" sz="1600" dirty="0">
              <a:solidFill>
                <a:schemeClr val="tx1">
                  <a:lumMod val="75000"/>
                  <a:lumOff val="25000"/>
                </a:schemeClr>
              </a:solidFill>
            </a:endParaRPr>
          </a:p>
          <a:p>
            <a:pPr algn="l">
              <a:lnSpc>
                <a:spcPct val="150000"/>
              </a:lnSpc>
              <a:buClrTx/>
              <a:buSzTx/>
              <a:buNone/>
            </a:pPr>
            <a:r>
              <a:rPr lang="zh-CN" altLang="zh-CN" sz="1600" dirty="0">
                <a:solidFill>
                  <a:schemeClr val="tx1">
                    <a:lumMod val="75000"/>
                    <a:lumOff val="25000"/>
                  </a:schemeClr>
                </a:solidFill>
              </a:rPr>
              <a:t>&gt; person.get('hello')()   #加上括号，得到调用函数的结果</a:t>
            </a:r>
            <a:endParaRPr lang="zh-CN" altLang="zh-CN" sz="1600" dirty="0">
              <a:solidFill>
                <a:schemeClr val="tx1">
                  <a:lumMod val="75000"/>
                  <a:lumOff val="25000"/>
                </a:schemeClr>
              </a:solidFill>
            </a:endParaRPr>
          </a:p>
        </p:txBody>
      </p:sp>
      <p:pic>
        <p:nvPicPr>
          <p:cNvPr id="10" name="图片 9"/>
          <p:cNvPicPr/>
          <p:nvPr/>
        </p:nvPicPr>
        <p:blipFill>
          <a:blip r:embed="rId1" cstate="print"/>
          <a:srcRect/>
          <a:stretch>
            <a:fillRect/>
          </a:stretch>
        </p:blipFill>
        <p:spPr bwMode="auto">
          <a:xfrm>
            <a:off x="1399770" y="2561141"/>
            <a:ext cx="921861" cy="397276"/>
          </a:xfrm>
          <a:prstGeom prst="rect">
            <a:avLst/>
          </a:prstGeom>
          <a:noFill/>
          <a:ln w="9525">
            <a:noFill/>
            <a:miter lim="800000"/>
            <a:headEnd/>
            <a:tailEnd/>
          </a:ln>
        </p:spPr>
      </p:pic>
      <p:pic>
        <p:nvPicPr>
          <p:cNvPr id="11" name="图片 10"/>
          <p:cNvPicPr/>
          <p:nvPr/>
        </p:nvPicPr>
        <p:blipFill>
          <a:blip r:embed="rId2" cstate="print"/>
          <a:srcRect/>
          <a:stretch>
            <a:fillRect/>
          </a:stretch>
        </p:blipFill>
        <p:spPr bwMode="auto">
          <a:xfrm>
            <a:off x="1399770" y="3234818"/>
            <a:ext cx="1322254" cy="447592"/>
          </a:xfrm>
          <a:prstGeom prst="rect">
            <a:avLst/>
          </a:prstGeom>
          <a:noFill/>
          <a:ln w="9525">
            <a:noFill/>
            <a:miter lim="800000"/>
            <a:headEnd/>
            <a:tailEnd/>
          </a:ln>
        </p:spPr>
      </p:pic>
      <p:pic>
        <p:nvPicPr>
          <p:cNvPr id="12" name="图片 11"/>
          <p:cNvPicPr/>
          <p:nvPr/>
        </p:nvPicPr>
        <p:blipFill>
          <a:blip r:embed="rId3" cstate="print"/>
          <a:srcRect/>
          <a:stretch>
            <a:fillRect/>
          </a:stretch>
        </p:blipFill>
        <p:spPr bwMode="auto">
          <a:xfrm>
            <a:off x="1354559" y="4291266"/>
            <a:ext cx="3593966" cy="393680"/>
          </a:xfrm>
          <a:prstGeom prst="rect">
            <a:avLst/>
          </a:prstGeom>
          <a:noFill/>
          <a:ln w="9525">
            <a:noFill/>
            <a:miter lim="800000"/>
            <a:headEnd/>
            <a:tailEnd/>
          </a:ln>
        </p:spPr>
      </p:pic>
      <p:pic>
        <p:nvPicPr>
          <p:cNvPr id="13" name="图片 12"/>
          <p:cNvPicPr/>
          <p:nvPr/>
        </p:nvPicPr>
        <p:blipFill>
          <a:blip r:embed="rId2" cstate="print"/>
          <a:srcRect/>
          <a:stretch>
            <a:fillRect/>
          </a:stretch>
        </p:blipFill>
        <p:spPr bwMode="auto">
          <a:xfrm>
            <a:off x="1354559" y="5108734"/>
            <a:ext cx="1274128" cy="339308"/>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t>基本概念</a:t>
            </a:r>
            <a:endParaRPr lang="en-US" altLang="zh-CN" dirty="0" smtClean="0"/>
          </a:p>
          <a:p>
            <a:r>
              <a:rPr lang="zh-CN" altLang="en-US" dirty="0" smtClean="0">
                <a:solidFill>
                  <a:schemeClr val="tx1"/>
                </a:solidFill>
              </a:rPr>
              <a:t>主要方法</a:t>
            </a:r>
            <a:endParaRPr lang="zh-CN" altLang="en-US" dirty="0" smtClean="0">
              <a:solidFill>
                <a:schemeClr val="tx1"/>
              </a:solidFill>
            </a:endParaRPr>
          </a:p>
          <a:p>
            <a:r>
              <a:rPr lang="zh-CN" altLang="en-US" dirty="0">
                <a:solidFill>
                  <a:srgbClr val="FF0000"/>
                </a:solidFill>
              </a:rPr>
              <a:t>推导式</a:t>
            </a:r>
            <a:endParaRPr lang="zh-CN" altLang="en-US"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推导式</a:t>
            </a:r>
            <a:endParaRPr lang="zh-CN" altLang="en-US"/>
          </a:p>
        </p:txBody>
      </p:sp>
      <p:sp>
        <p:nvSpPr>
          <p:cNvPr id="3" name="内容占位符 2"/>
          <p:cNvSpPr>
            <a:spLocks noGrp="1"/>
          </p:cNvSpPr>
          <p:nvPr>
            <p:ph idx="1"/>
          </p:nvPr>
        </p:nvSpPr>
        <p:spPr/>
        <p:txBody>
          <a:bodyPr/>
          <a:p>
            <a:r>
              <a:rPr lang="zh-CN" altLang="en-US"/>
              <a:t>一种独特的数据处理方式，可以从一个数据序列构建另一个新的数据序列的结构体。</a:t>
            </a:r>
            <a:endParaRPr lang="zh-CN" altLang="en-US"/>
          </a:p>
          <a:p>
            <a:r>
              <a:rPr lang="zh-CN" altLang="en-US"/>
              <a:t>Python 支持各种数据结构的推导式：列表、元组、字典、集合</a:t>
            </a:r>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推导式</a:t>
            </a:r>
            <a:endParaRPr lang="zh-CN" altLang="en-US"/>
          </a:p>
        </p:txBody>
      </p:sp>
      <p:sp>
        <p:nvSpPr>
          <p:cNvPr id="3" name="内容占位符 2"/>
          <p:cNvSpPr>
            <a:spLocks noGrp="1"/>
          </p:cNvSpPr>
          <p:nvPr>
            <p:ph idx="1"/>
          </p:nvPr>
        </p:nvSpPr>
        <p:spPr/>
        <p:txBody>
          <a:bodyPr/>
          <a:p>
            <a:r>
              <a:rPr lang="zh-CN" altLang="en-US"/>
              <a:t>格式：</a:t>
            </a:r>
            <a:endParaRPr lang="zh-CN" altLang="en-US"/>
          </a:p>
          <a:p>
            <a:pPr lvl="1"/>
            <a:r>
              <a:rPr lang="zh-CN" altLang="en-US"/>
              <a:t>{ key_expr: value_expr for value in collection }</a:t>
            </a:r>
            <a:endParaRPr lang="zh-CN" altLang="en-US"/>
          </a:p>
          <a:p>
            <a:pPr lvl="1"/>
            <a:r>
              <a:rPr lang="zh-CN" altLang="en-US"/>
              <a:t>{ key_expr: value_expr for value in collection if condition }</a:t>
            </a:r>
            <a:endParaRPr lang="zh-CN" altLang="en-US"/>
          </a:p>
          <a:p>
            <a:pPr lvl="0"/>
            <a:r>
              <a:rPr lang="zh-CN" altLang="en-US"/>
              <a:t>例子：</a:t>
            </a:r>
            <a:endParaRPr lang="zh-CN" altLang="en-US"/>
          </a:p>
          <a:p>
            <a:pPr marL="457200" lvl="1" indent="0">
              <a:buNone/>
            </a:pPr>
            <a:r>
              <a:rPr lang="zh-CN" altLang="en-US">
                <a:sym typeface="+mn-ea"/>
              </a:rPr>
              <a:t>&gt;</a:t>
            </a:r>
            <a:r>
              <a:rPr lang="en-US" altLang="zh-CN">
                <a:sym typeface="+mn-ea"/>
              </a:rPr>
              <a:t> </a:t>
            </a:r>
            <a:r>
              <a:rPr lang="zh-CN" altLang="en-US"/>
              <a:t>listdemo = ['Google','Runoob', 'Taobao']</a:t>
            </a:r>
            <a:endParaRPr lang="zh-CN" altLang="en-US"/>
          </a:p>
          <a:p>
            <a:pPr marL="457200" lvl="1" indent="0">
              <a:buNone/>
            </a:pPr>
            <a:r>
              <a:rPr lang="zh-CN" altLang="en-US"/>
              <a:t># 将列表中各字符串值为键，各字符串的长度为值，组成键值对</a:t>
            </a:r>
            <a:endParaRPr lang="zh-CN" altLang="en-US"/>
          </a:p>
          <a:p>
            <a:pPr marL="457200" lvl="1" indent="0">
              <a:buNone/>
            </a:pPr>
            <a:r>
              <a:rPr lang="zh-CN" altLang="en-US"/>
              <a:t>&gt; newdict = {key:len(key) for key in listdemo}</a:t>
            </a:r>
            <a:endParaRPr lang="zh-CN" altLang="en-US"/>
          </a:p>
          <a:p>
            <a:pPr marL="457200" lvl="1" indent="0">
              <a:buNone/>
            </a:pPr>
            <a:r>
              <a:rPr lang="zh-CN" altLang="en-US"/>
              <a:t>&gt; newdict</a:t>
            </a:r>
            <a:endParaRPr lang="zh-CN" altLang="en-US"/>
          </a:p>
          <a:p>
            <a:pPr marL="457200" lvl="1" indent="0">
              <a:buNone/>
            </a:pPr>
            <a:r>
              <a:rPr lang="zh-CN" altLang="en-US"/>
              <a:t>{'Google': 6, 'Runoob': 6, 'Taobao': 6}</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a:t>
            </a:r>
            <a:endParaRPr lang="zh-CN" altLang="en-US" dirty="0"/>
          </a:p>
        </p:txBody>
      </p:sp>
      <p:sp>
        <p:nvSpPr>
          <p:cNvPr id="3" name="内容占位符 2"/>
          <p:cNvSpPr>
            <a:spLocks noGrp="1"/>
          </p:cNvSpPr>
          <p:nvPr>
            <p:ph idx="1"/>
          </p:nvPr>
        </p:nvSpPr>
        <p:spPr/>
        <p:txBody>
          <a:bodyPr/>
          <a:lstStyle/>
          <a:p>
            <a:r>
              <a:rPr lang="zh-CN" altLang="zh-CN" dirty="0"/>
              <a:t>写一个程序合并两个字典。</a:t>
            </a:r>
            <a:endParaRPr lang="zh-CN" altLang="zh-CN" dirty="0"/>
          </a:p>
          <a:p>
            <a:r>
              <a:rPr lang="zh-CN" altLang="zh-CN" dirty="0"/>
              <a:t>写一个程序从字典中删除某个关键字</a:t>
            </a:r>
            <a:endParaRPr lang="zh-CN" altLang="zh-CN" dirty="0"/>
          </a:p>
          <a:p>
            <a:endParaRPr lang="zh-CN" altLang="en-US" dirty="0"/>
          </a:p>
        </p:txBody>
      </p:sp>
    </p:spTree>
  </p:cSld>
  <p:clrMapOvr>
    <a:masterClrMapping/>
  </p:clrMapOvr>
</p:sld>
</file>

<file path=ppt/tags/tag1.xml><?xml version="1.0" encoding="utf-8"?>
<p:tagLst xmlns:p="http://schemas.openxmlformats.org/presentationml/2006/main">
  <p:tag name="KSO_WM_UNIT_TABLE_BEAUTIFY" val="smartTable{9bc64c2e-27ab-47be-8823-55c2599f3ec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5608</Words>
  <Application>WPS 演示</Application>
  <PresentationFormat>宽屏</PresentationFormat>
  <Paragraphs>358</Paragraphs>
  <Slides>29</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29</vt:i4>
      </vt:variant>
    </vt:vector>
  </HeadingPairs>
  <TitlesOfParts>
    <vt:vector size="39" baseType="lpstr">
      <vt:lpstr>Arial</vt:lpstr>
      <vt:lpstr>宋体</vt:lpstr>
      <vt:lpstr>Wingdings</vt:lpstr>
      <vt:lpstr>Calibri Light</vt:lpstr>
      <vt:lpstr>Calibri</vt:lpstr>
      <vt:lpstr>微软雅黑</vt:lpstr>
      <vt:lpstr>Arial Unicode MS</vt:lpstr>
      <vt:lpstr>Office 主题</vt:lpstr>
      <vt:lpstr>Paint.Picture</vt:lpstr>
      <vt:lpstr>Paint.Picture</vt:lpstr>
      <vt:lpstr>字典</vt:lpstr>
      <vt:lpstr>主要内容</vt:lpstr>
      <vt:lpstr>基本概念</vt:lpstr>
      <vt:lpstr>基本概念</vt:lpstr>
      <vt:lpstr>基本概念</vt:lpstr>
      <vt:lpstr>基本概念</vt:lpstr>
      <vt:lpstr>基本概念</vt:lpstr>
      <vt:lpstr>基本概念</vt:lpstr>
      <vt:lpstr>基本概念</vt:lpstr>
      <vt:lpstr>基本概念</vt:lpstr>
      <vt:lpstr>基本概念</vt:lpstr>
      <vt:lpstr>基本概念</vt:lpstr>
      <vt:lpstr>基本概念</vt:lpstr>
      <vt:lpstr>主要内容</vt:lpstr>
      <vt:lpstr>主要方法</vt:lpstr>
      <vt:lpstr>主要方法</vt:lpstr>
      <vt:lpstr>主要方法</vt:lpstr>
      <vt:lpstr>主要方法</vt:lpstr>
      <vt:lpstr>PowerPoint 演示文稿</vt:lpstr>
      <vt:lpstr>主要方法</vt:lpstr>
      <vt:lpstr>主要方法</vt:lpstr>
      <vt:lpstr>主要方法</vt:lpstr>
      <vt:lpstr>主要方法</vt:lpstr>
      <vt:lpstr>主要方法</vt:lpstr>
      <vt:lpstr>主要方法</vt:lpstr>
      <vt:lpstr>主要内容</vt:lpstr>
      <vt:lpstr>PowerPoint 演示文稿</vt:lpstr>
      <vt:lpstr>PowerPoint 演示文稿</vt:lpstr>
      <vt:lpstr>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字典</dc:title>
  <dc:creator>cao dong lin</dc:creator>
  <cp:lastModifiedBy>曹冬林</cp:lastModifiedBy>
  <cp:revision>34</cp:revision>
  <dcterms:created xsi:type="dcterms:W3CDTF">2020-06-21T21:48:00Z</dcterms:created>
  <dcterms:modified xsi:type="dcterms:W3CDTF">2022-03-23T07:26:45Z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8FAC3B5F5DBB4EF7A576E03173F10BE1</vt:lpwstr>
  </property>
  <property fmtid="{D5CDD505-2E9C-101B-9397-08002B2CF9AE}" pid="3" name="KSOProductBuildVer">
    <vt:lpwstr>2052-11.1.0.11220</vt:lpwstr>
  </property>
</Properties>
</file>