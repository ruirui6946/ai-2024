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93" r:id="rId12"/>
    <p:sldId id="291" r:id="rId13"/>
    <p:sldId id="282" r:id="rId14"/>
    <p:sldId id="283" r:id="rId15"/>
    <p:sldId id="284" r:id="rId16"/>
    <p:sldId id="285" r:id="rId17"/>
    <p:sldId id="286" r:id="rId18"/>
    <p:sldId id="287" r:id="rId19"/>
    <p:sldId id="306" r:id="rId20"/>
    <p:sldId id="292" r:id="rId21"/>
    <p:sldId id="288" r:id="rId22"/>
    <p:sldId id="289" r:id="rId23"/>
    <p:sldId id="290" r:id="rId24"/>
    <p:sldId id="307" r:id="rId25"/>
    <p:sldId id="294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3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D78A0-E982-405D-A96D-B0956008A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BA927-6D27-4D0B-B5C3-F7917D9BC3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tags" Target="../tags/tag2.xml"/><Relationship Id="rId7" Type="http://schemas.openxmlformats.org/officeDocument/2006/relationships/tags" Target="../tags/tag1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函数定义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函数调用</a:t>
            </a:r>
            <a:endParaRPr lang="en-US" altLang="zh-CN" dirty="0" smtClean="0"/>
          </a:p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自定义函数的语法格式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6862" y="2180571"/>
            <a:ext cx="10286937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函数名([参数列表]):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&lt;函数体&gt;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（1）函数使用关键字（保留字）def声明。注意：“def”只能是小写字母！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（2）函数名必须使用有效的标识符（以字母或下画线开头的字母数字串，只能以字母或下画线开头）。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（3）参数列表中的参数为形式参数，多个参数之间用逗号隔开（可以没有参数，此时称为无参函数，即使没有参数，小括号也不能省略）。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（4）函数可以使用return返回值，若函数体中包含return语句，则返回值，可以返回一个值，也可以返回多个值（实际上返回的是元组）；如果没有return或者return后无返回表达式，则都返回“None”。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（5）通常使用三个单引号'''来注释说明函数的作用。函数体里的内容不可为空，如果想定义一个什么都不做的空函数，可用pass语句。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nop():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pass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缺少pass空语句会出错。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0750" y="2172998"/>
            <a:ext cx="9066140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没有参数和返回值的函数。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say_hi():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'''这是一个无参函数，也没有返回值！''' #注意：注释内容也要缩进，否则会出错   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print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("hi!")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当调用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help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(say_hi)时，可以查看自定义函数中用三引号注释的内容（用#注释的内容无法查看）</a:t>
            </a:r>
            <a:endParaRPr lang="zh-CN" altLang="en-US" dirty="0">
              <a:latin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189" y="4001294"/>
            <a:ext cx="512391" cy="91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0008" y="2186958"/>
            <a:ext cx="8369078" cy="422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用help(say_hi)查看自定义函数的注释内容。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say_hi():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'''这是一个无参函数，也没有返回值！''' #注意：注释内容也要缩进，否则出错   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("hi!")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say_hi()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help(say_hi)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注意：Python是一门完全依赖于缩进的语言！它不用分号等作为每个语句的结束。</a:t>
            </a:r>
            <a:endParaRPr lang="en-US" altLang="zh-CN" sz="1600" dirty="0">
              <a:latin typeface="+mn-ea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48" y="4410674"/>
            <a:ext cx="3027195" cy="140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自定义函数的示例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5849" y="2271713"/>
            <a:ext cx="8369078" cy="420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请写出一个自定义函数，用来求一个数的平方。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4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zh-CN" altLang="en-US" sz="4000" dirty="0">
              <a:latin typeface="Arial" panose="020B060402020202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28" y="4205946"/>
            <a:ext cx="670380" cy="460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79844" y="1825625"/>
            <a:ext cx="86086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如果在上面的例子中，把自定义函数体中的return语句进行如下修改，请观察得到的结果。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n*n, n*n  #多个值，返回的是元组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))   #这是调用函数fun()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如果return后无表达式，则返回的是“None”空类型。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  #return后无表达式，返回的是“None”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4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12" y="3668134"/>
            <a:ext cx="1261123" cy="53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12" y="6305241"/>
            <a:ext cx="1620227" cy="54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93658" y="1690688"/>
            <a:ext cx="860865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如果自定义函数中无return语句，则返回的还是“None”空类型。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fun(n):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 = n * 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= 4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print(fun(n))   #这是调用函数fun()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print(type(fun(4)))  #观察返回值的类型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87" y="3997643"/>
            <a:ext cx="2668300" cy="899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中函数和方法的异同点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17484" y="2026352"/>
            <a:ext cx="102797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函数可以看成一个数学上的概念，比如说完成加、减、乘、除的函数。它其实有一个内在的约束，就是如果参数相同，对一个函数的每次调用返回的结果应该始终是一样的。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方法是与某个对象相互关联的，也就是说它的实现与某个对象有关联关系。方法的定义方式和函数是一样的，在Class中定义的函数就是方法。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0" y="2590104"/>
            <a:ext cx="82050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from types import FunctionType,MethodType</a:t>
            </a:r>
            <a:endParaRPr lang="zh-CN" altLang="en-US" dirty="0"/>
          </a:p>
          <a:p>
            <a:r>
              <a:rPr lang="zh-CN" altLang="en-US" dirty="0"/>
              <a:t>class Foo(object):</a:t>
            </a:r>
            <a:endParaRPr lang="zh-CN" altLang="en-US" dirty="0"/>
          </a:p>
          <a:p>
            <a:r>
              <a:rPr lang="zh-CN" altLang="en-US" dirty="0"/>
              <a:t>    def __init__(self):</a:t>
            </a:r>
            <a:endParaRPr lang="zh-CN" altLang="en-US" dirty="0"/>
          </a:p>
          <a:p>
            <a:r>
              <a:rPr lang="zh-CN" altLang="en-US" dirty="0"/>
              <a:t>        self.name="haiyan"</a:t>
            </a:r>
            <a:endParaRPr lang="zh-CN" altLang="en-US" dirty="0"/>
          </a:p>
          <a:p>
            <a:r>
              <a:rPr lang="zh-CN" altLang="en-US" dirty="0"/>
              <a:t>    def func(self):</a:t>
            </a:r>
            <a:endParaRPr lang="zh-CN" altLang="en-US" dirty="0"/>
          </a:p>
          <a:p>
            <a:r>
              <a:rPr lang="zh-CN" altLang="en-US" dirty="0"/>
              <a:t>        print(self.name)</a:t>
            </a:r>
            <a:endParaRPr lang="zh-CN" altLang="en-US" dirty="0"/>
          </a:p>
          <a:p>
            <a:r>
              <a:rPr lang="zh-CN" altLang="en-US" dirty="0"/>
              <a:t>obj = Foo()</a:t>
            </a:r>
            <a:endParaRPr lang="zh-CN" altLang="en-US" dirty="0"/>
          </a:p>
          <a:p>
            <a:r>
              <a:rPr lang="zh-CN" altLang="en-US" dirty="0"/>
              <a:t>print(isinstance(obj.func,FunctionType))  #False</a:t>
            </a:r>
            <a:endParaRPr lang="zh-CN" altLang="en-US" dirty="0"/>
          </a:p>
          <a:p>
            <a:r>
              <a:rPr lang="zh-CN" altLang="en-US" dirty="0"/>
              <a:t>print(isinstance(obj.func,MethodType))   #True   #说明这是一个方法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print(isinstance(Foo.func,FunctionType))  #True   #说明这是一个函数。</a:t>
            </a:r>
            <a:endParaRPr lang="zh-CN" altLang="en-US" dirty="0"/>
          </a:p>
          <a:p>
            <a:r>
              <a:rPr lang="zh-CN" altLang="en-US" dirty="0"/>
              <a:t>print(isinstance(Foo.func,MethodType))  #False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函数定义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函数调用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函数调用的语法</a:t>
            </a:r>
            <a:r>
              <a:rPr lang="zh-CN" altLang="en-US" dirty="0" smtClean="0"/>
              <a:t>格式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参数传递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75541" y="2311268"/>
            <a:ext cx="101701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([实参列表])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（1）函数名是已经定义好的函数名称，即遵循先定义后使用的原则。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（2）调用函数的实参列表必须与定义函数时的形参列表一一对应，包括参数的个数、类型等，否则程序会报错。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）默认参数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如果在定义函数的时候，指定了参数的值，而在调用函数时不指明所有参数的值，则没有指明的参数就使用它的默认值。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1480996"/>
            <a:ext cx="8608651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默认参数示例。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 repeat_str(s, times = 1):  #times为默认参数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repeat_strs = s * times  #将字符串str重复times遍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repeat_strs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repeat_strings = repeat_str("Happy Birthday!") #此处调用函数时times使用的是默认值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print(repeat_strings)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repeat_strings_2 = repeat_str("Happy Birthday!", 3)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print(repeat_strings_2)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说明：默认参数后不能再出现非默认参数。示例如下：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（1）f(a, b = 2) 这样定义合法!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（2）f(b = 2, a) 这样定义非法！因为在默认参数后又出现了非默认参数a。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38" y="4599489"/>
            <a:ext cx="4096088" cy="54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88438" y="1770632"/>
            <a:ext cx="10465362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2）关键字参数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关键字参数，在调用函数时有时希望只给部分参数传值，这时就要用到关键字参数。示例如下：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def func(a, b = 4, c = 8): #此处b和c是默认参数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    print("a is ",a, "and b is ", b, "and c is ",c)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   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func(13,17)  #13传给a，17传给b，c使用默认参数值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在上面的示例中，只给参数a、b传值是可以的，此时参数c使用默认值8；但如果要给a、c传值，b使用默认值4，这时就必须使用关键字参数。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func(125, c = 24) #此处的参数c即为关键字参数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func(c = 40, a = 80) #使用关键字参数传值，a、c的位置就无所谓了！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58874" y="2179166"/>
            <a:ext cx="10394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Python程序中创建、查找变量名时，都是在一个保存变量名的空间中进行的，我们称之为命名空间，也称为作用域。Python变量的作用域分为三种：全局变量、局部变量和类成员变量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）全局变量和局部变量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全局变量可以在整个程序范围内被访问，而局部变量只能在某个局部区域范围内被访问。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32880" y="2129637"/>
            <a:ext cx="921868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2）示例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理解全局变量和局部变量。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print(id(x))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print('x is ', x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x=2  #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为局部变量，因为此处是定义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，并且是在函数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中定义的，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同时屏蔽外层作用域中的同名变量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print(id(x))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print('Change local x to', x)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为局部变量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50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是全局变量，因为它的定义没有在某个函数中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print(id(x))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(x)#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是全局变量，此处使用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print('x is still', x)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是全局变量，同样此处使用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</a:t>
            </a:r>
            <a:endParaRPr lang="zh-CN" altLang="zh-CN" sz="1600" dirty="0"/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en-US" altLang="zh-CN" sz="16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9197" y="5103985"/>
            <a:ext cx="2714625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44416" y="2169426"/>
            <a:ext cx="8608651" cy="392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例】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利用关键字global在函数内部声明全局变量。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 global在函数内部声明全局变量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():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定义一个无参函数 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 x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定义全局变量，说明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print("x is ",x)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是全局变量，因为此处是使用而非定义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也为全局变量，因为在此函数中刚才通过关键字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此处只是让变量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重新指向了一个新的对象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，理解前面讲的赋值逻辑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20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，因为上一个语句让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重新指向了一个新的对象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  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print("Changed local x to ",x)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50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是全局变量，因为它没有定义在某个函数中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print("Now x is ", x)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是全局变量，同样此处是使用而非定义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9863" y="5078381"/>
            <a:ext cx="332422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函数调用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参数传递</a:t>
            </a:r>
            <a:endParaRPr lang="zh-CN" altLang="en-US"/>
          </a:p>
          <a:p>
            <a:pPr lvl="1"/>
            <a:r>
              <a:rPr lang="zh-CN" altLang="en-US"/>
              <a:t>不可变类型：整数、字符串、元组</a:t>
            </a:r>
            <a:endParaRPr lang="zh-CN" altLang="en-US"/>
          </a:p>
          <a:p>
            <a:pPr lvl="1"/>
            <a:r>
              <a:rPr lang="zh-CN" altLang="en-US"/>
              <a:t>可变类型：列表，字典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31205" y="3138170"/>
            <a:ext cx="28403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def fun(x):</a:t>
            </a:r>
            <a:endParaRPr lang="zh-CN" altLang="en-US"/>
          </a:p>
          <a:p>
            <a:r>
              <a:rPr lang="zh-CN" altLang="en-US"/>
              <a:t>    x.append(9)</a:t>
            </a:r>
            <a:endParaRPr lang="zh-CN" altLang="en-US"/>
          </a:p>
          <a:p>
            <a:r>
              <a:rPr lang="zh-CN" altLang="en-US"/>
              <a:t>list_a=[1,2,3,4,5,6,7,8]</a:t>
            </a:r>
            <a:endParaRPr lang="zh-CN" altLang="en-US"/>
          </a:p>
          <a:p>
            <a:r>
              <a:rPr lang="zh-CN" altLang="en-US"/>
              <a:t>fun(list_a)</a:t>
            </a:r>
            <a:endParaRPr lang="zh-CN" altLang="en-US"/>
          </a:p>
          <a:p>
            <a:r>
              <a:rPr lang="zh-CN" altLang="en-US"/>
              <a:t>print(list_a)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81960" y="3176905"/>
            <a:ext cx="30429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def fun(x):</a:t>
            </a:r>
            <a:endParaRPr lang="zh-CN" altLang="en-US"/>
          </a:p>
          <a:p>
            <a:r>
              <a:rPr lang="zh-CN" altLang="en-US"/>
              <a:t>    x=[1,2]</a:t>
            </a:r>
            <a:endParaRPr lang="zh-CN" altLang="en-US"/>
          </a:p>
          <a:p>
            <a:r>
              <a:rPr lang="zh-CN" altLang="en-US"/>
              <a:t>list_a=[1,2,3,4,5,6,7,8]</a:t>
            </a:r>
            <a:endParaRPr lang="zh-CN" altLang="en-US"/>
          </a:p>
          <a:p>
            <a:r>
              <a:rPr lang="zh-CN" altLang="en-US"/>
              <a:t>fun(list_a)</a:t>
            </a:r>
            <a:endParaRPr lang="zh-CN" altLang="en-US"/>
          </a:p>
          <a:p>
            <a:r>
              <a:rPr lang="zh-CN" altLang="en-US"/>
              <a:t>print(list_a)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72820" y="3178810"/>
            <a:ext cx="23228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def fun(x):</a:t>
            </a:r>
            <a:endParaRPr lang="zh-CN" altLang="en-US"/>
          </a:p>
          <a:p>
            <a:r>
              <a:rPr lang="zh-CN" altLang="en-US"/>
              <a:t>    x=2</a:t>
            </a:r>
            <a:endParaRPr lang="zh-CN" altLang="en-US"/>
          </a:p>
          <a:p>
            <a:r>
              <a:rPr lang="zh-CN" altLang="en-US"/>
              <a:t>a=1</a:t>
            </a:r>
            <a:endParaRPr lang="zh-CN" altLang="en-US"/>
          </a:p>
          <a:p>
            <a:r>
              <a:rPr lang="zh-CN" altLang="en-US"/>
              <a:t>fun(a)</a:t>
            </a:r>
            <a:endParaRPr lang="zh-CN" altLang="en-US"/>
          </a:p>
          <a:p>
            <a:r>
              <a:rPr lang="zh-CN" altLang="en-US"/>
              <a:t>print(a)</a:t>
            </a:r>
            <a:endParaRPr lang="zh-CN" altLang="en-US"/>
          </a:p>
        </p:txBody>
      </p:sp>
      <p:graphicFrame>
        <p:nvGraphicFramePr>
          <p:cNvPr id="7" name="对象 6"/>
          <p:cNvGraphicFramePr/>
          <p:nvPr/>
        </p:nvGraphicFramePr>
        <p:xfrm>
          <a:off x="1278890" y="5330825"/>
          <a:ext cx="16002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160020" imgH="190500" progId="Paint.Picture">
                  <p:embed/>
                </p:oleObj>
              </mc:Choice>
              <mc:Fallback>
                <p:oleObj name="" r:id="rId1" imgW="160020" imgH="1905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8890" y="5330825"/>
                        <a:ext cx="16002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2981960" y="5269865"/>
          <a:ext cx="1662430" cy="17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1661160" imgH="175260" progId="Paint.Picture">
                  <p:embed/>
                </p:oleObj>
              </mc:Choice>
              <mc:Fallback>
                <p:oleObj name="" r:id="rId3" imgW="1661160" imgH="17526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1960" y="5269865"/>
                        <a:ext cx="1662430" cy="175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5831205" y="5254625"/>
          <a:ext cx="188341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5" imgW="1882140" imgH="190500" progId="Paint.Picture">
                  <p:embed/>
                </p:oleObj>
              </mc:Choice>
              <mc:Fallback>
                <p:oleObj name="" r:id="rId5" imgW="1882140" imgH="190500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31205" y="5254625"/>
                        <a:ext cx="188341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8513445" y="3178810"/>
            <a:ext cx="28403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def fun(x):</a:t>
            </a:r>
            <a:endParaRPr lang="zh-CN" altLang="en-US"/>
          </a:p>
          <a:p>
            <a:r>
              <a:rPr lang="zh-CN" altLang="en-US"/>
              <a:t>    x=x+[9]</a:t>
            </a:r>
            <a:endParaRPr lang="zh-CN" altLang="en-US"/>
          </a:p>
          <a:p>
            <a:r>
              <a:rPr lang="zh-CN" altLang="en-US"/>
              <a:t>list_a=[1,2,3,4,5,6,7,8]</a:t>
            </a:r>
            <a:endParaRPr lang="zh-CN" altLang="en-US"/>
          </a:p>
          <a:p>
            <a:r>
              <a:rPr lang="zh-CN" altLang="en-US"/>
              <a:t>fun(list_a)</a:t>
            </a:r>
            <a:endParaRPr lang="zh-CN" altLang="en-US"/>
          </a:p>
          <a:p>
            <a:r>
              <a:rPr lang="zh-CN" altLang="en-US"/>
              <a:t>print(list_a)</a:t>
            </a:r>
            <a:endParaRPr lang="zh-CN" altLang="en-US"/>
          </a:p>
        </p:txBody>
      </p:sp>
      <p:graphicFrame>
        <p:nvGraphicFramePr>
          <p:cNvPr id="14" name="对象 13"/>
          <p:cNvGraphicFramePr/>
          <p:nvPr>
            <p:custDataLst>
              <p:tags r:id="rId8"/>
            </p:custDataLst>
          </p:nvPr>
        </p:nvGraphicFramePr>
        <p:xfrm>
          <a:off x="8513445" y="5254625"/>
          <a:ext cx="1662430" cy="17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9" imgW="1661160" imgH="175260" progId="Paint.Picture">
                  <p:embed/>
                </p:oleObj>
              </mc:Choice>
              <mc:Fallback>
                <p:oleObj name="" r:id="rId9" imgW="1661160" imgH="17526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13445" y="5254625"/>
                        <a:ext cx="1662430" cy="175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函数定义</a:t>
            </a:r>
            <a:endParaRPr lang="en-US" altLang="zh-CN" dirty="0" smtClean="0"/>
          </a:p>
          <a:p>
            <a:r>
              <a:rPr lang="zh-CN" altLang="en-US" dirty="0" smtClean="0"/>
              <a:t>函数调用</a:t>
            </a:r>
            <a:endParaRPr lang="en-US" altLang="zh-CN" dirty="0" smtClean="0"/>
          </a:p>
          <a:p>
            <a:r>
              <a:rPr lang="en-US" altLang="zh-CN" dirty="0">
                <a:solidFill>
                  <a:srgbClr val="FF0000"/>
                </a:solidFill>
              </a:rPr>
              <a:t>lambda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1860217"/>
            <a:ext cx="10429568" cy="2155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中通过保留字lambda 来定义的函数，可以不指定函数名，叫作匿名函数，也称为lambda函数。其语法格式为：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[&lt;函数名&gt; = ]lambda &lt;参数列表&gt;: &lt;表达式&gt;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说明：冒号“：”前面是逗号分隔的参数列表，之后的表达式的值是所定义的函数的返回值，由于lambda函数只能返回一个值，所以不用写return。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lambda函数主要适用于定义简单的、能够在一行内表示的函数，用在函数式编程中时通常省略&lt;函数名&gt;，即支持函数作为参数。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76189" y="1777048"/>
            <a:ext cx="8608651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将列表中的元素按照绝对值大小进行排序。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ls = [3,5,-4,-1,0,2,-6,8]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sorted(ls)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[-6,-4,-1,0,2,3,5,8]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sorted(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ls,key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=lambda x:abs(x))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[0,-1,2,3,-4,5,-6,8]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ls   #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的值并未改变！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[3,5,-4,-1,0,2,-6,8]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含单个参数的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lambda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 = lambda x : abs(x)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f(3)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85750" eaLnBrk="0" fontAlgn="base" hangingPunct="0">
              <a:spcBef>
                <a:spcPct val="0"/>
              </a:spcBef>
              <a:spcAft>
                <a:spcPct val="0"/>
              </a:spcAft>
              <a:tabLst>
                <a:tab pos="2628900" algn="ctr"/>
                <a:tab pos="5292725" algn="r"/>
              </a:tabLst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43" y="5892783"/>
            <a:ext cx="416797" cy="56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38200" y="1820334"/>
            <a:ext cx="860865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【例】 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含多个参数的lambda函数。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&gt; f = lambda x,y : x % y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&gt; f(4,2)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f(3,2)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12" y="3201190"/>
            <a:ext cx="523468" cy="65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12" y="4732501"/>
            <a:ext cx="523468" cy="71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lambda</a:t>
            </a:r>
            <a:r>
              <a:rPr lang="zh-CN" altLang="en-US" dirty="0">
                <a:sym typeface="+mn-ea"/>
              </a:rPr>
              <a:t>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创建多个函数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def myfunc(n):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  return lambda a : a * n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 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mydoubler = myfunc(2)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mytripler = myfunc(3)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 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print(mydoubler(11))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print(mytripler(11))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写一个函数将字符串逆序。</a:t>
            </a:r>
            <a:endParaRPr lang="zh-CN" altLang="zh-CN" dirty="0"/>
          </a:p>
          <a:p>
            <a:r>
              <a:rPr lang="zh-CN" altLang="zh-CN"/>
              <a:t>写一个函数统计字符串中大写字母和小写字母的个数</a:t>
            </a:r>
            <a:endParaRPr lang="zh-CN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PP_MARK_KEY" val="34ead0b1-3654-42d7-9ee9-ea8dd558c1d2"/>
  <p:tag name="COMMONDATA" val="eyJoZGlkIjoiMGRlMzE1NmU5NGVjNjg2MzIyYjQyMTM1ZjkxNWYx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4646</Words>
  <Application>WPS 演示</Application>
  <PresentationFormat>宽屏</PresentationFormat>
  <Paragraphs>325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Calibri Light</vt:lpstr>
      <vt:lpstr>Calibri</vt:lpstr>
      <vt:lpstr>Arial Unicode MS</vt:lpstr>
      <vt:lpstr>Office 主题</vt:lpstr>
      <vt:lpstr>Paint.Picture</vt:lpstr>
      <vt:lpstr>Paint.Picture</vt:lpstr>
      <vt:lpstr>Paint.Picture</vt:lpstr>
      <vt:lpstr>Paint.Picture</vt:lpstr>
      <vt:lpstr>函数</vt:lpstr>
      <vt:lpstr>主要内容</vt:lpstr>
      <vt:lpstr>函数定义</vt:lpstr>
      <vt:lpstr>函数定义</vt:lpstr>
      <vt:lpstr>函数定义</vt:lpstr>
      <vt:lpstr>函数定义</vt:lpstr>
      <vt:lpstr>函数定义</vt:lpstr>
      <vt:lpstr>函数定义</vt:lpstr>
      <vt:lpstr>函数定义</vt:lpstr>
      <vt:lpstr>函数定义</vt:lpstr>
      <vt:lpstr>主要内容</vt:lpstr>
      <vt:lpstr>函数调用</vt:lpstr>
      <vt:lpstr>函数调用</vt:lpstr>
      <vt:lpstr>函数调用</vt:lpstr>
      <vt:lpstr>函数调用</vt:lpstr>
      <vt:lpstr>函数调用</vt:lpstr>
      <vt:lpstr>函数调用</vt:lpstr>
      <vt:lpstr>函数调用</vt:lpstr>
      <vt:lpstr>主要内容</vt:lpstr>
      <vt:lpstr>lambda函数</vt:lpstr>
      <vt:lpstr>lambda函数</vt:lpstr>
      <vt:lpstr>lambda函数</vt:lpstr>
      <vt:lpstr>lambda函数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函数</dc:title>
  <dc:creator>cao dong lin</dc:creator>
  <cp:lastModifiedBy>anoth</cp:lastModifiedBy>
  <cp:revision>32</cp:revision>
  <dcterms:created xsi:type="dcterms:W3CDTF">2020-06-21T21:49:00Z</dcterms:created>
  <dcterms:modified xsi:type="dcterms:W3CDTF">2023-03-29T08:07:28Z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3E4126EB583B48D48C3134D1D06F12E9</vt:lpwstr>
  </property>
  <property fmtid="{D5CDD505-2E9C-101B-9397-08002B2CF9AE}" pid="3" name="KSOProductBuildVer">
    <vt:lpwstr>2052-11.1.0.13703</vt:lpwstr>
  </property>
</Properties>
</file>