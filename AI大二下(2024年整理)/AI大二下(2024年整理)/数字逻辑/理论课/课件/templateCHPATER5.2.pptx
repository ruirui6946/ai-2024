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56" r:id="rId1"/>
  </p:sldMasterIdLst>
  <p:notesMasterIdLst>
    <p:notesMasterId r:id="rId53"/>
  </p:notesMasterIdLst>
  <p:handoutMasterIdLst>
    <p:handoutMasterId r:id="rId54"/>
  </p:handoutMasterIdLst>
  <p:sldIdLst>
    <p:sldId id="256" r:id="rId2"/>
    <p:sldId id="274" r:id="rId3"/>
    <p:sldId id="277" r:id="rId4"/>
    <p:sldId id="278" r:id="rId5"/>
    <p:sldId id="279" r:id="rId6"/>
    <p:sldId id="394" r:id="rId7"/>
    <p:sldId id="395" r:id="rId8"/>
    <p:sldId id="396" r:id="rId9"/>
    <p:sldId id="397" r:id="rId10"/>
    <p:sldId id="398" r:id="rId11"/>
    <p:sldId id="399" r:id="rId12"/>
    <p:sldId id="400" r:id="rId13"/>
    <p:sldId id="401" r:id="rId14"/>
    <p:sldId id="402" r:id="rId15"/>
    <p:sldId id="403" r:id="rId16"/>
    <p:sldId id="404" r:id="rId17"/>
    <p:sldId id="405" r:id="rId18"/>
    <p:sldId id="281" r:id="rId19"/>
    <p:sldId id="282" r:id="rId20"/>
    <p:sldId id="292" r:id="rId21"/>
    <p:sldId id="535" r:id="rId22"/>
    <p:sldId id="536" r:id="rId23"/>
    <p:sldId id="294" r:id="rId24"/>
    <p:sldId id="295" r:id="rId25"/>
    <p:sldId id="296" r:id="rId26"/>
    <p:sldId id="537" r:id="rId27"/>
    <p:sldId id="297" r:id="rId28"/>
    <p:sldId id="299" r:id="rId29"/>
    <p:sldId id="300" r:id="rId30"/>
    <p:sldId id="302" r:id="rId31"/>
    <p:sldId id="303" r:id="rId32"/>
    <p:sldId id="307" r:id="rId33"/>
    <p:sldId id="391" r:id="rId34"/>
    <p:sldId id="410" r:id="rId35"/>
    <p:sldId id="411" r:id="rId36"/>
    <p:sldId id="413" r:id="rId37"/>
    <p:sldId id="414" r:id="rId38"/>
    <p:sldId id="415" r:id="rId39"/>
    <p:sldId id="416" r:id="rId40"/>
    <p:sldId id="417" r:id="rId41"/>
    <p:sldId id="412" r:id="rId42"/>
    <p:sldId id="309" r:id="rId43"/>
    <p:sldId id="418" r:id="rId44"/>
    <p:sldId id="419" r:id="rId45"/>
    <p:sldId id="420" r:id="rId46"/>
    <p:sldId id="421" r:id="rId47"/>
    <p:sldId id="310" r:id="rId48"/>
    <p:sldId id="312" r:id="rId49"/>
    <p:sldId id="320" r:id="rId50"/>
    <p:sldId id="321" r:id="rId51"/>
    <p:sldId id="322" r:id="rId52"/>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Arial" charset="0"/>
        <a:ea typeface="+mn-ea"/>
        <a:cs typeface="+mn-cs"/>
      </a:defRPr>
    </a:lvl1pPr>
    <a:lvl2pPr marL="457200" algn="l" rtl="0" eaLnBrk="0" fontAlgn="base" hangingPunct="0">
      <a:spcBef>
        <a:spcPct val="0"/>
      </a:spcBef>
      <a:spcAft>
        <a:spcPct val="0"/>
      </a:spcAft>
      <a:defRPr sz="2400" b="1" kern="1200">
        <a:solidFill>
          <a:schemeClr val="tx1"/>
        </a:solidFill>
        <a:latin typeface="Arial" charset="0"/>
        <a:ea typeface="+mn-ea"/>
        <a:cs typeface="+mn-cs"/>
      </a:defRPr>
    </a:lvl2pPr>
    <a:lvl3pPr marL="914400" algn="l" rtl="0" eaLnBrk="0" fontAlgn="base" hangingPunct="0">
      <a:spcBef>
        <a:spcPct val="0"/>
      </a:spcBef>
      <a:spcAft>
        <a:spcPct val="0"/>
      </a:spcAft>
      <a:defRPr sz="2400" b="1" kern="1200">
        <a:solidFill>
          <a:schemeClr val="tx1"/>
        </a:solidFill>
        <a:latin typeface="Arial" charset="0"/>
        <a:ea typeface="+mn-ea"/>
        <a:cs typeface="+mn-cs"/>
      </a:defRPr>
    </a:lvl3pPr>
    <a:lvl4pPr marL="1371600" algn="l" rtl="0" eaLnBrk="0" fontAlgn="base" hangingPunct="0">
      <a:spcBef>
        <a:spcPct val="0"/>
      </a:spcBef>
      <a:spcAft>
        <a:spcPct val="0"/>
      </a:spcAft>
      <a:defRPr sz="2400" b="1" kern="1200">
        <a:solidFill>
          <a:schemeClr val="tx1"/>
        </a:solidFill>
        <a:latin typeface="Arial" charset="0"/>
        <a:ea typeface="+mn-ea"/>
        <a:cs typeface="+mn-cs"/>
      </a:defRPr>
    </a:lvl4pPr>
    <a:lvl5pPr marL="1828800" algn="l" rtl="0" eaLnBrk="0" fontAlgn="base" hangingPunct="0">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ncongLin" initials="J" lastIdx="2" clrIdx="0">
    <p:extLst>
      <p:ext uri="{19B8F6BF-5375-455C-9EA6-DF929625EA0E}">
        <p15:presenceInfo xmlns:p15="http://schemas.microsoft.com/office/powerpoint/2012/main" userId="JuncongL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FF"/>
    <a:srgbClr val="CC9900"/>
    <a:srgbClr val="990066"/>
    <a:srgbClr val="FF00CC"/>
    <a:srgbClr val="FFCC66"/>
    <a:srgbClr val="FFFFFF"/>
    <a:srgbClr val="336633"/>
    <a:srgbClr val="00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394" autoAdjust="0"/>
  </p:normalViewPr>
  <p:slideViewPr>
    <p:cSldViewPr>
      <p:cViewPr varScale="1">
        <p:scale>
          <a:sx n="152" d="100"/>
          <a:sy n="152" d="100"/>
        </p:scale>
        <p:origin x="206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33" d="100"/>
          <a:sy n="33" d="100"/>
        </p:scale>
        <p:origin x="-1052" y="-7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defRPr sz="1000" b="0" i="1"/>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defRPr sz="1000" b="0" i="1"/>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defRPr sz="1000" b="0" i="1"/>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defRPr sz="1000" b="0" i="1"/>
            </a:lvl1pPr>
          </a:lstStyle>
          <a:p>
            <a:pPr>
              <a:defRPr/>
            </a:pPr>
            <a:fld id="{6F9760AB-977F-4615-82F3-8DF55A68E5D6}" type="slidenum">
              <a:rPr lang="en-US" altLang="zh-CN"/>
              <a:pPr>
                <a:defRPr/>
              </a:pPr>
              <a:t>‹#›</a:t>
            </a:fld>
            <a:endParaRPr lang="en-US" altLang="zh-CN"/>
          </a:p>
        </p:txBody>
      </p:sp>
      <p:sp>
        <p:nvSpPr>
          <p:cNvPr id="3078" name="Rectangle 6"/>
          <p:cNvSpPr>
            <a:spLocks noChangeArrowheads="1"/>
          </p:cNvSpPr>
          <p:nvPr/>
        </p:nvSpPr>
        <p:spPr bwMode="auto">
          <a:xfrm>
            <a:off x="6388100" y="8748713"/>
            <a:ext cx="401638" cy="304800"/>
          </a:xfrm>
          <a:prstGeom prst="rect">
            <a:avLst/>
          </a:prstGeom>
          <a:noFill/>
          <a:ln w="9525">
            <a:noFill/>
            <a:miter lim="800000"/>
            <a:headEnd/>
            <a:tailEnd/>
          </a:ln>
          <a:effectLst/>
        </p:spPr>
        <p:txBody>
          <a:bodyPr wrap="none" lIns="92075" tIns="46038" rIns="92075" bIns="46038" anchor="ctr">
            <a:spAutoFit/>
          </a:bodyPr>
          <a:lstStyle/>
          <a:p>
            <a:pPr algn="r">
              <a:defRPr/>
            </a:pPr>
            <a:fld id="{800E035F-D7FC-48D1-9EAF-D638DB53F1E2}" type="slidenum">
              <a:rPr lang="en-US" altLang="zh-CN" sz="1400" b="0"/>
              <a:pPr algn="r">
                <a:defRPr/>
              </a:pPr>
              <a:t>‹#›</a:t>
            </a:fld>
            <a:endParaRPr lang="en-US" altLang="zh-CN" sz="1400" b="0"/>
          </a:p>
        </p:txBody>
      </p:sp>
    </p:spTree>
    <p:extLst>
      <p:ext uri="{BB962C8B-B14F-4D97-AF65-F5344CB8AC3E}">
        <p14:creationId xmlns:p14="http://schemas.microsoft.com/office/powerpoint/2010/main" val="11643946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defRPr sz="1000" b="0" i="1">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defRPr sz="1000" b="0" i="1">
                <a:latin typeface="Times New Roman" pitchFamily="18" charset="0"/>
              </a:defRPr>
            </a:lvl1pPr>
          </a:lstStyle>
          <a:p>
            <a:pPr>
              <a:defRPr/>
            </a:pPr>
            <a:endParaRPr lang="en-US" altLang="zh-CN"/>
          </a:p>
        </p:txBody>
      </p:sp>
      <p:sp>
        <p:nvSpPr>
          <p:cNvPr id="2052" name="Rectangle 4"/>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defRPr sz="1000" b="0" i="1">
                <a:latin typeface="Times New Roman" pitchFamily="18" charset="0"/>
              </a:defRPr>
            </a:lvl1pPr>
          </a:lstStyle>
          <a:p>
            <a:pPr>
              <a:defRPr/>
            </a:pPr>
            <a:endParaRPr lang="en-US" altLang="zh-CN"/>
          </a:p>
        </p:txBody>
      </p:sp>
      <p:sp>
        <p:nvSpPr>
          <p:cNvPr id="2053" name="Rectangle 5"/>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defRPr sz="1000" b="0" i="1">
                <a:latin typeface="Times New Roman" pitchFamily="18" charset="0"/>
              </a:defRPr>
            </a:lvl1pPr>
          </a:lstStyle>
          <a:p>
            <a:pPr>
              <a:defRPr/>
            </a:pPr>
            <a:fld id="{11BED571-E5F1-424D-995A-4E3B27C438A1}" type="slidenum">
              <a:rPr lang="en-US" altLang="zh-CN"/>
              <a:pPr>
                <a:defRPr/>
              </a:pPr>
              <a:t>‹#›</a:t>
            </a:fld>
            <a:endParaRPr lang="en-US" altLang="zh-CN"/>
          </a:p>
        </p:txBody>
      </p:sp>
      <p:sp>
        <p:nvSpPr>
          <p:cNvPr id="2054" name="Rectangle 6"/>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notes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1511" name="Rectangle 7"/>
          <p:cNvSpPr>
            <a:spLocks noGrp="1" noRot="1" noChangeAspect="1" noChangeArrowheads="1" noTextEdit="1"/>
          </p:cNvSpPr>
          <p:nvPr>
            <p:ph type="sldImg" idx="2"/>
          </p:nvPr>
        </p:nvSpPr>
        <p:spPr bwMode="auto">
          <a:xfrm>
            <a:off x="1149350" y="692150"/>
            <a:ext cx="4559300" cy="3416300"/>
          </a:xfrm>
          <a:prstGeom prst="rect">
            <a:avLst/>
          </a:prstGeom>
          <a:noFill/>
          <a:ln w="12699">
            <a:solidFill>
              <a:schemeClr val="tx1"/>
            </a:solidFill>
            <a:miter lim="800000"/>
            <a:headEnd/>
            <a:tailEnd/>
          </a:ln>
        </p:spPr>
      </p:sp>
      <p:sp>
        <p:nvSpPr>
          <p:cNvPr id="2056" name="Rectangle 8"/>
          <p:cNvSpPr>
            <a:spLocks noChangeArrowheads="1"/>
          </p:cNvSpPr>
          <p:nvPr/>
        </p:nvSpPr>
        <p:spPr bwMode="auto">
          <a:xfrm>
            <a:off x="6388100" y="8748713"/>
            <a:ext cx="401638" cy="304800"/>
          </a:xfrm>
          <a:prstGeom prst="rect">
            <a:avLst/>
          </a:prstGeom>
          <a:noFill/>
          <a:ln w="9525">
            <a:noFill/>
            <a:miter lim="800000"/>
            <a:headEnd/>
            <a:tailEnd/>
          </a:ln>
          <a:effectLst/>
        </p:spPr>
        <p:txBody>
          <a:bodyPr wrap="none" lIns="92075" tIns="46038" rIns="92075" bIns="46038" anchor="ctr">
            <a:spAutoFit/>
          </a:bodyPr>
          <a:lstStyle/>
          <a:p>
            <a:pPr algn="r">
              <a:defRPr/>
            </a:pPr>
            <a:fld id="{5E2CB8CD-A670-4E4A-8A6F-54AD49D8B704}" type="slidenum">
              <a:rPr lang="en-US" altLang="zh-CN" sz="1400" b="0"/>
              <a:pPr algn="r">
                <a:defRPr/>
              </a:pPr>
              <a:t>‹#›</a:t>
            </a:fld>
            <a:endParaRPr lang="en-US" altLang="zh-CN" sz="1400" b="0"/>
          </a:p>
        </p:txBody>
      </p:sp>
    </p:spTree>
    <p:extLst>
      <p:ext uri="{BB962C8B-B14F-4D97-AF65-F5344CB8AC3E}">
        <p14:creationId xmlns:p14="http://schemas.microsoft.com/office/powerpoint/2010/main" val="3654464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Grp="1" noChangeArrowheads="1"/>
          </p:cNvSpPr>
          <p:nvPr>
            <p:ph type="sldNum" sz="quarter" idx="5"/>
          </p:nvPr>
        </p:nvSpPr>
        <p:spPr>
          <a:noFill/>
        </p:spPr>
        <p:txBody>
          <a:bodyPr/>
          <a:lstStyle/>
          <a:p>
            <a:fld id="{72536CCF-0DFC-4852-B5BD-F95A69BE095B}" type="slidenum">
              <a:rPr lang="en-US" altLang="zh-CN" smtClean="0"/>
              <a:pPr/>
              <a:t>1</a:t>
            </a:fld>
            <a:endParaRPr lang="en-US" altLang="zh-CN"/>
          </a:p>
        </p:txBody>
      </p:sp>
      <p:sp>
        <p:nvSpPr>
          <p:cNvPr id="22531" name="Rectangle 2"/>
          <p:cNvSpPr>
            <a:spLocks noGrp="1" noRot="1" noChangeAspect="1" noChangeArrowheads="1" noTextEdit="1"/>
          </p:cNvSpPr>
          <p:nvPr>
            <p:ph type="sldImg"/>
          </p:nvPr>
        </p:nvSpPr>
        <p:spPr>
          <a:xfrm>
            <a:off x="1150938" y="692150"/>
            <a:ext cx="4556125" cy="3416300"/>
          </a:xfrm>
          <a:ln cap="flat"/>
        </p:spPr>
      </p:sp>
      <p:sp>
        <p:nvSpPr>
          <p:cNvPr id="22532" name="Rectangle 3"/>
          <p:cNvSpPr>
            <a:spLocks noGrp="1" noChangeArrowheads="1"/>
          </p:cNvSpPr>
          <p:nvPr>
            <p:ph type="body" idx="1"/>
          </p:nvPr>
        </p:nvSpPr>
        <p:spPr>
          <a:noFill/>
          <a:ln/>
        </p:spPr>
        <p:txBody>
          <a:bodyPr/>
          <a:lstStyle/>
          <a:p>
            <a:pPr algn="l"/>
            <a:endParaRPr lang="zh-CN" altLang="zh-CN" dirty="0"/>
          </a:p>
        </p:txBody>
      </p:sp>
    </p:spTree>
    <p:extLst>
      <p:ext uri="{BB962C8B-B14F-4D97-AF65-F5344CB8AC3E}">
        <p14:creationId xmlns:p14="http://schemas.microsoft.com/office/powerpoint/2010/main" val="139785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a:t>
            </a:fld>
            <a:endParaRPr lang="en-US" altLang="zh-CN"/>
          </a:p>
        </p:txBody>
      </p:sp>
    </p:spTree>
    <p:extLst>
      <p:ext uri="{BB962C8B-B14F-4D97-AF65-F5344CB8AC3E}">
        <p14:creationId xmlns:p14="http://schemas.microsoft.com/office/powerpoint/2010/main" val="2856154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a:t>
            </a:fld>
            <a:endParaRPr lang="en-US" altLang="zh-CN"/>
          </a:p>
        </p:txBody>
      </p:sp>
    </p:spTree>
    <p:extLst>
      <p:ext uri="{BB962C8B-B14F-4D97-AF65-F5344CB8AC3E}">
        <p14:creationId xmlns:p14="http://schemas.microsoft.com/office/powerpoint/2010/main" val="3740052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a:t>
            </a:fld>
            <a:endParaRPr lang="en-US" altLang="zh-CN"/>
          </a:p>
        </p:txBody>
      </p:sp>
    </p:spTree>
    <p:extLst>
      <p:ext uri="{BB962C8B-B14F-4D97-AF65-F5344CB8AC3E}">
        <p14:creationId xmlns:p14="http://schemas.microsoft.com/office/powerpoint/2010/main" val="3480771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a:t>
            </a:fld>
            <a:endParaRPr lang="en-US" altLang="zh-CN"/>
          </a:p>
        </p:txBody>
      </p:sp>
    </p:spTree>
    <p:extLst>
      <p:ext uri="{BB962C8B-B14F-4D97-AF65-F5344CB8AC3E}">
        <p14:creationId xmlns:p14="http://schemas.microsoft.com/office/powerpoint/2010/main" val="4047148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6</a:t>
            </a:fld>
            <a:endParaRPr lang="en-US" altLang="zh-CN"/>
          </a:p>
        </p:txBody>
      </p:sp>
    </p:spTree>
    <p:extLst>
      <p:ext uri="{BB962C8B-B14F-4D97-AF65-F5344CB8AC3E}">
        <p14:creationId xmlns:p14="http://schemas.microsoft.com/office/powerpoint/2010/main" val="1710424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7</a:t>
            </a:fld>
            <a:endParaRPr lang="en-US" altLang="zh-CN"/>
          </a:p>
        </p:txBody>
      </p:sp>
    </p:spTree>
    <p:extLst>
      <p:ext uri="{BB962C8B-B14F-4D97-AF65-F5344CB8AC3E}">
        <p14:creationId xmlns:p14="http://schemas.microsoft.com/office/powerpoint/2010/main" val="3371730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8</a:t>
            </a:fld>
            <a:endParaRPr lang="en-US" altLang="zh-CN"/>
          </a:p>
        </p:txBody>
      </p:sp>
    </p:spTree>
    <p:extLst>
      <p:ext uri="{BB962C8B-B14F-4D97-AF65-F5344CB8AC3E}">
        <p14:creationId xmlns:p14="http://schemas.microsoft.com/office/powerpoint/2010/main" val="3218987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9</a:t>
            </a:fld>
            <a:endParaRPr lang="en-US" altLang="zh-CN"/>
          </a:p>
        </p:txBody>
      </p:sp>
    </p:spTree>
    <p:extLst>
      <p:ext uri="{BB962C8B-B14F-4D97-AF65-F5344CB8AC3E}">
        <p14:creationId xmlns:p14="http://schemas.microsoft.com/office/powerpoint/2010/main" val="899534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10</a:t>
            </a:fld>
            <a:endParaRPr lang="en-US" altLang="zh-CN"/>
          </a:p>
        </p:txBody>
      </p:sp>
    </p:spTree>
    <p:extLst>
      <p:ext uri="{BB962C8B-B14F-4D97-AF65-F5344CB8AC3E}">
        <p14:creationId xmlns:p14="http://schemas.microsoft.com/office/powerpoint/2010/main" val="2354706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11</a:t>
            </a:fld>
            <a:endParaRPr lang="en-US" altLang="zh-CN"/>
          </a:p>
        </p:txBody>
      </p:sp>
    </p:spTree>
    <p:extLst>
      <p:ext uri="{BB962C8B-B14F-4D97-AF65-F5344CB8AC3E}">
        <p14:creationId xmlns:p14="http://schemas.microsoft.com/office/powerpoint/2010/main" val="345219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12</a:t>
            </a:fld>
            <a:endParaRPr lang="en-US" altLang="zh-CN"/>
          </a:p>
        </p:txBody>
      </p:sp>
    </p:spTree>
    <p:extLst>
      <p:ext uri="{BB962C8B-B14F-4D97-AF65-F5344CB8AC3E}">
        <p14:creationId xmlns:p14="http://schemas.microsoft.com/office/powerpoint/2010/main" val="841645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13</a:t>
            </a:fld>
            <a:endParaRPr lang="en-US" altLang="zh-CN"/>
          </a:p>
        </p:txBody>
      </p:sp>
    </p:spTree>
    <p:extLst>
      <p:ext uri="{BB962C8B-B14F-4D97-AF65-F5344CB8AC3E}">
        <p14:creationId xmlns:p14="http://schemas.microsoft.com/office/powerpoint/2010/main" val="1019090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14</a:t>
            </a:fld>
            <a:endParaRPr lang="en-US" altLang="zh-CN"/>
          </a:p>
        </p:txBody>
      </p:sp>
    </p:spTree>
    <p:extLst>
      <p:ext uri="{BB962C8B-B14F-4D97-AF65-F5344CB8AC3E}">
        <p14:creationId xmlns:p14="http://schemas.microsoft.com/office/powerpoint/2010/main" val="464279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15</a:t>
            </a:fld>
            <a:endParaRPr lang="en-US" altLang="zh-CN"/>
          </a:p>
        </p:txBody>
      </p:sp>
    </p:spTree>
    <p:extLst>
      <p:ext uri="{BB962C8B-B14F-4D97-AF65-F5344CB8AC3E}">
        <p14:creationId xmlns:p14="http://schemas.microsoft.com/office/powerpoint/2010/main" val="1508698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16</a:t>
            </a:fld>
            <a:endParaRPr lang="en-US" altLang="zh-CN"/>
          </a:p>
        </p:txBody>
      </p:sp>
    </p:spTree>
    <p:extLst>
      <p:ext uri="{BB962C8B-B14F-4D97-AF65-F5344CB8AC3E}">
        <p14:creationId xmlns:p14="http://schemas.microsoft.com/office/powerpoint/2010/main" val="4029592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17</a:t>
            </a:fld>
            <a:endParaRPr lang="en-US" altLang="zh-CN"/>
          </a:p>
        </p:txBody>
      </p:sp>
    </p:spTree>
    <p:extLst>
      <p:ext uri="{BB962C8B-B14F-4D97-AF65-F5344CB8AC3E}">
        <p14:creationId xmlns:p14="http://schemas.microsoft.com/office/powerpoint/2010/main" val="36017226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18</a:t>
            </a:fld>
            <a:endParaRPr lang="en-US" altLang="zh-CN"/>
          </a:p>
        </p:txBody>
      </p:sp>
    </p:spTree>
    <p:extLst>
      <p:ext uri="{BB962C8B-B14F-4D97-AF65-F5344CB8AC3E}">
        <p14:creationId xmlns:p14="http://schemas.microsoft.com/office/powerpoint/2010/main" val="427865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19</a:t>
            </a:fld>
            <a:endParaRPr lang="en-US" altLang="zh-CN"/>
          </a:p>
        </p:txBody>
      </p:sp>
    </p:spTree>
    <p:extLst>
      <p:ext uri="{BB962C8B-B14F-4D97-AF65-F5344CB8AC3E}">
        <p14:creationId xmlns:p14="http://schemas.microsoft.com/office/powerpoint/2010/main" val="12751705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20</a:t>
            </a:fld>
            <a:endParaRPr lang="en-US" altLang="zh-CN"/>
          </a:p>
        </p:txBody>
      </p:sp>
    </p:spTree>
    <p:extLst>
      <p:ext uri="{BB962C8B-B14F-4D97-AF65-F5344CB8AC3E}">
        <p14:creationId xmlns:p14="http://schemas.microsoft.com/office/powerpoint/2010/main" val="3002027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21</a:t>
            </a:fld>
            <a:endParaRPr lang="en-US" altLang="zh-CN"/>
          </a:p>
        </p:txBody>
      </p:sp>
    </p:spTree>
    <p:extLst>
      <p:ext uri="{BB962C8B-B14F-4D97-AF65-F5344CB8AC3E}">
        <p14:creationId xmlns:p14="http://schemas.microsoft.com/office/powerpoint/2010/main" val="3638588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23</a:t>
            </a:fld>
            <a:endParaRPr lang="en-US" altLang="zh-CN"/>
          </a:p>
        </p:txBody>
      </p:sp>
    </p:spTree>
    <p:extLst>
      <p:ext uri="{BB962C8B-B14F-4D97-AF65-F5344CB8AC3E}">
        <p14:creationId xmlns:p14="http://schemas.microsoft.com/office/powerpoint/2010/main" val="2139338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24</a:t>
            </a:fld>
            <a:endParaRPr lang="en-US" altLang="zh-CN"/>
          </a:p>
        </p:txBody>
      </p:sp>
    </p:spTree>
    <p:extLst>
      <p:ext uri="{BB962C8B-B14F-4D97-AF65-F5344CB8AC3E}">
        <p14:creationId xmlns:p14="http://schemas.microsoft.com/office/powerpoint/2010/main" val="22027531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25</a:t>
            </a:fld>
            <a:endParaRPr lang="en-US" altLang="zh-CN"/>
          </a:p>
        </p:txBody>
      </p:sp>
    </p:spTree>
    <p:extLst>
      <p:ext uri="{BB962C8B-B14F-4D97-AF65-F5344CB8AC3E}">
        <p14:creationId xmlns:p14="http://schemas.microsoft.com/office/powerpoint/2010/main" val="2662462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26</a:t>
            </a:fld>
            <a:endParaRPr lang="en-US" altLang="zh-CN"/>
          </a:p>
        </p:txBody>
      </p:sp>
    </p:spTree>
    <p:extLst>
      <p:ext uri="{BB962C8B-B14F-4D97-AF65-F5344CB8AC3E}">
        <p14:creationId xmlns:p14="http://schemas.microsoft.com/office/powerpoint/2010/main" val="34118016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27</a:t>
            </a:fld>
            <a:endParaRPr lang="en-US" altLang="zh-CN"/>
          </a:p>
        </p:txBody>
      </p:sp>
    </p:spTree>
    <p:extLst>
      <p:ext uri="{BB962C8B-B14F-4D97-AF65-F5344CB8AC3E}">
        <p14:creationId xmlns:p14="http://schemas.microsoft.com/office/powerpoint/2010/main" val="3378817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28</a:t>
            </a:fld>
            <a:endParaRPr lang="en-US" altLang="zh-CN"/>
          </a:p>
        </p:txBody>
      </p:sp>
    </p:spTree>
    <p:extLst>
      <p:ext uri="{BB962C8B-B14F-4D97-AF65-F5344CB8AC3E}">
        <p14:creationId xmlns:p14="http://schemas.microsoft.com/office/powerpoint/2010/main" val="9514934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29</a:t>
            </a:fld>
            <a:endParaRPr lang="en-US" altLang="zh-CN"/>
          </a:p>
        </p:txBody>
      </p:sp>
    </p:spTree>
    <p:extLst>
      <p:ext uri="{BB962C8B-B14F-4D97-AF65-F5344CB8AC3E}">
        <p14:creationId xmlns:p14="http://schemas.microsoft.com/office/powerpoint/2010/main" val="9828989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30</a:t>
            </a:fld>
            <a:endParaRPr lang="en-US" altLang="zh-CN"/>
          </a:p>
        </p:txBody>
      </p:sp>
    </p:spTree>
    <p:extLst>
      <p:ext uri="{BB962C8B-B14F-4D97-AF65-F5344CB8AC3E}">
        <p14:creationId xmlns:p14="http://schemas.microsoft.com/office/powerpoint/2010/main" val="17731258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31</a:t>
            </a:fld>
            <a:endParaRPr lang="en-US" altLang="zh-CN"/>
          </a:p>
        </p:txBody>
      </p:sp>
    </p:spTree>
    <p:extLst>
      <p:ext uri="{BB962C8B-B14F-4D97-AF65-F5344CB8AC3E}">
        <p14:creationId xmlns:p14="http://schemas.microsoft.com/office/powerpoint/2010/main" val="380575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32</a:t>
            </a:fld>
            <a:endParaRPr lang="en-US" altLang="zh-CN"/>
          </a:p>
        </p:txBody>
      </p:sp>
    </p:spTree>
    <p:extLst>
      <p:ext uri="{BB962C8B-B14F-4D97-AF65-F5344CB8AC3E}">
        <p14:creationId xmlns:p14="http://schemas.microsoft.com/office/powerpoint/2010/main" val="39674217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33</a:t>
            </a:fld>
            <a:endParaRPr lang="en-US" altLang="zh-CN"/>
          </a:p>
        </p:txBody>
      </p:sp>
    </p:spTree>
    <p:extLst>
      <p:ext uri="{BB962C8B-B14F-4D97-AF65-F5344CB8AC3E}">
        <p14:creationId xmlns:p14="http://schemas.microsoft.com/office/powerpoint/2010/main" val="4019410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34</a:t>
            </a:fld>
            <a:endParaRPr lang="en-US" altLang="zh-CN"/>
          </a:p>
        </p:txBody>
      </p:sp>
    </p:spTree>
    <p:extLst>
      <p:ext uri="{BB962C8B-B14F-4D97-AF65-F5344CB8AC3E}">
        <p14:creationId xmlns:p14="http://schemas.microsoft.com/office/powerpoint/2010/main" val="6383931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35</a:t>
            </a:fld>
            <a:endParaRPr lang="en-US" altLang="zh-CN"/>
          </a:p>
        </p:txBody>
      </p:sp>
    </p:spTree>
    <p:extLst>
      <p:ext uri="{BB962C8B-B14F-4D97-AF65-F5344CB8AC3E}">
        <p14:creationId xmlns:p14="http://schemas.microsoft.com/office/powerpoint/2010/main" val="27750373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36</a:t>
            </a:fld>
            <a:endParaRPr lang="en-US" altLang="zh-CN"/>
          </a:p>
        </p:txBody>
      </p:sp>
    </p:spTree>
    <p:extLst>
      <p:ext uri="{BB962C8B-B14F-4D97-AF65-F5344CB8AC3E}">
        <p14:creationId xmlns:p14="http://schemas.microsoft.com/office/powerpoint/2010/main" val="19956523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37</a:t>
            </a:fld>
            <a:endParaRPr lang="en-US" altLang="zh-CN"/>
          </a:p>
        </p:txBody>
      </p:sp>
    </p:spTree>
    <p:extLst>
      <p:ext uri="{BB962C8B-B14F-4D97-AF65-F5344CB8AC3E}">
        <p14:creationId xmlns:p14="http://schemas.microsoft.com/office/powerpoint/2010/main" val="33418664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38</a:t>
            </a:fld>
            <a:endParaRPr lang="en-US" altLang="zh-CN"/>
          </a:p>
        </p:txBody>
      </p:sp>
    </p:spTree>
    <p:extLst>
      <p:ext uri="{BB962C8B-B14F-4D97-AF65-F5344CB8AC3E}">
        <p14:creationId xmlns:p14="http://schemas.microsoft.com/office/powerpoint/2010/main" val="35078194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39</a:t>
            </a:fld>
            <a:endParaRPr lang="en-US" altLang="zh-CN"/>
          </a:p>
        </p:txBody>
      </p:sp>
    </p:spTree>
    <p:extLst>
      <p:ext uri="{BB962C8B-B14F-4D97-AF65-F5344CB8AC3E}">
        <p14:creationId xmlns:p14="http://schemas.microsoft.com/office/powerpoint/2010/main" val="42636751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40</a:t>
            </a:fld>
            <a:endParaRPr lang="en-US" altLang="zh-CN"/>
          </a:p>
        </p:txBody>
      </p:sp>
    </p:spTree>
    <p:extLst>
      <p:ext uri="{BB962C8B-B14F-4D97-AF65-F5344CB8AC3E}">
        <p14:creationId xmlns:p14="http://schemas.microsoft.com/office/powerpoint/2010/main" val="30095264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41</a:t>
            </a:fld>
            <a:endParaRPr lang="en-US" altLang="zh-CN"/>
          </a:p>
        </p:txBody>
      </p:sp>
    </p:spTree>
    <p:extLst>
      <p:ext uri="{BB962C8B-B14F-4D97-AF65-F5344CB8AC3E}">
        <p14:creationId xmlns:p14="http://schemas.microsoft.com/office/powerpoint/2010/main" val="212709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42</a:t>
            </a:fld>
            <a:endParaRPr lang="en-US" altLang="zh-CN"/>
          </a:p>
        </p:txBody>
      </p:sp>
    </p:spTree>
    <p:extLst>
      <p:ext uri="{BB962C8B-B14F-4D97-AF65-F5344CB8AC3E}">
        <p14:creationId xmlns:p14="http://schemas.microsoft.com/office/powerpoint/2010/main" val="10448495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43</a:t>
            </a:fld>
            <a:endParaRPr lang="en-US" altLang="zh-CN"/>
          </a:p>
        </p:txBody>
      </p:sp>
    </p:spTree>
    <p:extLst>
      <p:ext uri="{BB962C8B-B14F-4D97-AF65-F5344CB8AC3E}">
        <p14:creationId xmlns:p14="http://schemas.microsoft.com/office/powerpoint/2010/main" val="23985224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44</a:t>
            </a:fld>
            <a:endParaRPr lang="en-US" altLang="zh-CN"/>
          </a:p>
        </p:txBody>
      </p:sp>
    </p:spTree>
    <p:extLst>
      <p:ext uri="{BB962C8B-B14F-4D97-AF65-F5344CB8AC3E}">
        <p14:creationId xmlns:p14="http://schemas.microsoft.com/office/powerpoint/2010/main" val="35459198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45</a:t>
            </a:fld>
            <a:endParaRPr lang="en-US" altLang="zh-CN"/>
          </a:p>
        </p:txBody>
      </p:sp>
    </p:spTree>
    <p:extLst>
      <p:ext uri="{BB962C8B-B14F-4D97-AF65-F5344CB8AC3E}">
        <p14:creationId xmlns:p14="http://schemas.microsoft.com/office/powerpoint/2010/main" val="37526887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46</a:t>
            </a:fld>
            <a:endParaRPr lang="en-US" altLang="zh-CN"/>
          </a:p>
        </p:txBody>
      </p:sp>
    </p:spTree>
    <p:extLst>
      <p:ext uri="{BB962C8B-B14F-4D97-AF65-F5344CB8AC3E}">
        <p14:creationId xmlns:p14="http://schemas.microsoft.com/office/powerpoint/2010/main" val="26911310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47</a:t>
            </a:fld>
            <a:endParaRPr lang="en-US" altLang="zh-CN"/>
          </a:p>
        </p:txBody>
      </p:sp>
    </p:spTree>
    <p:extLst>
      <p:ext uri="{BB962C8B-B14F-4D97-AF65-F5344CB8AC3E}">
        <p14:creationId xmlns:p14="http://schemas.microsoft.com/office/powerpoint/2010/main" val="13388148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48</a:t>
            </a:fld>
            <a:endParaRPr lang="en-US" altLang="zh-CN"/>
          </a:p>
        </p:txBody>
      </p:sp>
    </p:spTree>
    <p:extLst>
      <p:ext uri="{BB962C8B-B14F-4D97-AF65-F5344CB8AC3E}">
        <p14:creationId xmlns:p14="http://schemas.microsoft.com/office/powerpoint/2010/main" val="40297814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49</a:t>
            </a:fld>
            <a:endParaRPr lang="en-US" altLang="zh-CN"/>
          </a:p>
        </p:txBody>
      </p:sp>
    </p:spTree>
    <p:extLst>
      <p:ext uri="{BB962C8B-B14F-4D97-AF65-F5344CB8AC3E}">
        <p14:creationId xmlns:p14="http://schemas.microsoft.com/office/powerpoint/2010/main" val="28777962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50</a:t>
            </a:fld>
            <a:endParaRPr lang="en-US" altLang="zh-CN"/>
          </a:p>
        </p:txBody>
      </p:sp>
    </p:spTree>
    <p:extLst>
      <p:ext uri="{BB962C8B-B14F-4D97-AF65-F5344CB8AC3E}">
        <p14:creationId xmlns:p14="http://schemas.microsoft.com/office/powerpoint/2010/main" val="29717610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51</a:t>
            </a:fld>
            <a:endParaRPr lang="en-US" altLang="zh-CN"/>
          </a:p>
        </p:txBody>
      </p:sp>
    </p:spTree>
    <p:extLst>
      <p:ext uri="{BB962C8B-B14F-4D97-AF65-F5344CB8AC3E}">
        <p14:creationId xmlns:p14="http://schemas.microsoft.com/office/powerpoint/2010/main" val="1282278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2362200" y="4038600"/>
            <a:ext cx="6477000" cy="1828800"/>
          </a:xfrm>
        </p:spPr>
        <p:txBody>
          <a:bodyPr anchor="b"/>
          <a:lstStyle>
            <a:lvl1pPr>
              <a:defRPr cap="all" baseline="0"/>
            </a:lvl1pPr>
          </a:lstStyle>
          <a:p>
            <a:r>
              <a:rPr kumimoji="0" lang="zh-CN" altLang="en-US"/>
              <a:t>单击此处编辑母版标题样式</a:t>
            </a:r>
            <a:endParaRPr kumimoji="0" lang="en-US"/>
          </a:p>
        </p:txBody>
      </p:sp>
      <p:sp>
        <p:nvSpPr>
          <p:cNvPr id="9" name="副标题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defRPr/>
            </a:pPr>
            <a:endParaRPr lang="en-US" altLang="zh-CN"/>
          </a:p>
        </p:txBody>
      </p:sp>
      <p:sp>
        <p:nvSpPr>
          <p:cNvPr id="17" name="页脚占位符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defRPr/>
            </a:pPr>
            <a:endParaRPr lang="en-US" altLang="zh-CN"/>
          </a:p>
        </p:txBody>
      </p:sp>
      <p:sp>
        <p:nvSpPr>
          <p:cNvPr id="29" name="灯片编号占位符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ADCF3EF2-F322-4E21-864D-1732D6788AEE}" type="slidenum">
              <a:rPr lang="en-US" altLang="zh-CN" smtClean="0"/>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2648" y="228600"/>
            <a:ext cx="8153400" cy="990600"/>
          </a:xfrm>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lvl1pPr>
              <a:defRPr>
                <a:solidFill>
                  <a:srgbClr val="FFFFFF"/>
                </a:solidFill>
              </a:defRPr>
            </a:lvl1pPr>
          </a:lstStyle>
          <a:p>
            <a:pPr>
              <a:defRPr/>
            </a:pPr>
            <a:fld id="{FF1D26DA-BD19-4D67-A8CD-98DF63851E82}" type="slidenum">
              <a:rPr lang="en-US" altLang="zh-CN" smtClean="0"/>
              <a:pPr>
                <a:defRPr/>
              </a:pPr>
              <a:t>‹#›</a:t>
            </a:fld>
            <a:endParaRPr lang="en-US" altLang="zh-CN"/>
          </a:p>
        </p:txBody>
      </p:sp>
      <p:sp>
        <p:nvSpPr>
          <p:cNvPr id="8" name="内容占位符 7"/>
          <p:cNvSpPr>
            <a:spLocks noGrp="1"/>
          </p:cNvSpPr>
          <p:nvPr>
            <p:ph sz="quarter" idx="1"/>
          </p:nvPr>
        </p:nvSpPr>
        <p:spPr>
          <a:xfrm>
            <a:off x="612648" y="1600200"/>
            <a:ext cx="8153400" cy="44958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7" name="矩形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pPr>
              <a:defRPr/>
            </a:pPr>
            <a:endParaRPr lang="en-US" altLang="zh-CN"/>
          </a:p>
        </p:txBody>
      </p:sp>
      <p:sp>
        <p:nvSpPr>
          <p:cNvPr id="13" name="灯片编号占位符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defRPr/>
            </a:pPr>
            <a:fld id="{E4682576-72A6-44EC-96B8-1AE56513EF83}" type="slidenum">
              <a:rPr lang="en-US" altLang="zh-CN" smtClean="0"/>
              <a:pPr>
                <a:defRPr/>
              </a:pPr>
              <a:t>‹#›</a:t>
            </a:fld>
            <a:endParaRPr lang="en-US" altLang="zh-CN"/>
          </a:p>
        </p:txBody>
      </p:sp>
      <p:sp>
        <p:nvSpPr>
          <p:cNvPr id="14" name="页脚占位符 13"/>
          <p:cNvSpPr>
            <a:spLocks noGrp="1"/>
          </p:cNvSpPr>
          <p:nvPr>
            <p:ph type="ftr" sz="quarter" idx="12"/>
          </p:nvPr>
        </p:nvSpPr>
        <p:spPr/>
        <p:txBody>
          <a:body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9" name="内容占位符 8"/>
          <p:cNvSpPr>
            <a:spLocks noGrp="1"/>
          </p:cNvSpPr>
          <p:nvPr>
            <p:ph sz="quarter" idx="1"/>
          </p:nvPr>
        </p:nvSpPr>
        <p:spPr>
          <a:xfrm>
            <a:off x="609600" y="1589567"/>
            <a:ext cx="3886200" cy="4572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844901" y="1589567"/>
            <a:ext cx="3886200" cy="4572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8" name="日期占位符 7"/>
          <p:cNvSpPr>
            <a:spLocks noGrp="1"/>
          </p:cNvSpPr>
          <p:nvPr>
            <p:ph type="dt" sz="half" idx="15"/>
          </p:nvPr>
        </p:nvSpPr>
        <p:spPr/>
        <p:txBody>
          <a:bodyPr rtlCol="0"/>
          <a:lstStyle/>
          <a:p>
            <a:pPr>
              <a:defRPr/>
            </a:pPr>
            <a:endParaRPr lang="en-US" altLang="zh-CN"/>
          </a:p>
        </p:txBody>
      </p:sp>
      <p:sp>
        <p:nvSpPr>
          <p:cNvPr id="10" name="灯片编号占位符 9"/>
          <p:cNvSpPr>
            <a:spLocks noGrp="1"/>
          </p:cNvSpPr>
          <p:nvPr>
            <p:ph type="sldNum" sz="quarter" idx="16"/>
          </p:nvPr>
        </p:nvSpPr>
        <p:spPr/>
        <p:txBody>
          <a:bodyPr rtlCol="0"/>
          <a:lstStyle/>
          <a:p>
            <a:pPr>
              <a:defRPr/>
            </a:pPr>
            <a:fld id="{EA7C041F-B668-4702-B9BD-BC37AC265F9E}" type="slidenum">
              <a:rPr lang="en-US" altLang="zh-CN" smtClean="0"/>
              <a:pPr>
                <a:defRPr/>
              </a:pPr>
              <a:t>‹#›</a:t>
            </a:fld>
            <a:endParaRPr lang="en-US" altLang="zh-CN"/>
          </a:p>
        </p:txBody>
      </p:sp>
      <p:sp>
        <p:nvSpPr>
          <p:cNvPr id="12" name="页脚占位符 11"/>
          <p:cNvSpPr>
            <a:spLocks noGrp="1"/>
          </p:cNvSpPr>
          <p:nvPr>
            <p:ph type="ftr" sz="quarter" idx="17"/>
          </p:nvPr>
        </p:nvSpPr>
        <p:spPr/>
        <p:txBody>
          <a:bodyPr rtlCol="0"/>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3400" y="273050"/>
            <a:ext cx="81534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609600" y="2438400"/>
            <a:ext cx="3886200" cy="35814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quarter" idx="4"/>
          </p:nvPr>
        </p:nvSpPr>
        <p:spPr>
          <a:xfrm>
            <a:off x="4800600" y="2438400"/>
            <a:ext cx="3886200" cy="35814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5"/>
          </p:nvPr>
        </p:nvSpPr>
        <p:spPr/>
        <p:txBody>
          <a:bodyPr rtlCol="0"/>
          <a:lstStyle/>
          <a:p>
            <a:pPr>
              <a:defRPr/>
            </a:pPr>
            <a:endParaRPr lang="en-US" altLang="zh-CN"/>
          </a:p>
        </p:txBody>
      </p:sp>
      <p:sp>
        <p:nvSpPr>
          <p:cNvPr id="12" name="灯片编号占位符 11"/>
          <p:cNvSpPr>
            <a:spLocks noGrp="1"/>
          </p:cNvSpPr>
          <p:nvPr>
            <p:ph type="sldNum" sz="quarter" idx="16"/>
          </p:nvPr>
        </p:nvSpPr>
        <p:spPr/>
        <p:txBody>
          <a:bodyPr rtlCol="0"/>
          <a:lstStyle/>
          <a:p>
            <a:pPr>
              <a:defRPr/>
            </a:pPr>
            <a:fld id="{1D53936C-6C9A-4D0B-A677-26540B786F56}" type="slidenum">
              <a:rPr lang="en-US" altLang="zh-CN" smtClean="0"/>
              <a:pPr>
                <a:defRPr/>
              </a:pPr>
              <a:t>‹#›</a:t>
            </a:fld>
            <a:endParaRPr lang="en-US" altLang="zh-CN"/>
          </a:p>
        </p:txBody>
      </p:sp>
      <p:sp>
        <p:nvSpPr>
          <p:cNvPr id="14" name="页脚占位符 13"/>
          <p:cNvSpPr>
            <a:spLocks noGrp="1"/>
          </p:cNvSpPr>
          <p:nvPr>
            <p:ph type="ftr" sz="quarter" idx="17"/>
          </p:nvPr>
        </p:nvSpPr>
        <p:spPr/>
        <p:txBody>
          <a:bodyPr rtlCol="0"/>
          <a:lstStyle/>
          <a:p>
            <a:pPr>
              <a:defRPr/>
            </a:pPr>
            <a:endParaRPr lang="en-US" altLang="zh-CN"/>
          </a:p>
        </p:txBody>
      </p:sp>
      <p:sp>
        <p:nvSpPr>
          <p:cNvPr id="16" name="文本占位符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lvl1pPr>
              <a:defRPr>
                <a:solidFill>
                  <a:srgbClr val="FFFFFF"/>
                </a:solidFill>
              </a:defRPr>
            </a:lvl1pPr>
          </a:lstStyle>
          <a:p>
            <a:pPr>
              <a:defRPr/>
            </a:pPr>
            <a:fld id="{7BB40C4A-E2FA-41F7-B524-CB2D71B451BD}" type="slidenum">
              <a:rPr lang="en-US" altLang="zh-CN"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BA7CE023-F055-424B-845A-AF251D9171BF}" type="slidenum">
              <a:rPr lang="en-US" altLang="zh-CN"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8077200" cy="869950"/>
          </a:xfrm>
        </p:spPr>
        <p:txBody>
          <a:bodyPr anchor="ctr"/>
          <a:lstStyle>
            <a:lvl1pPr algn="l">
              <a:buNone/>
              <a:defRPr sz="4400" b="0"/>
            </a:lvl1p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lvl1pPr>
              <a:defRPr>
                <a:solidFill>
                  <a:srgbClr val="FFFFFF"/>
                </a:solidFill>
              </a:defRPr>
            </a:lvl1pPr>
          </a:lstStyle>
          <a:p>
            <a:pPr>
              <a:defRPr/>
            </a:pPr>
            <a:fld id="{B62F658C-F11C-40E2-8256-0F2B2C446C58}" type="slidenum">
              <a:rPr lang="en-US" altLang="zh-CN" smtClean="0"/>
              <a:pPr>
                <a:defRPr/>
              </a:pPr>
              <a:t>‹#›</a:t>
            </a:fld>
            <a:endParaRPr lang="en-US" altLang="zh-CN"/>
          </a:p>
        </p:txBody>
      </p:sp>
      <p:sp>
        <p:nvSpPr>
          <p:cNvPr id="3" name="文本占位符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9" name="内容占位符 8"/>
          <p:cNvSpPr>
            <a:spLocks noGrp="1"/>
          </p:cNvSpPr>
          <p:nvPr>
            <p:ph sz="quarter" idx="1"/>
          </p:nvPr>
        </p:nvSpPr>
        <p:spPr>
          <a:xfrm>
            <a:off x="2362200" y="1752600"/>
            <a:ext cx="6400800" cy="44196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a:t>单击此处编辑母版文本样式</a:t>
            </a:r>
          </a:p>
        </p:txBody>
      </p:sp>
      <p:sp>
        <p:nvSpPr>
          <p:cNvPr id="8" name="矩形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zh-CN" altLang="en-US"/>
              <a:t>单击此处编辑母版标题样式</a:t>
            </a:r>
            <a:endParaRPr kumimoji="0" lang="en-US"/>
          </a:p>
        </p:txBody>
      </p:sp>
      <p:sp>
        <p:nvSpPr>
          <p:cNvPr id="11" name="矩形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日期占位符 11"/>
          <p:cNvSpPr>
            <a:spLocks noGrp="1"/>
          </p:cNvSpPr>
          <p:nvPr>
            <p:ph type="dt" sz="half" idx="10"/>
          </p:nvPr>
        </p:nvSpPr>
        <p:spPr>
          <a:xfrm>
            <a:off x="6248400" y="6248400"/>
            <a:ext cx="2667000" cy="365125"/>
          </a:xfrm>
        </p:spPr>
        <p:txBody>
          <a:bodyPr rtlCol="0"/>
          <a:lstStyle/>
          <a:p>
            <a:pPr>
              <a:defRPr/>
            </a:pPr>
            <a:endParaRPr lang="en-US" altLang="zh-CN"/>
          </a:p>
        </p:txBody>
      </p:sp>
      <p:sp>
        <p:nvSpPr>
          <p:cNvPr id="13" name="灯片编号占位符 12"/>
          <p:cNvSpPr>
            <a:spLocks noGrp="1"/>
          </p:cNvSpPr>
          <p:nvPr>
            <p:ph type="sldNum" sz="quarter" idx="11"/>
          </p:nvPr>
        </p:nvSpPr>
        <p:spPr>
          <a:xfrm>
            <a:off x="0" y="4667249"/>
            <a:ext cx="1447800" cy="663578"/>
          </a:xfrm>
        </p:spPr>
        <p:txBody>
          <a:bodyPr rtlCol="0"/>
          <a:lstStyle>
            <a:lvl1pPr>
              <a:defRPr sz="2800"/>
            </a:lvl1pPr>
          </a:lstStyle>
          <a:p>
            <a:pPr>
              <a:defRPr/>
            </a:pPr>
            <a:fld id="{089A224F-FD21-49DA-84E3-EA3B65ACB0B4}" type="slidenum">
              <a:rPr lang="en-US" altLang="zh-CN" smtClean="0"/>
              <a:pPr>
                <a:defRPr/>
              </a:pPr>
              <a:t>‹#›</a:t>
            </a:fld>
            <a:endParaRPr lang="en-US" altLang="zh-CN"/>
          </a:p>
        </p:txBody>
      </p:sp>
      <p:sp>
        <p:nvSpPr>
          <p:cNvPr id="14" name="页脚占位符 13"/>
          <p:cNvSpPr>
            <a:spLocks noGrp="1"/>
          </p:cNvSpPr>
          <p:nvPr>
            <p:ph type="ftr" sz="quarter" idx="12"/>
          </p:nvPr>
        </p:nvSpPr>
        <p:spPr>
          <a:xfrm>
            <a:off x="1600200" y="6248206"/>
            <a:ext cx="4572000" cy="365125"/>
          </a:xfrm>
        </p:spPr>
        <p:txBody>
          <a:bodyPr rtlCol="0"/>
          <a:lstStyle/>
          <a:p>
            <a:pPr>
              <a:defRPr/>
            </a:pPr>
            <a:endParaRPr lang="en-US" altLang="zh-CN"/>
          </a:p>
        </p:txBody>
      </p:sp>
      <p:sp>
        <p:nvSpPr>
          <p:cNvPr id="3" name="图片占位符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zh-CN" altLang="en-US"/>
              <a:t>单击图标添加图片</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9409584E-468D-4873-AFC9-B471BECCB485}" type="slidenum">
              <a:rPr lang="en-US" altLang="zh-CN"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609600"/>
            <a:ext cx="2057400" cy="5516563"/>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609600"/>
            <a:ext cx="5562600" cy="5516564"/>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6553200" y="6248402"/>
            <a:ext cx="2209800" cy="365125"/>
          </a:xfrm>
        </p:spPr>
        <p:txBody>
          <a:bodyPr/>
          <a:lstStyle/>
          <a:p>
            <a:pPr>
              <a:defRPr/>
            </a:pPr>
            <a:endParaRPr lang="en-US" altLang="zh-CN"/>
          </a:p>
        </p:txBody>
      </p:sp>
      <p:sp>
        <p:nvSpPr>
          <p:cNvPr id="5" name="页脚占位符 4"/>
          <p:cNvSpPr>
            <a:spLocks noGrp="1"/>
          </p:cNvSpPr>
          <p:nvPr>
            <p:ph type="ftr" sz="quarter" idx="11"/>
          </p:nvPr>
        </p:nvSpPr>
        <p:spPr>
          <a:xfrm>
            <a:off x="457201" y="6248207"/>
            <a:ext cx="5573483" cy="365125"/>
          </a:xfrm>
        </p:spPr>
        <p:txBody>
          <a:bodyPr/>
          <a:lstStyle/>
          <a:p>
            <a:pPr>
              <a:defRPr/>
            </a:pPr>
            <a:endParaRPr lang="en-US" altLang="zh-CN"/>
          </a:p>
        </p:txBody>
      </p:sp>
      <p:sp>
        <p:nvSpPr>
          <p:cNvPr id="7" name="矩形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矩形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灯片编号占位符 5"/>
          <p:cNvSpPr>
            <a:spLocks noGrp="1"/>
          </p:cNvSpPr>
          <p:nvPr>
            <p:ph type="sldNum" sz="quarter" idx="12"/>
          </p:nvPr>
        </p:nvSpPr>
        <p:spPr>
          <a:xfrm rot="5400000">
            <a:off x="5989638" y="144462"/>
            <a:ext cx="533400" cy="244476"/>
          </a:xfrm>
        </p:spPr>
        <p:txBody>
          <a:bodyPr/>
          <a:lstStyle/>
          <a:p>
            <a:pPr>
              <a:defRPr/>
            </a:pPr>
            <a:fld id="{29838B03-967F-4B5A-AE44-FB1928A13337}" type="slidenum">
              <a:rPr lang="en-US" altLang="zh-CN"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609600" y="228600"/>
            <a:ext cx="8153400" cy="990600"/>
          </a:xfrm>
          <a:prstGeom prst="rect">
            <a:avLst/>
          </a:prstGeom>
        </p:spPr>
        <p:txBody>
          <a:bodyPr vert="horz" anchor="ctr">
            <a:normAutofit/>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4" name="日期占位符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ltLang="zh-CN"/>
          </a:p>
        </p:txBody>
      </p:sp>
      <p:sp>
        <p:nvSpPr>
          <p:cNvPr id="3" name="页脚占位符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ltLang="zh-CN"/>
          </a:p>
        </p:txBody>
      </p:sp>
      <p:sp>
        <p:nvSpPr>
          <p:cNvPr id="7" name="矩形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灯片编号占位符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EBFC0C85-D28B-4DFC-9354-850FCD479C59}" type="slidenum">
              <a:rPr lang="en-US" altLang="zh-CN"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audio" Target="../media/audio2.wav"/></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5.gi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gif"/><Relationship Id="rId5" Type="http://schemas.openxmlformats.org/officeDocument/2006/relationships/image" Target="../media/image6.png"/><Relationship Id="rId4" Type="http://schemas.openxmlformats.org/officeDocument/2006/relationships/audio" Target="../media/audio2.wav"/></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gif"/></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gif"/></Relationships>
</file>

<file path=ppt/slides/_rels/slide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5.gif"/></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5.gif"/></Relationships>
</file>

<file path=ppt/slides/_rels/slide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5.gif"/></Relationships>
</file>

<file path=ppt/slides/_rels/slide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gif"/></Relationships>
</file>

<file path=ppt/slides/_rels/slide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5.gif"/></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5.gif"/></Relationships>
</file>

<file path=ppt/slides/_rels/slide1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5.gif"/></Relationships>
</file>

<file path=ppt/slides/_rels/slide1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5.gif"/></Relationships>
</file>

<file path=ppt/slides/_rels/slide1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5.gif"/></Relationships>
</file>

<file path=ppt/slides/_rels/slide1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5.gif"/></Relationships>
</file>

<file path=ppt/slides/_rels/slide1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5.gif"/></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5.gif"/><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gif"/><Relationship Id="rId5" Type="http://schemas.openxmlformats.org/officeDocument/2006/relationships/image" Target="../media/image19.png"/><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5.gif"/><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gif"/><Relationship Id="rId5" Type="http://schemas.openxmlformats.org/officeDocument/2006/relationships/image" Target="../media/image20.png"/><Relationship Id="rId4" Type="http://schemas.openxmlformats.org/officeDocument/2006/relationships/audio" Target="../media/audio2.wav"/></Relationships>
</file>

<file path=ppt/slides/_rels/slide21.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notesSlide" Target="../notesSlides/notesSlide21.xml"/><Relationship Id="rId7"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0.png"/><Relationship Id="rId5" Type="http://schemas.openxmlformats.org/officeDocument/2006/relationships/audio" Target="../media/audio1.wav"/><Relationship Id="rId10" Type="http://schemas.openxmlformats.org/officeDocument/2006/relationships/image" Target="../media/image5.gif"/><Relationship Id="rId4" Type="http://schemas.openxmlformats.org/officeDocument/2006/relationships/audio" Target="../media/audio2.wav"/><Relationship Id="rId9" Type="http://schemas.openxmlformats.org/officeDocument/2006/relationships/image" Target="../media/image4.gif"/></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1.wmf"/><Relationship Id="rId5" Type="http://schemas.openxmlformats.org/officeDocument/2006/relationships/oleObject" Target="../embeddings/oleObject1.bin"/><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notesSlide" Target="../notesSlides/notesSlide22.xml"/><Relationship Id="rId7" Type="http://schemas.openxmlformats.org/officeDocument/2006/relationships/image" Target="../media/image4.gi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25.wmf"/><Relationship Id="rId5" Type="http://schemas.openxmlformats.org/officeDocument/2006/relationships/oleObject" Target="../embeddings/oleObject2.bin"/><Relationship Id="rId4" Type="http://schemas.openxmlformats.org/officeDocument/2006/relationships/audio" Target="../media/audio1.wav"/></Relationships>
</file>

<file path=ppt/slides/_rels/slide24.xml.rels><?xml version="1.0" encoding="UTF-8" standalone="yes"?>
<Relationships xmlns="http://schemas.openxmlformats.org/package/2006/relationships"><Relationship Id="rId8" Type="http://schemas.openxmlformats.org/officeDocument/2006/relationships/image" Target="../media/image4.gif"/><Relationship Id="rId3" Type="http://schemas.openxmlformats.org/officeDocument/2006/relationships/notesSlide" Target="../notesSlides/notesSlide23.xml"/><Relationship Id="rId7"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3.bin"/><Relationship Id="rId5" Type="http://schemas.openxmlformats.org/officeDocument/2006/relationships/image" Target="../media/image27.png"/><Relationship Id="rId10" Type="http://schemas.openxmlformats.org/officeDocument/2006/relationships/image" Target="../media/image24.png"/><Relationship Id="rId4" Type="http://schemas.openxmlformats.org/officeDocument/2006/relationships/audio" Target="../media/audio1.wav"/><Relationship Id="rId9" Type="http://schemas.openxmlformats.org/officeDocument/2006/relationships/image" Target="../media/image5.gif"/></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5.gif"/><Relationship Id="rId4" Type="http://schemas.openxmlformats.org/officeDocument/2006/relationships/image" Target="../media/image4.gif"/></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audio" Target="../media/audio2.wav"/></Relationships>
</file>

<file path=ppt/slides/_rels/slide2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5.gif"/></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3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5.gif"/></Relationships>
</file>

<file path=ppt/slides/_rels/slide3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5.gif"/></Relationships>
</file>

<file path=ppt/slides/_rels/slide3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5.gif"/></Relationships>
</file>

<file path=ppt/slides/_rels/slide3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5.gif"/></Relationships>
</file>

<file path=ppt/slides/_rels/slide3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5.gif"/></Relationships>
</file>

<file path=ppt/slides/_rels/slide3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5.gif"/></Relationships>
</file>

<file path=ppt/slides/_rels/slide3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5.gif"/></Relationships>
</file>

<file path=ppt/slides/_rels/slide4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5.gif"/></Relationships>
</file>

<file path=ppt/slides/_rels/slide4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7.png"/><Relationship Id="rId4" Type="http://schemas.openxmlformats.org/officeDocument/2006/relationships/image" Target="../media/image5.gif"/></Relationships>
</file>

<file path=ppt/slides/_rels/slide43.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5.gif"/></Relationships>
</file>

<file path=ppt/slides/_rels/slide48.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audio" Target="../media/audio1.wav"/><Relationship Id="rId7" Type="http://schemas.openxmlformats.org/officeDocument/2006/relationships/image" Target="../media/image4.gif"/><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audio" Target="../media/audio2.wav"/></Relationships>
</file>

<file path=ppt/slides/_rels/slide4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50.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audio" Target="../media/audio1.wav"/><Relationship Id="rId7" Type="http://schemas.openxmlformats.org/officeDocument/2006/relationships/image" Target="../media/image4.gif"/><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audio" Target="../media/audio2.wav"/></Relationships>
</file>

<file path=ppt/slides/_rels/slide5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p:cNvPicPr>
            <a:picLocks noChangeAspect="1"/>
          </p:cNvPicPr>
          <p:nvPr/>
        </p:nvPicPr>
        <p:blipFill>
          <a:blip r:embed="rId3" cstate="print"/>
          <a:srcRect/>
          <a:stretch>
            <a:fillRect/>
          </a:stretch>
        </p:blipFill>
        <p:spPr bwMode="auto">
          <a:xfrm>
            <a:off x="4286250" y="0"/>
            <a:ext cx="4857750" cy="2000250"/>
          </a:xfrm>
          <a:prstGeom prst="rect">
            <a:avLst/>
          </a:prstGeom>
          <a:noFill/>
          <a:ln w="9525">
            <a:noFill/>
            <a:miter lim="800000"/>
            <a:headEnd/>
            <a:tailEnd/>
          </a:ln>
        </p:spPr>
      </p:pic>
      <p:sp>
        <p:nvSpPr>
          <p:cNvPr id="2" name="Rectangle 2"/>
          <p:cNvSpPr>
            <a:spLocks noGrp="1" noChangeArrowheads="1"/>
          </p:cNvSpPr>
          <p:nvPr>
            <p:ph type="ctrTitle"/>
          </p:nvPr>
        </p:nvSpPr>
        <p:spPr>
          <a:xfrm>
            <a:off x="609600" y="1905000"/>
            <a:ext cx="7772400" cy="1143000"/>
          </a:xfrm>
        </p:spPr>
        <p:txBody>
          <a:bodyPr rtlCol="0">
            <a:normAutofit fontScale="90000"/>
          </a:bodyPr>
          <a:lstStyle/>
          <a:p>
            <a:pPr fontAlgn="auto">
              <a:spcAft>
                <a:spcPts val="0"/>
              </a:spcAft>
              <a:defRPr/>
            </a:pPr>
            <a:br>
              <a:rPr lang="en-US" altLang="zh-CN" dirty="0"/>
            </a:br>
            <a:r>
              <a:rPr lang="en-US" altLang="zh-CN" dirty="0"/>
              <a:t>Digital logic</a:t>
            </a:r>
          </a:p>
        </p:txBody>
      </p:sp>
      <p:sp>
        <p:nvSpPr>
          <p:cNvPr id="2051" name="Rectangle 3"/>
          <p:cNvSpPr>
            <a:spLocks noGrp="1" noChangeArrowheads="1"/>
          </p:cNvSpPr>
          <p:nvPr>
            <p:ph type="subTitle" idx="1"/>
          </p:nvPr>
        </p:nvSpPr>
        <p:spPr>
          <a:xfrm>
            <a:off x="676308" y="4077072"/>
            <a:ext cx="8162892" cy="2071701"/>
          </a:xfrm>
        </p:spPr>
        <p:txBody>
          <a:bodyPr rtlCol="0">
            <a:noAutofit/>
          </a:bodyPr>
          <a:lstStyle/>
          <a:p>
            <a:pPr marL="342900" indent="-342900">
              <a:defRPr/>
            </a:pPr>
            <a:r>
              <a:rPr lang="en-US" altLang="zh-CN" sz="2400" b="1" dirty="0">
                <a:solidFill>
                  <a:schemeClr val="tx1"/>
                </a:solidFill>
              </a:rPr>
              <a:t>Synchronous Sequential Logic Circuit</a:t>
            </a:r>
          </a:p>
          <a:p>
            <a:pPr marL="342900" indent="-342900" fontAlgn="auto">
              <a:spcAft>
                <a:spcPts val="0"/>
              </a:spcAft>
              <a:buFont typeface="Arial" pitchFamily="34" charset="0"/>
              <a:buNone/>
              <a:defRPr/>
            </a:pPr>
            <a:r>
              <a:rPr lang="en-US" altLang="zh-CN" sz="2400" b="1" dirty="0">
                <a:solidFill>
                  <a:schemeClr val="tx1"/>
                </a:solidFill>
              </a:rPr>
              <a:t>Chapter 5.2 						Dr. Fei Chao</a:t>
            </a:r>
          </a:p>
          <a:p>
            <a:pPr marL="342900" indent="-342900" algn="r">
              <a:defRPr/>
            </a:pPr>
            <a:r>
              <a:rPr lang="en-US" altLang="zh-CN" sz="2400" b="1" dirty="0">
                <a:solidFill>
                  <a:schemeClr val="tx1"/>
                </a:solidFill>
              </a:rPr>
              <a:t>Associate Professor</a:t>
            </a:r>
          </a:p>
          <a:p>
            <a:pPr marL="342900" indent="-342900" algn="r">
              <a:defRPr/>
            </a:pPr>
            <a:r>
              <a:rPr lang="en-US" altLang="zh-CN" sz="2400" b="1" dirty="0">
                <a:solidFill>
                  <a:schemeClr val="tx1"/>
                </a:solidFill>
              </a:rPr>
              <a:t>Cognitive Science Department</a:t>
            </a:r>
          </a:p>
          <a:p>
            <a:pPr marL="342900" indent="-342900" algn="r">
              <a:defRPr/>
            </a:pPr>
            <a:r>
              <a:rPr lang="en-US" altLang="zh-CN" sz="2400" b="1" dirty="0">
                <a:solidFill>
                  <a:schemeClr val="tx1"/>
                </a:solidFill>
              </a:rPr>
              <a:t>School of Information Science and Technology</a:t>
            </a:r>
          </a:p>
          <a:p>
            <a:pPr marL="342900" indent="-342900" algn="r">
              <a:defRPr/>
            </a:pPr>
            <a:r>
              <a:rPr lang="en-US" altLang="zh-CN" sz="2400" b="1" dirty="0">
                <a:solidFill>
                  <a:schemeClr val="tx1"/>
                </a:solidFill>
              </a:rPr>
              <a:t>Xiamen University</a:t>
            </a:r>
          </a:p>
          <a:p>
            <a:pPr marL="342900" indent="-342900" algn="r">
              <a:defRPr/>
            </a:pPr>
            <a:r>
              <a:rPr lang="en-US" altLang="zh-CN" sz="2400" b="1" dirty="0">
                <a:solidFill>
                  <a:schemeClr val="tx1"/>
                </a:solidFill>
              </a:rPr>
              <a:t>fchao@xmu.edu.cn</a:t>
            </a:r>
          </a:p>
          <a:p>
            <a:pPr marL="342900" indent="-342900" fontAlgn="auto">
              <a:spcAft>
                <a:spcPts val="0"/>
              </a:spcAft>
              <a:buFont typeface="Arial" pitchFamily="34" charset="0"/>
              <a:buNone/>
              <a:defRPr/>
            </a:pPr>
            <a:endParaRPr lang="en-US" altLang="zh-CN" sz="2100" b="1" dirty="0">
              <a:solidFill>
                <a:schemeClr val="tx1"/>
              </a:solidFill>
            </a:endParaRPr>
          </a:p>
          <a:p>
            <a:pPr marL="342900" indent="-342900" fontAlgn="auto">
              <a:spcAft>
                <a:spcPts val="0"/>
              </a:spcAft>
              <a:buFont typeface="Arial" pitchFamily="34" charset="0"/>
              <a:buNone/>
              <a:defRPr/>
            </a:pPr>
            <a:endParaRPr lang="en-US" altLang="zh-CN" sz="2100" b="1" dirty="0">
              <a:solidFill>
                <a:schemeClr val="tx1"/>
              </a:solidFill>
            </a:endParaRPr>
          </a:p>
          <a:p>
            <a:pPr marL="2057400" lvl="4" indent="-228600" fontAlgn="auto">
              <a:spcAft>
                <a:spcPts val="0"/>
              </a:spcAft>
              <a:buFont typeface="Arial" pitchFamily="34" charset="0"/>
              <a:buNone/>
              <a:defRPr/>
            </a:pPr>
            <a:endParaRPr lang="en-US" altLang="zh-CN" sz="2100" b="1" dirty="0"/>
          </a:p>
        </p:txBody>
      </p:sp>
      <p:sp>
        <p:nvSpPr>
          <p:cNvPr id="5" name="灯片编号占位符 4"/>
          <p:cNvSpPr>
            <a:spLocks noGrp="1"/>
          </p:cNvSpPr>
          <p:nvPr>
            <p:ph type="sldNum" sz="quarter" idx="12"/>
          </p:nvPr>
        </p:nvSpPr>
        <p:spPr/>
        <p:txBody>
          <a:bodyPr/>
          <a:lstStyle/>
          <a:p>
            <a:pPr>
              <a:defRPr/>
            </a:pPr>
            <a:fld id="{ADCF3EF2-F322-4E21-864D-1732D6788AEE}" type="slidenum">
              <a:rPr lang="en-US" altLang="zh-CN" smtClean="0"/>
              <a:pPr>
                <a:defRPr/>
              </a:pPr>
              <a:t>1</a:t>
            </a:fld>
            <a:endParaRPr lang="en-US" altLang="zh-CN"/>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9">
            <a:extLst>
              <a:ext uri="{FF2B5EF4-FFF2-40B4-BE49-F238E27FC236}">
                <a16:creationId xmlns:a16="http://schemas.microsoft.com/office/drawing/2014/main" id="{4B36D606-E079-46FD-A3F5-408E351EBC8A}"/>
              </a:ext>
            </a:extLst>
          </p:cNvPr>
          <p:cNvSpPr txBox="1">
            <a:spLocks noChangeArrowheads="1"/>
          </p:cNvSpPr>
          <p:nvPr/>
        </p:nvSpPr>
        <p:spPr bwMode="auto">
          <a:xfrm>
            <a:off x="951928" y="516156"/>
            <a:ext cx="7723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dirty="0">
                <a:solidFill>
                  <a:srgbClr val="990000"/>
                </a:solidFill>
                <a:latin typeface="Times New Roman" panose="02020603050405020304" pitchFamily="18" charset="0"/>
              </a:rPr>
              <a:t>5.2</a:t>
            </a:r>
            <a:r>
              <a:rPr lang="zh-CN" altLang="en-US" sz="3200" b="1" dirty="0">
                <a:solidFill>
                  <a:srgbClr val="990000"/>
                </a:solidFill>
                <a:latin typeface="Times New Roman" panose="02020603050405020304" pitchFamily="18" charset="0"/>
              </a:rPr>
              <a:t>　</a:t>
            </a:r>
            <a:r>
              <a:rPr lang="en-US" altLang="zh-CN" sz="3200" dirty="0">
                <a:solidFill>
                  <a:srgbClr val="990000"/>
                </a:solidFill>
                <a:latin typeface="Times New Roman" panose="02020603050405020304" pitchFamily="18" charset="0"/>
              </a:rPr>
              <a:t>Synchronous sequential logic analysis</a:t>
            </a:r>
            <a:endParaRPr lang="zh-CN" altLang="en-US" sz="3200" b="1" dirty="0">
              <a:solidFill>
                <a:srgbClr val="990000"/>
              </a:solidFill>
              <a:latin typeface="Times New Roman" panose="02020603050405020304" pitchFamily="18" charset="0"/>
            </a:endParaRPr>
          </a:p>
        </p:txBody>
      </p:sp>
      <p:sp>
        <p:nvSpPr>
          <p:cNvPr id="23555" name="Text Box 11">
            <a:extLst>
              <a:ext uri="{FF2B5EF4-FFF2-40B4-BE49-F238E27FC236}">
                <a16:creationId xmlns:a16="http://schemas.microsoft.com/office/drawing/2014/main" id="{DA226641-3CF4-4153-B77B-59D25A1A044C}"/>
              </a:ext>
            </a:extLst>
          </p:cNvPr>
          <p:cNvSpPr txBox="1">
            <a:spLocks noChangeArrowheads="1"/>
          </p:cNvSpPr>
          <p:nvPr/>
        </p:nvSpPr>
        <p:spPr bwMode="auto">
          <a:xfrm>
            <a:off x="395288" y="1484313"/>
            <a:ext cx="6156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chemeClr val="accent2"/>
                </a:solidFill>
                <a:latin typeface="Times New Roman" panose="02020603050405020304" pitchFamily="18" charset="0"/>
              </a:rPr>
              <a:t>5.2.1  </a:t>
            </a:r>
            <a:r>
              <a:rPr lang="en-US" altLang="zh-CN" dirty="0">
                <a:solidFill>
                  <a:schemeClr val="accent2"/>
                </a:solidFill>
                <a:latin typeface="Times New Roman" panose="02020603050405020304" pitchFamily="18" charset="0"/>
              </a:rPr>
              <a:t>Analysis methods and steps</a:t>
            </a:r>
            <a:endParaRPr lang="zh-CN" altLang="en-US" sz="2400" b="1" dirty="0">
              <a:solidFill>
                <a:schemeClr val="accent2"/>
              </a:solidFill>
              <a:latin typeface="Times New Roman" panose="02020603050405020304" pitchFamily="18" charset="0"/>
            </a:endParaRPr>
          </a:p>
        </p:txBody>
      </p:sp>
      <p:sp>
        <p:nvSpPr>
          <p:cNvPr id="23556" name="Text Box 12">
            <a:extLst>
              <a:ext uri="{FF2B5EF4-FFF2-40B4-BE49-F238E27FC236}">
                <a16:creationId xmlns:a16="http://schemas.microsoft.com/office/drawing/2014/main" id="{4827BDD2-3FC4-4EC1-AEE7-1564015E0484}"/>
              </a:ext>
            </a:extLst>
          </p:cNvPr>
          <p:cNvSpPr txBox="1">
            <a:spLocks noChangeArrowheads="1"/>
          </p:cNvSpPr>
          <p:nvPr/>
        </p:nvSpPr>
        <p:spPr bwMode="auto">
          <a:xfrm>
            <a:off x="463296" y="2060575"/>
            <a:ext cx="83978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latin typeface="Times New Roman" panose="02020603050405020304" pitchFamily="18" charset="0"/>
              </a:rPr>
              <a:t>Common methods are tabular and algebraic analysis methods</a:t>
            </a:r>
            <a:endParaRPr lang="zh-CN" altLang="en-US" sz="2400" dirty="0">
              <a:solidFill>
                <a:srgbClr val="CC3300"/>
              </a:solidFill>
              <a:latin typeface="Times New Roman" panose="02020603050405020304" pitchFamily="18" charset="0"/>
            </a:endParaRPr>
          </a:p>
        </p:txBody>
      </p:sp>
      <p:sp>
        <p:nvSpPr>
          <p:cNvPr id="23557" name="Text Box 13">
            <a:extLst>
              <a:ext uri="{FF2B5EF4-FFF2-40B4-BE49-F238E27FC236}">
                <a16:creationId xmlns:a16="http://schemas.microsoft.com/office/drawing/2014/main" id="{55E996E2-6039-4762-B340-6979485358C6}"/>
              </a:ext>
            </a:extLst>
          </p:cNvPr>
          <p:cNvSpPr txBox="1">
            <a:spLocks noChangeArrowheads="1"/>
          </p:cNvSpPr>
          <p:nvPr/>
        </p:nvSpPr>
        <p:spPr bwMode="auto">
          <a:xfrm>
            <a:off x="1042987" y="2636838"/>
            <a:ext cx="62653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I</a:t>
            </a:r>
            <a:r>
              <a:rPr lang="en-US" altLang="zh-CN" dirty="0">
                <a:solidFill>
                  <a:srgbClr val="000099"/>
                </a:solidFill>
                <a:latin typeface="Times New Roman" panose="02020603050405020304" pitchFamily="18" charset="0"/>
              </a:rPr>
              <a:t>. General steps of the tabular analysis method</a:t>
            </a:r>
            <a:endParaRPr lang="zh-CN" altLang="en-US" sz="2400" b="1" dirty="0">
              <a:latin typeface="Times New Roman" panose="02020603050405020304" pitchFamily="18" charset="0"/>
            </a:endParaRPr>
          </a:p>
        </p:txBody>
      </p:sp>
      <p:grpSp>
        <p:nvGrpSpPr>
          <p:cNvPr id="23558" name="Group 6">
            <a:extLst>
              <a:ext uri="{FF2B5EF4-FFF2-40B4-BE49-F238E27FC236}">
                <a16:creationId xmlns:a16="http://schemas.microsoft.com/office/drawing/2014/main" id="{A2A28949-3D22-4126-90DA-D5A1CD7CD7BC}"/>
              </a:ext>
            </a:extLst>
          </p:cNvPr>
          <p:cNvGrpSpPr>
            <a:grpSpLocks/>
          </p:cNvGrpSpPr>
          <p:nvPr/>
        </p:nvGrpSpPr>
        <p:grpSpPr bwMode="auto">
          <a:xfrm>
            <a:off x="101600" y="3284538"/>
            <a:ext cx="8940801" cy="3046413"/>
            <a:chOff x="-231" y="0"/>
            <a:chExt cx="5632" cy="1919"/>
          </a:xfrm>
        </p:grpSpPr>
        <p:sp>
          <p:nvSpPr>
            <p:cNvPr id="26633" name="Text Box 14">
              <a:extLst>
                <a:ext uri="{FF2B5EF4-FFF2-40B4-BE49-F238E27FC236}">
                  <a16:creationId xmlns:a16="http://schemas.microsoft.com/office/drawing/2014/main" id="{60D0BBB7-EC0D-4B6D-A9F8-186CC2E59BC0}"/>
                </a:ext>
              </a:extLst>
            </p:cNvPr>
            <p:cNvSpPr txBox="1">
              <a:spLocks noChangeArrowheads="1"/>
            </p:cNvSpPr>
            <p:nvPr/>
          </p:nvSpPr>
          <p:spPr bwMode="auto">
            <a:xfrm>
              <a:off x="-231" y="0"/>
              <a:ext cx="5632" cy="1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dirty="0">
                  <a:solidFill>
                    <a:srgbClr val="006666"/>
                  </a:solidFill>
                  <a:latin typeface="Times New Roman" panose="02020603050405020304" pitchFamily="18" charset="0"/>
                </a:rPr>
                <a:t>1</a:t>
              </a:r>
              <a:r>
                <a:rPr lang="zh-CN" altLang="en-US" sz="2400" dirty="0">
                  <a:solidFill>
                    <a:srgbClr val="006666"/>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output function and the excitation function expression.</a:t>
              </a:r>
              <a:endParaRPr lang="zh-CN" altLang="en-US" sz="2400" dirty="0">
                <a:solidFill>
                  <a:srgbClr val="006666"/>
                </a:solidFill>
                <a:latin typeface="Times New Roman" panose="02020603050405020304" pitchFamily="18" charset="0"/>
              </a:endParaRPr>
            </a:p>
            <a:p>
              <a:pPr algn="just" eaLnBrk="1" hangingPunct="1"/>
              <a:r>
                <a:rPr lang="zh-CN" altLang="en-US" sz="2400" dirty="0">
                  <a:solidFill>
                    <a:srgbClr val="006666"/>
                  </a:solidFill>
                  <a:latin typeface="Times New Roman" panose="02020603050405020304" pitchFamily="18" charset="0"/>
                </a:rPr>
                <a:t></a:t>
              </a:r>
            </a:p>
            <a:p>
              <a:pPr algn="just" eaLnBrk="1" hangingPunct="1"/>
              <a:r>
                <a:rPr lang="en-US" altLang="zh-CN" sz="2400" dirty="0">
                  <a:solidFill>
                    <a:srgbClr val="006666"/>
                  </a:solidFill>
                  <a:latin typeface="Times New Roman" panose="02020603050405020304" pitchFamily="18" charset="0"/>
                </a:rPr>
                <a:t>2</a:t>
              </a:r>
              <a:r>
                <a:rPr lang="zh-CN" altLang="en-US" sz="2400" dirty="0">
                  <a:solidFill>
                    <a:srgbClr val="006666"/>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r>
                <a:rPr lang="en-US" altLang="zh-CN" sz="2400" dirty="0">
                  <a:solidFill>
                    <a:srgbClr val="006666"/>
                  </a:solidFill>
                  <a:latin typeface="Times New Roman" panose="02020603050405020304" pitchFamily="18" charset="0"/>
                </a:rPr>
                <a:t>.</a:t>
              </a:r>
              <a:endParaRPr lang="zh-CN" altLang="en-US" sz="2400" dirty="0">
                <a:solidFill>
                  <a:srgbClr val="006666"/>
                </a:solidFill>
                <a:latin typeface="Times New Roman" panose="02020603050405020304" pitchFamily="18" charset="0"/>
              </a:endParaRPr>
            </a:p>
            <a:p>
              <a:pPr algn="just" eaLnBrk="1" hangingPunct="1"/>
              <a:endParaRPr lang="zh-CN" altLang="en-US" sz="2400" dirty="0">
                <a:solidFill>
                  <a:srgbClr val="006666"/>
                </a:solidFill>
                <a:latin typeface="Times New Roman" panose="02020603050405020304" pitchFamily="18" charset="0"/>
              </a:endParaRPr>
            </a:p>
            <a:p>
              <a:pPr algn="just" eaLnBrk="1" hangingPunct="1"/>
              <a:r>
                <a:rPr lang="en-US" altLang="zh-CN" sz="2400" dirty="0">
                  <a:solidFill>
                    <a:srgbClr val="006666"/>
                  </a:solidFill>
                  <a:latin typeface="Times New Roman" panose="02020603050405020304" pitchFamily="18" charset="0"/>
                </a:rPr>
                <a:t>3</a:t>
              </a:r>
              <a:r>
                <a:rPr lang="zh-CN" altLang="en-US" sz="2400" dirty="0">
                  <a:solidFill>
                    <a:srgbClr val="006666"/>
                  </a:solidFill>
                  <a:latin typeface="Times New Roman" panose="02020603050405020304" pitchFamily="18" charset="0"/>
                </a:rPr>
                <a:t>．</a:t>
              </a:r>
              <a:r>
                <a:rPr lang="en-US" altLang="zh-CN" sz="2400" dirty="0">
                  <a:solidFill>
                    <a:srgbClr val="006666"/>
                  </a:solidFill>
                  <a:latin typeface="Times New Roman" panose="02020603050405020304" pitchFamily="18" charset="0"/>
                </a:rPr>
                <a:t>List the</a:t>
              </a:r>
              <a:r>
                <a:rPr lang="en-US" altLang="zh-CN" dirty="0">
                  <a:solidFill>
                    <a:srgbClr val="006666"/>
                  </a:solidFill>
                  <a:latin typeface="Times New Roman" panose="02020603050405020304" pitchFamily="18" charset="0"/>
                </a:rPr>
                <a:t> state table and  state diagram (take a timing diagram if necessary).</a:t>
              </a:r>
              <a:endParaRPr lang="zh-CN" altLang="en-US" sz="2400" dirty="0">
                <a:solidFill>
                  <a:srgbClr val="006666"/>
                </a:solidFill>
                <a:latin typeface="Times New Roman" panose="02020603050405020304" pitchFamily="18" charset="0"/>
              </a:endParaRPr>
            </a:p>
            <a:p>
              <a:pPr algn="just" eaLnBrk="1" hangingPunct="1"/>
              <a:r>
                <a:rPr lang="zh-CN" altLang="en-US" sz="2400" dirty="0">
                  <a:solidFill>
                    <a:srgbClr val="006666"/>
                  </a:solidFill>
                  <a:latin typeface="Times New Roman" panose="02020603050405020304" pitchFamily="18" charset="0"/>
                </a:rPr>
                <a:t></a:t>
              </a:r>
            </a:p>
            <a:p>
              <a:pPr algn="just" eaLnBrk="1" hangingPunct="1"/>
              <a:r>
                <a:rPr lang="en-US" altLang="zh-CN" sz="2400" dirty="0">
                  <a:solidFill>
                    <a:srgbClr val="006666"/>
                  </a:solidFill>
                  <a:latin typeface="Times New Roman" panose="02020603050405020304" pitchFamily="18" charset="0"/>
                </a:rPr>
                <a:t>4</a:t>
              </a:r>
              <a:r>
                <a:rPr lang="zh-CN" altLang="en-US" sz="2400" dirty="0">
                  <a:solidFill>
                    <a:srgbClr val="006666"/>
                  </a:solidFill>
                  <a:latin typeface="Times New Roman" panose="02020603050405020304" pitchFamily="18" charset="0"/>
                </a:rPr>
                <a:t>．</a:t>
              </a:r>
              <a:r>
                <a:rPr lang="en-US" altLang="zh-CN" sz="2400" dirty="0">
                  <a:solidFill>
                    <a:srgbClr val="006666"/>
                  </a:solidFill>
                  <a:latin typeface="Times New Roman" panose="02020603050405020304" pitchFamily="18" charset="0"/>
                </a:rPr>
                <a:t>Summarize the logic functions of the circuit.</a:t>
              </a:r>
              <a:endParaRPr lang="zh-CN" altLang="en-US" sz="2400" dirty="0">
                <a:solidFill>
                  <a:srgbClr val="006666"/>
                </a:solidFill>
                <a:latin typeface="Times New Roman" panose="02020603050405020304" pitchFamily="18" charset="0"/>
              </a:endParaRPr>
            </a:p>
          </p:txBody>
        </p:sp>
        <p:sp>
          <p:nvSpPr>
            <p:cNvPr id="26634" name="Line 15">
              <a:extLst>
                <a:ext uri="{FF2B5EF4-FFF2-40B4-BE49-F238E27FC236}">
                  <a16:creationId xmlns:a16="http://schemas.microsoft.com/office/drawing/2014/main" id="{8E493D52-B222-470D-B0EF-D19DB6B1727B}"/>
                </a:ext>
              </a:extLst>
            </p:cNvPr>
            <p:cNvSpPr>
              <a:spLocks noChangeShapeType="1"/>
            </p:cNvSpPr>
            <p:nvPr/>
          </p:nvSpPr>
          <p:spPr bwMode="auto">
            <a:xfrm>
              <a:off x="1584" y="288"/>
              <a:ext cx="0" cy="192"/>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635" name="Line 16">
              <a:extLst>
                <a:ext uri="{FF2B5EF4-FFF2-40B4-BE49-F238E27FC236}">
                  <a16:creationId xmlns:a16="http://schemas.microsoft.com/office/drawing/2014/main" id="{B7204159-D30C-4638-B9F8-9C607DEF2418}"/>
                </a:ext>
              </a:extLst>
            </p:cNvPr>
            <p:cNvSpPr>
              <a:spLocks noChangeShapeType="1"/>
            </p:cNvSpPr>
            <p:nvPr/>
          </p:nvSpPr>
          <p:spPr bwMode="auto">
            <a:xfrm>
              <a:off x="1584" y="768"/>
              <a:ext cx="0" cy="192"/>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636" name="Line 17">
              <a:extLst>
                <a:ext uri="{FF2B5EF4-FFF2-40B4-BE49-F238E27FC236}">
                  <a16:creationId xmlns:a16="http://schemas.microsoft.com/office/drawing/2014/main" id="{F486AC5B-6AE1-4D6E-BBC9-3181E1AC50DA}"/>
                </a:ext>
              </a:extLst>
            </p:cNvPr>
            <p:cNvSpPr>
              <a:spLocks noChangeShapeType="1"/>
            </p:cNvSpPr>
            <p:nvPr/>
          </p:nvSpPr>
          <p:spPr bwMode="auto">
            <a:xfrm>
              <a:off x="1584" y="1152"/>
              <a:ext cx="0" cy="192"/>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pic>
        <p:nvPicPr>
          <p:cNvPr id="26631" name="Picture 19" descr="Right_Green">
            <a:hlinkClick r:id="" action="ppaction://hlinkshowjump?jump=nextslide"/>
            <a:extLst>
              <a:ext uri="{FF2B5EF4-FFF2-40B4-BE49-F238E27FC236}">
                <a16:creationId xmlns:a16="http://schemas.microsoft.com/office/drawing/2014/main" id="{600EDE99-3349-4E9B-A02F-14BD29114B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2" name="Picture 20" descr="Left_Green">
            <a:hlinkClick r:id="" action="ppaction://hlinkshowjump?jump=previousslide"/>
            <a:extLst>
              <a:ext uri="{FF2B5EF4-FFF2-40B4-BE49-F238E27FC236}">
                <a16:creationId xmlns:a16="http://schemas.microsoft.com/office/drawing/2014/main" id="{DCB771B3-8A9F-43D6-8F25-A3BBDB620F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89620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554"/>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555"/>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projctor.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23556"/>
                                        </p:tgtEl>
                                        <p:attrNameLst>
                                          <p:attrName>style.visibility</p:attrName>
                                        </p:attrNameLst>
                                      </p:cBhvr>
                                      <p:to>
                                        <p:strVal val="visible"/>
                                      </p:to>
                                    </p:set>
                                    <p:animEffect transition="in" filter="slide(fromBottom)">
                                      <p:cBhvr>
                                        <p:cTn id="15" dur="500"/>
                                        <p:tgtEl>
                                          <p:spTgt spid="2355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23557"/>
                                        </p:tgtEl>
                                        <p:attrNameLst>
                                          <p:attrName>style.visibility</p:attrName>
                                        </p:attrNameLst>
                                      </p:cBhvr>
                                      <p:to>
                                        <p:strVal val="visible"/>
                                      </p:to>
                                    </p:set>
                                  </p:childTnLst>
                                </p:cTn>
                              </p:par>
                            </p:childTnLst>
                          </p:cTn>
                        </p:par>
                        <p:par>
                          <p:cTn id="20" fill="hold" nodeType="afterGroup">
                            <p:stCondLst>
                              <p:cond delay="500"/>
                            </p:stCondLst>
                            <p:childTnLst>
                              <p:par>
                                <p:cTn id="21" presetID="2" presetClass="entr" presetSubtype="4" fill="hold" nodeType="afterEffect">
                                  <p:stCondLst>
                                    <p:cond delay="0"/>
                                  </p:stCondLst>
                                  <p:childTnLst>
                                    <p:set>
                                      <p:cBhvr>
                                        <p:cTn id="22" dur="1" fill="hold">
                                          <p:stCondLst>
                                            <p:cond delay="0"/>
                                          </p:stCondLst>
                                        </p:cTn>
                                        <p:tgtEl>
                                          <p:spTgt spid="23558"/>
                                        </p:tgtEl>
                                        <p:attrNameLst>
                                          <p:attrName>style.visibility</p:attrName>
                                        </p:attrNameLst>
                                      </p:cBhvr>
                                      <p:to>
                                        <p:strVal val="visible"/>
                                      </p:to>
                                    </p:set>
                                    <p:anim calcmode="lin" valueType="num">
                                      <p:cBhvr additive="base">
                                        <p:cTn id="23" dur="500" fill="hold"/>
                                        <p:tgtEl>
                                          <p:spTgt spid="23558"/>
                                        </p:tgtEl>
                                        <p:attrNameLst>
                                          <p:attrName>ppt_x</p:attrName>
                                        </p:attrNameLst>
                                      </p:cBhvr>
                                      <p:tavLst>
                                        <p:tav tm="0">
                                          <p:val>
                                            <p:strVal val="#ppt_x"/>
                                          </p:val>
                                        </p:tav>
                                        <p:tav tm="100000">
                                          <p:val>
                                            <p:strVal val="#ppt_x"/>
                                          </p:val>
                                        </p:tav>
                                      </p:tavLst>
                                    </p:anim>
                                    <p:anim calcmode="lin" valueType="num">
                                      <p:cBhvr additive="base">
                                        <p:cTn id="24" dur="500" fill="hold"/>
                                        <p:tgtEl>
                                          <p:spTgt spid="2355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utoUpdateAnimBg="0"/>
      <p:bldP spid="23556" grpId="0" autoUpdateAnimBg="0"/>
      <p:bldP spid="2355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0">
            <a:extLst>
              <a:ext uri="{FF2B5EF4-FFF2-40B4-BE49-F238E27FC236}">
                <a16:creationId xmlns:a16="http://schemas.microsoft.com/office/drawing/2014/main" id="{1880DCD3-4DA7-4379-B0CE-042E35D77918}"/>
              </a:ext>
            </a:extLst>
          </p:cNvPr>
          <p:cNvSpPr txBox="1">
            <a:spLocks noChangeArrowheads="1"/>
          </p:cNvSpPr>
          <p:nvPr/>
        </p:nvSpPr>
        <p:spPr bwMode="auto">
          <a:xfrm>
            <a:off x="898525" y="1066800"/>
            <a:ext cx="76882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rPr>
              <a:t>II.</a:t>
            </a:r>
            <a:r>
              <a:rPr lang="zh-CN" altLang="en-US" sz="2400" b="1" dirty="0">
                <a:solidFill>
                  <a:srgbClr val="CC3300"/>
                </a:solidFill>
                <a:latin typeface="Times New Roman" panose="02020603050405020304" pitchFamily="18" charset="0"/>
              </a:rPr>
              <a:t> </a:t>
            </a:r>
            <a:r>
              <a:rPr lang="en-US" altLang="zh-CN" dirty="0">
                <a:solidFill>
                  <a:srgbClr val="000099"/>
                </a:solidFill>
                <a:latin typeface="Times New Roman" panose="02020603050405020304" pitchFamily="18" charset="0"/>
              </a:rPr>
              <a:t>General steps of the algebraic analysis method</a:t>
            </a:r>
            <a:endParaRPr lang="zh-CN" altLang="en-US" sz="2400" b="1" dirty="0">
              <a:latin typeface="Times New Roman" panose="02020603050405020304" pitchFamily="18" charset="0"/>
            </a:endParaRPr>
          </a:p>
        </p:txBody>
      </p:sp>
      <p:sp>
        <p:nvSpPr>
          <p:cNvPr id="24579" name="Text Box 12">
            <a:extLst>
              <a:ext uri="{FF2B5EF4-FFF2-40B4-BE49-F238E27FC236}">
                <a16:creationId xmlns:a16="http://schemas.microsoft.com/office/drawing/2014/main" id="{7E42E925-EBB3-4FBE-9E1F-C37CD836F776}"/>
              </a:ext>
            </a:extLst>
          </p:cNvPr>
          <p:cNvSpPr txBox="1">
            <a:spLocks noChangeArrowheads="1"/>
          </p:cNvSpPr>
          <p:nvPr/>
        </p:nvSpPr>
        <p:spPr bwMode="auto">
          <a:xfrm>
            <a:off x="533400" y="5181600"/>
            <a:ext cx="8229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It can be seen that the two methods differ only in the second step, and the analysis can be flexibly selected according to specific problems.</a:t>
            </a:r>
            <a:endParaRPr lang="zh-CN" altLang="en-US" sz="2400" b="1" dirty="0">
              <a:latin typeface="Times New Roman" panose="02020603050405020304" pitchFamily="18" charset="0"/>
            </a:endParaRPr>
          </a:p>
        </p:txBody>
      </p:sp>
      <p:grpSp>
        <p:nvGrpSpPr>
          <p:cNvPr id="24580" name="Group 4">
            <a:extLst>
              <a:ext uri="{FF2B5EF4-FFF2-40B4-BE49-F238E27FC236}">
                <a16:creationId xmlns:a16="http://schemas.microsoft.com/office/drawing/2014/main" id="{A1F6C2E6-1601-4DE9-A3EB-B3ACFEE77984}"/>
              </a:ext>
            </a:extLst>
          </p:cNvPr>
          <p:cNvGrpSpPr>
            <a:grpSpLocks/>
          </p:cNvGrpSpPr>
          <p:nvPr/>
        </p:nvGrpSpPr>
        <p:grpSpPr bwMode="auto">
          <a:xfrm>
            <a:off x="107504" y="1676400"/>
            <a:ext cx="9144318" cy="2646364"/>
            <a:chOff x="0" y="0"/>
            <a:chExt cx="5343" cy="1667"/>
          </a:xfrm>
        </p:grpSpPr>
        <p:sp>
          <p:nvSpPr>
            <p:cNvPr id="27655" name="Text Box 11">
              <a:extLst>
                <a:ext uri="{FF2B5EF4-FFF2-40B4-BE49-F238E27FC236}">
                  <a16:creationId xmlns:a16="http://schemas.microsoft.com/office/drawing/2014/main" id="{5B8C90E2-3DC8-45B7-92C6-BE6A1E35FA4A}"/>
                </a:ext>
              </a:extLst>
            </p:cNvPr>
            <p:cNvSpPr txBox="1">
              <a:spLocks noChangeArrowheads="1"/>
            </p:cNvSpPr>
            <p:nvPr/>
          </p:nvSpPr>
          <p:spPr bwMode="auto">
            <a:xfrm>
              <a:off x="0" y="0"/>
              <a:ext cx="5343" cy="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000099"/>
                  </a:solidFill>
                  <a:latin typeface="Times New Roman" panose="02020603050405020304" pitchFamily="18" charset="0"/>
                </a:rPr>
                <a:t>1</a:t>
              </a:r>
              <a:r>
                <a:rPr lang="zh-CN" altLang="en-US" sz="2400" dirty="0">
                  <a:solidFill>
                    <a:srgbClr val="000099"/>
                  </a:solidFill>
                  <a:latin typeface="Times New Roman" panose="02020603050405020304" pitchFamily="18" charset="0"/>
                </a:rPr>
                <a:t>．</a:t>
              </a:r>
              <a:r>
                <a:rPr lang="en-US" altLang="zh-CN" sz="2200" dirty="0">
                  <a:solidFill>
                    <a:srgbClr val="000099"/>
                  </a:solidFill>
                  <a:latin typeface="Times New Roman" panose="02020603050405020304" pitchFamily="18" charset="0"/>
                </a:rPr>
                <a:t>List output function expressions and excitation function expressions.</a:t>
              </a:r>
              <a:endParaRPr lang="zh-CN" altLang="en-US" sz="2200" b="1" dirty="0">
                <a:solidFill>
                  <a:srgbClr val="000099"/>
                </a:solidFill>
                <a:latin typeface="Times New Roman" panose="02020603050405020304" pitchFamily="18" charset="0"/>
              </a:endParaRPr>
            </a:p>
            <a:p>
              <a:pPr eaLnBrk="1" hangingPunct="1"/>
              <a:r>
                <a:rPr lang="zh-CN" altLang="en-US" sz="2400" dirty="0">
                  <a:solidFill>
                    <a:srgbClr val="000099"/>
                  </a:solidFill>
                  <a:latin typeface="Times New Roman" panose="02020603050405020304" pitchFamily="18" charset="0"/>
                </a:rPr>
                <a:t></a:t>
              </a:r>
            </a:p>
            <a:p>
              <a:pPr eaLnBrk="1" hangingPunct="1"/>
              <a:r>
                <a:rPr lang="en-US" altLang="zh-CN" sz="2400" dirty="0">
                  <a:solidFill>
                    <a:srgbClr val="000099"/>
                  </a:solidFill>
                  <a:latin typeface="Times New Roman" panose="02020603050405020304" pitchFamily="18" charset="0"/>
                </a:rPr>
                <a:t>2</a:t>
              </a:r>
              <a:r>
                <a:rPr lang="zh-CN" altLang="en-US" sz="2400" dirty="0">
                  <a:solidFill>
                    <a:srgbClr val="000099"/>
                  </a:solidFill>
                  <a:latin typeface="Times New Roman" panose="02020603050405020304" pitchFamily="18" charset="0"/>
                </a:rPr>
                <a:t>．</a:t>
              </a:r>
              <a:r>
                <a:rPr lang="en-US" altLang="zh-CN" sz="2200" dirty="0">
                  <a:solidFill>
                    <a:srgbClr val="000099"/>
                  </a:solidFill>
                  <a:latin typeface="Times New Roman" panose="02020603050405020304" pitchFamily="18" charset="0"/>
                </a:rPr>
                <a:t>Substitute the excitation function expression into the excitation equation of the flip-flop, and deriving the next state equations of the circuit.</a:t>
              </a:r>
              <a:endParaRPr lang="zh-CN" altLang="en-US" sz="2400" b="1" dirty="0">
                <a:solidFill>
                  <a:srgbClr val="000099"/>
                </a:solidFill>
                <a:latin typeface="Times New Roman" panose="02020603050405020304" pitchFamily="18" charset="0"/>
              </a:endParaRPr>
            </a:p>
            <a:p>
              <a:pPr eaLnBrk="1" hangingPunct="1"/>
              <a:r>
                <a:rPr lang="en-US" altLang="zh-CN" sz="2400" dirty="0">
                  <a:solidFill>
                    <a:srgbClr val="000099"/>
                  </a:solidFill>
                  <a:latin typeface="Times New Roman" panose="02020603050405020304" pitchFamily="18" charset="0"/>
                </a:rPr>
                <a:t>3</a:t>
              </a:r>
              <a:r>
                <a:rPr lang="zh-CN" altLang="en-US" sz="2400"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List a state table and a state diagram (take a timing diagram if necessary).</a:t>
              </a:r>
              <a:r>
                <a:rPr lang="zh-CN" altLang="en-US" sz="2400" dirty="0">
                  <a:solidFill>
                    <a:srgbClr val="000099"/>
                  </a:solidFill>
                  <a:latin typeface="Times New Roman" panose="02020603050405020304" pitchFamily="18" charset="0"/>
                </a:rPr>
                <a:t></a:t>
              </a:r>
            </a:p>
            <a:p>
              <a:pPr eaLnBrk="1" hangingPunct="1"/>
              <a:r>
                <a:rPr lang="en-US" altLang="zh-CN" sz="2400" dirty="0">
                  <a:solidFill>
                    <a:srgbClr val="000099"/>
                  </a:solidFill>
                  <a:latin typeface="Times New Roman" panose="02020603050405020304" pitchFamily="18" charset="0"/>
                </a:rPr>
                <a:t>4</a:t>
              </a:r>
              <a:r>
                <a:rPr lang="zh-CN" altLang="en-US" sz="2400"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Summarize the logic functions of the circuit.</a:t>
              </a:r>
              <a:endParaRPr lang="zh-CN" altLang="en-US" sz="2400" dirty="0">
                <a:solidFill>
                  <a:srgbClr val="000099"/>
                </a:solidFill>
                <a:latin typeface="Times New Roman" panose="02020603050405020304" pitchFamily="18" charset="0"/>
              </a:endParaRPr>
            </a:p>
          </p:txBody>
        </p:sp>
        <p:sp>
          <p:nvSpPr>
            <p:cNvPr id="27656" name="Line 13">
              <a:extLst>
                <a:ext uri="{FF2B5EF4-FFF2-40B4-BE49-F238E27FC236}">
                  <a16:creationId xmlns:a16="http://schemas.microsoft.com/office/drawing/2014/main" id="{B5F82722-71E0-44AE-91A5-FDCE33EC00B0}"/>
                </a:ext>
              </a:extLst>
            </p:cNvPr>
            <p:cNvSpPr>
              <a:spLocks noChangeShapeType="1"/>
            </p:cNvSpPr>
            <p:nvPr/>
          </p:nvSpPr>
          <p:spPr bwMode="auto">
            <a:xfrm>
              <a:off x="1920" y="288"/>
              <a:ext cx="0" cy="192"/>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657" name="Line 14">
              <a:extLst>
                <a:ext uri="{FF2B5EF4-FFF2-40B4-BE49-F238E27FC236}">
                  <a16:creationId xmlns:a16="http://schemas.microsoft.com/office/drawing/2014/main" id="{65A343D8-BE13-4903-8DEF-084C2C0EDF90}"/>
                </a:ext>
              </a:extLst>
            </p:cNvPr>
            <p:cNvSpPr>
              <a:spLocks noChangeShapeType="1"/>
            </p:cNvSpPr>
            <p:nvPr/>
          </p:nvSpPr>
          <p:spPr bwMode="auto">
            <a:xfrm>
              <a:off x="1920" y="912"/>
              <a:ext cx="0" cy="192"/>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658" name="Line 15">
              <a:extLst>
                <a:ext uri="{FF2B5EF4-FFF2-40B4-BE49-F238E27FC236}">
                  <a16:creationId xmlns:a16="http://schemas.microsoft.com/office/drawing/2014/main" id="{EE83BBE4-7FDE-4760-8A53-CF777034AD56}"/>
                </a:ext>
              </a:extLst>
            </p:cNvPr>
            <p:cNvSpPr>
              <a:spLocks noChangeShapeType="1"/>
            </p:cNvSpPr>
            <p:nvPr/>
          </p:nvSpPr>
          <p:spPr bwMode="auto">
            <a:xfrm>
              <a:off x="1920" y="1440"/>
              <a:ext cx="0" cy="192"/>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pic>
        <p:nvPicPr>
          <p:cNvPr id="27653" name="Picture 17" descr="Right_Green">
            <a:hlinkClick r:id="" action="ppaction://hlinkshowjump?jump=nextslide"/>
            <a:extLst>
              <a:ext uri="{FF2B5EF4-FFF2-40B4-BE49-F238E27FC236}">
                <a16:creationId xmlns:a16="http://schemas.microsoft.com/office/drawing/2014/main" id="{A3FF782C-12C4-4355-9988-327BBA52D3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18" descr="Left_Green">
            <a:hlinkClick r:id="" action="ppaction://hlinkshowjump?jump=previousslide"/>
            <a:extLst>
              <a:ext uri="{FF2B5EF4-FFF2-40B4-BE49-F238E27FC236}">
                <a16:creationId xmlns:a16="http://schemas.microsoft.com/office/drawing/2014/main" id="{378DC032-66C9-472C-BF20-2F11E7FF28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26066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78"/>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par>
                          <p:cTn id="7" fill="hold" nodeType="afterGroup">
                            <p:stCondLst>
                              <p:cond delay="500"/>
                            </p:stCondLst>
                            <p:childTnLst>
                              <p:par>
                                <p:cTn id="8" presetID="3" presetClass="entr" presetSubtype="10" fill="hold" nodeType="afterEffect">
                                  <p:stCondLst>
                                    <p:cond delay="0"/>
                                  </p:stCondLst>
                                  <p:childTnLst>
                                    <p:set>
                                      <p:cBhvr>
                                        <p:cTn id="9" dur="1" fill="hold">
                                          <p:stCondLst>
                                            <p:cond delay="0"/>
                                          </p:stCondLst>
                                        </p:cTn>
                                        <p:tgtEl>
                                          <p:spTgt spid="24580"/>
                                        </p:tgtEl>
                                        <p:attrNameLst>
                                          <p:attrName>style.visibility</p:attrName>
                                        </p:attrNameLst>
                                      </p:cBhvr>
                                      <p:to>
                                        <p:strVal val="visible"/>
                                      </p:to>
                                    </p:set>
                                    <p:animEffect transition="in" filter="blinds(horizontal)">
                                      <p:cBhvr>
                                        <p:cTn id="10" dur="500"/>
                                        <p:tgtEl>
                                          <p:spTgt spid="24580"/>
                                        </p:tgtEl>
                                      </p:cBhvr>
                                    </p:animEffect>
                                  </p:childTnLst>
                                </p:cTn>
                              </p:par>
                            </p:childTnLst>
                          </p:cTn>
                        </p:par>
                        <p:par>
                          <p:cTn id="11" fill="hold" nodeType="afterGroup">
                            <p:stCondLst>
                              <p:cond delay="1000"/>
                            </p:stCondLst>
                            <p:childTnLst>
                              <p:par>
                                <p:cTn id="12" presetID="3" presetClass="entr" presetSubtype="10" fill="hold" grpId="0" nodeType="afterEffect">
                                  <p:stCondLst>
                                    <p:cond delay="0"/>
                                  </p:stCondLst>
                                  <p:childTnLst>
                                    <p:set>
                                      <p:cBhvr>
                                        <p:cTn id="13" dur="1" fill="hold">
                                          <p:stCondLst>
                                            <p:cond delay="0"/>
                                          </p:stCondLst>
                                        </p:cTn>
                                        <p:tgtEl>
                                          <p:spTgt spid="24579"/>
                                        </p:tgtEl>
                                        <p:attrNameLst>
                                          <p:attrName>style.visibility</p:attrName>
                                        </p:attrNameLst>
                                      </p:cBhvr>
                                      <p:to>
                                        <p:strVal val="visible"/>
                                      </p:to>
                                    </p:set>
                                    <p:animEffect transition="in" filter="blinds(horizontal)">
                                      <p:cBhvr>
                                        <p:cTn id="14" dur="500"/>
                                        <p:tgtEl>
                                          <p:spTgt spid="24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8">
            <a:extLst>
              <a:ext uri="{FF2B5EF4-FFF2-40B4-BE49-F238E27FC236}">
                <a16:creationId xmlns:a16="http://schemas.microsoft.com/office/drawing/2014/main" id="{9F3FF19D-BF57-48C8-A9F4-1FF1EC684BBB}"/>
              </a:ext>
            </a:extLst>
          </p:cNvPr>
          <p:cNvSpPr txBox="1">
            <a:spLocks noChangeArrowheads="1"/>
          </p:cNvSpPr>
          <p:nvPr/>
        </p:nvSpPr>
        <p:spPr bwMode="auto">
          <a:xfrm>
            <a:off x="762000" y="23953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990000"/>
                </a:solidFill>
                <a:latin typeface="Times New Roman" panose="02020603050405020304" pitchFamily="18" charset="0"/>
              </a:rPr>
              <a:t>5.2.2   </a:t>
            </a:r>
            <a:r>
              <a:rPr lang="en-US" altLang="zh-CN" dirty="0">
                <a:solidFill>
                  <a:srgbClr val="990000"/>
                </a:solidFill>
                <a:latin typeface="Times New Roman" panose="02020603050405020304" pitchFamily="18" charset="0"/>
              </a:rPr>
              <a:t>Example</a:t>
            </a:r>
            <a:endParaRPr lang="zh-CN" altLang="en-US" sz="2400" b="1" dirty="0">
              <a:solidFill>
                <a:srgbClr val="990000"/>
              </a:solidFill>
              <a:latin typeface="Times New Roman" panose="02020603050405020304" pitchFamily="18" charset="0"/>
            </a:endParaRPr>
          </a:p>
        </p:txBody>
      </p:sp>
      <p:sp>
        <p:nvSpPr>
          <p:cNvPr id="25603" name="Text Box 9">
            <a:extLst>
              <a:ext uri="{FF2B5EF4-FFF2-40B4-BE49-F238E27FC236}">
                <a16:creationId xmlns:a16="http://schemas.microsoft.com/office/drawing/2014/main" id="{AE62A2E1-D95B-43BB-BDF0-3ED7A7BCDAC7}"/>
              </a:ext>
            </a:extLst>
          </p:cNvPr>
          <p:cNvSpPr txBox="1">
            <a:spLocks noChangeArrowheads="1"/>
          </p:cNvSpPr>
          <p:nvPr/>
        </p:nvSpPr>
        <p:spPr bwMode="auto">
          <a:xfrm>
            <a:off x="547711" y="678860"/>
            <a:ext cx="8305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Q:</a:t>
            </a:r>
            <a:r>
              <a:rPr lang="zh-CN" altLang="en-US" sz="2400" b="1" dirty="0">
                <a:solidFill>
                  <a:srgbClr val="CC3300"/>
                </a:solidFill>
                <a:latin typeface="Times New Roman" panose="02020603050405020304" pitchFamily="18" charset="0"/>
              </a:rPr>
              <a:t> </a:t>
            </a:r>
            <a:r>
              <a:rPr lang="zh-CN" altLang="en-US" sz="2400" dirty="0">
                <a:latin typeface="Times New Roman" panose="02020603050405020304" pitchFamily="18" charset="0"/>
              </a:rPr>
              <a:t>  </a:t>
            </a:r>
            <a:r>
              <a:rPr lang="en-US" altLang="zh-CN" dirty="0">
                <a:latin typeface="Times New Roman" panose="02020603050405020304" pitchFamily="18" charset="0"/>
              </a:rPr>
              <a:t>Use the tabular method to analyze the synchronous sequential logic shown in the figure below.</a:t>
            </a:r>
            <a:endParaRPr lang="zh-CN" altLang="en-US" sz="2400" dirty="0">
              <a:latin typeface="Times New Roman" panose="02020603050405020304" pitchFamily="18" charset="0"/>
            </a:endParaRPr>
          </a:p>
        </p:txBody>
      </p:sp>
      <p:pic>
        <p:nvPicPr>
          <p:cNvPr id="25604" name="Picture 10" descr="TU5-6">
            <a:extLst>
              <a:ext uri="{FF2B5EF4-FFF2-40B4-BE49-F238E27FC236}">
                <a16:creationId xmlns:a16="http://schemas.microsoft.com/office/drawing/2014/main" id="{34E43C8B-3E4E-49FF-83EA-7C2AF7141617}"/>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762000" y="1600200"/>
            <a:ext cx="365125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Text Box 11">
            <a:extLst>
              <a:ext uri="{FF2B5EF4-FFF2-40B4-BE49-F238E27FC236}">
                <a16:creationId xmlns:a16="http://schemas.microsoft.com/office/drawing/2014/main" id="{F1BB5710-86E8-4E4E-9E9B-2FB9F62DCC4B}"/>
              </a:ext>
            </a:extLst>
          </p:cNvPr>
          <p:cNvSpPr txBox="1">
            <a:spLocks noChangeArrowheads="1"/>
          </p:cNvSpPr>
          <p:nvPr/>
        </p:nvSpPr>
        <p:spPr bwMode="auto">
          <a:xfrm>
            <a:off x="4787900" y="2636838"/>
            <a:ext cx="380365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dirty="0">
                <a:solidFill>
                  <a:schemeClr val="accent2"/>
                </a:solidFill>
                <a:latin typeface="Times New Roman" panose="02020603050405020304" pitchFamily="18" charset="0"/>
              </a:rPr>
              <a:t>A: </a:t>
            </a:r>
            <a:r>
              <a:rPr lang="en-US" altLang="zh-CN" dirty="0">
                <a:latin typeface="Times New Roman" panose="02020603050405020304" pitchFamily="18" charset="0"/>
              </a:rPr>
              <a:t>The output of this circuit is the state variable, so this circuit is a special case of the Moore type circuit.</a:t>
            </a:r>
            <a:endParaRPr lang="zh-CN" altLang="en-US" sz="2400" dirty="0">
              <a:latin typeface="Times New Roman" panose="02020603050405020304" pitchFamily="18" charset="0"/>
            </a:endParaRPr>
          </a:p>
        </p:txBody>
      </p:sp>
      <p:sp>
        <p:nvSpPr>
          <p:cNvPr id="25606" name="Text Box 12">
            <a:extLst>
              <a:ext uri="{FF2B5EF4-FFF2-40B4-BE49-F238E27FC236}">
                <a16:creationId xmlns:a16="http://schemas.microsoft.com/office/drawing/2014/main" id="{FD20E040-B43D-41B8-B40D-7C8570B9CDB4}"/>
              </a:ext>
            </a:extLst>
          </p:cNvPr>
          <p:cNvSpPr txBox="1">
            <a:spLocks noChangeArrowheads="1"/>
          </p:cNvSpPr>
          <p:nvPr/>
        </p:nvSpPr>
        <p:spPr bwMode="auto">
          <a:xfrm>
            <a:off x="611188" y="5084763"/>
            <a:ext cx="699928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en-US" altLang="zh-CN" dirty="0">
                <a:solidFill>
                  <a:srgbClr val="006666"/>
                </a:solidFill>
                <a:latin typeface="Times New Roman" panose="02020603050405020304" pitchFamily="18" charset="0"/>
              </a:rPr>
              <a:t> List the output function and the excitation function expression.</a:t>
            </a:r>
            <a:endParaRPr lang="zh-CN" altLang="en-US" dirty="0">
              <a:solidFill>
                <a:srgbClr val="006666"/>
              </a:solidFill>
              <a:latin typeface="Times New Roman" panose="02020603050405020304" pitchFamily="18" charset="0"/>
            </a:endParaRPr>
          </a:p>
          <a:p>
            <a:pPr algn="just" eaLnBrk="1" hangingPunct="1"/>
            <a:endParaRPr lang="zh-CN" altLang="en-US" sz="2400" dirty="0">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=x⊕y</a:t>
            </a:r>
            <a:r>
              <a:rPr lang="en-US" altLang="zh-CN" sz="2400" baseline="-25000" dirty="0">
                <a:latin typeface="Times New Roman" panose="02020603050405020304" pitchFamily="18" charset="0"/>
              </a:rPr>
              <a:t>1</a:t>
            </a:r>
          </a:p>
        </p:txBody>
      </p:sp>
      <p:pic>
        <p:nvPicPr>
          <p:cNvPr id="28679" name="Picture 13" descr="Right_Green">
            <a:hlinkClick r:id="" action="ppaction://hlinkshowjump?jump=nextslide"/>
            <a:extLst>
              <a:ext uri="{FF2B5EF4-FFF2-40B4-BE49-F238E27FC236}">
                <a16:creationId xmlns:a16="http://schemas.microsoft.com/office/drawing/2014/main" id="{C23A3CB2-C9FA-41C2-AA1A-F6036AB420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14" descr="Left_Green">
            <a:hlinkClick r:id="" action="ppaction://hlinkshowjump?jump=previousslide"/>
            <a:extLst>
              <a:ext uri="{FF2B5EF4-FFF2-40B4-BE49-F238E27FC236}">
                <a16:creationId xmlns:a16="http://schemas.microsoft.com/office/drawing/2014/main" id="{BDDA90D4-24E4-4A8E-AB0F-EF405D3B38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1795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602"/>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25603"/>
                                        </p:tgtEl>
                                        <p:attrNameLst>
                                          <p:attrName>style.visibility</p:attrName>
                                        </p:attrNameLst>
                                      </p:cBhvr>
                                      <p:to>
                                        <p:strVal val="visible"/>
                                      </p:to>
                                    </p:set>
                                    <p:animEffect transition="in" filter="slide(fromBottom)">
                                      <p:cBhvr>
                                        <p:cTn id="11" dur="500"/>
                                        <p:tgtEl>
                                          <p:spTgt spid="25603"/>
                                        </p:tgtEl>
                                      </p:cBhvr>
                                    </p:animEffect>
                                  </p:childTnLst>
                                </p:cTn>
                              </p:par>
                            </p:childTnLst>
                          </p:cTn>
                        </p:par>
                        <p:par>
                          <p:cTn id="12" fill="hold" nodeType="afterGroup">
                            <p:stCondLst>
                              <p:cond delay="500"/>
                            </p:stCondLst>
                            <p:childTnLst>
                              <p:par>
                                <p:cTn id="13" presetID="9" presetClass="entr" presetSubtype="0" fill="hold" nodeType="afterEffect">
                                  <p:stCondLst>
                                    <p:cond delay="0"/>
                                  </p:stCondLst>
                                  <p:childTnLst>
                                    <p:set>
                                      <p:cBhvr>
                                        <p:cTn id="14" dur="1" fill="hold">
                                          <p:stCondLst>
                                            <p:cond delay="0"/>
                                          </p:stCondLst>
                                        </p:cTn>
                                        <p:tgtEl>
                                          <p:spTgt spid="25604"/>
                                        </p:tgtEl>
                                        <p:attrNameLst>
                                          <p:attrName>style.visibility</p:attrName>
                                        </p:attrNameLst>
                                      </p:cBhvr>
                                      <p:to>
                                        <p:strVal val="visible"/>
                                      </p:to>
                                    </p:set>
                                    <p:animEffect transition="in" filter="dissolve">
                                      <p:cBhvr>
                                        <p:cTn id="15" dur="500"/>
                                        <p:tgtEl>
                                          <p:spTgt spid="25604"/>
                                        </p:tgtEl>
                                      </p:cBhvr>
                                    </p:animEffect>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605"/>
                                        </p:tgtEl>
                                        <p:attrNameLst>
                                          <p:attrName>style.visibility</p:attrName>
                                        </p:attrNameLst>
                                      </p:cBhvr>
                                      <p:to>
                                        <p:strVal val="visible"/>
                                      </p:to>
                                    </p:set>
                                    <p:animEffect transition="in" filter="blinds(horizontal)">
                                      <p:cBhvr>
                                        <p:cTn id="20" dur="500"/>
                                        <p:tgtEl>
                                          <p:spTgt spid="2560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25606"/>
                                        </p:tgtEl>
                                        <p:attrNameLst>
                                          <p:attrName>style.visibility</p:attrName>
                                        </p:attrNameLst>
                                      </p:cBhvr>
                                      <p:to>
                                        <p:strVal val="visible"/>
                                      </p:to>
                                    </p:set>
                                    <p:animEffect transition="in" filter="checkerboard(across)">
                                      <p:cBhvr>
                                        <p:cTn id="25" dur="500"/>
                                        <p:tgtEl>
                                          <p:spTgt spid="25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utoUpdateAnimBg="0"/>
      <p:bldP spid="25605" grpId="0" autoUpdateAnimBg="0"/>
      <p:bldP spid="2560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11">
            <a:extLst>
              <a:ext uri="{FF2B5EF4-FFF2-40B4-BE49-F238E27FC236}">
                <a16:creationId xmlns:a16="http://schemas.microsoft.com/office/drawing/2014/main" id="{A6B387F7-C6B7-4F33-A878-11C80035FCCA}"/>
              </a:ext>
            </a:extLst>
          </p:cNvPr>
          <p:cNvSpPr txBox="1">
            <a:spLocks noChangeArrowheads="1"/>
          </p:cNvSpPr>
          <p:nvPr/>
        </p:nvSpPr>
        <p:spPr bwMode="auto">
          <a:xfrm>
            <a:off x="381000" y="762000"/>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pic>
        <p:nvPicPr>
          <p:cNvPr id="29699" name="Picture 30" descr="Right_Green">
            <a:hlinkClick r:id="" action="ppaction://hlinkshowjump?jump=nextslide"/>
            <a:extLst>
              <a:ext uri="{FF2B5EF4-FFF2-40B4-BE49-F238E27FC236}">
                <a16:creationId xmlns:a16="http://schemas.microsoft.com/office/drawing/2014/main" id="{03B4EDDD-C3FA-4890-A3B6-4206AD9494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31" descr="Left_Green">
            <a:hlinkClick r:id="" action="ppaction://hlinkshowjump?jump=previousslide"/>
            <a:extLst>
              <a:ext uri="{FF2B5EF4-FFF2-40B4-BE49-F238E27FC236}">
                <a16:creationId xmlns:a16="http://schemas.microsoft.com/office/drawing/2014/main" id="{C1D85FF1-C6E8-4D89-8FEB-5095C387B8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1024">
            <a:extLst>
              <a:ext uri="{FF2B5EF4-FFF2-40B4-BE49-F238E27FC236}">
                <a16:creationId xmlns:a16="http://schemas.microsoft.com/office/drawing/2014/main" id="{E7A3D396-EA25-4F69-96F0-E960F4FFF0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325" y="1466850"/>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710F4819-0F6D-4D87-80F4-C3B964A804E4}"/>
              </a:ext>
            </a:extLst>
          </p:cNvPr>
          <p:cNvSpPr txBox="1"/>
          <p:nvPr/>
        </p:nvSpPr>
        <p:spPr>
          <a:xfrm>
            <a:off x="2339752" y="1412776"/>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7" name="文本框 6">
            <a:extLst>
              <a:ext uri="{FF2B5EF4-FFF2-40B4-BE49-F238E27FC236}">
                <a16:creationId xmlns:a16="http://schemas.microsoft.com/office/drawing/2014/main" id="{B7E36897-59CE-4391-A0A0-0273418D78A0}"/>
              </a:ext>
            </a:extLst>
          </p:cNvPr>
          <p:cNvSpPr txBox="1"/>
          <p:nvPr/>
        </p:nvSpPr>
        <p:spPr>
          <a:xfrm>
            <a:off x="755576" y="1938318"/>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8" name="文本框 7">
            <a:extLst>
              <a:ext uri="{FF2B5EF4-FFF2-40B4-BE49-F238E27FC236}">
                <a16:creationId xmlns:a16="http://schemas.microsoft.com/office/drawing/2014/main" id="{66EBF053-2BFD-44F2-AC75-1F888DDA2789}"/>
              </a:ext>
            </a:extLst>
          </p:cNvPr>
          <p:cNvSpPr txBox="1"/>
          <p:nvPr/>
        </p:nvSpPr>
        <p:spPr>
          <a:xfrm>
            <a:off x="1853698" y="1897087"/>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0" name="文本框 9">
            <a:extLst>
              <a:ext uri="{FF2B5EF4-FFF2-40B4-BE49-F238E27FC236}">
                <a16:creationId xmlns:a16="http://schemas.microsoft.com/office/drawing/2014/main" id="{321194DC-77F3-4D61-9659-4ABCE00FA514}"/>
              </a:ext>
            </a:extLst>
          </p:cNvPr>
          <p:cNvSpPr txBox="1"/>
          <p:nvPr/>
        </p:nvSpPr>
        <p:spPr>
          <a:xfrm>
            <a:off x="4711700" y="1865930"/>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1" name="文本框 10">
            <a:extLst>
              <a:ext uri="{FF2B5EF4-FFF2-40B4-BE49-F238E27FC236}">
                <a16:creationId xmlns:a16="http://schemas.microsoft.com/office/drawing/2014/main" id="{70965A52-14AD-4B53-8D81-3AE03E0CB75A}"/>
              </a:ext>
            </a:extLst>
          </p:cNvPr>
          <p:cNvSpPr txBox="1"/>
          <p:nvPr/>
        </p:nvSpPr>
        <p:spPr>
          <a:xfrm>
            <a:off x="3032389" y="1856980"/>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26019484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5"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checkerboard(down)">
                                      <p:cBhvr>
                                        <p:cTn id="7" dur="500"/>
                                        <p:tgtEl>
                                          <p:spTgt spid="26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Picture 30" descr="Right_Green">
            <a:hlinkClick r:id="" action="ppaction://hlinkshowjump?jump=nextslide"/>
            <a:extLst>
              <a:ext uri="{FF2B5EF4-FFF2-40B4-BE49-F238E27FC236}">
                <a16:creationId xmlns:a16="http://schemas.microsoft.com/office/drawing/2014/main" id="{7E243C79-C42C-4687-9EE5-4FF861438C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31" descr="Left_Green">
            <a:hlinkClick r:id="" action="ppaction://hlinkshowjump?jump=previousslide"/>
            <a:extLst>
              <a:ext uri="{FF2B5EF4-FFF2-40B4-BE49-F238E27FC236}">
                <a16:creationId xmlns:a16="http://schemas.microsoft.com/office/drawing/2014/main" id="{918E1D6F-3749-4351-A7C3-B959E65F83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3">
            <a:extLst>
              <a:ext uri="{FF2B5EF4-FFF2-40B4-BE49-F238E27FC236}">
                <a16:creationId xmlns:a16="http://schemas.microsoft.com/office/drawing/2014/main" id="{03713028-AD18-4BF1-A515-163758CD93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1484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1">
            <a:extLst>
              <a:ext uri="{FF2B5EF4-FFF2-40B4-BE49-F238E27FC236}">
                <a16:creationId xmlns:a16="http://schemas.microsoft.com/office/drawing/2014/main" id="{A09F757C-4ABF-4797-BAC2-DAE5B88E1D46}"/>
              </a:ext>
            </a:extLst>
          </p:cNvPr>
          <p:cNvSpPr txBox="1">
            <a:spLocks noChangeArrowheads="1"/>
          </p:cNvSpPr>
          <p:nvPr/>
        </p:nvSpPr>
        <p:spPr bwMode="auto">
          <a:xfrm>
            <a:off x="381000" y="762000"/>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7" name="文本框 6">
            <a:extLst>
              <a:ext uri="{FF2B5EF4-FFF2-40B4-BE49-F238E27FC236}">
                <a16:creationId xmlns:a16="http://schemas.microsoft.com/office/drawing/2014/main" id="{6E854881-0836-4DC3-A600-51F17859AAE2}"/>
              </a:ext>
            </a:extLst>
          </p:cNvPr>
          <p:cNvSpPr txBox="1"/>
          <p:nvPr/>
        </p:nvSpPr>
        <p:spPr>
          <a:xfrm>
            <a:off x="2339752" y="1412776"/>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8" name="文本框 7">
            <a:extLst>
              <a:ext uri="{FF2B5EF4-FFF2-40B4-BE49-F238E27FC236}">
                <a16:creationId xmlns:a16="http://schemas.microsoft.com/office/drawing/2014/main" id="{69223C61-50B0-4CD5-AFC9-75892E9F26EB}"/>
              </a:ext>
            </a:extLst>
          </p:cNvPr>
          <p:cNvSpPr txBox="1"/>
          <p:nvPr/>
        </p:nvSpPr>
        <p:spPr>
          <a:xfrm>
            <a:off x="755576" y="1938318"/>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9" name="文本框 8">
            <a:extLst>
              <a:ext uri="{FF2B5EF4-FFF2-40B4-BE49-F238E27FC236}">
                <a16:creationId xmlns:a16="http://schemas.microsoft.com/office/drawing/2014/main" id="{B5EBD5E8-D257-4D21-9AE2-A96527EC94EA}"/>
              </a:ext>
            </a:extLst>
          </p:cNvPr>
          <p:cNvSpPr txBox="1"/>
          <p:nvPr/>
        </p:nvSpPr>
        <p:spPr>
          <a:xfrm>
            <a:off x="1853698" y="1897087"/>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0" name="文本框 9">
            <a:extLst>
              <a:ext uri="{FF2B5EF4-FFF2-40B4-BE49-F238E27FC236}">
                <a16:creationId xmlns:a16="http://schemas.microsoft.com/office/drawing/2014/main" id="{092A7BB3-D2CF-4380-8504-24F3C62FDE6B}"/>
              </a:ext>
            </a:extLst>
          </p:cNvPr>
          <p:cNvSpPr txBox="1"/>
          <p:nvPr/>
        </p:nvSpPr>
        <p:spPr>
          <a:xfrm>
            <a:off x="4711700" y="1865930"/>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1" name="文本框 10">
            <a:extLst>
              <a:ext uri="{FF2B5EF4-FFF2-40B4-BE49-F238E27FC236}">
                <a16:creationId xmlns:a16="http://schemas.microsoft.com/office/drawing/2014/main" id="{746F4538-5F4A-4C9C-A27B-DE2724848B4F}"/>
              </a:ext>
            </a:extLst>
          </p:cNvPr>
          <p:cNvSpPr txBox="1"/>
          <p:nvPr/>
        </p:nvSpPr>
        <p:spPr>
          <a:xfrm>
            <a:off x="3032389" y="1856980"/>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317035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0" descr="Right_Green">
            <a:hlinkClick r:id="" action="ppaction://hlinkshowjump?jump=nextslide"/>
            <a:extLst>
              <a:ext uri="{FF2B5EF4-FFF2-40B4-BE49-F238E27FC236}">
                <a16:creationId xmlns:a16="http://schemas.microsoft.com/office/drawing/2014/main" id="{B0057501-3A6F-4E1C-8E1A-930D79B9DF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31" descr="Left_Green">
            <a:hlinkClick r:id="" action="ppaction://hlinkshowjump?jump=previousslide"/>
            <a:extLst>
              <a:ext uri="{FF2B5EF4-FFF2-40B4-BE49-F238E27FC236}">
                <a16:creationId xmlns:a16="http://schemas.microsoft.com/office/drawing/2014/main" id="{476D200D-B17E-4BB1-B02C-87F038B105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2">
            <a:extLst>
              <a:ext uri="{FF2B5EF4-FFF2-40B4-BE49-F238E27FC236}">
                <a16:creationId xmlns:a16="http://schemas.microsoft.com/office/drawing/2014/main" id="{FBC4D8E1-DB5F-4260-9464-81458327E6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矩形 1">
            <a:extLst>
              <a:ext uri="{FF2B5EF4-FFF2-40B4-BE49-F238E27FC236}">
                <a16:creationId xmlns:a16="http://schemas.microsoft.com/office/drawing/2014/main" id="{061E779B-D186-47DC-8B4C-A9621B3F913F}"/>
              </a:ext>
            </a:extLst>
          </p:cNvPr>
          <p:cNvSpPr>
            <a:spLocks noChangeArrowheads="1"/>
          </p:cNvSpPr>
          <p:nvPr/>
        </p:nvSpPr>
        <p:spPr bwMode="auto">
          <a:xfrm>
            <a:off x="5292725" y="849313"/>
            <a:ext cx="2640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J</a:t>
            </a:r>
            <a:r>
              <a:rPr lang="en-US" altLang="zh-CN" baseline="-25000">
                <a:latin typeface="Times New Roman" panose="02020603050405020304" pitchFamily="18" charset="0"/>
              </a:rPr>
              <a:t>1</a:t>
            </a:r>
            <a:r>
              <a:rPr lang="en-US" altLang="zh-CN">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=1</a:t>
            </a:r>
            <a:r>
              <a:rPr lang="zh-CN" altLang="en-US">
                <a:latin typeface="Times New Roman" panose="02020603050405020304" pitchFamily="18" charset="0"/>
              </a:rPr>
              <a:t>　；</a:t>
            </a:r>
            <a:r>
              <a:rPr lang="en-US" altLang="zh-CN">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=x⊕y</a:t>
            </a:r>
            <a:r>
              <a:rPr lang="en-US" altLang="zh-CN" baseline="-25000">
                <a:latin typeface="Times New Roman" panose="02020603050405020304" pitchFamily="18" charset="0"/>
              </a:rPr>
              <a:t>1</a:t>
            </a:r>
          </a:p>
        </p:txBody>
      </p:sp>
      <p:sp>
        <p:nvSpPr>
          <p:cNvPr id="7" name="Text Box 11">
            <a:extLst>
              <a:ext uri="{FF2B5EF4-FFF2-40B4-BE49-F238E27FC236}">
                <a16:creationId xmlns:a16="http://schemas.microsoft.com/office/drawing/2014/main" id="{0249D504-CFE4-4B64-A978-2ACEDC875088}"/>
              </a:ext>
            </a:extLst>
          </p:cNvPr>
          <p:cNvSpPr txBox="1">
            <a:spLocks noChangeArrowheads="1"/>
          </p:cNvSpPr>
          <p:nvPr/>
        </p:nvSpPr>
        <p:spPr bwMode="auto">
          <a:xfrm>
            <a:off x="381000" y="331604"/>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8" name="文本框 7">
            <a:extLst>
              <a:ext uri="{FF2B5EF4-FFF2-40B4-BE49-F238E27FC236}">
                <a16:creationId xmlns:a16="http://schemas.microsoft.com/office/drawing/2014/main" id="{D98FA4B1-C0E9-442C-BAF1-3448FC356C3D}"/>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9" name="文本框 8">
            <a:extLst>
              <a:ext uri="{FF2B5EF4-FFF2-40B4-BE49-F238E27FC236}">
                <a16:creationId xmlns:a16="http://schemas.microsoft.com/office/drawing/2014/main" id="{192173EC-727C-485F-BC82-D56233BFF338}"/>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10" name="文本框 9">
            <a:extLst>
              <a:ext uri="{FF2B5EF4-FFF2-40B4-BE49-F238E27FC236}">
                <a16:creationId xmlns:a16="http://schemas.microsoft.com/office/drawing/2014/main" id="{C835456E-C959-44A3-A71E-DD894D2A7336}"/>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1" name="文本框 10">
            <a:extLst>
              <a:ext uri="{FF2B5EF4-FFF2-40B4-BE49-F238E27FC236}">
                <a16:creationId xmlns:a16="http://schemas.microsoft.com/office/drawing/2014/main" id="{071F0166-74FF-4472-A6CC-61460599FF66}"/>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2" name="文本框 11">
            <a:extLst>
              <a:ext uri="{FF2B5EF4-FFF2-40B4-BE49-F238E27FC236}">
                <a16:creationId xmlns:a16="http://schemas.microsoft.com/office/drawing/2014/main" id="{5203F16C-8F3F-4045-B97C-C36D6410B032}"/>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11939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1" name="Picture 30" descr="Right_Green">
            <a:hlinkClick r:id="" action="ppaction://hlinkshowjump?jump=nextslide"/>
            <a:extLst>
              <a:ext uri="{FF2B5EF4-FFF2-40B4-BE49-F238E27FC236}">
                <a16:creationId xmlns:a16="http://schemas.microsoft.com/office/drawing/2014/main" id="{7D3C111D-0120-4139-9ADE-B4E7CEE45B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Picture 31" descr="Left_Green">
            <a:hlinkClick r:id="" action="ppaction://hlinkshowjump?jump=previousslide"/>
            <a:extLst>
              <a:ext uri="{FF2B5EF4-FFF2-40B4-BE49-F238E27FC236}">
                <a16:creationId xmlns:a16="http://schemas.microsoft.com/office/drawing/2014/main" id="{A442820D-FD1F-4B35-848F-5AAAE639C9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3">
            <a:extLst>
              <a:ext uri="{FF2B5EF4-FFF2-40B4-BE49-F238E27FC236}">
                <a16:creationId xmlns:a16="http://schemas.microsoft.com/office/drawing/2014/main" id="{1D023195-CE59-4FE8-B8D5-DA4903807A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矩形 1">
            <a:extLst>
              <a:ext uri="{FF2B5EF4-FFF2-40B4-BE49-F238E27FC236}">
                <a16:creationId xmlns:a16="http://schemas.microsoft.com/office/drawing/2014/main" id="{890F1721-8947-4189-9942-41F6DC63DBD0}"/>
              </a:ext>
            </a:extLst>
          </p:cNvPr>
          <p:cNvSpPr>
            <a:spLocks noChangeArrowheads="1"/>
          </p:cNvSpPr>
          <p:nvPr/>
        </p:nvSpPr>
        <p:spPr bwMode="auto">
          <a:xfrm>
            <a:off x="5364163" y="919163"/>
            <a:ext cx="26400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J</a:t>
            </a:r>
            <a:r>
              <a:rPr lang="en-US" altLang="zh-CN" baseline="-25000">
                <a:latin typeface="Times New Roman" panose="02020603050405020304" pitchFamily="18" charset="0"/>
              </a:rPr>
              <a:t>1</a:t>
            </a:r>
            <a:r>
              <a:rPr lang="en-US" altLang="zh-CN">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=1</a:t>
            </a:r>
            <a:r>
              <a:rPr lang="zh-CN" altLang="en-US">
                <a:latin typeface="Times New Roman" panose="02020603050405020304" pitchFamily="18" charset="0"/>
              </a:rPr>
              <a:t>　；</a:t>
            </a:r>
            <a:r>
              <a:rPr lang="en-US" altLang="zh-CN">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=x⊕y</a:t>
            </a:r>
            <a:r>
              <a:rPr lang="en-US" altLang="zh-CN" baseline="-25000">
                <a:latin typeface="Times New Roman" panose="02020603050405020304" pitchFamily="18" charset="0"/>
              </a:rPr>
              <a:t>1</a:t>
            </a:r>
          </a:p>
        </p:txBody>
      </p:sp>
      <p:sp>
        <p:nvSpPr>
          <p:cNvPr id="7" name="Text Box 11">
            <a:extLst>
              <a:ext uri="{FF2B5EF4-FFF2-40B4-BE49-F238E27FC236}">
                <a16:creationId xmlns:a16="http://schemas.microsoft.com/office/drawing/2014/main" id="{9BE65226-F1F5-4B99-825F-24F6D6DB80DA}"/>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13" name="文本框 12">
            <a:extLst>
              <a:ext uri="{FF2B5EF4-FFF2-40B4-BE49-F238E27FC236}">
                <a16:creationId xmlns:a16="http://schemas.microsoft.com/office/drawing/2014/main" id="{24219388-329B-456D-BC75-703645D6D4E1}"/>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14" name="文本框 13">
            <a:extLst>
              <a:ext uri="{FF2B5EF4-FFF2-40B4-BE49-F238E27FC236}">
                <a16:creationId xmlns:a16="http://schemas.microsoft.com/office/drawing/2014/main" id="{AEF0FA4D-8F6D-42CA-888F-03B97938A631}"/>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15" name="文本框 14">
            <a:extLst>
              <a:ext uri="{FF2B5EF4-FFF2-40B4-BE49-F238E27FC236}">
                <a16:creationId xmlns:a16="http://schemas.microsoft.com/office/drawing/2014/main" id="{BDE332D4-B7F1-4E80-9E97-3C7C9A4BBE44}"/>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6" name="文本框 15">
            <a:extLst>
              <a:ext uri="{FF2B5EF4-FFF2-40B4-BE49-F238E27FC236}">
                <a16:creationId xmlns:a16="http://schemas.microsoft.com/office/drawing/2014/main" id="{07098864-4EF9-4219-A49D-2651590015F7}"/>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7" name="文本框 16">
            <a:extLst>
              <a:ext uri="{FF2B5EF4-FFF2-40B4-BE49-F238E27FC236}">
                <a16:creationId xmlns:a16="http://schemas.microsoft.com/office/drawing/2014/main" id="{083880EB-4029-485B-A58C-336D2ADFD7C6}"/>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292845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Picture 30" descr="Right_Green">
            <a:hlinkClick r:id="" action="ppaction://hlinkshowjump?jump=nextslide"/>
            <a:extLst>
              <a:ext uri="{FF2B5EF4-FFF2-40B4-BE49-F238E27FC236}">
                <a16:creationId xmlns:a16="http://schemas.microsoft.com/office/drawing/2014/main" id="{23C64AAF-11BC-4047-BE9F-B0BD38F55D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31" descr="Left_Green">
            <a:hlinkClick r:id="" action="ppaction://hlinkshowjump?jump=previousslide"/>
            <a:extLst>
              <a:ext uri="{FF2B5EF4-FFF2-40B4-BE49-F238E27FC236}">
                <a16:creationId xmlns:a16="http://schemas.microsoft.com/office/drawing/2014/main" id="{5A5708A0-6C49-4E39-8DC8-081316F276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5">
            <a:extLst>
              <a:ext uri="{FF2B5EF4-FFF2-40B4-BE49-F238E27FC236}">
                <a16:creationId xmlns:a16="http://schemas.microsoft.com/office/drawing/2014/main" id="{6F73364A-8CCC-4CF7-92DA-D1A5B9CFFA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矩形 5">
            <a:extLst>
              <a:ext uri="{FF2B5EF4-FFF2-40B4-BE49-F238E27FC236}">
                <a16:creationId xmlns:a16="http://schemas.microsoft.com/office/drawing/2014/main" id="{E64605E7-A4CE-4FA1-AE26-CF93FCAEF78B}"/>
              </a:ext>
            </a:extLst>
          </p:cNvPr>
          <p:cNvSpPr>
            <a:spLocks noChangeArrowheads="1"/>
          </p:cNvSpPr>
          <p:nvPr/>
        </p:nvSpPr>
        <p:spPr bwMode="auto">
          <a:xfrm>
            <a:off x="5364163" y="919163"/>
            <a:ext cx="26400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J</a:t>
            </a:r>
            <a:r>
              <a:rPr lang="en-US" altLang="zh-CN" baseline="-25000">
                <a:latin typeface="Times New Roman" panose="02020603050405020304" pitchFamily="18" charset="0"/>
              </a:rPr>
              <a:t>1</a:t>
            </a:r>
            <a:r>
              <a:rPr lang="en-US" altLang="zh-CN">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=1</a:t>
            </a:r>
            <a:r>
              <a:rPr lang="zh-CN" altLang="en-US">
                <a:latin typeface="Times New Roman" panose="02020603050405020304" pitchFamily="18" charset="0"/>
              </a:rPr>
              <a:t>　；</a:t>
            </a:r>
            <a:r>
              <a:rPr lang="en-US" altLang="zh-CN">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=x⊕y</a:t>
            </a:r>
            <a:r>
              <a:rPr lang="en-US" altLang="zh-CN" baseline="-25000">
                <a:latin typeface="Times New Roman" panose="02020603050405020304" pitchFamily="18" charset="0"/>
              </a:rPr>
              <a:t>1</a:t>
            </a:r>
          </a:p>
        </p:txBody>
      </p:sp>
      <p:sp>
        <p:nvSpPr>
          <p:cNvPr id="7" name="Text Box 11">
            <a:extLst>
              <a:ext uri="{FF2B5EF4-FFF2-40B4-BE49-F238E27FC236}">
                <a16:creationId xmlns:a16="http://schemas.microsoft.com/office/drawing/2014/main" id="{8EC256A2-51AB-4A99-87F4-4E5990A2BEC0}"/>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8" name="文本框 7">
            <a:extLst>
              <a:ext uri="{FF2B5EF4-FFF2-40B4-BE49-F238E27FC236}">
                <a16:creationId xmlns:a16="http://schemas.microsoft.com/office/drawing/2014/main" id="{D8BDF372-2A6F-4F0C-BE2B-7F0EB3307CCD}"/>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9" name="文本框 8">
            <a:extLst>
              <a:ext uri="{FF2B5EF4-FFF2-40B4-BE49-F238E27FC236}">
                <a16:creationId xmlns:a16="http://schemas.microsoft.com/office/drawing/2014/main" id="{DBDC19F7-7812-492D-AFEE-72954022A3A6}"/>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10" name="文本框 9">
            <a:extLst>
              <a:ext uri="{FF2B5EF4-FFF2-40B4-BE49-F238E27FC236}">
                <a16:creationId xmlns:a16="http://schemas.microsoft.com/office/drawing/2014/main" id="{1300359E-302E-49DE-82A6-7BB8ECF510FF}"/>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1" name="文本框 10">
            <a:extLst>
              <a:ext uri="{FF2B5EF4-FFF2-40B4-BE49-F238E27FC236}">
                <a16:creationId xmlns:a16="http://schemas.microsoft.com/office/drawing/2014/main" id="{E64E0A48-2158-41FF-8B0B-F19F3FF825B9}"/>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2" name="文本框 11">
            <a:extLst>
              <a:ext uri="{FF2B5EF4-FFF2-40B4-BE49-F238E27FC236}">
                <a16:creationId xmlns:a16="http://schemas.microsoft.com/office/drawing/2014/main" id="{A79E8CDD-606F-4385-8BD8-54F8D1B92E4C}"/>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2114739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9" name="Picture 30" descr="Right_Green">
            <a:hlinkClick r:id="" action="ppaction://hlinkshowjump?jump=nextslide"/>
            <a:extLst>
              <a:ext uri="{FF2B5EF4-FFF2-40B4-BE49-F238E27FC236}">
                <a16:creationId xmlns:a16="http://schemas.microsoft.com/office/drawing/2014/main" id="{0943BAA8-FE1B-4BF1-9798-98692C8EA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31" descr="Left_Green">
            <a:hlinkClick r:id="" action="ppaction://hlinkshowjump?jump=previousslide"/>
            <a:extLst>
              <a:ext uri="{FF2B5EF4-FFF2-40B4-BE49-F238E27FC236}">
                <a16:creationId xmlns:a16="http://schemas.microsoft.com/office/drawing/2014/main" id="{53E4AC26-8A2D-4410-BFEE-C5D4D06FCC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4">
            <a:extLst>
              <a:ext uri="{FF2B5EF4-FFF2-40B4-BE49-F238E27FC236}">
                <a16:creationId xmlns:a16="http://schemas.microsoft.com/office/drawing/2014/main" id="{0F13F25E-E86A-48C9-9A70-A313CC2E99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矩形 5">
            <a:extLst>
              <a:ext uri="{FF2B5EF4-FFF2-40B4-BE49-F238E27FC236}">
                <a16:creationId xmlns:a16="http://schemas.microsoft.com/office/drawing/2014/main" id="{7193366A-4F1E-4D74-8C3B-BC5537791083}"/>
              </a:ext>
            </a:extLst>
          </p:cNvPr>
          <p:cNvSpPr>
            <a:spLocks noChangeArrowheads="1"/>
          </p:cNvSpPr>
          <p:nvPr/>
        </p:nvSpPr>
        <p:spPr bwMode="auto">
          <a:xfrm>
            <a:off x="5364163" y="919163"/>
            <a:ext cx="26400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J</a:t>
            </a:r>
            <a:r>
              <a:rPr lang="en-US" altLang="zh-CN" baseline="-25000">
                <a:latin typeface="Times New Roman" panose="02020603050405020304" pitchFamily="18" charset="0"/>
              </a:rPr>
              <a:t>1</a:t>
            </a:r>
            <a:r>
              <a:rPr lang="en-US" altLang="zh-CN">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=1</a:t>
            </a:r>
            <a:r>
              <a:rPr lang="zh-CN" altLang="en-US">
                <a:latin typeface="Times New Roman" panose="02020603050405020304" pitchFamily="18" charset="0"/>
              </a:rPr>
              <a:t>　；</a:t>
            </a:r>
            <a:r>
              <a:rPr lang="en-US" altLang="zh-CN">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=x⊕y</a:t>
            </a:r>
            <a:r>
              <a:rPr lang="en-US" altLang="zh-CN" baseline="-25000">
                <a:latin typeface="Times New Roman" panose="02020603050405020304" pitchFamily="18" charset="0"/>
              </a:rPr>
              <a:t>1</a:t>
            </a:r>
          </a:p>
        </p:txBody>
      </p:sp>
      <p:sp>
        <p:nvSpPr>
          <p:cNvPr id="7" name="Text Box 11">
            <a:extLst>
              <a:ext uri="{FF2B5EF4-FFF2-40B4-BE49-F238E27FC236}">
                <a16:creationId xmlns:a16="http://schemas.microsoft.com/office/drawing/2014/main" id="{AA96B0F8-7476-4294-9DEC-F8810FC7FF82}"/>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8" name="文本框 7">
            <a:extLst>
              <a:ext uri="{FF2B5EF4-FFF2-40B4-BE49-F238E27FC236}">
                <a16:creationId xmlns:a16="http://schemas.microsoft.com/office/drawing/2014/main" id="{C137CDE3-F34E-47B5-A781-5F42AA4E7FE1}"/>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9" name="文本框 8">
            <a:extLst>
              <a:ext uri="{FF2B5EF4-FFF2-40B4-BE49-F238E27FC236}">
                <a16:creationId xmlns:a16="http://schemas.microsoft.com/office/drawing/2014/main" id="{012EFBA9-E587-4FB2-BAF2-3BC54E9BE675}"/>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10" name="文本框 9">
            <a:extLst>
              <a:ext uri="{FF2B5EF4-FFF2-40B4-BE49-F238E27FC236}">
                <a16:creationId xmlns:a16="http://schemas.microsoft.com/office/drawing/2014/main" id="{BE863234-A237-42B9-A178-E7F33CC5DF70}"/>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1" name="文本框 10">
            <a:extLst>
              <a:ext uri="{FF2B5EF4-FFF2-40B4-BE49-F238E27FC236}">
                <a16:creationId xmlns:a16="http://schemas.microsoft.com/office/drawing/2014/main" id="{7726F5E8-43EB-432B-8254-CBC4551EE5C4}"/>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2" name="文本框 11">
            <a:extLst>
              <a:ext uri="{FF2B5EF4-FFF2-40B4-BE49-F238E27FC236}">
                <a16:creationId xmlns:a16="http://schemas.microsoft.com/office/drawing/2014/main" id="{63F31585-485E-40C1-A541-AA9A6179B266}"/>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725692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30" descr="Right_Green">
            <a:hlinkClick r:id="" action="ppaction://hlinkshowjump?jump=nextslide"/>
            <a:extLst>
              <a:ext uri="{FF2B5EF4-FFF2-40B4-BE49-F238E27FC236}">
                <a16:creationId xmlns:a16="http://schemas.microsoft.com/office/drawing/2014/main" id="{A0F905C3-347F-44E6-B17B-BEDD7F0FF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31" descr="Left_Green">
            <a:hlinkClick r:id="" action="ppaction://hlinkshowjump?jump=previousslide"/>
            <a:extLst>
              <a:ext uri="{FF2B5EF4-FFF2-40B4-BE49-F238E27FC236}">
                <a16:creationId xmlns:a16="http://schemas.microsoft.com/office/drawing/2014/main" id="{3956EE98-F9C7-4EC6-9A53-96A5AB2C1D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4">
            <a:extLst>
              <a:ext uri="{FF2B5EF4-FFF2-40B4-BE49-F238E27FC236}">
                <a16:creationId xmlns:a16="http://schemas.microsoft.com/office/drawing/2014/main" id="{E93102D9-BF1A-4876-A2B3-DB9607A117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矩形 5">
            <a:extLst>
              <a:ext uri="{FF2B5EF4-FFF2-40B4-BE49-F238E27FC236}">
                <a16:creationId xmlns:a16="http://schemas.microsoft.com/office/drawing/2014/main" id="{5D833C5A-D065-4CA4-8A30-CA7470DC1816}"/>
              </a:ext>
            </a:extLst>
          </p:cNvPr>
          <p:cNvSpPr>
            <a:spLocks noChangeArrowheads="1"/>
          </p:cNvSpPr>
          <p:nvPr/>
        </p:nvSpPr>
        <p:spPr bwMode="auto">
          <a:xfrm>
            <a:off x="5364163" y="919163"/>
            <a:ext cx="26400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J</a:t>
            </a:r>
            <a:r>
              <a:rPr lang="en-US" altLang="zh-CN" baseline="-25000">
                <a:latin typeface="Times New Roman" panose="02020603050405020304" pitchFamily="18" charset="0"/>
              </a:rPr>
              <a:t>1</a:t>
            </a:r>
            <a:r>
              <a:rPr lang="en-US" altLang="zh-CN">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=1</a:t>
            </a:r>
            <a:r>
              <a:rPr lang="zh-CN" altLang="en-US">
                <a:latin typeface="Times New Roman" panose="02020603050405020304" pitchFamily="18" charset="0"/>
              </a:rPr>
              <a:t>　；</a:t>
            </a:r>
            <a:r>
              <a:rPr lang="en-US" altLang="zh-CN">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=x⊕y</a:t>
            </a:r>
            <a:r>
              <a:rPr lang="en-US" altLang="zh-CN" baseline="-25000">
                <a:latin typeface="Times New Roman" panose="02020603050405020304" pitchFamily="18" charset="0"/>
              </a:rPr>
              <a:t>1</a:t>
            </a:r>
          </a:p>
        </p:txBody>
      </p:sp>
      <p:sp>
        <p:nvSpPr>
          <p:cNvPr id="7" name="Text Box 11">
            <a:extLst>
              <a:ext uri="{FF2B5EF4-FFF2-40B4-BE49-F238E27FC236}">
                <a16:creationId xmlns:a16="http://schemas.microsoft.com/office/drawing/2014/main" id="{BE02EC15-D6B5-4708-A958-45E5CF7500EB}"/>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8" name="文本框 7">
            <a:extLst>
              <a:ext uri="{FF2B5EF4-FFF2-40B4-BE49-F238E27FC236}">
                <a16:creationId xmlns:a16="http://schemas.microsoft.com/office/drawing/2014/main" id="{B855EDC9-2B32-408C-B1DE-8B6A0B18CB91}"/>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9" name="文本框 8">
            <a:extLst>
              <a:ext uri="{FF2B5EF4-FFF2-40B4-BE49-F238E27FC236}">
                <a16:creationId xmlns:a16="http://schemas.microsoft.com/office/drawing/2014/main" id="{68F48D26-B256-42D5-B91E-5407A882F4F8}"/>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10" name="文本框 9">
            <a:extLst>
              <a:ext uri="{FF2B5EF4-FFF2-40B4-BE49-F238E27FC236}">
                <a16:creationId xmlns:a16="http://schemas.microsoft.com/office/drawing/2014/main" id="{B7AE7828-1CB1-49C1-AAE2-E2A451F3F2AF}"/>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1" name="文本框 10">
            <a:extLst>
              <a:ext uri="{FF2B5EF4-FFF2-40B4-BE49-F238E27FC236}">
                <a16:creationId xmlns:a16="http://schemas.microsoft.com/office/drawing/2014/main" id="{76FB4894-FDE8-4A15-B4CE-155887351C0B}"/>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2" name="文本框 11">
            <a:extLst>
              <a:ext uri="{FF2B5EF4-FFF2-40B4-BE49-F238E27FC236}">
                <a16:creationId xmlns:a16="http://schemas.microsoft.com/office/drawing/2014/main" id="{D60EF1C1-7093-4C21-AA2E-557E4831A5EB}"/>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82836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7" name="Picture 30" descr="Right_Green">
            <a:hlinkClick r:id="" action="ppaction://hlinkshowjump?jump=nextslide"/>
            <a:extLst>
              <a:ext uri="{FF2B5EF4-FFF2-40B4-BE49-F238E27FC236}">
                <a16:creationId xmlns:a16="http://schemas.microsoft.com/office/drawing/2014/main" id="{6900FADB-C08A-4F64-B721-6B683C83E6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Picture 31" descr="Left_Green">
            <a:hlinkClick r:id="" action="ppaction://hlinkshowjump?jump=previousslide"/>
            <a:extLst>
              <a:ext uri="{FF2B5EF4-FFF2-40B4-BE49-F238E27FC236}">
                <a16:creationId xmlns:a16="http://schemas.microsoft.com/office/drawing/2014/main" id="{2EF6D5C6-4440-4DE2-ABDD-55FFC50FFB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4">
            <a:extLst>
              <a:ext uri="{FF2B5EF4-FFF2-40B4-BE49-F238E27FC236}">
                <a16:creationId xmlns:a16="http://schemas.microsoft.com/office/drawing/2014/main" id="{D411AEBF-8BE8-4FE3-A743-F77B34B943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1">
            <a:extLst>
              <a:ext uri="{FF2B5EF4-FFF2-40B4-BE49-F238E27FC236}">
                <a16:creationId xmlns:a16="http://schemas.microsoft.com/office/drawing/2014/main" id="{2DCDBC93-F412-438E-AA56-805DEDA3E4FC}"/>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7" name="文本框 6">
            <a:extLst>
              <a:ext uri="{FF2B5EF4-FFF2-40B4-BE49-F238E27FC236}">
                <a16:creationId xmlns:a16="http://schemas.microsoft.com/office/drawing/2014/main" id="{D8B4610E-20AC-4DD5-9B60-05D2386B71D4}"/>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8" name="文本框 7">
            <a:extLst>
              <a:ext uri="{FF2B5EF4-FFF2-40B4-BE49-F238E27FC236}">
                <a16:creationId xmlns:a16="http://schemas.microsoft.com/office/drawing/2014/main" id="{59FDDFCC-353F-4AAA-A375-B1BF813381C0}"/>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9" name="文本框 8">
            <a:extLst>
              <a:ext uri="{FF2B5EF4-FFF2-40B4-BE49-F238E27FC236}">
                <a16:creationId xmlns:a16="http://schemas.microsoft.com/office/drawing/2014/main" id="{02792D6B-909D-44DD-BB29-AD076F2DF3DA}"/>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0" name="文本框 9">
            <a:extLst>
              <a:ext uri="{FF2B5EF4-FFF2-40B4-BE49-F238E27FC236}">
                <a16:creationId xmlns:a16="http://schemas.microsoft.com/office/drawing/2014/main" id="{63FDBE00-84CF-414D-93C8-34E4A2F7DCEA}"/>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1" name="文本框 10">
            <a:extLst>
              <a:ext uri="{FF2B5EF4-FFF2-40B4-BE49-F238E27FC236}">
                <a16:creationId xmlns:a16="http://schemas.microsoft.com/office/drawing/2014/main" id="{8262A0AB-000C-4312-82A0-0240139138F5}"/>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69257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1" name="Picture 30" descr="Right_Green">
            <a:hlinkClick r:id="" action="ppaction://hlinkshowjump?jump=nextslide"/>
            <a:extLst>
              <a:ext uri="{FF2B5EF4-FFF2-40B4-BE49-F238E27FC236}">
                <a16:creationId xmlns:a16="http://schemas.microsoft.com/office/drawing/2014/main" id="{3AAE2505-96A0-4B11-A548-4EC159E6F0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31" descr="Left_Green">
            <a:hlinkClick r:id="" action="ppaction://hlinkshowjump?jump=previousslide"/>
            <a:extLst>
              <a:ext uri="{FF2B5EF4-FFF2-40B4-BE49-F238E27FC236}">
                <a16:creationId xmlns:a16="http://schemas.microsoft.com/office/drawing/2014/main" id="{E1D7AD24-AC2E-48B5-A7B3-9460E6BD96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4">
            <a:extLst>
              <a:ext uri="{FF2B5EF4-FFF2-40B4-BE49-F238E27FC236}">
                <a16:creationId xmlns:a16="http://schemas.microsoft.com/office/drawing/2014/main" id="{DFCEBA22-F2CD-41C2-B91B-9719FB1306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矩形 5">
            <a:extLst>
              <a:ext uri="{FF2B5EF4-FFF2-40B4-BE49-F238E27FC236}">
                <a16:creationId xmlns:a16="http://schemas.microsoft.com/office/drawing/2014/main" id="{B9416815-3BCC-417E-BFCA-F63DA79859A1}"/>
              </a:ext>
            </a:extLst>
          </p:cNvPr>
          <p:cNvSpPr>
            <a:spLocks noChangeArrowheads="1"/>
          </p:cNvSpPr>
          <p:nvPr/>
        </p:nvSpPr>
        <p:spPr bwMode="auto">
          <a:xfrm>
            <a:off x="5364163" y="919163"/>
            <a:ext cx="26400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J</a:t>
            </a:r>
            <a:r>
              <a:rPr lang="en-US" altLang="zh-CN" baseline="-25000">
                <a:latin typeface="Times New Roman" panose="02020603050405020304" pitchFamily="18" charset="0"/>
              </a:rPr>
              <a:t>1</a:t>
            </a:r>
            <a:r>
              <a:rPr lang="en-US" altLang="zh-CN">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=1</a:t>
            </a:r>
            <a:r>
              <a:rPr lang="zh-CN" altLang="en-US">
                <a:latin typeface="Times New Roman" panose="02020603050405020304" pitchFamily="18" charset="0"/>
              </a:rPr>
              <a:t>　；</a:t>
            </a:r>
            <a:r>
              <a:rPr lang="en-US" altLang="zh-CN">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=x⊕y</a:t>
            </a:r>
            <a:r>
              <a:rPr lang="en-US" altLang="zh-CN" baseline="-25000">
                <a:latin typeface="Times New Roman" panose="02020603050405020304" pitchFamily="18" charset="0"/>
              </a:rPr>
              <a:t>1</a:t>
            </a:r>
          </a:p>
        </p:txBody>
      </p:sp>
      <p:sp>
        <p:nvSpPr>
          <p:cNvPr id="7" name="Text Box 11">
            <a:extLst>
              <a:ext uri="{FF2B5EF4-FFF2-40B4-BE49-F238E27FC236}">
                <a16:creationId xmlns:a16="http://schemas.microsoft.com/office/drawing/2014/main" id="{90C9C1FE-2EEC-42EC-B859-5BCD12EC27D2}"/>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8" name="文本框 7">
            <a:extLst>
              <a:ext uri="{FF2B5EF4-FFF2-40B4-BE49-F238E27FC236}">
                <a16:creationId xmlns:a16="http://schemas.microsoft.com/office/drawing/2014/main" id="{41297738-844E-4A20-B0AF-C3653BAD01B0}"/>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9" name="文本框 8">
            <a:extLst>
              <a:ext uri="{FF2B5EF4-FFF2-40B4-BE49-F238E27FC236}">
                <a16:creationId xmlns:a16="http://schemas.microsoft.com/office/drawing/2014/main" id="{D38E0823-2A28-4EE3-9165-2A0DCB6EF2D6}"/>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10" name="文本框 9">
            <a:extLst>
              <a:ext uri="{FF2B5EF4-FFF2-40B4-BE49-F238E27FC236}">
                <a16:creationId xmlns:a16="http://schemas.microsoft.com/office/drawing/2014/main" id="{3C03DFA8-D478-4AE1-995D-E0886988D716}"/>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1" name="文本框 10">
            <a:extLst>
              <a:ext uri="{FF2B5EF4-FFF2-40B4-BE49-F238E27FC236}">
                <a16:creationId xmlns:a16="http://schemas.microsoft.com/office/drawing/2014/main" id="{C6979607-5865-4155-A570-15811B9CCFB8}"/>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2" name="文本框 11">
            <a:extLst>
              <a:ext uri="{FF2B5EF4-FFF2-40B4-BE49-F238E27FC236}">
                <a16:creationId xmlns:a16="http://schemas.microsoft.com/office/drawing/2014/main" id="{A07D6CD4-F795-4421-9A62-73F7FDE3A226}"/>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68594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5" name="Picture 30" descr="Right_Green">
            <a:hlinkClick r:id="" action="ppaction://hlinkshowjump?jump=nextslide"/>
            <a:extLst>
              <a:ext uri="{FF2B5EF4-FFF2-40B4-BE49-F238E27FC236}">
                <a16:creationId xmlns:a16="http://schemas.microsoft.com/office/drawing/2014/main" id="{F84B8E5A-4E5C-4620-AEB1-122ED79AB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6" name="Picture 31" descr="Left_Green">
            <a:hlinkClick r:id="" action="ppaction://hlinkshowjump?jump=previousslide"/>
            <a:extLst>
              <a:ext uri="{FF2B5EF4-FFF2-40B4-BE49-F238E27FC236}">
                <a16:creationId xmlns:a16="http://schemas.microsoft.com/office/drawing/2014/main" id="{ED92960F-305C-4FBE-A9E6-7BD6718659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4">
            <a:extLst>
              <a:ext uri="{FF2B5EF4-FFF2-40B4-BE49-F238E27FC236}">
                <a16:creationId xmlns:a16="http://schemas.microsoft.com/office/drawing/2014/main" id="{A5D0B25A-3C63-41D0-86DF-125CDA8979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矩形 5">
            <a:extLst>
              <a:ext uri="{FF2B5EF4-FFF2-40B4-BE49-F238E27FC236}">
                <a16:creationId xmlns:a16="http://schemas.microsoft.com/office/drawing/2014/main" id="{3F05ED45-5422-4463-BC1B-70F4F3ECB834}"/>
              </a:ext>
            </a:extLst>
          </p:cNvPr>
          <p:cNvSpPr>
            <a:spLocks noChangeArrowheads="1"/>
          </p:cNvSpPr>
          <p:nvPr/>
        </p:nvSpPr>
        <p:spPr bwMode="auto">
          <a:xfrm>
            <a:off x="5364163" y="919163"/>
            <a:ext cx="26400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J</a:t>
            </a:r>
            <a:r>
              <a:rPr lang="en-US" altLang="zh-CN" baseline="-25000">
                <a:latin typeface="Times New Roman" panose="02020603050405020304" pitchFamily="18" charset="0"/>
              </a:rPr>
              <a:t>1</a:t>
            </a:r>
            <a:r>
              <a:rPr lang="en-US" altLang="zh-CN">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=1</a:t>
            </a:r>
            <a:r>
              <a:rPr lang="zh-CN" altLang="en-US">
                <a:latin typeface="Times New Roman" panose="02020603050405020304" pitchFamily="18" charset="0"/>
              </a:rPr>
              <a:t>　；</a:t>
            </a:r>
            <a:r>
              <a:rPr lang="en-US" altLang="zh-CN">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=x⊕y</a:t>
            </a:r>
            <a:r>
              <a:rPr lang="en-US" altLang="zh-CN" baseline="-25000">
                <a:latin typeface="Times New Roman" panose="02020603050405020304" pitchFamily="18" charset="0"/>
              </a:rPr>
              <a:t>1</a:t>
            </a:r>
          </a:p>
        </p:txBody>
      </p:sp>
      <p:sp>
        <p:nvSpPr>
          <p:cNvPr id="7" name="文本框 6">
            <a:extLst>
              <a:ext uri="{FF2B5EF4-FFF2-40B4-BE49-F238E27FC236}">
                <a16:creationId xmlns:a16="http://schemas.microsoft.com/office/drawing/2014/main" id="{20DC6C3F-00ED-48E2-97FA-3C7CF3FE045E}"/>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8" name="文本框 7">
            <a:extLst>
              <a:ext uri="{FF2B5EF4-FFF2-40B4-BE49-F238E27FC236}">
                <a16:creationId xmlns:a16="http://schemas.microsoft.com/office/drawing/2014/main" id="{E8440AE3-08CA-4740-9106-8E936D6D6459}"/>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9" name="文本框 8">
            <a:extLst>
              <a:ext uri="{FF2B5EF4-FFF2-40B4-BE49-F238E27FC236}">
                <a16:creationId xmlns:a16="http://schemas.microsoft.com/office/drawing/2014/main" id="{1178EBB5-9A44-4F0A-B1BE-224E42DD2F4F}"/>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0" name="文本框 9">
            <a:extLst>
              <a:ext uri="{FF2B5EF4-FFF2-40B4-BE49-F238E27FC236}">
                <a16:creationId xmlns:a16="http://schemas.microsoft.com/office/drawing/2014/main" id="{1E677E1B-9E12-49A6-ADF2-E6635BAD2D15}"/>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1" name="文本框 10">
            <a:extLst>
              <a:ext uri="{FF2B5EF4-FFF2-40B4-BE49-F238E27FC236}">
                <a16:creationId xmlns:a16="http://schemas.microsoft.com/office/drawing/2014/main" id="{18AF3CC1-7E46-46D0-B452-4CD9C7562C01}"/>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
        <p:nvSpPr>
          <p:cNvPr id="12" name="Text Box 11">
            <a:extLst>
              <a:ext uri="{FF2B5EF4-FFF2-40B4-BE49-F238E27FC236}">
                <a16:creationId xmlns:a16="http://schemas.microsoft.com/office/drawing/2014/main" id="{EE4B2EF6-1734-4D9A-9E75-372937413A0A}"/>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Tree>
    <p:extLst>
      <p:ext uri="{BB962C8B-B14F-4D97-AF65-F5344CB8AC3E}">
        <p14:creationId xmlns:p14="http://schemas.microsoft.com/office/powerpoint/2010/main" val="122710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30" descr="Right_Green">
            <a:hlinkClick r:id="" action="ppaction://hlinkshowjump?jump=nextslide"/>
            <a:extLst>
              <a:ext uri="{FF2B5EF4-FFF2-40B4-BE49-F238E27FC236}">
                <a16:creationId xmlns:a16="http://schemas.microsoft.com/office/drawing/2014/main" id="{22F98E73-899E-4D51-B2E3-2B4939194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31" descr="Left_Green">
            <a:hlinkClick r:id="" action="ppaction://hlinkshowjump?jump=previousslide"/>
            <a:extLst>
              <a:ext uri="{FF2B5EF4-FFF2-40B4-BE49-F238E27FC236}">
                <a16:creationId xmlns:a16="http://schemas.microsoft.com/office/drawing/2014/main" id="{0663B998-4CC7-47E8-A52E-CAED43990F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2">
            <a:extLst>
              <a:ext uri="{FF2B5EF4-FFF2-40B4-BE49-F238E27FC236}">
                <a16:creationId xmlns:a16="http://schemas.microsoft.com/office/drawing/2014/main" id="{1B949A01-4403-407F-991A-838F902F6D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矩形 5">
            <a:extLst>
              <a:ext uri="{FF2B5EF4-FFF2-40B4-BE49-F238E27FC236}">
                <a16:creationId xmlns:a16="http://schemas.microsoft.com/office/drawing/2014/main" id="{C83A8433-0C8A-41C1-91A5-77791938104C}"/>
              </a:ext>
            </a:extLst>
          </p:cNvPr>
          <p:cNvSpPr>
            <a:spLocks noChangeArrowheads="1"/>
          </p:cNvSpPr>
          <p:nvPr/>
        </p:nvSpPr>
        <p:spPr bwMode="auto">
          <a:xfrm>
            <a:off x="5364163" y="919163"/>
            <a:ext cx="26400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a:latin typeface="Times New Roman" panose="02020603050405020304" pitchFamily="18" charset="0"/>
              </a:rPr>
              <a:t>J</a:t>
            </a:r>
            <a:r>
              <a:rPr lang="en-US" altLang="zh-CN" baseline="-25000">
                <a:latin typeface="Times New Roman" panose="02020603050405020304" pitchFamily="18" charset="0"/>
              </a:rPr>
              <a:t>1</a:t>
            </a:r>
            <a:r>
              <a:rPr lang="en-US" altLang="zh-CN">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=1</a:t>
            </a:r>
            <a:r>
              <a:rPr lang="zh-CN" altLang="en-US">
                <a:latin typeface="Times New Roman" panose="02020603050405020304" pitchFamily="18" charset="0"/>
              </a:rPr>
              <a:t>　；</a:t>
            </a:r>
            <a:r>
              <a:rPr lang="en-US" altLang="zh-CN">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=x⊕y</a:t>
            </a:r>
            <a:r>
              <a:rPr lang="en-US" altLang="zh-CN" baseline="-25000">
                <a:latin typeface="Times New Roman" panose="02020603050405020304" pitchFamily="18" charset="0"/>
              </a:rPr>
              <a:t>1</a:t>
            </a:r>
          </a:p>
        </p:txBody>
      </p:sp>
      <p:sp>
        <p:nvSpPr>
          <p:cNvPr id="7" name="文本框 6">
            <a:extLst>
              <a:ext uri="{FF2B5EF4-FFF2-40B4-BE49-F238E27FC236}">
                <a16:creationId xmlns:a16="http://schemas.microsoft.com/office/drawing/2014/main" id="{752198EF-48C0-4774-8BE2-D2A080C9140D}"/>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8" name="文本框 7">
            <a:extLst>
              <a:ext uri="{FF2B5EF4-FFF2-40B4-BE49-F238E27FC236}">
                <a16:creationId xmlns:a16="http://schemas.microsoft.com/office/drawing/2014/main" id="{7901F3EC-EADA-45A7-B8EF-AA70FBA8D915}"/>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9" name="文本框 8">
            <a:extLst>
              <a:ext uri="{FF2B5EF4-FFF2-40B4-BE49-F238E27FC236}">
                <a16:creationId xmlns:a16="http://schemas.microsoft.com/office/drawing/2014/main" id="{E5751949-E537-4BE6-9127-5AF78C73964B}"/>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0" name="文本框 9">
            <a:extLst>
              <a:ext uri="{FF2B5EF4-FFF2-40B4-BE49-F238E27FC236}">
                <a16:creationId xmlns:a16="http://schemas.microsoft.com/office/drawing/2014/main" id="{3D309BF2-EF60-4403-B98C-49969D28C50C}"/>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1" name="文本框 10">
            <a:extLst>
              <a:ext uri="{FF2B5EF4-FFF2-40B4-BE49-F238E27FC236}">
                <a16:creationId xmlns:a16="http://schemas.microsoft.com/office/drawing/2014/main" id="{0D4FB5C3-49EA-478B-9585-0027308AC382}"/>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
        <p:nvSpPr>
          <p:cNvPr id="12" name="Text Box 11">
            <a:extLst>
              <a:ext uri="{FF2B5EF4-FFF2-40B4-BE49-F238E27FC236}">
                <a16:creationId xmlns:a16="http://schemas.microsoft.com/office/drawing/2014/main" id="{5D0E75E9-7674-4BAA-A547-585833DC5C47}"/>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Tree>
    <p:extLst>
      <p:ext uri="{BB962C8B-B14F-4D97-AF65-F5344CB8AC3E}">
        <p14:creationId xmlns:p14="http://schemas.microsoft.com/office/powerpoint/2010/main" val="146891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Picture 30" descr="Right_Green">
            <a:hlinkClick r:id="" action="ppaction://hlinkshowjump?jump=nextslide"/>
            <a:extLst>
              <a:ext uri="{FF2B5EF4-FFF2-40B4-BE49-F238E27FC236}">
                <a16:creationId xmlns:a16="http://schemas.microsoft.com/office/drawing/2014/main" id="{3A27B4F7-A134-484B-A029-6B170177B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Picture 31" descr="Left_Green">
            <a:hlinkClick r:id="" action="ppaction://hlinkshowjump?jump=previousslide"/>
            <a:extLst>
              <a:ext uri="{FF2B5EF4-FFF2-40B4-BE49-F238E27FC236}">
                <a16:creationId xmlns:a16="http://schemas.microsoft.com/office/drawing/2014/main" id="{ED9D95F1-4F63-4AC0-8E6C-B76C40CB68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2">
            <a:extLst>
              <a:ext uri="{FF2B5EF4-FFF2-40B4-BE49-F238E27FC236}">
                <a16:creationId xmlns:a16="http://schemas.microsoft.com/office/drawing/2014/main" id="{0E98D0B5-0E36-4D74-BF94-A691178CF4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1">
            <a:extLst>
              <a:ext uri="{FF2B5EF4-FFF2-40B4-BE49-F238E27FC236}">
                <a16:creationId xmlns:a16="http://schemas.microsoft.com/office/drawing/2014/main" id="{C48D16F4-0706-4198-BF0A-F1B37B1A8899}"/>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7" name="文本框 6">
            <a:extLst>
              <a:ext uri="{FF2B5EF4-FFF2-40B4-BE49-F238E27FC236}">
                <a16:creationId xmlns:a16="http://schemas.microsoft.com/office/drawing/2014/main" id="{C450E0C6-D2B2-44F4-8F55-7848EA20F831}"/>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8" name="文本框 7">
            <a:extLst>
              <a:ext uri="{FF2B5EF4-FFF2-40B4-BE49-F238E27FC236}">
                <a16:creationId xmlns:a16="http://schemas.microsoft.com/office/drawing/2014/main" id="{A160ADFB-63BC-4F5C-96DC-3CF917BC27B3}"/>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9" name="文本框 8">
            <a:extLst>
              <a:ext uri="{FF2B5EF4-FFF2-40B4-BE49-F238E27FC236}">
                <a16:creationId xmlns:a16="http://schemas.microsoft.com/office/drawing/2014/main" id="{2EBC1F48-7D85-42FB-B70E-155B8E03319C}"/>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0" name="文本框 9">
            <a:extLst>
              <a:ext uri="{FF2B5EF4-FFF2-40B4-BE49-F238E27FC236}">
                <a16:creationId xmlns:a16="http://schemas.microsoft.com/office/drawing/2014/main" id="{CE04A5A8-2E59-4C88-ABE8-23F525A04DE5}"/>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1" name="文本框 10">
            <a:extLst>
              <a:ext uri="{FF2B5EF4-FFF2-40B4-BE49-F238E27FC236}">
                <a16:creationId xmlns:a16="http://schemas.microsoft.com/office/drawing/2014/main" id="{DDF11753-5BD8-468E-B124-EB5850E551AB}"/>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384558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30" descr="Right_Green">
            <a:hlinkClick r:id="" action="ppaction://hlinkshowjump?jump=nextslide"/>
            <a:extLst>
              <a:ext uri="{FF2B5EF4-FFF2-40B4-BE49-F238E27FC236}">
                <a16:creationId xmlns:a16="http://schemas.microsoft.com/office/drawing/2014/main" id="{20C607BF-A581-40B3-8AA3-1E9D61A7FA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8" name="Picture 31" descr="Left_Green">
            <a:hlinkClick r:id="" action="ppaction://hlinkshowjump?jump=previousslide"/>
            <a:extLst>
              <a:ext uri="{FF2B5EF4-FFF2-40B4-BE49-F238E27FC236}">
                <a16:creationId xmlns:a16="http://schemas.microsoft.com/office/drawing/2014/main" id="{91A51BD0-0063-4018-AAEB-2A23026EA5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2">
            <a:extLst>
              <a:ext uri="{FF2B5EF4-FFF2-40B4-BE49-F238E27FC236}">
                <a16:creationId xmlns:a16="http://schemas.microsoft.com/office/drawing/2014/main" id="{88E1799C-B644-4F53-AF67-7A252F1642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1357313"/>
            <a:ext cx="8058150"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1">
            <a:extLst>
              <a:ext uri="{FF2B5EF4-FFF2-40B4-BE49-F238E27FC236}">
                <a16:creationId xmlns:a16="http://schemas.microsoft.com/office/drawing/2014/main" id="{14D9C882-9D1B-44C9-BF11-E467F70666A1}"/>
              </a:ext>
            </a:extLst>
          </p:cNvPr>
          <p:cNvSpPr txBox="1">
            <a:spLocks noChangeArrowheads="1"/>
          </p:cNvSpPr>
          <p:nvPr/>
        </p:nvSpPr>
        <p:spPr bwMode="auto">
          <a:xfrm>
            <a:off x="241300" y="318998"/>
            <a:ext cx="8661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2</a:t>
            </a:r>
            <a:r>
              <a:rPr lang="zh-CN" altLang="en-US" sz="2400" b="1" dirty="0">
                <a:solidFill>
                  <a:schemeClr val="accent2"/>
                </a:solidFill>
                <a:latin typeface="Times New Roman" panose="02020603050405020304" pitchFamily="18" charset="0"/>
              </a:rPr>
              <a:t>．</a:t>
            </a:r>
            <a:r>
              <a:rPr lang="en-US" altLang="zh-CN" dirty="0">
                <a:solidFill>
                  <a:srgbClr val="006666"/>
                </a:solidFill>
                <a:latin typeface="Times New Roman" panose="02020603050405020304" pitchFamily="18" charset="0"/>
              </a:rPr>
              <a:t>List the circuit state truth table with the flip-flop function table.</a:t>
            </a:r>
            <a:endParaRPr lang="zh-CN" altLang="en-US" dirty="0">
              <a:solidFill>
                <a:srgbClr val="006666"/>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sp>
        <p:nvSpPr>
          <p:cNvPr id="7" name="文本框 6">
            <a:extLst>
              <a:ext uri="{FF2B5EF4-FFF2-40B4-BE49-F238E27FC236}">
                <a16:creationId xmlns:a16="http://schemas.microsoft.com/office/drawing/2014/main" id="{921F9787-2EB7-43EE-9C66-B223C3F7FE9E}"/>
              </a:ext>
            </a:extLst>
          </p:cNvPr>
          <p:cNvSpPr txBox="1"/>
          <p:nvPr/>
        </p:nvSpPr>
        <p:spPr>
          <a:xfrm>
            <a:off x="2339752" y="1300714"/>
            <a:ext cx="2592288" cy="369332"/>
          </a:xfrm>
          <a:prstGeom prst="rect">
            <a:avLst/>
          </a:prstGeom>
          <a:solidFill>
            <a:schemeClr val="bg1"/>
          </a:solidFill>
        </p:spPr>
        <p:txBody>
          <a:bodyPr wrap="square" rtlCol="0">
            <a:spAutoFit/>
          </a:bodyPr>
          <a:lstStyle/>
          <a:p>
            <a:r>
              <a:rPr lang="en-US" altLang="zh-CN" sz="1800" dirty="0"/>
              <a:t>Next state truth table</a:t>
            </a:r>
            <a:endParaRPr lang="zh-CN" altLang="en-US" sz="1800" dirty="0"/>
          </a:p>
        </p:txBody>
      </p:sp>
      <p:sp>
        <p:nvSpPr>
          <p:cNvPr id="8" name="文本框 7">
            <a:extLst>
              <a:ext uri="{FF2B5EF4-FFF2-40B4-BE49-F238E27FC236}">
                <a16:creationId xmlns:a16="http://schemas.microsoft.com/office/drawing/2014/main" id="{26F80F14-E06E-4CE7-B334-D3180678D79F}"/>
              </a:ext>
            </a:extLst>
          </p:cNvPr>
          <p:cNvSpPr txBox="1"/>
          <p:nvPr/>
        </p:nvSpPr>
        <p:spPr>
          <a:xfrm>
            <a:off x="755576" y="1826256"/>
            <a:ext cx="936104" cy="338554"/>
          </a:xfrm>
          <a:prstGeom prst="rect">
            <a:avLst/>
          </a:prstGeom>
          <a:solidFill>
            <a:schemeClr val="bg1"/>
          </a:solidFill>
        </p:spPr>
        <p:txBody>
          <a:bodyPr wrap="square" rtlCol="0">
            <a:spAutoFit/>
          </a:bodyPr>
          <a:lstStyle/>
          <a:p>
            <a:r>
              <a:rPr lang="en-US" altLang="zh-CN" sz="1600" dirty="0"/>
              <a:t>  Input</a:t>
            </a:r>
            <a:endParaRPr lang="zh-CN" altLang="en-US" sz="1600" dirty="0"/>
          </a:p>
        </p:txBody>
      </p:sp>
      <p:sp>
        <p:nvSpPr>
          <p:cNvPr id="9" name="文本框 8">
            <a:extLst>
              <a:ext uri="{FF2B5EF4-FFF2-40B4-BE49-F238E27FC236}">
                <a16:creationId xmlns:a16="http://schemas.microsoft.com/office/drawing/2014/main" id="{D1F09A7C-D9B9-487C-99B0-32CEDDDE9E10}"/>
              </a:ext>
            </a:extLst>
          </p:cNvPr>
          <p:cNvSpPr txBox="1"/>
          <p:nvPr/>
        </p:nvSpPr>
        <p:spPr>
          <a:xfrm>
            <a:off x="1853698" y="1785025"/>
            <a:ext cx="846094" cy="307777"/>
          </a:xfrm>
          <a:prstGeom prst="rect">
            <a:avLst/>
          </a:prstGeom>
          <a:solidFill>
            <a:schemeClr val="bg1"/>
          </a:solidFill>
        </p:spPr>
        <p:txBody>
          <a:bodyPr wrap="square" rtlCol="0">
            <a:spAutoFit/>
          </a:bodyPr>
          <a:lstStyle/>
          <a:p>
            <a:r>
              <a:rPr lang="en-US" altLang="zh-CN" sz="1400" dirty="0"/>
              <a:t>Present</a:t>
            </a:r>
            <a:endParaRPr lang="zh-CN" altLang="en-US" sz="1400" dirty="0"/>
          </a:p>
        </p:txBody>
      </p:sp>
      <p:sp>
        <p:nvSpPr>
          <p:cNvPr id="10" name="文本框 9">
            <a:extLst>
              <a:ext uri="{FF2B5EF4-FFF2-40B4-BE49-F238E27FC236}">
                <a16:creationId xmlns:a16="http://schemas.microsoft.com/office/drawing/2014/main" id="{CDED6B3B-994A-47BE-9A0C-0CD68F87C562}"/>
              </a:ext>
            </a:extLst>
          </p:cNvPr>
          <p:cNvSpPr txBox="1"/>
          <p:nvPr/>
        </p:nvSpPr>
        <p:spPr>
          <a:xfrm>
            <a:off x="4711700" y="1753868"/>
            <a:ext cx="1080120" cy="307777"/>
          </a:xfrm>
          <a:prstGeom prst="rect">
            <a:avLst/>
          </a:prstGeom>
          <a:solidFill>
            <a:schemeClr val="bg1"/>
          </a:solidFill>
        </p:spPr>
        <p:txBody>
          <a:bodyPr wrap="square" rtlCol="0">
            <a:spAutoFit/>
          </a:bodyPr>
          <a:lstStyle/>
          <a:p>
            <a:r>
              <a:rPr lang="en-US" altLang="zh-CN" sz="1400" dirty="0"/>
              <a:t>Next state</a:t>
            </a:r>
            <a:endParaRPr lang="zh-CN" altLang="en-US" sz="1400" dirty="0"/>
          </a:p>
        </p:txBody>
      </p:sp>
      <p:sp>
        <p:nvSpPr>
          <p:cNvPr id="11" name="文本框 10">
            <a:extLst>
              <a:ext uri="{FF2B5EF4-FFF2-40B4-BE49-F238E27FC236}">
                <a16:creationId xmlns:a16="http://schemas.microsoft.com/office/drawing/2014/main" id="{0B086B55-53C5-4CFD-BD61-C078696C1900}"/>
              </a:ext>
            </a:extLst>
          </p:cNvPr>
          <p:cNvSpPr txBox="1"/>
          <p:nvPr/>
        </p:nvSpPr>
        <p:spPr>
          <a:xfrm>
            <a:off x="3032389" y="1744918"/>
            <a:ext cx="931419" cy="307777"/>
          </a:xfrm>
          <a:prstGeom prst="rect">
            <a:avLst/>
          </a:prstGeom>
          <a:solidFill>
            <a:schemeClr val="bg1"/>
          </a:solidFill>
        </p:spPr>
        <p:txBody>
          <a:bodyPr wrap="square" rtlCol="0">
            <a:spAutoFit/>
          </a:bodyPr>
          <a:lstStyle/>
          <a:p>
            <a:r>
              <a:rPr lang="en-US" altLang="zh-CN" sz="1400" dirty="0"/>
              <a:t>Ext. fun.</a:t>
            </a:r>
            <a:endParaRPr lang="zh-CN" altLang="en-US" sz="1400" dirty="0"/>
          </a:p>
        </p:txBody>
      </p:sp>
    </p:spTree>
    <p:extLst>
      <p:ext uri="{BB962C8B-B14F-4D97-AF65-F5344CB8AC3E}">
        <p14:creationId xmlns:p14="http://schemas.microsoft.com/office/powerpoint/2010/main" val="1368174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8">
            <a:extLst>
              <a:ext uri="{FF2B5EF4-FFF2-40B4-BE49-F238E27FC236}">
                <a16:creationId xmlns:a16="http://schemas.microsoft.com/office/drawing/2014/main" id="{79700FE9-9D77-4063-9831-130C7FEE6546}"/>
              </a:ext>
            </a:extLst>
          </p:cNvPr>
          <p:cNvSpPr txBox="1">
            <a:spLocks noChangeArrowheads="1"/>
          </p:cNvSpPr>
          <p:nvPr/>
        </p:nvSpPr>
        <p:spPr bwMode="auto">
          <a:xfrm>
            <a:off x="827088" y="692150"/>
            <a:ext cx="640920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dirty="0">
                <a:solidFill>
                  <a:srgbClr val="000099"/>
                </a:solidFill>
                <a:latin typeface="Times New Roman" panose="02020603050405020304" pitchFamily="18" charset="0"/>
              </a:rPr>
              <a:t>3</a:t>
            </a:r>
            <a:r>
              <a:rPr lang="zh-CN" altLang="en-US" sz="2400" b="1" dirty="0">
                <a:solidFill>
                  <a:srgbClr val="000099"/>
                </a:solidFill>
                <a:latin typeface="Times New Roman" panose="02020603050405020304" pitchFamily="18" charset="0"/>
              </a:rPr>
              <a:t>．</a:t>
            </a:r>
            <a:r>
              <a:rPr lang="en-US" altLang="zh-CN" dirty="0">
                <a:solidFill>
                  <a:srgbClr val="006666"/>
                </a:solidFill>
                <a:latin typeface="Times New Roman" panose="02020603050405020304" pitchFamily="18" charset="0"/>
              </a:rPr>
              <a:t> List the state table and  state diagram </a:t>
            </a:r>
            <a:endParaRPr lang="zh-CN" altLang="en-US" sz="2400" b="1" dirty="0">
              <a:solidFill>
                <a:srgbClr val="000099"/>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p>
        </p:txBody>
      </p:sp>
      <p:grpSp>
        <p:nvGrpSpPr>
          <p:cNvPr id="39939" name="Group 3">
            <a:extLst>
              <a:ext uri="{FF2B5EF4-FFF2-40B4-BE49-F238E27FC236}">
                <a16:creationId xmlns:a16="http://schemas.microsoft.com/office/drawing/2014/main" id="{6067E9E1-2FBA-4BE3-B4D4-896C3A49F213}"/>
              </a:ext>
            </a:extLst>
          </p:cNvPr>
          <p:cNvGrpSpPr>
            <a:grpSpLocks/>
          </p:cNvGrpSpPr>
          <p:nvPr/>
        </p:nvGrpSpPr>
        <p:grpSpPr bwMode="auto">
          <a:xfrm>
            <a:off x="866775" y="1828800"/>
            <a:ext cx="3705225" cy="3733800"/>
            <a:chOff x="18" y="0"/>
            <a:chExt cx="2334" cy="2352"/>
          </a:xfrm>
        </p:grpSpPr>
        <p:sp>
          <p:nvSpPr>
            <p:cNvPr id="43015" name="Line 12">
              <a:extLst>
                <a:ext uri="{FF2B5EF4-FFF2-40B4-BE49-F238E27FC236}">
                  <a16:creationId xmlns:a16="http://schemas.microsoft.com/office/drawing/2014/main" id="{7B695583-297F-4BFD-BC53-27B907FDE7DA}"/>
                </a:ext>
              </a:extLst>
            </p:cNvPr>
            <p:cNvSpPr>
              <a:spLocks noChangeShapeType="1"/>
            </p:cNvSpPr>
            <p:nvPr/>
          </p:nvSpPr>
          <p:spPr bwMode="auto">
            <a:xfrm>
              <a:off x="48" y="336"/>
              <a:ext cx="22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016" name="Line 13">
              <a:extLst>
                <a:ext uri="{FF2B5EF4-FFF2-40B4-BE49-F238E27FC236}">
                  <a16:creationId xmlns:a16="http://schemas.microsoft.com/office/drawing/2014/main" id="{2D692379-A985-4B4C-BBB7-F53E823603CF}"/>
                </a:ext>
              </a:extLst>
            </p:cNvPr>
            <p:cNvSpPr>
              <a:spLocks noChangeShapeType="1"/>
            </p:cNvSpPr>
            <p:nvPr/>
          </p:nvSpPr>
          <p:spPr bwMode="auto">
            <a:xfrm>
              <a:off x="624" y="336"/>
              <a:ext cx="0" cy="2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017" name="Line 14">
              <a:extLst>
                <a:ext uri="{FF2B5EF4-FFF2-40B4-BE49-F238E27FC236}">
                  <a16:creationId xmlns:a16="http://schemas.microsoft.com/office/drawing/2014/main" id="{E433A271-3FF3-421F-A1F3-993DD96E420A}"/>
                </a:ext>
              </a:extLst>
            </p:cNvPr>
            <p:cNvSpPr>
              <a:spLocks noChangeShapeType="1"/>
            </p:cNvSpPr>
            <p:nvPr/>
          </p:nvSpPr>
          <p:spPr bwMode="auto">
            <a:xfrm>
              <a:off x="48" y="2352"/>
              <a:ext cx="225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018" name="Line 15">
              <a:extLst>
                <a:ext uri="{FF2B5EF4-FFF2-40B4-BE49-F238E27FC236}">
                  <a16:creationId xmlns:a16="http://schemas.microsoft.com/office/drawing/2014/main" id="{A3DB11F8-93AE-499A-B460-DD27037C010E}"/>
                </a:ext>
              </a:extLst>
            </p:cNvPr>
            <p:cNvSpPr>
              <a:spLocks noChangeShapeType="1"/>
            </p:cNvSpPr>
            <p:nvPr/>
          </p:nvSpPr>
          <p:spPr bwMode="auto">
            <a:xfrm>
              <a:off x="624" y="720"/>
              <a:ext cx="16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019" name="Line 16">
              <a:extLst>
                <a:ext uri="{FF2B5EF4-FFF2-40B4-BE49-F238E27FC236}">
                  <a16:creationId xmlns:a16="http://schemas.microsoft.com/office/drawing/2014/main" id="{E2689641-B45F-44BD-BA45-D5AAE96B5CE1}"/>
                </a:ext>
              </a:extLst>
            </p:cNvPr>
            <p:cNvSpPr>
              <a:spLocks noChangeShapeType="1"/>
            </p:cNvSpPr>
            <p:nvPr/>
          </p:nvSpPr>
          <p:spPr bwMode="auto">
            <a:xfrm>
              <a:off x="48" y="1008"/>
              <a:ext cx="230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020" name="Line 17">
              <a:extLst>
                <a:ext uri="{FF2B5EF4-FFF2-40B4-BE49-F238E27FC236}">
                  <a16:creationId xmlns:a16="http://schemas.microsoft.com/office/drawing/2014/main" id="{3E136526-96C3-45A0-9589-0453186501CF}"/>
                </a:ext>
              </a:extLst>
            </p:cNvPr>
            <p:cNvSpPr>
              <a:spLocks noChangeShapeType="1"/>
            </p:cNvSpPr>
            <p:nvPr/>
          </p:nvSpPr>
          <p:spPr bwMode="auto">
            <a:xfrm>
              <a:off x="1440" y="720"/>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021" name="Text Box 18">
              <a:extLst>
                <a:ext uri="{FF2B5EF4-FFF2-40B4-BE49-F238E27FC236}">
                  <a16:creationId xmlns:a16="http://schemas.microsoft.com/office/drawing/2014/main" id="{BEA494C3-1790-437C-BBB4-E8FCA6DC8E50}"/>
                </a:ext>
              </a:extLst>
            </p:cNvPr>
            <p:cNvSpPr txBox="1">
              <a:spLocks noChangeArrowheads="1"/>
            </p:cNvSpPr>
            <p:nvPr/>
          </p:nvSpPr>
          <p:spPr bwMode="auto">
            <a:xfrm>
              <a:off x="18" y="329"/>
              <a:ext cx="576" cy="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dirty="0">
                  <a:latin typeface="Times New Roman" panose="02020603050405020304" pitchFamily="18" charset="0"/>
                </a:rPr>
                <a:t>Present state </a:t>
              </a:r>
            </a:p>
            <a:p>
              <a:pPr eaLnBrk="1" hangingPunct="1">
                <a:spcBef>
                  <a:spcPct val="50000"/>
                </a:spcBef>
              </a:pP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   </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p>
          </p:txBody>
        </p:sp>
        <p:sp>
          <p:nvSpPr>
            <p:cNvPr id="43022" name="Text Box 19">
              <a:extLst>
                <a:ext uri="{FF2B5EF4-FFF2-40B4-BE49-F238E27FC236}">
                  <a16:creationId xmlns:a16="http://schemas.microsoft.com/office/drawing/2014/main" id="{798802B5-834D-4C22-A809-73567190058E}"/>
                </a:ext>
              </a:extLst>
            </p:cNvPr>
            <p:cNvSpPr txBox="1">
              <a:spLocks noChangeArrowheads="1"/>
            </p:cNvSpPr>
            <p:nvPr/>
          </p:nvSpPr>
          <p:spPr bwMode="auto">
            <a:xfrm>
              <a:off x="672" y="384"/>
              <a:ext cx="1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dirty="0">
                  <a:latin typeface="Times New Roman" panose="02020603050405020304" pitchFamily="18" charset="0"/>
                </a:rPr>
                <a:t>Next State </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baseline="30000" dirty="0">
                  <a:latin typeface="Times New Roman" panose="02020603050405020304" pitchFamily="18" charset="0"/>
                </a:rPr>
                <a:t>(n+1)</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r>
                <a:rPr lang="en-US" altLang="zh-CN" sz="2400" baseline="30000" dirty="0">
                  <a:latin typeface="Times New Roman" panose="02020603050405020304" pitchFamily="18" charset="0"/>
                </a:rPr>
                <a:t>(n+1</a:t>
              </a:r>
              <a:r>
                <a:rPr lang="zh-CN" altLang="en-US" sz="2400" baseline="30000" dirty="0">
                  <a:latin typeface="Times New Roman" panose="02020603050405020304" pitchFamily="18" charset="0"/>
                </a:rPr>
                <a:t>）</a:t>
              </a:r>
            </a:p>
          </p:txBody>
        </p:sp>
        <p:sp>
          <p:nvSpPr>
            <p:cNvPr id="43023" name="Text Box 20">
              <a:extLst>
                <a:ext uri="{FF2B5EF4-FFF2-40B4-BE49-F238E27FC236}">
                  <a16:creationId xmlns:a16="http://schemas.microsoft.com/office/drawing/2014/main" id="{67ED668D-6081-4760-8B72-872251DD2EB8}"/>
                </a:ext>
              </a:extLst>
            </p:cNvPr>
            <p:cNvSpPr txBox="1">
              <a:spLocks noChangeArrowheads="1"/>
            </p:cNvSpPr>
            <p:nvPr/>
          </p:nvSpPr>
          <p:spPr bwMode="auto">
            <a:xfrm>
              <a:off x="672" y="720"/>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  X=0</a:t>
              </a:r>
            </a:p>
          </p:txBody>
        </p:sp>
        <p:sp>
          <p:nvSpPr>
            <p:cNvPr id="43024" name="Text Box 21">
              <a:extLst>
                <a:ext uri="{FF2B5EF4-FFF2-40B4-BE49-F238E27FC236}">
                  <a16:creationId xmlns:a16="http://schemas.microsoft.com/office/drawing/2014/main" id="{50044254-282A-464B-A1B3-8EFF08A80DA2}"/>
                </a:ext>
              </a:extLst>
            </p:cNvPr>
            <p:cNvSpPr txBox="1">
              <a:spLocks noChangeArrowheads="1"/>
            </p:cNvSpPr>
            <p:nvPr/>
          </p:nvSpPr>
          <p:spPr bwMode="auto">
            <a:xfrm>
              <a:off x="1488" y="720"/>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  X=1</a:t>
              </a:r>
            </a:p>
          </p:txBody>
        </p:sp>
        <p:sp>
          <p:nvSpPr>
            <p:cNvPr id="43025" name="Text Box 22">
              <a:extLst>
                <a:ext uri="{FF2B5EF4-FFF2-40B4-BE49-F238E27FC236}">
                  <a16:creationId xmlns:a16="http://schemas.microsoft.com/office/drawing/2014/main" id="{A66716E2-5C3B-47A9-A693-BCE15F98A4DA}"/>
                </a:ext>
              </a:extLst>
            </p:cNvPr>
            <p:cNvSpPr txBox="1">
              <a:spLocks noChangeArrowheads="1"/>
            </p:cNvSpPr>
            <p:nvPr/>
          </p:nvSpPr>
          <p:spPr bwMode="auto">
            <a:xfrm>
              <a:off x="48" y="1008"/>
              <a:ext cx="480"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0  0</a:t>
              </a:r>
            </a:p>
            <a:p>
              <a:pPr eaLnBrk="1" hangingPunct="1">
                <a:spcBef>
                  <a:spcPct val="50000"/>
                </a:spcBef>
              </a:pPr>
              <a:r>
                <a:rPr lang="en-US" altLang="zh-CN" sz="2400">
                  <a:latin typeface="Times New Roman" panose="02020603050405020304" pitchFamily="18" charset="0"/>
                </a:rPr>
                <a:t>0  1</a:t>
              </a:r>
            </a:p>
            <a:p>
              <a:pPr eaLnBrk="1" hangingPunct="1">
                <a:spcBef>
                  <a:spcPct val="50000"/>
                </a:spcBef>
              </a:pPr>
              <a:r>
                <a:rPr lang="en-US" altLang="zh-CN" sz="2400">
                  <a:latin typeface="Times New Roman" panose="02020603050405020304" pitchFamily="18" charset="0"/>
                </a:rPr>
                <a:t>1  0</a:t>
              </a:r>
            </a:p>
            <a:p>
              <a:pPr eaLnBrk="1" hangingPunct="1">
                <a:spcBef>
                  <a:spcPct val="50000"/>
                </a:spcBef>
              </a:pPr>
              <a:r>
                <a:rPr lang="en-US" altLang="zh-CN" sz="2400">
                  <a:latin typeface="Times New Roman" panose="02020603050405020304" pitchFamily="18" charset="0"/>
                </a:rPr>
                <a:t>1  1</a:t>
              </a:r>
            </a:p>
          </p:txBody>
        </p:sp>
        <p:sp>
          <p:nvSpPr>
            <p:cNvPr id="43026" name="Text Box 23">
              <a:extLst>
                <a:ext uri="{FF2B5EF4-FFF2-40B4-BE49-F238E27FC236}">
                  <a16:creationId xmlns:a16="http://schemas.microsoft.com/office/drawing/2014/main" id="{D1E4B375-F3F5-4746-A739-4CDF61D0A344}"/>
                </a:ext>
              </a:extLst>
            </p:cNvPr>
            <p:cNvSpPr txBox="1">
              <a:spLocks noChangeArrowheads="1"/>
            </p:cNvSpPr>
            <p:nvPr/>
          </p:nvSpPr>
          <p:spPr bwMode="auto">
            <a:xfrm>
              <a:off x="816" y="1008"/>
              <a:ext cx="480"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0  1</a:t>
              </a:r>
            </a:p>
            <a:p>
              <a:pPr eaLnBrk="1" hangingPunct="1">
                <a:spcBef>
                  <a:spcPct val="50000"/>
                </a:spcBef>
              </a:pPr>
              <a:r>
                <a:rPr lang="en-US" altLang="zh-CN" sz="2400">
                  <a:latin typeface="Times New Roman" panose="02020603050405020304" pitchFamily="18" charset="0"/>
                </a:rPr>
                <a:t>1  0</a:t>
              </a:r>
            </a:p>
            <a:p>
              <a:pPr eaLnBrk="1" hangingPunct="1">
                <a:spcBef>
                  <a:spcPct val="50000"/>
                </a:spcBef>
              </a:pPr>
              <a:r>
                <a:rPr lang="en-US" altLang="zh-CN" sz="2400">
                  <a:latin typeface="Times New Roman" panose="02020603050405020304" pitchFamily="18" charset="0"/>
                </a:rPr>
                <a:t>1  1</a:t>
              </a:r>
            </a:p>
            <a:p>
              <a:pPr eaLnBrk="1" hangingPunct="1">
                <a:spcBef>
                  <a:spcPct val="50000"/>
                </a:spcBef>
              </a:pPr>
              <a:r>
                <a:rPr lang="en-US" altLang="zh-CN" sz="2400">
                  <a:latin typeface="Times New Roman" panose="02020603050405020304" pitchFamily="18" charset="0"/>
                </a:rPr>
                <a:t>0  0</a:t>
              </a:r>
            </a:p>
          </p:txBody>
        </p:sp>
        <p:sp>
          <p:nvSpPr>
            <p:cNvPr id="43027" name="Text Box 24">
              <a:extLst>
                <a:ext uri="{FF2B5EF4-FFF2-40B4-BE49-F238E27FC236}">
                  <a16:creationId xmlns:a16="http://schemas.microsoft.com/office/drawing/2014/main" id="{6D7CC7DF-D89D-40C8-95B3-9E6BA94458F0}"/>
                </a:ext>
              </a:extLst>
            </p:cNvPr>
            <p:cNvSpPr txBox="1">
              <a:spLocks noChangeArrowheads="1"/>
            </p:cNvSpPr>
            <p:nvPr/>
          </p:nvSpPr>
          <p:spPr bwMode="auto">
            <a:xfrm>
              <a:off x="1584" y="1008"/>
              <a:ext cx="480"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1  1</a:t>
              </a:r>
            </a:p>
            <a:p>
              <a:pPr eaLnBrk="1" hangingPunct="1">
                <a:spcBef>
                  <a:spcPct val="50000"/>
                </a:spcBef>
              </a:pPr>
              <a:r>
                <a:rPr lang="en-US" altLang="zh-CN" sz="2400">
                  <a:latin typeface="Times New Roman" panose="02020603050405020304" pitchFamily="18" charset="0"/>
                </a:rPr>
                <a:t>0  0</a:t>
              </a:r>
            </a:p>
            <a:p>
              <a:pPr eaLnBrk="1" hangingPunct="1">
                <a:spcBef>
                  <a:spcPct val="50000"/>
                </a:spcBef>
              </a:pPr>
              <a:r>
                <a:rPr lang="en-US" altLang="zh-CN" sz="2400">
                  <a:latin typeface="Times New Roman" panose="02020603050405020304" pitchFamily="18" charset="0"/>
                </a:rPr>
                <a:t>0  1</a:t>
              </a:r>
            </a:p>
            <a:p>
              <a:pPr eaLnBrk="1" hangingPunct="1">
                <a:spcBef>
                  <a:spcPct val="50000"/>
                </a:spcBef>
              </a:pPr>
              <a:r>
                <a:rPr lang="en-US" altLang="zh-CN" sz="2400">
                  <a:latin typeface="Times New Roman" panose="02020603050405020304" pitchFamily="18" charset="0"/>
                </a:rPr>
                <a:t>1  0</a:t>
              </a:r>
            </a:p>
          </p:txBody>
        </p:sp>
        <p:sp>
          <p:nvSpPr>
            <p:cNvPr id="43028" name="Text Box 25">
              <a:extLst>
                <a:ext uri="{FF2B5EF4-FFF2-40B4-BE49-F238E27FC236}">
                  <a16:creationId xmlns:a16="http://schemas.microsoft.com/office/drawing/2014/main" id="{53888A3D-527D-47CF-BC58-124AA48AF50D}"/>
                </a:ext>
              </a:extLst>
            </p:cNvPr>
            <p:cNvSpPr txBox="1">
              <a:spLocks noChangeArrowheads="1"/>
            </p:cNvSpPr>
            <p:nvPr/>
          </p:nvSpPr>
          <p:spPr bwMode="auto">
            <a:xfrm>
              <a:off x="336" y="0"/>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Times New Roman" panose="02020603050405020304" pitchFamily="18" charset="0"/>
                </a:rPr>
                <a:t>　　</a:t>
              </a:r>
              <a:r>
                <a:rPr lang="en-US" altLang="zh-CN" sz="2400" dirty="0">
                  <a:latin typeface="Times New Roman" panose="02020603050405020304" pitchFamily="18" charset="0"/>
                </a:rPr>
                <a:t>State table</a:t>
              </a:r>
              <a:endParaRPr lang="zh-CN" altLang="en-US" sz="2400" dirty="0">
                <a:latin typeface="Times New Roman" panose="02020603050405020304" pitchFamily="18" charset="0"/>
              </a:endParaRPr>
            </a:p>
          </p:txBody>
        </p:sp>
      </p:grpSp>
      <p:pic>
        <p:nvPicPr>
          <p:cNvPr id="39954" name="Picture 30" descr="TU5-7">
            <a:extLst>
              <a:ext uri="{FF2B5EF4-FFF2-40B4-BE49-F238E27FC236}">
                <a16:creationId xmlns:a16="http://schemas.microsoft.com/office/drawing/2014/main" id="{00AD7A69-B235-4E0F-8453-AA9C5ECBEBBF}"/>
              </a:ext>
            </a:extLst>
          </p:cNvPr>
          <p:cNvPicPr>
            <a:picLocks noChangeAspect="1" noChangeArrowheads="1"/>
          </p:cNvPicPr>
          <p:nvPr/>
        </p:nvPicPr>
        <p:blipFill>
          <a:blip r:embed="rId5">
            <a:lum bright="-96000"/>
            <a:extLst>
              <a:ext uri="{28A0092B-C50C-407E-A947-70E740481C1C}">
                <a14:useLocalDpi xmlns:a14="http://schemas.microsoft.com/office/drawing/2010/main" val="0"/>
              </a:ext>
            </a:extLst>
          </a:blip>
          <a:srcRect/>
          <a:stretch>
            <a:fillRect/>
          </a:stretch>
        </p:blipFill>
        <p:spPr bwMode="auto">
          <a:xfrm>
            <a:off x="5105400" y="2057400"/>
            <a:ext cx="3657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31" descr="Right_Green">
            <a:hlinkClick r:id="" action="ppaction://hlinkshowjump?jump=nextslide"/>
            <a:extLst>
              <a:ext uri="{FF2B5EF4-FFF2-40B4-BE49-F238E27FC236}">
                <a16:creationId xmlns:a16="http://schemas.microsoft.com/office/drawing/2014/main" id="{32AA89D7-9F8F-41AA-9C75-C03A32B4CD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32" descr="Left_Green">
            <a:hlinkClick r:id="" action="ppaction://hlinkshowjump?jump=previousslide"/>
            <a:extLst>
              <a:ext uri="{FF2B5EF4-FFF2-40B4-BE49-F238E27FC236}">
                <a16:creationId xmlns:a16="http://schemas.microsoft.com/office/drawing/2014/main" id="{018B5663-8A7F-43E1-990D-7F4047D312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99976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box(out)">
                                      <p:cBhvr>
                                        <p:cTn id="7" dur="500"/>
                                        <p:tgtEl>
                                          <p:spTgt spid="39938"/>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39939"/>
                                        </p:tgtEl>
                                        <p:attrNameLst>
                                          <p:attrName>style.visibility</p:attrName>
                                        </p:attrNameLst>
                                      </p:cBhvr>
                                      <p:to>
                                        <p:strVal val="visible"/>
                                      </p:to>
                                    </p:set>
                                    <p:anim calcmode="lin" valueType="num">
                                      <p:cBhvr additive="base">
                                        <p:cTn id="12" dur="500" fill="hold"/>
                                        <p:tgtEl>
                                          <p:spTgt spid="39939"/>
                                        </p:tgtEl>
                                        <p:attrNameLst>
                                          <p:attrName>ppt_x</p:attrName>
                                        </p:attrNameLst>
                                      </p:cBhvr>
                                      <p:tavLst>
                                        <p:tav tm="0">
                                          <p:val>
                                            <p:strVal val="0-#ppt_w/2"/>
                                          </p:val>
                                        </p:tav>
                                        <p:tav tm="100000">
                                          <p:val>
                                            <p:strVal val="#ppt_x"/>
                                          </p:val>
                                        </p:tav>
                                      </p:tavLst>
                                    </p:anim>
                                    <p:anim calcmode="lin" valueType="num">
                                      <p:cBhvr additive="base">
                                        <p:cTn id="13" dur="500" fill="hold"/>
                                        <p:tgtEl>
                                          <p:spTgt spid="399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39954"/>
                                        </p:tgtEl>
                                        <p:attrNameLst>
                                          <p:attrName>style.visibility</p:attrName>
                                        </p:attrNameLst>
                                      </p:cBhvr>
                                      <p:to>
                                        <p:strVal val="visible"/>
                                      </p:to>
                                    </p:set>
                                    <p:anim calcmode="lin" valueType="num">
                                      <p:cBhvr additive="base">
                                        <p:cTn id="18" dur="500" fill="hold"/>
                                        <p:tgtEl>
                                          <p:spTgt spid="39954"/>
                                        </p:tgtEl>
                                        <p:attrNameLst>
                                          <p:attrName>ppt_x</p:attrName>
                                        </p:attrNameLst>
                                      </p:cBhvr>
                                      <p:tavLst>
                                        <p:tav tm="0">
                                          <p:val>
                                            <p:strVal val="1+#ppt_w/2"/>
                                          </p:val>
                                        </p:tav>
                                        <p:tav tm="100000">
                                          <p:val>
                                            <p:strVal val="#ppt_x"/>
                                          </p:val>
                                        </p:tav>
                                      </p:tavLst>
                                    </p:anim>
                                    <p:anim calcmode="lin" valueType="num">
                                      <p:cBhvr additive="base">
                                        <p:cTn id="19" dur="500" fill="hold"/>
                                        <p:tgtEl>
                                          <p:spTgt spid="399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8">
            <a:extLst>
              <a:ext uri="{FF2B5EF4-FFF2-40B4-BE49-F238E27FC236}">
                <a16:creationId xmlns:a16="http://schemas.microsoft.com/office/drawing/2014/main" id="{AEE66E59-960B-438D-BFA1-4F99DECB6F40}"/>
              </a:ext>
            </a:extLst>
          </p:cNvPr>
          <p:cNvSpPr txBox="1">
            <a:spLocks noChangeArrowheads="1"/>
          </p:cNvSpPr>
          <p:nvPr/>
        </p:nvSpPr>
        <p:spPr bwMode="auto">
          <a:xfrm>
            <a:off x="365125" y="612775"/>
            <a:ext cx="85502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chemeClr val="tx2"/>
                </a:solidFill>
                <a:latin typeface="Times New Roman" panose="02020603050405020304" pitchFamily="18" charset="0"/>
              </a:rPr>
              <a:t>　</a:t>
            </a:r>
            <a:r>
              <a:rPr lang="zh-CN" altLang="en-US" sz="2400" dirty="0">
                <a:solidFill>
                  <a:schemeClr val="accent2"/>
                </a:solidFill>
                <a:latin typeface="Times New Roman" panose="02020603050405020304" pitchFamily="18" charset="0"/>
              </a:rPr>
              <a:t>　</a:t>
            </a:r>
            <a:r>
              <a:rPr lang="en-US" altLang="zh-CN" sz="2400" b="1" dirty="0">
                <a:solidFill>
                  <a:schemeClr val="accent2"/>
                </a:solidFill>
                <a:latin typeface="Times New Roman" panose="02020603050405020304" pitchFamily="18" charset="0"/>
              </a:rPr>
              <a:t>4</a:t>
            </a:r>
            <a:r>
              <a:rPr lang="zh-CN" altLang="en-US" sz="2400" b="1"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Summarize the logic functions of the circuit.</a:t>
            </a:r>
            <a:endParaRPr lang="zh-CN" altLang="en-US" sz="2400" b="1" dirty="0">
              <a:solidFill>
                <a:schemeClr val="accent2"/>
              </a:solidFill>
              <a:latin typeface="Times New Roman" panose="02020603050405020304" pitchFamily="18" charset="0"/>
            </a:endParaRPr>
          </a:p>
          <a:p>
            <a:pPr algn="just" eaLnBrk="1" hangingPunct="1"/>
            <a:r>
              <a:rPr lang="zh-CN" altLang="en-US" sz="2400" dirty="0">
                <a:solidFill>
                  <a:schemeClr val="tx2"/>
                </a:solidFill>
                <a:latin typeface="Times New Roman" panose="02020603050405020304" pitchFamily="18" charset="0"/>
              </a:rPr>
              <a:t>　　</a:t>
            </a:r>
            <a:r>
              <a:rPr lang="en-US" altLang="zh-CN" dirty="0">
                <a:latin typeface="Times New Roman" panose="02020603050405020304" pitchFamily="18" charset="0"/>
              </a:rPr>
              <a:t>According to the state diagram, the circuit is a 2-bit binary number reversible counter.</a:t>
            </a:r>
            <a:endParaRPr lang="zh-CN" altLang="en-US" sz="2400" b="1" dirty="0">
              <a:solidFill>
                <a:srgbClr val="CC3300"/>
              </a:solidFill>
              <a:latin typeface="Times New Roman" panose="02020603050405020304" pitchFamily="18" charset="0"/>
            </a:endParaRPr>
          </a:p>
        </p:txBody>
      </p:sp>
      <p:grpSp>
        <p:nvGrpSpPr>
          <p:cNvPr id="40963" name="Group 3">
            <a:extLst>
              <a:ext uri="{FF2B5EF4-FFF2-40B4-BE49-F238E27FC236}">
                <a16:creationId xmlns:a16="http://schemas.microsoft.com/office/drawing/2014/main" id="{B3A89B75-8A49-451C-9917-6EA376F624F9}"/>
              </a:ext>
            </a:extLst>
          </p:cNvPr>
          <p:cNvGrpSpPr>
            <a:grpSpLocks/>
          </p:cNvGrpSpPr>
          <p:nvPr/>
        </p:nvGrpSpPr>
        <p:grpSpPr bwMode="auto">
          <a:xfrm>
            <a:off x="250825" y="2276475"/>
            <a:ext cx="8550275" cy="1406525"/>
            <a:chOff x="0" y="0"/>
            <a:chExt cx="5386" cy="886"/>
          </a:xfrm>
        </p:grpSpPr>
        <p:sp>
          <p:nvSpPr>
            <p:cNvPr id="44046" name="Line 13">
              <a:extLst>
                <a:ext uri="{FF2B5EF4-FFF2-40B4-BE49-F238E27FC236}">
                  <a16:creationId xmlns:a16="http://schemas.microsoft.com/office/drawing/2014/main" id="{DE6F0DD3-1402-44AF-8082-9EC8BECE8253}"/>
                </a:ext>
              </a:extLst>
            </p:cNvPr>
            <p:cNvSpPr>
              <a:spLocks noChangeShapeType="1"/>
            </p:cNvSpPr>
            <p:nvPr/>
          </p:nvSpPr>
          <p:spPr bwMode="auto">
            <a:xfrm>
              <a:off x="3792" y="693"/>
              <a:ext cx="0" cy="19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7" name="Line 14">
              <a:extLst>
                <a:ext uri="{FF2B5EF4-FFF2-40B4-BE49-F238E27FC236}">
                  <a16:creationId xmlns:a16="http://schemas.microsoft.com/office/drawing/2014/main" id="{C6F99BED-1538-4928-89FD-16E1370DFA24}"/>
                </a:ext>
              </a:extLst>
            </p:cNvPr>
            <p:cNvSpPr>
              <a:spLocks noChangeShapeType="1"/>
            </p:cNvSpPr>
            <p:nvPr/>
          </p:nvSpPr>
          <p:spPr bwMode="auto">
            <a:xfrm flipV="1">
              <a:off x="1737" y="693"/>
              <a:ext cx="0" cy="193"/>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8" name="Text Box 9">
              <a:extLst>
                <a:ext uri="{FF2B5EF4-FFF2-40B4-BE49-F238E27FC236}">
                  <a16:creationId xmlns:a16="http://schemas.microsoft.com/office/drawing/2014/main" id="{7DE62195-7FDD-42FF-A970-E10AA37E2488}"/>
                </a:ext>
              </a:extLst>
            </p:cNvPr>
            <p:cNvSpPr txBox="1">
              <a:spLocks noChangeArrowheads="1"/>
            </p:cNvSpPr>
            <p:nvPr/>
          </p:nvSpPr>
          <p:spPr bwMode="auto">
            <a:xfrm>
              <a:off x="0" y="0"/>
              <a:ext cx="5386"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dirty="0">
                  <a:latin typeface="Times New Roman" panose="02020603050405020304" pitchFamily="18" charset="0"/>
                </a:rPr>
                <a:t>If </a:t>
              </a:r>
              <a:r>
                <a:rPr lang="en-US" altLang="zh-CN" sz="2400" b="1" dirty="0">
                  <a:solidFill>
                    <a:srgbClr val="CC3300"/>
                  </a:solidFill>
                  <a:latin typeface="Times New Roman" panose="02020603050405020304" pitchFamily="18" charset="0"/>
                </a:rPr>
                <a:t>x=0</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the reversible counter performs </a:t>
              </a:r>
              <a:r>
                <a:rPr lang="en-US" altLang="zh-CN" dirty="0">
                  <a:solidFill>
                    <a:srgbClr val="CC3300"/>
                  </a:solidFill>
                  <a:latin typeface="Times New Roman" panose="02020603050405020304" pitchFamily="18" charset="0"/>
                </a:rPr>
                <a:t>the increment 1 calculation, the count sequence is</a:t>
              </a:r>
              <a:r>
                <a:rPr lang="zh-CN" altLang="en-US" sz="2400" b="1" dirty="0">
                  <a:solidFill>
                    <a:srgbClr val="CC3300"/>
                  </a:solidFill>
                  <a:latin typeface="Times New Roman" panose="02020603050405020304" pitchFamily="18" charset="0"/>
                </a:rPr>
                <a:t></a:t>
              </a:r>
            </a:p>
            <a:p>
              <a:pPr algn="just" eaLnBrk="1" hangingPunct="1"/>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00</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01</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10</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11</a:t>
              </a:r>
            </a:p>
          </p:txBody>
        </p:sp>
        <p:sp>
          <p:nvSpPr>
            <p:cNvPr id="44049" name="Line 10">
              <a:extLst>
                <a:ext uri="{FF2B5EF4-FFF2-40B4-BE49-F238E27FC236}">
                  <a16:creationId xmlns:a16="http://schemas.microsoft.com/office/drawing/2014/main" id="{AB665CC5-D050-4D09-8BAF-A972D128246F}"/>
                </a:ext>
              </a:extLst>
            </p:cNvPr>
            <p:cNvSpPr>
              <a:spLocks noChangeShapeType="1"/>
            </p:cNvSpPr>
            <p:nvPr/>
          </p:nvSpPr>
          <p:spPr bwMode="auto">
            <a:xfrm>
              <a:off x="1882" y="598"/>
              <a:ext cx="432"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50" name="Line 11">
              <a:extLst>
                <a:ext uri="{FF2B5EF4-FFF2-40B4-BE49-F238E27FC236}">
                  <a16:creationId xmlns:a16="http://schemas.microsoft.com/office/drawing/2014/main" id="{B8F02063-18FE-413C-8895-2DC82F77D21F}"/>
                </a:ext>
              </a:extLst>
            </p:cNvPr>
            <p:cNvSpPr>
              <a:spLocks noChangeShapeType="1"/>
            </p:cNvSpPr>
            <p:nvPr/>
          </p:nvSpPr>
          <p:spPr bwMode="auto">
            <a:xfrm>
              <a:off x="2602" y="598"/>
              <a:ext cx="432"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51" name="Line 12">
              <a:extLst>
                <a:ext uri="{FF2B5EF4-FFF2-40B4-BE49-F238E27FC236}">
                  <a16:creationId xmlns:a16="http://schemas.microsoft.com/office/drawing/2014/main" id="{971BA35F-39EE-4E50-97EF-98DE1450117C}"/>
                </a:ext>
              </a:extLst>
            </p:cNvPr>
            <p:cNvSpPr>
              <a:spLocks noChangeShapeType="1"/>
            </p:cNvSpPr>
            <p:nvPr/>
          </p:nvSpPr>
          <p:spPr bwMode="auto">
            <a:xfrm>
              <a:off x="3262" y="598"/>
              <a:ext cx="432"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52" name="Line 15">
              <a:extLst>
                <a:ext uri="{FF2B5EF4-FFF2-40B4-BE49-F238E27FC236}">
                  <a16:creationId xmlns:a16="http://schemas.microsoft.com/office/drawing/2014/main" id="{8C9AE099-B601-4D69-A0AD-51B9C9AA2ABE}"/>
                </a:ext>
              </a:extLst>
            </p:cNvPr>
            <p:cNvSpPr>
              <a:spLocks noChangeShapeType="1"/>
            </p:cNvSpPr>
            <p:nvPr/>
          </p:nvSpPr>
          <p:spPr bwMode="auto">
            <a:xfrm>
              <a:off x="1728" y="886"/>
              <a:ext cx="206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0971" name="Group 11">
            <a:extLst>
              <a:ext uri="{FF2B5EF4-FFF2-40B4-BE49-F238E27FC236}">
                <a16:creationId xmlns:a16="http://schemas.microsoft.com/office/drawing/2014/main" id="{56A10C3E-1C59-40E0-AB73-2CE911E5B6DC}"/>
              </a:ext>
            </a:extLst>
          </p:cNvPr>
          <p:cNvGrpSpPr>
            <a:grpSpLocks/>
          </p:cNvGrpSpPr>
          <p:nvPr/>
        </p:nvGrpSpPr>
        <p:grpSpPr bwMode="auto">
          <a:xfrm>
            <a:off x="255588" y="3903663"/>
            <a:ext cx="8474075" cy="1392238"/>
            <a:chOff x="3" y="-231"/>
            <a:chExt cx="5338" cy="877"/>
          </a:xfrm>
        </p:grpSpPr>
        <p:sp>
          <p:nvSpPr>
            <p:cNvPr id="44039" name="Text Box 17">
              <a:extLst>
                <a:ext uri="{FF2B5EF4-FFF2-40B4-BE49-F238E27FC236}">
                  <a16:creationId xmlns:a16="http://schemas.microsoft.com/office/drawing/2014/main" id="{FBDE9E33-846B-4D73-858A-1AA94394E46F}"/>
                </a:ext>
              </a:extLst>
            </p:cNvPr>
            <p:cNvSpPr txBox="1">
              <a:spLocks noChangeArrowheads="1"/>
            </p:cNvSpPr>
            <p:nvPr/>
          </p:nvSpPr>
          <p:spPr bwMode="auto">
            <a:xfrm>
              <a:off x="3" y="-231"/>
              <a:ext cx="5338"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latin typeface="Times New Roman" panose="02020603050405020304" pitchFamily="18" charset="0"/>
                </a:rPr>
                <a:t>If </a:t>
              </a:r>
              <a:r>
                <a:rPr lang="en-US" altLang="zh-CN" dirty="0">
                  <a:solidFill>
                    <a:srgbClr val="CC3300"/>
                  </a:solidFill>
                  <a:latin typeface="Times New Roman" panose="02020603050405020304" pitchFamily="18" charset="0"/>
                </a:rPr>
                <a:t>x=1</a:t>
              </a:r>
              <a:r>
                <a:rPr lang="zh-CN" altLang="en-US" dirty="0">
                  <a:solidFill>
                    <a:srgbClr val="CC3300"/>
                  </a:solidFill>
                  <a:latin typeface="Times New Roman" panose="02020603050405020304" pitchFamily="18" charset="0"/>
                </a:rPr>
                <a:t>，</a:t>
              </a:r>
              <a:r>
                <a:rPr lang="en-US" altLang="zh-CN" dirty="0">
                  <a:solidFill>
                    <a:srgbClr val="CC3300"/>
                  </a:solidFill>
                  <a:latin typeface="Times New Roman" panose="02020603050405020304" pitchFamily="18" charset="0"/>
                </a:rPr>
                <a:t>the reversible counter performs the </a:t>
              </a:r>
              <a:r>
                <a:rPr lang="en-US" altLang="zh-CN" dirty="0" err="1">
                  <a:solidFill>
                    <a:srgbClr val="CC3300"/>
                  </a:solidFill>
                  <a:latin typeface="Times New Roman" panose="02020603050405020304" pitchFamily="18" charset="0"/>
                </a:rPr>
                <a:t>derement</a:t>
              </a:r>
              <a:r>
                <a:rPr lang="en-US" altLang="zh-CN" dirty="0">
                  <a:solidFill>
                    <a:srgbClr val="CC3300"/>
                  </a:solidFill>
                  <a:latin typeface="Times New Roman" panose="02020603050405020304" pitchFamily="18" charset="0"/>
                </a:rPr>
                <a:t> 1 calculation, the count sequence is</a:t>
              </a:r>
              <a:r>
                <a:rPr lang="zh-CN" altLang="en-US" sz="2400" b="1" dirty="0">
                  <a:solidFill>
                    <a:srgbClr val="CC3300"/>
                  </a:solidFill>
                  <a:latin typeface="Times New Roman" panose="02020603050405020304" pitchFamily="18" charset="0"/>
                </a:rPr>
                <a:t></a:t>
              </a:r>
            </a:p>
            <a:p>
              <a:pPr algn="just" eaLnBrk="1" hangingPunct="1"/>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00</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01</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10</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11</a:t>
              </a:r>
            </a:p>
          </p:txBody>
        </p:sp>
        <p:sp>
          <p:nvSpPr>
            <p:cNvPr id="44040" name="Line 18">
              <a:extLst>
                <a:ext uri="{FF2B5EF4-FFF2-40B4-BE49-F238E27FC236}">
                  <a16:creationId xmlns:a16="http://schemas.microsoft.com/office/drawing/2014/main" id="{A62F6830-BCBE-46C0-9CDC-4B3DE9D393FD}"/>
                </a:ext>
              </a:extLst>
            </p:cNvPr>
            <p:cNvSpPr>
              <a:spLocks noChangeShapeType="1"/>
            </p:cNvSpPr>
            <p:nvPr/>
          </p:nvSpPr>
          <p:spPr bwMode="auto">
            <a:xfrm flipH="1">
              <a:off x="3266" y="358"/>
              <a:ext cx="432"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1" name="Line 19">
              <a:extLst>
                <a:ext uri="{FF2B5EF4-FFF2-40B4-BE49-F238E27FC236}">
                  <a16:creationId xmlns:a16="http://schemas.microsoft.com/office/drawing/2014/main" id="{18A3DDED-5C61-4898-BF03-F0827AD1BB32}"/>
                </a:ext>
              </a:extLst>
            </p:cNvPr>
            <p:cNvSpPr>
              <a:spLocks noChangeShapeType="1"/>
            </p:cNvSpPr>
            <p:nvPr/>
          </p:nvSpPr>
          <p:spPr bwMode="auto">
            <a:xfrm flipH="1">
              <a:off x="1882" y="358"/>
              <a:ext cx="432"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2" name="Line 20">
              <a:extLst>
                <a:ext uri="{FF2B5EF4-FFF2-40B4-BE49-F238E27FC236}">
                  <a16:creationId xmlns:a16="http://schemas.microsoft.com/office/drawing/2014/main" id="{594E7955-9921-498F-B705-F5C169B7793B}"/>
                </a:ext>
              </a:extLst>
            </p:cNvPr>
            <p:cNvSpPr>
              <a:spLocks noChangeShapeType="1"/>
            </p:cNvSpPr>
            <p:nvPr/>
          </p:nvSpPr>
          <p:spPr bwMode="auto">
            <a:xfrm flipH="1">
              <a:off x="2554" y="358"/>
              <a:ext cx="432"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3" name="Line 21">
              <a:extLst>
                <a:ext uri="{FF2B5EF4-FFF2-40B4-BE49-F238E27FC236}">
                  <a16:creationId xmlns:a16="http://schemas.microsoft.com/office/drawing/2014/main" id="{CD711C25-7D92-4462-B693-DB79D7101DC9}"/>
                </a:ext>
              </a:extLst>
            </p:cNvPr>
            <p:cNvSpPr>
              <a:spLocks noChangeShapeType="1"/>
            </p:cNvSpPr>
            <p:nvPr/>
          </p:nvSpPr>
          <p:spPr bwMode="auto">
            <a:xfrm>
              <a:off x="1786" y="454"/>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4" name="Line 22">
              <a:extLst>
                <a:ext uri="{FF2B5EF4-FFF2-40B4-BE49-F238E27FC236}">
                  <a16:creationId xmlns:a16="http://schemas.microsoft.com/office/drawing/2014/main" id="{FB8A12A6-D674-46CF-973A-9DD08D8116BB}"/>
                </a:ext>
              </a:extLst>
            </p:cNvPr>
            <p:cNvSpPr>
              <a:spLocks noChangeShapeType="1"/>
            </p:cNvSpPr>
            <p:nvPr/>
          </p:nvSpPr>
          <p:spPr bwMode="auto">
            <a:xfrm>
              <a:off x="1786" y="646"/>
              <a:ext cx="20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045" name="Line 23">
              <a:extLst>
                <a:ext uri="{FF2B5EF4-FFF2-40B4-BE49-F238E27FC236}">
                  <a16:creationId xmlns:a16="http://schemas.microsoft.com/office/drawing/2014/main" id="{020BD36D-C57E-4A1F-A9C1-5381B90A951F}"/>
                </a:ext>
              </a:extLst>
            </p:cNvPr>
            <p:cNvSpPr>
              <a:spLocks noChangeShapeType="1"/>
            </p:cNvSpPr>
            <p:nvPr/>
          </p:nvSpPr>
          <p:spPr bwMode="auto">
            <a:xfrm flipV="1">
              <a:off x="3792" y="454"/>
              <a:ext cx="0" cy="192"/>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pic>
        <p:nvPicPr>
          <p:cNvPr id="44037" name="Picture 29" descr="Right_Green">
            <a:hlinkClick r:id="" action="ppaction://hlinkshowjump?jump=nextslide"/>
            <a:extLst>
              <a:ext uri="{FF2B5EF4-FFF2-40B4-BE49-F238E27FC236}">
                <a16:creationId xmlns:a16="http://schemas.microsoft.com/office/drawing/2014/main" id="{8AB5C53D-0D0E-4D61-B5F6-5D77DD1BC9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30" descr="Left_Green">
            <a:hlinkClick r:id="" action="ppaction://hlinkshowjump?jump=previousslide"/>
            <a:extLst>
              <a:ext uri="{FF2B5EF4-FFF2-40B4-BE49-F238E27FC236}">
                <a16:creationId xmlns:a16="http://schemas.microsoft.com/office/drawing/2014/main" id="{F997D806-19BB-4464-8D1B-1E0D833BF8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5164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0-#ppt_w/2"/>
                                          </p:val>
                                        </p:tav>
                                        <p:tav tm="100000">
                                          <p:val>
                                            <p:strVal val="#ppt_x"/>
                                          </p:val>
                                        </p:tav>
                                      </p:tavLst>
                                    </p:anim>
                                    <p:anim calcmode="lin" valueType="num">
                                      <p:cBhvr additive="base">
                                        <p:cTn id="8" dur="500" fill="hold"/>
                                        <p:tgtEl>
                                          <p:spTgt spid="409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40963"/>
                                        </p:tgtEl>
                                        <p:attrNameLst>
                                          <p:attrName>style.visibility</p:attrName>
                                        </p:attrNameLst>
                                      </p:cBhvr>
                                      <p:to>
                                        <p:strVal val="visible"/>
                                      </p:to>
                                    </p:set>
                                    <p:animEffect transition="in" filter="box(in)">
                                      <p:cBhvr>
                                        <p:cTn id="13" dur="500"/>
                                        <p:tgtEl>
                                          <p:spTgt spid="4096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nodeType="clickEffect">
                                  <p:stCondLst>
                                    <p:cond delay="0"/>
                                  </p:stCondLst>
                                  <p:childTnLst>
                                    <p:set>
                                      <p:cBhvr>
                                        <p:cTn id="17" dur="1" fill="hold">
                                          <p:stCondLst>
                                            <p:cond delay="0"/>
                                          </p:stCondLst>
                                        </p:cTn>
                                        <p:tgtEl>
                                          <p:spTgt spid="40971"/>
                                        </p:tgtEl>
                                        <p:attrNameLst>
                                          <p:attrName>style.visibility</p:attrName>
                                        </p:attrNameLst>
                                      </p:cBhvr>
                                      <p:to>
                                        <p:strVal val="visible"/>
                                      </p:to>
                                    </p:set>
                                    <p:animEffect transition="in" filter="box(out)">
                                      <p:cBhvr>
                                        <p:cTn id="18" dur="500"/>
                                        <p:tgtEl>
                                          <p:spTgt spid="40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9">
            <a:extLst>
              <a:ext uri="{FF2B5EF4-FFF2-40B4-BE49-F238E27FC236}">
                <a16:creationId xmlns:a16="http://schemas.microsoft.com/office/drawing/2014/main" id="{3F209BD8-E894-497C-8C1A-37B4E1F341AA}"/>
              </a:ext>
            </a:extLst>
          </p:cNvPr>
          <p:cNvSpPr txBox="1">
            <a:spLocks noChangeArrowheads="1"/>
          </p:cNvSpPr>
          <p:nvPr/>
        </p:nvSpPr>
        <p:spPr bwMode="auto">
          <a:xfrm>
            <a:off x="350676" y="362112"/>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dirty="0">
                <a:solidFill>
                  <a:srgbClr val="CC3300"/>
                </a:solidFill>
                <a:latin typeface="Times New Roman" panose="02020603050405020304" pitchFamily="18" charset="0"/>
              </a:rPr>
              <a:t>Q:</a:t>
            </a:r>
            <a:r>
              <a:rPr lang="zh-CN" altLang="en-US" sz="2400" b="1" dirty="0">
                <a:solidFill>
                  <a:srgbClr val="CC3300"/>
                </a:solidFill>
                <a:latin typeface="Times New Roman" panose="02020603050405020304" pitchFamily="18" charset="0"/>
              </a:rPr>
              <a:t>  </a:t>
            </a:r>
            <a:r>
              <a:rPr lang="en-US" altLang="zh-CN" dirty="0">
                <a:latin typeface="Times New Roman" panose="02020603050405020304" pitchFamily="18" charset="0"/>
              </a:rPr>
              <a:t>Try to use the algebraic method to analyze the logic function of the sequential logic circuit shown in the figure below.</a:t>
            </a:r>
            <a:endParaRPr lang="zh-CN" altLang="en-US" sz="2400" dirty="0">
              <a:latin typeface="Times New Roman" panose="02020603050405020304" pitchFamily="18" charset="0"/>
            </a:endParaRPr>
          </a:p>
        </p:txBody>
      </p:sp>
      <p:pic>
        <p:nvPicPr>
          <p:cNvPr id="41987" name="Picture 11" descr="TU5-12">
            <a:extLst>
              <a:ext uri="{FF2B5EF4-FFF2-40B4-BE49-F238E27FC236}">
                <a16:creationId xmlns:a16="http://schemas.microsoft.com/office/drawing/2014/main" id="{8D315B9C-DF16-478B-8055-A5F6CFC4AA25}"/>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1066800" y="1371600"/>
            <a:ext cx="307975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18" descr="Right_Green">
            <a:hlinkClick r:id="" action="ppaction://hlinkshowjump?jump=nextslide"/>
            <a:extLst>
              <a:ext uri="{FF2B5EF4-FFF2-40B4-BE49-F238E27FC236}">
                <a16:creationId xmlns:a16="http://schemas.microsoft.com/office/drawing/2014/main" id="{2424168C-FCF2-4C20-A36A-CFBB5181B8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Picture 19" descr="Left_Green">
            <a:hlinkClick r:id="" action="ppaction://hlinkshowjump?jump=previousslide"/>
            <a:extLst>
              <a:ext uri="{FF2B5EF4-FFF2-40B4-BE49-F238E27FC236}">
                <a16:creationId xmlns:a16="http://schemas.microsoft.com/office/drawing/2014/main" id="{73C62182-3F3B-470B-93E3-B516A0DBCE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7275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randombar(horizontal)">
                                      <p:cBhvr>
                                        <p:cTn id="7" dur="500"/>
                                        <p:tgtEl>
                                          <p:spTgt spid="41986"/>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41987"/>
                                        </p:tgtEl>
                                        <p:attrNameLst>
                                          <p:attrName>style.visibility</p:attrName>
                                        </p:attrNameLst>
                                      </p:cBhvr>
                                      <p:to>
                                        <p:strVal val="visible"/>
                                      </p:to>
                                    </p:set>
                                    <p:animEffect transition="in" filter="dissolve">
                                      <p:cBhvr>
                                        <p:cTn id="11" dur="500"/>
                                        <p:tgtEl>
                                          <p:spTgt spid="41987"/>
                                        </p:tgtEl>
                                      </p:cBhvr>
                                    </p:animEffect>
                                  </p:childTnLst>
                                  <p:subTnLst>
                                    <p:audio>
                                      <p:cMediaNode>
                                        <p:cTn display="0" masterRel="sameClick">
                                          <p:stCondLst>
                                            <p:cond evt="begin" delay="0">
                                              <p:tn val="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11" descr="TU5-12">
            <a:extLst>
              <a:ext uri="{FF2B5EF4-FFF2-40B4-BE49-F238E27FC236}">
                <a16:creationId xmlns:a16="http://schemas.microsoft.com/office/drawing/2014/main" id="{A1553316-7731-4153-AA54-5BE07A767F81}"/>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1066800" y="1371600"/>
            <a:ext cx="307975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Text Box 12">
            <a:extLst>
              <a:ext uri="{FF2B5EF4-FFF2-40B4-BE49-F238E27FC236}">
                <a16:creationId xmlns:a16="http://schemas.microsoft.com/office/drawing/2014/main" id="{8BAF93E2-7377-4C81-AD35-18910C0708B5}"/>
              </a:ext>
            </a:extLst>
          </p:cNvPr>
          <p:cNvSpPr txBox="1">
            <a:spLocks noChangeArrowheads="1"/>
          </p:cNvSpPr>
          <p:nvPr/>
        </p:nvSpPr>
        <p:spPr bwMode="auto">
          <a:xfrm>
            <a:off x="4427984" y="1773238"/>
            <a:ext cx="471601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dirty="0">
                <a:solidFill>
                  <a:srgbClr val="CC3300"/>
                </a:solidFill>
                <a:latin typeface="Times New Roman" panose="02020603050405020304" pitchFamily="18" charset="0"/>
              </a:rPr>
              <a:t>A: </a:t>
            </a:r>
            <a:r>
              <a:rPr lang="en-US" altLang="zh-CN" dirty="0">
                <a:solidFill>
                  <a:srgbClr val="CC3300"/>
                </a:solidFill>
                <a:latin typeface="Times New Roman" panose="02020603050405020304" pitchFamily="18" charset="0"/>
              </a:rPr>
              <a:t>The circuit consists of a J-K flip-flop and four logic gates.</a:t>
            </a:r>
            <a:endParaRPr lang="zh-CN" altLang="en-US" sz="2400" dirty="0">
              <a:latin typeface="Times New Roman" panose="02020603050405020304" pitchFamily="18" charset="0"/>
            </a:endParaRPr>
          </a:p>
          <a:p>
            <a:pPr algn="just" eaLnBrk="1" hangingPunct="1"/>
            <a:r>
              <a:rPr lang="en-US" altLang="zh-CN" sz="2400" dirty="0">
                <a:latin typeface="Times New Roman" panose="02020603050405020304" pitchFamily="18" charset="0"/>
              </a:rPr>
              <a:t>It has to input 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and 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p>
          <a:p>
            <a:pPr algn="just" eaLnBrk="1" hangingPunct="1"/>
            <a:r>
              <a:rPr lang="en-US" altLang="zh-CN" dirty="0">
                <a:latin typeface="Times New Roman" panose="02020603050405020304" pitchFamily="18" charset="0"/>
              </a:rPr>
              <a:t>an output, </a:t>
            </a:r>
            <a:r>
              <a:rPr lang="en-US" altLang="zh-CN" sz="2400" dirty="0">
                <a:latin typeface="Times New Roman" panose="02020603050405020304" pitchFamily="18" charset="0"/>
              </a:rPr>
              <a:t>Z.</a:t>
            </a:r>
            <a:r>
              <a:rPr lang="zh-CN" altLang="en-US" dirty="0">
                <a:latin typeface="Times New Roman" panose="02020603050405020304" pitchFamily="18" charset="0"/>
              </a:rPr>
              <a:t> </a:t>
            </a:r>
            <a:endParaRPr lang="en-US" altLang="zh-CN" dirty="0">
              <a:latin typeface="Times New Roman" panose="02020603050405020304" pitchFamily="18" charset="0"/>
            </a:endParaRPr>
          </a:p>
          <a:p>
            <a:pPr algn="just" eaLnBrk="1" hangingPunct="1"/>
            <a:r>
              <a:rPr lang="en-US" altLang="zh-CN" dirty="0">
                <a:latin typeface="Times New Roman" panose="02020603050405020304" pitchFamily="18" charset="0"/>
              </a:rPr>
              <a:t>The output Z is directly related to the input and state and belongs to the Mealy type circuit.</a:t>
            </a:r>
            <a:r>
              <a:rPr lang="zh-CN" altLang="en-US" sz="2400" dirty="0">
                <a:latin typeface="Times New Roman" panose="02020603050405020304" pitchFamily="18" charset="0"/>
              </a:rPr>
              <a:t>　　</a:t>
            </a:r>
          </a:p>
        </p:txBody>
      </p:sp>
      <p:sp>
        <p:nvSpPr>
          <p:cNvPr id="41989" name="Text Box 13">
            <a:extLst>
              <a:ext uri="{FF2B5EF4-FFF2-40B4-BE49-F238E27FC236}">
                <a16:creationId xmlns:a16="http://schemas.microsoft.com/office/drawing/2014/main" id="{C98677C1-AD27-413D-94DC-89760C0B3CEC}"/>
              </a:ext>
            </a:extLst>
          </p:cNvPr>
          <p:cNvSpPr txBox="1">
            <a:spLocks noChangeArrowheads="1"/>
          </p:cNvSpPr>
          <p:nvPr/>
        </p:nvSpPr>
        <p:spPr bwMode="auto">
          <a:xfrm>
            <a:off x="609600" y="4797147"/>
            <a:ext cx="8432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tx2"/>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 List output function expressions and excitation function expressions</a:t>
            </a:r>
            <a:endParaRPr lang="zh-CN" altLang="en-US" sz="2400" b="1" dirty="0">
              <a:solidFill>
                <a:srgbClr val="000099"/>
              </a:solidFill>
              <a:latin typeface="Times New Roman" panose="02020603050405020304" pitchFamily="18" charset="0"/>
            </a:endParaRPr>
          </a:p>
        </p:txBody>
      </p:sp>
      <p:graphicFrame>
        <p:nvGraphicFramePr>
          <p:cNvPr id="41990" name="Object 6">
            <a:extLst>
              <a:ext uri="{FF2B5EF4-FFF2-40B4-BE49-F238E27FC236}">
                <a16:creationId xmlns:a16="http://schemas.microsoft.com/office/drawing/2014/main" id="{F5A57FB5-5349-4026-8359-FDC9CC321A20}"/>
              </a:ext>
            </a:extLst>
          </p:cNvPr>
          <p:cNvGraphicFramePr>
            <a:graphicFrameLocks noChangeAspect="1"/>
          </p:cNvGraphicFramePr>
          <p:nvPr>
            <p:extLst>
              <p:ext uri="{D42A27DB-BD31-4B8C-83A1-F6EECF244321}">
                <p14:modId xmlns:p14="http://schemas.microsoft.com/office/powerpoint/2010/main" val="3686019351"/>
              </p:ext>
            </p:extLst>
          </p:nvPr>
        </p:nvGraphicFramePr>
        <p:xfrm>
          <a:off x="2411413" y="5610944"/>
          <a:ext cx="3136900" cy="914400"/>
        </p:xfrm>
        <a:graphic>
          <a:graphicData uri="http://schemas.openxmlformats.org/presentationml/2006/ole">
            <mc:AlternateContent xmlns:mc="http://schemas.openxmlformats.org/markup-compatibility/2006">
              <mc:Choice xmlns:v="urn:schemas-microsoft-com:vml" Requires="v">
                <p:oleObj spid="_x0000_s17466" r:id="rId7" imgW="3136900" imgH="914400" progId="Equation.3">
                  <p:embed/>
                </p:oleObj>
              </mc:Choice>
              <mc:Fallback>
                <p:oleObj r:id="rId7" imgW="3136900" imgH="914400" progId="Equation.3">
                  <p:embed/>
                  <p:pic>
                    <p:nvPicPr>
                      <p:cNvPr id="41990" name="Object 6">
                        <a:extLst>
                          <a:ext uri="{FF2B5EF4-FFF2-40B4-BE49-F238E27FC236}">
                            <a16:creationId xmlns:a16="http://schemas.microsoft.com/office/drawing/2014/main" id="{F5A57FB5-5349-4026-8359-FDC9CC321A20}"/>
                          </a:ext>
                        </a:extLst>
                      </p:cNvPr>
                      <p:cNvPicPr>
                        <a:picLocks noChangeAspect="1" noChangeArrowheads="1"/>
                      </p:cNvPicPr>
                      <p:nvPr/>
                    </p:nvPicPr>
                    <p:blipFill>
                      <a:blip r:embed="rId8">
                        <a:lum bright="-100000"/>
                        <a:extLst>
                          <a:ext uri="{28A0092B-C50C-407E-A947-70E740481C1C}">
                            <a14:useLocalDpi xmlns:a14="http://schemas.microsoft.com/office/drawing/2010/main" val="0"/>
                          </a:ext>
                        </a:extLst>
                      </a:blip>
                      <a:srcRect/>
                      <a:stretch>
                        <a:fillRect/>
                      </a:stretch>
                    </p:blipFill>
                    <p:spPr bwMode="auto">
                      <a:xfrm>
                        <a:off x="2411413" y="5610944"/>
                        <a:ext cx="3136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6087" name="Picture 18" descr="Right_Green">
            <a:hlinkClick r:id="" action="ppaction://hlinkshowjump?jump=nextslide"/>
            <a:extLst>
              <a:ext uri="{FF2B5EF4-FFF2-40B4-BE49-F238E27FC236}">
                <a16:creationId xmlns:a16="http://schemas.microsoft.com/office/drawing/2014/main" id="{55DDE038-7F6E-442F-B75A-9C11148B86C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8" name="Picture 19" descr="Left_Green">
            <a:hlinkClick r:id="" action="ppaction://hlinkshowjump?jump=previousslide"/>
            <a:extLst>
              <a:ext uri="{FF2B5EF4-FFF2-40B4-BE49-F238E27FC236}">
                <a16:creationId xmlns:a16="http://schemas.microsoft.com/office/drawing/2014/main" id="{D735A2A4-B86C-445F-9A15-9D98F6C7D14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9">
            <a:extLst>
              <a:ext uri="{FF2B5EF4-FFF2-40B4-BE49-F238E27FC236}">
                <a16:creationId xmlns:a16="http://schemas.microsoft.com/office/drawing/2014/main" id="{630C55BD-E47E-4361-BDBF-0454C7F69AAF}"/>
              </a:ext>
            </a:extLst>
          </p:cNvPr>
          <p:cNvSpPr txBox="1">
            <a:spLocks noChangeArrowheads="1"/>
          </p:cNvSpPr>
          <p:nvPr/>
        </p:nvSpPr>
        <p:spPr bwMode="auto">
          <a:xfrm>
            <a:off x="350676" y="362112"/>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dirty="0">
                <a:solidFill>
                  <a:srgbClr val="CC3300"/>
                </a:solidFill>
                <a:latin typeface="Times New Roman" panose="02020603050405020304" pitchFamily="18" charset="0"/>
              </a:rPr>
              <a:t>Q:</a:t>
            </a:r>
            <a:r>
              <a:rPr lang="zh-CN" altLang="en-US" sz="2400" b="1" dirty="0">
                <a:solidFill>
                  <a:srgbClr val="CC3300"/>
                </a:solidFill>
                <a:latin typeface="Times New Roman" panose="02020603050405020304" pitchFamily="18" charset="0"/>
              </a:rPr>
              <a:t>  </a:t>
            </a:r>
            <a:r>
              <a:rPr lang="en-US" altLang="zh-CN" dirty="0">
                <a:latin typeface="Times New Roman" panose="02020603050405020304" pitchFamily="18" charset="0"/>
              </a:rPr>
              <a:t>Try to use the algebraic method to analyze the logic function of the sequential logic circuit shown in the figure below.</a:t>
            </a:r>
            <a:endParaRPr lang="zh-CN" altLang="en-US" sz="2400" dirty="0">
              <a:latin typeface="Times New Roman" panose="02020603050405020304" pitchFamily="18" charset="0"/>
            </a:endParaRPr>
          </a:p>
        </p:txBody>
      </p:sp>
    </p:spTree>
    <p:extLst>
      <p:ext uri="{BB962C8B-B14F-4D97-AF65-F5344CB8AC3E}">
        <p14:creationId xmlns:p14="http://schemas.microsoft.com/office/powerpoint/2010/main" val="10609179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9" presetClass="entr" presetSubtype="0" fill="hold" nodeType="afterEffect">
                                  <p:stCondLst>
                                    <p:cond delay="0"/>
                                  </p:stCondLst>
                                  <p:childTnLst>
                                    <p:set>
                                      <p:cBhvr>
                                        <p:cTn id="6" dur="1" fill="hold">
                                          <p:stCondLst>
                                            <p:cond delay="0"/>
                                          </p:stCondLst>
                                        </p:cTn>
                                        <p:tgtEl>
                                          <p:spTgt spid="41987"/>
                                        </p:tgtEl>
                                        <p:attrNameLst>
                                          <p:attrName>style.visibility</p:attrName>
                                        </p:attrNameLst>
                                      </p:cBhvr>
                                      <p:to>
                                        <p:strVal val="visible"/>
                                      </p:to>
                                    </p:set>
                                    <p:animEffect transition="in" filter="dissolve">
                                      <p:cBhvr>
                                        <p:cTn id="7" dur="500"/>
                                        <p:tgtEl>
                                          <p:spTgt spid="41987"/>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1988"/>
                                        </p:tgtEl>
                                        <p:attrNameLst>
                                          <p:attrName>style.visibility</p:attrName>
                                        </p:attrNameLst>
                                      </p:cBhvr>
                                      <p:to>
                                        <p:strVal val="visible"/>
                                      </p:to>
                                    </p:set>
                                    <p:animEffect transition="in" filter="box(out)">
                                      <p:cBhvr>
                                        <p:cTn id="12" dur="500"/>
                                        <p:tgtEl>
                                          <p:spTgt spid="41988"/>
                                        </p:tgtEl>
                                      </p:cBhvr>
                                    </p:animEffect>
                                  </p:childTnLst>
                                  <p:subTnLst>
                                    <p:audio>
                                      <p:cMediaNode>
                                        <p:cTn display="0" masterRel="sameClick">
                                          <p:stCondLst>
                                            <p:cond evt="begin" delay="0">
                                              <p:tn val="10"/>
                                            </p:cond>
                                          </p:stCondLst>
                                          <p:endCondLst>
                                            <p:cond evt="onStopAudio" delay="0">
                                              <p:tgtEl>
                                                <p:sldTgt/>
                                              </p:tgtEl>
                                            </p:cond>
                                          </p:endCondLst>
                                        </p:cTn>
                                        <p:tgtEl>
                                          <p:sndTgt r:embed="rId5" name="projctor.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1989"/>
                                        </p:tgtEl>
                                        <p:attrNameLst>
                                          <p:attrName>style.visibility</p:attrName>
                                        </p:attrNameLst>
                                      </p:cBhvr>
                                      <p:to>
                                        <p:strVal val="visible"/>
                                      </p:to>
                                    </p:set>
                                    <p:animEffect transition="in" filter="slide(fromBottom)">
                                      <p:cBhvr>
                                        <p:cTn id="17" dur="500"/>
                                        <p:tgtEl>
                                          <p:spTgt spid="41989"/>
                                        </p:tgtEl>
                                      </p:cBhvr>
                                    </p:animEffect>
                                  </p:childTnLst>
                                </p:cTn>
                              </p:par>
                            </p:childTnLst>
                          </p:cTn>
                        </p:par>
                        <p:par>
                          <p:cTn id="18" fill="hold" nodeType="afterGroup">
                            <p:stCondLst>
                              <p:cond delay="500"/>
                            </p:stCondLst>
                            <p:childTnLst>
                              <p:par>
                                <p:cTn id="19" presetID="2" presetClass="entr" presetSubtype="4" fill="hold" nodeType="afterEffect">
                                  <p:stCondLst>
                                    <p:cond delay="0"/>
                                  </p:stCondLst>
                                  <p:childTnLst>
                                    <p:set>
                                      <p:cBhvr>
                                        <p:cTn id="20" dur="1" fill="hold">
                                          <p:stCondLst>
                                            <p:cond delay="0"/>
                                          </p:stCondLst>
                                        </p:cTn>
                                        <p:tgtEl>
                                          <p:spTgt spid="41990"/>
                                        </p:tgtEl>
                                        <p:attrNameLst>
                                          <p:attrName>style.visibility</p:attrName>
                                        </p:attrNameLst>
                                      </p:cBhvr>
                                      <p:to>
                                        <p:strVal val="visible"/>
                                      </p:to>
                                    </p:set>
                                    <p:anim calcmode="lin" valueType="num">
                                      <p:cBhvr additive="base">
                                        <p:cTn id="21" dur="500" fill="hold"/>
                                        <p:tgtEl>
                                          <p:spTgt spid="41990"/>
                                        </p:tgtEl>
                                        <p:attrNameLst>
                                          <p:attrName>ppt_x</p:attrName>
                                        </p:attrNameLst>
                                      </p:cBhvr>
                                      <p:tavLst>
                                        <p:tav tm="0">
                                          <p:val>
                                            <p:strVal val="#ppt_x"/>
                                          </p:val>
                                        </p:tav>
                                        <p:tav tm="100000">
                                          <p:val>
                                            <p:strVal val="#ppt_x"/>
                                          </p:val>
                                        </p:tav>
                                      </p:tavLst>
                                    </p:anim>
                                    <p:anim calcmode="lin" valueType="num">
                                      <p:cBhvr additive="base">
                                        <p:cTn id="22" dur="500" fill="hold"/>
                                        <p:tgtEl>
                                          <p:spTgt spid="4199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randombar(horizontal)">
                                      <p:cBhvr>
                                        <p:cTn id="27" dur="500"/>
                                        <p:tgtEl>
                                          <p:spTgt spid="9"/>
                                        </p:tgtEl>
                                      </p:cBhvr>
                                    </p:animEffect>
                                  </p:childTnLst>
                                  <p:subTnLst>
                                    <p:audio>
                                      <p:cMediaNode>
                                        <p:cTn display="0" masterRel="sameClick">
                                          <p:stCondLst>
                                            <p:cond evt="begin" delay="0">
                                              <p:tn val="25"/>
                                            </p:cond>
                                          </p:stCondLst>
                                          <p:endCondLst>
                                            <p:cond evt="onStopAudio" delay="0">
                                              <p:tgtEl>
                                                <p:sldTgt/>
                                              </p:tgtEl>
                                            </p:cond>
                                          </p:endCondLst>
                                        </p:cTn>
                                        <p:tgtEl>
                                          <p:sndTgt r:embed="rId5"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utoUpdateAnimBg="0"/>
      <p:bldP spid="41989" grpId="0" autoUpdateAnimBg="0"/>
      <p:bldP spid="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F203DB9-7295-4D22-924D-7A65B4778C4A}"/>
              </a:ext>
            </a:extLst>
          </p:cNvPr>
          <p:cNvSpPr>
            <a:spLocks noGrp="1"/>
          </p:cNvSpPr>
          <p:nvPr>
            <p:ph type="sldNum" sz="quarter" idx="12"/>
          </p:nvPr>
        </p:nvSpPr>
        <p:spPr/>
        <p:txBody>
          <a:bodyPr/>
          <a:lstStyle/>
          <a:p>
            <a:pPr>
              <a:defRPr/>
            </a:pPr>
            <a:fld id="{BA7CE023-F055-424B-845A-AF251D9171BF}" type="slidenum">
              <a:rPr lang="en-US" altLang="zh-CN" smtClean="0"/>
              <a:pPr>
                <a:defRPr/>
              </a:pPr>
              <a:t>22</a:t>
            </a:fld>
            <a:endParaRPr lang="en-US" altLang="zh-CN"/>
          </a:p>
        </p:txBody>
      </p:sp>
      <p:pic>
        <p:nvPicPr>
          <p:cNvPr id="3" name="图片 2">
            <a:extLst>
              <a:ext uri="{FF2B5EF4-FFF2-40B4-BE49-F238E27FC236}">
                <a16:creationId xmlns:a16="http://schemas.microsoft.com/office/drawing/2014/main" id="{E89EF428-6262-4BAC-A5FB-97698A92A2EA}"/>
              </a:ext>
            </a:extLst>
          </p:cNvPr>
          <p:cNvPicPr>
            <a:picLocks noChangeAspect="1"/>
          </p:cNvPicPr>
          <p:nvPr/>
        </p:nvPicPr>
        <p:blipFill>
          <a:blip r:embed="rId3"/>
          <a:stretch>
            <a:fillRect/>
          </a:stretch>
        </p:blipFill>
        <p:spPr>
          <a:xfrm>
            <a:off x="6660232" y="1772816"/>
            <a:ext cx="1981200" cy="2705100"/>
          </a:xfrm>
          <a:prstGeom prst="rect">
            <a:avLst/>
          </a:prstGeom>
        </p:spPr>
      </p:pic>
      <p:pic>
        <p:nvPicPr>
          <p:cNvPr id="4" name="图片 3">
            <a:extLst>
              <a:ext uri="{FF2B5EF4-FFF2-40B4-BE49-F238E27FC236}">
                <a16:creationId xmlns:a16="http://schemas.microsoft.com/office/drawing/2014/main" id="{021FA17A-0070-4602-A818-CCAF140BAE7B}"/>
              </a:ext>
            </a:extLst>
          </p:cNvPr>
          <p:cNvPicPr>
            <a:picLocks noChangeAspect="1"/>
          </p:cNvPicPr>
          <p:nvPr/>
        </p:nvPicPr>
        <p:blipFill>
          <a:blip r:embed="rId4"/>
          <a:stretch>
            <a:fillRect/>
          </a:stretch>
        </p:blipFill>
        <p:spPr>
          <a:xfrm>
            <a:off x="533400" y="908720"/>
            <a:ext cx="6088476" cy="4047453"/>
          </a:xfrm>
          <a:prstGeom prst="rect">
            <a:avLst/>
          </a:prstGeom>
        </p:spPr>
      </p:pic>
      <p:graphicFrame>
        <p:nvGraphicFramePr>
          <p:cNvPr id="5" name="Object 6">
            <a:extLst>
              <a:ext uri="{FF2B5EF4-FFF2-40B4-BE49-F238E27FC236}">
                <a16:creationId xmlns:a16="http://schemas.microsoft.com/office/drawing/2014/main" id="{666F28B7-14EB-4F7A-A462-E8A054D63A62}"/>
              </a:ext>
            </a:extLst>
          </p:cNvPr>
          <p:cNvGraphicFramePr>
            <a:graphicFrameLocks noChangeAspect="1"/>
          </p:cNvGraphicFramePr>
          <p:nvPr>
            <p:extLst>
              <p:ext uri="{D42A27DB-BD31-4B8C-83A1-F6EECF244321}">
                <p14:modId xmlns:p14="http://schemas.microsoft.com/office/powerpoint/2010/main" val="1926741160"/>
              </p:ext>
            </p:extLst>
          </p:nvPr>
        </p:nvGraphicFramePr>
        <p:xfrm>
          <a:off x="5796136" y="116632"/>
          <a:ext cx="3136900" cy="914400"/>
        </p:xfrm>
        <a:graphic>
          <a:graphicData uri="http://schemas.openxmlformats.org/presentationml/2006/ole">
            <mc:AlternateContent xmlns:mc="http://schemas.openxmlformats.org/markup-compatibility/2006">
              <mc:Choice xmlns:v="urn:schemas-microsoft-com:vml" Requires="v">
                <p:oleObj spid="_x0000_s20483" r:id="rId5" imgW="3136900" imgH="914400" progId="Equation.3">
                  <p:embed/>
                </p:oleObj>
              </mc:Choice>
              <mc:Fallback>
                <p:oleObj r:id="rId5" imgW="3136900" imgH="914400" progId="Equation.3">
                  <p:embed/>
                  <p:pic>
                    <p:nvPicPr>
                      <p:cNvPr id="41990" name="Object 6">
                        <a:extLst>
                          <a:ext uri="{FF2B5EF4-FFF2-40B4-BE49-F238E27FC236}">
                            <a16:creationId xmlns:a16="http://schemas.microsoft.com/office/drawing/2014/main" id="{F5A57FB5-5349-4026-8359-FDC9CC321A20}"/>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5796136" y="116632"/>
                        <a:ext cx="3136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 name="图片 5">
            <a:extLst>
              <a:ext uri="{FF2B5EF4-FFF2-40B4-BE49-F238E27FC236}">
                <a16:creationId xmlns:a16="http://schemas.microsoft.com/office/drawing/2014/main" id="{E7A196D8-0ED7-483E-9A0B-A127CC7C0ECA}"/>
              </a:ext>
            </a:extLst>
          </p:cNvPr>
          <p:cNvPicPr>
            <a:picLocks noChangeAspect="1"/>
          </p:cNvPicPr>
          <p:nvPr/>
        </p:nvPicPr>
        <p:blipFill>
          <a:blip r:embed="rId7"/>
          <a:stretch>
            <a:fillRect/>
          </a:stretch>
        </p:blipFill>
        <p:spPr>
          <a:xfrm>
            <a:off x="3127157" y="4869160"/>
            <a:ext cx="4229100" cy="2085975"/>
          </a:xfrm>
          <a:prstGeom prst="rect">
            <a:avLst/>
          </a:prstGeom>
        </p:spPr>
      </p:pic>
    </p:spTree>
    <p:extLst>
      <p:ext uri="{BB962C8B-B14F-4D97-AF65-F5344CB8AC3E}">
        <p14:creationId xmlns:p14="http://schemas.microsoft.com/office/powerpoint/2010/main" val="218928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1">
            <a:extLst>
              <a:ext uri="{FF2B5EF4-FFF2-40B4-BE49-F238E27FC236}">
                <a16:creationId xmlns:a16="http://schemas.microsoft.com/office/drawing/2014/main" id="{952CCAA8-8126-4F4E-B684-6724012B399B}"/>
              </a:ext>
            </a:extLst>
          </p:cNvPr>
          <p:cNvSpPr>
            <a:spLocks noChangeArrowheads="1"/>
          </p:cNvSpPr>
          <p:nvPr/>
        </p:nvSpPr>
        <p:spPr bwMode="auto">
          <a:xfrm>
            <a:off x="304800" y="511175"/>
            <a:ext cx="8382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chemeClr val="tx2"/>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2</a:t>
            </a:r>
            <a:r>
              <a:rPr lang="zh-CN" altLang="en-US" sz="2400" b="1"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Substitute the excitation function expression into the excitation equation of the flip-flop, and derive the next state equations of the circuit.</a:t>
            </a:r>
            <a:endParaRPr lang="zh-CN" altLang="en-US" sz="2800" dirty="0">
              <a:solidFill>
                <a:srgbClr val="000099"/>
              </a:solidFill>
              <a:latin typeface="Times New Roman" panose="02020603050405020304" pitchFamily="18" charset="0"/>
            </a:endParaRPr>
          </a:p>
          <a:p>
            <a:pPr algn="just" eaLnBrk="1" hangingPunct="1"/>
            <a:endParaRPr lang="zh-CN" altLang="en-US" sz="2400" b="1" dirty="0">
              <a:solidFill>
                <a:srgbClr val="000099"/>
              </a:solidFill>
              <a:latin typeface="Times New Roman" panose="02020603050405020304" pitchFamily="18" charset="0"/>
            </a:endParaRPr>
          </a:p>
        </p:txBody>
      </p:sp>
      <p:sp>
        <p:nvSpPr>
          <p:cNvPr id="43011" name="Text Box 12">
            <a:extLst>
              <a:ext uri="{FF2B5EF4-FFF2-40B4-BE49-F238E27FC236}">
                <a16:creationId xmlns:a16="http://schemas.microsoft.com/office/drawing/2014/main" id="{51998441-3170-460E-8938-DEA2DD7C489C}"/>
              </a:ext>
            </a:extLst>
          </p:cNvPr>
          <p:cNvSpPr txBox="1">
            <a:spLocks noChangeArrowheads="1"/>
          </p:cNvSpPr>
          <p:nvPr/>
        </p:nvSpPr>
        <p:spPr bwMode="auto">
          <a:xfrm>
            <a:off x="441325" y="1772816"/>
            <a:ext cx="83978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The circuit’s storage circuit has only one flip-flop, so the circuit has only one next state equation.</a:t>
            </a:r>
          </a:p>
          <a:p>
            <a:pPr algn="just" eaLnBrk="1" hangingPunct="1"/>
            <a:r>
              <a:rPr lang="en-US" altLang="zh-CN" dirty="0">
                <a:latin typeface="Times New Roman" panose="02020603050405020304" pitchFamily="18" charset="0"/>
              </a:rPr>
              <a:t>According to the next state equation of the J-K flip-flop and the excitation function expression of the circuit, the next state equation of the circuit can be derived as follows:</a:t>
            </a:r>
            <a:endParaRPr lang="zh-CN" altLang="en-US" sz="2400" dirty="0">
              <a:latin typeface="Times New Roman" panose="02020603050405020304" pitchFamily="18" charset="0"/>
            </a:endParaRPr>
          </a:p>
        </p:txBody>
      </p:sp>
      <p:graphicFrame>
        <p:nvGraphicFramePr>
          <p:cNvPr id="43012" name="Object 4">
            <a:extLst>
              <a:ext uri="{FF2B5EF4-FFF2-40B4-BE49-F238E27FC236}">
                <a16:creationId xmlns:a16="http://schemas.microsoft.com/office/drawing/2014/main" id="{BE633E93-13A3-41F3-8676-C8FC876AD6D6}"/>
              </a:ext>
            </a:extLst>
          </p:cNvPr>
          <p:cNvGraphicFramePr>
            <a:graphicFrameLocks noChangeAspect="1"/>
          </p:cNvGraphicFramePr>
          <p:nvPr/>
        </p:nvGraphicFramePr>
        <p:xfrm>
          <a:off x="2362200" y="3810000"/>
          <a:ext cx="3962400" cy="2536825"/>
        </p:xfrm>
        <a:graphic>
          <a:graphicData uri="http://schemas.openxmlformats.org/presentationml/2006/ole">
            <mc:AlternateContent xmlns:mc="http://schemas.openxmlformats.org/markup-compatibility/2006">
              <mc:Choice xmlns:v="urn:schemas-microsoft-com:vml" Requires="v">
                <p:oleObj spid="_x0000_s18489" r:id="rId5" imgW="3352800" imgH="2159000" progId="Equation.3">
                  <p:embed/>
                </p:oleObj>
              </mc:Choice>
              <mc:Fallback>
                <p:oleObj r:id="rId5" imgW="3352800" imgH="2159000" progId="Equation.3">
                  <p:embed/>
                  <p:pic>
                    <p:nvPicPr>
                      <p:cNvPr id="43012" name="Object 4">
                        <a:extLst>
                          <a:ext uri="{FF2B5EF4-FFF2-40B4-BE49-F238E27FC236}">
                            <a16:creationId xmlns:a16="http://schemas.microsoft.com/office/drawing/2014/main" id="{BE633E93-13A3-41F3-8676-C8FC876AD6D6}"/>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2362200" y="3810000"/>
                        <a:ext cx="3962400"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7109" name="Picture 15" descr="Right_Green">
            <a:hlinkClick r:id="" action="ppaction://hlinkshowjump?jump=nextslide"/>
            <a:extLst>
              <a:ext uri="{FF2B5EF4-FFF2-40B4-BE49-F238E27FC236}">
                <a16:creationId xmlns:a16="http://schemas.microsoft.com/office/drawing/2014/main" id="{17649D17-3E52-44D6-AA31-8BF1B5DE23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16" descr="Left_Green">
            <a:hlinkClick r:id="" action="ppaction://hlinkshowjump?jump=previousslide"/>
            <a:extLst>
              <a:ext uri="{FF2B5EF4-FFF2-40B4-BE49-F238E27FC236}">
                <a16:creationId xmlns:a16="http://schemas.microsoft.com/office/drawing/2014/main" id="{C232A0F7-47C6-4B7E-B2AE-6585A78E18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83085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slide(fromBottom)">
                                      <p:cBhvr>
                                        <p:cTn id="7" dur="500"/>
                                        <p:tgtEl>
                                          <p:spTgt spid="43010"/>
                                        </p:tgtEl>
                                      </p:cBhvr>
                                    </p:animEffect>
                                  </p:childTnLst>
                                  <p:subTnLst>
                                    <p:audio>
                                      <p:cMediaNode>
                                        <p:cTn display="0" masterRel="sameClick">
                                          <p:stCondLst>
                                            <p:cond evt="begin" delay="0">
                                              <p:tn val="5"/>
                                            </p:cond>
                                          </p:stCondLst>
                                          <p:endCondLst>
                                            <p:cond evt="onStopAudio" delay="0">
                                              <p:tgtEl>
                                                <p:sldTgt/>
                                              </p:tgtEl>
                                            </p:cond>
                                          </p:endCondLst>
                                        </p:cTn>
                                        <p:tgtEl>
                                          <p:sndTgt r:embed="rId4"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randombar(horizontal)">
                                      <p:cBhvr>
                                        <p:cTn id="12" dur="500"/>
                                        <p:tgtEl>
                                          <p:spTgt spid="430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3012"/>
                                        </p:tgtEl>
                                        <p:attrNameLst>
                                          <p:attrName>style.visibility</p:attrName>
                                        </p:attrNameLst>
                                      </p:cBhvr>
                                      <p:to>
                                        <p:strVal val="visible"/>
                                      </p:to>
                                    </p:set>
                                    <p:animEffect transition="in" filter="wipe(up)">
                                      <p:cBhvr>
                                        <p:cTn id="17" dur="500"/>
                                        <p:tgtEl>
                                          <p:spTgt spid="43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P spid="43011"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9">
            <a:extLst>
              <a:ext uri="{FF2B5EF4-FFF2-40B4-BE49-F238E27FC236}">
                <a16:creationId xmlns:a16="http://schemas.microsoft.com/office/drawing/2014/main" id="{D5E66729-2A5E-4C7B-87B5-DE3618674B26}"/>
              </a:ext>
            </a:extLst>
          </p:cNvPr>
          <p:cNvSpPr txBox="1">
            <a:spLocks noChangeArrowheads="1"/>
          </p:cNvSpPr>
          <p:nvPr/>
        </p:nvSpPr>
        <p:spPr bwMode="auto">
          <a:xfrm>
            <a:off x="396875" y="428752"/>
            <a:ext cx="84740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3</a:t>
            </a:r>
            <a:r>
              <a:rPr lang="zh-CN" altLang="en-US" sz="2400" b="1" dirty="0">
                <a:solidFill>
                  <a:srgbClr val="000099"/>
                </a:solidFill>
                <a:latin typeface="Times New Roman" panose="02020603050405020304" pitchFamily="18" charset="0"/>
              </a:rPr>
              <a:t>．</a:t>
            </a:r>
            <a:r>
              <a:rPr lang="en-US" altLang="zh-CN" sz="2400" b="1" dirty="0">
                <a:solidFill>
                  <a:srgbClr val="000099"/>
                </a:solidFill>
                <a:latin typeface="Times New Roman" panose="02020603050405020304" pitchFamily="18" charset="0"/>
              </a:rPr>
              <a:t>List the s</a:t>
            </a:r>
            <a:r>
              <a:rPr lang="en-US" altLang="zh-CN" dirty="0">
                <a:solidFill>
                  <a:srgbClr val="000099"/>
                </a:solidFill>
                <a:latin typeface="Times New Roman" panose="02020603050405020304" pitchFamily="18" charset="0"/>
              </a:rPr>
              <a:t>tate table and state diagrams based on the next state equations and output function expressions</a:t>
            </a:r>
            <a:endParaRPr lang="zh-CN" altLang="en-US" sz="2400" b="1" dirty="0">
              <a:solidFill>
                <a:srgbClr val="000099"/>
              </a:solidFill>
              <a:latin typeface="Times New Roman" panose="02020603050405020304" pitchFamily="18" charset="0"/>
            </a:endParaRPr>
          </a:p>
        </p:txBody>
      </p:sp>
      <p:sp>
        <p:nvSpPr>
          <p:cNvPr id="44035" name="Text Box 10">
            <a:extLst>
              <a:ext uri="{FF2B5EF4-FFF2-40B4-BE49-F238E27FC236}">
                <a16:creationId xmlns:a16="http://schemas.microsoft.com/office/drawing/2014/main" id="{43588AD5-ABE6-49AA-A448-DC8FD1C6E5E3}"/>
              </a:ext>
            </a:extLst>
          </p:cNvPr>
          <p:cNvSpPr txBox="1">
            <a:spLocks noChangeArrowheads="1"/>
          </p:cNvSpPr>
          <p:nvPr/>
        </p:nvSpPr>
        <p:spPr bwMode="auto">
          <a:xfrm>
            <a:off x="304800" y="1371600"/>
            <a:ext cx="84740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Based on the next state equations and output function expressions </a:t>
            </a:r>
            <a:r>
              <a:rPr lang="zh-CN" altLang="en-US" sz="2400" dirty="0">
                <a:latin typeface="Times New Roman" panose="02020603050405020304" pitchFamily="18" charset="0"/>
              </a:rPr>
              <a:t>，</a:t>
            </a:r>
            <a:r>
              <a:rPr lang="en-US" altLang="zh-CN" dirty="0">
                <a:solidFill>
                  <a:srgbClr val="000099"/>
                </a:solidFill>
                <a:latin typeface="Times New Roman" panose="02020603050405020304" pitchFamily="18" charset="0"/>
              </a:rPr>
              <a:t> we can list the state table and state diagrams: </a:t>
            </a:r>
            <a:endParaRPr lang="zh-CN" altLang="en-US" sz="2400" dirty="0">
              <a:latin typeface="Times New Roman" panose="02020603050405020304" pitchFamily="18" charset="0"/>
            </a:endParaRPr>
          </a:p>
        </p:txBody>
      </p:sp>
      <p:grpSp>
        <p:nvGrpSpPr>
          <p:cNvPr id="44036" name="Group 4">
            <a:extLst>
              <a:ext uri="{FF2B5EF4-FFF2-40B4-BE49-F238E27FC236}">
                <a16:creationId xmlns:a16="http://schemas.microsoft.com/office/drawing/2014/main" id="{EFC7F213-ADE2-4580-8ED6-CAEF3F7724A8}"/>
              </a:ext>
            </a:extLst>
          </p:cNvPr>
          <p:cNvGrpSpPr>
            <a:grpSpLocks/>
          </p:cNvGrpSpPr>
          <p:nvPr/>
        </p:nvGrpSpPr>
        <p:grpSpPr bwMode="auto">
          <a:xfrm>
            <a:off x="2209800" y="4724400"/>
            <a:ext cx="4419600" cy="1633538"/>
            <a:chOff x="0" y="0"/>
            <a:chExt cx="2784" cy="1029"/>
          </a:xfrm>
        </p:grpSpPr>
        <p:pic>
          <p:nvPicPr>
            <p:cNvPr id="48137" name="Picture 12" descr="TU5-13">
              <a:extLst>
                <a:ext uri="{FF2B5EF4-FFF2-40B4-BE49-F238E27FC236}">
                  <a16:creationId xmlns:a16="http://schemas.microsoft.com/office/drawing/2014/main" id="{829E44DA-2D0C-48FF-9977-842186284A77}"/>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0" y="0"/>
              <a:ext cx="2784" cy="1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8" name="Text Box 14">
              <a:extLst>
                <a:ext uri="{FF2B5EF4-FFF2-40B4-BE49-F238E27FC236}">
                  <a16:creationId xmlns:a16="http://schemas.microsoft.com/office/drawing/2014/main" id="{CFC854C3-DEC6-4FE8-AE10-6E9913E0A7FE}"/>
                </a:ext>
              </a:extLst>
            </p:cNvPr>
            <p:cNvSpPr txBox="1">
              <a:spLocks noChangeArrowheads="1"/>
            </p:cNvSpPr>
            <p:nvPr/>
          </p:nvSpPr>
          <p:spPr bwMode="auto">
            <a:xfrm>
              <a:off x="720" y="43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48139" name="Text Box 15">
              <a:extLst>
                <a:ext uri="{FF2B5EF4-FFF2-40B4-BE49-F238E27FC236}">
                  <a16:creationId xmlns:a16="http://schemas.microsoft.com/office/drawing/2014/main" id="{2CE81971-F784-47BE-BE28-54F02F7BDA2F}"/>
                </a:ext>
              </a:extLst>
            </p:cNvPr>
            <p:cNvSpPr txBox="1">
              <a:spLocks noChangeArrowheads="1"/>
            </p:cNvSpPr>
            <p:nvPr/>
          </p:nvSpPr>
          <p:spPr bwMode="auto">
            <a:xfrm>
              <a:off x="1920" y="48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a:t>
              </a:r>
            </a:p>
          </p:txBody>
        </p:sp>
      </p:grpSp>
      <p:graphicFrame>
        <p:nvGraphicFramePr>
          <p:cNvPr id="44041" name="Object 9">
            <a:extLst>
              <a:ext uri="{FF2B5EF4-FFF2-40B4-BE49-F238E27FC236}">
                <a16:creationId xmlns:a16="http://schemas.microsoft.com/office/drawing/2014/main" id="{F6939BB3-AD1B-46DB-8073-16A2487A3B7D}"/>
              </a:ext>
            </a:extLst>
          </p:cNvPr>
          <p:cNvGraphicFramePr>
            <a:graphicFrameLocks noChangeAspect="1"/>
          </p:cNvGraphicFramePr>
          <p:nvPr/>
        </p:nvGraphicFramePr>
        <p:xfrm>
          <a:off x="1054100" y="2895600"/>
          <a:ext cx="2844800" cy="906463"/>
        </p:xfrm>
        <a:graphic>
          <a:graphicData uri="http://schemas.openxmlformats.org/presentationml/2006/ole">
            <mc:AlternateContent xmlns:mc="http://schemas.openxmlformats.org/markup-compatibility/2006">
              <mc:Choice xmlns:v="urn:schemas-microsoft-com:vml" Requires="v">
                <p:oleObj spid="_x0000_s19515" r:id="rId6" imgW="1436347" imgH="457597" progId="Equation.3">
                  <p:embed/>
                </p:oleObj>
              </mc:Choice>
              <mc:Fallback>
                <p:oleObj r:id="rId6" imgW="1436347" imgH="457597" progId="Equation.3">
                  <p:embed/>
                  <p:pic>
                    <p:nvPicPr>
                      <p:cNvPr id="44041" name="Object 9">
                        <a:extLst>
                          <a:ext uri="{FF2B5EF4-FFF2-40B4-BE49-F238E27FC236}">
                            <a16:creationId xmlns:a16="http://schemas.microsoft.com/office/drawing/2014/main" id="{F6939BB3-AD1B-46DB-8073-16A2487A3B7D}"/>
                          </a:ext>
                        </a:extLst>
                      </p:cNvPr>
                      <p:cNvPicPr>
                        <a:picLocks noChangeAspect="1" noChangeArrowheads="1"/>
                      </p:cNvPicPr>
                      <p:nvPr/>
                    </p:nvPicPr>
                    <p:blipFill>
                      <a:blip r:embed="rId7">
                        <a:lum bright="-48000"/>
                        <a:extLst>
                          <a:ext uri="{28A0092B-C50C-407E-A947-70E740481C1C}">
                            <a14:useLocalDpi xmlns:a14="http://schemas.microsoft.com/office/drawing/2010/main" val="0"/>
                          </a:ext>
                        </a:extLst>
                      </a:blip>
                      <a:srcRect/>
                      <a:stretch>
                        <a:fillRect/>
                      </a:stretch>
                    </p:blipFill>
                    <p:spPr bwMode="auto">
                      <a:xfrm>
                        <a:off x="1054100" y="2895600"/>
                        <a:ext cx="2844800"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8135" name="Picture 20" descr="Right_Green">
            <a:hlinkClick r:id="" action="ppaction://hlinkshowjump?jump=nextslide"/>
            <a:extLst>
              <a:ext uri="{FF2B5EF4-FFF2-40B4-BE49-F238E27FC236}">
                <a16:creationId xmlns:a16="http://schemas.microsoft.com/office/drawing/2014/main" id="{B6E8A39B-F6FF-4ADA-A0F4-10D568B22C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6" name="Picture 21" descr="Left_Green">
            <a:hlinkClick r:id="" action="ppaction://hlinkshowjump?jump=previousslide"/>
            <a:extLst>
              <a:ext uri="{FF2B5EF4-FFF2-40B4-BE49-F238E27FC236}">
                <a16:creationId xmlns:a16="http://schemas.microsoft.com/office/drawing/2014/main" id="{AAA5C4C2-F801-4E5E-99C9-2683EE4B579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CF6DC026-35E5-4C08-B3DC-4371FD1E8BF5}"/>
              </a:ext>
            </a:extLst>
          </p:cNvPr>
          <p:cNvPicPr>
            <a:picLocks noChangeAspect="1"/>
          </p:cNvPicPr>
          <p:nvPr/>
        </p:nvPicPr>
        <p:blipFill>
          <a:blip r:embed="rId10"/>
          <a:stretch>
            <a:fillRect/>
          </a:stretch>
        </p:blipFill>
        <p:spPr>
          <a:xfrm>
            <a:off x="4186238" y="2386012"/>
            <a:ext cx="4229100" cy="2085975"/>
          </a:xfrm>
          <a:prstGeom prst="rect">
            <a:avLst/>
          </a:prstGeom>
        </p:spPr>
      </p:pic>
    </p:spTree>
    <p:extLst>
      <p:ext uri="{BB962C8B-B14F-4D97-AF65-F5344CB8AC3E}">
        <p14:creationId xmlns:p14="http://schemas.microsoft.com/office/powerpoint/2010/main" val="24350564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slide(fromBottom)">
                                      <p:cBhvr>
                                        <p:cTn id="7" dur="500"/>
                                        <p:tgtEl>
                                          <p:spTgt spid="44034"/>
                                        </p:tgtEl>
                                      </p:cBhvr>
                                    </p:animEffect>
                                  </p:childTnLst>
                                  <p:subTnLst>
                                    <p:audio>
                                      <p:cMediaNode>
                                        <p:cTn display="0" masterRel="sameClick">
                                          <p:stCondLst>
                                            <p:cond evt="begin" delay="0">
                                              <p:tn val="5"/>
                                            </p:cond>
                                          </p:stCondLst>
                                          <p:endCondLst>
                                            <p:cond evt="onStopAudio" delay="0">
                                              <p:tgtEl>
                                                <p:sldTgt/>
                                              </p:tgtEl>
                                            </p:cond>
                                          </p:endCondLst>
                                        </p:cTn>
                                        <p:tgtEl>
                                          <p:sndTgt r:embed="rId4"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44035"/>
                                        </p:tgtEl>
                                        <p:attrNameLst>
                                          <p:attrName>style.visibility</p:attrName>
                                        </p:attrNameLst>
                                      </p:cBhvr>
                                      <p:to>
                                        <p:strVal val="visible"/>
                                      </p:to>
                                    </p:set>
                                    <p:anim calcmode="lin" valueType="num">
                                      <p:cBhvr>
                                        <p:cTn id="12" dur="500" fill="hold"/>
                                        <p:tgtEl>
                                          <p:spTgt spid="44035"/>
                                        </p:tgtEl>
                                        <p:attrNameLst>
                                          <p:attrName>ppt_w</p:attrName>
                                        </p:attrNameLst>
                                      </p:cBhvr>
                                      <p:tavLst>
                                        <p:tav tm="0">
                                          <p:val>
                                            <p:fltVal val="0"/>
                                          </p:val>
                                        </p:tav>
                                        <p:tav tm="100000">
                                          <p:val>
                                            <p:strVal val="#ppt_w"/>
                                          </p:val>
                                        </p:tav>
                                      </p:tavLst>
                                    </p:anim>
                                    <p:anim calcmode="lin" valueType="num">
                                      <p:cBhvr>
                                        <p:cTn id="13" dur="500" fill="hold"/>
                                        <p:tgtEl>
                                          <p:spTgt spid="44035"/>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44041"/>
                                        </p:tgtEl>
                                        <p:attrNameLst>
                                          <p:attrName>style.visibility</p:attrName>
                                        </p:attrNameLst>
                                      </p:cBhvr>
                                      <p:to>
                                        <p:strVal val="visible"/>
                                      </p:to>
                                    </p:set>
                                    <p:anim calcmode="lin" valueType="num">
                                      <p:cBhvr additive="base">
                                        <p:cTn id="18" dur="500" fill="hold"/>
                                        <p:tgtEl>
                                          <p:spTgt spid="44041"/>
                                        </p:tgtEl>
                                        <p:attrNameLst>
                                          <p:attrName>ppt_x</p:attrName>
                                        </p:attrNameLst>
                                      </p:cBhvr>
                                      <p:tavLst>
                                        <p:tav tm="0">
                                          <p:val>
                                            <p:strVal val="0-#ppt_w/2"/>
                                          </p:val>
                                        </p:tav>
                                        <p:tav tm="100000">
                                          <p:val>
                                            <p:strVal val="#ppt_x"/>
                                          </p:val>
                                        </p:tav>
                                      </p:tavLst>
                                    </p:anim>
                                    <p:anim calcmode="lin" valueType="num">
                                      <p:cBhvr additive="base">
                                        <p:cTn id="19" dur="500" fill="hold"/>
                                        <p:tgtEl>
                                          <p:spTgt spid="44041"/>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44036"/>
                                        </p:tgtEl>
                                        <p:attrNameLst>
                                          <p:attrName>style.visibility</p:attrName>
                                        </p:attrNameLst>
                                      </p:cBhvr>
                                      <p:to>
                                        <p:strVal val="visible"/>
                                      </p:to>
                                    </p:set>
                                    <p:anim calcmode="lin" valueType="num">
                                      <p:cBhvr additive="base">
                                        <p:cTn id="24" dur="500" fill="hold"/>
                                        <p:tgtEl>
                                          <p:spTgt spid="44036"/>
                                        </p:tgtEl>
                                        <p:attrNameLst>
                                          <p:attrName>ppt_x</p:attrName>
                                        </p:attrNameLst>
                                      </p:cBhvr>
                                      <p:tavLst>
                                        <p:tav tm="0">
                                          <p:val>
                                            <p:strVal val="#ppt_x"/>
                                          </p:val>
                                        </p:tav>
                                        <p:tav tm="100000">
                                          <p:val>
                                            <p:strVal val="#ppt_x"/>
                                          </p:val>
                                        </p:tav>
                                      </p:tavLst>
                                    </p:anim>
                                    <p:anim calcmode="lin" valueType="num">
                                      <p:cBhvr additive="base">
                                        <p:cTn id="25" dur="500" fill="hold"/>
                                        <p:tgtEl>
                                          <p:spTgt spid="440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autoUpdateAnimBg="0"/>
      <p:bldP spid="4403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0">
            <a:extLst>
              <a:ext uri="{FF2B5EF4-FFF2-40B4-BE49-F238E27FC236}">
                <a16:creationId xmlns:a16="http://schemas.microsoft.com/office/drawing/2014/main" id="{42DFDF4B-5FAE-42EB-8C4E-E5D65AAA5E35}"/>
              </a:ext>
            </a:extLst>
          </p:cNvPr>
          <p:cNvSpPr txBox="1">
            <a:spLocks noChangeArrowheads="1"/>
          </p:cNvSpPr>
          <p:nvPr/>
        </p:nvSpPr>
        <p:spPr bwMode="auto">
          <a:xfrm>
            <a:off x="465564" y="440870"/>
            <a:ext cx="71805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4</a:t>
            </a:r>
            <a:r>
              <a:rPr lang="zh-CN" altLang="en-US" sz="2400" b="1" dirty="0">
                <a:solidFill>
                  <a:srgbClr val="000099"/>
                </a:solidFill>
                <a:latin typeface="Times New Roman" panose="02020603050405020304" pitchFamily="18" charset="0"/>
              </a:rPr>
              <a:t>． </a:t>
            </a:r>
            <a:r>
              <a:rPr lang="en-US" altLang="zh-CN" dirty="0">
                <a:solidFill>
                  <a:srgbClr val="000099"/>
                </a:solidFill>
                <a:latin typeface="Times New Roman" panose="02020603050405020304" pitchFamily="18" charset="0"/>
              </a:rPr>
              <a:t>Summarize the logic functions of the circuit.</a:t>
            </a:r>
            <a:endParaRPr lang="zh-CN" altLang="en-US" sz="2400" b="1" dirty="0">
              <a:solidFill>
                <a:srgbClr val="000099"/>
              </a:solidFill>
              <a:latin typeface="Times New Roman" panose="02020603050405020304" pitchFamily="18" charset="0"/>
            </a:endParaRPr>
          </a:p>
        </p:txBody>
      </p:sp>
      <p:sp>
        <p:nvSpPr>
          <p:cNvPr id="45059" name="Text Box 11">
            <a:extLst>
              <a:ext uri="{FF2B5EF4-FFF2-40B4-BE49-F238E27FC236}">
                <a16:creationId xmlns:a16="http://schemas.microsoft.com/office/drawing/2014/main" id="{E643E849-49B0-46A6-B76D-D46603C862F0}"/>
              </a:ext>
            </a:extLst>
          </p:cNvPr>
          <p:cNvSpPr txBox="1">
            <a:spLocks noChangeArrowheads="1"/>
          </p:cNvSpPr>
          <p:nvPr/>
        </p:nvSpPr>
        <p:spPr bwMode="auto">
          <a:xfrm>
            <a:off x="-898525" y="2868613"/>
            <a:ext cx="85344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Clock ticks</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3</a:t>
            </a:r>
            <a:r>
              <a:rPr lang="zh-CN" altLang="en-US" sz="2400" dirty="0">
                <a:latin typeface="Times New Roman" panose="02020603050405020304" pitchFamily="18" charset="0"/>
              </a:rPr>
              <a:t>　</a:t>
            </a:r>
            <a:r>
              <a:rPr lang="en-US" altLang="zh-CN" sz="2400" dirty="0">
                <a:latin typeface="Times New Roman" panose="02020603050405020304" pitchFamily="18" charset="0"/>
              </a:rPr>
              <a:t>4</a:t>
            </a:r>
            <a:r>
              <a:rPr lang="zh-CN" altLang="en-US" sz="2400" dirty="0">
                <a:latin typeface="Times New Roman" panose="02020603050405020304" pitchFamily="18" charset="0"/>
              </a:rPr>
              <a:t>　</a:t>
            </a:r>
            <a:r>
              <a:rPr lang="en-US" altLang="zh-CN" sz="2400" dirty="0">
                <a:latin typeface="Times New Roman" panose="02020603050405020304" pitchFamily="18" charset="0"/>
              </a:rPr>
              <a:t>5</a:t>
            </a:r>
            <a:r>
              <a:rPr lang="zh-CN" altLang="en-US" sz="2400" dirty="0">
                <a:latin typeface="Times New Roman" panose="02020603050405020304" pitchFamily="18" charset="0"/>
              </a:rPr>
              <a:t>　</a:t>
            </a:r>
            <a:r>
              <a:rPr lang="en-US" altLang="zh-CN" sz="2400" dirty="0">
                <a:latin typeface="Times New Roman" panose="02020603050405020304" pitchFamily="18" charset="0"/>
              </a:rPr>
              <a:t>6</a:t>
            </a:r>
            <a:r>
              <a:rPr lang="zh-CN" altLang="en-US" sz="2400" dirty="0">
                <a:latin typeface="Times New Roman" panose="02020603050405020304" pitchFamily="18" charset="0"/>
              </a:rPr>
              <a:t>　</a:t>
            </a:r>
            <a:r>
              <a:rPr lang="en-US" altLang="zh-CN" sz="2400" dirty="0">
                <a:latin typeface="Times New Roman" panose="02020603050405020304" pitchFamily="18" charset="0"/>
              </a:rPr>
              <a:t>7</a:t>
            </a:r>
            <a:r>
              <a:rPr lang="zh-CN" altLang="en-US" sz="2400" dirty="0">
                <a:latin typeface="Times New Roman" panose="02020603050405020304" pitchFamily="18" charset="0"/>
              </a:rPr>
              <a:t>　</a:t>
            </a:r>
            <a:r>
              <a:rPr lang="en-US" altLang="zh-CN" sz="2400" dirty="0">
                <a:latin typeface="Times New Roman" panose="02020603050405020304" pitchFamily="18" charset="0"/>
              </a:rPr>
              <a:t>8</a:t>
            </a:r>
          </a:p>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Input </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Input 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State y</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Output Z </a:t>
            </a:r>
            <a:r>
              <a:rPr lang="zh-CN" altLang="en-US" sz="2400" dirty="0">
                <a:latin typeface="Times New Roman" panose="02020603050405020304" pitchFamily="18" charset="0"/>
              </a:rPr>
              <a:t>：　</a:t>
            </a:r>
            <a:endParaRPr lang="en-US" altLang="zh-CN" sz="2400" dirty="0">
              <a:latin typeface="Times New Roman" panose="02020603050405020304" pitchFamily="18" charset="0"/>
            </a:endParaRPr>
          </a:p>
        </p:txBody>
      </p:sp>
      <p:grpSp>
        <p:nvGrpSpPr>
          <p:cNvPr id="45060" name="Group 4">
            <a:extLst>
              <a:ext uri="{FF2B5EF4-FFF2-40B4-BE49-F238E27FC236}">
                <a16:creationId xmlns:a16="http://schemas.microsoft.com/office/drawing/2014/main" id="{C32DDFAD-A235-4E1A-8579-44B36E017F71}"/>
              </a:ext>
            </a:extLst>
          </p:cNvPr>
          <p:cNvGrpSpPr>
            <a:grpSpLocks/>
          </p:cNvGrpSpPr>
          <p:nvPr/>
        </p:nvGrpSpPr>
        <p:grpSpPr bwMode="auto">
          <a:xfrm>
            <a:off x="2057400" y="4953000"/>
            <a:ext cx="4419600" cy="1633538"/>
            <a:chOff x="0" y="0"/>
            <a:chExt cx="2784" cy="1029"/>
          </a:xfrm>
        </p:grpSpPr>
        <p:pic>
          <p:nvPicPr>
            <p:cNvPr id="49163" name="Picture 14" descr="TU5-13">
              <a:extLst>
                <a:ext uri="{FF2B5EF4-FFF2-40B4-BE49-F238E27FC236}">
                  <a16:creationId xmlns:a16="http://schemas.microsoft.com/office/drawing/2014/main" id="{93CD80DA-997E-43CF-BE64-C9780B5C4229}"/>
                </a:ext>
              </a:extLst>
            </p:cNvPr>
            <p:cNvPicPr>
              <a:picLocks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0" y="0"/>
              <a:ext cx="2784" cy="1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4" name="Text Box 15">
              <a:extLst>
                <a:ext uri="{FF2B5EF4-FFF2-40B4-BE49-F238E27FC236}">
                  <a16:creationId xmlns:a16="http://schemas.microsoft.com/office/drawing/2014/main" id="{F165F97E-4958-4486-BD5E-D04FA5B80B90}"/>
                </a:ext>
              </a:extLst>
            </p:cNvPr>
            <p:cNvSpPr txBox="1">
              <a:spLocks noChangeArrowheads="1"/>
            </p:cNvSpPr>
            <p:nvPr/>
          </p:nvSpPr>
          <p:spPr bwMode="auto">
            <a:xfrm>
              <a:off x="720" y="43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49165" name="Text Box 16">
              <a:extLst>
                <a:ext uri="{FF2B5EF4-FFF2-40B4-BE49-F238E27FC236}">
                  <a16:creationId xmlns:a16="http://schemas.microsoft.com/office/drawing/2014/main" id="{04A8C4E0-51BC-4762-BE7D-3D02E6497762}"/>
                </a:ext>
              </a:extLst>
            </p:cNvPr>
            <p:cNvSpPr txBox="1">
              <a:spLocks noChangeArrowheads="1"/>
            </p:cNvSpPr>
            <p:nvPr/>
          </p:nvSpPr>
          <p:spPr bwMode="auto">
            <a:xfrm>
              <a:off x="1920" y="48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a:t>
              </a:r>
            </a:p>
          </p:txBody>
        </p:sp>
      </p:grpSp>
      <p:sp>
        <p:nvSpPr>
          <p:cNvPr id="45064" name="AutoShape 17">
            <a:extLst>
              <a:ext uri="{FF2B5EF4-FFF2-40B4-BE49-F238E27FC236}">
                <a16:creationId xmlns:a16="http://schemas.microsoft.com/office/drawing/2014/main" id="{B6DBF185-4139-4301-BA18-83E4293ACAA6}"/>
              </a:ext>
            </a:extLst>
          </p:cNvPr>
          <p:cNvSpPr>
            <a:spLocks noChangeArrowheads="1"/>
          </p:cNvSpPr>
          <p:nvPr/>
        </p:nvSpPr>
        <p:spPr bwMode="auto">
          <a:xfrm rot="5525326">
            <a:off x="7239000" y="2590800"/>
            <a:ext cx="990600" cy="838200"/>
          </a:xfrm>
          <a:prstGeom prst="curvedDownArrow">
            <a:avLst>
              <a:gd name="adj1" fmla="val 23636"/>
              <a:gd name="adj2" fmla="val 47273"/>
              <a:gd name="adj3" fmla="val 33333"/>
            </a:avLst>
          </a:prstGeom>
          <a:solidFill>
            <a:srgbClr val="00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45065" name="AutoShape 18">
            <a:extLst>
              <a:ext uri="{FF2B5EF4-FFF2-40B4-BE49-F238E27FC236}">
                <a16:creationId xmlns:a16="http://schemas.microsoft.com/office/drawing/2014/main" id="{BB0592A4-D37B-4B41-B5CF-CAD5C95B283D}"/>
              </a:ext>
            </a:extLst>
          </p:cNvPr>
          <p:cNvSpPr>
            <a:spLocks noChangeArrowheads="1"/>
          </p:cNvSpPr>
          <p:nvPr/>
        </p:nvSpPr>
        <p:spPr bwMode="auto">
          <a:xfrm rot="-9285051">
            <a:off x="6858000" y="5029200"/>
            <a:ext cx="762000" cy="914400"/>
          </a:xfrm>
          <a:prstGeom prst="curvedRightArrow">
            <a:avLst>
              <a:gd name="adj1" fmla="val 24000"/>
              <a:gd name="adj2" fmla="val 48000"/>
              <a:gd name="adj3" fmla="val 33333"/>
            </a:avLst>
          </a:prstGeom>
          <a:solidFill>
            <a:srgbClr val="00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45066" name="Text Box 19">
            <a:extLst>
              <a:ext uri="{FF2B5EF4-FFF2-40B4-BE49-F238E27FC236}">
                <a16:creationId xmlns:a16="http://schemas.microsoft.com/office/drawing/2014/main" id="{9759FDFA-DC7F-4838-96CF-0372888CDC78}"/>
              </a:ext>
            </a:extLst>
          </p:cNvPr>
          <p:cNvSpPr txBox="1">
            <a:spLocks noChangeArrowheads="1"/>
          </p:cNvSpPr>
          <p:nvPr/>
        </p:nvSpPr>
        <p:spPr bwMode="auto">
          <a:xfrm>
            <a:off x="47036" y="1023091"/>
            <a:ext cx="865968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2400" dirty="0">
                <a:latin typeface="Times New Roman" panose="02020603050405020304" pitchFamily="18" charset="0"/>
              </a:rPr>
              <a:t>Assume the initial state of the circuit is</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en-US" altLang="zh-CN" sz="2400" dirty="0">
                <a:latin typeface="Times New Roman" panose="02020603050405020304" pitchFamily="18" charset="0"/>
              </a:rPr>
              <a:t>Input array of 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is </a:t>
            </a:r>
            <a:r>
              <a:rPr lang="en-US" altLang="zh-CN" sz="2400" b="1" dirty="0">
                <a:solidFill>
                  <a:srgbClr val="CC3300"/>
                </a:solidFill>
                <a:latin typeface="Times New Roman" panose="02020603050405020304" pitchFamily="18" charset="0"/>
              </a:rPr>
              <a:t>00110110</a:t>
            </a:r>
            <a:r>
              <a:rPr lang="zh-CN" altLang="en-US" sz="2400" b="1" dirty="0">
                <a:solidFill>
                  <a:srgbClr val="CC3300"/>
                </a:solidFill>
                <a:latin typeface="Times New Roman" panose="02020603050405020304" pitchFamily="18" charset="0"/>
              </a:rPr>
              <a:t>，</a:t>
            </a:r>
            <a:r>
              <a:rPr lang="en-US" altLang="zh-CN" sz="2400" dirty="0">
                <a:latin typeface="Times New Roman" panose="02020603050405020304" pitchFamily="18" charset="0"/>
              </a:rPr>
              <a:t>input array of 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is </a:t>
            </a:r>
            <a:r>
              <a:rPr lang="en-US" altLang="zh-CN" sz="2400" b="1" dirty="0">
                <a:solidFill>
                  <a:srgbClr val="CC3300"/>
                </a:solidFill>
                <a:latin typeface="Times New Roman" panose="02020603050405020304" pitchFamily="18" charset="0"/>
              </a:rPr>
              <a:t>01011100. </a:t>
            </a:r>
            <a:r>
              <a:rPr lang="en-US" altLang="zh-CN" dirty="0">
                <a:latin typeface="Times New Roman" panose="02020603050405020304" pitchFamily="18" charset="0"/>
              </a:rPr>
              <a:t>According to the state diagram, the output and state response sequence of the circuit can be as follows:</a:t>
            </a:r>
            <a:endParaRPr lang="en-US" altLang="zh-CN" sz="2400" b="1" dirty="0">
              <a:latin typeface="Times New Roman" panose="02020603050405020304" pitchFamily="18" charset="0"/>
            </a:endParaRPr>
          </a:p>
        </p:txBody>
      </p:sp>
      <p:pic>
        <p:nvPicPr>
          <p:cNvPr id="49160" name="Picture 21" descr="Right_Green">
            <a:hlinkClick r:id="" action="ppaction://hlinkshowjump?jump=nextslide"/>
            <a:extLst>
              <a:ext uri="{FF2B5EF4-FFF2-40B4-BE49-F238E27FC236}">
                <a16:creationId xmlns:a16="http://schemas.microsoft.com/office/drawing/2014/main" id="{1E9B8391-83F2-4320-A106-C771818F1C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1" name="Picture 22" descr="Left_Green">
            <a:hlinkClick r:id="" action="ppaction://hlinkshowjump?jump=previousslide"/>
            <a:extLst>
              <a:ext uri="{FF2B5EF4-FFF2-40B4-BE49-F238E27FC236}">
                <a16:creationId xmlns:a16="http://schemas.microsoft.com/office/drawing/2014/main" id="{31A48351-3220-4E1B-ACDE-7CBBD0D28C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508392A3-6C1A-446E-B6DE-5A5FA69D2837}"/>
              </a:ext>
            </a:extLst>
          </p:cNvPr>
          <p:cNvPicPr>
            <a:picLocks noChangeAspect="1"/>
          </p:cNvPicPr>
          <p:nvPr/>
        </p:nvPicPr>
        <p:blipFill>
          <a:blip r:embed="rId7"/>
          <a:stretch>
            <a:fillRect/>
          </a:stretch>
        </p:blipFill>
        <p:spPr>
          <a:xfrm>
            <a:off x="5557019" y="3318936"/>
            <a:ext cx="3606850" cy="1779054"/>
          </a:xfrm>
          <a:prstGeom prst="rect">
            <a:avLst/>
          </a:prstGeom>
        </p:spPr>
      </p:pic>
    </p:spTree>
    <p:extLst>
      <p:ext uri="{BB962C8B-B14F-4D97-AF65-F5344CB8AC3E}">
        <p14:creationId xmlns:p14="http://schemas.microsoft.com/office/powerpoint/2010/main" val="1527952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slide(fromBottom)">
                                      <p:cBhvr>
                                        <p:cTn id="7" dur="500"/>
                                        <p:tgtEl>
                                          <p:spTgt spid="45058"/>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45066"/>
                                        </p:tgtEl>
                                        <p:attrNameLst>
                                          <p:attrName>style.visibility</p:attrName>
                                        </p:attrNameLst>
                                      </p:cBhvr>
                                      <p:to>
                                        <p:strVal val="visible"/>
                                      </p:to>
                                    </p:set>
                                  </p:childTnLst>
                                </p:cTn>
                              </p:par>
                            </p:childTnLst>
                          </p:cTn>
                        </p:par>
                        <p:par>
                          <p:cTn id="12" fill="hold" nodeType="afterGroup">
                            <p:stCondLst>
                              <p:cond delay="500"/>
                            </p:stCondLst>
                            <p:childTnLst>
                              <p:par>
                                <p:cTn id="13" presetID="1" presetClass="entr" presetSubtype="0" fill="hold" grpId="0" nodeType="afterEffect">
                                  <p:stCondLst>
                                    <p:cond delay="0"/>
                                  </p:stCondLst>
                                  <p:childTnLst>
                                    <p:set>
                                      <p:cBhvr>
                                        <p:cTn id="14" dur="1" fill="hold">
                                          <p:stCondLst>
                                            <p:cond delay="499"/>
                                          </p:stCondLst>
                                        </p:cTn>
                                        <p:tgtEl>
                                          <p:spTgt spid="45064"/>
                                        </p:tgtEl>
                                        <p:attrNameLst>
                                          <p:attrName>style.visibility</p:attrName>
                                        </p:attrNameLst>
                                      </p:cBhvr>
                                      <p:to>
                                        <p:strVal val="visible"/>
                                      </p:to>
                                    </p:set>
                                  </p:childTnLst>
                                </p:cTn>
                              </p:par>
                            </p:childTnLst>
                          </p:cTn>
                        </p:par>
                        <p:par>
                          <p:cTn id="15" fill="hold" nodeType="afterGroup">
                            <p:stCondLst>
                              <p:cond delay="1000"/>
                            </p:stCondLst>
                            <p:childTnLst>
                              <p:par>
                                <p:cTn id="16" presetID="2" presetClass="entr" presetSubtype="8" fill="hold" nodeType="afterEffect">
                                  <p:stCondLst>
                                    <p:cond delay="0"/>
                                  </p:stCondLst>
                                  <p:childTnLst>
                                    <p:set>
                                      <p:cBhvr>
                                        <p:cTn id="17" dur="1" fill="hold">
                                          <p:stCondLst>
                                            <p:cond delay="0"/>
                                          </p:stCondLst>
                                        </p:cTn>
                                        <p:tgtEl>
                                          <p:spTgt spid="45060"/>
                                        </p:tgtEl>
                                        <p:attrNameLst>
                                          <p:attrName>style.visibility</p:attrName>
                                        </p:attrNameLst>
                                      </p:cBhvr>
                                      <p:to>
                                        <p:strVal val="visible"/>
                                      </p:to>
                                    </p:set>
                                    <p:anim calcmode="lin" valueType="num">
                                      <p:cBhvr additive="base">
                                        <p:cTn id="18" dur="500" fill="hold"/>
                                        <p:tgtEl>
                                          <p:spTgt spid="45060"/>
                                        </p:tgtEl>
                                        <p:attrNameLst>
                                          <p:attrName>ppt_x</p:attrName>
                                        </p:attrNameLst>
                                      </p:cBhvr>
                                      <p:tavLst>
                                        <p:tav tm="0">
                                          <p:val>
                                            <p:strVal val="0-#ppt_w/2"/>
                                          </p:val>
                                        </p:tav>
                                        <p:tav tm="100000">
                                          <p:val>
                                            <p:strVal val="#ppt_x"/>
                                          </p:val>
                                        </p:tav>
                                      </p:tavLst>
                                    </p:anim>
                                    <p:anim calcmode="lin" valueType="num">
                                      <p:cBhvr additive="base">
                                        <p:cTn id="19" dur="500" fill="hold"/>
                                        <p:tgtEl>
                                          <p:spTgt spid="45060"/>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500"/>
                            </p:stCondLst>
                            <p:childTnLst>
                              <p:par>
                                <p:cTn id="21" presetID="1" presetClass="entr" presetSubtype="0" fill="hold" grpId="0" nodeType="afterEffect">
                                  <p:stCondLst>
                                    <p:cond delay="0"/>
                                  </p:stCondLst>
                                  <p:childTnLst>
                                    <p:set>
                                      <p:cBhvr>
                                        <p:cTn id="22" dur="1" fill="hold">
                                          <p:stCondLst>
                                            <p:cond delay="499"/>
                                          </p:stCondLst>
                                        </p:cTn>
                                        <p:tgtEl>
                                          <p:spTgt spid="45065"/>
                                        </p:tgtEl>
                                        <p:attrNameLst>
                                          <p:attrName>style.visibility</p:attrName>
                                        </p:attrNameLst>
                                      </p:cBhvr>
                                      <p:to>
                                        <p:strVal val="visible"/>
                                      </p:to>
                                    </p:set>
                                  </p:childTnLst>
                                </p:cTn>
                              </p:par>
                            </p:childTnLst>
                          </p:cTn>
                        </p:par>
                        <p:par>
                          <p:cTn id="23" fill="hold" nodeType="afterGroup">
                            <p:stCondLst>
                              <p:cond delay="2000"/>
                            </p:stCondLst>
                            <p:childTnLst>
                              <p:par>
                                <p:cTn id="24" presetID="4" presetClass="entr" presetSubtype="32" fill="hold" grpId="0" nodeType="afterEffect">
                                  <p:stCondLst>
                                    <p:cond delay="0"/>
                                  </p:stCondLst>
                                  <p:childTnLst>
                                    <p:set>
                                      <p:cBhvr>
                                        <p:cTn id="25" dur="1" fill="hold">
                                          <p:stCondLst>
                                            <p:cond delay="0"/>
                                          </p:stCondLst>
                                        </p:cTn>
                                        <p:tgtEl>
                                          <p:spTgt spid="45059"/>
                                        </p:tgtEl>
                                        <p:attrNameLst>
                                          <p:attrName>style.visibility</p:attrName>
                                        </p:attrNameLst>
                                      </p:cBhvr>
                                      <p:to>
                                        <p:strVal val="visible"/>
                                      </p:to>
                                    </p:set>
                                    <p:animEffect transition="in" filter="box(out)">
                                      <p:cBhvr>
                                        <p:cTn id="26" dur="500"/>
                                        <p:tgtEl>
                                          <p:spTgt spid="45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autoUpdateAnimBg="0"/>
      <p:bldP spid="45059" grpId="0" autoUpdateAnimBg="0"/>
      <p:bldP spid="45064" grpId="0" animBg="1" autoUpdateAnimBg="0"/>
      <p:bldP spid="45065" grpId="0" animBg="1" autoUpdateAnimBg="0"/>
      <p:bldP spid="45066"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0">
            <a:extLst>
              <a:ext uri="{FF2B5EF4-FFF2-40B4-BE49-F238E27FC236}">
                <a16:creationId xmlns:a16="http://schemas.microsoft.com/office/drawing/2014/main" id="{42DFDF4B-5FAE-42EB-8C4E-E5D65AAA5E35}"/>
              </a:ext>
            </a:extLst>
          </p:cNvPr>
          <p:cNvSpPr txBox="1">
            <a:spLocks noChangeArrowheads="1"/>
          </p:cNvSpPr>
          <p:nvPr/>
        </p:nvSpPr>
        <p:spPr bwMode="auto">
          <a:xfrm>
            <a:off x="465564" y="440870"/>
            <a:ext cx="71805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4</a:t>
            </a:r>
            <a:r>
              <a:rPr lang="zh-CN" altLang="en-US" sz="2400" b="1" dirty="0">
                <a:solidFill>
                  <a:srgbClr val="000099"/>
                </a:solidFill>
                <a:latin typeface="Times New Roman" panose="02020603050405020304" pitchFamily="18" charset="0"/>
              </a:rPr>
              <a:t>． </a:t>
            </a:r>
            <a:r>
              <a:rPr lang="en-US" altLang="zh-CN" dirty="0">
                <a:solidFill>
                  <a:srgbClr val="000099"/>
                </a:solidFill>
                <a:latin typeface="Times New Roman" panose="02020603050405020304" pitchFamily="18" charset="0"/>
              </a:rPr>
              <a:t>Summarize the logic functions of the circuit.</a:t>
            </a:r>
            <a:endParaRPr lang="zh-CN" altLang="en-US" sz="2400" b="1" dirty="0">
              <a:solidFill>
                <a:srgbClr val="000099"/>
              </a:solidFill>
              <a:latin typeface="Times New Roman" panose="02020603050405020304" pitchFamily="18" charset="0"/>
            </a:endParaRPr>
          </a:p>
        </p:txBody>
      </p:sp>
      <p:sp>
        <p:nvSpPr>
          <p:cNvPr id="45059" name="Text Box 11">
            <a:extLst>
              <a:ext uri="{FF2B5EF4-FFF2-40B4-BE49-F238E27FC236}">
                <a16:creationId xmlns:a16="http://schemas.microsoft.com/office/drawing/2014/main" id="{E643E849-49B0-46A6-B76D-D46603C862F0}"/>
              </a:ext>
            </a:extLst>
          </p:cNvPr>
          <p:cNvSpPr txBox="1">
            <a:spLocks noChangeArrowheads="1"/>
          </p:cNvSpPr>
          <p:nvPr/>
        </p:nvSpPr>
        <p:spPr bwMode="auto">
          <a:xfrm>
            <a:off x="-898525" y="2868613"/>
            <a:ext cx="85344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Clock ticks</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3</a:t>
            </a:r>
            <a:r>
              <a:rPr lang="zh-CN" altLang="en-US" sz="2400" dirty="0">
                <a:latin typeface="Times New Roman" panose="02020603050405020304" pitchFamily="18" charset="0"/>
              </a:rPr>
              <a:t>　</a:t>
            </a:r>
            <a:r>
              <a:rPr lang="en-US" altLang="zh-CN" sz="2400" dirty="0">
                <a:latin typeface="Times New Roman" panose="02020603050405020304" pitchFamily="18" charset="0"/>
              </a:rPr>
              <a:t>4</a:t>
            </a:r>
            <a:r>
              <a:rPr lang="zh-CN" altLang="en-US" sz="2400" dirty="0">
                <a:latin typeface="Times New Roman" panose="02020603050405020304" pitchFamily="18" charset="0"/>
              </a:rPr>
              <a:t>　</a:t>
            </a:r>
            <a:r>
              <a:rPr lang="en-US" altLang="zh-CN" sz="2400" dirty="0">
                <a:latin typeface="Times New Roman" panose="02020603050405020304" pitchFamily="18" charset="0"/>
              </a:rPr>
              <a:t>5</a:t>
            </a:r>
            <a:r>
              <a:rPr lang="zh-CN" altLang="en-US" sz="2400" dirty="0">
                <a:latin typeface="Times New Roman" panose="02020603050405020304" pitchFamily="18" charset="0"/>
              </a:rPr>
              <a:t>　</a:t>
            </a:r>
            <a:r>
              <a:rPr lang="en-US" altLang="zh-CN" sz="2400" dirty="0">
                <a:latin typeface="Times New Roman" panose="02020603050405020304" pitchFamily="18" charset="0"/>
              </a:rPr>
              <a:t>6</a:t>
            </a:r>
            <a:r>
              <a:rPr lang="zh-CN" altLang="en-US" sz="2400" dirty="0">
                <a:latin typeface="Times New Roman" panose="02020603050405020304" pitchFamily="18" charset="0"/>
              </a:rPr>
              <a:t>　</a:t>
            </a:r>
            <a:r>
              <a:rPr lang="en-US" altLang="zh-CN" sz="2400" dirty="0">
                <a:latin typeface="Times New Roman" panose="02020603050405020304" pitchFamily="18" charset="0"/>
              </a:rPr>
              <a:t>7</a:t>
            </a:r>
            <a:r>
              <a:rPr lang="zh-CN" altLang="en-US" sz="2400" dirty="0">
                <a:latin typeface="Times New Roman" panose="02020603050405020304" pitchFamily="18" charset="0"/>
              </a:rPr>
              <a:t>　</a:t>
            </a:r>
            <a:r>
              <a:rPr lang="en-US" altLang="zh-CN" sz="2400" dirty="0">
                <a:latin typeface="Times New Roman" panose="02020603050405020304" pitchFamily="18" charset="0"/>
              </a:rPr>
              <a:t>8</a:t>
            </a:r>
          </a:p>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Input </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Input 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State y</a:t>
            </a:r>
            <a:r>
              <a:rPr lang="zh-CN" altLang="en-US" sz="2400" dirty="0">
                <a:latin typeface="Times New Roman" panose="02020603050405020304" pitchFamily="18" charset="0"/>
              </a:rPr>
              <a:t>：   “</a:t>
            </a:r>
            <a:r>
              <a:rPr lang="en-US" altLang="zh-CN" sz="2400" dirty="0">
                <a:latin typeface="Times New Roman" panose="02020603050405020304" pitchFamily="18" charset="0"/>
              </a:rPr>
              <a:t>0”  0</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Output Z </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r>
              <a:rPr lang="en-US" altLang="zh-CN" sz="2400" dirty="0">
                <a:latin typeface="Times New Roman" panose="02020603050405020304" pitchFamily="18" charset="0"/>
              </a:rPr>
              <a:t>1</a:t>
            </a:r>
          </a:p>
        </p:txBody>
      </p:sp>
      <p:grpSp>
        <p:nvGrpSpPr>
          <p:cNvPr id="45060" name="Group 4">
            <a:extLst>
              <a:ext uri="{FF2B5EF4-FFF2-40B4-BE49-F238E27FC236}">
                <a16:creationId xmlns:a16="http://schemas.microsoft.com/office/drawing/2014/main" id="{C32DDFAD-A235-4E1A-8579-44B36E017F71}"/>
              </a:ext>
            </a:extLst>
          </p:cNvPr>
          <p:cNvGrpSpPr>
            <a:grpSpLocks/>
          </p:cNvGrpSpPr>
          <p:nvPr/>
        </p:nvGrpSpPr>
        <p:grpSpPr bwMode="auto">
          <a:xfrm>
            <a:off x="2057400" y="4953000"/>
            <a:ext cx="4419600" cy="1633538"/>
            <a:chOff x="0" y="0"/>
            <a:chExt cx="2784" cy="1029"/>
          </a:xfrm>
        </p:grpSpPr>
        <p:pic>
          <p:nvPicPr>
            <p:cNvPr id="49163" name="Picture 14" descr="TU5-13">
              <a:extLst>
                <a:ext uri="{FF2B5EF4-FFF2-40B4-BE49-F238E27FC236}">
                  <a16:creationId xmlns:a16="http://schemas.microsoft.com/office/drawing/2014/main" id="{93CD80DA-997E-43CF-BE64-C9780B5C4229}"/>
                </a:ext>
              </a:extLst>
            </p:cNvPr>
            <p:cNvPicPr>
              <a:picLocks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0" y="0"/>
              <a:ext cx="2784" cy="1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4" name="Text Box 15">
              <a:extLst>
                <a:ext uri="{FF2B5EF4-FFF2-40B4-BE49-F238E27FC236}">
                  <a16:creationId xmlns:a16="http://schemas.microsoft.com/office/drawing/2014/main" id="{F165F97E-4958-4486-BD5E-D04FA5B80B90}"/>
                </a:ext>
              </a:extLst>
            </p:cNvPr>
            <p:cNvSpPr txBox="1">
              <a:spLocks noChangeArrowheads="1"/>
            </p:cNvSpPr>
            <p:nvPr/>
          </p:nvSpPr>
          <p:spPr bwMode="auto">
            <a:xfrm>
              <a:off x="720" y="43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49165" name="Text Box 16">
              <a:extLst>
                <a:ext uri="{FF2B5EF4-FFF2-40B4-BE49-F238E27FC236}">
                  <a16:creationId xmlns:a16="http://schemas.microsoft.com/office/drawing/2014/main" id="{04A8C4E0-51BC-4762-BE7D-3D02E6497762}"/>
                </a:ext>
              </a:extLst>
            </p:cNvPr>
            <p:cNvSpPr txBox="1">
              <a:spLocks noChangeArrowheads="1"/>
            </p:cNvSpPr>
            <p:nvPr/>
          </p:nvSpPr>
          <p:spPr bwMode="auto">
            <a:xfrm>
              <a:off x="1920" y="48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a:t>
              </a:r>
            </a:p>
          </p:txBody>
        </p:sp>
      </p:grpSp>
      <p:sp>
        <p:nvSpPr>
          <p:cNvPr id="45064" name="AutoShape 17">
            <a:extLst>
              <a:ext uri="{FF2B5EF4-FFF2-40B4-BE49-F238E27FC236}">
                <a16:creationId xmlns:a16="http://schemas.microsoft.com/office/drawing/2014/main" id="{B6DBF185-4139-4301-BA18-83E4293ACAA6}"/>
              </a:ext>
            </a:extLst>
          </p:cNvPr>
          <p:cNvSpPr>
            <a:spLocks noChangeArrowheads="1"/>
          </p:cNvSpPr>
          <p:nvPr/>
        </p:nvSpPr>
        <p:spPr bwMode="auto">
          <a:xfrm rot="5525326">
            <a:off x="7239000" y="2590800"/>
            <a:ext cx="990600" cy="838200"/>
          </a:xfrm>
          <a:prstGeom prst="curvedDownArrow">
            <a:avLst>
              <a:gd name="adj1" fmla="val 23636"/>
              <a:gd name="adj2" fmla="val 47273"/>
              <a:gd name="adj3" fmla="val 33333"/>
            </a:avLst>
          </a:prstGeom>
          <a:solidFill>
            <a:srgbClr val="00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45065" name="AutoShape 18">
            <a:extLst>
              <a:ext uri="{FF2B5EF4-FFF2-40B4-BE49-F238E27FC236}">
                <a16:creationId xmlns:a16="http://schemas.microsoft.com/office/drawing/2014/main" id="{BB0592A4-D37B-4B41-B5CF-CAD5C95B283D}"/>
              </a:ext>
            </a:extLst>
          </p:cNvPr>
          <p:cNvSpPr>
            <a:spLocks noChangeArrowheads="1"/>
          </p:cNvSpPr>
          <p:nvPr/>
        </p:nvSpPr>
        <p:spPr bwMode="auto">
          <a:xfrm rot="-9285051">
            <a:off x="6858000" y="5029200"/>
            <a:ext cx="762000" cy="914400"/>
          </a:xfrm>
          <a:prstGeom prst="curvedRightArrow">
            <a:avLst>
              <a:gd name="adj1" fmla="val 24000"/>
              <a:gd name="adj2" fmla="val 48000"/>
              <a:gd name="adj3" fmla="val 33333"/>
            </a:avLst>
          </a:prstGeom>
          <a:solidFill>
            <a:srgbClr val="00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45066" name="Text Box 19">
            <a:extLst>
              <a:ext uri="{FF2B5EF4-FFF2-40B4-BE49-F238E27FC236}">
                <a16:creationId xmlns:a16="http://schemas.microsoft.com/office/drawing/2014/main" id="{9759FDFA-DC7F-4838-96CF-0372888CDC78}"/>
              </a:ext>
            </a:extLst>
          </p:cNvPr>
          <p:cNvSpPr txBox="1">
            <a:spLocks noChangeArrowheads="1"/>
          </p:cNvSpPr>
          <p:nvPr/>
        </p:nvSpPr>
        <p:spPr bwMode="auto">
          <a:xfrm>
            <a:off x="47036" y="1023091"/>
            <a:ext cx="865968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2400" dirty="0">
                <a:latin typeface="Times New Roman" panose="02020603050405020304" pitchFamily="18" charset="0"/>
              </a:rPr>
              <a:t>Assume the initial state of the circuit is</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en-US" altLang="zh-CN" sz="2400" dirty="0">
                <a:latin typeface="Times New Roman" panose="02020603050405020304" pitchFamily="18" charset="0"/>
              </a:rPr>
              <a:t>Input array of 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is </a:t>
            </a:r>
            <a:r>
              <a:rPr lang="en-US" altLang="zh-CN" sz="2400" b="1" dirty="0">
                <a:solidFill>
                  <a:srgbClr val="CC3300"/>
                </a:solidFill>
                <a:latin typeface="Times New Roman" panose="02020603050405020304" pitchFamily="18" charset="0"/>
              </a:rPr>
              <a:t>00110110</a:t>
            </a:r>
            <a:r>
              <a:rPr lang="zh-CN" altLang="en-US" sz="2400" b="1" dirty="0">
                <a:solidFill>
                  <a:srgbClr val="CC3300"/>
                </a:solidFill>
                <a:latin typeface="Times New Roman" panose="02020603050405020304" pitchFamily="18" charset="0"/>
              </a:rPr>
              <a:t>，</a:t>
            </a:r>
            <a:r>
              <a:rPr lang="en-US" altLang="zh-CN" sz="2400" dirty="0">
                <a:latin typeface="Times New Roman" panose="02020603050405020304" pitchFamily="18" charset="0"/>
              </a:rPr>
              <a:t>input array of 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is </a:t>
            </a:r>
            <a:r>
              <a:rPr lang="en-US" altLang="zh-CN" sz="2400" b="1" dirty="0">
                <a:solidFill>
                  <a:srgbClr val="CC3300"/>
                </a:solidFill>
                <a:latin typeface="Times New Roman" panose="02020603050405020304" pitchFamily="18" charset="0"/>
              </a:rPr>
              <a:t>01011100. </a:t>
            </a:r>
            <a:r>
              <a:rPr lang="en-US" altLang="zh-CN" dirty="0">
                <a:latin typeface="Times New Roman" panose="02020603050405020304" pitchFamily="18" charset="0"/>
              </a:rPr>
              <a:t>According to the state diagram, the output and state response sequence of the circuit can be as follows:</a:t>
            </a:r>
            <a:endParaRPr lang="en-US" altLang="zh-CN" sz="2400" b="1" dirty="0">
              <a:latin typeface="Times New Roman" panose="02020603050405020304" pitchFamily="18" charset="0"/>
            </a:endParaRPr>
          </a:p>
        </p:txBody>
      </p:sp>
      <p:pic>
        <p:nvPicPr>
          <p:cNvPr id="49160" name="Picture 21" descr="Right_Green">
            <a:hlinkClick r:id="" action="ppaction://hlinkshowjump?jump=nextslide"/>
            <a:extLst>
              <a:ext uri="{FF2B5EF4-FFF2-40B4-BE49-F238E27FC236}">
                <a16:creationId xmlns:a16="http://schemas.microsoft.com/office/drawing/2014/main" id="{1E9B8391-83F2-4320-A106-C771818F1C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1" name="Picture 22" descr="Left_Green">
            <a:hlinkClick r:id="" action="ppaction://hlinkshowjump?jump=previousslide"/>
            <a:extLst>
              <a:ext uri="{FF2B5EF4-FFF2-40B4-BE49-F238E27FC236}">
                <a16:creationId xmlns:a16="http://schemas.microsoft.com/office/drawing/2014/main" id="{31A48351-3220-4E1B-ACDE-7CBBD0D28C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508392A3-6C1A-446E-B6DE-5A5FA69D2837}"/>
              </a:ext>
            </a:extLst>
          </p:cNvPr>
          <p:cNvPicPr>
            <a:picLocks noChangeAspect="1"/>
          </p:cNvPicPr>
          <p:nvPr/>
        </p:nvPicPr>
        <p:blipFill>
          <a:blip r:embed="rId7"/>
          <a:stretch>
            <a:fillRect/>
          </a:stretch>
        </p:blipFill>
        <p:spPr>
          <a:xfrm>
            <a:off x="5557019" y="3318936"/>
            <a:ext cx="3606850" cy="1779054"/>
          </a:xfrm>
          <a:prstGeom prst="rect">
            <a:avLst/>
          </a:prstGeom>
        </p:spPr>
      </p:pic>
    </p:spTree>
    <p:extLst>
      <p:ext uri="{BB962C8B-B14F-4D97-AF65-F5344CB8AC3E}">
        <p14:creationId xmlns:p14="http://schemas.microsoft.com/office/powerpoint/2010/main" val="30970227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slide(fromBottom)">
                                      <p:cBhvr>
                                        <p:cTn id="7" dur="500"/>
                                        <p:tgtEl>
                                          <p:spTgt spid="45058"/>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45066"/>
                                        </p:tgtEl>
                                        <p:attrNameLst>
                                          <p:attrName>style.visibility</p:attrName>
                                        </p:attrNameLst>
                                      </p:cBhvr>
                                      <p:to>
                                        <p:strVal val="visible"/>
                                      </p:to>
                                    </p:set>
                                  </p:childTnLst>
                                </p:cTn>
                              </p:par>
                            </p:childTnLst>
                          </p:cTn>
                        </p:par>
                        <p:par>
                          <p:cTn id="12" fill="hold" nodeType="afterGroup">
                            <p:stCondLst>
                              <p:cond delay="500"/>
                            </p:stCondLst>
                            <p:childTnLst>
                              <p:par>
                                <p:cTn id="13" presetID="1" presetClass="entr" presetSubtype="0" fill="hold" grpId="0" nodeType="afterEffect">
                                  <p:stCondLst>
                                    <p:cond delay="0"/>
                                  </p:stCondLst>
                                  <p:childTnLst>
                                    <p:set>
                                      <p:cBhvr>
                                        <p:cTn id="14" dur="1" fill="hold">
                                          <p:stCondLst>
                                            <p:cond delay="499"/>
                                          </p:stCondLst>
                                        </p:cTn>
                                        <p:tgtEl>
                                          <p:spTgt spid="45064"/>
                                        </p:tgtEl>
                                        <p:attrNameLst>
                                          <p:attrName>style.visibility</p:attrName>
                                        </p:attrNameLst>
                                      </p:cBhvr>
                                      <p:to>
                                        <p:strVal val="visible"/>
                                      </p:to>
                                    </p:set>
                                  </p:childTnLst>
                                </p:cTn>
                              </p:par>
                            </p:childTnLst>
                          </p:cTn>
                        </p:par>
                        <p:par>
                          <p:cTn id="15" fill="hold" nodeType="afterGroup">
                            <p:stCondLst>
                              <p:cond delay="1000"/>
                            </p:stCondLst>
                            <p:childTnLst>
                              <p:par>
                                <p:cTn id="16" presetID="2" presetClass="entr" presetSubtype="8" fill="hold" nodeType="afterEffect">
                                  <p:stCondLst>
                                    <p:cond delay="0"/>
                                  </p:stCondLst>
                                  <p:childTnLst>
                                    <p:set>
                                      <p:cBhvr>
                                        <p:cTn id="17" dur="1" fill="hold">
                                          <p:stCondLst>
                                            <p:cond delay="0"/>
                                          </p:stCondLst>
                                        </p:cTn>
                                        <p:tgtEl>
                                          <p:spTgt spid="45060"/>
                                        </p:tgtEl>
                                        <p:attrNameLst>
                                          <p:attrName>style.visibility</p:attrName>
                                        </p:attrNameLst>
                                      </p:cBhvr>
                                      <p:to>
                                        <p:strVal val="visible"/>
                                      </p:to>
                                    </p:set>
                                    <p:anim calcmode="lin" valueType="num">
                                      <p:cBhvr additive="base">
                                        <p:cTn id="18" dur="500" fill="hold"/>
                                        <p:tgtEl>
                                          <p:spTgt spid="45060"/>
                                        </p:tgtEl>
                                        <p:attrNameLst>
                                          <p:attrName>ppt_x</p:attrName>
                                        </p:attrNameLst>
                                      </p:cBhvr>
                                      <p:tavLst>
                                        <p:tav tm="0">
                                          <p:val>
                                            <p:strVal val="0-#ppt_w/2"/>
                                          </p:val>
                                        </p:tav>
                                        <p:tav tm="100000">
                                          <p:val>
                                            <p:strVal val="#ppt_x"/>
                                          </p:val>
                                        </p:tav>
                                      </p:tavLst>
                                    </p:anim>
                                    <p:anim calcmode="lin" valueType="num">
                                      <p:cBhvr additive="base">
                                        <p:cTn id="19" dur="500" fill="hold"/>
                                        <p:tgtEl>
                                          <p:spTgt spid="45060"/>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500"/>
                            </p:stCondLst>
                            <p:childTnLst>
                              <p:par>
                                <p:cTn id="21" presetID="1" presetClass="entr" presetSubtype="0" fill="hold" grpId="0" nodeType="afterEffect">
                                  <p:stCondLst>
                                    <p:cond delay="0"/>
                                  </p:stCondLst>
                                  <p:childTnLst>
                                    <p:set>
                                      <p:cBhvr>
                                        <p:cTn id="22" dur="1" fill="hold">
                                          <p:stCondLst>
                                            <p:cond delay="499"/>
                                          </p:stCondLst>
                                        </p:cTn>
                                        <p:tgtEl>
                                          <p:spTgt spid="45065"/>
                                        </p:tgtEl>
                                        <p:attrNameLst>
                                          <p:attrName>style.visibility</p:attrName>
                                        </p:attrNameLst>
                                      </p:cBhvr>
                                      <p:to>
                                        <p:strVal val="visible"/>
                                      </p:to>
                                    </p:set>
                                  </p:childTnLst>
                                </p:cTn>
                              </p:par>
                            </p:childTnLst>
                          </p:cTn>
                        </p:par>
                        <p:par>
                          <p:cTn id="23" fill="hold" nodeType="afterGroup">
                            <p:stCondLst>
                              <p:cond delay="2000"/>
                            </p:stCondLst>
                            <p:childTnLst>
                              <p:par>
                                <p:cTn id="24" presetID="4" presetClass="entr" presetSubtype="32" fill="hold" grpId="0" nodeType="afterEffect">
                                  <p:stCondLst>
                                    <p:cond delay="0"/>
                                  </p:stCondLst>
                                  <p:childTnLst>
                                    <p:set>
                                      <p:cBhvr>
                                        <p:cTn id="25" dur="1" fill="hold">
                                          <p:stCondLst>
                                            <p:cond delay="0"/>
                                          </p:stCondLst>
                                        </p:cTn>
                                        <p:tgtEl>
                                          <p:spTgt spid="45059"/>
                                        </p:tgtEl>
                                        <p:attrNameLst>
                                          <p:attrName>style.visibility</p:attrName>
                                        </p:attrNameLst>
                                      </p:cBhvr>
                                      <p:to>
                                        <p:strVal val="visible"/>
                                      </p:to>
                                    </p:set>
                                    <p:animEffect transition="in" filter="box(out)">
                                      <p:cBhvr>
                                        <p:cTn id="26" dur="500"/>
                                        <p:tgtEl>
                                          <p:spTgt spid="45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autoUpdateAnimBg="0"/>
      <p:bldP spid="45059" grpId="0" autoUpdateAnimBg="0"/>
      <p:bldP spid="45064" grpId="0" animBg="1" autoUpdateAnimBg="0"/>
      <p:bldP spid="45065" grpId="0" animBg="1" autoUpdateAnimBg="0"/>
      <p:bldP spid="4506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9">
            <a:extLst>
              <a:ext uri="{FF2B5EF4-FFF2-40B4-BE49-F238E27FC236}">
                <a16:creationId xmlns:a16="http://schemas.microsoft.com/office/drawing/2014/main" id="{778FEF5F-D8C4-41FE-94ED-E0E5622EC571}"/>
              </a:ext>
            </a:extLst>
          </p:cNvPr>
          <p:cNvSpPr txBox="1">
            <a:spLocks noChangeArrowheads="1"/>
          </p:cNvSpPr>
          <p:nvPr/>
        </p:nvSpPr>
        <p:spPr bwMode="auto">
          <a:xfrm>
            <a:off x="323528" y="75084"/>
            <a:ext cx="5943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According to the state response sequence, a timing diagram can be made as follows</a:t>
            </a:r>
            <a:r>
              <a:rPr lang="zh-CN" altLang="en-US" sz="2400" dirty="0">
                <a:latin typeface="Times New Roman" panose="02020603050405020304" pitchFamily="18" charset="0"/>
              </a:rPr>
              <a:t>：</a:t>
            </a:r>
          </a:p>
        </p:txBody>
      </p:sp>
      <p:sp>
        <p:nvSpPr>
          <p:cNvPr id="46084" name="Text Box 10">
            <a:extLst>
              <a:ext uri="{FF2B5EF4-FFF2-40B4-BE49-F238E27FC236}">
                <a16:creationId xmlns:a16="http://schemas.microsoft.com/office/drawing/2014/main" id="{BB2B8751-B0CD-4503-BF98-6A6B6FBB5599}"/>
              </a:ext>
            </a:extLst>
          </p:cNvPr>
          <p:cNvSpPr txBox="1">
            <a:spLocks noChangeArrowheads="1"/>
          </p:cNvSpPr>
          <p:nvPr/>
        </p:nvSpPr>
        <p:spPr bwMode="auto">
          <a:xfrm>
            <a:off x="179388" y="4221163"/>
            <a:ext cx="8763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Analysis of the timing diagram shows that the circuit implements the function of serial adder, where </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is the summand</a:t>
            </a:r>
            <a:r>
              <a:rPr lang="zh-CN" altLang="en-US" sz="2400" dirty="0">
                <a:latin typeface="Times New Roman" panose="02020603050405020304" pitchFamily="18" charset="0"/>
              </a:rPr>
              <a:t>，</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is the addend</a:t>
            </a:r>
            <a:r>
              <a:rPr lang="zh-CN" altLang="en-US" sz="2400" dirty="0">
                <a:latin typeface="Times New Roman" panose="02020603050405020304" pitchFamily="18" charset="0"/>
              </a:rPr>
              <a:t>，</a:t>
            </a:r>
            <a:r>
              <a:rPr lang="en-US" altLang="zh-CN" dirty="0">
                <a:latin typeface="Times New Roman" panose="02020603050405020304" pitchFamily="18" charset="0"/>
              </a:rPr>
              <a:t>They are input sequentially in the order of from low position to high position. The carry generated by each addition is saved by the flip-flop to participate in the next addition, and the output Z outputs serial numbers from low to high.</a:t>
            </a:r>
            <a:endParaRPr lang="zh-CN" altLang="en-US" sz="2400" dirty="0">
              <a:latin typeface="Times New Roman" panose="02020603050405020304" pitchFamily="18" charset="0"/>
            </a:endParaRPr>
          </a:p>
        </p:txBody>
      </p:sp>
      <p:sp>
        <p:nvSpPr>
          <p:cNvPr id="46086" name="AutoShape 12">
            <a:extLst>
              <a:ext uri="{FF2B5EF4-FFF2-40B4-BE49-F238E27FC236}">
                <a16:creationId xmlns:a16="http://schemas.microsoft.com/office/drawing/2014/main" id="{513C1685-0A2B-45B0-ACB6-6CD1A430C5CD}"/>
              </a:ext>
            </a:extLst>
          </p:cNvPr>
          <p:cNvSpPr>
            <a:spLocks/>
          </p:cNvSpPr>
          <p:nvPr/>
        </p:nvSpPr>
        <p:spPr bwMode="auto">
          <a:xfrm rot="5395979">
            <a:off x="3352800" y="3200400"/>
            <a:ext cx="609600" cy="4572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w 21600"/>
              <a:gd name="T9" fmla="*/ 2147483646 h 21600"/>
              <a:gd name="T10" fmla="*/ 0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600"/>
              <a:gd name="T31" fmla="*/ 14400 h 21600"/>
              <a:gd name="T32" fmla="*/ 18514 w 21600"/>
              <a:gd name="T33" fmla="*/ 216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00CCFF"/>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0183" name="Picture 13" descr="Right_Green">
            <a:hlinkClick r:id="" action="ppaction://hlinkshowjump?jump=nextslide"/>
            <a:extLst>
              <a:ext uri="{FF2B5EF4-FFF2-40B4-BE49-F238E27FC236}">
                <a16:creationId xmlns:a16="http://schemas.microsoft.com/office/drawing/2014/main" id="{4D60E972-7E1B-4691-AEE1-BF9F627D77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Picture 14" descr="Left_Green">
            <a:hlinkClick r:id="" action="ppaction://hlinkshowjump?jump=previousslide"/>
            <a:extLst>
              <a:ext uri="{FF2B5EF4-FFF2-40B4-BE49-F238E27FC236}">
                <a16:creationId xmlns:a16="http://schemas.microsoft.com/office/drawing/2014/main" id="{9CB8FBE1-D5E3-477D-ABAE-FB81546D52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37B97841-1BCD-4F52-8206-869F2AC1BC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395031"/>
            <a:ext cx="4176893" cy="1619250"/>
          </a:xfrm>
          <a:prstGeom prst="rect">
            <a:avLst/>
          </a:prstGeom>
        </p:spPr>
      </p:pic>
      <p:pic>
        <p:nvPicPr>
          <p:cNvPr id="4" name="图片 3">
            <a:extLst>
              <a:ext uri="{FF2B5EF4-FFF2-40B4-BE49-F238E27FC236}">
                <a16:creationId xmlns:a16="http://schemas.microsoft.com/office/drawing/2014/main" id="{98F55123-485B-48F1-8CF8-A660F292D0E4}"/>
              </a:ext>
            </a:extLst>
          </p:cNvPr>
          <p:cNvPicPr>
            <a:picLocks noChangeAspect="1"/>
          </p:cNvPicPr>
          <p:nvPr/>
        </p:nvPicPr>
        <p:blipFill>
          <a:blip r:embed="rId7"/>
          <a:stretch>
            <a:fillRect/>
          </a:stretch>
        </p:blipFill>
        <p:spPr>
          <a:xfrm>
            <a:off x="4207966" y="951752"/>
            <a:ext cx="4952410" cy="2665970"/>
          </a:xfrm>
          <a:prstGeom prst="rect">
            <a:avLst/>
          </a:prstGeom>
        </p:spPr>
      </p:pic>
    </p:spTree>
    <p:extLst>
      <p:ext uri="{BB962C8B-B14F-4D97-AF65-F5344CB8AC3E}">
        <p14:creationId xmlns:p14="http://schemas.microsoft.com/office/powerpoint/2010/main" val="30846075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6083"/>
                                        </p:tgtEl>
                                        <p:attrNameLst>
                                          <p:attrName>style.visibility</p:attrName>
                                        </p:attrNameLst>
                                      </p:cBhvr>
                                      <p:to>
                                        <p:strVal val="visible"/>
                                      </p:to>
                                    </p:set>
                                    <p:animEffect transition="in" filter="slide(fromBottom)">
                                      <p:cBhvr>
                                        <p:cTn id="7" dur="500"/>
                                        <p:tgtEl>
                                          <p:spTgt spid="46083"/>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4608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ntr" presetSubtype="42" fill="hold" grpId="0" nodeType="clickEffect">
                                  <p:stCondLst>
                                    <p:cond delay="0"/>
                                  </p:stCondLst>
                                  <p:childTnLst>
                                    <p:set>
                                      <p:cBhvr>
                                        <p:cTn id="14" dur="1" fill="hold">
                                          <p:stCondLst>
                                            <p:cond delay="0"/>
                                          </p:stCondLst>
                                        </p:cTn>
                                        <p:tgtEl>
                                          <p:spTgt spid="46084"/>
                                        </p:tgtEl>
                                        <p:attrNameLst>
                                          <p:attrName>style.visibility</p:attrName>
                                        </p:attrNameLst>
                                      </p:cBhvr>
                                      <p:to>
                                        <p:strVal val="visible"/>
                                      </p:to>
                                    </p:set>
                                    <p:animEffect transition="in" filter="barn(outHorizontal)">
                                      <p:cBhvr>
                                        <p:cTn id="15" dur="500"/>
                                        <p:tgtEl>
                                          <p:spTgt spid="46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autoUpdateAnimBg="0"/>
      <p:bldP spid="4608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8">
            <a:extLst>
              <a:ext uri="{FF2B5EF4-FFF2-40B4-BE49-F238E27FC236}">
                <a16:creationId xmlns:a16="http://schemas.microsoft.com/office/drawing/2014/main" id="{0118B0EB-CF7F-462F-92DB-1BA28A272A66}"/>
              </a:ext>
            </a:extLst>
          </p:cNvPr>
          <p:cNvSpPr>
            <a:spLocks noChangeArrowheads="1"/>
          </p:cNvSpPr>
          <p:nvPr/>
        </p:nvSpPr>
        <p:spPr bwMode="auto">
          <a:xfrm>
            <a:off x="163495" y="684938"/>
            <a:ext cx="887890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rgbClr val="990000"/>
                </a:solidFill>
                <a:latin typeface="Times New Roman" panose="02020603050405020304" pitchFamily="18" charset="0"/>
              </a:rPr>
              <a:t>5.3  </a:t>
            </a:r>
            <a:r>
              <a:rPr lang="en-US" altLang="zh-CN" sz="3200" dirty="0">
                <a:solidFill>
                  <a:srgbClr val="990000"/>
                </a:solidFill>
                <a:latin typeface="Times New Roman" panose="02020603050405020304" pitchFamily="18" charset="0"/>
              </a:rPr>
              <a:t>Design of synchronous sequential logic circuit</a:t>
            </a:r>
            <a:endParaRPr lang="zh-CN" altLang="en-US" sz="3200" b="1" dirty="0">
              <a:latin typeface="Times New Roman" panose="02020603050405020304" pitchFamily="18" charset="0"/>
            </a:endParaRPr>
          </a:p>
        </p:txBody>
      </p:sp>
      <p:sp>
        <p:nvSpPr>
          <p:cNvPr id="47107" name="Text Box 9">
            <a:extLst>
              <a:ext uri="{FF2B5EF4-FFF2-40B4-BE49-F238E27FC236}">
                <a16:creationId xmlns:a16="http://schemas.microsoft.com/office/drawing/2014/main" id="{409FB4A3-572C-4AFA-BB34-AAFD95F39070}"/>
              </a:ext>
            </a:extLst>
          </p:cNvPr>
          <p:cNvSpPr txBox="1">
            <a:spLocks noChangeArrowheads="1"/>
          </p:cNvSpPr>
          <p:nvPr/>
        </p:nvSpPr>
        <p:spPr bwMode="auto">
          <a:xfrm>
            <a:off x="197023" y="1325940"/>
            <a:ext cx="85502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chemeClr val="tx2"/>
                </a:solidFill>
                <a:latin typeface="Times New Roman" panose="02020603050405020304" pitchFamily="18" charset="0"/>
              </a:rPr>
              <a:t>The design of the synchronous sequential logic circuit is to design a sequential logic circuit that can realize its logic function according to specific logic requirements. Obviously, design is the inverse of the analysis, i.e.:</a:t>
            </a:r>
            <a:endParaRPr lang="zh-CN" altLang="en-US" sz="2400" dirty="0">
              <a:solidFill>
                <a:schemeClr val="tx2"/>
              </a:solidFill>
              <a:latin typeface="Times New Roman" panose="02020603050405020304" pitchFamily="18" charset="0"/>
            </a:endParaRPr>
          </a:p>
        </p:txBody>
      </p:sp>
      <p:sp>
        <p:nvSpPr>
          <p:cNvPr id="47108" name="Text Box 10">
            <a:extLst>
              <a:ext uri="{FF2B5EF4-FFF2-40B4-BE49-F238E27FC236}">
                <a16:creationId xmlns:a16="http://schemas.microsoft.com/office/drawing/2014/main" id="{1AAC5453-9728-4AD8-93D8-E2627922B370}"/>
              </a:ext>
            </a:extLst>
          </p:cNvPr>
          <p:cNvSpPr txBox="1">
            <a:spLocks noChangeArrowheads="1"/>
          </p:cNvSpPr>
          <p:nvPr/>
        </p:nvSpPr>
        <p:spPr bwMode="auto">
          <a:xfrm>
            <a:off x="533400" y="5257800"/>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chemeClr val="tx2"/>
                </a:solidFill>
                <a:latin typeface="Times New Roman" panose="02020603050405020304" pitchFamily="18" charset="0"/>
              </a:rPr>
              <a:t>The goal of synchronous sequential logic circuit design is to achieve the predetermined logic requirements with as few flip-flops and logic gates as possible!</a:t>
            </a:r>
            <a:endParaRPr lang="zh-CN" altLang="en-US" sz="2400" b="1" dirty="0">
              <a:solidFill>
                <a:srgbClr val="CC3300"/>
              </a:solidFill>
              <a:latin typeface="Times New Roman" panose="02020603050405020304" pitchFamily="18" charset="0"/>
            </a:endParaRPr>
          </a:p>
        </p:txBody>
      </p:sp>
      <p:grpSp>
        <p:nvGrpSpPr>
          <p:cNvPr id="47109" name="Group 5">
            <a:extLst>
              <a:ext uri="{FF2B5EF4-FFF2-40B4-BE49-F238E27FC236}">
                <a16:creationId xmlns:a16="http://schemas.microsoft.com/office/drawing/2014/main" id="{F4E4D3E6-1508-48B7-8EC3-112ECC36FBD5}"/>
              </a:ext>
            </a:extLst>
          </p:cNvPr>
          <p:cNvGrpSpPr>
            <a:grpSpLocks/>
          </p:cNvGrpSpPr>
          <p:nvPr/>
        </p:nvGrpSpPr>
        <p:grpSpPr bwMode="auto">
          <a:xfrm>
            <a:off x="1600200" y="3124200"/>
            <a:ext cx="5638801" cy="1528763"/>
            <a:chOff x="0" y="0"/>
            <a:chExt cx="3552" cy="963"/>
          </a:xfrm>
        </p:grpSpPr>
        <p:sp>
          <p:nvSpPr>
            <p:cNvPr id="51208" name="Text Box 12">
              <a:extLst>
                <a:ext uri="{FF2B5EF4-FFF2-40B4-BE49-F238E27FC236}">
                  <a16:creationId xmlns:a16="http://schemas.microsoft.com/office/drawing/2014/main" id="{5A534F55-7419-4FD5-B59C-71D059D00A44}"/>
                </a:ext>
              </a:extLst>
            </p:cNvPr>
            <p:cNvSpPr txBox="1">
              <a:spLocks noChangeArrowheads="1"/>
            </p:cNvSpPr>
            <p:nvPr/>
          </p:nvSpPr>
          <p:spPr bwMode="auto">
            <a:xfrm>
              <a:off x="254" y="240"/>
              <a:ext cx="739"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000099"/>
                  </a:solidFill>
                  <a:latin typeface="Times New Roman" panose="02020603050405020304" pitchFamily="18" charset="0"/>
                </a:rPr>
                <a:t>Logic </a:t>
              </a:r>
            </a:p>
            <a:p>
              <a:pPr eaLnBrk="1" hangingPunct="1"/>
              <a:r>
                <a:rPr lang="en-US" altLang="zh-CN" sz="2800" b="1" dirty="0">
                  <a:solidFill>
                    <a:srgbClr val="000099"/>
                  </a:solidFill>
                  <a:latin typeface="Times New Roman" panose="02020603050405020304" pitchFamily="18" charset="0"/>
                </a:rPr>
                <a:t>circuit</a:t>
              </a:r>
              <a:endParaRPr lang="zh-CN" altLang="en-US" sz="2800" b="1" dirty="0">
                <a:solidFill>
                  <a:srgbClr val="000099"/>
                </a:solidFill>
                <a:latin typeface="Times New Roman" panose="02020603050405020304" pitchFamily="18" charset="0"/>
              </a:endParaRPr>
            </a:p>
          </p:txBody>
        </p:sp>
        <p:sp>
          <p:nvSpPr>
            <p:cNvPr id="51209" name="Text Box 13">
              <a:extLst>
                <a:ext uri="{FF2B5EF4-FFF2-40B4-BE49-F238E27FC236}">
                  <a16:creationId xmlns:a16="http://schemas.microsoft.com/office/drawing/2014/main" id="{95E1272D-6F6E-41FA-99A2-AAB7883FEAF0}"/>
                </a:ext>
              </a:extLst>
            </p:cNvPr>
            <p:cNvSpPr txBox="1">
              <a:spLocks noChangeArrowheads="1"/>
            </p:cNvSpPr>
            <p:nvPr/>
          </p:nvSpPr>
          <p:spPr bwMode="auto">
            <a:xfrm>
              <a:off x="2434" y="227"/>
              <a:ext cx="1074"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000099"/>
                  </a:solidFill>
                  <a:latin typeface="Times New Roman" panose="02020603050405020304" pitchFamily="18" charset="0"/>
                </a:rPr>
                <a:t>Logic</a:t>
              </a:r>
              <a:r>
                <a:rPr lang="zh-CN" altLang="en-US" sz="2800" dirty="0">
                  <a:solidFill>
                    <a:srgbClr val="000099"/>
                  </a:solidFill>
                  <a:latin typeface="Times New Roman" panose="02020603050405020304" pitchFamily="18" charset="0"/>
                </a:rPr>
                <a:t> </a:t>
              </a:r>
              <a:r>
                <a:rPr lang="en-US" altLang="zh-CN" sz="2800" dirty="0">
                  <a:solidFill>
                    <a:srgbClr val="000099"/>
                  </a:solidFill>
                  <a:latin typeface="Times New Roman" panose="02020603050405020304" pitchFamily="18" charset="0"/>
                </a:rPr>
                <a:t>function</a:t>
              </a:r>
              <a:endParaRPr lang="zh-CN" altLang="en-US" sz="2800" b="1" dirty="0">
                <a:solidFill>
                  <a:srgbClr val="000099"/>
                </a:solidFill>
                <a:latin typeface="Times New Roman" panose="02020603050405020304" pitchFamily="18" charset="0"/>
              </a:endParaRPr>
            </a:p>
          </p:txBody>
        </p:sp>
        <p:sp>
          <p:nvSpPr>
            <p:cNvPr id="51210" name="Rectangle 14">
              <a:extLst>
                <a:ext uri="{FF2B5EF4-FFF2-40B4-BE49-F238E27FC236}">
                  <a16:creationId xmlns:a16="http://schemas.microsoft.com/office/drawing/2014/main" id="{EE848515-03D5-40E6-B9EA-3BB0A7660ADD}"/>
                </a:ext>
              </a:extLst>
            </p:cNvPr>
            <p:cNvSpPr>
              <a:spLocks noChangeArrowheads="1"/>
            </p:cNvSpPr>
            <p:nvPr/>
          </p:nvSpPr>
          <p:spPr bwMode="auto">
            <a:xfrm>
              <a:off x="0" y="144"/>
              <a:ext cx="1248" cy="72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51211" name="Rectangle 15">
              <a:extLst>
                <a:ext uri="{FF2B5EF4-FFF2-40B4-BE49-F238E27FC236}">
                  <a16:creationId xmlns:a16="http://schemas.microsoft.com/office/drawing/2014/main" id="{4109ABDC-91F7-4E9B-AA4D-02B8D98F0E0A}"/>
                </a:ext>
              </a:extLst>
            </p:cNvPr>
            <p:cNvSpPr>
              <a:spLocks noChangeArrowheads="1"/>
            </p:cNvSpPr>
            <p:nvPr/>
          </p:nvSpPr>
          <p:spPr bwMode="auto">
            <a:xfrm>
              <a:off x="2304" y="144"/>
              <a:ext cx="1248" cy="72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51212" name="Line 16">
              <a:extLst>
                <a:ext uri="{FF2B5EF4-FFF2-40B4-BE49-F238E27FC236}">
                  <a16:creationId xmlns:a16="http://schemas.microsoft.com/office/drawing/2014/main" id="{403B79E0-7988-41FE-B251-1A7BCD43D148}"/>
                </a:ext>
              </a:extLst>
            </p:cNvPr>
            <p:cNvSpPr>
              <a:spLocks noChangeShapeType="1"/>
            </p:cNvSpPr>
            <p:nvPr/>
          </p:nvSpPr>
          <p:spPr bwMode="auto">
            <a:xfrm>
              <a:off x="1248" y="288"/>
              <a:ext cx="1056"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13" name="Line 17">
              <a:extLst>
                <a:ext uri="{FF2B5EF4-FFF2-40B4-BE49-F238E27FC236}">
                  <a16:creationId xmlns:a16="http://schemas.microsoft.com/office/drawing/2014/main" id="{8D48EE95-839A-440F-A31A-069F474A8F01}"/>
                </a:ext>
              </a:extLst>
            </p:cNvPr>
            <p:cNvSpPr>
              <a:spLocks noChangeShapeType="1"/>
            </p:cNvSpPr>
            <p:nvPr/>
          </p:nvSpPr>
          <p:spPr bwMode="auto">
            <a:xfrm flipH="1">
              <a:off x="1248" y="672"/>
              <a:ext cx="1056"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14" name="Text Box 18">
              <a:extLst>
                <a:ext uri="{FF2B5EF4-FFF2-40B4-BE49-F238E27FC236}">
                  <a16:creationId xmlns:a16="http://schemas.microsoft.com/office/drawing/2014/main" id="{C371B92B-4961-4F51-9722-7FC4DB17DB80}"/>
                </a:ext>
              </a:extLst>
            </p:cNvPr>
            <p:cNvSpPr txBox="1">
              <a:spLocks noChangeArrowheads="1"/>
            </p:cNvSpPr>
            <p:nvPr/>
          </p:nvSpPr>
          <p:spPr bwMode="auto">
            <a:xfrm>
              <a:off x="1514" y="0"/>
              <a:ext cx="81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rPr>
                <a:t>Analysis</a:t>
              </a:r>
              <a:endParaRPr lang="zh-CN" altLang="en-US" sz="2400" b="1" dirty="0">
                <a:latin typeface="Times New Roman" panose="02020603050405020304" pitchFamily="18" charset="0"/>
              </a:endParaRPr>
            </a:p>
          </p:txBody>
        </p:sp>
        <p:sp>
          <p:nvSpPr>
            <p:cNvPr id="51215" name="Text Box 19">
              <a:extLst>
                <a:ext uri="{FF2B5EF4-FFF2-40B4-BE49-F238E27FC236}">
                  <a16:creationId xmlns:a16="http://schemas.microsoft.com/office/drawing/2014/main" id="{83560A13-033D-4E1C-8B7F-A8053A2A5F0C}"/>
                </a:ext>
              </a:extLst>
            </p:cNvPr>
            <p:cNvSpPr txBox="1">
              <a:spLocks noChangeArrowheads="1"/>
            </p:cNvSpPr>
            <p:nvPr/>
          </p:nvSpPr>
          <p:spPr bwMode="auto">
            <a:xfrm>
              <a:off x="1514" y="672"/>
              <a:ext cx="67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rPr>
                <a:t>Design</a:t>
              </a:r>
              <a:endParaRPr lang="zh-CN" altLang="en-US" sz="2400" b="1" dirty="0">
                <a:latin typeface="Times New Roman" panose="02020603050405020304" pitchFamily="18" charset="0"/>
              </a:endParaRPr>
            </a:p>
          </p:txBody>
        </p:sp>
      </p:grpSp>
      <p:pic>
        <p:nvPicPr>
          <p:cNvPr id="51206" name="Picture 20" descr="Right_Green">
            <a:hlinkClick r:id="" action="ppaction://hlinkshowjump?jump=nextslide"/>
            <a:extLst>
              <a:ext uri="{FF2B5EF4-FFF2-40B4-BE49-F238E27FC236}">
                <a16:creationId xmlns:a16="http://schemas.microsoft.com/office/drawing/2014/main" id="{6AF8E709-2FEA-4559-8652-F6D6B453A4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21" descr="Left_Green">
            <a:hlinkClick r:id="" action="ppaction://hlinkshowjump?jump=previousslide"/>
            <a:extLst>
              <a:ext uri="{FF2B5EF4-FFF2-40B4-BE49-F238E27FC236}">
                <a16:creationId xmlns:a16="http://schemas.microsoft.com/office/drawing/2014/main" id="{B6FBCCE6-A70A-4A13-8353-C87DB1D02B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45442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10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47107"/>
                                        </p:tgtEl>
                                        <p:attrNameLst>
                                          <p:attrName>style.visibility</p:attrName>
                                        </p:attrNameLst>
                                      </p:cBhvr>
                                      <p:to>
                                        <p:strVal val="visible"/>
                                      </p:to>
                                    </p:set>
                                    <p:animEffect transition="in" filter="blinds(horizontal)">
                                      <p:cBhvr>
                                        <p:cTn id="11" dur="500"/>
                                        <p:tgtEl>
                                          <p:spTgt spid="47107"/>
                                        </p:tgtEl>
                                      </p:cBhvr>
                                    </p:animEffect>
                                  </p:childTnLst>
                                </p:cTn>
                              </p:par>
                            </p:childTnLst>
                          </p:cTn>
                        </p:par>
                        <p:par>
                          <p:cTn id="12" fill="hold" nodeType="afterGroup">
                            <p:stCondLst>
                              <p:cond delay="500"/>
                            </p:stCondLst>
                            <p:childTnLst>
                              <p:par>
                                <p:cTn id="13" presetID="9" presetClass="entr" presetSubtype="0" fill="hold" nodeType="afterEffect">
                                  <p:stCondLst>
                                    <p:cond delay="0"/>
                                  </p:stCondLst>
                                  <p:childTnLst>
                                    <p:set>
                                      <p:cBhvr>
                                        <p:cTn id="14" dur="1" fill="hold">
                                          <p:stCondLst>
                                            <p:cond delay="0"/>
                                          </p:stCondLst>
                                        </p:cTn>
                                        <p:tgtEl>
                                          <p:spTgt spid="47109"/>
                                        </p:tgtEl>
                                        <p:attrNameLst>
                                          <p:attrName>style.visibility</p:attrName>
                                        </p:attrNameLst>
                                      </p:cBhvr>
                                      <p:to>
                                        <p:strVal val="visible"/>
                                      </p:to>
                                    </p:set>
                                    <p:animEffect transition="in" filter="dissolve">
                                      <p:cBhvr>
                                        <p:cTn id="15" dur="500"/>
                                        <p:tgtEl>
                                          <p:spTgt spid="47109"/>
                                        </p:tgtEl>
                                      </p:cBhvr>
                                    </p:animEffect>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7108"/>
                                        </p:tgtEl>
                                        <p:attrNameLst>
                                          <p:attrName>style.visibility</p:attrName>
                                        </p:attrNameLst>
                                      </p:cBhvr>
                                      <p:to>
                                        <p:strVal val="visible"/>
                                      </p:to>
                                    </p:set>
                                    <p:anim calcmode="lin" valueType="num">
                                      <p:cBhvr additive="base">
                                        <p:cTn id="20" dur="500" fill="hold"/>
                                        <p:tgtEl>
                                          <p:spTgt spid="47108"/>
                                        </p:tgtEl>
                                        <p:attrNameLst>
                                          <p:attrName>ppt_x</p:attrName>
                                        </p:attrNameLst>
                                      </p:cBhvr>
                                      <p:tavLst>
                                        <p:tav tm="0">
                                          <p:val>
                                            <p:strVal val="#ppt_x"/>
                                          </p:val>
                                        </p:tav>
                                        <p:tav tm="100000">
                                          <p:val>
                                            <p:strVal val="#ppt_x"/>
                                          </p:val>
                                        </p:tav>
                                      </p:tavLst>
                                    </p:anim>
                                    <p:anim calcmode="lin" valueType="num">
                                      <p:cBhvr additive="base">
                                        <p:cTn id="21" dur="500" fill="hold"/>
                                        <p:tgtEl>
                                          <p:spTgt spid="47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autoUpdateAnimBg="0"/>
      <p:bldP spid="47107" grpId="0" autoUpdateAnimBg="0"/>
      <p:bldP spid="47108"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2">
            <a:extLst>
              <a:ext uri="{FF2B5EF4-FFF2-40B4-BE49-F238E27FC236}">
                <a16:creationId xmlns:a16="http://schemas.microsoft.com/office/drawing/2014/main" id="{609F35A0-93AB-40AA-B836-CFFC5C9F780E}"/>
              </a:ext>
            </a:extLst>
          </p:cNvPr>
          <p:cNvSpPr txBox="1">
            <a:spLocks noChangeArrowheads="1"/>
          </p:cNvSpPr>
          <p:nvPr/>
        </p:nvSpPr>
        <p:spPr bwMode="auto">
          <a:xfrm>
            <a:off x="471487" y="2524125"/>
            <a:ext cx="77723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sz="2400" b="1" dirty="0">
                <a:solidFill>
                  <a:srgbClr val="006666"/>
                </a:solidFill>
                <a:latin typeface="Times New Roman" panose="02020603050405020304" pitchFamily="18" charset="0"/>
              </a:rPr>
              <a:t>2</a:t>
            </a:r>
            <a:r>
              <a:rPr lang="zh-CN" altLang="en-US" sz="2400" b="1" dirty="0">
                <a:solidFill>
                  <a:srgbClr val="006666"/>
                </a:solidFill>
                <a:latin typeface="Times New Roman" panose="02020603050405020304" pitchFamily="18" charset="0"/>
              </a:rPr>
              <a:t>．</a:t>
            </a:r>
            <a:r>
              <a:rPr lang="en-US" altLang="zh-CN" sz="2400" b="1" dirty="0">
                <a:solidFill>
                  <a:srgbClr val="006666"/>
                </a:solidFill>
                <a:latin typeface="Times New Roman" panose="02020603050405020304" pitchFamily="18" charset="0"/>
              </a:rPr>
              <a:t>State reduction</a:t>
            </a:r>
            <a:r>
              <a:rPr lang="zh-CN" altLang="en-US" sz="2400" b="1" dirty="0">
                <a:solidFill>
                  <a:srgbClr val="006666"/>
                </a:solidFill>
                <a:latin typeface="Times New Roman" panose="02020603050405020304" pitchFamily="18" charset="0"/>
              </a:rPr>
              <a:t>，</a:t>
            </a:r>
            <a:r>
              <a:rPr lang="en-US" altLang="zh-CN" sz="2400" b="1" dirty="0">
                <a:solidFill>
                  <a:srgbClr val="006666"/>
                </a:solidFill>
                <a:latin typeface="Times New Roman" panose="02020603050405020304" pitchFamily="18" charset="0"/>
              </a:rPr>
              <a:t>to obtain the reduced state table</a:t>
            </a:r>
            <a:r>
              <a:rPr lang="zh-CN" altLang="en-US" sz="2400" b="1" dirty="0">
                <a:solidFill>
                  <a:srgbClr val="006666"/>
                </a:solidFill>
                <a:latin typeface="Times New Roman" panose="02020603050405020304" pitchFamily="18" charset="0"/>
              </a:rPr>
              <a:t>；</a:t>
            </a:r>
            <a:r>
              <a:rPr lang="zh-CN" altLang="en-US" sz="2400" dirty="0">
                <a:latin typeface="Times New Roman" panose="02020603050405020304" pitchFamily="18" charset="0"/>
              </a:rPr>
              <a:t>        </a:t>
            </a:r>
          </a:p>
        </p:txBody>
      </p:sp>
      <p:grpSp>
        <p:nvGrpSpPr>
          <p:cNvPr id="52227" name="Group 3">
            <a:extLst>
              <a:ext uri="{FF2B5EF4-FFF2-40B4-BE49-F238E27FC236}">
                <a16:creationId xmlns:a16="http://schemas.microsoft.com/office/drawing/2014/main" id="{88DA3205-E24C-4495-9E61-03D35B1E2EDA}"/>
              </a:ext>
            </a:extLst>
          </p:cNvPr>
          <p:cNvGrpSpPr>
            <a:grpSpLocks/>
          </p:cNvGrpSpPr>
          <p:nvPr/>
        </p:nvGrpSpPr>
        <p:grpSpPr bwMode="auto">
          <a:xfrm>
            <a:off x="468313" y="914400"/>
            <a:ext cx="8574087" cy="5588000"/>
            <a:chOff x="0" y="0"/>
            <a:chExt cx="5401" cy="3520"/>
          </a:xfrm>
        </p:grpSpPr>
        <p:sp>
          <p:nvSpPr>
            <p:cNvPr id="52228" name="Text Box 9">
              <a:extLst>
                <a:ext uri="{FF2B5EF4-FFF2-40B4-BE49-F238E27FC236}">
                  <a16:creationId xmlns:a16="http://schemas.microsoft.com/office/drawing/2014/main" id="{02060808-2BC4-45E1-B16D-AF13D3582E8B}"/>
                </a:ext>
              </a:extLst>
            </p:cNvPr>
            <p:cNvSpPr txBox="1">
              <a:spLocks noChangeArrowheads="1"/>
            </p:cNvSpPr>
            <p:nvPr/>
          </p:nvSpPr>
          <p:spPr bwMode="auto">
            <a:xfrm>
              <a:off x="185" y="0"/>
              <a:ext cx="388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chemeClr val="accent2"/>
                  </a:solidFill>
                  <a:latin typeface="Times New Roman" panose="02020603050405020304" pitchFamily="18" charset="0"/>
                </a:rPr>
                <a:t>The general steps of the design are as follows:</a:t>
              </a:r>
              <a:endParaRPr lang="zh-CN" altLang="en-US" sz="2400" b="1" dirty="0">
                <a:solidFill>
                  <a:schemeClr val="accent2"/>
                </a:solidFill>
                <a:latin typeface="Times New Roman" panose="02020603050405020304" pitchFamily="18" charset="0"/>
              </a:endParaRPr>
            </a:p>
          </p:txBody>
        </p:sp>
        <p:sp>
          <p:nvSpPr>
            <p:cNvPr id="52229" name="Text Box 10">
              <a:extLst>
                <a:ext uri="{FF2B5EF4-FFF2-40B4-BE49-F238E27FC236}">
                  <a16:creationId xmlns:a16="http://schemas.microsoft.com/office/drawing/2014/main" id="{3713954F-32C2-4B72-9614-FA31F2B7448C}"/>
                </a:ext>
              </a:extLst>
            </p:cNvPr>
            <p:cNvSpPr txBox="1">
              <a:spLocks noChangeArrowheads="1"/>
            </p:cNvSpPr>
            <p:nvPr/>
          </p:nvSpPr>
          <p:spPr bwMode="auto">
            <a:xfrm>
              <a:off x="2" y="390"/>
              <a:ext cx="5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chemeClr val="tx2"/>
                  </a:solidFill>
                  <a:latin typeface="Times New Roman" panose="02020603050405020304" pitchFamily="18" charset="0"/>
                </a:rPr>
                <a:t>　　</a:t>
              </a:r>
              <a:r>
                <a:rPr lang="en-US" altLang="zh-CN" sz="2400" b="1" dirty="0">
                  <a:solidFill>
                    <a:srgbClr val="006666"/>
                  </a:solidFill>
                  <a:latin typeface="Times New Roman" panose="02020603050405020304" pitchFamily="18" charset="0"/>
                </a:rPr>
                <a:t>1</a:t>
              </a:r>
              <a:r>
                <a:rPr lang="zh-CN" altLang="en-US" sz="2400" b="1" dirty="0">
                  <a:solidFill>
                    <a:srgbClr val="006666"/>
                  </a:solidFill>
                  <a:latin typeface="Times New Roman" panose="02020603050405020304" pitchFamily="18" charset="0"/>
                </a:rPr>
                <a:t>．</a:t>
              </a:r>
              <a:r>
                <a:rPr lang="en-US" altLang="zh-CN" sz="2400" b="1" dirty="0">
                  <a:solidFill>
                    <a:srgbClr val="006666"/>
                  </a:solidFill>
                  <a:latin typeface="Times New Roman" panose="02020603050405020304" pitchFamily="18" charset="0"/>
                </a:rPr>
                <a:t>Draw basic state diagram and basic state table</a:t>
              </a:r>
              <a:r>
                <a:rPr lang="zh-CN" altLang="en-US" sz="2400" b="1" dirty="0">
                  <a:solidFill>
                    <a:srgbClr val="006666"/>
                  </a:solidFill>
                  <a:latin typeface="Times New Roman" panose="02020603050405020304" pitchFamily="18" charset="0"/>
                </a:rPr>
                <a:t>；</a:t>
              </a:r>
              <a:r>
                <a:rPr lang="zh-CN" altLang="en-US" sz="2400" dirty="0">
                  <a:solidFill>
                    <a:srgbClr val="006666"/>
                  </a:solidFill>
                  <a:latin typeface="Times New Roman" panose="02020603050405020304" pitchFamily="18" charset="0"/>
                </a:rPr>
                <a:t>        </a:t>
              </a:r>
            </a:p>
          </p:txBody>
        </p:sp>
        <p:sp>
          <p:nvSpPr>
            <p:cNvPr id="52230" name="Text Box 13">
              <a:extLst>
                <a:ext uri="{FF2B5EF4-FFF2-40B4-BE49-F238E27FC236}">
                  <a16:creationId xmlns:a16="http://schemas.microsoft.com/office/drawing/2014/main" id="{B6D8FFE1-B2F6-42C6-9CF0-BA51DEC787DF}"/>
                </a:ext>
              </a:extLst>
            </p:cNvPr>
            <p:cNvSpPr txBox="1">
              <a:spLocks noChangeArrowheads="1"/>
            </p:cNvSpPr>
            <p:nvPr/>
          </p:nvSpPr>
          <p:spPr bwMode="auto">
            <a:xfrm>
              <a:off x="2" y="1686"/>
              <a:ext cx="5399"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sz="2400" b="1" dirty="0">
                  <a:solidFill>
                    <a:srgbClr val="006666"/>
                  </a:solidFill>
                  <a:latin typeface="Times New Roman" panose="02020603050405020304" pitchFamily="18" charset="0"/>
                </a:rPr>
                <a:t>3</a:t>
              </a:r>
              <a:r>
                <a:rPr lang="zh-CN" altLang="en-US" sz="2400" b="1" dirty="0">
                  <a:solidFill>
                    <a:srgbClr val="006666"/>
                  </a:solidFill>
                  <a:latin typeface="Times New Roman" panose="02020603050405020304" pitchFamily="18" charset="0"/>
                </a:rPr>
                <a:t>．</a:t>
              </a:r>
              <a:r>
                <a:rPr lang="en-US" altLang="zh-CN" sz="2400" b="1" dirty="0">
                  <a:solidFill>
                    <a:srgbClr val="006666"/>
                  </a:solidFill>
                  <a:latin typeface="Times New Roman" panose="02020603050405020304" pitchFamily="18" charset="0"/>
                </a:rPr>
                <a:t>State assignment</a:t>
              </a:r>
              <a:r>
                <a:rPr lang="zh-CN" altLang="en-US" sz="2400" b="1" dirty="0">
                  <a:solidFill>
                    <a:srgbClr val="006666"/>
                  </a:solidFill>
                  <a:latin typeface="Times New Roman" panose="02020603050405020304" pitchFamily="18" charset="0"/>
                </a:rPr>
                <a:t>，</a:t>
              </a:r>
              <a:r>
                <a:rPr lang="en-US" altLang="zh-CN" sz="2400" b="1" dirty="0">
                  <a:solidFill>
                    <a:srgbClr val="006666"/>
                  </a:solidFill>
                  <a:latin typeface="Times New Roman" panose="02020603050405020304" pitchFamily="18" charset="0"/>
                </a:rPr>
                <a:t>to obtain the reduced binary state table</a:t>
              </a:r>
              <a:r>
                <a:rPr lang="zh-CN" altLang="en-US" sz="2400" b="1" dirty="0">
                  <a:solidFill>
                    <a:srgbClr val="006666"/>
                  </a:solidFill>
                  <a:latin typeface="Times New Roman" panose="02020603050405020304" pitchFamily="18" charset="0"/>
                </a:rPr>
                <a:t>；        </a:t>
              </a:r>
            </a:p>
          </p:txBody>
        </p:sp>
        <p:sp>
          <p:nvSpPr>
            <p:cNvPr id="52231" name="Text Box 14">
              <a:extLst>
                <a:ext uri="{FF2B5EF4-FFF2-40B4-BE49-F238E27FC236}">
                  <a16:creationId xmlns:a16="http://schemas.microsoft.com/office/drawing/2014/main" id="{AD3CF8C3-A402-40A4-9F40-7AFD00ED49AE}"/>
                </a:ext>
              </a:extLst>
            </p:cNvPr>
            <p:cNvSpPr txBox="1">
              <a:spLocks noChangeArrowheads="1"/>
            </p:cNvSpPr>
            <p:nvPr/>
          </p:nvSpPr>
          <p:spPr bwMode="auto">
            <a:xfrm>
              <a:off x="0" y="2310"/>
              <a:ext cx="5386"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en-US" altLang="zh-CN" sz="2400" b="1" dirty="0">
                  <a:solidFill>
                    <a:srgbClr val="006666"/>
                  </a:solidFill>
                  <a:latin typeface="Times New Roman" panose="02020603050405020304" pitchFamily="18" charset="0"/>
                </a:rPr>
                <a:t>4</a:t>
              </a:r>
              <a:r>
                <a:rPr lang="zh-CN" altLang="en-US" sz="2400" b="1" dirty="0">
                  <a:solidFill>
                    <a:srgbClr val="006666"/>
                  </a:solidFill>
                  <a:latin typeface="Times New Roman" panose="02020603050405020304" pitchFamily="18" charset="0"/>
                </a:rPr>
                <a:t>．</a:t>
              </a:r>
              <a:r>
                <a:rPr lang="en-US" altLang="zh-CN" sz="2400" b="1" dirty="0">
                  <a:solidFill>
                    <a:srgbClr val="006666"/>
                  </a:solidFill>
                  <a:latin typeface="Times New Roman" panose="02020603050405020304" pitchFamily="18" charset="0"/>
                </a:rPr>
                <a:t>Select flip-flops</a:t>
              </a:r>
              <a:r>
                <a:rPr lang="zh-CN" altLang="en-US" sz="2400" b="1" dirty="0">
                  <a:solidFill>
                    <a:srgbClr val="006666"/>
                  </a:solidFill>
                  <a:latin typeface="Times New Roman" panose="02020603050405020304" pitchFamily="18" charset="0"/>
                </a:rPr>
                <a:t>，</a:t>
              </a:r>
              <a:r>
                <a:rPr lang="en-US" altLang="zh-CN" dirty="0">
                  <a:solidFill>
                    <a:srgbClr val="006666"/>
                  </a:solidFill>
                  <a:latin typeface="Times New Roman" panose="02020603050405020304" pitchFamily="18" charset="0"/>
                </a:rPr>
                <a:t>and find the simplest expression of the excitation function and the output function; </a:t>
              </a:r>
              <a:r>
                <a:rPr lang="zh-CN" altLang="en-US" sz="2400" b="1" dirty="0">
                  <a:solidFill>
                    <a:srgbClr val="006666"/>
                  </a:solidFill>
                  <a:latin typeface="Times New Roman" panose="02020603050405020304" pitchFamily="18" charset="0"/>
                </a:rPr>
                <a:t>；</a:t>
              </a:r>
              <a:r>
                <a:rPr lang="zh-CN" altLang="en-US" sz="2400" dirty="0">
                  <a:latin typeface="Times New Roman" panose="02020603050405020304" pitchFamily="18" charset="0"/>
                </a:rPr>
                <a:t>        </a:t>
              </a:r>
            </a:p>
          </p:txBody>
        </p:sp>
        <p:sp>
          <p:nvSpPr>
            <p:cNvPr id="52232" name="Text Box 15">
              <a:extLst>
                <a:ext uri="{FF2B5EF4-FFF2-40B4-BE49-F238E27FC236}">
                  <a16:creationId xmlns:a16="http://schemas.microsoft.com/office/drawing/2014/main" id="{A1C5E5F1-1E5E-4CE3-8481-C0408F27DB37}"/>
                </a:ext>
              </a:extLst>
            </p:cNvPr>
            <p:cNvSpPr txBox="1">
              <a:spLocks noChangeArrowheads="1"/>
            </p:cNvSpPr>
            <p:nvPr/>
          </p:nvSpPr>
          <p:spPr bwMode="auto">
            <a:xfrm>
              <a:off x="386" y="3078"/>
              <a:ext cx="236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6666"/>
                  </a:solidFill>
                  <a:latin typeface="Times New Roman" panose="02020603050405020304" pitchFamily="18" charset="0"/>
                </a:rPr>
                <a:t>5</a:t>
              </a:r>
              <a:r>
                <a:rPr lang="zh-CN" altLang="en-US" sz="2400" b="1" dirty="0">
                  <a:solidFill>
                    <a:srgbClr val="006666"/>
                  </a:solidFill>
                  <a:latin typeface="Times New Roman" panose="02020603050405020304" pitchFamily="18" charset="0"/>
                </a:rPr>
                <a:t>．</a:t>
              </a:r>
              <a:r>
                <a:rPr lang="en-US" altLang="zh-CN" sz="2400" b="1" dirty="0">
                  <a:solidFill>
                    <a:srgbClr val="006666"/>
                  </a:solidFill>
                  <a:latin typeface="Times New Roman" panose="02020603050405020304" pitchFamily="18" charset="0"/>
                </a:rPr>
                <a:t>Draw the logi</a:t>
              </a:r>
              <a:r>
                <a:rPr lang="en-US" altLang="zh-CN" dirty="0">
                  <a:solidFill>
                    <a:srgbClr val="006666"/>
                  </a:solidFill>
                  <a:latin typeface="Times New Roman" panose="02020603050405020304" pitchFamily="18" charset="0"/>
                </a:rPr>
                <a:t>c diagram</a:t>
              </a:r>
              <a:endParaRPr lang="zh-CN" altLang="en-US" sz="2400" b="1" dirty="0">
                <a:solidFill>
                  <a:srgbClr val="006666"/>
                </a:solidFill>
                <a:latin typeface="Times New Roman" panose="02020603050405020304" pitchFamily="18" charset="0"/>
              </a:endParaRPr>
            </a:p>
          </p:txBody>
        </p:sp>
        <p:sp>
          <p:nvSpPr>
            <p:cNvPr id="52233" name="Line 16">
              <a:extLst>
                <a:ext uri="{FF2B5EF4-FFF2-40B4-BE49-F238E27FC236}">
                  <a16:creationId xmlns:a16="http://schemas.microsoft.com/office/drawing/2014/main" id="{B970C15C-AEAF-4A1E-AAB8-ECFB18A34594}"/>
                </a:ext>
              </a:extLst>
            </p:cNvPr>
            <p:cNvSpPr>
              <a:spLocks noChangeShapeType="1"/>
            </p:cNvSpPr>
            <p:nvPr/>
          </p:nvSpPr>
          <p:spPr bwMode="auto">
            <a:xfrm>
              <a:off x="1682" y="678"/>
              <a:ext cx="0" cy="2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34" name="Line 17">
              <a:extLst>
                <a:ext uri="{FF2B5EF4-FFF2-40B4-BE49-F238E27FC236}">
                  <a16:creationId xmlns:a16="http://schemas.microsoft.com/office/drawing/2014/main" id="{ECFC4C2A-E3BC-4B34-8288-FD98EB067718}"/>
                </a:ext>
              </a:extLst>
            </p:cNvPr>
            <p:cNvSpPr>
              <a:spLocks noChangeShapeType="1"/>
            </p:cNvSpPr>
            <p:nvPr/>
          </p:nvSpPr>
          <p:spPr bwMode="auto">
            <a:xfrm>
              <a:off x="1682" y="1398"/>
              <a:ext cx="0" cy="2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35" name="Line 18">
              <a:extLst>
                <a:ext uri="{FF2B5EF4-FFF2-40B4-BE49-F238E27FC236}">
                  <a16:creationId xmlns:a16="http://schemas.microsoft.com/office/drawing/2014/main" id="{ABB46086-8793-4C3F-A0F1-C79F3156F2DC}"/>
                </a:ext>
              </a:extLst>
            </p:cNvPr>
            <p:cNvSpPr>
              <a:spLocks noChangeShapeType="1"/>
            </p:cNvSpPr>
            <p:nvPr/>
          </p:nvSpPr>
          <p:spPr bwMode="auto">
            <a:xfrm>
              <a:off x="1682" y="1974"/>
              <a:ext cx="0" cy="2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36" name="Line 19">
              <a:extLst>
                <a:ext uri="{FF2B5EF4-FFF2-40B4-BE49-F238E27FC236}">
                  <a16:creationId xmlns:a16="http://schemas.microsoft.com/office/drawing/2014/main" id="{46DC1C73-8B87-4818-87D3-80118A771F46}"/>
                </a:ext>
              </a:extLst>
            </p:cNvPr>
            <p:cNvSpPr>
              <a:spLocks noChangeShapeType="1"/>
            </p:cNvSpPr>
            <p:nvPr/>
          </p:nvSpPr>
          <p:spPr bwMode="auto">
            <a:xfrm>
              <a:off x="1682" y="2742"/>
              <a:ext cx="0" cy="2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pic>
          <p:nvPicPr>
            <p:cNvPr id="52237" name="Picture 21" descr="Right_Green">
              <a:hlinkClick r:id="" action="ppaction://hlinkshowjump?jump=nextslide"/>
              <a:extLst>
                <a:ext uri="{FF2B5EF4-FFF2-40B4-BE49-F238E27FC236}">
                  <a16:creationId xmlns:a16="http://schemas.microsoft.com/office/drawing/2014/main" id="{B3014B11-A63E-4A1B-B5FA-4D432C410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5" y="3369"/>
              <a:ext cx="216"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8" name="Picture 22" descr="Left_Green">
              <a:hlinkClick r:id="" action="ppaction://hlinkshowjump?jump=previousslide"/>
              <a:extLst>
                <a:ext uri="{FF2B5EF4-FFF2-40B4-BE49-F238E27FC236}">
                  <a16:creationId xmlns:a16="http://schemas.microsoft.com/office/drawing/2014/main" id="{CED65517-763B-4FBB-B95A-255B827958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8" y="3369"/>
              <a:ext cx="216"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723884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10">
            <a:extLst>
              <a:ext uri="{FF2B5EF4-FFF2-40B4-BE49-F238E27FC236}">
                <a16:creationId xmlns:a16="http://schemas.microsoft.com/office/drawing/2014/main" id="{9EA2C634-6CA3-4293-A84B-CB6AB80B7DAA}"/>
              </a:ext>
            </a:extLst>
          </p:cNvPr>
          <p:cNvSpPr txBox="1">
            <a:spLocks noChangeArrowheads="1"/>
          </p:cNvSpPr>
          <p:nvPr/>
        </p:nvSpPr>
        <p:spPr bwMode="auto">
          <a:xfrm>
            <a:off x="395287" y="981075"/>
            <a:ext cx="80914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990000"/>
                </a:solidFill>
                <a:latin typeface="Times New Roman" panose="02020603050405020304" pitchFamily="18" charset="0"/>
              </a:rPr>
              <a:t>5.3.1 </a:t>
            </a:r>
            <a:r>
              <a:rPr lang="en-US" altLang="zh-CN" dirty="0">
                <a:solidFill>
                  <a:srgbClr val="006666"/>
                </a:solidFill>
                <a:latin typeface="Times New Roman" panose="02020603050405020304" pitchFamily="18" charset="0"/>
              </a:rPr>
              <a:t>Draw basic state diagram and basic state table</a:t>
            </a:r>
            <a:endParaRPr lang="zh-CN" altLang="en-US" sz="2400" b="1" dirty="0">
              <a:solidFill>
                <a:srgbClr val="990000"/>
              </a:solidFill>
              <a:latin typeface="Times New Roman" panose="02020603050405020304" pitchFamily="18" charset="0"/>
            </a:endParaRPr>
          </a:p>
        </p:txBody>
      </p:sp>
      <p:sp>
        <p:nvSpPr>
          <p:cNvPr id="49155" name="Text Box 11">
            <a:extLst>
              <a:ext uri="{FF2B5EF4-FFF2-40B4-BE49-F238E27FC236}">
                <a16:creationId xmlns:a16="http://schemas.microsoft.com/office/drawing/2014/main" id="{63211768-E782-42AA-A790-218A14C2D40E}"/>
              </a:ext>
            </a:extLst>
          </p:cNvPr>
          <p:cNvSpPr txBox="1">
            <a:spLocks noChangeArrowheads="1"/>
          </p:cNvSpPr>
          <p:nvPr/>
        </p:nvSpPr>
        <p:spPr bwMode="auto">
          <a:xfrm>
            <a:off x="431799" y="1361094"/>
            <a:ext cx="801846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The basic state diagram and the basic state table are the most primitive abstractions of the design requirements. Establishing the correct basic state diagram and state table is the most critical step in the design of synchronous sequential circuits.</a:t>
            </a:r>
            <a:r>
              <a:rPr lang="zh-CN" altLang="en-US" sz="2400" dirty="0">
                <a:latin typeface="Times New Roman" panose="02020603050405020304" pitchFamily="18" charset="0"/>
              </a:rPr>
              <a:t>　</a:t>
            </a:r>
          </a:p>
        </p:txBody>
      </p:sp>
      <p:sp>
        <p:nvSpPr>
          <p:cNvPr id="49156" name="Text Box 12">
            <a:extLst>
              <a:ext uri="{FF2B5EF4-FFF2-40B4-BE49-F238E27FC236}">
                <a16:creationId xmlns:a16="http://schemas.microsoft.com/office/drawing/2014/main" id="{19A4D62E-C9DD-4D7F-A3FB-0B630BDB4282}"/>
              </a:ext>
            </a:extLst>
          </p:cNvPr>
          <p:cNvSpPr txBox="1">
            <a:spLocks noChangeArrowheads="1"/>
          </p:cNvSpPr>
          <p:nvPr/>
        </p:nvSpPr>
        <p:spPr bwMode="auto">
          <a:xfrm>
            <a:off x="684213" y="4005263"/>
            <a:ext cx="58785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I. </a:t>
            </a:r>
            <a:r>
              <a:rPr lang="en-US" altLang="zh-CN" dirty="0">
                <a:solidFill>
                  <a:srgbClr val="000099"/>
                </a:solidFill>
                <a:latin typeface="Times New Roman" panose="02020603050405020304" pitchFamily="18" charset="0"/>
              </a:rPr>
              <a:t>Determine the circuit type</a:t>
            </a:r>
            <a:r>
              <a:rPr lang="zh-CN" altLang="en-US" sz="2400" dirty="0">
                <a:latin typeface="Times New Roman" panose="02020603050405020304" pitchFamily="18" charset="0"/>
              </a:rPr>
              <a:t>  </a:t>
            </a:r>
          </a:p>
          <a:p>
            <a:pPr eaLnBrk="1" hangingPunct="1"/>
            <a:r>
              <a:rPr lang="zh-CN" altLang="en-US" sz="2400" dirty="0">
                <a:latin typeface="Times New Roman" panose="02020603050405020304" pitchFamily="18" charset="0"/>
              </a:rPr>
              <a:t>　</a:t>
            </a:r>
            <a:r>
              <a:rPr lang="en-US" altLang="zh-CN" sz="2400" b="1" dirty="0">
                <a:solidFill>
                  <a:srgbClr val="CC3300"/>
                </a:solidFill>
                <a:latin typeface="Times New Roman" panose="02020603050405020304" pitchFamily="18" charset="0"/>
              </a:rPr>
              <a:t>Mealy</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type</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Moore</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type</a:t>
            </a:r>
            <a:r>
              <a:rPr lang="zh-CN" altLang="en-US" sz="2400" b="1" dirty="0">
                <a:solidFill>
                  <a:srgbClr val="CC3300"/>
                </a:solidFill>
                <a:latin typeface="Times New Roman" panose="02020603050405020304" pitchFamily="18" charset="0"/>
              </a:rPr>
              <a:t>？</a:t>
            </a:r>
            <a:r>
              <a:rPr lang="zh-CN" altLang="en-US" sz="2400" dirty="0">
                <a:latin typeface="Times New Roman" panose="02020603050405020304" pitchFamily="18" charset="0"/>
              </a:rPr>
              <a:t>　　</a:t>
            </a:r>
          </a:p>
        </p:txBody>
      </p:sp>
      <p:sp>
        <p:nvSpPr>
          <p:cNvPr id="49157" name="Text Box 13">
            <a:extLst>
              <a:ext uri="{FF2B5EF4-FFF2-40B4-BE49-F238E27FC236}">
                <a16:creationId xmlns:a16="http://schemas.microsoft.com/office/drawing/2014/main" id="{0C5D526E-DEC1-4599-AB2C-530E2FF5E69A}"/>
              </a:ext>
            </a:extLst>
          </p:cNvPr>
          <p:cNvSpPr txBox="1">
            <a:spLocks noChangeArrowheads="1"/>
          </p:cNvSpPr>
          <p:nvPr/>
        </p:nvSpPr>
        <p:spPr bwMode="auto">
          <a:xfrm>
            <a:off x="468313" y="3213100"/>
            <a:ext cx="70564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Generally, the following aspects should be considered when forming the basic state diagram.</a:t>
            </a:r>
            <a:r>
              <a:rPr lang="zh-CN" altLang="en-US" sz="2400" b="1" dirty="0">
                <a:solidFill>
                  <a:srgbClr val="000099"/>
                </a:solidFill>
                <a:latin typeface="Times New Roman" panose="02020603050405020304" pitchFamily="18" charset="0"/>
              </a:rPr>
              <a:t>：</a:t>
            </a:r>
          </a:p>
        </p:txBody>
      </p:sp>
      <p:pic>
        <p:nvPicPr>
          <p:cNvPr id="53254" name="Picture 14" descr="Right_Green">
            <a:hlinkClick r:id="" action="ppaction://hlinkshowjump?jump=nextslide"/>
            <a:extLst>
              <a:ext uri="{FF2B5EF4-FFF2-40B4-BE49-F238E27FC236}">
                <a16:creationId xmlns:a16="http://schemas.microsoft.com/office/drawing/2014/main" id="{6326F1C5-4A24-4D36-B3CD-B075FCB64F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15" descr="Left_Green">
            <a:hlinkClick r:id="" action="ppaction://hlinkshowjump?jump=previousslide"/>
            <a:extLst>
              <a:ext uri="{FF2B5EF4-FFF2-40B4-BE49-F238E27FC236}">
                <a16:creationId xmlns:a16="http://schemas.microsoft.com/office/drawing/2014/main" id="{60901AA7-6A3E-47F2-AF78-9FE4933AF6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0" name="Text Box 18">
            <a:extLst>
              <a:ext uri="{FF2B5EF4-FFF2-40B4-BE49-F238E27FC236}">
                <a16:creationId xmlns:a16="http://schemas.microsoft.com/office/drawing/2014/main" id="{8F3B86F1-CCCA-48BC-A21C-F3A6171855FA}"/>
              </a:ext>
            </a:extLst>
          </p:cNvPr>
          <p:cNvSpPr txBox="1">
            <a:spLocks noChangeArrowheads="1"/>
          </p:cNvSpPr>
          <p:nvPr/>
        </p:nvSpPr>
        <p:spPr bwMode="auto">
          <a:xfrm>
            <a:off x="395288" y="4868863"/>
            <a:ext cx="76327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II. Set a initial state</a:t>
            </a:r>
            <a:r>
              <a:rPr lang="zh-CN" altLang="en-US" sz="2400" b="1" dirty="0">
                <a:latin typeface="Times New Roman" panose="02020603050405020304" pitchFamily="18" charset="0"/>
              </a:rPr>
              <a:t>   </a:t>
            </a:r>
          </a:p>
          <a:p>
            <a:pPr algn="just" eaLnBrk="1" hangingPunct="1"/>
            <a:r>
              <a:rPr lang="zh-CN" altLang="en-US" sz="2400" dirty="0">
                <a:latin typeface="Times New Roman" panose="02020603050405020304" pitchFamily="18" charset="0"/>
              </a:rPr>
              <a:t>　　</a:t>
            </a:r>
            <a:r>
              <a:rPr lang="en-US" altLang="zh-CN" dirty="0">
                <a:solidFill>
                  <a:schemeClr val="tx2"/>
                </a:solidFill>
                <a:latin typeface="Times New Roman" panose="02020603050405020304" pitchFamily="18" charset="0"/>
              </a:rPr>
              <a:t>The state of the sequential logic circuit before the input signal begins to act is called the initial state.</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spTree>
    <p:extLst>
      <p:ext uri="{BB962C8B-B14F-4D97-AF65-F5344CB8AC3E}">
        <p14:creationId xmlns:p14="http://schemas.microsoft.com/office/powerpoint/2010/main" val="2395382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9154"/>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49155"/>
                                        </p:tgtEl>
                                        <p:attrNameLst>
                                          <p:attrName>style.visibility</p:attrName>
                                        </p:attrNameLst>
                                      </p:cBhvr>
                                      <p:to>
                                        <p:strVal val="visible"/>
                                      </p:to>
                                    </p:set>
                                    <p:animEffect transition="in" filter="randombar(horizontal)">
                                      <p:cBhvr>
                                        <p:cTn id="11" dur="500"/>
                                        <p:tgtEl>
                                          <p:spTgt spid="4915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9157"/>
                                        </p:tgtEl>
                                        <p:attrNameLst>
                                          <p:attrName>style.visibility</p:attrName>
                                        </p:attrNameLst>
                                      </p:cBhvr>
                                      <p:to>
                                        <p:strVal val="visible"/>
                                      </p:to>
                                    </p:set>
                                    <p:anim calcmode="lin" valueType="num">
                                      <p:cBhvr additive="base">
                                        <p:cTn id="16" dur="500" fill="hold"/>
                                        <p:tgtEl>
                                          <p:spTgt spid="49157"/>
                                        </p:tgtEl>
                                        <p:attrNameLst>
                                          <p:attrName>ppt_x</p:attrName>
                                        </p:attrNameLst>
                                      </p:cBhvr>
                                      <p:tavLst>
                                        <p:tav tm="0">
                                          <p:val>
                                            <p:strVal val="#ppt_x"/>
                                          </p:val>
                                        </p:tav>
                                        <p:tav tm="100000">
                                          <p:val>
                                            <p:strVal val="#ppt_x"/>
                                          </p:val>
                                        </p:tav>
                                      </p:tavLst>
                                    </p:anim>
                                    <p:anim calcmode="lin" valueType="num">
                                      <p:cBhvr additive="base">
                                        <p:cTn id="17" dur="500" fill="hold"/>
                                        <p:tgtEl>
                                          <p:spTgt spid="49157"/>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9156"/>
                                        </p:tgtEl>
                                        <p:attrNameLst>
                                          <p:attrName>style.visibility</p:attrName>
                                        </p:attrNameLst>
                                      </p:cBhvr>
                                      <p:to>
                                        <p:strVal val="visible"/>
                                      </p:to>
                                    </p:set>
                                    <p:animEffect transition="in" filter="box(out)">
                                      <p:cBhvr>
                                        <p:cTn id="22" dur="500"/>
                                        <p:tgtEl>
                                          <p:spTgt spid="491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9160"/>
                                        </p:tgtEl>
                                        <p:attrNameLst>
                                          <p:attrName>style.visibility</p:attrName>
                                        </p:attrNameLst>
                                      </p:cBhvr>
                                      <p:to>
                                        <p:strVal val="visible"/>
                                      </p:to>
                                    </p:set>
                                    <p:animEffect transition="in" filter="box(in)">
                                      <p:cBhvr>
                                        <p:cTn id="27" dur="500"/>
                                        <p:tgtEl>
                                          <p:spTgt spid="49160"/>
                                        </p:tgtEl>
                                      </p:cBhvr>
                                    </p:animEffect>
                                  </p:childTnLst>
                                  <p:subTnLst>
                                    <p:audio>
                                      <p:cMediaNode>
                                        <p:cTn display="0" masterRel="sameClick">
                                          <p:stCondLst>
                                            <p:cond evt="begin" delay="0">
                                              <p:tn val="25"/>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autoUpdateAnimBg="0"/>
      <p:bldP spid="49155" grpId="0" autoUpdateAnimBg="0"/>
      <p:bldP spid="49156" grpId="0" autoUpdateAnimBg="0"/>
      <p:bldP spid="49157" grpId="0" autoUpdateAnimBg="0"/>
      <p:bldP spid="49160"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0">
            <a:extLst>
              <a:ext uri="{FF2B5EF4-FFF2-40B4-BE49-F238E27FC236}">
                <a16:creationId xmlns:a16="http://schemas.microsoft.com/office/drawing/2014/main" id="{7CD717B5-F3C7-4EB8-B9BB-B4907F610BCF}"/>
              </a:ext>
            </a:extLst>
          </p:cNvPr>
          <p:cNvSpPr txBox="1">
            <a:spLocks noChangeArrowheads="1"/>
          </p:cNvSpPr>
          <p:nvPr/>
        </p:nvSpPr>
        <p:spPr bwMode="auto">
          <a:xfrm>
            <a:off x="251619" y="628552"/>
            <a:ext cx="864076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000099"/>
                </a:solidFill>
                <a:latin typeface="Times New Roman" panose="02020603050405020304" pitchFamily="18" charset="0"/>
              </a:rPr>
              <a:t>　　</a:t>
            </a:r>
            <a:r>
              <a:rPr lang="en-US" altLang="zh-CN" sz="2400" dirty="0">
                <a:solidFill>
                  <a:srgbClr val="000099"/>
                </a:solidFill>
                <a:latin typeface="Times New Roman" panose="02020603050405020304" pitchFamily="18" charset="0"/>
              </a:rPr>
              <a:t>III. </a:t>
            </a:r>
            <a:r>
              <a:rPr lang="en-US" altLang="zh-CN" dirty="0">
                <a:solidFill>
                  <a:srgbClr val="000099"/>
                </a:solidFill>
                <a:latin typeface="Times New Roman" panose="02020603050405020304" pitchFamily="18" charset="0"/>
              </a:rPr>
              <a:t>Add a new state based on the how much information the circuit must remember</a:t>
            </a:r>
            <a:endParaRPr lang="zh-CN" altLang="en-US" sz="2400" dirty="0">
              <a:latin typeface="Times New Roman" panose="02020603050405020304" pitchFamily="18" charset="0"/>
            </a:endParaRPr>
          </a:p>
          <a:p>
            <a:pPr algn="just" eaLnBrk="1" hangingPunct="1"/>
            <a:r>
              <a:rPr lang="zh-CN" altLang="en-US" sz="2400" dirty="0">
                <a:latin typeface="Times New Roman" panose="02020603050405020304" pitchFamily="18" charset="0"/>
              </a:rPr>
              <a:t> </a:t>
            </a:r>
          </a:p>
          <a:p>
            <a:pPr algn="just" eaLnBrk="1" hangingPunct="1"/>
            <a:r>
              <a:rPr lang="zh-CN" altLang="en-US" sz="2400" dirty="0">
                <a:latin typeface="Times New Roman" panose="02020603050405020304" pitchFamily="18" charset="0"/>
              </a:rPr>
              <a:t>　　</a:t>
            </a:r>
            <a:r>
              <a:rPr lang="en-US" altLang="zh-CN" dirty="0">
                <a:solidFill>
                  <a:schemeClr val="tx2"/>
                </a:solidFill>
                <a:latin typeface="Times New Roman" panose="02020603050405020304" pitchFamily="18" charset="0"/>
              </a:rPr>
              <a:t>The number of states in the synchronous sequential circuit depends on the amount of information that must be remembered and distinguished.</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54275" name="Picture 11" descr="Right_Green">
            <a:hlinkClick r:id="" action="ppaction://hlinkshowjump?jump=nextslide"/>
            <a:extLst>
              <a:ext uri="{FF2B5EF4-FFF2-40B4-BE49-F238E27FC236}">
                <a16:creationId xmlns:a16="http://schemas.microsoft.com/office/drawing/2014/main" id="{60A0542A-EE9F-448A-B4D9-0660F02138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6" name="Picture 12" descr="Left_Green">
            <a:hlinkClick r:id="" action="ppaction://hlinkshowjump?jump=previousslide"/>
            <a:extLst>
              <a:ext uri="{FF2B5EF4-FFF2-40B4-BE49-F238E27FC236}">
                <a16:creationId xmlns:a16="http://schemas.microsoft.com/office/drawing/2014/main" id="{CCBA689F-EAF7-43D4-8A34-9AF181243E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Text Box 15">
            <a:extLst>
              <a:ext uri="{FF2B5EF4-FFF2-40B4-BE49-F238E27FC236}">
                <a16:creationId xmlns:a16="http://schemas.microsoft.com/office/drawing/2014/main" id="{1171405B-F9E7-4A05-9353-B94C6553E6B9}"/>
              </a:ext>
            </a:extLst>
          </p:cNvPr>
          <p:cNvSpPr txBox="1">
            <a:spLocks noChangeArrowheads="1"/>
          </p:cNvSpPr>
          <p:nvPr/>
        </p:nvSpPr>
        <p:spPr bwMode="auto">
          <a:xfrm>
            <a:off x="179388" y="3284538"/>
            <a:ext cx="88392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IV</a:t>
            </a:r>
            <a:r>
              <a:rPr lang="en-US" altLang="zh-CN" dirty="0">
                <a:solidFill>
                  <a:srgbClr val="000099"/>
                </a:solidFill>
                <a:latin typeface="Times New Roman" panose="02020603050405020304" pitchFamily="18" charset="0"/>
              </a:rPr>
              <a:t>. Determine the output of the circuit at each moment</a:t>
            </a:r>
            <a:r>
              <a:rPr lang="zh-CN" altLang="en-US" sz="2400" dirty="0">
                <a:solidFill>
                  <a:schemeClr val="accent1"/>
                </a:solidFill>
                <a:latin typeface="Times New Roman" panose="02020603050405020304" pitchFamily="18" charset="0"/>
              </a:rPr>
              <a:t></a:t>
            </a:r>
          </a:p>
          <a:p>
            <a:pPr algn="just" eaLnBrk="1" hangingPunct="1"/>
            <a:endParaRPr lang="zh-CN" altLang="en-US" sz="2400" dirty="0">
              <a:solidFill>
                <a:schemeClr val="accent1"/>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When establishing the basic state diagram, the output values at each moment must be determined. </a:t>
            </a:r>
          </a:p>
          <a:p>
            <a:pPr algn="just" eaLnBrk="1" hangingPunct="1"/>
            <a:r>
              <a:rPr lang="en-US" altLang="zh-CN" dirty="0">
                <a:latin typeface="Times New Roman" panose="02020603050405020304" pitchFamily="18" charset="0"/>
              </a:rPr>
              <a:t>In the Moore type circuit, the corresponding output in each state must be indicated; </a:t>
            </a:r>
          </a:p>
          <a:p>
            <a:pPr algn="just" eaLnBrk="1" hangingPunct="1"/>
            <a:r>
              <a:rPr lang="en-US" altLang="zh-CN" dirty="0">
                <a:latin typeface="Times New Roman" panose="02020603050405020304" pitchFamily="18" charset="0"/>
              </a:rPr>
              <a:t>in the Mealy type circuit, the output value from each state under different inputs must be indicated.</a:t>
            </a:r>
            <a:endParaRPr lang="zh-CN" altLang="en-US" sz="2400" dirty="0">
              <a:latin typeface="Times New Roman" panose="02020603050405020304" pitchFamily="18" charset="0"/>
            </a:endParaRPr>
          </a:p>
        </p:txBody>
      </p:sp>
    </p:spTree>
    <p:extLst>
      <p:ext uri="{BB962C8B-B14F-4D97-AF65-F5344CB8AC3E}">
        <p14:creationId xmlns:p14="http://schemas.microsoft.com/office/powerpoint/2010/main" val="1587305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blinds(horizontal)">
                                      <p:cBhvr>
                                        <p:cTn id="7" dur="500"/>
                                        <p:tgtEl>
                                          <p:spTgt spid="501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181"/>
                                        </p:tgtEl>
                                        <p:attrNameLst>
                                          <p:attrName>style.visibility</p:attrName>
                                        </p:attrNameLst>
                                      </p:cBhvr>
                                      <p:to>
                                        <p:strVal val="visible"/>
                                      </p:to>
                                    </p:set>
                                    <p:animEffect transition="in" filter="blinds(horizontal)">
                                      <p:cBhvr>
                                        <p:cTn id="12" dur="500"/>
                                        <p:tgtEl>
                                          <p:spTgt spid="50181"/>
                                        </p:tgtEl>
                                      </p:cBhvr>
                                    </p:animEffect>
                                  </p:childTnLst>
                                  <p:subTnLst>
                                    <p:audio>
                                      <p:cMediaNode>
                                        <p:cTn display="0" masterRel="sameClick">
                                          <p:stCondLst>
                                            <p:cond evt="begin" delay="0">
                                              <p:tn val="10"/>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autoUpdateAnimBg="0"/>
      <p:bldP spid="50181"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10">
            <a:extLst>
              <a:ext uri="{FF2B5EF4-FFF2-40B4-BE49-F238E27FC236}">
                <a16:creationId xmlns:a16="http://schemas.microsoft.com/office/drawing/2014/main" id="{E945E298-F22A-4084-BE7A-F3F0A4A810FA}"/>
              </a:ext>
            </a:extLst>
          </p:cNvPr>
          <p:cNvSpPr txBox="1">
            <a:spLocks noChangeArrowheads="1"/>
          </p:cNvSpPr>
          <p:nvPr/>
        </p:nvSpPr>
        <p:spPr bwMode="auto">
          <a:xfrm>
            <a:off x="224631" y="-53904"/>
            <a:ext cx="869473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CC3300"/>
                </a:solidFill>
                <a:latin typeface="Times New Roman" panose="02020603050405020304" pitchFamily="18" charset="0"/>
              </a:rPr>
              <a:t>Example: A sequence detector has an input x and an output Z. Input x is a string of random binary codes. When “011” appears in the input sequence, output Z produces a 1 output, usually Z outputs 0. Typical input and output sequences are as follows.</a:t>
            </a:r>
            <a:endParaRPr lang="en-US" altLang="zh-CN" sz="2400" dirty="0">
              <a:solidFill>
                <a:srgbClr val="CC3300"/>
              </a:solidFill>
              <a:latin typeface="Times New Roman" panose="02020603050405020304" pitchFamily="18" charset="0"/>
            </a:endParaRPr>
          </a:p>
          <a:p>
            <a:pPr eaLnBrk="1" hangingPunct="1"/>
            <a:r>
              <a:rPr lang="en-US" altLang="zh-CN" dirty="0">
                <a:solidFill>
                  <a:srgbClr val="CC3300"/>
                </a:solidFill>
                <a:latin typeface="Times New Roman" panose="02020603050405020304" pitchFamily="18" charset="0"/>
              </a:rPr>
              <a:t>	</a:t>
            </a:r>
            <a:r>
              <a:rPr lang="zh-CN" altLang="en-US" sz="2400" dirty="0">
                <a:latin typeface="Times New Roman" panose="02020603050405020304" pitchFamily="18" charset="0"/>
              </a:rPr>
              <a:t>　</a:t>
            </a:r>
            <a:r>
              <a:rPr lang="en-US" altLang="zh-CN" sz="2400" b="1" dirty="0">
                <a:solidFill>
                  <a:srgbClr val="000099"/>
                </a:solidFill>
                <a:latin typeface="Times New Roman" panose="02020603050405020304" pitchFamily="18" charset="0"/>
              </a:rPr>
              <a:t>Input x:</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p>
          <a:p>
            <a:pPr eaLnBrk="1" hangingPunct="1"/>
            <a:r>
              <a:rPr lang="zh-CN" altLang="en-US" sz="2400" b="1" dirty="0">
                <a:solidFill>
                  <a:srgbClr val="000099"/>
                </a:solidFill>
                <a:latin typeface="Times New Roman" panose="02020603050405020304" pitchFamily="18" charset="0"/>
              </a:rPr>
              <a:t>　　　</a:t>
            </a:r>
            <a:r>
              <a:rPr lang="en-US" altLang="zh-CN" dirty="0">
                <a:solidFill>
                  <a:srgbClr val="000099"/>
                </a:solidFill>
                <a:latin typeface="Times New Roman" panose="02020603050405020304" pitchFamily="18" charset="0"/>
              </a:rPr>
              <a:t>Output  </a:t>
            </a:r>
            <a:r>
              <a:rPr lang="en-US" altLang="zh-CN" sz="2400" b="1" dirty="0">
                <a:solidFill>
                  <a:srgbClr val="000099"/>
                </a:solidFill>
                <a:latin typeface="Times New Roman" panose="02020603050405020304" pitchFamily="18" charset="0"/>
              </a:rPr>
              <a:t>Z:</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a:t>
            </a:r>
            <a:r>
              <a:rPr lang="zh-CN" altLang="en-US" sz="2400" b="1" dirty="0">
                <a:solidFill>
                  <a:srgbClr val="000099"/>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0</a:t>
            </a:r>
          </a:p>
          <a:p>
            <a:pPr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Try to make the basic state diagram and the basic state table of the sequence detector.</a:t>
            </a:r>
            <a:endParaRPr lang="zh-CN" altLang="en-US" sz="2400" dirty="0">
              <a:latin typeface="Times New Roman" panose="02020603050405020304" pitchFamily="18" charset="0"/>
            </a:endParaRPr>
          </a:p>
        </p:txBody>
      </p:sp>
      <p:sp>
        <p:nvSpPr>
          <p:cNvPr id="51203" name="Text Box 11">
            <a:extLst>
              <a:ext uri="{FF2B5EF4-FFF2-40B4-BE49-F238E27FC236}">
                <a16:creationId xmlns:a16="http://schemas.microsoft.com/office/drawing/2014/main" id="{CF919A34-1889-4BA5-81A3-FD38412DE1AC}"/>
              </a:ext>
            </a:extLst>
          </p:cNvPr>
          <p:cNvSpPr txBox="1">
            <a:spLocks noChangeArrowheads="1"/>
          </p:cNvSpPr>
          <p:nvPr/>
        </p:nvSpPr>
        <p:spPr bwMode="auto">
          <a:xfrm>
            <a:off x="298928" y="3199035"/>
            <a:ext cx="84740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A:</a:t>
            </a:r>
            <a:r>
              <a:rPr lang="zh-CN" altLang="en-US" sz="2400" b="1" dirty="0">
                <a:solidFill>
                  <a:srgbClr val="CC3300"/>
                </a:solidFill>
                <a:latin typeface="Times New Roman" panose="02020603050405020304" pitchFamily="18" charset="0"/>
              </a:rPr>
              <a:t>　</a:t>
            </a:r>
            <a:r>
              <a:rPr lang="en-US" altLang="zh-CN" sz="2400" b="1" dirty="0">
                <a:solidFill>
                  <a:srgbClr val="000099"/>
                </a:solidFill>
                <a:latin typeface="Times New Roman" panose="02020603050405020304" pitchFamily="18" charset="0"/>
              </a:rPr>
              <a:t>1. </a:t>
            </a:r>
            <a:r>
              <a:rPr lang="en-US" altLang="zh-CN" dirty="0">
                <a:solidFill>
                  <a:srgbClr val="000099"/>
                </a:solidFill>
                <a:latin typeface="Times New Roman" panose="02020603050405020304" pitchFamily="18" charset="0"/>
              </a:rPr>
              <a:t>Assumed that the logic function of the sequence detector is implemented by Mealy type synchronous sequential logic circuit.</a:t>
            </a:r>
            <a:endParaRPr lang="en-US" altLang="zh-CN" sz="2400" b="1" dirty="0">
              <a:solidFill>
                <a:srgbClr val="000099"/>
              </a:solidFill>
              <a:latin typeface="Times New Roman" panose="02020603050405020304" pitchFamily="18" charset="0"/>
            </a:endParaRPr>
          </a:p>
        </p:txBody>
      </p:sp>
      <p:sp>
        <p:nvSpPr>
          <p:cNvPr id="51204" name="Text Box 12">
            <a:extLst>
              <a:ext uri="{FF2B5EF4-FFF2-40B4-BE49-F238E27FC236}">
                <a16:creationId xmlns:a16="http://schemas.microsoft.com/office/drawing/2014/main" id="{0C4AC783-52B5-42EF-8AD2-4617B7AEAAF7}"/>
              </a:ext>
            </a:extLst>
          </p:cNvPr>
          <p:cNvSpPr txBox="1">
            <a:spLocks noChangeArrowheads="1"/>
          </p:cNvSpPr>
          <p:nvPr/>
        </p:nvSpPr>
        <p:spPr bwMode="auto">
          <a:xfrm>
            <a:off x="0" y="4180344"/>
            <a:ext cx="900969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en-US" altLang="zh-CN" sz="2400" b="1" dirty="0">
                <a:latin typeface="Times New Roman" panose="02020603050405020304" pitchFamily="18" charset="0"/>
              </a:rPr>
              <a:t>Assume:</a:t>
            </a:r>
            <a:r>
              <a:rPr lang="en-US" altLang="zh-CN" sz="2400" dirty="0">
                <a:latin typeface="Times New Roman" panose="02020603050405020304" pitchFamily="18" charset="0"/>
              </a:rPr>
              <a:t>        </a:t>
            </a:r>
          </a:p>
          <a:p>
            <a:pPr eaLnBrk="1" hangingPunct="1"/>
            <a:r>
              <a:rPr lang="en-US" altLang="zh-CN" sz="2400" b="1" dirty="0">
                <a:solidFill>
                  <a:srgbClr val="000099"/>
                </a:solidFill>
                <a:latin typeface="Times New Roman" panose="02020603050405020304" pitchFamily="18" charset="0"/>
              </a:rPr>
              <a:t>State A</a:t>
            </a:r>
            <a:r>
              <a:rPr lang="en-US" altLang="zh-CN" sz="2400" dirty="0">
                <a:solidFill>
                  <a:srgbClr val="000099"/>
                </a:solidFill>
                <a:latin typeface="Times New Roman" panose="02020603050405020304" pitchFamily="18" charset="0"/>
              </a:rPr>
              <a:t>------Initial</a:t>
            </a:r>
            <a:r>
              <a:rPr lang="en-US" altLang="zh-CN" dirty="0">
                <a:solidFill>
                  <a:srgbClr val="000099"/>
                </a:solidFill>
                <a:latin typeface="Times New Roman" panose="02020603050405020304" pitchFamily="18" charset="0"/>
              </a:rPr>
              <a:t> state of the circuit</a:t>
            </a:r>
            <a:r>
              <a:rPr lang="zh-CN" altLang="en-US" sz="2400" dirty="0">
                <a:latin typeface="Times New Roman" panose="02020603050405020304" pitchFamily="18" charset="0"/>
              </a:rPr>
              <a:t>；</a:t>
            </a:r>
          </a:p>
          <a:p>
            <a:pPr eaLnBrk="1" hangingPunct="1"/>
            <a:r>
              <a:rPr lang="en-US" altLang="zh-CN" sz="2400" b="1" dirty="0">
                <a:solidFill>
                  <a:srgbClr val="000099"/>
                </a:solidFill>
                <a:latin typeface="Times New Roman" panose="02020603050405020304" pitchFamily="18" charset="0"/>
              </a:rPr>
              <a:t>State B</a:t>
            </a:r>
            <a:r>
              <a:rPr lang="en-US" altLang="zh-CN" sz="2400" dirty="0">
                <a:solidFill>
                  <a:srgbClr val="000099"/>
                </a:solidFill>
                <a:latin typeface="Times New Roman" panose="02020603050405020304" pitchFamily="18" charset="0"/>
              </a:rPr>
              <a:t>------</a:t>
            </a:r>
            <a:r>
              <a:rPr lang="en-US" altLang="zh-CN" dirty="0">
                <a:latin typeface="Times New Roman" panose="02020603050405020304" pitchFamily="18" charset="0"/>
              </a:rPr>
              <a:t> Indicates that the first signal "0" in the sequence "011" has been received; </a:t>
            </a:r>
            <a:endParaRPr lang="zh-CN" altLang="en-US" sz="2400" dirty="0">
              <a:latin typeface="Times New Roman" panose="02020603050405020304" pitchFamily="18" charset="0"/>
            </a:endParaRPr>
          </a:p>
          <a:p>
            <a:pPr eaLnBrk="1" hangingPunct="1"/>
            <a:r>
              <a:rPr lang="en-US" altLang="zh-CN" sz="2400" b="1" dirty="0">
                <a:solidFill>
                  <a:srgbClr val="000099"/>
                </a:solidFill>
                <a:latin typeface="Times New Roman" panose="02020603050405020304" pitchFamily="18" charset="0"/>
              </a:rPr>
              <a:t>State C</a:t>
            </a:r>
            <a:r>
              <a:rPr lang="en-US" altLang="zh-CN" sz="2400" dirty="0">
                <a:solidFill>
                  <a:srgbClr val="000099"/>
                </a:solidFill>
                <a:latin typeface="Times New Roman" panose="02020603050405020304" pitchFamily="18" charset="0"/>
              </a:rPr>
              <a:t>------</a:t>
            </a:r>
            <a:r>
              <a:rPr lang="en-US" altLang="zh-CN" dirty="0">
                <a:latin typeface="Times New Roman" panose="02020603050405020304" pitchFamily="18" charset="0"/>
              </a:rPr>
              <a:t>Indicates that the first two digits of "01" in the sequence "011" have been received;</a:t>
            </a:r>
          </a:p>
          <a:p>
            <a:pPr eaLnBrk="1" hangingPunct="1"/>
            <a:r>
              <a:rPr lang="en-US" altLang="zh-CN" sz="2400" b="1" dirty="0">
                <a:solidFill>
                  <a:srgbClr val="000099"/>
                </a:solidFill>
                <a:latin typeface="Times New Roman" panose="02020603050405020304" pitchFamily="18" charset="0"/>
              </a:rPr>
              <a:t>State D</a:t>
            </a:r>
            <a:r>
              <a:rPr lang="en-US" altLang="zh-CN" sz="2400" dirty="0">
                <a:solidFill>
                  <a:srgbClr val="000099"/>
                </a:solidFill>
                <a:latin typeface="Times New Roman" panose="02020603050405020304" pitchFamily="18" charset="0"/>
              </a:rPr>
              <a:t>------</a:t>
            </a:r>
            <a:r>
              <a:rPr lang="en-US" altLang="zh-CN" dirty="0">
                <a:latin typeface="Times New Roman" panose="02020603050405020304" pitchFamily="18" charset="0"/>
              </a:rPr>
              <a:t> Indicates that the sequence "011" has been received.</a:t>
            </a:r>
            <a:endParaRPr lang="zh-CN" altLang="en-US" sz="2400" dirty="0">
              <a:latin typeface="Times New Roman" panose="02020603050405020304" pitchFamily="18" charset="0"/>
            </a:endParaRPr>
          </a:p>
        </p:txBody>
      </p:sp>
      <p:pic>
        <p:nvPicPr>
          <p:cNvPr id="55301" name="Picture 13" descr="Right_Green">
            <a:hlinkClick r:id="" action="ppaction://hlinkshowjump?jump=nextslide"/>
            <a:extLst>
              <a:ext uri="{FF2B5EF4-FFF2-40B4-BE49-F238E27FC236}">
                <a16:creationId xmlns:a16="http://schemas.microsoft.com/office/drawing/2014/main" id="{C510BF64-7B44-42E0-AF82-D4F4F41C93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14" descr="Left_Green">
            <a:hlinkClick r:id="" action="ppaction://hlinkshowjump?jump=previousslide"/>
            <a:extLst>
              <a:ext uri="{FF2B5EF4-FFF2-40B4-BE49-F238E27FC236}">
                <a16:creationId xmlns:a16="http://schemas.microsoft.com/office/drawing/2014/main" id="{48E26A9C-1BBA-48EE-9289-2E7731A73B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48908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randombar(horizontal)">
                                      <p:cBhvr>
                                        <p:cTn id="7" dur="500"/>
                                        <p:tgtEl>
                                          <p:spTgt spid="51202"/>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3"/>
                                        </p:tgtEl>
                                        <p:attrNameLst>
                                          <p:attrName>style.visibility</p:attrName>
                                        </p:attrNameLst>
                                      </p:cBhvr>
                                      <p:to>
                                        <p:strVal val="visible"/>
                                      </p:to>
                                    </p:set>
                                    <p:animEffect transition="in" filter="wipe(left)">
                                      <p:cBhvr>
                                        <p:cTn id="12" dur="500"/>
                                        <p:tgtEl>
                                          <p:spTgt spid="512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204"/>
                                        </p:tgtEl>
                                        <p:attrNameLst>
                                          <p:attrName>style.visibility</p:attrName>
                                        </p:attrNameLst>
                                      </p:cBhvr>
                                      <p:to>
                                        <p:strVal val="visible"/>
                                      </p:to>
                                    </p:set>
                                    <p:animEffect transition="in" filter="wipe(up)">
                                      <p:cBhvr>
                                        <p:cTn id="17" dur="500"/>
                                        <p:tgtEl>
                                          <p:spTgt spid="51204"/>
                                        </p:tgtEl>
                                      </p:cBhvr>
                                    </p:animEffect>
                                  </p:childTnLst>
                                  <p:subTnLst>
                                    <p:audio>
                                      <p:cMediaNode>
                                        <p:cTn display="0" masterRel="sameClick">
                                          <p:stCondLst>
                                            <p:cond evt="begin" delay="0">
                                              <p:tn val="15"/>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utoUpdateAnimBg="0"/>
      <p:bldP spid="51203" grpId="0" autoUpdateAnimBg="0"/>
      <p:bldP spid="5120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4" descr="Right_Green">
            <a:hlinkClick r:id="" action="ppaction://hlinkshowjump?jump=nextslide"/>
            <a:extLst>
              <a:ext uri="{FF2B5EF4-FFF2-40B4-BE49-F238E27FC236}">
                <a16:creationId xmlns:a16="http://schemas.microsoft.com/office/drawing/2014/main" id="{7203A315-266F-4961-BC60-EEF1F0FD5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3" name="Picture 5" descr="Left_Green">
            <a:hlinkClick r:id="" action="ppaction://hlinkshowjump?jump=previousslide"/>
            <a:extLst>
              <a:ext uri="{FF2B5EF4-FFF2-40B4-BE49-F238E27FC236}">
                <a16:creationId xmlns:a16="http://schemas.microsoft.com/office/drawing/2014/main" id="{0AD35CAF-2922-42C0-9AEA-DD5E90E5C6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ext Box 6">
            <a:extLst>
              <a:ext uri="{FF2B5EF4-FFF2-40B4-BE49-F238E27FC236}">
                <a16:creationId xmlns:a16="http://schemas.microsoft.com/office/drawing/2014/main" id="{A0ABC2F0-8035-4D82-96E9-0F5494D54F56}"/>
              </a:ext>
            </a:extLst>
          </p:cNvPr>
          <p:cNvSpPr txBox="1">
            <a:spLocks noChangeArrowheads="1"/>
          </p:cNvSpPr>
          <p:nvPr/>
        </p:nvSpPr>
        <p:spPr bwMode="auto">
          <a:xfrm>
            <a:off x="1042988" y="1052513"/>
            <a:ext cx="69133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The basic state diagram can be drawn as follows: </a:t>
            </a:r>
            <a:r>
              <a:rPr lang="en-US" altLang="zh-CN" sz="2400" b="1" dirty="0">
                <a:solidFill>
                  <a:srgbClr val="000099"/>
                </a:solidFill>
                <a:latin typeface="Times New Roman" panose="02020603050405020304" pitchFamily="18" charset="0"/>
              </a:rPr>
              <a:t>0</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56325" name="Picture 7">
            <a:extLst>
              <a:ext uri="{FF2B5EF4-FFF2-40B4-BE49-F238E27FC236}">
                <a16:creationId xmlns:a16="http://schemas.microsoft.com/office/drawing/2014/main" id="{A9BFCA2E-8D78-4D76-9627-FBE3BDD511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1773238"/>
            <a:ext cx="2689225" cy="1806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66642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blinds(horizontal)">
                                      <p:cBhvr>
                                        <p:cTn id="7" dur="500"/>
                                        <p:tgtEl>
                                          <p:spTgt spid="52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descr="Right_Green">
            <a:hlinkClick r:id="" action="ppaction://hlinkshowjump?jump=nextslide"/>
            <a:extLst>
              <a:ext uri="{FF2B5EF4-FFF2-40B4-BE49-F238E27FC236}">
                <a16:creationId xmlns:a16="http://schemas.microsoft.com/office/drawing/2014/main" id="{3A1F844A-D425-403B-9AA6-43D2733029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Picture 5" descr="Left_Green">
            <a:hlinkClick r:id="" action="ppaction://hlinkshowjump?jump=previousslide"/>
            <a:extLst>
              <a:ext uri="{FF2B5EF4-FFF2-40B4-BE49-F238E27FC236}">
                <a16:creationId xmlns:a16="http://schemas.microsoft.com/office/drawing/2014/main" id="{AE569E47-89EC-40D0-AE53-C0BB2BE9E6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6">
            <a:extLst>
              <a:ext uri="{FF2B5EF4-FFF2-40B4-BE49-F238E27FC236}">
                <a16:creationId xmlns:a16="http://schemas.microsoft.com/office/drawing/2014/main" id="{63D77922-3415-45AB-B37D-D4F9189E1016}"/>
              </a:ext>
            </a:extLst>
          </p:cNvPr>
          <p:cNvSpPr txBox="1">
            <a:spLocks noChangeArrowheads="1"/>
          </p:cNvSpPr>
          <p:nvPr/>
        </p:nvSpPr>
        <p:spPr bwMode="auto">
          <a:xfrm>
            <a:off x="1042988" y="1052513"/>
            <a:ext cx="7543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The basic state diagram can be drawn as follows</a:t>
            </a:r>
            <a:r>
              <a:rPr lang="zh-CN" altLang="en-US" sz="2400" b="1" dirty="0">
                <a:solidFill>
                  <a:srgbClr val="000099"/>
                </a:solidFill>
                <a:latin typeface="Times New Roman" panose="02020603050405020304" pitchFamily="18" charset="0"/>
              </a:rPr>
              <a:t>：</a:t>
            </a:r>
            <a:r>
              <a:rPr lang="en-US" altLang="zh-CN" sz="2400" b="1" dirty="0">
                <a:solidFill>
                  <a:srgbClr val="000099"/>
                </a:solidFill>
                <a:latin typeface="Times New Roman" panose="02020603050405020304" pitchFamily="18" charset="0"/>
              </a:rPr>
              <a:t>01</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57349" name="Picture 4">
            <a:extLst>
              <a:ext uri="{FF2B5EF4-FFF2-40B4-BE49-F238E27FC236}">
                <a16:creationId xmlns:a16="http://schemas.microsoft.com/office/drawing/2014/main" id="{7E93DF61-A29E-4C28-8B0D-9B1AF53F70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1989138"/>
            <a:ext cx="2754313" cy="2376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0629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animEffect transition="in" filter="blinds(horizontal)">
                                      <p:cBhvr>
                                        <p:cTn id="7" dur="500"/>
                                        <p:tgtEl>
                                          <p:spTgt spid="53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4" descr="Right_Green">
            <a:hlinkClick r:id="" action="ppaction://hlinkshowjump?jump=nextslide"/>
            <a:extLst>
              <a:ext uri="{FF2B5EF4-FFF2-40B4-BE49-F238E27FC236}">
                <a16:creationId xmlns:a16="http://schemas.microsoft.com/office/drawing/2014/main" id="{06AF24C9-7615-4690-8EAF-46D58C731D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1" name="Picture 5" descr="Left_Green">
            <a:hlinkClick r:id="" action="ppaction://hlinkshowjump?jump=previousslide"/>
            <a:extLst>
              <a:ext uri="{FF2B5EF4-FFF2-40B4-BE49-F238E27FC236}">
                <a16:creationId xmlns:a16="http://schemas.microsoft.com/office/drawing/2014/main" id="{470AF84E-4BC3-4754-BF88-0FC3051E26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 Box 6">
            <a:extLst>
              <a:ext uri="{FF2B5EF4-FFF2-40B4-BE49-F238E27FC236}">
                <a16:creationId xmlns:a16="http://schemas.microsoft.com/office/drawing/2014/main" id="{9263FF98-AAF9-4D1F-AC82-5285CB2D790F}"/>
              </a:ext>
            </a:extLst>
          </p:cNvPr>
          <p:cNvSpPr txBox="1">
            <a:spLocks noChangeArrowheads="1"/>
          </p:cNvSpPr>
          <p:nvPr/>
        </p:nvSpPr>
        <p:spPr bwMode="auto">
          <a:xfrm>
            <a:off x="1042988" y="1052513"/>
            <a:ext cx="777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The basic state diagram can be drawn as follows: </a:t>
            </a:r>
            <a:r>
              <a:rPr lang="en-US" altLang="zh-CN" sz="2400" b="1" dirty="0">
                <a:solidFill>
                  <a:srgbClr val="000099"/>
                </a:solidFill>
                <a:latin typeface="Times New Roman" panose="02020603050405020304" pitchFamily="18" charset="0"/>
              </a:rPr>
              <a:t>011</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58373" name="Picture 3">
            <a:extLst>
              <a:ext uri="{FF2B5EF4-FFF2-40B4-BE49-F238E27FC236}">
                <a16:creationId xmlns:a16="http://schemas.microsoft.com/office/drawing/2014/main" id="{41E9586D-10E7-4969-88FB-8E64E68B5F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2060575"/>
            <a:ext cx="3311525" cy="2962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4551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276"/>
                                        </p:tgtEl>
                                        <p:attrNameLst>
                                          <p:attrName>style.visibility</p:attrName>
                                        </p:attrNameLst>
                                      </p:cBhvr>
                                      <p:to>
                                        <p:strVal val="visible"/>
                                      </p:to>
                                    </p:set>
                                    <p:animEffect transition="in" filter="blinds(horizontal)">
                                      <p:cBhvr>
                                        <p:cTn id="7" dur="500"/>
                                        <p:tgtEl>
                                          <p:spTgt spid="54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4" descr="Right_Green">
            <a:hlinkClick r:id="" action="ppaction://hlinkshowjump?jump=nextslide"/>
            <a:extLst>
              <a:ext uri="{FF2B5EF4-FFF2-40B4-BE49-F238E27FC236}">
                <a16:creationId xmlns:a16="http://schemas.microsoft.com/office/drawing/2014/main" id="{075600EA-FD70-46EF-9E4B-8E772CFC5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5" name="Picture 5" descr="Left_Green">
            <a:hlinkClick r:id="" action="ppaction://hlinkshowjump?jump=previousslide"/>
            <a:extLst>
              <a:ext uri="{FF2B5EF4-FFF2-40B4-BE49-F238E27FC236}">
                <a16:creationId xmlns:a16="http://schemas.microsoft.com/office/drawing/2014/main" id="{A03745A1-69EB-439D-AB07-600E08601A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 Box 6">
            <a:extLst>
              <a:ext uri="{FF2B5EF4-FFF2-40B4-BE49-F238E27FC236}">
                <a16:creationId xmlns:a16="http://schemas.microsoft.com/office/drawing/2014/main" id="{F352289F-F597-4B04-9B7E-3118D571E324}"/>
              </a:ext>
            </a:extLst>
          </p:cNvPr>
          <p:cNvSpPr txBox="1">
            <a:spLocks noChangeArrowheads="1"/>
          </p:cNvSpPr>
          <p:nvPr/>
        </p:nvSpPr>
        <p:spPr bwMode="auto">
          <a:xfrm>
            <a:off x="1042988" y="1052513"/>
            <a:ext cx="79994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The basic state diagram can be drawn as follows: </a:t>
            </a:r>
            <a:r>
              <a:rPr lang="en-US" altLang="zh-CN" sz="2400" b="1" dirty="0">
                <a:solidFill>
                  <a:srgbClr val="000099"/>
                </a:solidFill>
                <a:latin typeface="Times New Roman" panose="02020603050405020304" pitchFamily="18" charset="0"/>
              </a:rPr>
              <a:t>011  1</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59397" name="Picture 2">
            <a:extLst>
              <a:ext uri="{FF2B5EF4-FFF2-40B4-BE49-F238E27FC236}">
                <a16:creationId xmlns:a16="http://schemas.microsoft.com/office/drawing/2014/main" id="{0714EBD8-7C03-4BFC-9433-DE70B95604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2133600"/>
            <a:ext cx="3549650" cy="330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71078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blinds(horizontal)">
                                      <p:cBhvr>
                                        <p:cTn id="7" dur="500"/>
                                        <p:tgtEl>
                                          <p:spTgt spid="55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4" descr="Right_Green">
            <a:hlinkClick r:id="" action="ppaction://hlinkshowjump?jump=nextslide"/>
            <a:extLst>
              <a:ext uri="{FF2B5EF4-FFF2-40B4-BE49-F238E27FC236}">
                <a16:creationId xmlns:a16="http://schemas.microsoft.com/office/drawing/2014/main" id="{58E3C3FA-32EE-4662-A274-9078A08C34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Picture 5" descr="Left_Green">
            <a:hlinkClick r:id="" action="ppaction://hlinkshowjump?jump=previousslide"/>
            <a:extLst>
              <a:ext uri="{FF2B5EF4-FFF2-40B4-BE49-F238E27FC236}">
                <a16:creationId xmlns:a16="http://schemas.microsoft.com/office/drawing/2014/main" id="{26127575-8FF8-4A15-B794-D7E1DB7E43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 Box 6">
            <a:extLst>
              <a:ext uri="{FF2B5EF4-FFF2-40B4-BE49-F238E27FC236}">
                <a16:creationId xmlns:a16="http://schemas.microsoft.com/office/drawing/2014/main" id="{399460AB-F56B-4276-A334-4596C06FFBF6}"/>
              </a:ext>
            </a:extLst>
          </p:cNvPr>
          <p:cNvSpPr txBox="1">
            <a:spLocks noChangeArrowheads="1"/>
          </p:cNvSpPr>
          <p:nvPr/>
        </p:nvSpPr>
        <p:spPr bwMode="auto">
          <a:xfrm>
            <a:off x="1042988" y="1052513"/>
            <a:ext cx="76565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The basic state diagram can be drawn as follows: </a:t>
            </a:r>
            <a:r>
              <a:rPr lang="en-US" altLang="zh-CN" sz="2400" b="1" dirty="0">
                <a:solidFill>
                  <a:srgbClr val="000099"/>
                </a:solidFill>
                <a:latin typeface="Times New Roman" panose="02020603050405020304" pitchFamily="18" charset="0"/>
              </a:rPr>
              <a:t>011  0</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60421" name="Picture 2">
            <a:extLst>
              <a:ext uri="{FF2B5EF4-FFF2-40B4-BE49-F238E27FC236}">
                <a16:creationId xmlns:a16="http://schemas.microsoft.com/office/drawing/2014/main" id="{6BDDF4DE-2D44-470E-9961-7DF09AE29D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8150" y="2441575"/>
            <a:ext cx="3184525" cy="2992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3242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324"/>
                                        </p:tgtEl>
                                        <p:attrNameLst>
                                          <p:attrName>style.visibility</p:attrName>
                                        </p:attrNameLst>
                                      </p:cBhvr>
                                      <p:to>
                                        <p:strVal val="visible"/>
                                      </p:to>
                                    </p:set>
                                    <p:animEffect transition="in" filter="blinds(horizontal)">
                                      <p:cBhvr>
                                        <p:cTn id="7" dur="500"/>
                                        <p:tgtEl>
                                          <p:spTgt spid="56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4" descr="Right_Green">
            <a:hlinkClick r:id="" action="ppaction://hlinkshowjump?jump=nextslide"/>
            <a:extLst>
              <a:ext uri="{FF2B5EF4-FFF2-40B4-BE49-F238E27FC236}">
                <a16:creationId xmlns:a16="http://schemas.microsoft.com/office/drawing/2014/main" id="{87B4F7E7-DBF0-4BD7-932A-E73173D3E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3" name="Picture 5" descr="Left_Green">
            <a:hlinkClick r:id="" action="ppaction://hlinkshowjump?jump=previousslide"/>
            <a:extLst>
              <a:ext uri="{FF2B5EF4-FFF2-40B4-BE49-F238E27FC236}">
                <a16:creationId xmlns:a16="http://schemas.microsoft.com/office/drawing/2014/main" id="{0A470EBD-1E9A-4163-9B47-F4389B18FE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Text Box 6">
            <a:extLst>
              <a:ext uri="{FF2B5EF4-FFF2-40B4-BE49-F238E27FC236}">
                <a16:creationId xmlns:a16="http://schemas.microsoft.com/office/drawing/2014/main" id="{1F48D7AA-03E6-4DF8-9596-16422CD82F57}"/>
              </a:ext>
            </a:extLst>
          </p:cNvPr>
          <p:cNvSpPr txBox="1">
            <a:spLocks noChangeArrowheads="1"/>
          </p:cNvSpPr>
          <p:nvPr/>
        </p:nvSpPr>
        <p:spPr bwMode="auto">
          <a:xfrm>
            <a:off x="1042988" y="1052513"/>
            <a:ext cx="74174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The basic state diagram can be drawn as follows: </a:t>
            </a:r>
            <a:r>
              <a:rPr lang="en-US" altLang="zh-CN" sz="2400" b="1" dirty="0">
                <a:solidFill>
                  <a:srgbClr val="000099"/>
                </a:solidFill>
                <a:latin typeface="Times New Roman" panose="02020603050405020304" pitchFamily="18" charset="0"/>
              </a:rPr>
              <a:t>010</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61445" name="Picture 2">
            <a:extLst>
              <a:ext uri="{FF2B5EF4-FFF2-40B4-BE49-F238E27FC236}">
                <a16:creationId xmlns:a16="http://schemas.microsoft.com/office/drawing/2014/main" id="{4ECBC12C-B5B8-4785-A796-21B00E84BB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2205038"/>
            <a:ext cx="3473450" cy="322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74285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blinds(horizontal)">
                                      <p:cBhvr>
                                        <p:cTn id="7" dur="500"/>
                                        <p:tgtEl>
                                          <p:spTgt spid="57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4" descr="Right_Green">
            <a:hlinkClick r:id="" action="ppaction://hlinkshowjump?jump=nextslide"/>
            <a:extLst>
              <a:ext uri="{FF2B5EF4-FFF2-40B4-BE49-F238E27FC236}">
                <a16:creationId xmlns:a16="http://schemas.microsoft.com/office/drawing/2014/main" id="{0C22B3A9-CC91-478A-BF6C-C479A27ED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7" name="Picture 5" descr="Left_Green">
            <a:hlinkClick r:id="" action="ppaction://hlinkshowjump?jump=previousslide"/>
            <a:extLst>
              <a:ext uri="{FF2B5EF4-FFF2-40B4-BE49-F238E27FC236}">
                <a16:creationId xmlns:a16="http://schemas.microsoft.com/office/drawing/2014/main" id="{01ACBB4E-5D08-4A5E-8A10-A36609FD30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Text Box 6">
            <a:extLst>
              <a:ext uri="{FF2B5EF4-FFF2-40B4-BE49-F238E27FC236}">
                <a16:creationId xmlns:a16="http://schemas.microsoft.com/office/drawing/2014/main" id="{92D32A31-2EF5-43F3-BBC3-0F6F073A9B36}"/>
              </a:ext>
            </a:extLst>
          </p:cNvPr>
          <p:cNvSpPr txBox="1">
            <a:spLocks noChangeArrowheads="1"/>
          </p:cNvSpPr>
          <p:nvPr/>
        </p:nvSpPr>
        <p:spPr bwMode="auto">
          <a:xfrm>
            <a:off x="1042988" y="1052513"/>
            <a:ext cx="74174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The basic state diagram can be drawn as follows: </a:t>
            </a:r>
            <a:r>
              <a:rPr lang="en-US" altLang="zh-CN" sz="2400" b="1" dirty="0">
                <a:solidFill>
                  <a:srgbClr val="000099"/>
                </a:solidFill>
                <a:latin typeface="Times New Roman" panose="02020603050405020304" pitchFamily="18" charset="0"/>
              </a:rPr>
              <a:t>00</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62469" name="Picture 2">
            <a:extLst>
              <a:ext uri="{FF2B5EF4-FFF2-40B4-BE49-F238E27FC236}">
                <a16:creationId xmlns:a16="http://schemas.microsoft.com/office/drawing/2014/main" id="{64AD74C7-1997-43EA-B86D-3A9363246A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3775" y="2381250"/>
            <a:ext cx="3270250" cy="3300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51771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blinds(horizontal)">
                                      <p:cBhvr>
                                        <p:cTn id="7" dur="500"/>
                                        <p:tgtEl>
                                          <p:spTgt spid="58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descr="Right_Green">
            <a:hlinkClick r:id="" action="ppaction://hlinkshowjump?jump=nextslide"/>
            <a:extLst>
              <a:ext uri="{FF2B5EF4-FFF2-40B4-BE49-F238E27FC236}">
                <a16:creationId xmlns:a16="http://schemas.microsoft.com/office/drawing/2014/main" id="{048E6CB3-FF8A-4F79-B07D-22C4A76295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1" name="Picture 5" descr="Left_Green">
            <a:hlinkClick r:id="" action="ppaction://hlinkshowjump?jump=previousslide"/>
            <a:extLst>
              <a:ext uri="{FF2B5EF4-FFF2-40B4-BE49-F238E27FC236}">
                <a16:creationId xmlns:a16="http://schemas.microsoft.com/office/drawing/2014/main" id="{3ECC2CDE-B54B-47E4-BED8-BB8EFA1889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Text Box 6">
            <a:extLst>
              <a:ext uri="{FF2B5EF4-FFF2-40B4-BE49-F238E27FC236}">
                <a16:creationId xmlns:a16="http://schemas.microsoft.com/office/drawing/2014/main" id="{D04AAB2B-5741-4DEC-BC9A-C859651B2CC8}"/>
              </a:ext>
            </a:extLst>
          </p:cNvPr>
          <p:cNvSpPr txBox="1">
            <a:spLocks noChangeArrowheads="1"/>
          </p:cNvSpPr>
          <p:nvPr/>
        </p:nvSpPr>
        <p:spPr bwMode="auto">
          <a:xfrm>
            <a:off x="1042988" y="1052513"/>
            <a:ext cx="72009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The basic state diagram can be drawn as follows: </a:t>
            </a:r>
            <a:r>
              <a:rPr lang="en-US" altLang="zh-CN" sz="2400" b="1" dirty="0">
                <a:solidFill>
                  <a:srgbClr val="000099"/>
                </a:solidFill>
                <a:latin typeface="Times New Roman" panose="02020603050405020304" pitchFamily="18" charset="0"/>
              </a:rPr>
              <a:t>1</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63493" name="Picture 2">
            <a:extLst>
              <a:ext uri="{FF2B5EF4-FFF2-40B4-BE49-F238E27FC236}">
                <a16:creationId xmlns:a16="http://schemas.microsoft.com/office/drawing/2014/main" id="{CAEFC32A-245B-4F78-A6C1-703B0A5735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2133600"/>
            <a:ext cx="3452812" cy="3451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68678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blinds(horizontal)">
                                      <p:cBhvr>
                                        <p:cTn id="7" dur="500"/>
                                        <p:tgtEl>
                                          <p:spTgt spid="59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descr="TU5-18">
            <a:extLst>
              <a:ext uri="{FF2B5EF4-FFF2-40B4-BE49-F238E27FC236}">
                <a16:creationId xmlns:a16="http://schemas.microsoft.com/office/drawing/2014/main" id="{6A0FC003-8F80-4958-A1C4-397313D2DA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989138"/>
            <a:ext cx="4410075" cy="401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5" name="Picture 4" descr="Right_Green">
            <a:hlinkClick r:id="" action="ppaction://hlinkshowjump?jump=nextslide"/>
            <a:extLst>
              <a:ext uri="{FF2B5EF4-FFF2-40B4-BE49-F238E27FC236}">
                <a16:creationId xmlns:a16="http://schemas.microsoft.com/office/drawing/2014/main" id="{0DC66E0E-2936-4A45-B703-5F12AD9C78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6" name="Picture 5" descr="Left_Green">
            <a:hlinkClick r:id="" action="ppaction://hlinkshowjump?jump=previousslide"/>
            <a:extLst>
              <a:ext uri="{FF2B5EF4-FFF2-40B4-BE49-F238E27FC236}">
                <a16:creationId xmlns:a16="http://schemas.microsoft.com/office/drawing/2014/main" id="{C62E20A3-9CD7-4D34-AC7F-0021099618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Text Box 6">
            <a:extLst>
              <a:ext uri="{FF2B5EF4-FFF2-40B4-BE49-F238E27FC236}">
                <a16:creationId xmlns:a16="http://schemas.microsoft.com/office/drawing/2014/main" id="{4F01AA3C-D380-4287-8E75-0F4BC802CB15}"/>
              </a:ext>
            </a:extLst>
          </p:cNvPr>
          <p:cNvSpPr txBox="1">
            <a:spLocks noChangeArrowheads="1"/>
          </p:cNvSpPr>
          <p:nvPr/>
        </p:nvSpPr>
        <p:spPr bwMode="auto">
          <a:xfrm>
            <a:off x="1042988" y="1052513"/>
            <a:ext cx="35274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000099"/>
                </a:solidFill>
                <a:latin typeface="Times New Roman" panose="02020603050405020304" pitchFamily="18" charset="0"/>
              </a:rPr>
              <a:t>The basic state diagram can be drawn as follows: </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spTree>
    <p:extLst>
      <p:ext uri="{BB962C8B-B14F-4D97-AF65-F5344CB8AC3E}">
        <p14:creationId xmlns:p14="http://schemas.microsoft.com/office/powerpoint/2010/main" val="12856277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blinds(horizontal)">
                                      <p:cBhvr>
                                        <p:cTn id="7" dur="500"/>
                                        <p:tgtEl>
                                          <p:spTgt spid="60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0418"/>
                                        </p:tgtEl>
                                        <p:attrNameLst>
                                          <p:attrName>style.visibility</p:attrName>
                                        </p:attrNameLst>
                                      </p:cBhvr>
                                      <p:to>
                                        <p:strVal val="visible"/>
                                      </p:to>
                                    </p:set>
                                    <p:animEffect transition="in" filter="dissolve">
                                      <p:cBhvr>
                                        <p:cTn id="12" dur="500"/>
                                        <p:tgtEl>
                                          <p:spTgt spid="60418"/>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1"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14" descr="Right_Green">
            <a:hlinkClick r:id="" action="ppaction://hlinkshowjump?jump=nextslide"/>
            <a:extLst>
              <a:ext uri="{FF2B5EF4-FFF2-40B4-BE49-F238E27FC236}">
                <a16:creationId xmlns:a16="http://schemas.microsoft.com/office/drawing/2014/main" id="{33CDE28C-3C29-4406-BDB3-E9BE87077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39" name="Picture 15" descr="Left_Green">
            <a:hlinkClick r:id="" action="ppaction://hlinkshowjump?jump=previousslide"/>
            <a:extLst>
              <a:ext uri="{FF2B5EF4-FFF2-40B4-BE49-F238E27FC236}">
                <a16:creationId xmlns:a16="http://schemas.microsoft.com/office/drawing/2014/main" id="{36211477-8550-40CD-B901-96A6C7605A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2">
            <a:extLst>
              <a:ext uri="{FF2B5EF4-FFF2-40B4-BE49-F238E27FC236}">
                <a16:creationId xmlns:a16="http://schemas.microsoft.com/office/drawing/2014/main" id="{B9DFA13C-FB41-4CDB-8096-63BDECFDDE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476250"/>
            <a:ext cx="3452813" cy="3452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Picture 6">
            <a:extLst>
              <a:ext uri="{FF2B5EF4-FFF2-40B4-BE49-F238E27FC236}">
                <a16:creationId xmlns:a16="http://schemas.microsoft.com/office/drawing/2014/main" id="{20602547-2564-4565-B91E-A0651D2BF2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2588" y="4035425"/>
            <a:ext cx="4267200" cy="246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FF40E078-08BA-4AD4-9058-338A6661625C}"/>
              </a:ext>
            </a:extLst>
          </p:cNvPr>
          <p:cNvSpPr txBox="1"/>
          <p:nvPr/>
        </p:nvSpPr>
        <p:spPr>
          <a:xfrm>
            <a:off x="3828406" y="4023106"/>
            <a:ext cx="2592288" cy="369332"/>
          </a:xfrm>
          <a:prstGeom prst="rect">
            <a:avLst/>
          </a:prstGeom>
          <a:solidFill>
            <a:schemeClr val="bg1"/>
          </a:solidFill>
        </p:spPr>
        <p:txBody>
          <a:bodyPr wrap="square" rtlCol="0">
            <a:spAutoFit/>
          </a:bodyPr>
          <a:lstStyle/>
          <a:p>
            <a:r>
              <a:rPr lang="en-US" altLang="zh-CN" sz="1800" dirty="0"/>
              <a:t>Mealy type state table</a:t>
            </a:r>
            <a:endParaRPr lang="zh-CN" altLang="en-US" sz="1800" dirty="0"/>
          </a:p>
        </p:txBody>
      </p:sp>
      <p:sp>
        <p:nvSpPr>
          <p:cNvPr id="8" name="Text Box 18">
            <a:extLst>
              <a:ext uri="{FF2B5EF4-FFF2-40B4-BE49-F238E27FC236}">
                <a16:creationId xmlns:a16="http://schemas.microsoft.com/office/drawing/2014/main" id="{35CCDA03-81BD-41BE-8507-B948E0BF79B7}"/>
              </a:ext>
            </a:extLst>
          </p:cNvPr>
          <p:cNvSpPr txBox="1">
            <a:spLocks noChangeArrowheads="1"/>
          </p:cNvSpPr>
          <p:nvPr/>
        </p:nvSpPr>
        <p:spPr bwMode="auto">
          <a:xfrm>
            <a:off x="0" y="3424464"/>
            <a:ext cx="35274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dirty="0">
                <a:solidFill>
                  <a:srgbClr val="000099"/>
                </a:solidFill>
                <a:latin typeface="Times New Roman" panose="02020603050405020304" pitchFamily="18" charset="0"/>
              </a:rPr>
              <a:t>The corresponding basic state table is</a:t>
            </a:r>
            <a:r>
              <a:rPr lang="zh-CN" altLang="en-US" sz="2400" b="1" dirty="0">
                <a:solidFill>
                  <a:srgbClr val="000099"/>
                </a:solidFill>
                <a:latin typeface="Times New Roman" panose="02020603050405020304" pitchFamily="18" charset="0"/>
              </a:rPr>
              <a:t>：</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sp>
        <p:nvSpPr>
          <p:cNvPr id="9" name="文本框 8">
            <a:extLst>
              <a:ext uri="{FF2B5EF4-FFF2-40B4-BE49-F238E27FC236}">
                <a16:creationId xmlns:a16="http://schemas.microsoft.com/office/drawing/2014/main" id="{7A0554B6-12F0-4A03-B818-9262CF85C3B5}"/>
              </a:ext>
            </a:extLst>
          </p:cNvPr>
          <p:cNvSpPr txBox="1"/>
          <p:nvPr/>
        </p:nvSpPr>
        <p:spPr>
          <a:xfrm>
            <a:off x="2411760" y="4681756"/>
            <a:ext cx="1646956" cy="369332"/>
          </a:xfrm>
          <a:prstGeom prst="rect">
            <a:avLst/>
          </a:prstGeom>
          <a:solidFill>
            <a:schemeClr val="bg1"/>
          </a:solidFill>
        </p:spPr>
        <p:txBody>
          <a:bodyPr wrap="square" rtlCol="0">
            <a:spAutoFit/>
          </a:bodyPr>
          <a:lstStyle/>
          <a:p>
            <a:r>
              <a:rPr lang="en-US" altLang="zh-CN" sz="1800" dirty="0"/>
              <a:t>Present state</a:t>
            </a:r>
            <a:endParaRPr lang="zh-CN" altLang="en-US" sz="1800" dirty="0"/>
          </a:p>
        </p:txBody>
      </p:sp>
      <p:sp>
        <p:nvSpPr>
          <p:cNvPr id="10" name="文本框 9">
            <a:extLst>
              <a:ext uri="{FF2B5EF4-FFF2-40B4-BE49-F238E27FC236}">
                <a16:creationId xmlns:a16="http://schemas.microsoft.com/office/drawing/2014/main" id="{1C144262-A42F-4BC0-881C-99B40FF3A45F}"/>
              </a:ext>
            </a:extLst>
          </p:cNvPr>
          <p:cNvSpPr txBox="1"/>
          <p:nvPr/>
        </p:nvSpPr>
        <p:spPr>
          <a:xfrm>
            <a:off x="4604004" y="4540024"/>
            <a:ext cx="2592288"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Tree>
    <p:extLst>
      <p:ext uri="{BB962C8B-B14F-4D97-AF65-F5344CB8AC3E}">
        <p14:creationId xmlns:p14="http://schemas.microsoft.com/office/powerpoint/2010/main" val="106856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3" descr="BIAO5-10c">
            <a:extLst>
              <a:ext uri="{FF2B5EF4-FFF2-40B4-BE49-F238E27FC236}">
                <a16:creationId xmlns:a16="http://schemas.microsoft.com/office/drawing/2014/main" id="{7ED2F0B4-1A7A-4730-A3A4-5315CCE967CD}"/>
              </a:ext>
            </a:extLst>
          </p:cNvPr>
          <p:cNvPicPr>
            <a:picLocks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2837386" y="4023106"/>
            <a:ext cx="4495800" cy="257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3" name="Picture 14" descr="Right_Green">
            <a:hlinkClick r:id="" action="ppaction://hlinkshowjump?jump=nextslide"/>
            <a:extLst>
              <a:ext uri="{FF2B5EF4-FFF2-40B4-BE49-F238E27FC236}">
                <a16:creationId xmlns:a16="http://schemas.microsoft.com/office/drawing/2014/main" id="{5D1E7474-8001-41CF-9BD9-BAE0F99B5E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15" descr="Left_Green">
            <a:hlinkClick r:id="" action="ppaction://hlinkshowjump?jump=previousslide"/>
            <a:extLst>
              <a:ext uri="{FF2B5EF4-FFF2-40B4-BE49-F238E27FC236}">
                <a16:creationId xmlns:a16="http://schemas.microsoft.com/office/drawing/2014/main" id="{6155A0A3-FCEB-4810-96F9-BC0FA9BA4C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Text Box 18">
            <a:extLst>
              <a:ext uri="{FF2B5EF4-FFF2-40B4-BE49-F238E27FC236}">
                <a16:creationId xmlns:a16="http://schemas.microsoft.com/office/drawing/2014/main" id="{E37E605C-AE10-4E3D-A394-A45433447BB1}"/>
              </a:ext>
            </a:extLst>
          </p:cNvPr>
          <p:cNvSpPr txBox="1">
            <a:spLocks noChangeArrowheads="1"/>
          </p:cNvSpPr>
          <p:nvPr/>
        </p:nvSpPr>
        <p:spPr bwMode="auto">
          <a:xfrm>
            <a:off x="0" y="3424464"/>
            <a:ext cx="35274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dirty="0">
                <a:solidFill>
                  <a:srgbClr val="000099"/>
                </a:solidFill>
                <a:latin typeface="Times New Roman" panose="02020603050405020304" pitchFamily="18" charset="0"/>
              </a:rPr>
              <a:t>The corresponding basic state table is</a:t>
            </a:r>
            <a:r>
              <a:rPr lang="zh-CN" altLang="en-US" sz="2400" b="1" dirty="0">
                <a:solidFill>
                  <a:srgbClr val="000099"/>
                </a:solidFill>
                <a:latin typeface="Times New Roman" panose="02020603050405020304" pitchFamily="18" charset="0"/>
              </a:rPr>
              <a:t>：</a:t>
            </a:r>
            <a:r>
              <a:rPr lang="zh-CN" altLang="en-US" sz="2400" dirty="0">
                <a:solidFill>
                  <a:schemeClr val="tx2"/>
                </a:solidFill>
                <a:latin typeface="Times New Roman" panose="02020603050405020304" pitchFamily="18" charset="0"/>
              </a:rPr>
              <a:t>　　</a:t>
            </a:r>
            <a:endParaRPr lang="zh-CN" altLang="en-US" sz="2400" dirty="0">
              <a:latin typeface="Times New Roman" panose="02020603050405020304" pitchFamily="18" charset="0"/>
            </a:endParaRPr>
          </a:p>
        </p:txBody>
      </p:sp>
      <p:pic>
        <p:nvPicPr>
          <p:cNvPr id="66566" name="Picture 2">
            <a:extLst>
              <a:ext uri="{FF2B5EF4-FFF2-40B4-BE49-F238E27FC236}">
                <a16:creationId xmlns:a16="http://schemas.microsoft.com/office/drawing/2014/main" id="{BD7A8B9B-127C-4A53-B7FB-7E34604D9D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00" y="476250"/>
            <a:ext cx="3452813" cy="3452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C35FA33C-BDAA-4626-BD2E-0AD204A607F5}"/>
              </a:ext>
            </a:extLst>
          </p:cNvPr>
          <p:cNvSpPr txBox="1"/>
          <p:nvPr/>
        </p:nvSpPr>
        <p:spPr>
          <a:xfrm>
            <a:off x="3828406" y="4023106"/>
            <a:ext cx="2592288" cy="369332"/>
          </a:xfrm>
          <a:prstGeom prst="rect">
            <a:avLst/>
          </a:prstGeom>
          <a:solidFill>
            <a:schemeClr val="bg1"/>
          </a:solidFill>
        </p:spPr>
        <p:txBody>
          <a:bodyPr wrap="square" rtlCol="0">
            <a:spAutoFit/>
          </a:bodyPr>
          <a:lstStyle/>
          <a:p>
            <a:r>
              <a:rPr lang="en-US" altLang="zh-CN" sz="1800" dirty="0"/>
              <a:t>Mealy type state table</a:t>
            </a:r>
            <a:endParaRPr lang="zh-CN" altLang="en-US" sz="1800" dirty="0"/>
          </a:p>
        </p:txBody>
      </p:sp>
      <p:sp>
        <p:nvSpPr>
          <p:cNvPr id="8" name="文本框 7">
            <a:extLst>
              <a:ext uri="{FF2B5EF4-FFF2-40B4-BE49-F238E27FC236}">
                <a16:creationId xmlns:a16="http://schemas.microsoft.com/office/drawing/2014/main" id="{9A052351-9CDE-45D4-AAED-87C911A30829}"/>
              </a:ext>
            </a:extLst>
          </p:cNvPr>
          <p:cNvSpPr txBox="1"/>
          <p:nvPr/>
        </p:nvSpPr>
        <p:spPr>
          <a:xfrm>
            <a:off x="2411760" y="4681756"/>
            <a:ext cx="1646956" cy="369332"/>
          </a:xfrm>
          <a:prstGeom prst="rect">
            <a:avLst/>
          </a:prstGeom>
          <a:solidFill>
            <a:schemeClr val="bg1"/>
          </a:solidFill>
        </p:spPr>
        <p:txBody>
          <a:bodyPr wrap="square" rtlCol="0">
            <a:spAutoFit/>
          </a:bodyPr>
          <a:lstStyle/>
          <a:p>
            <a:r>
              <a:rPr lang="en-US" altLang="zh-CN" sz="1800" dirty="0"/>
              <a:t>Present state</a:t>
            </a:r>
            <a:endParaRPr lang="zh-CN" altLang="en-US" sz="1800" dirty="0"/>
          </a:p>
        </p:txBody>
      </p:sp>
      <p:sp>
        <p:nvSpPr>
          <p:cNvPr id="9" name="文本框 8">
            <a:extLst>
              <a:ext uri="{FF2B5EF4-FFF2-40B4-BE49-F238E27FC236}">
                <a16:creationId xmlns:a16="http://schemas.microsoft.com/office/drawing/2014/main" id="{5F3BCC30-512F-4459-9B08-A7D30842AD62}"/>
              </a:ext>
            </a:extLst>
          </p:cNvPr>
          <p:cNvSpPr txBox="1"/>
          <p:nvPr/>
        </p:nvSpPr>
        <p:spPr>
          <a:xfrm>
            <a:off x="4604004" y="4540024"/>
            <a:ext cx="2592288"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Tree>
    <p:extLst>
      <p:ext uri="{BB962C8B-B14F-4D97-AF65-F5344CB8AC3E}">
        <p14:creationId xmlns:p14="http://schemas.microsoft.com/office/powerpoint/2010/main" val="1126956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469"/>
                                        </p:tgtEl>
                                        <p:attrNameLst>
                                          <p:attrName>style.visibility</p:attrName>
                                        </p:attrNameLst>
                                      </p:cBhvr>
                                      <p:to>
                                        <p:strVal val="visible"/>
                                      </p:to>
                                    </p:set>
                                    <p:animEffect transition="in" filter="blinds(horizontal)">
                                      <p:cBhvr>
                                        <p:cTn id="7" dur="500"/>
                                        <p:tgtEl>
                                          <p:spTgt spid="624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62466"/>
                                        </p:tgtEl>
                                        <p:attrNameLst>
                                          <p:attrName>style.visibility</p:attrName>
                                        </p:attrNameLst>
                                      </p:cBhvr>
                                      <p:to>
                                        <p:strVal val="visible"/>
                                      </p:to>
                                    </p:set>
                                    <p:anim calcmode="lin" valueType="num">
                                      <p:cBhvr additive="base">
                                        <p:cTn id="12" dur="500" fill="hold"/>
                                        <p:tgtEl>
                                          <p:spTgt spid="62466"/>
                                        </p:tgtEl>
                                        <p:attrNameLst>
                                          <p:attrName>ppt_x</p:attrName>
                                        </p:attrNameLst>
                                      </p:cBhvr>
                                      <p:tavLst>
                                        <p:tav tm="0">
                                          <p:val>
                                            <p:strVal val="#ppt_x"/>
                                          </p:val>
                                        </p:tav>
                                        <p:tav tm="100000">
                                          <p:val>
                                            <p:strVal val="#ppt_x"/>
                                          </p:val>
                                        </p:tav>
                                      </p:tavLst>
                                    </p:anim>
                                    <p:anim calcmode="lin" valueType="num">
                                      <p:cBhvr additive="base">
                                        <p:cTn id="13" dur="500" fill="hold"/>
                                        <p:tgtEl>
                                          <p:spTgt spid="6246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3A7CCDB6-C77F-41B6-AA37-D902ACF5BA07}"/>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Question:</a:t>
            </a:r>
            <a:endParaRPr lang="zh-CN" altLang="en-US" dirty="0"/>
          </a:p>
        </p:txBody>
      </p:sp>
      <p:sp>
        <p:nvSpPr>
          <p:cNvPr id="67587" name="内容占位符 2">
            <a:extLst>
              <a:ext uri="{FF2B5EF4-FFF2-40B4-BE49-F238E27FC236}">
                <a16:creationId xmlns:a16="http://schemas.microsoft.com/office/drawing/2014/main" id="{F19EA369-D70A-4B51-A493-3A6D14CECE28}"/>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solidFill>
                  <a:srgbClr val="CC3300"/>
                </a:solidFill>
                <a:latin typeface="Times New Roman" panose="02020603050405020304" pitchFamily="18" charset="0"/>
              </a:rPr>
              <a:t>A sequence detector has an input x and an output Z. Input x Enter a string of random binary codes. When “101” appears in the input sequence, output Z produces a 1 output, otherwise Z outputs 0. Typical input and output sequences are as follows.</a:t>
            </a:r>
            <a:r>
              <a:rPr lang="en-US" altLang="zh-CN" dirty="0"/>
              <a:t> </a:t>
            </a:r>
          </a:p>
          <a:p>
            <a:r>
              <a:rPr lang="en-US" altLang="zh-CN" dirty="0"/>
              <a:t>x: 1 0 0 0 0 1 0 1 0 1 0 0 1 0 1</a:t>
            </a:r>
          </a:p>
          <a:p>
            <a:r>
              <a:rPr lang="en-US" altLang="zh-CN" dirty="0"/>
              <a:t>Z: 0 0 0 0 0 0 0 1 0 1 0 0 0 0 1</a:t>
            </a:r>
            <a:endParaRPr lang="zh-CN" altLang="en-US" dirty="0"/>
          </a:p>
        </p:txBody>
      </p:sp>
    </p:spTree>
    <p:extLst>
      <p:ext uri="{BB962C8B-B14F-4D97-AF65-F5344CB8AC3E}">
        <p14:creationId xmlns:p14="http://schemas.microsoft.com/office/powerpoint/2010/main" val="2534516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106A220D-8B83-4CF1-870D-47961DDDE5B7}"/>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11" name="内容占位符 2">
            <a:extLst>
              <a:ext uri="{FF2B5EF4-FFF2-40B4-BE49-F238E27FC236}">
                <a16:creationId xmlns:a16="http://schemas.microsoft.com/office/drawing/2014/main" id="{1AE253E3-5AD2-4CBF-A85C-13B3AF652C62}"/>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8612" name="Picture 2">
            <a:extLst>
              <a:ext uri="{FF2B5EF4-FFF2-40B4-BE49-F238E27FC236}">
                <a16:creationId xmlns:a16="http://schemas.microsoft.com/office/drawing/2014/main" id="{6101C3CE-8D54-4E77-928D-31A4071E4A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700213"/>
            <a:ext cx="4008437" cy="324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7770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C9B00503-4755-4433-9078-F02E11559DA2}"/>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35" name="内容占位符 2">
            <a:extLst>
              <a:ext uri="{FF2B5EF4-FFF2-40B4-BE49-F238E27FC236}">
                <a16:creationId xmlns:a16="http://schemas.microsoft.com/office/drawing/2014/main" id="{C6A41F2B-13A3-43BA-888F-3A71603AE737}"/>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pic>
        <p:nvPicPr>
          <p:cNvPr id="69636" name="Picture 2">
            <a:extLst>
              <a:ext uri="{FF2B5EF4-FFF2-40B4-BE49-F238E27FC236}">
                <a16:creationId xmlns:a16="http://schemas.microsoft.com/office/drawing/2014/main" id="{627FC76B-613E-4AC3-BAEA-D8B45229A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1773238"/>
            <a:ext cx="3313113" cy="4294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22871DFF-B36C-4404-8404-51E0093E3E96}"/>
              </a:ext>
            </a:extLst>
          </p:cNvPr>
          <p:cNvSpPr txBox="1"/>
          <p:nvPr/>
        </p:nvSpPr>
        <p:spPr>
          <a:xfrm>
            <a:off x="2819005" y="1991578"/>
            <a:ext cx="1319658" cy="369332"/>
          </a:xfrm>
          <a:prstGeom prst="rect">
            <a:avLst/>
          </a:prstGeom>
          <a:solidFill>
            <a:schemeClr val="bg1"/>
          </a:solidFill>
        </p:spPr>
        <p:txBody>
          <a:bodyPr wrap="square" rtlCol="0">
            <a:spAutoFit/>
          </a:bodyPr>
          <a:lstStyle/>
          <a:p>
            <a:r>
              <a:rPr lang="en-US" altLang="zh-CN" sz="1800" dirty="0"/>
              <a:t>state table</a:t>
            </a:r>
            <a:endParaRPr lang="zh-CN" altLang="en-US" sz="1800" dirty="0"/>
          </a:p>
        </p:txBody>
      </p:sp>
      <p:sp>
        <p:nvSpPr>
          <p:cNvPr id="6" name="文本框 5">
            <a:extLst>
              <a:ext uri="{FF2B5EF4-FFF2-40B4-BE49-F238E27FC236}">
                <a16:creationId xmlns:a16="http://schemas.microsoft.com/office/drawing/2014/main" id="{5D073DF4-E0ED-4A72-8F22-757BC8C9FEF6}"/>
              </a:ext>
            </a:extLst>
          </p:cNvPr>
          <p:cNvSpPr txBox="1"/>
          <p:nvPr/>
        </p:nvSpPr>
        <p:spPr>
          <a:xfrm>
            <a:off x="795772" y="3090438"/>
            <a:ext cx="1646956" cy="369332"/>
          </a:xfrm>
          <a:prstGeom prst="rect">
            <a:avLst/>
          </a:prstGeom>
          <a:solidFill>
            <a:schemeClr val="bg1"/>
          </a:solidFill>
        </p:spPr>
        <p:txBody>
          <a:bodyPr wrap="square" rtlCol="0">
            <a:spAutoFit/>
          </a:bodyPr>
          <a:lstStyle/>
          <a:p>
            <a:r>
              <a:rPr lang="en-US" altLang="zh-CN" sz="1800" dirty="0"/>
              <a:t>Present state</a:t>
            </a:r>
            <a:endParaRPr lang="zh-CN" altLang="en-US" sz="1800" dirty="0"/>
          </a:p>
        </p:txBody>
      </p:sp>
      <p:sp>
        <p:nvSpPr>
          <p:cNvPr id="7" name="文本框 6">
            <a:extLst>
              <a:ext uri="{FF2B5EF4-FFF2-40B4-BE49-F238E27FC236}">
                <a16:creationId xmlns:a16="http://schemas.microsoft.com/office/drawing/2014/main" id="{88D2DB2B-3B44-41BA-870D-5DC12270A48A}"/>
              </a:ext>
            </a:extLst>
          </p:cNvPr>
          <p:cNvSpPr txBox="1"/>
          <p:nvPr/>
        </p:nvSpPr>
        <p:spPr>
          <a:xfrm>
            <a:off x="2812516" y="2716897"/>
            <a:ext cx="2119847"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Tree>
    <p:extLst>
      <p:ext uri="{BB962C8B-B14F-4D97-AF65-F5344CB8AC3E}">
        <p14:creationId xmlns:p14="http://schemas.microsoft.com/office/powerpoint/2010/main" val="1683495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10">
            <a:extLst>
              <a:ext uri="{FF2B5EF4-FFF2-40B4-BE49-F238E27FC236}">
                <a16:creationId xmlns:a16="http://schemas.microsoft.com/office/drawing/2014/main" id="{B90A27D6-1B61-4E3F-95E8-D21F23A4A3EA}"/>
              </a:ext>
            </a:extLst>
          </p:cNvPr>
          <p:cNvSpPr txBox="1">
            <a:spLocks noChangeArrowheads="1"/>
          </p:cNvSpPr>
          <p:nvPr/>
        </p:nvSpPr>
        <p:spPr bwMode="auto">
          <a:xfrm>
            <a:off x="301625" y="528712"/>
            <a:ext cx="839787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sz="2400" b="1" dirty="0">
                <a:solidFill>
                  <a:srgbClr val="000099"/>
                </a:solidFill>
                <a:latin typeface="Times New Roman" panose="02020603050405020304" pitchFamily="18" charset="0"/>
              </a:rPr>
              <a:t>2</a:t>
            </a:r>
            <a:r>
              <a:rPr lang="zh-CN" altLang="en-US" sz="2400" b="1"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It is assumed that the logic function of the sequence detector is implemented by Moore type synchronous sequential logic circuit.</a:t>
            </a:r>
            <a:r>
              <a:rPr lang="zh-CN" altLang="en-US" sz="2400" dirty="0">
                <a:latin typeface="Times New Roman" panose="02020603050405020304" pitchFamily="18" charset="0"/>
              </a:rPr>
              <a:t>　　</a:t>
            </a:r>
            <a:endParaRPr lang="en-US" altLang="zh-CN" sz="2400" dirty="0">
              <a:latin typeface="Times New Roman" panose="02020603050405020304" pitchFamily="18" charset="0"/>
            </a:endParaRPr>
          </a:p>
          <a:p>
            <a:pPr algn="just" eaLnBrk="1" hangingPunct="1"/>
            <a:r>
              <a:rPr lang="en-US" altLang="zh-CN" dirty="0">
                <a:latin typeface="Times New Roman" panose="02020603050405020304" pitchFamily="18" charset="0"/>
              </a:rPr>
              <a:t>Since the circuit output is completely dependent on the state, there is no direct connection to the input. When making a state diagram, the output should be marked in a circle that represents each state.</a:t>
            </a:r>
            <a:endParaRPr lang="zh-CN" altLang="en-US" sz="2400" dirty="0">
              <a:latin typeface="Times New Roman" panose="02020603050405020304" pitchFamily="18" charset="0"/>
            </a:endParaRPr>
          </a:p>
        </p:txBody>
      </p:sp>
      <p:sp>
        <p:nvSpPr>
          <p:cNvPr id="66563" name="Text Box 11">
            <a:extLst>
              <a:ext uri="{FF2B5EF4-FFF2-40B4-BE49-F238E27FC236}">
                <a16:creationId xmlns:a16="http://schemas.microsoft.com/office/drawing/2014/main" id="{F1865733-07D0-4B14-857F-2CA8D3BA6E74}"/>
              </a:ext>
            </a:extLst>
          </p:cNvPr>
          <p:cNvSpPr txBox="1">
            <a:spLocks noChangeArrowheads="1"/>
          </p:cNvSpPr>
          <p:nvPr/>
        </p:nvSpPr>
        <p:spPr bwMode="auto">
          <a:xfrm>
            <a:off x="395288" y="3789363"/>
            <a:ext cx="8382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solidFill>
                  <a:srgbClr val="990000"/>
                </a:solidFill>
                <a:latin typeface="Times New Roman" panose="02020603050405020304" pitchFamily="18" charset="0"/>
              </a:rPr>
              <a:t>Let the initial state of the circuit be A, and use states B, C, and D to indicate that 0, 01, and 011 sent from input x have been received. Obviously, according to the meaning of the question, the circuit output is 1 only when in state D, and the output is 0 in other states.</a:t>
            </a:r>
            <a:endParaRPr lang="zh-CN" altLang="en-US" sz="2400" dirty="0">
              <a:solidFill>
                <a:srgbClr val="990000"/>
              </a:solidFill>
              <a:latin typeface="Times New Roman" panose="02020603050405020304" pitchFamily="18" charset="0"/>
            </a:endParaRPr>
          </a:p>
        </p:txBody>
      </p:sp>
      <p:pic>
        <p:nvPicPr>
          <p:cNvPr id="70660" name="Picture 13" descr="Right_Green">
            <a:hlinkClick r:id="" action="ppaction://hlinkshowjump?jump=nextslide"/>
            <a:extLst>
              <a:ext uri="{FF2B5EF4-FFF2-40B4-BE49-F238E27FC236}">
                <a16:creationId xmlns:a16="http://schemas.microsoft.com/office/drawing/2014/main" id="{31133FE2-6B19-4206-BC7E-882527FFE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14" descr="Left_Green">
            <a:hlinkClick r:id="" action="ppaction://hlinkshowjump?jump=previousslide"/>
            <a:extLst>
              <a:ext uri="{FF2B5EF4-FFF2-40B4-BE49-F238E27FC236}">
                <a16:creationId xmlns:a16="http://schemas.microsoft.com/office/drawing/2014/main" id="{0B2BD8DB-64AB-45D2-A2C5-9F38F7D1ED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1561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barn(outVertical)">
                                      <p:cBhvr>
                                        <p:cTn id="7" dur="500"/>
                                        <p:tgtEl>
                                          <p:spTgt spid="665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6563"/>
                                        </p:tgtEl>
                                        <p:attrNameLst>
                                          <p:attrName>style.visibility</p:attrName>
                                        </p:attrNameLst>
                                      </p:cBhvr>
                                      <p:to>
                                        <p:strVal val="visible"/>
                                      </p:to>
                                    </p:set>
                                    <p:animEffect transition="in" filter="barn(inVertical)">
                                      <p:cBhvr>
                                        <p:cTn id="12" dur="500"/>
                                        <p:tgtEl>
                                          <p:spTgt spid="66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utoUpdateAnimBg="0"/>
      <p:bldP spid="6656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6">
            <a:extLst>
              <a:ext uri="{FF2B5EF4-FFF2-40B4-BE49-F238E27FC236}">
                <a16:creationId xmlns:a16="http://schemas.microsoft.com/office/drawing/2014/main" id="{6795D740-9093-46C4-B31D-139E9B3A7D42}"/>
              </a:ext>
            </a:extLst>
          </p:cNvPr>
          <p:cNvSpPr txBox="1">
            <a:spLocks noChangeArrowheads="1"/>
          </p:cNvSpPr>
          <p:nvPr/>
        </p:nvSpPr>
        <p:spPr bwMode="auto">
          <a:xfrm>
            <a:off x="323528" y="199300"/>
            <a:ext cx="82632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990000"/>
                </a:solidFill>
                <a:latin typeface="Times New Roman" panose="02020603050405020304" pitchFamily="18" charset="0"/>
              </a:rPr>
              <a:t>The basic state diagram of the Moore type is constructed as follows:</a:t>
            </a:r>
            <a:endParaRPr lang="zh-CN" altLang="en-US" sz="2400" b="1" dirty="0">
              <a:solidFill>
                <a:srgbClr val="990000"/>
              </a:solidFill>
              <a:latin typeface="Times New Roman" panose="02020603050405020304" pitchFamily="18" charset="0"/>
            </a:endParaRPr>
          </a:p>
        </p:txBody>
      </p:sp>
      <p:sp>
        <p:nvSpPr>
          <p:cNvPr id="67587" name="Text Box 9">
            <a:extLst>
              <a:ext uri="{FF2B5EF4-FFF2-40B4-BE49-F238E27FC236}">
                <a16:creationId xmlns:a16="http://schemas.microsoft.com/office/drawing/2014/main" id="{8634699A-6F96-46B5-A5C8-8F3DC4819821}"/>
              </a:ext>
            </a:extLst>
          </p:cNvPr>
          <p:cNvSpPr txBox="1">
            <a:spLocks noChangeArrowheads="1"/>
          </p:cNvSpPr>
          <p:nvPr/>
        </p:nvSpPr>
        <p:spPr bwMode="auto">
          <a:xfrm>
            <a:off x="386584" y="3572660"/>
            <a:ext cx="83759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solidFill>
                  <a:srgbClr val="990000"/>
                </a:solidFill>
                <a:latin typeface="Times New Roman" panose="02020603050405020304" pitchFamily="18" charset="0"/>
              </a:rPr>
              <a:t>The corresponding basic state table is shown in the table below.</a:t>
            </a:r>
            <a:endParaRPr lang="zh-CN" altLang="en-US" sz="2400" b="1" dirty="0">
              <a:solidFill>
                <a:srgbClr val="990000"/>
              </a:solidFill>
              <a:latin typeface="Times New Roman" panose="02020603050405020304" pitchFamily="18" charset="0"/>
            </a:endParaRPr>
          </a:p>
        </p:txBody>
      </p:sp>
      <p:grpSp>
        <p:nvGrpSpPr>
          <p:cNvPr id="67588" name="Group 4">
            <a:extLst>
              <a:ext uri="{FF2B5EF4-FFF2-40B4-BE49-F238E27FC236}">
                <a16:creationId xmlns:a16="http://schemas.microsoft.com/office/drawing/2014/main" id="{5AA62ADD-75D0-48C1-AB37-87E557E7B1DD}"/>
              </a:ext>
            </a:extLst>
          </p:cNvPr>
          <p:cNvGrpSpPr>
            <a:grpSpLocks/>
          </p:cNvGrpSpPr>
          <p:nvPr/>
        </p:nvGrpSpPr>
        <p:grpSpPr bwMode="auto">
          <a:xfrm>
            <a:off x="2124075" y="1341438"/>
            <a:ext cx="4953000" cy="2297112"/>
            <a:chOff x="0" y="0"/>
            <a:chExt cx="3120" cy="1447"/>
          </a:xfrm>
        </p:grpSpPr>
        <p:pic>
          <p:nvPicPr>
            <p:cNvPr id="71688" name="Picture 7" descr="TU5-19">
              <a:extLst>
                <a:ext uri="{FF2B5EF4-FFF2-40B4-BE49-F238E27FC236}">
                  <a16:creationId xmlns:a16="http://schemas.microsoft.com/office/drawing/2014/main" id="{DFAF89F2-0152-4C6C-89F9-BFA17CE7D111}"/>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0" y="0"/>
              <a:ext cx="3120" cy="1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9" name="Text Box 10">
              <a:extLst>
                <a:ext uri="{FF2B5EF4-FFF2-40B4-BE49-F238E27FC236}">
                  <a16:creationId xmlns:a16="http://schemas.microsoft.com/office/drawing/2014/main" id="{140B91ED-AEA3-48F1-81DD-D67A05EF41D4}"/>
                </a:ext>
              </a:extLst>
            </p:cNvPr>
            <p:cNvSpPr txBox="1">
              <a:spLocks noChangeArrowheads="1"/>
            </p:cNvSpPr>
            <p:nvPr/>
          </p:nvSpPr>
          <p:spPr bwMode="auto">
            <a:xfrm>
              <a:off x="2294" y="1143"/>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latin typeface="Times New Roman" panose="02020603050405020304" pitchFamily="18" charset="0"/>
                </a:rPr>
                <a:t>1</a:t>
              </a:r>
            </a:p>
          </p:txBody>
        </p:sp>
      </p:grpSp>
      <p:pic>
        <p:nvPicPr>
          <p:cNvPr id="67591" name="Picture 13" descr="BIAO5-11c">
            <a:extLst>
              <a:ext uri="{FF2B5EF4-FFF2-40B4-BE49-F238E27FC236}">
                <a16:creationId xmlns:a16="http://schemas.microsoft.com/office/drawing/2014/main" id="{70DF7DF5-7BC5-471F-AEE2-15F8F3E8DFB8}"/>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2209800" y="3990975"/>
            <a:ext cx="46482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6" name="Picture 15" descr="Right_Green">
            <a:hlinkClick r:id="" action="ppaction://hlinkshowjump?jump=nextslide"/>
            <a:extLst>
              <a:ext uri="{FF2B5EF4-FFF2-40B4-BE49-F238E27FC236}">
                <a16:creationId xmlns:a16="http://schemas.microsoft.com/office/drawing/2014/main" id="{9972C08A-09F9-4C73-95D5-C5CB130AF7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7" name="Picture 16" descr="Left_Green">
            <a:hlinkClick r:id="" action="ppaction://hlinkshowjump?jump=previousslide"/>
            <a:extLst>
              <a:ext uri="{FF2B5EF4-FFF2-40B4-BE49-F238E27FC236}">
                <a16:creationId xmlns:a16="http://schemas.microsoft.com/office/drawing/2014/main" id="{C6522DEC-3984-4595-AE89-82C0688611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BED6EECC-361A-4AB6-B1AB-0F94672934DE}"/>
              </a:ext>
            </a:extLst>
          </p:cNvPr>
          <p:cNvSpPr txBox="1"/>
          <p:nvPr/>
        </p:nvSpPr>
        <p:spPr>
          <a:xfrm>
            <a:off x="3828406" y="4023106"/>
            <a:ext cx="2592288" cy="369332"/>
          </a:xfrm>
          <a:prstGeom prst="rect">
            <a:avLst/>
          </a:prstGeom>
          <a:solidFill>
            <a:schemeClr val="bg1"/>
          </a:solidFill>
        </p:spPr>
        <p:txBody>
          <a:bodyPr wrap="square" rtlCol="0">
            <a:spAutoFit/>
          </a:bodyPr>
          <a:lstStyle/>
          <a:p>
            <a:r>
              <a:rPr lang="en-US" altLang="zh-CN" sz="1800" dirty="0"/>
              <a:t>Moor type state table</a:t>
            </a:r>
            <a:endParaRPr lang="zh-CN" altLang="en-US" sz="1800" dirty="0"/>
          </a:p>
        </p:txBody>
      </p:sp>
      <p:sp>
        <p:nvSpPr>
          <p:cNvPr id="11" name="文本框 10">
            <a:extLst>
              <a:ext uri="{FF2B5EF4-FFF2-40B4-BE49-F238E27FC236}">
                <a16:creationId xmlns:a16="http://schemas.microsoft.com/office/drawing/2014/main" id="{4AF4D72C-DD41-42B4-B29B-FB1E1BCBD196}"/>
              </a:ext>
            </a:extLst>
          </p:cNvPr>
          <p:cNvSpPr txBox="1"/>
          <p:nvPr/>
        </p:nvSpPr>
        <p:spPr>
          <a:xfrm>
            <a:off x="1561648" y="4708290"/>
            <a:ext cx="1646956" cy="369332"/>
          </a:xfrm>
          <a:prstGeom prst="rect">
            <a:avLst/>
          </a:prstGeom>
          <a:solidFill>
            <a:schemeClr val="bg1"/>
          </a:solidFill>
        </p:spPr>
        <p:txBody>
          <a:bodyPr wrap="square" rtlCol="0">
            <a:spAutoFit/>
          </a:bodyPr>
          <a:lstStyle/>
          <a:p>
            <a:r>
              <a:rPr lang="en-US" altLang="zh-CN" sz="1800" dirty="0"/>
              <a:t>Present state</a:t>
            </a:r>
            <a:endParaRPr lang="zh-CN" altLang="en-US" sz="1800" dirty="0"/>
          </a:p>
        </p:txBody>
      </p:sp>
      <p:sp>
        <p:nvSpPr>
          <p:cNvPr id="12" name="文本框 11">
            <a:extLst>
              <a:ext uri="{FF2B5EF4-FFF2-40B4-BE49-F238E27FC236}">
                <a16:creationId xmlns:a16="http://schemas.microsoft.com/office/drawing/2014/main" id="{A4B75369-4F01-483E-9B98-718B69875AC7}"/>
              </a:ext>
            </a:extLst>
          </p:cNvPr>
          <p:cNvSpPr txBox="1"/>
          <p:nvPr/>
        </p:nvSpPr>
        <p:spPr>
          <a:xfrm>
            <a:off x="3851774" y="4503840"/>
            <a:ext cx="1331394" cy="369332"/>
          </a:xfrm>
          <a:prstGeom prst="rect">
            <a:avLst/>
          </a:prstGeom>
          <a:solidFill>
            <a:schemeClr val="bg1"/>
          </a:solidFill>
        </p:spPr>
        <p:txBody>
          <a:bodyPr wrap="square" rtlCol="0">
            <a:spAutoFit/>
          </a:bodyPr>
          <a:lstStyle/>
          <a:p>
            <a:r>
              <a:rPr lang="en-US" altLang="zh-CN" sz="1800" dirty="0"/>
              <a:t>Next state</a:t>
            </a:r>
            <a:endParaRPr lang="zh-CN" altLang="en-US" sz="1800" dirty="0"/>
          </a:p>
        </p:txBody>
      </p:sp>
      <p:sp>
        <p:nvSpPr>
          <p:cNvPr id="13" name="文本框 12">
            <a:extLst>
              <a:ext uri="{FF2B5EF4-FFF2-40B4-BE49-F238E27FC236}">
                <a16:creationId xmlns:a16="http://schemas.microsoft.com/office/drawing/2014/main" id="{04EDABB1-8891-471E-8689-A18D353C3B88}"/>
              </a:ext>
            </a:extLst>
          </p:cNvPr>
          <p:cNvSpPr txBox="1"/>
          <p:nvPr/>
        </p:nvSpPr>
        <p:spPr>
          <a:xfrm>
            <a:off x="5698325" y="4523624"/>
            <a:ext cx="1331394" cy="369332"/>
          </a:xfrm>
          <a:prstGeom prst="rect">
            <a:avLst/>
          </a:prstGeom>
          <a:solidFill>
            <a:schemeClr val="bg1"/>
          </a:solidFill>
        </p:spPr>
        <p:txBody>
          <a:bodyPr wrap="square" rtlCol="0">
            <a:spAutoFit/>
          </a:bodyPr>
          <a:lstStyle/>
          <a:p>
            <a:r>
              <a:rPr lang="en-US" altLang="zh-CN" sz="1800" dirty="0"/>
              <a:t>Output</a:t>
            </a:r>
            <a:endParaRPr lang="zh-CN" altLang="en-US" sz="1800" dirty="0"/>
          </a:p>
        </p:txBody>
      </p:sp>
    </p:spTree>
    <p:extLst>
      <p:ext uri="{BB962C8B-B14F-4D97-AF65-F5344CB8AC3E}">
        <p14:creationId xmlns:p14="http://schemas.microsoft.com/office/powerpoint/2010/main" val="38597929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slide(fromBottom)">
                                      <p:cBhvr>
                                        <p:cTn id="7" dur="500"/>
                                        <p:tgtEl>
                                          <p:spTgt spid="67586"/>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67588"/>
                                        </p:tgtEl>
                                        <p:attrNameLst>
                                          <p:attrName>style.visibility</p:attrName>
                                        </p:attrNameLst>
                                      </p:cBhvr>
                                      <p:to>
                                        <p:strVal val="visible"/>
                                      </p:to>
                                    </p:set>
                                    <p:anim calcmode="lin" valueType="num">
                                      <p:cBhvr additive="base">
                                        <p:cTn id="12" dur="500" fill="hold"/>
                                        <p:tgtEl>
                                          <p:spTgt spid="67588"/>
                                        </p:tgtEl>
                                        <p:attrNameLst>
                                          <p:attrName>ppt_x</p:attrName>
                                        </p:attrNameLst>
                                      </p:cBhvr>
                                      <p:tavLst>
                                        <p:tav tm="0">
                                          <p:val>
                                            <p:strVal val="#ppt_x"/>
                                          </p:val>
                                        </p:tav>
                                        <p:tav tm="100000">
                                          <p:val>
                                            <p:strVal val="#ppt_x"/>
                                          </p:val>
                                        </p:tav>
                                      </p:tavLst>
                                    </p:anim>
                                    <p:anim calcmode="lin" valueType="num">
                                      <p:cBhvr additive="base">
                                        <p:cTn id="13" dur="500" fill="hold"/>
                                        <p:tgtEl>
                                          <p:spTgt spid="6758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67587"/>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67591"/>
                                        </p:tgtEl>
                                        <p:attrNameLst>
                                          <p:attrName>style.visibility</p:attrName>
                                        </p:attrNameLst>
                                      </p:cBhvr>
                                      <p:to>
                                        <p:strVal val="visible"/>
                                      </p:to>
                                    </p:set>
                                    <p:anim calcmode="lin" valueType="num">
                                      <p:cBhvr additive="base">
                                        <p:cTn id="22" dur="500" fill="hold"/>
                                        <p:tgtEl>
                                          <p:spTgt spid="67591"/>
                                        </p:tgtEl>
                                        <p:attrNameLst>
                                          <p:attrName>ppt_x</p:attrName>
                                        </p:attrNameLst>
                                      </p:cBhvr>
                                      <p:tavLst>
                                        <p:tav tm="0">
                                          <p:val>
                                            <p:strVal val="#ppt_x"/>
                                          </p:val>
                                        </p:tav>
                                        <p:tav tm="100000">
                                          <p:val>
                                            <p:strVal val="#ppt_x"/>
                                          </p:val>
                                        </p:tav>
                                      </p:tavLst>
                                    </p:anim>
                                    <p:anim calcmode="lin" valueType="num">
                                      <p:cBhvr additive="base">
                                        <p:cTn id="23" dur="500" fill="hold"/>
                                        <p:tgtEl>
                                          <p:spTgt spid="6759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utoUpdateAnimBg="0"/>
      <p:bldP spid="67587"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8">
            <a:extLst>
              <a:ext uri="{FF2B5EF4-FFF2-40B4-BE49-F238E27FC236}">
                <a16:creationId xmlns:a16="http://schemas.microsoft.com/office/drawing/2014/main" id="{18FC6B35-E24A-4F87-980C-ADE9E35E2E32}"/>
              </a:ext>
            </a:extLst>
          </p:cNvPr>
          <p:cNvSpPr txBox="1">
            <a:spLocks noChangeArrowheads="1"/>
          </p:cNvSpPr>
          <p:nvPr/>
        </p:nvSpPr>
        <p:spPr bwMode="auto">
          <a:xfrm>
            <a:off x="0" y="80149"/>
            <a:ext cx="926782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000099"/>
                </a:solidFill>
                <a:latin typeface="Times New Roman" panose="02020603050405020304" pitchFamily="18" charset="0"/>
              </a:rPr>
              <a:t>Example: A synchronous sequential circuit for detonation control is designed, which has an input x and an output Z. Usually input x is always 0. Once detonation is required, four 1 signals are continuously input from x (not interrupted by 0), and the circuit receives a fourth 1 and generates a 1 signal ignition detonation at the output Z. The circuit is detonated together with the detonation. The device was destroyed. Try to establish the Mealy state diagram and state table for the circuit.</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　　</a:t>
            </a:r>
            <a:r>
              <a:rPr lang="zh-CN" altLang="en-US" sz="2400" b="1"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What is the practical significance of the problem? ---------- Construction safety!</a:t>
            </a:r>
            <a:r>
              <a:rPr lang="zh-CN" altLang="en-US" sz="2400" b="1" dirty="0">
                <a:solidFill>
                  <a:srgbClr val="000099"/>
                </a:solidFill>
                <a:latin typeface="Times New Roman" panose="02020603050405020304" pitchFamily="18" charset="0"/>
              </a:rPr>
              <a:t>）</a:t>
            </a:r>
          </a:p>
        </p:txBody>
      </p:sp>
      <p:sp>
        <p:nvSpPr>
          <p:cNvPr id="68611" name="Text Box 9">
            <a:extLst>
              <a:ext uri="{FF2B5EF4-FFF2-40B4-BE49-F238E27FC236}">
                <a16:creationId xmlns:a16="http://schemas.microsoft.com/office/drawing/2014/main" id="{571E38ED-BAC5-4512-A05B-D2AA8B551521}"/>
              </a:ext>
            </a:extLst>
          </p:cNvPr>
          <p:cNvSpPr txBox="1">
            <a:spLocks noChangeArrowheads="1"/>
          </p:cNvSpPr>
          <p:nvPr/>
        </p:nvSpPr>
        <p:spPr bwMode="auto">
          <a:xfrm>
            <a:off x="101600" y="3730863"/>
            <a:ext cx="90424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latin typeface="Times New Roman" panose="02020603050405020304" pitchFamily="18" charset="0"/>
              </a:rPr>
              <a:t>A: Analysis: This circuit is actually a "1111" sequence detector for special locations. It differs from the general sequence detector in two ways:</a:t>
            </a:r>
          </a:p>
          <a:p>
            <a:pPr algn="just" eaLnBrk="1" hangingPunct="1"/>
            <a:r>
              <a:rPr lang="en-US" altLang="zh-CN" dirty="0">
                <a:latin typeface="Times New Roman" panose="02020603050405020304" pitchFamily="18" charset="0"/>
              </a:rPr>
              <a:t>1. The input has a constraint condition, that is, once the input appears 1, it must be 4 continuous 1s that are not interrupted by 0;</a:t>
            </a:r>
          </a:p>
          <a:p>
            <a:pPr algn="just" eaLnBrk="1" hangingPunct="1"/>
            <a:r>
              <a:rPr lang="en-US" altLang="zh-CN" dirty="0">
                <a:latin typeface="Times New Roman" panose="02020603050405020304" pitchFamily="18" charset="0"/>
              </a:rPr>
              <a:t>2. After receiving four 1s, the detonation signal generated by the output makes the circuit self-destruct, so there is no next state problem at this time.</a:t>
            </a:r>
            <a:endParaRPr lang="zh-CN" altLang="en-US" sz="2400" dirty="0">
              <a:latin typeface="Times New Roman" panose="02020603050405020304" pitchFamily="18" charset="0"/>
            </a:endParaRPr>
          </a:p>
        </p:txBody>
      </p:sp>
      <p:pic>
        <p:nvPicPr>
          <p:cNvPr id="72708" name="Picture 10" descr="Right_Green">
            <a:hlinkClick r:id="" action="ppaction://hlinkshowjump?jump=nextslide"/>
            <a:extLst>
              <a:ext uri="{FF2B5EF4-FFF2-40B4-BE49-F238E27FC236}">
                <a16:creationId xmlns:a16="http://schemas.microsoft.com/office/drawing/2014/main" id="{BC1600B3-0E3A-4E61-AAFA-9F4EF747F4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11" descr="Left_Green">
            <a:hlinkClick r:id="" action="ppaction://hlinkshowjump?jump=previousslide"/>
            <a:extLst>
              <a:ext uri="{FF2B5EF4-FFF2-40B4-BE49-F238E27FC236}">
                <a16:creationId xmlns:a16="http://schemas.microsoft.com/office/drawing/2014/main" id="{FAAFF383-ED41-46AF-9DE7-CE219ACAF0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44721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checkerboard(across)">
                                      <p:cBhvr>
                                        <p:cTn id="7" dur="500"/>
                                        <p:tgtEl>
                                          <p:spTgt spid="68610"/>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68611"/>
                                        </p:tgtEl>
                                        <p:attrNameLst>
                                          <p:attrName>style.visibility</p:attrName>
                                        </p:attrNameLst>
                                      </p:cBhvr>
                                      <p:to>
                                        <p:strVal val="visible"/>
                                      </p:to>
                                    </p:set>
                                    <p:anim calcmode="lin" valueType="num">
                                      <p:cBhvr>
                                        <p:cTn id="12" dur="500" fill="hold"/>
                                        <p:tgtEl>
                                          <p:spTgt spid="68611"/>
                                        </p:tgtEl>
                                        <p:attrNameLst>
                                          <p:attrName>ppt_x</p:attrName>
                                        </p:attrNameLst>
                                      </p:cBhvr>
                                      <p:tavLst>
                                        <p:tav tm="0">
                                          <p:val>
                                            <p:strVal val="#ppt_x"/>
                                          </p:val>
                                        </p:tav>
                                        <p:tav tm="100000">
                                          <p:val>
                                            <p:strVal val="#ppt_x"/>
                                          </p:val>
                                        </p:tav>
                                      </p:tavLst>
                                    </p:anim>
                                    <p:anim calcmode="lin" valueType="num">
                                      <p:cBhvr>
                                        <p:cTn id="13" dur="500" fill="hold"/>
                                        <p:tgtEl>
                                          <p:spTgt spid="68611"/>
                                        </p:tgtEl>
                                        <p:attrNameLst>
                                          <p:attrName>ppt_y</p:attrName>
                                        </p:attrNameLst>
                                      </p:cBhvr>
                                      <p:tavLst>
                                        <p:tav tm="0">
                                          <p:val>
                                            <p:strVal val="#ppt_y-#ppt_h/2"/>
                                          </p:val>
                                        </p:tav>
                                        <p:tav tm="100000">
                                          <p:val>
                                            <p:strVal val="#ppt_y"/>
                                          </p:val>
                                        </p:tav>
                                      </p:tavLst>
                                    </p:anim>
                                    <p:anim calcmode="lin" valueType="num">
                                      <p:cBhvr>
                                        <p:cTn id="14" dur="500" fill="hold"/>
                                        <p:tgtEl>
                                          <p:spTgt spid="68611"/>
                                        </p:tgtEl>
                                        <p:attrNameLst>
                                          <p:attrName>ppt_w</p:attrName>
                                        </p:attrNameLst>
                                      </p:cBhvr>
                                      <p:tavLst>
                                        <p:tav tm="0">
                                          <p:val>
                                            <p:strVal val="#ppt_w"/>
                                          </p:val>
                                        </p:tav>
                                        <p:tav tm="100000">
                                          <p:val>
                                            <p:strVal val="#ppt_w"/>
                                          </p:val>
                                        </p:tav>
                                      </p:tavLst>
                                    </p:anim>
                                    <p:anim calcmode="lin" valueType="num">
                                      <p:cBhvr>
                                        <p:cTn id="15" dur="500" fill="hold"/>
                                        <p:tgtEl>
                                          <p:spTgt spid="686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autoUpdateAnimBg="0"/>
      <p:bldP spid="68611"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8">
            <a:extLst>
              <a:ext uri="{FF2B5EF4-FFF2-40B4-BE49-F238E27FC236}">
                <a16:creationId xmlns:a16="http://schemas.microsoft.com/office/drawing/2014/main" id="{ED27002B-BDC3-433C-BBEE-6157488E341E}"/>
              </a:ext>
            </a:extLst>
          </p:cNvPr>
          <p:cNvSpPr txBox="1">
            <a:spLocks noChangeArrowheads="1"/>
          </p:cNvSpPr>
          <p:nvPr/>
        </p:nvSpPr>
        <p:spPr bwMode="auto">
          <a:xfrm>
            <a:off x="-78783" y="0"/>
            <a:ext cx="914399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dirty="0">
                <a:solidFill>
                  <a:srgbClr val="CC3300"/>
                </a:solidFill>
                <a:latin typeface="Times New Roman" panose="02020603050405020304" pitchFamily="18" charset="0"/>
              </a:rPr>
              <a:t>Assume</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State A---the initial state of the circuit</a:t>
            </a:r>
            <a:r>
              <a:rPr lang="zh-CN" altLang="en-US" sz="2400" dirty="0">
                <a:latin typeface="Times New Roman" panose="02020603050405020304" pitchFamily="18" charset="0"/>
              </a:rPr>
              <a:t>；</a:t>
            </a:r>
          </a:p>
          <a:p>
            <a:pPr algn="just" eaLnBrk="1" hangingPunct="1"/>
            <a:r>
              <a:rPr lang="zh-CN" altLang="en-US" sz="2400" dirty="0">
                <a:solidFill>
                  <a:srgbClr val="CC3300"/>
                </a:solidFill>
                <a:latin typeface="Times New Roman" panose="02020603050405020304" pitchFamily="18" charset="0"/>
              </a:rPr>
              <a:t>　　　　</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State B---</a:t>
            </a:r>
            <a:r>
              <a:rPr lang="en-US" altLang="zh-CN" dirty="0">
                <a:latin typeface="Times New Roman" panose="02020603050405020304" pitchFamily="18" charset="0"/>
              </a:rPr>
              <a:t>Indicates that the first 1 input was received</a:t>
            </a:r>
            <a:r>
              <a:rPr lang="zh-CN" altLang="en-US" sz="2400" dirty="0">
                <a:latin typeface="Times New Roman" panose="02020603050405020304" pitchFamily="18" charset="0"/>
              </a:rPr>
              <a:t>；</a:t>
            </a:r>
          </a:p>
          <a:p>
            <a:pPr algn="just" eaLnBrk="1" hangingPunct="1"/>
            <a:r>
              <a:rPr lang="zh-CN" altLang="en-US" sz="2400" dirty="0">
                <a:latin typeface="Times New Roman" panose="02020603050405020304" pitchFamily="18" charset="0"/>
              </a:rPr>
              <a:t>　　　　</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State C---</a:t>
            </a:r>
            <a:r>
              <a:rPr lang="en-US" altLang="zh-CN" dirty="0">
                <a:latin typeface="Times New Roman" panose="02020603050405020304" pitchFamily="18" charset="0"/>
              </a:rPr>
              <a:t>Indicates that 2 consecutive 1 inputs have been received</a:t>
            </a:r>
            <a:r>
              <a:rPr lang="zh-CN" altLang="en-US" sz="2400" dirty="0">
                <a:latin typeface="Times New Roman" panose="02020603050405020304" pitchFamily="18" charset="0"/>
              </a:rPr>
              <a:t>；</a:t>
            </a:r>
          </a:p>
          <a:p>
            <a:pPr algn="just" eaLnBrk="1" hangingPunct="1"/>
            <a:r>
              <a:rPr lang="zh-CN" altLang="en-US" sz="2400" dirty="0">
                <a:latin typeface="Times New Roman" panose="02020603050405020304" pitchFamily="18" charset="0"/>
              </a:rPr>
              <a:t>　　　　</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State D---</a:t>
            </a:r>
            <a:r>
              <a:rPr lang="en-US" altLang="zh-CN" sz="2400" dirty="0">
                <a:latin typeface="Times New Roman" panose="02020603050405020304" pitchFamily="18" charset="0"/>
              </a:rPr>
              <a:t>Indicates that 3 consecutive 1 inputs have been received.</a:t>
            </a:r>
            <a:r>
              <a:rPr lang="zh-CN" altLang="en-US" sz="2400" dirty="0">
                <a:latin typeface="Times New Roman" panose="02020603050405020304" pitchFamily="18" charset="0"/>
              </a:rPr>
              <a:t>　　</a:t>
            </a:r>
            <a:endParaRPr lang="en-US" altLang="zh-CN" sz="2400" dirty="0">
              <a:latin typeface="Times New Roman" panose="02020603050405020304" pitchFamily="18" charset="0"/>
            </a:endParaRPr>
          </a:p>
          <a:p>
            <a:pPr algn="just" eaLnBrk="1" hangingPunct="1"/>
            <a:r>
              <a:rPr lang="en-US" altLang="zh-CN" dirty="0">
                <a:latin typeface="Times New Roman" panose="02020603050405020304" pitchFamily="18" charset="0"/>
              </a:rPr>
              <a:t>According to the meaning of the question, the Mealy-type original state diagram and the original state table of the circuit can be obtained as follows. In the figure and table, "d" is used to indicate the indeterminate next state or the indeterminate output.</a:t>
            </a:r>
            <a:endParaRPr lang="zh-CN" altLang="en-US" sz="2400" dirty="0">
              <a:latin typeface="Times New Roman" panose="02020603050405020304" pitchFamily="18" charset="0"/>
            </a:endParaRPr>
          </a:p>
        </p:txBody>
      </p:sp>
      <p:pic>
        <p:nvPicPr>
          <p:cNvPr id="69635" name="Picture 9" descr="TU5-22">
            <a:extLst>
              <a:ext uri="{FF2B5EF4-FFF2-40B4-BE49-F238E27FC236}">
                <a16:creationId xmlns:a16="http://schemas.microsoft.com/office/drawing/2014/main" id="{1BD02F30-1095-42BD-94E5-6DAAAF688922}"/>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561428" y="3818020"/>
            <a:ext cx="342900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14" descr="BIAO5-13c">
            <a:extLst>
              <a:ext uri="{FF2B5EF4-FFF2-40B4-BE49-F238E27FC236}">
                <a16:creationId xmlns:a16="http://schemas.microsoft.com/office/drawing/2014/main" id="{921FC5D4-6A1D-401B-8632-08697A995FFA}"/>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4351928" y="3549732"/>
            <a:ext cx="317976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3" name="Picture 15" descr="Right_Green">
            <a:hlinkClick r:id="" action="ppaction://hlinkshowjump?jump=nextslide"/>
            <a:extLst>
              <a:ext uri="{FF2B5EF4-FFF2-40B4-BE49-F238E27FC236}">
                <a16:creationId xmlns:a16="http://schemas.microsoft.com/office/drawing/2014/main" id="{F8112BFD-8C70-46C3-A09B-6C57C81C43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4" name="Picture 16" descr="Left_Green">
            <a:hlinkClick r:id="" action="ppaction://hlinkshowjump?jump=previousslide"/>
            <a:extLst>
              <a:ext uri="{FF2B5EF4-FFF2-40B4-BE49-F238E27FC236}">
                <a16:creationId xmlns:a16="http://schemas.microsoft.com/office/drawing/2014/main" id="{64461F8F-AE55-4937-B423-F33C231D62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D239E709-0D84-4A4D-A813-9068D78DE1DA}"/>
              </a:ext>
            </a:extLst>
          </p:cNvPr>
          <p:cNvSpPr txBox="1"/>
          <p:nvPr/>
        </p:nvSpPr>
        <p:spPr>
          <a:xfrm>
            <a:off x="4939403" y="3679706"/>
            <a:ext cx="2592288" cy="369332"/>
          </a:xfrm>
          <a:prstGeom prst="rect">
            <a:avLst/>
          </a:prstGeom>
          <a:solidFill>
            <a:schemeClr val="bg1"/>
          </a:solidFill>
        </p:spPr>
        <p:txBody>
          <a:bodyPr wrap="square" rtlCol="0">
            <a:spAutoFit/>
          </a:bodyPr>
          <a:lstStyle/>
          <a:p>
            <a:r>
              <a:rPr lang="en-US" altLang="zh-CN" sz="1800" dirty="0"/>
              <a:t>Basic state table</a:t>
            </a:r>
            <a:endParaRPr lang="zh-CN" altLang="en-US" sz="1800" dirty="0"/>
          </a:p>
        </p:txBody>
      </p:sp>
      <p:sp>
        <p:nvSpPr>
          <p:cNvPr id="8" name="文本框 7">
            <a:extLst>
              <a:ext uri="{FF2B5EF4-FFF2-40B4-BE49-F238E27FC236}">
                <a16:creationId xmlns:a16="http://schemas.microsoft.com/office/drawing/2014/main" id="{6FABAAE4-33BC-4C7B-8518-7D8E8E7C3390}"/>
              </a:ext>
            </a:extLst>
          </p:cNvPr>
          <p:cNvSpPr txBox="1"/>
          <p:nvPr/>
        </p:nvSpPr>
        <p:spPr>
          <a:xfrm>
            <a:off x="4020924" y="4363678"/>
            <a:ext cx="1227971" cy="646331"/>
          </a:xfrm>
          <a:prstGeom prst="rect">
            <a:avLst/>
          </a:prstGeom>
          <a:solidFill>
            <a:schemeClr val="bg1"/>
          </a:solidFill>
        </p:spPr>
        <p:txBody>
          <a:bodyPr wrap="square" rtlCol="0">
            <a:spAutoFit/>
          </a:bodyPr>
          <a:lstStyle/>
          <a:p>
            <a:r>
              <a:rPr lang="en-US" altLang="zh-CN" sz="1800" dirty="0"/>
              <a:t>Present state</a:t>
            </a:r>
            <a:endParaRPr lang="zh-CN" altLang="en-US" sz="1800" dirty="0"/>
          </a:p>
        </p:txBody>
      </p:sp>
      <p:sp>
        <p:nvSpPr>
          <p:cNvPr id="9" name="文本框 8">
            <a:extLst>
              <a:ext uri="{FF2B5EF4-FFF2-40B4-BE49-F238E27FC236}">
                <a16:creationId xmlns:a16="http://schemas.microsoft.com/office/drawing/2014/main" id="{8D53C4CB-BDB5-4270-B578-A87DD6935995}"/>
              </a:ext>
            </a:extLst>
          </p:cNvPr>
          <p:cNvSpPr txBox="1"/>
          <p:nvPr/>
        </p:nvSpPr>
        <p:spPr>
          <a:xfrm>
            <a:off x="5632651" y="4179012"/>
            <a:ext cx="2592288" cy="369332"/>
          </a:xfrm>
          <a:prstGeom prst="rect">
            <a:avLst/>
          </a:prstGeom>
          <a:solidFill>
            <a:schemeClr val="bg1"/>
          </a:solidFill>
        </p:spPr>
        <p:txBody>
          <a:bodyPr wrap="square" rtlCol="0">
            <a:spAutoFit/>
          </a:bodyPr>
          <a:lstStyle/>
          <a:p>
            <a:r>
              <a:rPr lang="en-US" altLang="zh-CN" sz="1800" dirty="0"/>
              <a:t>Next state/Output</a:t>
            </a:r>
            <a:endParaRPr lang="zh-CN" altLang="en-US" sz="1800" dirty="0"/>
          </a:p>
        </p:txBody>
      </p:sp>
    </p:spTree>
    <p:extLst>
      <p:ext uri="{BB962C8B-B14F-4D97-AF65-F5344CB8AC3E}">
        <p14:creationId xmlns:p14="http://schemas.microsoft.com/office/powerpoint/2010/main" val="13576658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9634"/>
                                        </p:tgtEl>
                                        <p:attrNameLst>
                                          <p:attrName>style.visibility</p:attrName>
                                        </p:attrNameLst>
                                      </p:cBhvr>
                                      <p:to>
                                        <p:strVal val="visible"/>
                                      </p:to>
                                    </p:set>
                                    <p:animEffect transition="in" filter="randombar(horizontal)">
                                      <p:cBhvr>
                                        <p:cTn id="7" dur="500"/>
                                        <p:tgtEl>
                                          <p:spTgt spid="69634"/>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69635"/>
                                        </p:tgtEl>
                                        <p:attrNameLst>
                                          <p:attrName>style.visibility</p:attrName>
                                        </p:attrNameLst>
                                      </p:cBhvr>
                                      <p:to>
                                        <p:strVal val="visible"/>
                                      </p:to>
                                    </p:set>
                                    <p:animEffect transition="in" filter="dissolve">
                                      <p:cBhvr>
                                        <p:cTn id="11" dur="500"/>
                                        <p:tgtEl>
                                          <p:spTgt spid="69635"/>
                                        </p:tgtEl>
                                      </p:cBhvr>
                                    </p:animEffect>
                                  </p:childTnLst>
                                  <p:subTnLst>
                                    <p:audio>
                                      <p:cMediaNode>
                                        <p:cTn display="0" masterRel="sameClick">
                                          <p:stCondLst>
                                            <p:cond evt="begin" delay="0">
                                              <p:tn val="9"/>
                                            </p:cond>
                                          </p:stCondLst>
                                          <p:endCondLst>
                                            <p:cond evt="onStopAudio" delay="0">
                                              <p:tgtEl>
                                                <p:sldTgt/>
                                              </p:tgtEl>
                                            </p:cond>
                                          </p:endCondLst>
                                        </p:cTn>
                                        <p:tgtEl>
                                          <p:sndTgt r:embed="rId4" name="chimes.wav"/>
                                        </p:tgtEl>
                                      </p:cMediaNode>
                                    </p:audio>
                                  </p:subTnLst>
                                </p:cTn>
                              </p:par>
                            </p:childTnLst>
                          </p:cTn>
                        </p:par>
                        <p:par>
                          <p:cTn id="12" fill="hold" nodeType="afterGroup">
                            <p:stCondLst>
                              <p:cond delay="1000"/>
                            </p:stCondLst>
                            <p:childTnLst>
                              <p:par>
                                <p:cTn id="13" presetID="2" presetClass="entr" presetSubtype="4" fill="hold" nodeType="afterEffect">
                                  <p:stCondLst>
                                    <p:cond delay="0"/>
                                  </p:stCondLst>
                                  <p:childTnLst>
                                    <p:set>
                                      <p:cBhvr>
                                        <p:cTn id="14" dur="1" fill="hold">
                                          <p:stCondLst>
                                            <p:cond delay="0"/>
                                          </p:stCondLst>
                                        </p:cTn>
                                        <p:tgtEl>
                                          <p:spTgt spid="69636"/>
                                        </p:tgtEl>
                                        <p:attrNameLst>
                                          <p:attrName>style.visibility</p:attrName>
                                        </p:attrNameLst>
                                      </p:cBhvr>
                                      <p:to>
                                        <p:strVal val="visible"/>
                                      </p:to>
                                    </p:set>
                                    <p:anim calcmode="lin" valueType="num">
                                      <p:cBhvr additive="base">
                                        <p:cTn id="15" dur="500" fill="hold"/>
                                        <p:tgtEl>
                                          <p:spTgt spid="69636"/>
                                        </p:tgtEl>
                                        <p:attrNameLst>
                                          <p:attrName>ppt_x</p:attrName>
                                        </p:attrNameLst>
                                      </p:cBhvr>
                                      <p:tavLst>
                                        <p:tav tm="0">
                                          <p:val>
                                            <p:strVal val="#ppt_x"/>
                                          </p:val>
                                        </p:tav>
                                        <p:tav tm="100000">
                                          <p:val>
                                            <p:strVal val="#ppt_x"/>
                                          </p:val>
                                        </p:tav>
                                      </p:tavLst>
                                    </p:anim>
                                    <p:anim calcmode="lin" valueType="num">
                                      <p:cBhvr additive="base">
                                        <p:cTn id="16" dur="500" fill="hold"/>
                                        <p:tgtEl>
                                          <p:spTgt spid="6963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9">
            <a:extLst>
              <a:ext uri="{FF2B5EF4-FFF2-40B4-BE49-F238E27FC236}">
                <a16:creationId xmlns:a16="http://schemas.microsoft.com/office/drawing/2014/main" id="{539E0C5A-893B-41DE-BF9B-29D85DE99C95}"/>
              </a:ext>
            </a:extLst>
          </p:cNvPr>
          <p:cNvSpPr txBox="1">
            <a:spLocks noChangeArrowheads="1"/>
          </p:cNvSpPr>
          <p:nvPr/>
        </p:nvSpPr>
        <p:spPr bwMode="auto">
          <a:xfrm>
            <a:off x="251520" y="1371600"/>
            <a:ext cx="833526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Times New Roman" panose="02020603050405020304" pitchFamily="18" charset="0"/>
              </a:rPr>
              <a:t>　　</a:t>
            </a:r>
            <a:r>
              <a:rPr lang="en-US" altLang="zh-CN" sz="2800" b="1" dirty="0">
                <a:solidFill>
                  <a:srgbClr val="CC3300"/>
                </a:solidFill>
                <a:latin typeface="Times New Roman" panose="02020603050405020304" pitchFamily="18" charset="0"/>
              </a:rPr>
              <a:t>Note that:</a:t>
            </a:r>
          </a:p>
          <a:p>
            <a:pPr eaLnBrk="1" hangingPunct="1"/>
            <a:endParaRPr lang="en-US" altLang="zh-CN" sz="2800" b="1" dirty="0">
              <a:solidFill>
                <a:srgbClr val="CC3300"/>
              </a:solidFill>
              <a:latin typeface="Times New Roman" panose="02020603050405020304" pitchFamily="18" charset="0"/>
            </a:endParaRPr>
          </a:p>
          <a:p>
            <a:pPr eaLnBrk="1" hangingPunct="1"/>
            <a:r>
              <a:rPr lang="zh-CN" altLang="en-US" sz="2400" b="1" dirty="0">
                <a:latin typeface="Times New Roman" panose="02020603050405020304" pitchFamily="18" charset="0"/>
              </a:rPr>
              <a:t>　　</a:t>
            </a:r>
            <a:r>
              <a:rPr lang="en-US" altLang="zh-CN" dirty="0">
                <a:solidFill>
                  <a:schemeClr val="accent2"/>
                </a:solidFill>
                <a:latin typeface="Times New Roman" panose="02020603050405020304" pitchFamily="18" charset="0"/>
              </a:rPr>
              <a:t>In the sequential circuit design, state simplification utilizes the arbitrariness of indeterminate next states and uncertain outputs in the state table, which often makes the design simpler. This is similar to a combinational circuit design that contains don’t care terms, but is a bit more complicated to manipulate.</a:t>
            </a:r>
            <a:endParaRPr lang="zh-CN" altLang="en-US" sz="2400" b="1" dirty="0">
              <a:solidFill>
                <a:schemeClr val="accent2"/>
              </a:solidFill>
              <a:latin typeface="Times New Roman" panose="02020603050405020304" pitchFamily="18" charset="0"/>
            </a:endParaRPr>
          </a:p>
        </p:txBody>
      </p:sp>
      <p:pic>
        <p:nvPicPr>
          <p:cNvPr id="74755" name="Picture 10" descr="Right_Green">
            <a:hlinkClick r:id="" action="ppaction://hlinkshowjump?jump=nextslide"/>
            <a:extLst>
              <a:ext uri="{FF2B5EF4-FFF2-40B4-BE49-F238E27FC236}">
                <a16:creationId xmlns:a16="http://schemas.microsoft.com/office/drawing/2014/main" id="{6D8794A0-104B-4735-9B0C-5E885199A3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6" name="Picture 11" descr="Left_Green">
            <a:hlinkClick r:id="" action="ppaction://hlinkshowjump?jump=previousslide"/>
            <a:extLst>
              <a:ext uri="{FF2B5EF4-FFF2-40B4-BE49-F238E27FC236}">
                <a16:creationId xmlns:a16="http://schemas.microsoft.com/office/drawing/2014/main" id="{958A7FA0-6FDD-43EF-B6EB-8DA935D60F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079421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主题1">
  <a:themeElements>
    <a:clrScheme name="自定义 5">
      <a:dk1>
        <a:sysClr val="windowText" lastClr="000000"/>
      </a:dk1>
      <a:lt1>
        <a:sysClr val="window" lastClr="FFFFFF"/>
      </a:lt1>
      <a:dk2>
        <a:srgbClr val="775F55"/>
      </a:dk2>
      <a:lt2>
        <a:srgbClr val="EBDDC3"/>
      </a:lt2>
      <a:accent1>
        <a:srgbClr val="004E9D"/>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自定义 2">
      <a:majorFont>
        <a:latin typeface="Calibri"/>
        <a:ea typeface="华文仿宋"/>
        <a:cs typeface=""/>
      </a:majorFont>
      <a:minorFont>
        <a:latin typeface="Calibri"/>
        <a:ea typeface="华文仿宋"/>
        <a:cs typeface=""/>
      </a:minorFont>
    </a:fontScheme>
    <a:fmtScheme name="中性">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15244</TotalTime>
  <Pages>39</Pages>
  <Words>1586</Words>
  <Application>Microsoft Office PowerPoint</Application>
  <PresentationFormat>全屏显示(4:3)</PresentationFormat>
  <Paragraphs>333</Paragraphs>
  <Slides>51</Slides>
  <Notes>50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51</vt:i4>
      </vt:variant>
    </vt:vector>
  </HeadingPairs>
  <TitlesOfParts>
    <vt:vector size="58" baseType="lpstr">
      <vt:lpstr>Arial</vt:lpstr>
      <vt:lpstr>Calibri</vt:lpstr>
      <vt:lpstr>Times New Roman</vt:lpstr>
      <vt:lpstr>Wingdings</vt:lpstr>
      <vt:lpstr>Wingdings 2</vt:lpstr>
      <vt:lpstr>主题1</vt:lpstr>
      <vt:lpstr>Equation.3</vt:lpstr>
      <vt:lpstr> Digital logic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Question: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Savitch Prog Prob Solving w/ C++ 3rd PPT slides</dc:subject>
  <dc:creator>David B. Teague</dc:creator>
  <cp:lastModifiedBy>Fei Chao [fec10]</cp:lastModifiedBy>
  <cp:revision>472</cp:revision>
  <cp:lastPrinted>2018-07-12T01:52:50Z</cp:lastPrinted>
  <dcterms:created xsi:type="dcterms:W3CDTF">1995-09-17T23:17:46Z</dcterms:created>
  <dcterms:modified xsi:type="dcterms:W3CDTF">2020-05-03T10:19:13Z</dcterms:modified>
</cp:coreProperties>
</file>