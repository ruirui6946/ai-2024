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55"/>
  </p:handoutMasterIdLst>
  <p:sldIdLst>
    <p:sldId id="256" r:id="rId3"/>
    <p:sldId id="272" r:id="rId5"/>
    <p:sldId id="314" r:id="rId6"/>
    <p:sldId id="315" r:id="rId7"/>
    <p:sldId id="316" r:id="rId8"/>
    <p:sldId id="313" r:id="rId9"/>
    <p:sldId id="310" r:id="rId10"/>
    <p:sldId id="274" r:id="rId11"/>
    <p:sldId id="317" r:id="rId12"/>
    <p:sldId id="318" r:id="rId13"/>
    <p:sldId id="319" r:id="rId14"/>
    <p:sldId id="275" r:id="rId15"/>
    <p:sldId id="320" r:id="rId16"/>
    <p:sldId id="321" r:id="rId17"/>
    <p:sldId id="276" r:id="rId18"/>
    <p:sldId id="322" r:id="rId19"/>
    <p:sldId id="277" r:id="rId20"/>
    <p:sldId id="323" r:id="rId21"/>
    <p:sldId id="324" r:id="rId22"/>
    <p:sldId id="325" r:id="rId23"/>
    <p:sldId id="285" r:id="rId24"/>
    <p:sldId id="326" r:id="rId25"/>
    <p:sldId id="327" r:id="rId26"/>
    <p:sldId id="328" r:id="rId27"/>
    <p:sldId id="329" r:id="rId28"/>
    <p:sldId id="286" r:id="rId29"/>
    <p:sldId id="287" r:id="rId30"/>
    <p:sldId id="330" r:id="rId31"/>
    <p:sldId id="331" r:id="rId32"/>
    <p:sldId id="292" r:id="rId33"/>
    <p:sldId id="345" r:id="rId34"/>
    <p:sldId id="346" r:id="rId35"/>
    <p:sldId id="347" r:id="rId36"/>
    <p:sldId id="348" r:id="rId37"/>
    <p:sldId id="349" r:id="rId38"/>
    <p:sldId id="350" r:id="rId39"/>
    <p:sldId id="351" r:id="rId40"/>
    <p:sldId id="352" r:id="rId41"/>
    <p:sldId id="353" r:id="rId42"/>
    <p:sldId id="354" r:id="rId43"/>
    <p:sldId id="355" r:id="rId44"/>
    <p:sldId id="356" r:id="rId45"/>
    <p:sldId id="357" r:id="rId46"/>
    <p:sldId id="358" r:id="rId47"/>
    <p:sldId id="359" r:id="rId48"/>
    <p:sldId id="360" r:id="rId49"/>
    <p:sldId id="361" r:id="rId50"/>
    <p:sldId id="362" r:id="rId51"/>
    <p:sldId id="363" r:id="rId52"/>
    <p:sldId id="364" r:id="rId53"/>
    <p:sldId id="344" r:id="rId5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FF"/>
    <a:srgbClr val="DDDDDD"/>
    <a:srgbClr val="663300"/>
    <a:srgbClr val="000066"/>
    <a:srgbClr val="CC0000"/>
    <a:srgbClr val="FFFF66"/>
    <a:srgbClr val="0000CC"/>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89" autoAdjust="0"/>
    <p:restoredTop sz="89871" autoAdjust="0"/>
  </p:normalViewPr>
  <p:slideViewPr>
    <p:cSldViewPr>
      <p:cViewPr varScale="1">
        <p:scale>
          <a:sx n="71" d="100"/>
          <a:sy n="71" d="100"/>
        </p:scale>
        <p:origin x="-157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8" Type="http://schemas.openxmlformats.org/officeDocument/2006/relationships/tableStyles" Target="tableStyles.xml"/><Relationship Id="rId57" Type="http://schemas.openxmlformats.org/officeDocument/2006/relationships/viewProps" Target="viewProps.xml"/><Relationship Id="rId56" Type="http://schemas.openxmlformats.org/officeDocument/2006/relationships/presProps" Target="presProps.xml"/><Relationship Id="rId55" Type="http://schemas.openxmlformats.org/officeDocument/2006/relationships/handoutMaster" Target="handoutMasters/handoutMaster1.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6" Type="http://schemas.openxmlformats.org/officeDocument/2006/relationships/image" Target="../media/image26.wmf"/><Relationship Id="rId5" Type="http://schemas.openxmlformats.org/officeDocument/2006/relationships/image" Target="../media/image25.wmf"/><Relationship Id="rId4" Type="http://schemas.openxmlformats.org/officeDocument/2006/relationships/image" Target="../media/image24.wmf"/><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8.vml.rels><?xml version="1.0" encoding="UTF-8" standalone="yes"?>
<Relationships xmlns="http://schemas.openxmlformats.org/package/2006/relationships"><Relationship Id="rId7" Type="http://schemas.openxmlformats.org/officeDocument/2006/relationships/image" Target="../media/image33.wmf"/><Relationship Id="rId6" Type="http://schemas.openxmlformats.org/officeDocument/2006/relationships/image" Target="../media/image32.wmf"/><Relationship Id="rId5" Type="http://schemas.openxmlformats.org/officeDocument/2006/relationships/image" Target="../media/image31.wmf"/><Relationship Id="rId4" Type="http://schemas.openxmlformats.org/officeDocument/2006/relationships/image" Target="../media/image30.wmf"/><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s>
</file>

<file path=ppt/drawings/_rels/vmlDrawing10.vml.rels><?xml version="1.0" encoding="UTF-8" standalone="yes"?>
<Relationships xmlns="http://schemas.openxmlformats.org/package/2006/relationships"><Relationship Id="rId4" Type="http://schemas.openxmlformats.org/officeDocument/2006/relationships/image" Target="../media/image41.wmf"/><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85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endParaRPr lang="zh-CN" altLang="en-US"/>
          </a:p>
        </p:txBody>
      </p:sp>
      <p:sp>
        <p:nvSpPr>
          <p:cNvPr id="10854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endParaRPr lang="en-US" altLang="zh-CN"/>
          </a:p>
        </p:txBody>
      </p:sp>
      <p:sp>
        <p:nvSpPr>
          <p:cNvPr id="10854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endParaRPr lang="en-US" altLang="zh-CN"/>
          </a:p>
        </p:txBody>
      </p:sp>
      <p:sp>
        <p:nvSpPr>
          <p:cNvPr id="10854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fld id="{0005DA06-EBD1-42C6-A820-4F5ED9B9A7FC}"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endParaRPr lang="zh-CN" altLang="en-US"/>
          </a:p>
        </p:txBody>
      </p:sp>
      <p:sp>
        <p:nvSpPr>
          <p:cNvPr id="26627"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endParaRPr lang="en-US" altLang="zh-CN"/>
          </a:p>
        </p:txBody>
      </p:sp>
      <p:sp>
        <p:nvSpPr>
          <p:cNvPr id="2662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6629"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26630"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endParaRPr lang="en-US" altLang="zh-CN"/>
          </a:p>
        </p:txBody>
      </p:sp>
      <p:sp>
        <p:nvSpPr>
          <p:cNvPr id="26631"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fld id="{211CBC27-DFC6-4AE5-9DE6-C904635E2FCB}"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5FD8E06-6C09-4F50-B2C6-036AD5125CAE}" type="slidenum">
              <a:rPr lang="zh-CN" altLang="en-US"/>
            </a:fld>
            <a:endParaRPr lang="en-US" altLang="zh-CN"/>
          </a:p>
        </p:txBody>
      </p:sp>
      <p:sp>
        <p:nvSpPr>
          <p:cNvPr id="27650" name="Rectangle 2"/>
          <p:cNvSpPr>
            <a:spLocks noGrp="1" noRot="1" noChangeAspect="1" noChangeArrowheads="1" noTextEdit="1"/>
          </p:cNvSpPr>
          <p:nvPr>
            <p:ph type="sldImg"/>
          </p:nvPr>
        </p:nvSpPr>
        <p:spPr/>
      </p:sp>
      <p:sp>
        <p:nvSpPr>
          <p:cNvPr id="27651" name="Rectangle 3"/>
          <p:cNvSpPr>
            <a:spLocks noGrp="1" noChangeArrowheads="1"/>
          </p:cNvSpPr>
          <p:nvPr>
            <p:ph type="body" idx="1"/>
          </p:nvPr>
        </p:nvSpPr>
        <p:spPr/>
        <p:txBody>
          <a:bodyPr/>
          <a:lstStyle/>
          <a:p>
            <a:r>
              <a:rPr lang="zh-CN" altLang="en-US"/>
              <a:t>欢迎辞</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353282" name="Line 2"/>
          <p:cNvSpPr>
            <a:spLocks noChangeShapeType="1"/>
          </p:cNvSpPr>
          <p:nvPr/>
        </p:nvSpPr>
        <p:spPr bwMode="auto">
          <a:xfrm>
            <a:off x="7315200" y="1066800"/>
            <a:ext cx="0" cy="4495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3283" name="Rectangle 3"/>
          <p:cNvSpPr>
            <a:spLocks noGrp="1" noChangeArrowheads="1"/>
          </p:cNvSpPr>
          <p:nvPr>
            <p:ph type="ctrTitle"/>
          </p:nvPr>
        </p:nvSpPr>
        <p:spPr>
          <a:xfrm>
            <a:off x="315913" y="466725"/>
            <a:ext cx="6781800" cy="2133600"/>
          </a:xfrm>
        </p:spPr>
        <p:txBody>
          <a:bodyPr/>
          <a:lstStyle>
            <a:lvl1pPr algn="r">
              <a:defRPr sz="4800"/>
            </a:lvl1pPr>
          </a:lstStyle>
          <a:p>
            <a:pPr lvl="0"/>
            <a:r>
              <a:rPr lang="en-US" altLang="zh-CN" noProof="0" smtClean="0"/>
              <a:t>单击此处编辑母版标题样式</a:t>
            </a:r>
            <a:endParaRPr lang="en-US" altLang="zh-CN" noProof="0" smtClean="0"/>
          </a:p>
        </p:txBody>
      </p:sp>
      <p:sp>
        <p:nvSpPr>
          <p:cNvPr id="353284" name="Rectangle 4"/>
          <p:cNvSpPr>
            <a:spLocks noGrp="1" noChangeArrowheads="1"/>
          </p:cNvSpPr>
          <p:nvPr>
            <p:ph type="subTitle" idx="1"/>
          </p:nvPr>
        </p:nvSpPr>
        <p:spPr>
          <a:xfrm>
            <a:off x="849313" y="3049588"/>
            <a:ext cx="6248400" cy="2362200"/>
          </a:xfrm>
        </p:spPr>
        <p:txBody>
          <a:bodyPr/>
          <a:lstStyle>
            <a:lvl1pPr marL="0" indent="0" algn="r">
              <a:buFont typeface="Wingdings" panose="05000000000000000000" pitchFamily="2" charset="2"/>
              <a:buNone/>
              <a:defRPr sz="3200"/>
            </a:lvl1pPr>
          </a:lstStyle>
          <a:p>
            <a:pPr lvl="0"/>
            <a:r>
              <a:rPr lang="en-US" altLang="zh-CN" noProof="0" smtClean="0"/>
              <a:t>单击此处编辑母版副标题样式</a:t>
            </a:r>
            <a:endParaRPr lang="en-US" altLang="zh-CN" noProof="0" smtClean="0"/>
          </a:p>
        </p:txBody>
      </p:sp>
      <p:sp>
        <p:nvSpPr>
          <p:cNvPr id="353285" name="Rectangle 5"/>
          <p:cNvSpPr>
            <a:spLocks noGrp="1" noChangeArrowheads="1"/>
          </p:cNvSpPr>
          <p:nvPr>
            <p:ph type="dt" sz="half" idx="2"/>
          </p:nvPr>
        </p:nvSpPr>
        <p:spPr/>
        <p:txBody>
          <a:bodyPr/>
          <a:lstStyle>
            <a:lvl1pPr>
              <a:defRPr/>
            </a:lvl1pPr>
          </a:lstStyle>
          <a:p>
            <a:endParaRPr lang="en-US" altLang="zh-CN"/>
          </a:p>
        </p:txBody>
      </p:sp>
      <p:sp>
        <p:nvSpPr>
          <p:cNvPr id="353286" name="Rectangle 6"/>
          <p:cNvSpPr>
            <a:spLocks noGrp="1" noChangeArrowheads="1"/>
          </p:cNvSpPr>
          <p:nvPr>
            <p:ph type="ftr" sz="quarter" idx="3"/>
          </p:nvPr>
        </p:nvSpPr>
        <p:spPr/>
        <p:txBody>
          <a:bodyPr/>
          <a:lstStyle>
            <a:lvl1pPr>
              <a:defRPr/>
            </a:lvl1pPr>
          </a:lstStyle>
          <a:p>
            <a:endParaRPr lang="en-US" altLang="zh-CN"/>
          </a:p>
        </p:txBody>
      </p:sp>
      <p:sp>
        <p:nvSpPr>
          <p:cNvPr id="353287" name="Rectangle 7"/>
          <p:cNvSpPr>
            <a:spLocks noGrp="1" noChangeArrowheads="1"/>
          </p:cNvSpPr>
          <p:nvPr>
            <p:ph type="sldNum" sz="quarter" idx="4"/>
          </p:nvPr>
        </p:nvSpPr>
        <p:spPr/>
        <p:txBody>
          <a:bodyPr/>
          <a:lstStyle>
            <a:lvl1pPr>
              <a:defRPr/>
            </a:lvl1pPr>
          </a:lstStyle>
          <a:p>
            <a:fld id="{C01DC8B1-22DC-42C6-B787-C6BF46F36506}" type="slidenum">
              <a:rPr lang="en-US" altLang="zh-CN"/>
            </a:fld>
            <a:endParaRPr lang="en-US" altLang="zh-CN"/>
          </a:p>
        </p:txBody>
      </p:sp>
      <p:grpSp>
        <p:nvGrpSpPr>
          <p:cNvPr id="353288" name="Group 8"/>
          <p:cNvGrpSpPr/>
          <p:nvPr/>
        </p:nvGrpSpPr>
        <p:grpSpPr bwMode="auto">
          <a:xfrm>
            <a:off x="7493000" y="2992438"/>
            <a:ext cx="1338263" cy="2189162"/>
            <a:chOff x="4704" y="1885"/>
            <a:chExt cx="843" cy="1379"/>
          </a:xfrm>
        </p:grpSpPr>
        <p:sp>
          <p:nvSpPr>
            <p:cNvPr id="353289"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290"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291"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292"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293"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294"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295"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296" name="Oval 16"/>
            <p:cNvSpPr>
              <a:spLocks noChangeArrowheads="1"/>
            </p:cNvSpPr>
            <p:nvPr/>
          </p:nvSpPr>
          <p:spPr bwMode="auto">
            <a:xfrm>
              <a:off x="4704"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297" name="Oval 17"/>
            <p:cNvSpPr>
              <a:spLocks noChangeArrowheads="1"/>
            </p:cNvSpPr>
            <p:nvPr/>
          </p:nvSpPr>
          <p:spPr bwMode="auto">
            <a:xfrm>
              <a:off x="4883"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298" name="Oval 18"/>
            <p:cNvSpPr>
              <a:spLocks noChangeArrowheads="1"/>
            </p:cNvSpPr>
            <p:nvPr/>
          </p:nvSpPr>
          <p:spPr bwMode="auto">
            <a:xfrm>
              <a:off x="5062"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299" name="Oval 19"/>
            <p:cNvSpPr>
              <a:spLocks noChangeArrowheads="1"/>
            </p:cNvSpPr>
            <p:nvPr/>
          </p:nvSpPr>
          <p:spPr bwMode="auto">
            <a:xfrm>
              <a:off x="5241"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300" name="Oval 20"/>
            <p:cNvSpPr>
              <a:spLocks noChangeArrowheads="1"/>
            </p:cNvSpPr>
            <p:nvPr/>
          </p:nvSpPr>
          <p:spPr bwMode="auto">
            <a:xfrm>
              <a:off x="5420" y="2243"/>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301"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302"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303"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304"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305"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306"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307"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308"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309"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310" name="Oval 30"/>
            <p:cNvSpPr>
              <a:spLocks noChangeArrowheads="1"/>
            </p:cNvSpPr>
            <p:nvPr/>
          </p:nvSpPr>
          <p:spPr bwMode="auto">
            <a:xfrm>
              <a:off x="4704" y="2779"/>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311" name="Oval 31"/>
            <p:cNvSpPr>
              <a:spLocks noChangeArrowheads="1"/>
            </p:cNvSpPr>
            <p:nvPr/>
          </p:nvSpPr>
          <p:spPr bwMode="auto">
            <a:xfrm>
              <a:off x="4883"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312" name="Oval 32"/>
            <p:cNvSpPr>
              <a:spLocks noChangeArrowheads="1"/>
            </p:cNvSpPr>
            <p:nvPr/>
          </p:nvSpPr>
          <p:spPr bwMode="auto">
            <a:xfrm>
              <a:off x="5062"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313" name="Oval 33"/>
            <p:cNvSpPr>
              <a:spLocks noChangeArrowheads="1"/>
            </p:cNvSpPr>
            <p:nvPr/>
          </p:nvSpPr>
          <p:spPr bwMode="auto">
            <a:xfrm>
              <a:off x="5241" y="2779"/>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314" name="Oval 34"/>
            <p:cNvSpPr>
              <a:spLocks noChangeArrowheads="1"/>
            </p:cNvSpPr>
            <p:nvPr/>
          </p:nvSpPr>
          <p:spPr bwMode="auto">
            <a:xfrm>
              <a:off x="4704"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315" name="Oval 35"/>
            <p:cNvSpPr>
              <a:spLocks noChangeArrowheads="1"/>
            </p:cNvSpPr>
            <p:nvPr/>
          </p:nvSpPr>
          <p:spPr bwMode="auto">
            <a:xfrm>
              <a:off x="4883"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316" name="Oval 36"/>
            <p:cNvSpPr>
              <a:spLocks noChangeArrowheads="1"/>
            </p:cNvSpPr>
            <p:nvPr/>
          </p:nvSpPr>
          <p:spPr bwMode="auto">
            <a:xfrm>
              <a:off x="5062"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317" name="Oval 37"/>
            <p:cNvSpPr>
              <a:spLocks noChangeArrowheads="1"/>
            </p:cNvSpPr>
            <p:nvPr/>
          </p:nvSpPr>
          <p:spPr bwMode="auto">
            <a:xfrm>
              <a:off x="5241"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318"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3319"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53320" name="Line 40"/>
          <p:cNvSpPr>
            <a:spLocks noChangeShapeType="1"/>
          </p:cNvSpPr>
          <p:nvPr/>
        </p:nvSpPr>
        <p:spPr bwMode="auto">
          <a:xfrm>
            <a:off x="304800" y="2819400"/>
            <a:ext cx="8229600" cy="0"/>
          </a:xfrm>
          <a:prstGeom prst="line">
            <a:avLst/>
          </a:prstGeom>
          <a:noFill/>
          <a:ln w="63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99546068-8D8E-43ED-86E2-2EEC7B0D7586}"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B764FE4-5F2D-499D-B969-6030336208DF}"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343F91B0-84A7-42E5-878E-8F26688B7D9C}"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32114019-3DB6-4276-A696-56D2E4CA253B}"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2429F95C-0B65-4C05-843B-4DA86A7B6DC6}"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3B2A2818-8EEC-433F-8644-5A701300AC6A}"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6D67FB53-5A26-474F-924C-F65D3BCEA311}"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BE234A0F-5AE4-43E8-992E-DB1DD6E17C61}"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64C3CC37-6F98-4D8F-B7F9-6CBD9CC35C05}"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87A2A3D-A0FB-4A16-AE8F-47587084530E}"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719263"/>
            <a:ext cx="8229600" cy="4411662"/>
          </a:xfrm>
        </p:spPr>
        <p:txBody>
          <a:bodyPr/>
          <a:lstStyle/>
          <a:p>
            <a:endParaRPr lang="zh-CN" altLang="en-US"/>
          </a:p>
        </p:txBody>
      </p:sp>
      <p:sp>
        <p:nvSpPr>
          <p:cNvPr id="4" name="日期占位符 3"/>
          <p:cNvSpPr>
            <a:spLocks noGrp="1"/>
          </p:cNvSpPr>
          <p:nvPr>
            <p:ph type="dt" sz="half" idx="10"/>
          </p:nvPr>
        </p:nvSpPr>
        <p:spPr>
          <a:xfrm>
            <a:off x="457200" y="6248400"/>
            <a:ext cx="2133600" cy="457200"/>
          </a:xfrm>
        </p:spPr>
        <p:txBody>
          <a:bodyPr/>
          <a:lstStyle>
            <a:lvl1pPr>
              <a:defRPr/>
            </a:lvl1pPr>
          </a:lstStyle>
          <a:p>
            <a:endParaRPr lang="en-US" altLang="zh-CN"/>
          </a:p>
        </p:txBody>
      </p:sp>
      <p:sp>
        <p:nvSpPr>
          <p:cNvPr id="5" name="页脚占位符 4"/>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6" name="灯片编号占位符 5"/>
          <p:cNvSpPr>
            <a:spLocks noGrp="1"/>
          </p:cNvSpPr>
          <p:nvPr>
            <p:ph type="sldNum" sz="quarter" idx="12"/>
          </p:nvPr>
        </p:nvSpPr>
        <p:spPr>
          <a:xfrm>
            <a:off x="6553200" y="6248400"/>
            <a:ext cx="2133600" cy="457200"/>
          </a:xfrm>
        </p:spPr>
        <p:txBody>
          <a:bodyPr/>
          <a:lstStyle>
            <a:lvl1pPr>
              <a:defRPr/>
            </a:lvl1pPr>
          </a:lstStyle>
          <a:p>
            <a:fld id="{2D78355B-D29D-40F9-99DA-F562F627A5C9}" type="slidenum">
              <a:rPr lang="en-US" altLang="zh-CN"/>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719263"/>
            <a:ext cx="4038600" cy="441166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a:xfrm>
            <a:off x="457200" y="6248400"/>
            <a:ext cx="21336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6553200" y="6248400"/>
            <a:ext cx="2133600" cy="457200"/>
          </a:xfrm>
        </p:spPr>
        <p:txBody>
          <a:bodyPr/>
          <a:lstStyle>
            <a:lvl1pPr>
              <a:defRPr/>
            </a:lvl1pPr>
          </a:lstStyle>
          <a:p>
            <a:fld id="{B3CB640B-F2CE-476C-9C63-FF7E9630C166}"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2258" name="Line 2"/>
          <p:cNvSpPr>
            <a:spLocks noChangeShapeType="1"/>
          </p:cNvSpPr>
          <p:nvPr/>
        </p:nvSpPr>
        <p:spPr bwMode="auto">
          <a:xfrm>
            <a:off x="7962900" y="152400"/>
            <a:ext cx="0" cy="1524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2259" name="Rectangle 3"/>
          <p:cNvSpPr>
            <a:spLocks noGrp="1" noChangeArrowheads="1"/>
          </p:cNvSpPr>
          <p:nvPr>
            <p:ph type="title"/>
          </p:nvPr>
        </p:nvSpPr>
        <p:spPr bwMode="auto">
          <a:xfrm>
            <a:off x="457200" y="122238"/>
            <a:ext cx="75438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en-US" altLang="zh-CN" smtClean="0"/>
              <a:t>单击此处编辑母版标题样式</a:t>
            </a:r>
            <a:endParaRPr lang="en-US" altLang="zh-CN" smtClean="0"/>
          </a:p>
        </p:txBody>
      </p:sp>
      <p:sp>
        <p:nvSpPr>
          <p:cNvPr id="352260" name="Rectangle 4"/>
          <p:cNvSpPr>
            <a:spLocks noGrp="1" noChangeArrowheads="1"/>
          </p:cNvSpPr>
          <p:nvPr>
            <p:ph type="body" idx="1"/>
          </p:nvPr>
        </p:nvSpPr>
        <p:spPr bwMode="auto">
          <a:xfrm>
            <a:off x="457200" y="1719263"/>
            <a:ext cx="8229600"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zh-CN" smtClean="0"/>
              <a:t>单击此处编辑母版文本样式</a:t>
            </a:r>
            <a:endParaRPr lang="en-US" altLang="zh-CN" smtClean="0"/>
          </a:p>
          <a:p>
            <a:pPr lvl="1"/>
            <a:r>
              <a:rPr lang="en-US" altLang="zh-CN" smtClean="0"/>
              <a:t>第二级</a:t>
            </a:r>
            <a:endParaRPr lang="en-US" altLang="zh-CN" smtClean="0"/>
          </a:p>
          <a:p>
            <a:pPr lvl="2"/>
            <a:r>
              <a:rPr lang="en-US" altLang="zh-CN" smtClean="0"/>
              <a:t>第三级</a:t>
            </a:r>
            <a:endParaRPr lang="en-US" altLang="zh-CN" smtClean="0"/>
          </a:p>
          <a:p>
            <a:pPr lvl="3"/>
            <a:r>
              <a:rPr lang="en-US" altLang="zh-CN" smtClean="0"/>
              <a:t>第四级</a:t>
            </a:r>
            <a:endParaRPr lang="en-US" altLang="zh-CN" smtClean="0"/>
          </a:p>
          <a:p>
            <a:pPr lvl="4"/>
            <a:r>
              <a:rPr lang="en-US" altLang="zh-CN" smtClean="0"/>
              <a:t>第五级</a:t>
            </a:r>
            <a:endParaRPr lang="en-US" altLang="zh-CN" smtClean="0"/>
          </a:p>
        </p:txBody>
      </p:sp>
      <p:sp>
        <p:nvSpPr>
          <p:cNvPr id="352261" name="Rectangle 5"/>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000"/>
            </a:lvl1pPr>
          </a:lstStyle>
          <a:p>
            <a:endParaRPr lang="en-US" altLang="zh-CN"/>
          </a:p>
        </p:txBody>
      </p:sp>
      <p:sp>
        <p:nvSpPr>
          <p:cNvPr id="352262" name="Rectangle 6"/>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000"/>
            </a:lvl1pPr>
          </a:lstStyle>
          <a:p>
            <a:endParaRPr lang="en-US" altLang="zh-CN"/>
          </a:p>
        </p:txBody>
      </p:sp>
      <p:sp>
        <p:nvSpPr>
          <p:cNvPr id="352263" name="Rectangle 7"/>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000"/>
            </a:lvl1pPr>
          </a:lstStyle>
          <a:p>
            <a:fld id="{E34279D3-ECC6-4AA2-8185-07E2119FA631}" type="slidenum">
              <a:rPr lang="en-US" altLang="zh-CN"/>
            </a:fld>
            <a:endParaRPr lang="en-US" altLang="zh-CN"/>
          </a:p>
        </p:txBody>
      </p:sp>
      <p:grpSp>
        <p:nvGrpSpPr>
          <p:cNvPr id="352264" name="Group 8"/>
          <p:cNvGrpSpPr/>
          <p:nvPr/>
        </p:nvGrpSpPr>
        <p:grpSpPr bwMode="auto">
          <a:xfrm>
            <a:off x="8153400" y="152400"/>
            <a:ext cx="792163" cy="1295400"/>
            <a:chOff x="5136" y="960"/>
            <a:chExt cx="528" cy="864"/>
          </a:xfrm>
        </p:grpSpPr>
        <p:sp>
          <p:nvSpPr>
            <p:cNvPr id="352265"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2266"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2267"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2268"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2269"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2270"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2271"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2272"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2273"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2274"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2275"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2276"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2277"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2278"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2279"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2280"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2281"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2282"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2283"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2284"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2285"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2286"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2287"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2288"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2289"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2290"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2291"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2292"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2293"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2294"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2295"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iming>
    <p:tnLst>
      <p:par>
        <p:cTn id="1" dur="indefinite" restart="never" nodeType="tmRoot"/>
      </p:par>
    </p:tnLst>
  </p:timing>
  <p:hf hdr="0" ftr="0" dt="0"/>
  <p:txStyles>
    <p:titleStyle>
      <a:lvl1pPr algn="l" rtl="0" fontAlgn="base">
        <a:spcBef>
          <a:spcPct val="0"/>
        </a:spcBef>
        <a:spcAft>
          <a:spcPct val="0"/>
        </a:spcAft>
        <a:defRPr sz="3900" b="1">
          <a:solidFill>
            <a:schemeClr val="tx2"/>
          </a:solidFill>
          <a:latin typeface="+mj-lt"/>
          <a:ea typeface="+mj-ea"/>
          <a:cs typeface="+mj-cs"/>
        </a:defRPr>
      </a:lvl1pPr>
      <a:lvl2pPr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fontAlgn="base">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fontAlgn="base">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fontAlgn="base">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3.xml"/><Relationship Id="rId2" Type="http://schemas.openxmlformats.org/officeDocument/2006/relationships/image" Target="../media/image6.wmf"/><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2.bin"/></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wmf"/><Relationship Id="rId2" Type="http://schemas.openxmlformats.org/officeDocument/2006/relationships/image" Target="../media/image9.png"/><Relationship Id="rId1" Type="http://schemas.openxmlformats.org/officeDocument/2006/relationships/image" Target="../media/image8.wmf"/></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hyperlink" Target="http://upload.wikimedia.org/wikipedia/commons/3/3d/Maquina.png"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13.xml"/><Relationship Id="rId3" Type="http://schemas.openxmlformats.org/officeDocument/2006/relationships/image" Target="../media/image16.wmf"/><Relationship Id="rId2" Type="http://schemas.openxmlformats.org/officeDocument/2006/relationships/oleObject" Target="../embeddings/oleObject3.bin"/><Relationship Id="rId1"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7.wmf"/><Relationship Id="rId1" Type="http://schemas.openxmlformats.org/officeDocument/2006/relationships/oleObject" Target="../embeddings/oleObject4.bin"/></Relationships>
</file>

<file path=ppt/slides/_rels/slide34.xml.rels><?xml version="1.0" encoding="UTF-8" standalone="yes"?>
<Relationships xmlns="http://schemas.openxmlformats.org/package/2006/relationships"><Relationship Id="rId9" Type="http://schemas.openxmlformats.org/officeDocument/2006/relationships/vmlDrawing" Target="../drawings/vmlDrawing5.vml"/><Relationship Id="rId8" Type="http://schemas.openxmlformats.org/officeDocument/2006/relationships/slideLayout" Target="../slideLayouts/slideLayout2.xml"/><Relationship Id="rId7" Type="http://schemas.openxmlformats.org/officeDocument/2006/relationships/oleObject" Target="../embeddings/oleObject8.bin"/><Relationship Id="rId6" Type="http://schemas.openxmlformats.org/officeDocument/2006/relationships/image" Target="../media/image20.wmf"/><Relationship Id="rId5" Type="http://schemas.openxmlformats.org/officeDocument/2006/relationships/oleObject" Target="../embeddings/oleObject7.bin"/><Relationship Id="rId4" Type="http://schemas.openxmlformats.org/officeDocument/2006/relationships/image" Target="../media/image19.wmf"/><Relationship Id="rId3" Type="http://schemas.openxmlformats.org/officeDocument/2006/relationships/oleObject" Target="../embeddings/oleObject6.bin"/><Relationship Id="rId2" Type="http://schemas.openxmlformats.org/officeDocument/2006/relationships/image" Target="../media/image18.wmf"/><Relationship Id="rId1" Type="http://schemas.openxmlformats.org/officeDocument/2006/relationships/oleObject" Target="../embeddings/oleObject5.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9" Type="http://schemas.openxmlformats.org/officeDocument/2006/relationships/oleObject" Target="../embeddings/oleObject13.bin"/><Relationship Id="rId8" Type="http://schemas.openxmlformats.org/officeDocument/2006/relationships/image" Target="../media/image24.wmf"/><Relationship Id="rId7" Type="http://schemas.openxmlformats.org/officeDocument/2006/relationships/oleObject" Target="../embeddings/oleObject12.bin"/><Relationship Id="rId6" Type="http://schemas.openxmlformats.org/officeDocument/2006/relationships/image" Target="../media/image23.wmf"/><Relationship Id="rId5" Type="http://schemas.openxmlformats.org/officeDocument/2006/relationships/oleObject" Target="../embeddings/oleObject11.bin"/><Relationship Id="rId4" Type="http://schemas.openxmlformats.org/officeDocument/2006/relationships/image" Target="../media/image22.wmf"/><Relationship Id="rId3" Type="http://schemas.openxmlformats.org/officeDocument/2006/relationships/oleObject" Target="../embeddings/oleObject10.bin"/><Relationship Id="rId2" Type="http://schemas.openxmlformats.org/officeDocument/2006/relationships/image" Target="../media/image21.wmf"/><Relationship Id="rId18" Type="http://schemas.openxmlformats.org/officeDocument/2006/relationships/vmlDrawing" Target="../drawings/vmlDrawing6.vml"/><Relationship Id="rId17" Type="http://schemas.openxmlformats.org/officeDocument/2006/relationships/slideLayout" Target="../slideLayouts/slideLayout2.xml"/><Relationship Id="rId16" Type="http://schemas.openxmlformats.org/officeDocument/2006/relationships/image" Target="../media/image26.wmf"/><Relationship Id="rId15" Type="http://schemas.openxmlformats.org/officeDocument/2006/relationships/oleObject" Target="../embeddings/oleObject18.bin"/><Relationship Id="rId14" Type="http://schemas.openxmlformats.org/officeDocument/2006/relationships/oleObject" Target="../embeddings/oleObject17.bin"/><Relationship Id="rId13" Type="http://schemas.openxmlformats.org/officeDocument/2006/relationships/oleObject" Target="../embeddings/oleObject16.bin"/><Relationship Id="rId12" Type="http://schemas.openxmlformats.org/officeDocument/2006/relationships/image" Target="../media/image25.wmf"/><Relationship Id="rId11" Type="http://schemas.openxmlformats.org/officeDocument/2006/relationships/oleObject" Target="../embeddings/oleObject15.bin"/><Relationship Id="rId10" Type="http://schemas.openxmlformats.org/officeDocument/2006/relationships/oleObject" Target="../embeddings/oleObject14.bin"/><Relationship Id="rId1" Type="http://schemas.openxmlformats.org/officeDocument/2006/relationships/oleObject" Target="../embeddings/oleObject9.bin"/></Relationships>
</file>

<file path=ppt/slides/_rels/slide39.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2.xml"/><Relationship Id="rId4" Type="http://schemas.openxmlformats.org/officeDocument/2006/relationships/oleObject" Target="../embeddings/oleObject21.bin"/><Relationship Id="rId3" Type="http://schemas.openxmlformats.org/officeDocument/2006/relationships/oleObject" Target="../embeddings/oleObject20.bin"/><Relationship Id="rId2" Type="http://schemas.openxmlformats.org/officeDocument/2006/relationships/image" Target="../media/image23.wmf"/><Relationship Id="rId1" Type="http://schemas.openxmlformats.org/officeDocument/2006/relationships/oleObject" Target="../embeddings/oleObject19.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9" Type="http://schemas.openxmlformats.org/officeDocument/2006/relationships/oleObject" Target="../embeddings/oleObject26.bin"/><Relationship Id="rId8" Type="http://schemas.openxmlformats.org/officeDocument/2006/relationships/image" Target="../media/image30.wmf"/><Relationship Id="rId7" Type="http://schemas.openxmlformats.org/officeDocument/2006/relationships/oleObject" Target="../embeddings/oleObject25.bin"/><Relationship Id="rId6" Type="http://schemas.openxmlformats.org/officeDocument/2006/relationships/image" Target="../media/image29.wmf"/><Relationship Id="rId5" Type="http://schemas.openxmlformats.org/officeDocument/2006/relationships/oleObject" Target="../embeddings/oleObject24.bin"/><Relationship Id="rId4" Type="http://schemas.openxmlformats.org/officeDocument/2006/relationships/image" Target="../media/image28.wmf"/><Relationship Id="rId3" Type="http://schemas.openxmlformats.org/officeDocument/2006/relationships/oleObject" Target="../embeddings/oleObject23.bin"/><Relationship Id="rId23" Type="http://schemas.openxmlformats.org/officeDocument/2006/relationships/vmlDrawing" Target="../drawings/vmlDrawing8.vml"/><Relationship Id="rId22" Type="http://schemas.openxmlformats.org/officeDocument/2006/relationships/slideLayout" Target="../slideLayouts/slideLayout2.xml"/><Relationship Id="rId21" Type="http://schemas.openxmlformats.org/officeDocument/2006/relationships/oleObject" Target="../embeddings/oleObject35.bin"/><Relationship Id="rId20" Type="http://schemas.openxmlformats.org/officeDocument/2006/relationships/oleObject" Target="../embeddings/oleObject34.bin"/><Relationship Id="rId2" Type="http://schemas.openxmlformats.org/officeDocument/2006/relationships/image" Target="../media/image27.wmf"/><Relationship Id="rId19" Type="http://schemas.openxmlformats.org/officeDocument/2006/relationships/oleObject" Target="../embeddings/oleObject33.bin"/><Relationship Id="rId18" Type="http://schemas.openxmlformats.org/officeDocument/2006/relationships/oleObject" Target="../embeddings/oleObject32.bin"/><Relationship Id="rId17" Type="http://schemas.openxmlformats.org/officeDocument/2006/relationships/oleObject" Target="../embeddings/oleObject31.bin"/><Relationship Id="rId16" Type="http://schemas.openxmlformats.org/officeDocument/2006/relationships/image" Target="../media/image33.wmf"/><Relationship Id="rId15" Type="http://schemas.openxmlformats.org/officeDocument/2006/relationships/oleObject" Target="../embeddings/oleObject30.bin"/><Relationship Id="rId14" Type="http://schemas.openxmlformats.org/officeDocument/2006/relationships/oleObject" Target="../embeddings/oleObject29.bin"/><Relationship Id="rId13" Type="http://schemas.openxmlformats.org/officeDocument/2006/relationships/image" Target="../media/image32.wmf"/><Relationship Id="rId12" Type="http://schemas.openxmlformats.org/officeDocument/2006/relationships/oleObject" Target="../embeddings/oleObject28.bin"/><Relationship Id="rId11" Type="http://schemas.openxmlformats.org/officeDocument/2006/relationships/oleObject" Target="../embeddings/oleObject27.bin"/><Relationship Id="rId10" Type="http://schemas.openxmlformats.org/officeDocument/2006/relationships/image" Target="../media/image31.wmf"/><Relationship Id="rId1" Type="http://schemas.openxmlformats.org/officeDocument/2006/relationships/oleObject" Target="../embeddings/oleObject22.bin"/></Relationships>
</file>

<file path=ppt/slides/_rels/slide42.xml.rels><?xml version="1.0" encoding="UTF-8" standalone="yes"?>
<Relationships xmlns="http://schemas.openxmlformats.org/package/2006/relationships"><Relationship Id="rId8" Type="http://schemas.openxmlformats.org/officeDocument/2006/relationships/vmlDrawing" Target="../drawings/vmlDrawing9.vml"/><Relationship Id="rId7" Type="http://schemas.openxmlformats.org/officeDocument/2006/relationships/slideLayout" Target="../slideLayouts/slideLayout2.xml"/><Relationship Id="rId6" Type="http://schemas.openxmlformats.org/officeDocument/2006/relationships/image" Target="../media/image36.wmf"/><Relationship Id="rId5" Type="http://schemas.openxmlformats.org/officeDocument/2006/relationships/oleObject" Target="../embeddings/oleObject38.bin"/><Relationship Id="rId4" Type="http://schemas.openxmlformats.org/officeDocument/2006/relationships/image" Target="../media/image35.wmf"/><Relationship Id="rId3" Type="http://schemas.openxmlformats.org/officeDocument/2006/relationships/oleObject" Target="../embeddings/oleObject37.bin"/><Relationship Id="rId2" Type="http://schemas.openxmlformats.org/officeDocument/2006/relationships/image" Target="../media/image34.wmf"/><Relationship Id="rId1" Type="http://schemas.openxmlformats.org/officeDocument/2006/relationships/oleObject" Target="../embeddings/oleObject36.bin"/></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4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1.wmf"/><Relationship Id="rId7" Type="http://schemas.openxmlformats.org/officeDocument/2006/relationships/oleObject" Target="../embeddings/oleObject42.bin"/><Relationship Id="rId6" Type="http://schemas.openxmlformats.org/officeDocument/2006/relationships/image" Target="../media/image40.wmf"/><Relationship Id="rId5" Type="http://schemas.openxmlformats.org/officeDocument/2006/relationships/oleObject" Target="../embeddings/oleObject41.bin"/><Relationship Id="rId4" Type="http://schemas.openxmlformats.org/officeDocument/2006/relationships/image" Target="../media/image39.wmf"/><Relationship Id="rId3" Type="http://schemas.openxmlformats.org/officeDocument/2006/relationships/oleObject" Target="../embeddings/oleObject40.bin"/><Relationship Id="rId2" Type="http://schemas.openxmlformats.org/officeDocument/2006/relationships/image" Target="../media/image38.wmf"/><Relationship Id="rId10" Type="http://schemas.openxmlformats.org/officeDocument/2006/relationships/vmlDrawing" Target="../drawings/vmlDrawing10.vml"/><Relationship Id="rId1" Type="http://schemas.openxmlformats.org/officeDocument/2006/relationships/oleObject" Target="../embeddings/oleObject39.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42.wmf"/><Relationship Id="rId1" Type="http://schemas.openxmlformats.org/officeDocument/2006/relationships/oleObject" Target="../embeddings/oleObject43.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7"/>
          <p:cNvSpPr>
            <a:spLocks noGrp="1" noChangeArrowheads="1"/>
          </p:cNvSpPr>
          <p:nvPr>
            <p:ph type="sldNum" sz="quarter" idx="4"/>
          </p:nvPr>
        </p:nvSpPr>
        <p:spPr/>
        <p:txBody>
          <a:bodyPr/>
          <a:lstStyle/>
          <a:p>
            <a:fld id="{7B4793FF-23F3-4A38-AF0F-38E86CADA562}" type="slidenum">
              <a:rPr lang="en-US" altLang="zh-CN"/>
            </a:fld>
            <a:endParaRPr lang="en-US" altLang="zh-CN"/>
          </a:p>
        </p:txBody>
      </p:sp>
      <p:sp>
        <p:nvSpPr>
          <p:cNvPr id="21506" name="Rectangle 2"/>
          <p:cNvSpPr>
            <a:spLocks noGrp="1" noChangeArrowheads="1"/>
          </p:cNvSpPr>
          <p:nvPr>
            <p:ph type="ctrTitle"/>
          </p:nvPr>
        </p:nvSpPr>
        <p:spPr>
          <a:xfrm>
            <a:off x="395288" y="1557338"/>
            <a:ext cx="6913562" cy="1081087"/>
          </a:xfrm>
        </p:spPr>
        <p:txBody>
          <a:bodyPr/>
          <a:lstStyle/>
          <a:p>
            <a:r>
              <a:rPr lang="zh-CN" altLang="en-US" sz="4000">
                <a:solidFill>
                  <a:srgbClr val="800000"/>
                </a:solidFill>
                <a:latin typeface="黑体" panose="02010609060101010101" pitchFamily="2" charset="-122"/>
                <a:ea typeface="黑体" panose="02010609060101010101" pitchFamily="2" charset="-122"/>
              </a:rPr>
              <a:t>第</a:t>
            </a:r>
            <a:r>
              <a:rPr lang="en-US" altLang="zh-CN" sz="4000">
                <a:solidFill>
                  <a:srgbClr val="800000"/>
                </a:solidFill>
                <a:latin typeface="黑体" panose="02010609060101010101" pitchFamily="2" charset="-122"/>
                <a:ea typeface="黑体" panose="02010609060101010101" pitchFamily="2" charset="-122"/>
              </a:rPr>
              <a:t>8</a:t>
            </a:r>
            <a:r>
              <a:rPr lang="zh-CN" altLang="en-US" sz="4000">
                <a:solidFill>
                  <a:srgbClr val="800000"/>
                </a:solidFill>
                <a:latin typeface="黑体" panose="02010609060101010101" pitchFamily="2" charset="-122"/>
                <a:ea typeface="黑体" panose="02010609060101010101" pitchFamily="2" charset="-122"/>
              </a:rPr>
              <a:t>章 </a:t>
            </a:r>
            <a:r>
              <a:rPr lang="en-US" altLang="zh-CN" sz="4000">
                <a:solidFill>
                  <a:srgbClr val="800000"/>
                </a:solidFill>
                <a:latin typeface="黑体" panose="02010609060101010101" pitchFamily="2" charset="-122"/>
                <a:ea typeface="黑体" panose="02010609060101010101" pitchFamily="2" charset="-122"/>
              </a:rPr>
              <a:t>NP</a:t>
            </a:r>
            <a:r>
              <a:rPr lang="zh-CN" altLang="en-US" sz="4000">
                <a:solidFill>
                  <a:srgbClr val="800000"/>
                </a:solidFill>
                <a:latin typeface="黑体" panose="02010609060101010101" pitchFamily="2" charset="-122"/>
                <a:ea typeface="黑体" panose="02010609060101010101" pitchFamily="2" charset="-122"/>
              </a:rPr>
              <a:t>完全性理论</a:t>
            </a:r>
            <a:endParaRPr lang="zh-CN" altLang="en-US" sz="4000">
              <a:solidFill>
                <a:srgbClr val="800000"/>
              </a:solidFill>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F5C4488F-63A7-4D7D-A05D-59562D410B89}" type="slidenum">
              <a:rPr lang="en-US" altLang="zh-CN"/>
            </a:fld>
            <a:endParaRPr lang="en-US" altLang="zh-CN"/>
          </a:p>
        </p:txBody>
      </p:sp>
      <p:sp>
        <p:nvSpPr>
          <p:cNvPr id="302083" name="Rectangle 3"/>
          <p:cNvSpPr>
            <a:spLocks noGrp="1" noChangeArrowheads="1"/>
          </p:cNvSpPr>
          <p:nvPr>
            <p:ph type="body" idx="1"/>
          </p:nvPr>
        </p:nvSpPr>
        <p:spPr>
          <a:xfrm>
            <a:off x="395288" y="188913"/>
            <a:ext cx="8424862" cy="6480175"/>
          </a:xfrm>
        </p:spPr>
        <p:txBody>
          <a:bodyPr/>
          <a:lstStyle/>
          <a:p>
            <a:pPr>
              <a:lnSpc>
                <a:spcPct val="150000"/>
              </a:lnSpc>
              <a:buFont typeface="Symbol" panose="05050102010706020507" pitchFamily="18" charset="2"/>
              <a:buNone/>
            </a:pPr>
            <a:r>
              <a:rPr lang="zh-CN" altLang="en-US" sz="3600" b="1">
                <a:latin typeface="新宋体" panose="02010609030101010101" charset="-122"/>
                <a:ea typeface="新宋体" panose="02010609030101010101" charset="-122"/>
              </a:rPr>
              <a:t>学习要点</a:t>
            </a:r>
            <a:endParaRPr lang="zh-CN" altLang="en-US" sz="3600" b="1">
              <a:latin typeface="新宋体" panose="02010609030101010101" charset="-122"/>
              <a:ea typeface="新宋体" panose="02010609030101010101" charset="-122"/>
            </a:endParaRPr>
          </a:p>
          <a:p>
            <a:pPr>
              <a:buFont typeface="Symbol" panose="05050102010706020507" pitchFamily="18" charset="2"/>
              <a:buChar char="·"/>
            </a:pPr>
            <a:r>
              <a:rPr lang="zh-CN" altLang="en-US" sz="2400" b="1">
                <a:latin typeface="新宋体" panose="02010609030101010101" charset="-122"/>
                <a:ea typeface="新宋体" panose="02010609030101010101" charset="-122"/>
              </a:rPr>
              <a:t>理解</a:t>
            </a:r>
            <a:r>
              <a:rPr lang="en-US" altLang="zh-CN" sz="2400" b="1">
                <a:latin typeface="新宋体" panose="02010609030101010101" charset="-122"/>
                <a:ea typeface="新宋体" panose="02010609030101010101" charset="-122"/>
              </a:rPr>
              <a:t>RAM</a:t>
            </a:r>
            <a:r>
              <a:rPr lang="zh-CN" altLang="en-US" sz="2400" b="1">
                <a:latin typeface="新宋体" panose="02010609030101010101" charset="-122"/>
                <a:ea typeface="新宋体" panose="02010609030101010101" charset="-122"/>
              </a:rPr>
              <a:t>，</a:t>
            </a:r>
            <a:r>
              <a:rPr lang="en-US" altLang="zh-CN" sz="2400" b="1">
                <a:latin typeface="新宋体" panose="02010609030101010101" charset="-122"/>
                <a:ea typeface="新宋体" panose="02010609030101010101" charset="-122"/>
              </a:rPr>
              <a:t>RASP</a:t>
            </a:r>
            <a:r>
              <a:rPr lang="zh-CN" altLang="en-US" sz="2400" b="1">
                <a:latin typeface="新宋体" panose="02010609030101010101" charset="-122"/>
                <a:ea typeface="新宋体" panose="02010609030101010101" charset="-122"/>
              </a:rPr>
              <a:t>和图灵机计算模型</a:t>
            </a:r>
            <a:endParaRPr lang="zh-CN" altLang="en-US" sz="2400" b="1">
              <a:latin typeface="新宋体" panose="02010609030101010101" charset="-122"/>
              <a:ea typeface="新宋体" panose="02010609030101010101" charset="-122"/>
            </a:endParaRPr>
          </a:p>
          <a:p>
            <a:pPr>
              <a:buFont typeface="Symbol" panose="05050102010706020507" pitchFamily="18" charset="2"/>
              <a:buChar char="·"/>
            </a:pPr>
            <a:r>
              <a:rPr lang="zh-CN" altLang="en-US" sz="2400" b="1">
                <a:latin typeface="新宋体" panose="02010609030101010101" charset="-122"/>
                <a:ea typeface="新宋体" panose="02010609030101010101" charset="-122"/>
              </a:rPr>
              <a:t>理解非确定性图灵机的概念</a:t>
            </a:r>
            <a:endParaRPr lang="zh-CN" altLang="en-US" sz="2400" b="1">
              <a:latin typeface="新宋体" panose="02010609030101010101" charset="-122"/>
              <a:ea typeface="新宋体" panose="02010609030101010101" charset="-122"/>
              <a:sym typeface="Symbol" panose="05050102010706020507" pitchFamily="18" charset="2"/>
            </a:endParaRPr>
          </a:p>
          <a:p>
            <a:pPr>
              <a:buFont typeface="Symbol" panose="05050102010706020507" pitchFamily="18" charset="2"/>
              <a:buChar char="·"/>
            </a:pPr>
            <a:r>
              <a:rPr lang="zh-CN" altLang="en-US" sz="2400" b="1">
                <a:latin typeface="新宋体" panose="02010609030101010101" charset="-122"/>
                <a:ea typeface="新宋体" panose="02010609030101010101" charset="-122"/>
              </a:rPr>
              <a:t>理解</a:t>
            </a:r>
            <a:r>
              <a:rPr lang="en-US" altLang="zh-CN" sz="2400" b="1">
                <a:latin typeface="新宋体" panose="02010609030101010101" charset="-122"/>
                <a:ea typeface="新宋体" panose="02010609030101010101" charset="-122"/>
              </a:rPr>
              <a:t>P</a:t>
            </a:r>
            <a:r>
              <a:rPr lang="zh-CN" altLang="en-US" sz="2400" b="1">
                <a:latin typeface="新宋体" panose="02010609030101010101" charset="-122"/>
                <a:ea typeface="新宋体" panose="02010609030101010101" charset="-122"/>
              </a:rPr>
              <a:t>类与</a:t>
            </a:r>
            <a:r>
              <a:rPr lang="en-US" altLang="zh-CN" sz="2400" b="1">
                <a:latin typeface="新宋体" panose="02010609030101010101" charset="-122"/>
                <a:ea typeface="新宋体" panose="02010609030101010101" charset="-122"/>
              </a:rPr>
              <a:t>NP</a:t>
            </a:r>
            <a:r>
              <a:rPr lang="zh-CN" altLang="en-US" sz="2400" b="1">
                <a:latin typeface="新宋体" panose="02010609030101010101" charset="-122"/>
                <a:ea typeface="新宋体" panose="02010609030101010101" charset="-122"/>
              </a:rPr>
              <a:t>类语言的概念 </a:t>
            </a:r>
            <a:endParaRPr lang="zh-CN" altLang="en-US" sz="2400" b="1">
              <a:latin typeface="新宋体" panose="02010609030101010101" charset="-122"/>
              <a:ea typeface="新宋体" panose="02010609030101010101" charset="-122"/>
              <a:sym typeface="Symbol" panose="05050102010706020507" pitchFamily="18" charset="2"/>
            </a:endParaRPr>
          </a:p>
          <a:p>
            <a:pPr>
              <a:buFont typeface="Symbol" panose="05050102010706020507" pitchFamily="18" charset="2"/>
              <a:buChar char="·"/>
            </a:pPr>
            <a:r>
              <a:rPr lang="zh-CN" altLang="en-US" sz="2400" b="1">
                <a:latin typeface="新宋体" panose="02010609030101010101" charset="-122"/>
                <a:ea typeface="新宋体" panose="02010609030101010101" charset="-122"/>
              </a:rPr>
              <a:t>理解</a:t>
            </a:r>
            <a:r>
              <a:rPr lang="en-US" altLang="zh-CN" sz="2400" b="1">
                <a:latin typeface="新宋体" panose="02010609030101010101" charset="-122"/>
                <a:ea typeface="新宋体" panose="02010609030101010101" charset="-122"/>
              </a:rPr>
              <a:t>NP</a:t>
            </a:r>
            <a:r>
              <a:rPr lang="zh-CN" altLang="en-US" sz="2400" b="1">
                <a:latin typeface="新宋体" panose="02010609030101010101" charset="-122"/>
                <a:ea typeface="新宋体" panose="02010609030101010101" charset="-122"/>
              </a:rPr>
              <a:t>完全问题的概念</a:t>
            </a:r>
            <a:endParaRPr lang="zh-CN" altLang="en-US" sz="2400" b="1">
              <a:latin typeface="新宋体" panose="02010609030101010101" charset="-122"/>
              <a:ea typeface="新宋体" panose="02010609030101010101" charset="-122"/>
              <a:sym typeface="Symbol" panose="05050102010706020507" pitchFamily="18" charset="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B955ECD9-77BE-4051-973A-FE0BE388DE30}" type="slidenum">
              <a:rPr lang="en-US" altLang="zh-CN"/>
            </a:fld>
            <a:endParaRPr lang="en-US" altLang="zh-CN"/>
          </a:p>
        </p:txBody>
      </p:sp>
      <p:sp>
        <p:nvSpPr>
          <p:cNvPr id="360450" name="Rectangle 2"/>
          <p:cNvSpPr>
            <a:spLocks noGrp="1" noChangeArrowheads="1"/>
          </p:cNvSpPr>
          <p:nvPr>
            <p:ph type="title"/>
          </p:nvPr>
        </p:nvSpPr>
        <p:spPr/>
        <p:txBody>
          <a:bodyPr/>
          <a:lstStyle/>
          <a:p>
            <a:r>
              <a:rPr lang="zh-CN" altLang="en-US"/>
              <a:t>计算复杂度</a:t>
            </a:r>
            <a:endParaRPr lang="zh-CN" altLang="en-US"/>
          </a:p>
        </p:txBody>
      </p:sp>
      <p:sp>
        <p:nvSpPr>
          <p:cNvPr id="360451" name="Rectangle 3"/>
          <p:cNvSpPr>
            <a:spLocks noGrp="1" noChangeArrowheads="1"/>
          </p:cNvSpPr>
          <p:nvPr>
            <p:ph type="body" idx="1"/>
          </p:nvPr>
        </p:nvSpPr>
        <p:spPr/>
        <p:txBody>
          <a:bodyPr/>
          <a:lstStyle/>
          <a:p>
            <a:r>
              <a:rPr lang="zh-CN" altLang="en-US"/>
              <a:t>研究计算问题时所需的资源 </a:t>
            </a:r>
            <a:endParaRPr lang="zh-CN" altLang="en-US"/>
          </a:p>
          <a:p>
            <a:pPr lvl="1"/>
            <a:r>
              <a:rPr lang="zh-CN" altLang="en-US"/>
              <a:t>时间（要通过多少步才能解决问题）</a:t>
            </a:r>
            <a:endParaRPr lang="zh-CN" altLang="en-US"/>
          </a:p>
          <a:p>
            <a:pPr lvl="1"/>
            <a:r>
              <a:rPr lang="zh-CN" altLang="en-US"/>
              <a:t>空间（在解决问题时需要多少内存）</a:t>
            </a:r>
            <a:endParaRPr lang="zh-CN" altLang="en-US"/>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756F7B1E-91A8-4C02-BEC9-8A8DA40B4D6C}" type="slidenum">
              <a:rPr lang="en-US" altLang="zh-CN"/>
            </a:fld>
            <a:endParaRPr lang="en-US" altLang="zh-CN"/>
          </a:p>
        </p:txBody>
      </p:sp>
      <p:sp>
        <p:nvSpPr>
          <p:cNvPr id="361474" name="Rectangle 2"/>
          <p:cNvSpPr>
            <a:spLocks noGrp="1" noChangeArrowheads="1"/>
          </p:cNvSpPr>
          <p:nvPr>
            <p:ph type="title"/>
          </p:nvPr>
        </p:nvSpPr>
        <p:spPr/>
        <p:txBody>
          <a:bodyPr/>
          <a:lstStyle/>
          <a:p>
            <a:r>
              <a:rPr lang="zh-CN" altLang="en-US"/>
              <a:t>时间复杂度</a:t>
            </a:r>
            <a:endParaRPr lang="zh-CN" altLang="en-US"/>
          </a:p>
        </p:txBody>
      </p:sp>
      <p:pic>
        <p:nvPicPr>
          <p:cNvPr id="361475" name="Picture 3" descr="img9[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31913" y="1341438"/>
            <a:ext cx="6337300" cy="1203325"/>
          </a:xfrm>
          <a:prstGeom prst="rect">
            <a:avLst/>
          </a:prstGeom>
          <a:noFill/>
          <a:extLst>
            <a:ext uri="{909E8E84-426E-40DD-AFC4-6F175D3DCCD1}">
              <a14:hiddenFill xmlns:a14="http://schemas.microsoft.com/office/drawing/2010/main">
                <a:solidFill>
                  <a:srgbClr val="FFFFFF"/>
                </a:solidFill>
              </a14:hiddenFill>
            </a:ext>
          </a:extLst>
        </p:spPr>
      </p:pic>
      <p:pic>
        <p:nvPicPr>
          <p:cNvPr id="3614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2708275"/>
            <a:ext cx="7704138" cy="36814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54D14471-692D-465C-89F7-D7F5BABD3688}" type="slidenum">
              <a:rPr lang="en-US" altLang="zh-CN"/>
            </a:fld>
            <a:endParaRPr lang="en-US" altLang="zh-CN"/>
          </a:p>
        </p:txBody>
      </p:sp>
      <p:sp>
        <p:nvSpPr>
          <p:cNvPr id="363522" name="Rectangle 2"/>
          <p:cNvSpPr>
            <a:spLocks noGrp="1" noChangeArrowheads="1"/>
          </p:cNvSpPr>
          <p:nvPr>
            <p:ph type="title"/>
          </p:nvPr>
        </p:nvSpPr>
        <p:spPr/>
        <p:txBody>
          <a:bodyPr/>
          <a:lstStyle/>
          <a:p>
            <a:r>
              <a:rPr lang="zh-CN" altLang="en-US"/>
              <a:t>问题</a:t>
            </a:r>
            <a:endParaRPr lang="zh-CN" altLang="en-US"/>
          </a:p>
        </p:txBody>
      </p:sp>
      <p:sp>
        <p:nvSpPr>
          <p:cNvPr id="363523" name="Rectangle 3"/>
          <p:cNvSpPr>
            <a:spLocks noGrp="1" noChangeArrowheads="1"/>
          </p:cNvSpPr>
          <p:nvPr>
            <p:ph type="body" idx="1"/>
          </p:nvPr>
        </p:nvSpPr>
        <p:spPr/>
        <p:txBody>
          <a:bodyPr/>
          <a:lstStyle/>
          <a:p>
            <a:pPr>
              <a:lnSpc>
                <a:spcPct val="90000"/>
              </a:lnSpc>
            </a:pPr>
            <a:r>
              <a:rPr lang="zh-CN" altLang="en-US" sz="2700" b="1" dirty="0"/>
              <a:t>何为</a:t>
            </a:r>
            <a:r>
              <a:rPr lang="en-US" altLang="zh-CN" sz="2700" b="1" dirty="0"/>
              <a:t>P</a:t>
            </a:r>
            <a:r>
              <a:rPr lang="zh-CN" altLang="en-US" sz="2700" b="1" dirty="0"/>
              <a:t>问题？</a:t>
            </a:r>
            <a:endParaRPr lang="zh-CN" altLang="en-US" sz="2700" b="1" dirty="0"/>
          </a:p>
          <a:p>
            <a:pPr>
              <a:lnSpc>
                <a:spcPct val="90000"/>
              </a:lnSpc>
            </a:pPr>
            <a:r>
              <a:rPr lang="zh-CN" altLang="en-US" sz="2700" b="1" dirty="0"/>
              <a:t>何为</a:t>
            </a:r>
            <a:r>
              <a:rPr lang="en-US" altLang="zh-CN" sz="2700" b="1" dirty="0"/>
              <a:t>NP</a:t>
            </a:r>
            <a:r>
              <a:rPr lang="zh-CN" altLang="en-US" sz="2700" b="1" dirty="0"/>
              <a:t>问题？</a:t>
            </a:r>
            <a:endParaRPr lang="zh-CN" altLang="en-US" sz="2700" b="1" dirty="0"/>
          </a:p>
          <a:p>
            <a:pPr>
              <a:lnSpc>
                <a:spcPct val="90000"/>
              </a:lnSpc>
            </a:pPr>
            <a:r>
              <a:rPr lang="zh-CN" altLang="en-US" sz="2700" b="1" dirty="0"/>
              <a:t>何为</a:t>
            </a:r>
            <a:r>
              <a:rPr lang="en-US" altLang="zh-CN" sz="2700" b="1" dirty="0"/>
              <a:t>NPC</a:t>
            </a:r>
            <a:r>
              <a:rPr lang="zh-CN" altLang="en-US" sz="2700" b="1" dirty="0"/>
              <a:t>问题</a:t>
            </a:r>
            <a:r>
              <a:rPr lang="zh-CN" altLang="en-US" sz="2700" b="1" dirty="0" smtClean="0"/>
              <a:t>？</a:t>
            </a:r>
            <a:endParaRPr lang="en-US" altLang="zh-CN" sz="2700" b="1" dirty="0" smtClean="0"/>
          </a:p>
          <a:p>
            <a:pPr>
              <a:lnSpc>
                <a:spcPct val="90000"/>
              </a:lnSpc>
            </a:pPr>
            <a:r>
              <a:rPr lang="zh-CN" altLang="en-US" sz="2700" b="1" dirty="0"/>
              <a:t>何</a:t>
            </a:r>
            <a:r>
              <a:rPr lang="zh-CN" altLang="en-US" sz="2700" b="1" dirty="0" smtClean="0"/>
              <a:t>为</a:t>
            </a:r>
            <a:r>
              <a:rPr lang="en-US" altLang="zh-CN" sz="2700" b="1" dirty="0" smtClean="0"/>
              <a:t>NP HARD</a:t>
            </a:r>
            <a:r>
              <a:rPr lang="zh-CN" altLang="en-US" sz="2700" b="1" smtClean="0"/>
              <a:t>问题？</a:t>
            </a:r>
            <a:endParaRPr lang="zh-CN" altLang="en-US" sz="2700" b="1"/>
          </a:p>
          <a:p>
            <a:pPr>
              <a:lnSpc>
                <a:spcPct val="90000"/>
              </a:lnSpc>
            </a:pPr>
            <a:endParaRPr lang="zh-CN" altLang="en-US" sz="2700" b="1" dirty="0"/>
          </a:p>
          <a:p>
            <a:pPr>
              <a:lnSpc>
                <a:spcPct val="90000"/>
              </a:lnSpc>
            </a:pPr>
            <a:r>
              <a:rPr lang="zh-CN" altLang="en-US" sz="2700" b="1" dirty="0"/>
              <a:t>为什么研究</a:t>
            </a:r>
            <a:r>
              <a:rPr lang="en-US" altLang="zh-CN" sz="2700" b="1" dirty="0"/>
              <a:t>NP</a:t>
            </a:r>
            <a:r>
              <a:rPr lang="zh-CN" altLang="en-US" sz="2700" b="1" dirty="0"/>
              <a:t>问题：</a:t>
            </a:r>
            <a:endParaRPr lang="zh-CN" altLang="en-US" sz="2700" b="1" dirty="0"/>
          </a:p>
          <a:p>
            <a:pPr lvl="1">
              <a:lnSpc>
                <a:spcPct val="90000"/>
              </a:lnSpc>
            </a:pPr>
            <a:r>
              <a:rPr lang="zh-CN" altLang="en-US" b="1" dirty="0"/>
              <a:t>回答“求解的问题到底有多复杂”</a:t>
            </a:r>
            <a:endParaRPr lang="zh-CN" altLang="en-US" b="1" dirty="0"/>
          </a:p>
          <a:p>
            <a:pPr>
              <a:lnSpc>
                <a:spcPct val="90000"/>
              </a:lnSpc>
            </a:pPr>
            <a:endParaRPr lang="zh-CN" altLang="en-US" sz="2700" b="1" dirty="0"/>
          </a:p>
          <a:p>
            <a:pPr>
              <a:lnSpc>
                <a:spcPct val="90000"/>
              </a:lnSpc>
            </a:pPr>
            <a:r>
              <a:rPr lang="zh-CN" altLang="en-US" sz="2700" b="1" dirty="0"/>
              <a:t>通常认为，在多项式时间内可解的问题称为“易”解问题；需要指数时间求解的问题为“难”解问题。</a:t>
            </a:r>
            <a:endParaRPr lang="zh-CN" altLang="en-US" sz="2700" b="1" dirty="0"/>
          </a:p>
          <a:p>
            <a:pPr>
              <a:lnSpc>
                <a:spcPct val="90000"/>
              </a:lnSpc>
            </a:pPr>
            <a:endParaRPr lang="zh-CN" altLang="en-US" sz="27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63523">
                                            <p:txEl>
                                              <p:pRg st="0" end="0"/>
                                            </p:txEl>
                                          </p:spTgt>
                                        </p:tgtEl>
                                        <p:attrNameLst>
                                          <p:attrName>style.visibility</p:attrName>
                                        </p:attrNameLst>
                                      </p:cBhvr>
                                      <p:to>
                                        <p:strVal val="visible"/>
                                      </p:to>
                                    </p:set>
                                    <p:animEffect transition="in" filter="box(in)">
                                      <p:cBhvr>
                                        <p:cTn id="7" dur="500"/>
                                        <p:tgtEl>
                                          <p:spTgt spid="363523">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63523">
                                            <p:txEl>
                                              <p:pRg st="1" end="1"/>
                                            </p:txEl>
                                          </p:spTgt>
                                        </p:tgtEl>
                                        <p:attrNameLst>
                                          <p:attrName>style.visibility</p:attrName>
                                        </p:attrNameLst>
                                      </p:cBhvr>
                                      <p:to>
                                        <p:strVal val="visible"/>
                                      </p:to>
                                    </p:set>
                                    <p:animEffect transition="in" filter="box(in)">
                                      <p:cBhvr>
                                        <p:cTn id="10" dur="500"/>
                                        <p:tgtEl>
                                          <p:spTgt spid="363523">
                                            <p:txEl>
                                              <p:pRg st="1" end="1"/>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63523">
                                            <p:txEl>
                                              <p:pRg st="2" end="2"/>
                                            </p:txEl>
                                          </p:spTgt>
                                        </p:tgtEl>
                                        <p:attrNameLst>
                                          <p:attrName>style.visibility</p:attrName>
                                        </p:attrNameLst>
                                      </p:cBhvr>
                                      <p:to>
                                        <p:strVal val="visible"/>
                                      </p:to>
                                    </p:set>
                                    <p:animEffect transition="in" filter="box(in)">
                                      <p:cBhvr>
                                        <p:cTn id="13" dur="500"/>
                                        <p:tgtEl>
                                          <p:spTgt spid="363523">
                                            <p:txEl>
                                              <p:pRg st="2" end="2"/>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363523">
                                            <p:txEl>
                                              <p:pRg st="3" end="3"/>
                                            </p:txEl>
                                          </p:spTgt>
                                        </p:tgtEl>
                                        <p:attrNameLst>
                                          <p:attrName>style.visibility</p:attrName>
                                        </p:attrNameLst>
                                      </p:cBhvr>
                                      <p:to>
                                        <p:strVal val="visible"/>
                                      </p:to>
                                    </p:set>
                                    <p:animEffect transition="in" filter="box(in)">
                                      <p:cBhvr>
                                        <p:cTn id="16" dur="500"/>
                                        <p:tgtEl>
                                          <p:spTgt spid="36352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363523">
                                            <p:txEl>
                                              <p:pRg st="5" end="5"/>
                                            </p:txEl>
                                          </p:spTgt>
                                        </p:tgtEl>
                                        <p:attrNameLst>
                                          <p:attrName>style.visibility</p:attrName>
                                        </p:attrNameLst>
                                      </p:cBhvr>
                                      <p:to>
                                        <p:strVal val="visible"/>
                                      </p:to>
                                    </p:set>
                                    <p:animEffect transition="in" filter="box(in)">
                                      <p:cBhvr>
                                        <p:cTn id="21" dur="500"/>
                                        <p:tgtEl>
                                          <p:spTgt spid="363523">
                                            <p:txEl>
                                              <p:pRg st="5" end="5"/>
                                            </p:txEl>
                                          </p:spTgt>
                                        </p:tgtEl>
                                      </p:cBhvr>
                                    </p:animEffect>
                                  </p:childTnLst>
                                </p:cTn>
                              </p:par>
                              <p:par>
                                <p:cTn id="22" presetID="4" presetClass="entr" presetSubtype="16" fill="hold" nodeType="withEffect">
                                  <p:stCondLst>
                                    <p:cond delay="0"/>
                                  </p:stCondLst>
                                  <p:childTnLst>
                                    <p:set>
                                      <p:cBhvr>
                                        <p:cTn id="23" dur="1" fill="hold">
                                          <p:stCondLst>
                                            <p:cond delay="0"/>
                                          </p:stCondLst>
                                        </p:cTn>
                                        <p:tgtEl>
                                          <p:spTgt spid="363523">
                                            <p:txEl>
                                              <p:pRg st="6" end="6"/>
                                            </p:txEl>
                                          </p:spTgt>
                                        </p:tgtEl>
                                        <p:attrNameLst>
                                          <p:attrName>style.visibility</p:attrName>
                                        </p:attrNameLst>
                                      </p:cBhvr>
                                      <p:to>
                                        <p:strVal val="visible"/>
                                      </p:to>
                                    </p:set>
                                    <p:animEffect transition="in" filter="box(in)">
                                      <p:cBhvr>
                                        <p:cTn id="24" dur="500"/>
                                        <p:tgtEl>
                                          <p:spTgt spid="363523">
                                            <p:txEl>
                                              <p:pRg st="6" end="6"/>
                                            </p:txEl>
                                          </p:spTgt>
                                        </p:tgtEl>
                                      </p:cBhvr>
                                    </p:animEffect>
                                  </p:childTnLst>
                                </p:cTn>
                              </p:par>
                              <p:par>
                                <p:cTn id="25" presetID="4" presetClass="entr" presetSubtype="16" fill="hold" nodeType="withEffect">
                                  <p:stCondLst>
                                    <p:cond delay="0"/>
                                  </p:stCondLst>
                                  <p:childTnLst>
                                    <p:set>
                                      <p:cBhvr>
                                        <p:cTn id="26" dur="1" fill="hold">
                                          <p:stCondLst>
                                            <p:cond delay="0"/>
                                          </p:stCondLst>
                                        </p:cTn>
                                        <p:tgtEl>
                                          <p:spTgt spid="363523">
                                            <p:txEl>
                                              <p:pRg st="8" end="8"/>
                                            </p:txEl>
                                          </p:spTgt>
                                        </p:tgtEl>
                                        <p:attrNameLst>
                                          <p:attrName>style.visibility</p:attrName>
                                        </p:attrNameLst>
                                      </p:cBhvr>
                                      <p:to>
                                        <p:strVal val="visible"/>
                                      </p:to>
                                    </p:set>
                                    <p:animEffect transition="in" filter="box(in)">
                                      <p:cBhvr>
                                        <p:cTn id="27" dur="500"/>
                                        <p:tgtEl>
                                          <p:spTgt spid="36352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8FF0733C-F691-4523-A41E-7027F3C10598}" type="slidenum">
              <a:rPr lang="en-US" altLang="zh-CN"/>
            </a:fld>
            <a:endParaRPr lang="en-US" altLang="zh-CN"/>
          </a:p>
        </p:txBody>
      </p:sp>
      <p:sp>
        <p:nvSpPr>
          <p:cNvPr id="356355" name="Rectangle 3"/>
          <p:cNvSpPr>
            <a:spLocks noGrp="1" noChangeArrowheads="1"/>
          </p:cNvSpPr>
          <p:nvPr>
            <p:ph type="body" idx="1"/>
          </p:nvPr>
        </p:nvSpPr>
        <p:spPr>
          <a:xfrm>
            <a:off x="395288" y="4365625"/>
            <a:ext cx="8229600" cy="1333500"/>
          </a:xfrm>
        </p:spPr>
        <p:txBody>
          <a:bodyPr/>
          <a:lstStyle/>
          <a:p>
            <a:pPr>
              <a:lnSpc>
                <a:spcPct val="80000"/>
              </a:lnSpc>
            </a:pPr>
            <a:r>
              <a:rPr lang="zh-CN" altLang="en-US" sz="2100" b="1"/>
              <a:t>多项式时间算法：</a:t>
            </a:r>
            <a:r>
              <a:rPr lang="en-US" altLang="zh-CN" sz="2100" b="1"/>
              <a:t>Polynomial-time algorithms</a:t>
            </a:r>
            <a:endParaRPr lang="en-US" altLang="zh-CN" sz="2100" b="1"/>
          </a:p>
          <a:p>
            <a:pPr>
              <a:lnSpc>
                <a:spcPct val="80000"/>
              </a:lnSpc>
              <a:buFont typeface="Wingdings" panose="05000000000000000000" pitchFamily="2" charset="2"/>
              <a:buNone/>
            </a:pPr>
            <a:r>
              <a:rPr lang="en-US" altLang="zh-CN" sz="2100" b="1"/>
              <a:t>   </a:t>
            </a:r>
            <a:r>
              <a:rPr lang="zh-CN" altLang="en-US" sz="2100" b="1"/>
              <a:t>对于规模为</a:t>
            </a:r>
            <a:r>
              <a:rPr lang="en-US" altLang="zh-CN" sz="2100" b="1"/>
              <a:t>n</a:t>
            </a:r>
            <a:r>
              <a:rPr lang="zh-CN" altLang="en-US" sz="2100" b="1"/>
              <a:t>的输入，它们在最坏的情况下的运行时间为</a:t>
            </a:r>
            <a:r>
              <a:rPr lang="en-US" altLang="zh-CN" sz="2100" b="1" i="1"/>
              <a:t>O</a:t>
            </a:r>
            <a:r>
              <a:rPr lang="en-US" altLang="zh-CN" sz="2100" b="1"/>
              <a:t>(</a:t>
            </a:r>
            <a:r>
              <a:rPr lang="en-US" altLang="zh-CN" sz="2100" b="1" i="1"/>
              <a:t>n</a:t>
            </a:r>
            <a:r>
              <a:rPr lang="en-US" altLang="zh-CN" sz="2100" b="1" i="1" baseline="30000"/>
              <a:t>k</a:t>
            </a:r>
            <a:r>
              <a:rPr lang="en-US" altLang="zh-CN" sz="2100" b="1"/>
              <a:t>) </a:t>
            </a:r>
            <a:r>
              <a:rPr lang="zh-CN" altLang="en-US" sz="2100" b="1"/>
              <a:t>，其中</a:t>
            </a:r>
            <a:r>
              <a:rPr lang="en-US" altLang="zh-CN" sz="2100" b="1"/>
              <a:t>k</a:t>
            </a:r>
            <a:r>
              <a:rPr lang="zh-CN" altLang="en-US" sz="2100" b="1"/>
              <a:t>为某个常数。</a:t>
            </a:r>
            <a:endParaRPr lang="zh-CN" altLang="en-US" sz="2100" b="1"/>
          </a:p>
          <a:p>
            <a:pPr>
              <a:lnSpc>
                <a:spcPct val="80000"/>
              </a:lnSpc>
            </a:pPr>
            <a:r>
              <a:rPr lang="zh-CN" altLang="en-US" sz="2100" b="1"/>
              <a:t>指数时间算法</a:t>
            </a:r>
            <a:endParaRPr lang="zh-CN" altLang="en-US" sz="2100" b="1"/>
          </a:p>
        </p:txBody>
      </p:sp>
      <p:pic>
        <p:nvPicPr>
          <p:cNvPr id="356357" name="Picture 5" descr="File:Complexity classes.sv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7088" y="404813"/>
            <a:ext cx="6264275" cy="3859212"/>
          </a:xfrm>
          <a:prstGeom prst="rect">
            <a:avLst/>
          </a:prstGeom>
          <a:noFill/>
          <a:extLst>
            <a:ext uri="{909E8E84-426E-40DD-AFC4-6F175D3DCCD1}">
              <a14:hiddenFill xmlns:a14="http://schemas.microsoft.com/office/drawing/2010/main">
                <a:solidFill>
                  <a:srgbClr val="FFFFFF"/>
                </a:solidFill>
              </a14:hiddenFill>
            </a:ext>
          </a:extLst>
        </p:spPr>
      </p:pic>
      <p:pic>
        <p:nvPicPr>
          <p:cNvPr id="356358" name="Picture 6" descr="img9[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313" y="5300663"/>
            <a:ext cx="6337300" cy="12033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56355">
                                            <p:txEl>
                                              <p:pRg st="4294967295" end="4294967295"/>
                                            </p:txEl>
                                          </p:spTgt>
                                        </p:tgtEl>
                                        <p:attrNameLst>
                                          <p:attrName>style.visibility</p:attrName>
                                        </p:attrNameLst>
                                      </p:cBhvr>
                                      <p:to>
                                        <p:strVal val="visible"/>
                                      </p:to>
                                    </p:set>
                                    <p:animEffect transition="in" filter="slide(fromBottom)">
                                      <p:cBhvr>
                                        <p:cTn id="7" dur="500"/>
                                        <p:tgtEl>
                                          <p:spTgt spid="356355">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356355">
                                            <p:txEl>
                                              <p:pRg st="0" end="0"/>
                                            </p:txEl>
                                          </p:spTgt>
                                        </p:tgtEl>
                                        <p:attrNameLst>
                                          <p:attrName>style.visibility</p:attrName>
                                        </p:attrNameLst>
                                      </p:cBhvr>
                                      <p:to>
                                        <p:strVal val="visible"/>
                                      </p:to>
                                    </p:set>
                                    <p:animEffect transition="in" filter="slide(fromBottom)">
                                      <p:cBhvr>
                                        <p:cTn id="12" dur="500"/>
                                        <p:tgtEl>
                                          <p:spTgt spid="356355">
                                            <p:txEl>
                                              <p:pRg st="0" end="0"/>
                                            </p:txEl>
                                          </p:spTgt>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356355">
                                            <p:txEl>
                                              <p:pRg st="1" end="1"/>
                                            </p:txEl>
                                          </p:spTgt>
                                        </p:tgtEl>
                                        <p:attrNameLst>
                                          <p:attrName>style.visibility</p:attrName>
                                        </p:attrNameLst>
                                      </p:cBhvr>
                                      <p:to>
                                        <p:strVal val="visible"/>
                                      </p:to>
                                    </p:set>
                                    <p:animEffect transition="in" filter="slide(fromBottom)">
                                      <p:cBhvr>
                                        <p:cTn id="15" dur="500"/>
                                        <p:tgtEl>
                                          <p:spTgt spid="356355">
                                            <p:txEl>
                                              <p:pRg st="1" end="1"/>
                                            </p:txEl>
                                          </p:spTgt>
                                        </p:tgtEl>
                                      </p:cBhvr>
                                    </p:animEffect>
                                  </p:childTnLst>
                                </p:cTn>
                              </p:par>
                              <p:par>
                                <p:cTn id="16" presetID="12" presetClass="entr" presetSubtype="4" fill="hold" grpId="0" nodeType="withEffect">
                                  <p:stCondLst>
                                    <p:cond delay="0"/>
                                  </p:stCondLst>
                                  <p:childTnLst>
                                    <p:set>
                                      <p:cBhvr>
                                        <p:cTn id="17" dur="1" fill="hold">
                                          <p:stCondLst>
                                            <p:cond delay="0"/>
                                          </p:stCondLst>
                                        </p:cTn>
                                        <p:tgtEl>
                                          <p:spTgt spid="356355">
                                            <p:txEl>
                                              <p:pRg st="2" end="2"/>
                                            </p:txEl>
                                          </p:spTgt>
                                        </p:tgtEl>
                                        <p:attrNameLst>
                                          <p:attrName>style.visibility</p:attrName>
                                        </p:attrNameLst>
                                      </p:cBhvr>
                                      <p:to>
                                        <p:strVal val="visible"/>
                                      </p:to>
                                    </p:set>
                                    <p:animEffect transition="in" filter="slide(fromBottom)">
                                      <p:cBhvr>
                                        <p:cTn id="18" dur="500"/>
                                        <p:tgtEl>
                                          <p:spTgt spid="356355">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nodeType="clickEffect">
                                  <p:stCondLst>
                                    <p:cond delay="0"/>
                                  </p:stCondLst>
                                  <p:childTnLst>
                                    <p:set>
                                      <p:cBhvr>
                                        <p:cTn id="22" dur="1" fill="hold">
                                          <p:stCondLst>
                                            <p:cond delay="0"/>
                                          </p:stCondLst>
                                        </p:cTn>
                                        <p:tgtEl>
                                          <p:spTgt spid="356358"/>
                                        </p:tgtEl>
                                        <p:attrNameLst>
                                          <p:attrName>style.visibility</p:attrName>
                                        </p:attrNameLst>
                                      </p:cBhvr>
                                      <p:to>
                                        <p:strVal val="visible"/>
                                      </p:to>
                                    </p:set>
                                    <p:animEffect transition="in" filter="slide(fromBottom)">
                                      <p:cBhvr>
                                        <p:cTn id="23" dur="500"/>
                                        <p:tgtEl>
                                          <p:spTgt spid="3563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355"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1B741D46-D8C0-416B-8364-22DD72E7C975}" type="slidenum">
              <a:rPr lang="en-US" altLang="zh-CN"/>
            </a:fld>
            <a:endParaRPr lang="en-US" altLang="zh-CN"/>
          </a:p>
        </p:txBody>
      </p:sp>
      <p:sp>
        <p:nvSpPr>
          <p:cNvPr id="340994" name="Rectangle 2"/>
          <p:cNvSpPr>
            <a:spLocks noGrp="1" noChangeArrowheads="1"/>
          </p:cNvSpPr>
          <p:nvPr>
            <p:ph type="title"/>
          </p:nvPr>
        </p:nvSpPr>
        <p:spPr>
          <a:xfrm>
            <a:off x="457200" y="122238"/>
            <a:ext cx="7543800" cy="1146175"/>
          </a:xfrm>
        </p:spPr>
        <p:txBody>
          <a:bodyPr/>
          <a:lstStyle/>
          <a:p>
            <a:r>
              <a:rPr lang="en-US" altLang="zh-CN" sz="3500">
                <a:latin typeface="黑体" panose="02010609060101010101" pitchFamily="2" charset="-122"/>
                <a:ea typeface="黑体" panose="02010609060101010101" pitchFamily="2" charset="-122"/>
              </a:rPr>
              <a:t>8.1	</a:t>
            </a:r>
            <a:r>
              <a:rPr lang="zh-CN" altLang="en-US" sz="3500">
                <a:latin typeface="黑体" panose="02010609060101010101" pitchFamily="2" charset="-122"/>
                <a:ea typeface="黑体" panose="02010609060101010101" pitchFamily="2" charset="-122"/>
              </a:rPr>
              <a:t>计算模型</a:t>
            </a:r>
            <a:endParaRPr lang="zh-CN" altLang="en-US" sz="3500">
              <a:latin typeface="黑体" panose="02010609060101010101" pitchFamily="2" charset="-122"/>
              <a:ea typeface="黑体" panose="02010609060101010101" pitchFamily="2" charset="-122"/>
            </a:endParaRPr>
          </a:p>
        </p:txBody>
      </p:sp>
      <p:sp>
        <p:nvSpPr>
          <p:cNvPr id="340995" name="Rectangle 3"/>
          <p:cNvSpPr>
            <a:spLocks noGrp="1" noChangeArrowheads="1"/>
          </p:cNvSpPr>
          <p:nvPr>
            <p:ph type="body" idx="1"/>
          </p:nvPr>
        </p:nvSpPr>
        <p:spPr>
          <a:xfrm>
            <a:off x="250825" y="1557338"/>
            <a:ext cx="8893175" cy="4411662"/>
          </a:xfrm>
        </p:spPr>
        <p:txBody>
          <a:bodyPr/>
          <a:lstStyle/>
          <a:p>
            <a:pPr>
              <a:lnSpc>
                <a:spcPct val="130000"/>
              </a:lnSpc>
            </a:pPr>
            <a:r>
              <a:rPr lang="zh-CN" altLang="en-US" sz="2400" b="1">
                <a:latin typeface="新宋体" panose="02010609030101010101" charset="-122"/>
                <a:ea typeface="新宋体" panose="02010609030101010101" charset="-122"/>
              </a:rPr>
              <a:t>在进行问题的计算复杂性分析之前，首先必须建立求解问题所用的计算模型，包括定义该计算模型中所用的基本运算。</a:t>
            </a:r>
            <a:endParaRPr lang="zh-CN" altLang="en-US" sz="2400" b="1">
              <a:latin typeface="新宋体" panose="02010609030101010101" charset="-122"/>
              <a:ea typeface="新宋体" panose="02010609030101010101" charset="-122"/>
            </a:endParaRPr>
          </a:p>
          <a:p>
            <a:pPr>
              <a:lnSpc>
                <a:spcPct val="130000"/>
              </a:lnSpc>
            </a:pPr>
            <a:r>
              <a:rPr lang="zh-CN" altLang="en-US" sz="2400" b="1">
                <a:latin typeface="新宋体" panose="02010609030101010101" charset="-122"/>
                <a:ea typeface="新宋体" panose="02010609030101010101" charset="-122"/>
              </a:rPr>
              <a:t>建立计算模型的目的是为了使问题的计算复杂性分析有一个共同的客观尺度。</a:t>
            </a:r>
            <a:endParaRPr lang="zh-CN" altLang="en-US" sz="2400" b="1">
              <a:latin typeface="新宋体" panose="02010609030101010101" charset="-122"/>
              <a:ea typeface="新宋体" panose="02010609030101010101" charset="-122"/>
            </a:endParaRPr>
          </a:p>
          <a:p>
            <a:pPr>
              <a:lnSpc>
                <a:spcPct val="130000"/>
              </a:lnSpc>
            </a:pPr>
            <a:r>
              <a:rPr lang="en-US" altLang="zh-CN" sz="2400" b="1">
                <a:latin typeface="新宋体" panose="02010609030101010101" charset="-122"/>
                <a:ea typeface="新宋体" panose="02010609030101010101" charset="-122"/>
              </a:rPr>
              <a:t>3</a:t>
            </a:r>
            <a:r>
              <a:rPr lang="zh-CN" altLang="en-US" sz="2400" b="1">
                <a:latin typeface="新宋体" panose="02010609030101010101" charset="-122"/>
                <a:ea typeface="新宋体" panose="02010609030101010101" charset="-122"/>
              </a:rPr>
              <a:t>个基本计算模型：</a:t>
            </a:r>
            <a:endParaRPr lang="en-US" altLang="zh-CN" sz="2400" b="1">
              <a:latin typeface="新宋体" panose="02010609030101010101" charset="-122"/>
              <a:ea typeface="新宋体" panose="02010609030101010101" charset="-122"/>
            </a:endParaRPr>
          </a:p>
          <a:p>
            <a:pPr lvl="1">
              <a:lnSpc>
                <a:spcPct val="130000"/>
              </a:lnSpc>
            </a:pPr>
            <a:r>
              <a:rPr lang="zh-CN" altLang="en-US" sz="2000" b="1">
                <a:latin typeface="新宋体" panose="02010609030101010101" charset="-122"/>
                <a:ea typeface="新宋体" panose="02010609030101010101" charset="-122"/>
              </a:rPr>
              <a:t>随机存取机</a:t>
            </a:r>
            <a:r>
              <a:rPr lang="en-US" altLang="zh-CN" sz="2000" b="1">
                <a:latin typeface="新宋体" panose="02010609030101010101" charset="-122"/>
                <a:ea typeface="新宋体" panose="02010609030101010101" charset="-122"/>
              </a:rPr>
              <a:t>RAM(Random Access Machine)</a:t>
            </a:r>
            <a:r>
              <a:rPr lang="zh-CN" altLang="en-US" sz="2000" b="1">
                <a:latin typeface="新宋体" panose="02010609030101010101" charset="-122"/>
                <a:ea typeface="新宋体" panose="02010609030101010101" charset="-122"/>
              </a:rPr>
              <a:t>；</a:t>
            </a:r>
            <a:endParaRPr lang="zh-CN" altLang="en-US" sz="2000" b="1">
              <a:latin typeface="新宋体" panose="02010609030101010101" charset="-122"/>
              <a:ea typeface="新宋体" panose="02010609030101010101" charset="-122"/>
            </a:endParaRPr>
          </a:p>
          <a:p>
            <a:pPr lvl="1">
              <a:lnSpc>
                <a:spcPct val="130000"/>
              </a:lnSpc>
            </a:pPr>
            <a:r>
              <a:rPr lang="zh-CN" altLang="en-US" sz="2000" b="1">
                <a:latin typeface="新宋体" panose="02010609030101010101" charset="-122"/>
                <a:ea typeface="新宋体" panose="02010609030101010101" charset="-122"/>
              </a:rPr>
              <a:t>随机存取存储程序机</a:t>
            </a:r>
            <a:r>
              <a:rPr lang="en-US" altLang="zh-CN" sz="2000" b="1">
                <a:latin typeface="新宋体" panose="02010609030101010101" charset="-122"/>
                <a:ea typeface="新宋体" panose="02010609030101010101" charset="-122"/>
              </a:rPr>
              <a:t>RASP(Random Access Stored Program Machine)</a:t>
            </a:r>
            <a:endParaRPr lang="zh-CN" altLang="en-US" sz="2000" b="1">
              <a:latin typeface="新宋体" panose="02010609030101010101" charset="-122"/>
              <a:ea typeface="新宋体" panose="02010609030101010101" charset="-122"/>
            </a:endParaRPr>
          </a:p>
          <a:p>
            <a:pPr lvl="1">
              <a:lnSpc>
                <a:spcPct val="130000"/>
              </a:lnSpc>
            </a:pPr>
            <a:r>
              <a:rPr lang="zh-CN" altLang="en-US" sz="2000" b="1">
                <a:latin typeface="新宋体" panose="02010609030101010101" charset="-122"/>
                <a:ea typeface="新宋体" panose="02010609030101010101" charset="-122"/>
              </a:rPr>
              <a:t>图灵机</a:t>
            </a:r>
            <a:r>
              <a:rPr lang="en-US" altLang="zh-CN" sz="2000" b="1">
                <a:latin typeface="新宋体" panose="02010609030101010101" charset="-122"/>
                <a:ea typeface="新宋体" panose="02010609030101010101" charset="-122"/>
              </a:rPr>
              <a:t>(Turing Machine)</a:t>
            </a:r>
            <a:r>
              <a:rPr lang="zh-CN" altLang="en-US" sz="2000" b="1">
                <a:latin typeface="新宋体" panose="02010609030101010101" charset="-122"/>
                <a:ea typeface="新宋体" panose="02010609030101010101" charset="-122"/>
              </a:rPr>
              <a:t>。</a:t>
            </a:r>
            <a:endParaRPr lang="zh-CN" altLang="en-US" sz="2000" b="1">
              <a:latin typeface="新宋体" panose="02010609030101010101" charset="-122"/>
              <a:ea typeface="新宋体" panose="02010609030101010101" charset="-122"/>
            </a:endParaRPr>
          </a:p>
          <a:p>
            <a:pPr>
              <a:lnSpc>
                <a:spcPct val="130000"/>
              </a:lnSpc>
            </a:pPr>
            <a:r>
              <a:rPr lang="zh-CN" altLang="en-US" sz="2400" b="1">
                <a:latin typeface="新宋体" panose="02010609030101010101" charset="-122"/>
                <a:ea typeface="新宋体" panose="02010609030101010101" charset="-122"/>
              </a:rPr>
              <a:t>这</a:t>
            </a:r>
            <a:r>
              <a:rPr lang="en-US" altLang="zh-CN" sz="2400" b="1">
                <a:latin typeface="新宋体" panose="02010609030101010101" charset="-122"/>
                <a:ea typeface="新宋体" panose="02010609030101010101" charset="-122"/>
              </a:rPr>
              <a:t>3</a:t>
            </a:r>
            <a:r>
              <a:rPr lang="zh-CN" altLang="en-US" sz="2400" b="1">
                <a:latin typeface="新宋体" panose="02010609030101010101" charset="-122"/>
                <a:ea typeface="新宋体" panose="02010609030101010101" charset="-122"/>
              </a:rPr>
              <a:t>个计算模型在计算能力上是等价的，但在计算速度上是不同的。</a:t>
            </a:r>
            <a:endParaRPr lang="zh-CN" altLang="en-US" sz="2400" b="1">
              <a:latin typeface="新宋体" panose="02010609030101010101" charset="-122"/>
              <a:ea typeface="新宋体" panose="02010609030101010101"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0995">
                                            <p:txEl>
                                              <p:pRg st="4294967295" end="4294967295"/>
                                            </p:txEl>
                                          </p:spTgt>
                                        </p:tgtEl>
                                        <p:attrNameLst>
                                          <p:attrName>style.visibility</p:attrName>
                                        </p:attrNameLst>
                                      </p:cBhvr>
                                      <p:to>
                                        <p:strVal val="visible"/>
                                      </p:to>
                                    </p:set>
                                    <p:animEffect transition="in" filter="blinds(horizontal)">
                                      <p:cBhvr>
                                        <p:cTn id="7" dur="500"/>
                                        <p:tgtEl>
                                          <p:spTgt spid="340995">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40995">
                                            <p:txEl>
                                              <p:pRg st="0" end="0"/>
                                            </p:txEl>
                                          </p:spTgt>
                                        </p:tgtEl>
                                        <p:attrNameLst>
                                          <p:attrName>style.visibility</p:attrName>
                                        </p:attrNameLst>
                                      </p:cBhvr>
                                      <p:to>
                                        <p:strVal val="visible"/>
                                      </p:to>
                                    </p:set>
                                    <p:animEffect transition="in" filter="blinds(horizontal)">
                                      <p:cBhvr>
                                        <p:cTn id="12" dur="500"/>
                                        <p:tgtEl>
                                          <p:spTgt spid="34099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40995">
                                            <p:txEl>
                                              <p:pRg st="1" end="1"/>
                                            </p:txEl>
                                          </p:spTgt>
                                        </p:tgtEl>
                                        <p:attrNameLst>
                                          <p:attrName>style.visibility</p:attrName>
                                        </p:attrNameLst>
                                      </p:cBhvr>
                                      <p:to>
                                        <p:strVal val="visible"/>
                                      </p:to>
                                    </p:set>
                                    <p:animEffect transition="in" filter="blinds(horizontal)">
                                      <p:cBhvr>
                                        <p:cTn id="17" dur="500"/>
                                        <p:tgtEl>
                                          <p:spTgt spid="34099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40995">
                                            <p:txEl>
                                              <p:pRg st="2" end="2"/>
                                            </p:txEl>
                                          </p:spTgt>
                                        </p:tgtEl>
                                        <p:attrNameLst>
                                          <p:attrName>style.visibility</p:attrName>
                                        </p:attrNameLst>
                                      </p:cBhvr>
                                      <p:to>
                                        <p:strVal val="visible"/>
                                      </p:to>
                                    </p:set>
                                    <p:animEffect transition="in" filter="blinds(horizontal)">
                                      <p:cBhvr>
                                        <p:cTn id="22" dur="500"/>
                                        <p:tgtEl>
                                          <p:spTgt spid="340995">
                                            <p:txEl>
                                              <p:pRg st="2" end="2"/>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340995">
                                            <p:txEl>
                                              <p:pRg st="3" end="3"/>
                                            </p:txEl>
                                          </p:spTgt>
                                        </p:tgtEl>
                                        <p:attrNameLst>
                                          <p:attrName>style.visibility</p:attrName>
                                        </p:attrNameLst>
                                      </p:cBhvr>
                                      <p:to>
                                        <p:strVal val="visible"/>
                                      </p:to>
                                    </p:set>
                                    <p:animEffect transition="in" filter="blinds(horizontal)">
                                      <p:cBhvr>
                                        <p:cTn id="25" dur="500"/>
                                        <p:tgtEl>
                                          <p:spTgt spid="340995">
                                            <p:txEl>
                                              <p:pRg st="3" end="3"/>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340995">
                                            <p:txEl>
                                              <p:pRg st="4" end="4"/>
                                            </p:txEl>
                                          </p:spTgt>
                                        </p:tgtEl>
                                        <p:attrNameLst>
                                          <p:attrName>style.visibility</p:attrName>
                                        </p:attrNameLst>
                                      </p:cBhvr>
                                      <p:to>
                                        <p:strVal val="visible"/>
                                      </p:to>
                                    </p:set>
                                    <p:animEffect transition="in" filter="blinds(horizontal)">
                                      <p:cBhvr>
                                        <p:cTn id="28" dur="500"/>
                                        <p:tgtEl>
                                          <p:spTgt spid="340995">
                                            <p:txEl>
                                              <p:pRg st="4" end="4"/>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340995">
                                            <p:txEl>
                                              <p:pRg st="5" end="5"/>
                                            </p:txEl>
                                          </p:spTgt>
                                        </p:tgtEl>
                                        <p:attrNameLst>
                                          <p:attrName>style.visibility</p:attrName>
                                        </p:attrNameLst>
                                      </p:cBhvr>
                                      <p:to>
                                        <p:strVal val="visible"/>
                                      </p:to>
                                    </p:set>
                                    <p:animEffect transition="in" filter="blinds(horizontal)">
                                      <p:cBhvr>
                                        <p:cTn id="31" dur="500"/>
                                        <p:tgtEl>
                                          <p:spTgt spid="340995">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40995">
                                            <p:txEl>
                                              <p:pRg st="6" end="6"/>
                                            </p:txEl>
                                          </p:spTgt>
                                        </p:tgtEl>
                                        <p:attrNameLst>
                                          <p:attrName>style.visibility</p:attrName>
                                        </p:attrNameLst>
                                      </p:cBhvr>
                                      <p:to>
                                        <p:strVal val="visible"/>
                                      </p:to>
                                    </p:set>
                                    <p:animEffect transition="in" filter="blinds(horizontal)">
                                      <p:cBhvr>
                                        <p:cTn id="36" dur="500"/>
                                        <p:tgtEl>
                                          <p:spTgt spid="3409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5" grpId="0" autoUpdateAnimBg="0" build="p"/>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灯片编号占位符 5"/>
          <p:cNvSpPr>
            <a:spLocks noGrp="1"/>
          </p:cNvSpPr>
          <p:nvPr>
            <p:ph type="sldNum" sz="quarter" idx="12"/>
          </p:nvPr>
        </p:nvSpPr>
        <p:spPr/>
        <p:txBody>
          <a:bodyPr/>
          <a:lstStyle/>
          <a:p>
            <a:fld id="{2B4EF8BB-B6EB-4EAF-A49E-6B52965AC758}" type="slidenum">
              <a:rPr lang="en-US" altLang="zh-CN"/>
            </a:fld>
            <a:endParaRPr lang="en-US" altLang="zh-CN"/>
          </a:p>
        </p:txBody>
      </p:sp>
      <p:sp>
        <p:nvSpPr>
          <p:cNvPr id="304130" name="Rectangle 2"/>
          <p:cNvSpPr>
            <a:spLocks noGrp="1" noChangeArrowheads="1"/>
          </p:cNvSpPr>
          <p:nvPr>
            <p:ph type="title"/>
          </p:nvPr>
        </p:nvSpPr>
        <p:spPr/>
        <p:txBody>
          <a:bodyPr/>
          <a:lstStyle/>
          <a:p>
            <a:r>
              <a:rPr lang="en-US" altLang="zh-CN" sz="3000"/>
              <a:t>8.1.1  </a:t>
            </a:r>
            <a:r>
              <a:rPr lang="zh-CN" altLang="en-US" sz="3000">
                <a:latin typeface="新宋体" panose="02010609030101010101" charset="-122"/>
                <a:ea typeface="新宋体" panose="02010609030101010101" charset="-122"/>
              </a:rPr>
              <a:t>随机存取机</a:t>
            </a:r>
            <a:r>
              <a:rPr lang="en-US" altLang="zh-CN" sz="3000">
                <a:latin typeface="新宋体" panose="02010609030101010101" charset="-122"/>
                <a:ea typeface="新宋体" panose="02010609030101010101" charset="-122"/>
              </a:rPr>
              <a:t>RAM</a:t>
            </a:r>
            <a:endParaRPr lang="zh-CN" altLang="en-US" sz="3000">
              <a:latin typeface="新宋体" panose="02010609030101010101" charset="-122"/>
              <a:ea typeface="新宋体" panose="02010609030101010101" charset="-122"/>
            </a:endParaRPr>
          </a:p>
        </p:txBody>
      </p:sp>
      <p:pic>
        <p:nvPicPr>
          <p:cNvPr id="304131" name="Picture 3" descr="t8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19200" y="2608263"/>
            <a:ext cx="6248400" cy="3563937"/>
          </a:xfrm>
          <a:prstGeom prst="rect">
            <a:avLst/>
          </a:prstGeom>
          <a:noFill/>
          <a:extLst>
            <a:ext uri="{909E8E84-426E-40DD-AFC4-6F175D3DCCD1}">
              <a14:hiddenFill xmlns:a14="http://schemas.microsoft.com/office/drawing/2010/main">
                <a:solidFill>
                  <a:srgbClr val="FFFFFF"/>
                </a:solidFill>
              </a14:hiddenFill>
            </a:ext>
          </a:extLst>
        </p:spPr>
      </p:pic>
      <p:sp>
        <p:nvSpPr>
          <p:cNvPr id="304132" name="Text Box 4"/>
          <p:cNvSpPr txBox="1">
            <a:spLocks noChangeArrowheads="1"/>
          </p:cNvSpPr>
          <p:nvPr/>
        </p:nvSpPr>
        <p:spPr bwMode="auto">
          <a:xfrm>
            <a:off x="593725" y="1847850"/>
            <a:ext cx="2825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en-US" altLang="zh-CN" sz="3200" b="1">
                <a:solidFill>
                  <a:schemeClr val="accent2"/>
                </a:solidFill>
                <a:latin typeface="Times New Roman" panose="02020603050405020304" pitchFamily="18" charset="0"/>
                <a:ea typeface="黑体" panose="02010609060101010101" pitchFamily="2" charset="-122"/>
              </a:rPr>
              <a:t>1、</a:t>
            </a:r>
            <a:r>
              <a:rPr lang="en-US" altLang="zh-CN" sz="3200" b="1">
                <a:solidFill>
                  <a:schemeClr val="accent2"/>
                </a:solidFill>
                <a:latin typeface="新宋体" panose="02010609030101010101" charset="-122"/>
                <a:ea typeface="新宋体" panose="02010609030101010101" charset="-122"/>
              </a:rPr>
              <a:t>RAM</a:t>
            </a:r>
            <a:r>
              <a:rPr lang="zh-CN" altLang="en-US" sz="3200" b="1">
                <a:solidFill>
                  <a:schemeClr val="accent2"/>
                </a:solidFill>
                <a:latin typeface="新宋体" panose="02010609030101010101" charset="-122"/>
                <a:ea typeface="新宋体" panose="02010609030101010101" charset="-122"/>
              </a:rPr>
              <a:t>的结构</a:t>
            </a:r>
            <a:endParaRPr lang="en-US" altLang="zh-CN" sz="3200" b="1">
              <a:solidFill>
                <a:schemeClr val="accent2"/>
              </a:solidFill>
              <a:latin typeface="新宋体" panose="02010609030101010101" charset="-122"/>
              <a:ea typeface="新宋体" panose="02010609030101010101" charset="-122"/>
            </a:endParaRPr>
          </a:p>
        </p:txBody>
      </p:sp>
      <p:sp>
        <p:nvSpPr>
          <p:cNvPr id="304133" name="Rectangle 5"/>
          <p:cNvSpPr>
            <a:spLocks noChangeArrowheads="1"/>
          </p:cNvSpPr>
          <p:nvPr/>
        </p:nvSpPr>
        <p:spPr bwMode="auto">
          <a:xfrm>
            <a:off x="3348038" y="188913"/>
            <a:ext cx="4495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en-US" altLang="zh-CN" sz="2800">
                <a:solidFill>
                  <a:srgbClr val="CC0000"/>
                </a:solidFill>
                <a:latin typeface="华文行楷" panose="02010800040101010101" pitchFamily="2" charset="-122"/>
                <a:ea typeface="华文行楷" panose="02010800040101010101" pitchFamily="2" charset="-122"/>
              </a:rPr>
              <a:t>RAM</a:t>
            </a:r>
            <a:r>
              <a:rPr kumimoji="1" lang="zh-CN" altLang="en-US" sz="2800">
                <a:solidFill>
                  <a:srgbClr val="CC0000"/>
                </a:solidFill>
                <a:latin typeface="华文行楷" panose="02010800040101010101" pitchFamily="2" charset="-122"/>
                <a:ea typeface="华文行楷" panose="02010800040101010101" pitchFamily="2" charset="-122"/>
              </a:rPr>
              <a:t>是一台单累加器计算机</a:t>
            </a:r>
            <a:endParaRPr kumimoji="1" lang="zh-CN" altLang="en-US" sz="2800">
              <a:solidFill>
                <a:srgbClr val="CC0000"/>
              </a:solidFill>
              <a:latin typeface="华文行楷" panose="02010800040101010101" pitchFamily="2" charset="-122"/>
              <a:ea typeface="华文行楷" panose="02010800040101010101" pitchFamily="2" charset="-122"/>
            </a:endParaRPr>
          </a:p>
        </p:txBody>
      </p:sp>
      <p:sp>
        <p:nvSpPr>
          <p:cNvPr id="304134" name="Line 6"/>
          <p:cNvSpPr>
            <a:spLocks noChangeShapeType="1"/>
          </p:cNvSpPr>
          <p:nvPr/>
        </p:nvSpPr>
        <p:spPr bwMode="auto">
          <a:xfrm>
            <a:off x="6516688" y="3860800"/>
            <a:ext cx="576262" cy="0"/>
          </a:xfrm>
          <a:prstGeom prst="line">
            <a:avLst/>
          </a:prstGeom>
          <a:noFill/>
          <a:ln w="57150">
            <a:solidFill>
              <a:srgbClr val="A5002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04135" name="AutoShape 7"/>
          <p:cNvSpPr>
            <a:spLocks noChangeArrowheads="1"/>
          </p:cNvSpPr>
          <p:nvPr/>
        </p:nvSpPr>
        <p:spPr bwMode="auto">
          <a:xfrm>
            <a:off x="4859338" y="908050"/>
            <a:ext cx="2952750" cy="1225550"/>
          </a:xfrm>
          <a:prstGeom prst="wedgeRoundRectCallout">
            <a:avLst>
              <a:gd name="adj1" fmla="val -9139"/>
              <a:gd name="adj2" fmla="val 98574"/>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a:t>由一组方格组成，每个方格可存放一个整数。每从只读输入带上读入一个数后，读写头右移一格。</a:t>
            </a:r>
            <a:endParaRPr lang="zh-CN" altLang="en-US"/>
          </a:p>
        </p:txBody>
      </p:sp>
      <p:sp>
        <p:nvSpPr>
          <p:cNvPr id="304136" name="AutoShape 8"/>
          <p:cNvSpPr>
            <a:spLocks noChangeArrowheads="1"/>
          </p:cNvSpPr>
          <p:nvPr/>
        </p:nvSpPr>
        <p:spPr bwMode="auto">
          <a:xfrm>
            <a:off x="106363" y="4508500"/>
            <a:ext cx="2952750" cy="1584325"/>
          </a:xfrm>
          <a:prstGeom prst="wedgeRoundRectCallout">
            <a:avLst>
              <a:gd name="adj1" fmla="val 64356"/>
              <a:gd name="adj2" fmla="val 46593"/>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a:t>初始每个方格都为空。每执行一条写指令就在读写头下方的方格中打印一个整数，然后读写头右移一格。输出符号后不可修改。</a:t>
            </a:r>
            <a:endParaRPr lang="zh-CN" altLang="en-US"/>
          </a:p>
        </p:txBody>
      </p:sp>
      <p:sp>
        <p:nvSpPr>
          <p:cNvPr id="304137" name="AutoShape 9"/>
          <p:cNvSpPr>
            <a:spLocks noChangeArrowheads="1"/>
          </p:cNvSpPr>
          <p:nvPr/>
        </p:nvSpPr>
        <p:spPr bwMode="auto">
          <a:xfrm>
            <a:off x="7235825" y="1916113"/>
            <a:ext cx="1908175" cy="4868862"/>
          </a:xfrm>
          <a:prstGeom prst="wedgeRoundRectCallout">
            <a:avLst>
              <a:gd name="adj1" fmla="val -93093"/>
              <a:gd name="adj2" fmla="val 19907"/>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a:t>由一组寄存器</a:t>
            </a:r>
            <a:r>
              <a:rPr lang="en-US" altLang="zh-CN"/>
              <a:t>r1</a:t>
            </a:r>
            <a:r>
              <a:rPr lang="zh-CN" altLang="en-US"/>
              <a:t>，</a:t>
            </a:r>
            <a:r>
              <a:rPr lang="en-US" altLang="zh-CN"/>
              <a:t>r2</a:t>
            </a:r>
            <a:r>
              <a:rPr lang="zh-CN" altLang="en-US"/>
              <a:t>，</a:t>
            </a:r>
            <a:r>
              <a:rPr lang="en-US" altLang="zh-CN"/>
              <a:t>…</a:t>
            </a:r>
            <a:r>
              <a:rPr lang="zh-CN" altLang="en-US"/>
              <a:t>，</a:t>
            </a:r>
            <a:r>
              <a:rPr lang="en-US" altLang="zh-CN"/>
              <a:t>ri</a:t>
            </a:r>
            <a:r>
              <a:rPr lang="zh-CN" altLang="en-US"/>
              <a:t>，</a:t>
            </a:r>
            <a:r>
              <a:rPr lang="en-US" altLang="zh-CN"/>
              <a:t>…</a:t>
            </a:r>
            <a:r>
              <a:rPr lang="zh-CN" altLang="en-US"/>
              <a:t>组成。每个寄存器可以存放一个整数，且存储器的个数不限。这说明当所求解问题的规模不超过一台计算机的内存容量，且整数字长不超过计算机字长时，</a:t>
            </a:r>
            <a:r>
              <a:rPr lang="en-US" altLang="zh-CN"/>
              <a:t>RAM</a:t>
            </a:r>
            <a:r>
              <a:rPr lang="zh-CN" altLang="en-US"/>
              <a:t>模型的抽象是符合实际的。</a:t>
            </a: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4132"/>
                                        </p:tgtEl>
                                        <p:attrNameLst>
                                          <p:attrName>style.visibility</p:attrName>
                                        </p:attrNameLst>
                                      </p:cBhvr>
                                      <p:to>
                                        <p:strVal val="visible"/>
                                      </p:to>
                                    </p:set>
                                    <p:animEffect transition="in" filter="blinds(horizontal)">
                                      <p:cBhvr>
                                        <p:cTn id="7" dur="500"/>
                                        <p:tgtEl>
                                          <p:spTgt spid="30413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04131"/>
                                        </p:tgtEl>
                                        <p:attrNameLst>
                                          <p:attrName>style.visibility</p:attrName>
                                        </p:attrNameLst>
                                      </p:cBhvr>
                                      <p:to>
                                        <p:strVal val="visible"/>
                                      </p:to>
                                    </p:set>
                                    <p:animEffect transition="in" filter="checkerboard(across)">
                                      <p:cBhvr>
                                        <p:cTn id="12" dur="500"/>
                                        <p:tgtEl>
                                          <p:spTgt spid="304131"/>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04133"/>
                                        </p:tgtEl>
                                        <p:attrNameLst>
                                          <p:attrName>style.visibility</p:attrName>
                                        </p:attrNameLst>
                                      </p:cBhvr>
                                      <p:to>
                                        <p:strVal val="visible"/>
                                      </p:to>
                                    </p:set>
                                    <p:animEffect transition="in" filter="checkerboard(across)">
                                      <p:cBhvr>
                                        <p:cTn id="17" dur="500"/>
                                        <p:tgtEl>
                                          <p:spTgt spid="30413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04134"/>
                                        </p:tgtEl>
                                        <p:attrNameLst>
                                          <p:attrName>style.visibility</p:attrName>
                                        </p:attrNameLst>
                                      </p:cBhvr>
                                      <p:to>
                                        <p:strVal val="visible"/>
                                      </p:to>
                                    </p:set>
                                    <p:animEffect transition="in" filter="wipe(left)">
                                      <p:cBhvr>
                                        <p:cTn id="22" dur="500"/>
                                        <p:tgtEl>
                                          <p:spTgt spid="304134"/>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304135"/>
                                        </p:tgtEl>
                                        <p:attrNameLst>
                                          <p:attrName>style.visibility</p:attrName>
                                        </p:attrNameLst>
                                      </p:cBhvr>
                                      <p:to>
                                        <p:strVal val="visible"/>
                                      </p:to>
                                    </p:set>
                                    <p:anim calcmode="lin" valueType="num">
                                      <p:cBhvr additive="base">
                                        <p:cTn id="27" dur="500" fill="hold"/>
                                        <p:tgtEl>
                                          <p:spTgt spid="304135"/>
                                        </p:tgtEl>
                                        <p:attrNameLst>
                                          <p:attrName>ppt_x</p:attrName>
                                        </p:attrNameLst>
                                      </p:cBhvr>
                                      <p:tavLst>
                                        <p:tav tm="0">
                                          <p:val>
                                            <p:strVal val="1+#ppt_w/2"/>
                                          </p:val>
                                        </p:tav>
                                        <p:tav tm="100000">
                                          <p:val>
                                            <p:strVal val="#ppt_x"/>
                                          </p:val>
                                        </p:tav>
                                      </p:tavLst>
                                    </p:anim>
                                    <p:anim calcmode="lin" valueType="num">
                                      <p:cBhvr additive="base">
                                        <p:cTn id="28" dur="500" fill="hold"/>
                                        <p:tgtEl>
                                          <p:spTgt spid="304135"/>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304135"/>
                                        </p:tgtEl>
                                        <p:attrNameLst>
                                          <p:attrName>style.visibility</p:attrName>
                                        </p:attrNameLst>
                                      </p:cBhvr>
                                      <p:to>
                                        <p:strVal val="hidden"/>
                                      </p:to>
                                    </p:set>
                                  </p:subTnLst>
                                </p:cTn>
                              </p:par>
                            </p:childTnLst>
                          </p:cTn>
                        </p:par>
                      </p:childTnLst>
                    </p:cTn>
                  </p:par>
                  <p:par>
                    <p:cTn id="29" fill="hold">
                      <p:stCondLst>
                        <p:cond delay="indefinite"/>
                      </p:stCondLst>
                      <p:childTnLst>
                        <p:par>
                          <p:cTn id="30" fill="hold">
                            <p:stCondLst>
                              <p:cond delay="0"/>
                            </p:stCondLst>
                            <p:childTnLst>
                              <p:par>
                                <p:cTn id="31" presetID="2" presetClass="entr" presetSubtype="12" fill="hold" grpId="0" nodeType="clickEffect">
                                  <p:stCondLst>
                                    <p:cond delay="0"/>
                                  </p:stCondLst>
                                  <p:childTnLst>
                                    <p:set>
                                      <p:cBhvr>
                                        <p:cTn id="32" dur="1" fill="hold">
                                          <p:stCondLst>
                                            <p:cond delay="0"/>
                                          </p:stCondLst>
                                        </p:cTn>
                                        <p:tgtEl>
                                          <p:spTgt spid="304136"/>
                                        </p:tgtEl>
                                        <p:attrNameLst>
                                          <p:attrName>style.visibility</p:attrName>
                                        </p:attrNameLst>
                                      </p:cBhvr>
                                      <p:to>
                                        <p:strVal val="visible"/>
                                      </p:to>
                                    </p:set>
                                    <p:anim calcmode="lin" valueType="num">
                                      <p:cBhvr additive="base">
                                        <p:cTn id="33" dur="500" fill="hold"/>
                                        <p:tgtEl>
                                          <p:spTgt spid="304136"/>
                                        </p:tgtEl>
                                        <p:attrNameLst>
                                          <p:attrName>ppt_x</p:attrName>
                                        </p:attrNameLst>
                                      </p:cBhvr>
                                      <p:tavLst>
                                        <p:tav tm="0">
                                          <p:val>
                                            <p:strVal val="0-#ppt_w/2"/>
                                          </p:val>
                                        </p:tav>
                                        <p:tav tm="100000">
                                          <p:val>
                                            <p:strVal val="#ppt_x"/>
                                          </p:val>
                                        </p:tav>
                                      </p:tavLst>
                                    </p:anim>
                                    <p:anim calcmode="lin" valueType="num">
                                      <p:cBhvr additive="base">
                                        <p:cTn id="34" dur="500" fill="hold"/>
                                        <p:tgtEl>
                                          <p:spTgt spid="304136"/>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304136"/>
                                        </p:tgtEl>
                                        <p:attrNameLst>
                                          <p:attrName>style.visibility</p:attrName>
                                        </p:attrNameLst>
                                      </p:cBhvr>
                                      <p:to>
                                        <p:strVal val="hidden"/>
                                      </p:to>
                                    </p:set>
                                  </p:subTnLst>
                                </p:cTn>
                              </p:par>
                            </p:childTnLst>
                          </p:cTn>
                        </p:par>
                      </p:childTnLst>
                    </p:cTn>
                  </p:par>
                  <p:par>
                    <p:cTn id="35" fill="hold">
                      <p:stCondLst>
                        <p:cond delay="indefinite"/>
                      </p:stCondLst>
                      <p:childTnLst>
                        <p:par>
                          <p:cTn id="36" fill="hold">
                            <p:stCondLst>
                              <p:cond delay="0"/>
                            </p:stCondLst>
                            <p:childTnLst>
                              <p:par>
                                <p:cTn id="37" presetID="2" presetClass="entr" presetSubtype="2" fill="hold" grpId="0" nodeType="clickEffect">
                                  <p:stCondLst>
                                    <p:cond delay="0"/>
                                  </p:stCondLst>
                                  <p:childTnLst>
                                    <p:set>
                                      <p:cBhvr>
                                        <p:cTn id="38" dur="1" fill="hold">
                                          <p:stCondLst>
                                            <p:cond delay="0"/>
                                          </p:stCondLst>
                                        </p:cTn>
                                        <p:tgtEl>
                                          <p:spTgt spid="304137"/>
                                        </p:tgtEl>
                                        <p:attrNameLst>
                                          <p:attrName>style.visibility</p:attrName>
                                        </p:attrNameLst>
                                      </p:cBhvr>
                                      <p:to>
                                        <p:strVal val="visible"/>
                                      </p:to>
                                    </p:set>
                                    <p:anim calcmode="lin" valueType="num">
                                      <p:cBhvr additive="base">
                                        <p:cTn id="39" dur="500" fill="hold"/>
                                        <p:tgtEl>
                                          <p:spTgt spid="304137"/>
                                        </p:tgtEl>
                                        <p:attrNameLst>
                                          <p:attrName>ppt_x</p:attrName>
                                        </p:attrNameLst>
                                      </p:cBhvr>
                                      <p:tavLst>
                                        <p:tav tm="0">
                                          <p:val>
                                            <p:strVal val="1+#ppt_w/2"/>
                                          </p:val>
                                        </p:tav>
                                        <p:tav tm="100000">
                                          <p:val>
                                            <p:strVal val="#ppt_x"/>
                                          </p:val>
                                        </p:tav>
                                      </p:tavLst>
                                    </p:anim>
                                    <p:anim calcmode="lin" valueType="num">
                                      <p:cBhvr additive="base">
                                        <p:cTn id="40" dur="500" fill="hold"/>
                                        <p:tgtEl>
                                          <p:spTgt spid="304137"/>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30413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32" grpId="0" autoUpdateAnimBg="0"/>
      <p:bldP spid="304133" grpId="0"/>
      <p:bldP spid="304134" grpId="0" animBg="1"/>
      <p:bldP spid="304135" grpId="0" animBg="1"/>
      <p:bldP spid="304136" grpId="0" animBg="1"/>
      <p:bldP spid="30413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244328C5-42E9-473D-9511-C9D4A4E33845}" type="slidenum">
              <a:rPr lang="en-US" altLang="zh-CN"/>
            </a:fld>
            <a:endParaRPr lang="en-US" altLang="zh-CN"/>
          </a:p>
        </p:txBody>
      </p:sp>
      <p:sp>
        <p:nvSpPr>
          <p:cNvPr id="364546" name="Rectangle 2"/>
          <p:cNvSpPr>
            <a:spLocks noGrp="1" noChangeArrowheads="1"/>
          </p:cNvSpPr>
          <p:nvPr>
            <p:ph type="title"/>
          </p:nvPr>
        </p:nvSpPr>
        <p:spPr/>
        <p:txBody>
          <a:bodyPr/>
          <a:lstStyle/>
          <a:p>
            <a:r>
              <a:rPr lang="zh-CN" altLang="en-US" sz="3400">
                <a:latin typeface="新宋体" panose="02010609030101010101" charset="-122"/>
                <a:ea typeface="新宋体" panose="02010609030101010101" charset="-122"/>
              </a:rPr>
              <a:t>随机存取机</a:t>
            </a:r>
            <a:r>
              <a:rPr lang="en-US" altLang="zh-CN" sz="3400">
                <a:latin typeface="新宋体" panose="02010609030101010101" charset="-122"/>
                <a:ea typeface="新宋体" panose="02010609030101010101" charset="-122"/>
              </a:rPr>
              <a:t>RAM</a:t>
            </a:r>
            <a:endParaRPr lang="zh-CN" altLang="en-US" sz="3400">
              <a:latin typeface="新宋体" panose="02010609030101010101" charset="-122"/>
              <a:ea typeface="新宋体" panose="02010609030101010101" charset="-122"/>
            </a:endParaRPr>
          </a:p>
        </p:txBody>
      </p:sp>
      <p:sp>
        <p:nvSpPr>
          <p:cNvPr id="364547" name="Rectangle 3"/>
          <p:cNvSpPr>
            <a:spLocks noGrp="1" noChangeArrowheads="1"/>
          </p:cNvSpPr>
          <p:nvPr>
            <p:ph type="body" idx="1"/>
          </p:nvPr>
        </p:nvSpPr>
        <p:spPr>
          <a:xfrm>
            <a:off x="457200" y="1719263"/>
            <a:ext cx="8229600" cy="4733925"/>
          </a:xfrm>
        </p:spPr>
        <p:txBody>
          <a:bodyPr/>
          <a:lstStyle/>
          <a:p>
            <a:r>
              <a:rPr lang="en-US" altLang="zh-CN" sz="2600" b="1">
                <a:solidFill>
                  <a:srgbClr val="CC0000"/>
                </a:solidFill>
              </a:rPr>
              <a:t>RAM</a:t>
            </a:r>
            <a:r>
              <a:rPr lang="zh-CN" altLang="en-US" sz="2600" b="1">
                <a:solidFill>
                  <a:srgbClr val="CC0000"/>
                </a:solidFill>
              </a:rPr>
              <a:t>程序</a:t>
            </a:r>
            <a:r>
              <a:rPr lang="zh-CN" altLang="en-US" sz="2600"/>
              <a:t>是带标号的指令序列，存储在程序存储部件中，而非内部存储器中。</a:t>
            </a:r>
            <a:endParaRPr lang="zh-CN" altLang="en-US" sz="2600"/>
          </a:p>
          <a:p>
            <a:r>
              <a:rPr lang="en-US" altLang="zh-CN" sz="2600"/>
              <a:t>RAM</a:t>
            </a:r>
            <a:r>
              <a:rPr lang="zh-CN" altLang="en-US" sz="2600"/>
              <a:t>设有算术运算指令，输入输出指令，存取数指令及转移指令。</a:t>
            </a:r>
            <a:endParaRPr lang="zh-CN" altLang="en-US" sz="2600"/>
          </a:p>
          <a:p>
            <a:r>
              <a:rPr lang="en-US" altLang="zh-CN" sz="2600" b="1">
                <a:solidFill>
                  <a:srgbClr val="CC0000"/>
                </a:solidFill>
              </a:rPr>
              <a:t>RAM</a:t>
            </a:r>
            <a:r>
              <a:rPr lang="zh-CN" altLang="en-US" sz="2600" b="1">
                <a:solidFill>
                  <a:srgbClr val="CC0000"/>
                </a:solidFill>
              </a:rPr>
              <a:t>指令</a:t>
            </a:r>
            <a:r>
              <a:rPr lang="zh-CN" altLang="en-US" sz="2600"/>
              <a:t>由操作码和操作数组成。其中，操作数有</a:t>
            </a:r>
            <a:r>
              <a:rPr lang="en-US" altLang="zh-CN" sz="2600"/>
              <a:t>3</a:t>
            </a:r>
            <a:r>
              <a:rPr lang="zh-CN" altLang="en-US" sz="2600"/>
              <a:t>种形式：</a:t>
            </a:r>
            <a:endParaRPr lang="zh-CN" altLang="en-US" sz="2600"/>
          </a:p>
          <a:p>
            <a:pPr lvl="1">
              <a:buFont typeface="Wingdings" panose="05000000000000000000" pitchFamily="2" charset="2"/>
              <a:buNone/>
            </a:pPr>
            <a:r>
              <a:rPr lang="en-US" altLang="zh-CN" sz="2200"/>
              <a:t>a)=i</a:t>
            </a:r>
            <a:r>
              <a:rPr lang="zh-CN" altLang="en-US" sz="2200"/>
              <a:t>，操作数是整数</a:t>
            </a:r>
            <a:r>
              <a:rPr lang="en-US" altLang="zh-CN" sz="2200"/>
              <a:t>i</a:t>
            </a:r>
            <a:r>
              <a:rPr lang="zh-CN" altLang="en-US" sz="2200"/>
              <a:t>本身。（直接数型）</a:t>
            </a:r>
            <a:endParaRPr lang="zh-CN" altLang="en-US" sz="2200"/>
          </a:p>
          <a:p>
            <a:pPr lvl="1">
              <a:buFont typeface="Wingdings" panose="05000000000000000000" pitchFamily="2" charset="2"/>
              <a:buNone/>
            </a:pPr>
            <a:r>
              <a:rPr lang="en-US" altLang="zh-CN" sz="2200"/>
              <a:t>b) i</a:t>
            </a:r>
            <a:r>
              <a:rPr lang="zh-CN" altLang="en-US" sz="2200"/>
              <a:t>，</a:t>
            </a:r>
            <a:r>
              <a:rPr lang="en-US" altLang="zh-CN" sz="2200"/>
              <a:t>i</a:t>
            </a:r>
            <a:r>
              <a:rPr lang="zh-CN" altLang="en-US" sz="2200"/>
              <a:t>是非负整数，操作数是寄存器</a:t>
            </a:r>
            <a:r>
              <a:rPr lang="en-US" altLang="zh-CN" sz="2200"/>
              <a:t>ri</a:t>
            </a:r>
            <a:r>
              <a:rPr lang="zh-CN" altLang="en-US" sz="2200"/>
              <a:t>的内容。（直接地址型）</a:t>
            </a:r>
            <a:endParaRPr lang="zh-CN" altLang="en-US" sz="2200"/>
          </a:p>
          <a:p>
            <a:pPr lvl="1">
              <a:buFont typeface="Wingdings" panose="05000000000000000000" pitchFamily="2" charset="2"/>
              <a:buNone/>
            </a:pPr>
            <a:r>
              <a:rPr lang="en-US" altLang="zh-CN" sz="2200"/>
              <a:t>c) *i</a:t>
            </a:r>
            <a:r>
              <a:rPr lang="zh-CN" altLang="en-US" sz="2200"/>
              <a:t>，</a:t>
            </a:r>
            <a:r>
              <a:rPr lang="en-US" altLang="zh-CN" sz="2200"/>
              <a:t>i</a:t>
            </a:r>
            <a:r>
              <a:rPr lang="zh-CN" altLang="en-US" sz="2200"/>
              <a:t>为非负整数，若寄存器</a:t>
            </a:r>
            <a:r>
              <a:rPr lang="en-US" altLang="zh-CN" sz="2200"/>
              <a:t>ri</a:t>
            </a:r>
            <a:r>
              <a:rPr lang="zh-CN" altLang="en-US" sz="2200"/>
              <a:t>的内容为整数</a:t>
            </a:r>
            <a:r>
              <a:rPr lang="en-US" altLang="zh-CN" sz="2200"/>
              <a:t>j</a:t>
            </a:r>
            <a:r>
              <a:rPr lang="zh-CN" altLang="en-US" sz="2200"/>
              <a:t>，则操作数为寄存器</a:t>
            </a:r>
            <a:r>
              <a:rPr lang="en-US" altLang="zh-CN" sz="2200"/>
              <a:t>r</a:t>
            </a:r>
            <a:r>
              <a:rPr lang="en-US" altLang="zh-CN" sz="2200" baseline="-25000"/>
              <a:t>j</a:t>
            </a:r>
            <a:r>
              <a:rPr lang="zh-CN" altLang="en-US" sz="2200"/>
              <a:t>中的内容。（间接地址型）</a:t>
            </a:r>
            <a:endParaRPr lang="zh-CN" altLang="en-US"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64547">
                                            <p:txEl>
                                              <p:pRg st="0" end="0"/>
                                            </p:txEl>
                                          </p:spTgt>
                                        </p:tgtEl>
                                        <p:attrNameLst>
                                          <p:attrName>style.visibility</p:attrName>
                                        </p:attrNameLst>
                                      </p:cBhvr>
                                      <p:to>
                                        <p:strVal val="visible"/>
                                      </p:to>
                                    </p:set>
                                    <p:animEffect transition="in" filter="slide(fromBottom)">
                                      <p:cBhvr>
                                        <p:cTn id="7" dur="500"/>
                                        <p:tgtEl>
                                          <p:spTgt spid="3645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64547">
                                            <p:txEl>
                                              <p:pRg st="1" end="1"/>
                                            </p:txEl>
                                          </p:spTgt>
                                        </p:tgtEl>
                                        <p:attrNameLst>
                                          <p:attrName>style.visibility</p:attrName>
                                        </p:attrNameLst>
                                      </p:cBhvr>
                                      <p:to>
                                        <p:strVal val="visible"/>
                                      </p:to>
                                    </p:set>
                                    <p:animEffect transition="in" filter="slide(fromBottom)">
                                      <p:cBhvr>
                                        <p:cTn id="12" dur="500"/>
                                        <p:tgtEl>
                                          <p:spTgt spid="3645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364547">
                                            <p:txEl>
                                              <p:pRg st="2" end="2"/>
                                            </p:txEl>
                                          </p:spTgt>
                                        </p:tgtEl>
                                        <p:attrNameLst>
                                          <p:attrName>style.visibility</p:attrName>
                                        </p:attrNameLst>
                                      </p:cBhvr>
                                      <p:to>
                                        <p:strVal val="visible"/>
                                      </p:to>
                                    </p:set>
                                    <p:animEffect transition="in" filter="slide(fromBottom)">
                                      <p:cBhvr>
                                        <p:cTn id="17" dur="500"/>
                                        <p:tgtEl>
                                          <p:spTgt spid="364547">
                                            <p:txEl>
                                              <p:pRg st="2" end="2"/>
                                            </p:txEl>
                                          </p:spTgt>
                                        </p:tgtEl>
                                      </p:cBhvr>
                                    </p:animEffect>
                                  </p:childTnLst>
                                </p:cTn>
                              </p:par>
                              <p:par>
                                <p:cTn id="18" presetID="12" presetClass="entr" presetSubtype="4" fill="hold" nodeType="withEffect">
                                  <p:stCondLst>
                                    <p:cond delay="0"/>
                                  </p:stCondLst>
                                  <p:childTnLst>
                                    <p:set>
                                      <p:cBhvr>
                                        <p:cTn id="19" dur="1" fill="hold">
                                          <p:stCondLst>
                                            <p:cond delay="0"/>
                                          </p:stCondLst>
                                        </p:cTn>
                                        <p:tgtEl>
                                          <p:spTgt spid="364547">
                                            <p:txEl>
                                              <p:pRg st="3" end="3"/>
                                            </p:txEl>
                                          </p:spTgt>
                                        </p:tgtEl>
                                        <p:attrNameLst>
                                          <p:attrName>style.visibility</p:attrName>
                                        </p:attrNameLst>
                                      </p:cBhvr>
                                      <p:to>
                                        <p:strVal val="visible"/>
                                      </p:to>
                                    </p:set>
                                    <p:animEffect transition="in" filter="slide(fromBottom)">
                                      <p:cBhvr>
                                        <p:cTn id="20" dur="500"/>
                                        <p:tgtEl>
                                          <p:spTgt spid="364547">
                                            <p:txEl>
                                              <p:pRg st="3" end="3"/>
                                            </p:txEl>
                                          </p:spTgt>
                                        </p:tgtEl>
                                      </p:cBhvr>
                                    </p:animEffect>
                                  </p:childTnLst>
                                </p:cTn>
                              </p:par>
                              <p:par>
                                <p:cTn id="21" presetID="12" presetClass="entr" presetSubtype="4" fill="hold" nodeType="withEffect">
                                  <p:stCondLst>
                                    <p:cond delay="0"/>
                                  </p:stCondLst>
                                  <p:childTnLst>
                                    <p:set>
                                      <p:cBhvr>
                                        <p:cTn id="22" dur="1" fill="hold">
                                          <p:stCondLst>
                                            <p:cond delay="0"/>
                                          </p:stCondLst>
                                        </p:cTn>
                                        <p:tgtEl>
                                          <p:spTgt spid="364547">
                                            <p:txEl>
                                              <p:pRg st="4" end="4"/>
                                            </p:txEl>
                                          </p:spTgt>
                                        </p:tgtEl>
                                        <p:attrNameLst>
                                          <p:attrName>style.visibility</p:attrName>
                                        </p:attrNameLst>
                                      </p:cBhvr>
                                      <p:to>
                                        <p:strVal val="visible"/>
                                      </p:to>
                                    </p:set>
                                    <p:animEffect transition="in" filter="slide(fromBottom)">
                                      <p:cBhvr>
                                        <p:cTn id="23" dur="500"/>
                                        <p:tgtEl>
                                          <p:spTgt spid="364547">
                                            <p:txEl>
                                              <p:pRg st="4" end="4"/>
                                            </p:txEl>
                                          </p:spTgt>
                                        </p:tgtEl>
                                      </p:cBhvr>
                                    </p:animEffect>
                                  </p:childTnLst>
                                </p:cTn>
                              </p:par>
                              <p:par>
                                <p:cTn id="24" presetID="12" presetClass="entr" presetSubtype="4" fill="hold" nodeType="withEffect">
                                  <p:stCondLst>
                                    <p:cond delay="0"/>
                                  </p:stCondLst>
                                  <p:childTnLst>
                                    <p:set>
                                      <p:cBhvr>
                                        <p:cTn id="25" dur="1" fill="hold">
                                          <p:stCondLst>
                                            <p:cond delay="0"/>
                                          </p:stCondLst>
                                        </p:cTn>
                                        <p:tgtEl>
                                          <p:spTgt spid="364547">
                                            <p:txEl>
                                              <p:pRg st="5" end="5"/>
                                            </p:txEl>
                                          </p:spTgt>
                                        </p:tgtEl>
                                        <p:attrNameLst>
                                          <p:attrName>style.visibility</p:attrName>
                                        </p:attrNameLst>
                                      </p:cBhvr>
                                      <p:to>
                                        <p:strVal val="visible"/>
                                      </p:to>
                                    </p:set>
                                    <p:animEffect transition="in" filter="slide(fromBottom)">
                                      <p:cBhvr>
                                        <p:cTn id="26" dur="500"/>
                                        <p:tgtEl>
                                          <p:spTgt spid="3645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83EDDF3E-524A-4C4A-91BA-3661E6F42D5A}" type="slidenum">
              <a:rPr lang="en-US" altLang="zh-CN"/>
            </a:fld>
            <a:endParaRPr lang="en-US" altLang="zh-CN"/>
          </a:p>
        </p:txBody>
      </p:sp>
      <p:sp>
        <p:nvSpPr>
          <p:cNvPr id="365570" name="Rectangle 2"/>
          <p:cNvSpPr>
            <a:spLocks noGrp="1" noChangeArrowheads="1"/>
          </p:cNvSpPr>
          <p:nvPr>
            <p:ph type="title"/>
          </p:nvPr>
        </p:nvSpPr>
        <p:spPr/>
        <p:txBody>
          <a:bodyPr/>
          <a:lstStyle/>
          <a:p>
            <a:r>
              <a:rPr lang="zh-CN" altLang="en-US" sz="3400">
                <a:latin typeface="新宋体" panose="02010609030101010101" charset="-122"/>
                <a:ea typeface="新宋体" panose="02010609030101010101" charset="-122"/>
              </a:rPr>
              <a:t>随机存取机</a:t>
            </a:r>
            <a:r>
              <a:rPr lang="en-US" altLang="zh-CN" sz="3400">
                <a:latin typeface="新宋体" panose="02010609030101010101" charset="-122"/>
                <a:ea typeface="新宋体" panose="02010609030101010101" charset="-122"/>
              </a:rPr>
              <a:t>RAM</a:t>
            </a:r>
            <a:endParaRPr lang="zh-CN" altLang="en-US" sz="3400">
              <a:latin typeface="新宋体" panose="02010609030101010101" charset="-122"/>
              <a:ea typeface="新宋体" panose="02010609030101010101" charset="-122"/>
            </a:endParaRPr>
          </a:p>
        </p:txBody>
      </p:sp>
      <p:sp>
        <p:nvSpPr>
          <p:cNvPr id="365571" name="Rectangle 3"/>
          <p:cNvSpPr>
            <a:spLocks noGrp="1" noChangeArrowheads="1"/>
          </p:cNvSpPr>
          <p:nvPr>
            <p:ph type="body" idx="1"/>
          </p:nvPr>
        </p:nvSpPr>
        <p:spPr/>
        <p:txBody>
          <a:bodyPr/>
          <a:lstStyle/>
          <a:p>
            <a:r>
              <a:rPr lang="en-US" altLang="zh-CN"/>
              <a:t>RAM</a:t>
            </a:r>
            <a:r>
              <a:rPr lang="zh-CN" altLang="en-US"/>
              <a:t>对所有无定义的指令作停机处理。</a:t>
            </a:r>
            <a:endParaRPr lang="zh-CN" altLang="en-US"/>
          </a:p>
          <a:p>
            <a:r>
              <a:rPr lang="zh-CN" altLang="en-US"/>
              <a:t>设</a:t>
            </a:r>
            <a:r>
              <a:rPr lang="en-US" altLang="zh-CN"/>
              <a:t>c</a:t>
            </a:r>
            <a:r>
              <a:rPr lang="zh-CN" altLang="en-US"/>
              <a:t>是内存映射函数，即</a:t>
            </a:r>
            <a:r>
              <a:rPr lang="en-US" altLang="zh-CN"/>
              <a:t>c(i)</a:t>
            </a:r>
            <a:r>
              <a:rPr lang="zh-CN" altLang="en-US"/>
              <a:t>表示寄存器</a:t>
            </a:r>
            <a:r>
              <a:rPr lang="en-US" altLang="zh-CN"/>
              <a:t>r</a:t>
            </a:r>
            <a:r>
              <a:rPr lang="en-US" altLang="zh-CN" baseline="-25000"/>
              <a:t>i</a:t>
            </a:r>
            <a:r>
              <a:rPr lang="zh-CN" altLang="en-US"/>
              <a:t>中的内容。则上述三种类型操作数的值</a:t>
            </a:r>
            <a:r>
              <a:rPr lang="en-US" altLang="zh-CN"/>
              <a:t>V</a:t>
            </a:r>
            <a:r>
              <a:rPr lang="zh-CN" altLang="en-US"/>
              <a:t>分别为：</a:t>
            </a:r>
            <a:endParaRPr lang="zh-CN" altLang="en-US"/>
          </a:p>
          <a:p>
            <a:pPr lvl="1"/>
            <a:r>
              <a:rPr lang="en-US" altLang="zh-CN">
                <a:latin typeface="Corbel" panose="020B0503020204020204" pitchFamily="34" charset="0"/>
              </a:rPr>
              <a:t>V(=i)=i;</a:t>
            </a:r>
            <a:endParaRPr lang="en-US" altLang="zh-CN">
              <a:latin typeface="Corbel" panose="020B0503020204020204" pitchFamily="34" charset="0"/>
            </a:endParaRPr>
          </a:p>
          <a:p>
            <a:pPr lvl="1"/>
            <a:r>
              <a:rPr lang="en-US" altLang="zh-CN">
                <a:latin typeface="Corbel" panose="020B0503020204020204" pitchFamily="34" charset="0"/>
              </a:rPr>
              <a:t>V(i)=c(i);</a:t>
            </a:r>
            <a:endParaRPr lang="en-US" altLang="zh-CN">
              <a:latin typeface="Corbel" panose="020B0503020204020204" pitchFamily="34" charset="0"/>
            </a:endParaRPr>
          </a:p>
          <a:p>
            <a:pPr lvl="1"/>
            <a:r>
              <a:rPr lang="en-US" altLang="zh-CN">
                <a:latin typeface="Corbel" panose="020B0503020204020204" pitchFamily="34" charset="0"/>
              </a:rPr>
              <a:t>V(*i)=c(c(i));</a:t>
            </a:r>
            <a:endParaRPr lang="zh-CN" altLang="en-US">
              <a:latin typeface="Corbel" panose="020B0503020204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65571">
                                            <p:txEl>
                                              <p:pRg st="0" end="0"/>
                                            </p:txEl>
                                          </p:spTgt>
                                        </p:tgtEl>
                                        <p:attrNameLst>
                                          <p:attrName>style.visibility</p:attrName>
                                        </p:attrNameLst>
                                      </p:cBhvr>
                                      <p:to>
                                        <p:strVal val="visible"/>
                                      </p:to>
                                    </p:set>
                                    <p:animEffect transition="in" filter="slide(fromBottom)">
                                      <p:cBhvr>
                                        <p:cTn id="7" dur="500"/>
                                        <p:tgtEl>
                                          <p:spTgt spid="3655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65571">
                                            <p:txEl>
                                              <p:pRg st="1" end="1"/>
                                            </p:txEl>
                                          </p:spTgt>
                                        </p:tgtEl>
                                        <p:attrNameLst>
                                          <p:attrName>style.visibility</p:attrName>
                                        </p:attrNameLst>
                                      </p:cBhvr>
                                      <p:to>
                                        <p:strVal val="visible"/>
                                      </p:to>
                                    </p:set>
                                    <p:animEffect transition="in" filter="slide(fromBottom)">
                                      <p:cBhvr>
                                        <p:cTn id="12" dur="500"/>
                                        <p:tgtEl>
                                          <p:spTgt spid="365571">
                                            <p:txEl>
                                              <p:pRg st="1" end="1"/>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365571">
                                            <p:txEl>
                                              <p:pRg st="2" end="2"/>
                                            </p:txEl>
                                          </p:spTgt>
                                        </p:tgtEl>
                                        <p:attrNameLst>
                                          <p:attrName>style.visibility</p:attrName>
                                        </p:attrNameLst>
                                      </p:cBhvr>
                                      <p:to>
                                        <p:strVal val="visible"/>
                                      </p:to>
                                    </p:set>
                                    <p:animEffect transition="in" filter="slide(fromBottom)">
                                      <p:cBhvr>
                                        <p:cTn id="15" dur="500"/>
                                        <p:tgtEl>
                                          <p:spTgt spid="365571">
                                            <p:txEl>
                                              <p:pRg st="2" end="2"/>
                                            </p:txEl>
                                          </p:spTgt>
                                        </p:tgtEl>
                                      </p:cBhvr>
                                    </p:animEffect>
                                  </p:childTnLst>
                                </p:cTn>
                              </p:par>
                              <p:par>
                                <p:cTn id="16" presetID="12" presetClass="entr" presetSubtype="4" fill="hold" nodeType="withEffect">
                                  <p:stCondLst>
                                    <p:cond delay="0"/>
                                  </p:stCondLst>
                                  <p:childTnLst>
                                    <p:set>
                                      <p:cBhvr>
                                        <p:cTn id="17" dur="1" fill="hold">
                                          <p:stCondLst>
                                            <p:cond delay="0"/>
                                          </p:stCondLst>
                                        </p:cTn>
                                        <p:tgtEl>
                                          <p:spTgt spid="365571">
                                            <p:txEl>
                                              <p:pRg st="3" end="3"/>
                                            </p:txEl>
                                          </p:spTgt>
                                        </p:tgtEl>
                                        <p:attrNameLst>
                                          <p:attrName>style.visibility</p:attrName>
                                        </p:attrNameLst>
                                      </p:cBhvr>
                                      <p:to>
                                        <p:strVal val="visible"/>
                                      </p:to>
                                    </p:set>
                                    <p:animEffect transition="in" filter="slide(fromBottom)">
                                      <p:cBhvr>
                                        <p:cTn id="18" dur="500"/>
                                        <p:tgtEl>
                                          <p:spTgt spid="365571">
                                            <p:txEl>
                                              <p:pRg st="3" end="3"/>
                                            </p:txEl>
                                          </p:spTgt>
                                        </p:tgtEl>
                                      </p:cBhvr>
                                    </p:animEffect>
                                  </p:childTnLst>
                                </p:cTn>
                              </p:par>
                              <p:par>
                                <p:cTn id="19" presetID="12" presetClass="entr" presetSubtype="4" fill="hold" nodeType="withEffect">
                                  <p:stCondLst>
                                    <p:cond delay="0"/>
                                  </p:stCondLst>
                                  <p:childTnLst>
                                    <p:set>
                                      <p:cBhvr>
                                        <p:cTn id="20" dur="1" fill="hold">
                                          <p:stCondLst>
                                            <p:cond delay="0"/>
                                          </p:stCondLst>
                                        </p:cTn>
                                        <p:tgtEl>
                                          <p:spTgt spid="365571">
                                            <p:txEl>
                                              <p:pRg st="4" end="4"/>
                                            </p:txEl>
                                          </p:spTgt>
                                        </p:tgtEl>
                                        <p:attrNameLst>
                                          <p:attrName>style.visibility</p:attrName>
                                        </p:attrNameLst>
                                      </p:cBhvr>
                                      <p:to>
                                        <p:strVal val="visible"/>
                                      </p:to>
                                    </p:set>
                                    <p:animEffect transition="in" filter="slide(fromBottom)">
                                      <p:cBhvr>
                                        <p:cTn id="21" dur="500"/>
                                        <p:tgtEl>
                                          <p:spTgt spid="3655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853E6C5B-C14D-4E61-BE3E-470BC84FFA70}" type="slidenum">
              <a:rPr lang="en-US" altLang="zh-CN"/>
            </a:fld>
            <a:endParaRPr lang="en-US" altLang="zh-CN"/>
          </a:p>
        </p:txBody>
      </p:sp>
      <p:sp>
        <p:nvSpPr>
          <p:cNvPr id="366594" name="Rectangle 2"/>
          <p:cNvSpPr>
            <a:spLocks noGrp="1" noChangeArrowheads="1"/>
          </p:cNvSpPr>
          <p:nvPr>
            <p:ph type="title"/>
          </p:nvPr>
        </p:nvSpPr>
        <p:spPr>
          <a:xfrm>
            <a:off x="457200" y="122238"/>
            <a:ext cx="7543800" cy="1219200"/>
          </a:xfrm>
        </p:spPr>
        <p:txBody>
          <a:bodyPr/>
          <a:lstStyle/>
          <a:p>
            <a:r>
              <a:rPr lang="en-US" altLang="zh-CN" sz="3400">
                <a:latin typeface="新宋体" panose="02010609030101010101" charset="-122"/>
                <a:ea typeface="新宋体" panose="02010609030101010101" charset="-122"/>
              </a:rPr>
              <a:t>RAM</a:t>
            </a:r>
            <a:r>
              <a:rPr lang="zh-CN" altLang="en-US" sz="3400">
                <a:latin typeface="新宋体" panose="02010609030101010101" charset="-122"/>
                <a:ea typeface="新宋体" panose="02010609030101010101" charset="-122"/>
              </a:rPr>
              <a:t>基本指令集</a:t>
            </a:r>
            <a:endParaRPr lang="zh-CN" altLang="en-US" sz="3400">
              <a:latin typeface="新宋体" panose="02010609030101010101" charset="-122"/>
              <a:ea typeface="新宋体" panose="02010609030101010101" charset="-122"/>
            </a:endParaRPr>
          </a:p>
        </p:txBody>
      </p:sp>
      <p:pic>
        <p:nvPicPr>
          <p:cNvPr id="366596" name="Picture 4"/>
          <p:cNvPicPr>
            <a:picLocks noGrp="1" noChangeAspect="1" noChangeArrowheads="1"/>
          </p:cNvPicPr>
          <p:nvPr>
            <p:ph type="body" idx="1"/>
          </p:nvPr>
        </p:nvPicPr>
        <p:blipFill>
          <a:blip r:embed="rId1">
            <a:extLst>
              <a:ext uri="{28A0092B-C50C-407E-A947-70E740481C1C}">
                <a14:useLocalDpi xmlns:a14="http://schemas.microsoft.com/office/drawing/2010/main" val="0"/>
              </a:ext>
            </a:extLst>
          </a:blip>
          <a:srcRect/>
          <a:stretch>
            <a:fillRect/>
          </a:stretch>
        </p:blipFill>
        <p:spPr>
          <a:xfrm>
            <a:off x="539750" y="1655763"/>
            <a:ext cx="8280400" cy="4797425"/>
          </a:xfrm>
          <a:noFill/>
          <a:extLst>
            <a:ext uri="{91240B29-F687-4F45-9708-019B960494DF}">
              <a14:hiddenLine xmlns:a14="http://schemas.microsoft.com/office/drawing/2010/main" w="9525">
                <a:solidFill>
                  <a:schemeClr val="tx1"/>
                </a:solidFill>
                <a:prstDash val="solid"/>
                <a:miter lim="800000"/>
                <a:headEnd type="none" w="med" len="med"/>
                <a:tailEnd type="none" w="med" len="med"/>
              </a14:hiddenLine>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48FAD3B5-96B5-4D37-A09B-EF8697800EE3}" type="slidenum">
              <a:rPr lang="en-US" altLang="zh-CN"/>
            </a:fld>
            <a:endParaRPr lang="en-US" altLang="zh-CN"/>
          </a:p>
        </p:txBody>
      </p:sp>
      <p:sp>
        <p:nvSpPr>
          <p:cNvPr id="305154" name="Rectangle 2"/>
          <p:cNvSpPr>
            <a:spLocks noGrp="1" noChangeArrowheads="1"/>
          </p:cNvSpPr>
          <p:nvPr>
            <p:ph type="title"/>
          </p:nvPr>
        </p:nvSpPr>
        <p:spPr>
          <a:xfrm>
            <a:off x="395288" y="188913"/>
            <a:ext cx="7124700" cy="746125"/>
          </a:xfrm>
        </p:spPr>
        <p:txBody>
          <a:bodyPr/>
          <a:lstStyle/>
          <a:p>
            <a:r>
              <a:rPr lang="en-US" altLang="zh-CN" sz="3000"/>
              <a:t>8.1.1  </a:t>
            </a:r>
            <a:r>
              <a:rPr lang="zh-CN" altLang="en-US" sz="3000">
                <a:latin typeface="新宋体" panose="02010609030101010101" charset="-122"/>
                <a:ea typeface="新宋体" panose="02010609030101010101" charset="-122"/>
              </a:rPr>
              <a:t>随机存取机</a:t>
            </a:r>
            <a:r>
              <a:rPr lang="en-US" altLang="zh-CN" sz="3000">
                <a:latin typeface="新宋体" panose="02010609030101010101" charset="-122"/>
                <a:ea typeface="新宋体" panose="02010609030101010101" charset="-122"/>
              </a:rPr>
              <a:t>RAM</a:t>
            </a:r>
            <a:endParaRPr lang="zh-CN" altLang="en-US" sz="3000">
              <a:latin typeface="新宋体" panose="02010609030101010101" charset="-122"/>
              <a:ea typeface="新宋体" panose="02010609030101010101" charset="-122"/>
            </a:endParaRPr>
          </a:p>
        </p:txBody>
      </p:sp>
      <p:sp>
        <p:nvSpPr>
          <p:cNvPr id="305155" name="Text Box 3"/>
          <p:cNvSpPr txBox="1">
            <a:spLocks noChangeArrowheads="1"/>
          </p:cNvSpPr>
          <p:nvPr/>
        </p:nvSpPr>
        <p:spPr bwMode="auto">
          <a:xfrm>
            <a:off x="593725" y="1052513"/>
            <a:ext cx="26828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en-US" altLang="zh-CN" sz="3200" b="1">
                <a:solidFill>
                  <a:schemeClr val="accent2"/>
                </a:solidFill>
                <a:latin typeface="Times New Roman" panose="02020603050405020304" pitchFamily="18" charset="0"/>
                <a:ea typeface="黑体" panose="02010609060101010101" pitchFamily="2" charset="-122"/>
              </a:rPr>
              <a:t>2、</a:t>
            </a:r>
            <a:r>
              <a:rPr lang="en-US" altLang="zh-CN" sz="3200" b="1">
                <a:solidFill>
                  <a:schemeClr val="accent2"/>
                </a:solidFill>
                <a:latin typeface="新宋体" panose="02010609030101010101" charset="-122"/>
                <a:ea typeface="新宋体" panose="02010609030101010101" charset="-122"/>
              </a:rPr>
              <a:t>RAM</a:t>
            </a:r>
            <a:r>
              <a:rPr lang="zh-CN" altLang="en-US" sz="3200" b="1">
                <a:solidFill>
                  <a:schemeClr val="accent2"/>
                </a:solidFill>
                <a:latin typeface="新宋体" panose="02010609030101010101" charset="-122"/>
                <a:ea typeface="新宋体" panose="02010609030101010101" charset="-122"/>
              </a:rPr>
              <a:t>程序</a:t>
            </a:r>
            <a:endParaRPr lang="en-US" altLang="zh-CN" sz="3200" b="1">
              <a:solidFill>
                <a:schemeClr val="accent2"/>
              </a:solidFill>
              <a:latin typeface="新宋体" panose="02010609030101010101" charset="-122"/>
              <a:ea typeface="新宋体" panose="02010609030101010101" charset="-122"/>
            </a:endParaRPr>
          </a:p>
        </p:txBody>
      </p:sp>
      <p:sp>
        <p:nvSpPr>
          <p:cNvPr id="305156" name="Text Box 4"/>
          <p:cNvSpPr txBox="1">
            <a:spLocks noChangeArrowheads="1"/>
          </p:cNvSpPr>
          <p:nvPr/>
        </p:nvSpPr>
        <p:spPr bwMode="auto">
          <a:xfrm>
            <a:off x="304800" y="1585913"/>
            <a:ext cx="88296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lang="zh-CN" altLang="en-US" sz="2000">
                <a:latin typeface="宋体" panose="02010600030101010101" pitchFamily="2" charset="-122"/>
              </a:rPr>
              <a:t>     </a:t>
            </a:r>
            <a:r>
              <a:rPr lang="zh-CN" altLang="en-US" sz="2400">
                <a:latin typeface="新宋体" panose="02010609030101010101" charset="-122"/>
                <a:ea typeface="新宋体" panose="02010609030101010101" charset="-122"/>
              </a:rPr>
              <a:t>一个</a:t>
            </a:r>
            <a:r>
              <a:rPr lang="en-US" altLang="zh-CN" sz="2400">
                <a:latin typeface="Times New Roman" panose="02020603050405020304" pitchFamily="18" charset="0"/>
                <a:ea typeface="新宋体" panose="02010609030101010101" charset="-122"/>
              </a:rPr>
              <a:t>RAM</a:t>
            </a:r>
            <a:r>
              <a:rPr lang="zh-CN" altLang="en-US" sz="2400">
                <a:latin typeface="新宋体" panose="02010609030101010101" charset="-122"/>
                <a:ea typeface="新宋体" panose="02010609030101010101" charset="-122"/>
              </a:rPr>
              <a:t>程序定义了从输入带到输出带的一个映射。可以对</a:t>
            </a:r>
            <a:endParaRPr lang="zh-CN" altLang="en-US"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这种映射关系作2种不同的解释。</a:t>
            </a:r>
            <a:endParaRPr lang="zh-CN" altLang="en-US" sz="2000">
              <a:latin typeface="新宋体" panose="02010609030101010101" charset="-122"/>
              <a:ea typeface="新宋体" panose="02010609030101010101" charset="-122"/>
            </a:endParaRPr>
          </a:p>
        </p:txBody>
      </p:sp>
      <p:sp>
        <p:nvSpPr>
          <p:cNvPr id="305157" name="Text Box 5"/>
          <p:cNvSpPr txBox="1">
            <a:spLocks noChangeArrowheads="1"/>
          </p:cNvSpPr>
          <p:nvPr/>
        </p:nvSpPr>
        <p:spPr bwMode="auto">
          <a:xfrm>
            <a:off x="304800" y="2424113"/>
            <a:ext cx="841375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lang="zh-CN" altLang="en-US" sz="2400" b="1">
                <a:latin typeface="新宋体" panose="02010609030101010101" charset="-122"/>
                <a:ea typeface="新宋体" panose="02010609030101010101" charset="-122"/>
              </a:rPr>
              <a:t>解释一：把</a:t>
            </a:r>
            <a:r>
              <a:rPr lang="en-US" altLang="zh-CN" sz="2400" b="1">
                <a:latin typeface="新宋体" panose="02010609030101010101" charset="-122"/>
                <a:ea typeface="新宋体" panose="02010609030101010101" charset="-122"/>
              </a:rPr>
              <a:t>RAM</a:t>
            </a:r>
            <a:r>
              <a:rPr lang="zh-CN" altLang="en-US" sz="2400" b="1">
                <a:latin typeface="新宋体" panose="02010609030101010101" charset="-122"/>
                <a:ea typeface="新宋体" panose="02010609030101010101" charset="-122"/>
              </a:rPr>
              <a:t>程序看成是计算一个函数</a:t>
            </a:r>
            <a:endParaRPr lang="zh-CN" altLang="en-US" sz="2400" b="1">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	若一个</a:t>
            </a:r>
            <a:r>
              <a:rPr lang="en-US" altLang="zh-CN" sz="2400">
                <a:latin typeface="新宋体" panose="02010609030101010101" charset="-122"/>
                <a:ea typeface="新宋体" panose="02010609030101010101" charset="-122"/>
              </a:rPr>
              <a:t>RAM</a:t>
            </a:r>
            <a:r>
              <a:rPr lang="zh-CN" altLang="en-US" sz="2400">
                <a:latin typeface="新宋体" panose="02010609030101010101" charset="-122"/>
                <a:ea typeface="新宋体" panose="02010609030101010101" charset="-122"/>
              </a:rPr>
              <a:t>程序</a:t>
            </a:r>
            <a:r>
              <a:rPr lang="en-US" altLang="zh-CN" sz="2400">
                <a:latin typeface="新宋体" panose="02010609030101010101" charset="-122"/>
                <a:ea typeface="新宋体" panose="02010609030101010101" charset="-122"/>
              </a:rPr>
              <a:t>P</a:t>
            </a:r>
            <a:r>
              <a:rPr lang="zh-CN" altLang="en-US" sz="2400">
                <a:latin typeface="新宋体" panose="02010609030101010101" charset="-122"/>
                <a:ea typeface="新宋体" panose="02010609030101010101" charset="-122"/>
              </a:rPr>
              <a:t>总是从输入带前</a:t>
            </a:r>
            <a:r>
              <a:rPr lang="en-US" altLang="zh-CN" sz="2400">
                <a:latin typeface="新宋体" panose="02010609030101010101" charset="-122"/>
                <a:ea typeface="新宋体" panose="02010609030101010101" charset="-122"/>
              </a:rPr>
              <a:t>n</a:t>
            </a:r>
            <a:r>
              <a:rPr lang="zh-CN" altLang="en-US" sz="2400">
                <a:latin typeface="新宋体" panose="02010609030101010101" charset="-122"/>
                <a:ea typeface="新宋体" panose="02010609030101010101" charset="-122"/>
              </a:rPr>
              <a:t>个方格中读入</a:t>
            </a:r>
            <a:r>
              <a:rPr lang="en-US" altLang="zh-CN" sz="2400">
                <a:latin typeface="新宋体" panose="02010609030101010101" charset="-122"/>
                <a:ea typeface="新宋体" panose="02010609030101010101" charset="-122"/>
              </a:rPr>
              <a:t>n</a:t>
            </a:r>
            <a:r>
              <a:rPr lang="zh-CN" altLang="en-US" sz="2400">
                <a:latin typeface="新宋体" panose="02010609030101010101" charset="-122"/>
                <a:ea typeface="新宋体" panose="02010609030101010101" charset="-122"/>
              </a:rPr>
              <a:t>个整数</a:t>
            </a:r>
            <a:endParaRPr lang="zh-CN" altLang="en-US" sz="2400">
              <a:latin typeface="新宋体" panose="02010609030101010101" charset="-122"/>
              <a:ea typeface="新宋体" panose="02010609030101010101" charset="-122"/>
            </a:endParaRPr>
          </a:p>
          <a:p>
            <a:r>
              <a:rPr lang="en-US" altLang="zh-CN" sz="2400">
                <a:latin typeface="新宋体" panose="02010609030101010101" charset="-122"/>
                <a:ea typeface="新宋体" panose="02010609030101010101" charset="-122"/>
              </a:rPr>
              <a:t>x</a:t>
            </a:r>
            <a:r>
              <a:rPr lang="en-US" altLang="zh-CN" sz="2400" baseline="-30000">
                <a:latin typeface="新宋体" panose="02010609030101010101" charset="-122"/>
                <a:ea typeface="新宋体" panose="02010609030101010101" charset="-122"/>
              </a:rPr>
              <a:t>1</a:t>
            </a:r>
            <a:r>
              <a:rPr lang="en-US" altLang="zh-CN" sz="2400">
                <a:latin typeface="新宋体" panose="02010609030101010101" charset="-122"/>
                <a:ea typeface="新宋体" panose="02010609030101010101" charset="-122"/>
              </a:rPr>
              <a:t>，x</a:t>
            </a:r>
            <a:r>
              <a:rPr lang="en-US" altLang="zh-CN" sz="2400" baseline="-30000">
                <a:latin typeface="新宋体" panose="02010609030101010101" charset="-122"/>
                <a:ea typeface="新宋体" panose="02010609030101010101" charset="-122"/>
              </a:rPr>
              <a:t>2</a:t>
            </a:r>
            <a:r>
              <a:rPr lang="en-US" altLang="zh-CN" sz="2400">
                <a:latin typeface="新宋体" panose="02010609030101010101" charset="-122"/>
                <a:ea typeface="新宋体" panose="02010609030101010101" charset="-122"/>
              </a:rPr>
              <a:t>，</a:t>
            </a:r>
            <a:r>
              <a:rPr lang="en-US" altLang="zh-CN" sz="2400">
                <a:latin typeface="Times New Roman" panose="02020603050405020304"/>
                <a:ea typeface="新宋体" panose="02010609030101010101" charset="-122"/>
              </a:rPr>
              <a:t>…</a:t>
            </a:r>
            <a:r>
              <a:rPr lang="en-US" altLang="zh-CN" sz="2400">
                <a:latin typeface="新宋体" panose="02010609030101010101" charset="-122"/>
                <a:ea typeface="新宋体" panose="02010609030101010101" charset="-122"/>
              </a:rPr>
              <a:t>，x</a:t>
            </a:r>
            <a:r>
              <a:rPr lang="en-US" altLang="zh-CN" sz="2400" baseline="-30000">
                <a:latin typeface="新宋体" panose="02010609030101010101" charset="-122"/>
                <a:ea typeface="新宋体" panose="02010609030101010101" charset="-122"/>
              </a:rPr>
              <a:t>n</a:t>
            </a:r>
            <a:r>
              <a:rPr lang="en-US" altLang="zh-CN" sz="2400">
                <a:latin typeface="新宋体" panose="02010609030101010101" charset="-122"/>
                <a:ea typeface="新宋体" panose="02010609030101010101" charset="-122"/>
              </a:rPr>
              <a:t>，</a:t>
            </a:r>
            <a:r>
              <a:rPr lang="zh-CN" altLang="en-US" sz="2400">
                <a:latin typeface="新宋体" panose="02010609030101010101" charset="-122"/>
                <a:ea typeface="新宋体" panose="02010609030101010101" charset="-122"/>
              </a:rPr>
              <a:t>并且在输出带的第一个方格上输出一个整数</a:t>
            </a:r>
            <a:r>
              <a:rPr lang="en-US" altLang="zh-CN" sz="2400">
                <a:latin typeface="新宋体" panose="02010609030101010101" charset="-122"/>
                <a:ea typeface="新宋体" panose="02010609030101010101" charset="-122"/>
              </a:rPr>
              <a:t>y</a:t>
            </a:r>
            <a:endParaRPr lang="en-US" altLang="zh-CN"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后停机，那么就说</a:t>
            </a:r>
            <a:r>
              <a:rPr lang="zh-CN" altLang="en-US" sz="2400" b="1">
                <a:solidFill>
                  <a:srgbClr val="CC0000"/>
                </a:solidFill>
                <a:latin typeface="华文行楷" panose="02010800040101010101" pitchFamily="2" charset="-122"/>
                <a:ea typeface="华文行楷" panose="02010800040101010101" pitchFamily="2" charset="-122"/>
              </a:rPr>
              <a:t>程序</a:t>
            </a:r>
            <a:r>
              <a:rPr lang="en-US" altLang="zh-CN" sz="2400" b="1">
                <a:solidFill>
                  <a:srgbClr val="CC0000"/>
                </a:solidFill>
                <a:latin typeface="华文行楷" panose="02010800040101010101" pitchFamily="2" charset="-122"/>
                <a:ea typeface="华文行楷" panose="02010800040101010101" pitchFamily="2" charset="-122"/>
              </a:rPr>
              <a:t>P</a:t>
            </a:r>
            <a:r>
              <a:rPr lang="zh-CN" altLang="en-US" sz="2400" b="1">
                <a:solidFill>
                  <a:srgbClr val="CC0000"/>
                </a:solidFill>
                <a:latin typeface="华文行楷" panose="02010800040101010101" pitchFamily="2" charset="-122"/>
                <a:ea typeface="华文行楷" panose="02010800040101010101" pitchFamily="2" charset="-122"/>
              </a:rPr>
              <a:t>计算了函数</a:t>
            </a:r>
            <a:r>
              <a:rPr lang="en-US" altLang="zh-CN" sz="2400" b="1">
                <a:latin typeface="新宋体" panose="02010609030101010101" charset="-122"/>
                <a:ea typeface="新宋体" panose="02010609030101010101" charset="-122"/>
              </a:rPr>
              <a:t>f(x</a:t>
            </a:r>
            <a:r>
              <a:rPr lang="en-US" altLang="zh-CN" sz="2400" b="1" baseline="-30000">
                <a:latin typeface="新宋体" panose="02010609030101010101" charset="-122"/>
                <a:ea typeface="新宋体" panose="02010609030101010101" charset="-122"/>
              </a:rPr>
              <a:t>1</a:t>
            </a:r>
            <a:r>
              <a:rPr lang="en-US" altLang="zh-CN" sz="2400" b="1">
                <a:latin typeface="新宋体" panose="02010609030101010101" charset="-122"/>
                <a:ea typeface="新宋体" panose="02010609030101010101" charset="-122"/>
              </a:rPr>
              <a:t>，x</a:t>
            </a:r>
            <a:r>
              <a:rPr lang="en-US" altLang="zh-CN" sz="2400" b="1" baseline="-30000">
                <a:latin typeface="新宋体" panose="02010609030101010101" charset="-122"/>
                <a:ea typeface="新宋体" panose="02010609030101010101" charset="-122"/>
              </a:rPr>
              <a:t>2</a:t>
            </a:r>
            <a:r>
              <a:rPr lang="en-US" altLang="zh-CN" sz="2400" b="1">
                <a:latin typeface="新宋体" panose="02010609030101010101" charset="-122"/>
                <a:ea typeface="新宋体" panose="02010609030101010101" charset="-122"/>
              </a:rPr>
              <a:t>，</a:t>
            </a:r>
            <a:r>
              <a:rPr lang="en-US" altLang="zh-CN" sz="2400" b="1">
                <a:latin typeface="Times New Roman" panose="02020603050405020304"/>
                <a:ea typeface="新宋体" panose="02010609030101010101" charset="-122"/>
              </a:rPr>
              <a:t>…</a:t>
            </a:r>
            <a:r>
              <a:rPr lang="en-US" altLang="zh-CN" sz="2400" b="1">
                <a:latin typeface="新宋体" panose="02010609030101010101" charset="-122"/>
                <a:ea typeface="新宋体" panose="02010609030101010101" charset="-122"/>
              </a:rPr>
              <a:t>，x</a:t>
            </a:r>
            <a:r>
              <a:rPr lang="en-US" altLang="zh-CN" sz="2400" b="1" baseline="-30000">
                <a:latin typeface="新宋体" panose="02010609030101010101" charset="-122"/>
                <a:ea typeface="新宋体" panose="02010609030101010101" charset="-122"/>
              </a:rPr>
              <a:t>n</a:t>
            </a:r>
            <a:r>
              <a:rPr lang="en-US" altLang="zh-CN" sz="2400" b="1">
                <a:latin typeface="新宋体" panose="02010609030101010101" charset="-122"/>
                <a:ea typeface="新宋体" panose="02010609030101010101" charset="-122"/>
              </a:rPr>
              <a:t>)=y </a:t>
            </a:r>
            <a:endParaRPr lang="zh-CN" altLang="en-US" sz="2400" b="1">
              <a:latin typeface="新宋体" panose="02010609030101010101" charset="-122"/>
              <a:ea typeface="新宋体" panose="02010609030101010101" charset="-122"/>
            </a:endParaRPr>
          </a:p>
        </p:txBody>
      </p:sp>
      <p:sp>
        <p:nvSpPr>
          <p:cNvPr id="305158" name="Text Box 6"/>
          <p:cNvSpPr txBox="1">
            <a:spLocks noChangeArrowheads="1"/>
          </p:cNvSpPr>
          <p:nvPr/>
        </p:nvSpPr>
        <p:spPr bwMode="auto">
          <a:xfrm>
            <a:off x="304800" y="3948113"/>
            <a:ext cx="871855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lang="zh-CN" altLang="en-US" sz="2400" b="1">
                <a:latin typeface="新宋体" panose="02010609030101010101" charset="-122"/>
                <a:ea typeface="新宋体" panose="02010609030101010101" charset="-122"/>
              </a:rPr>
              <a:t>解释二：把</a:t>
            </a:r>
            <a:r>
              <a:rPr lang="en-US" altLang="zh-CN" sz="2400" b="1">
                <a:latin typeface="新宋体" panose="02010609030101010101" charset="-122"/>
                <a:ea typeface="新宋体" panose="02010609030101010101" charset="-122"/>
              </a:rPr>
              <a:t>RAM</a:t>
            </a:r>
            <a:r>
              <a:rPr lang="zh-CN" altLang="en-US" sz="2400" b="1">
                <a:latin typeface="新宋体" panose="02010609030101010101" charset="-122"/>
                <a:ea typeface="新宋体" panose="02010609030101010101" charset="-122"/>
              </a:rPr>
              <a:t>程序当作一个语言接受器。</a:t>
            </a:r>
            <a:endParaRPr lang="zh-CN" altLang="en-US" sz="2400" b="1">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	将字符串</a:t>
            </a:r>
            <a:r>
              <a:rPr lang="en-US" altLang="zh-CN" sz="2400">
                <a:latin typeface="新宋体" panose="02010609030101010101" charset="-122"/>
                <a:ea typeface="新宋体" panose="02010609030101010101" charset="-122"/>
              </a:rPr>
              <a:t>S=a</a:t>
            </a:r>
            <a:r>
              <a:rPr lang="en-US" altLang="zh-CN" sz="2400" baseline="-30000">
                <a:latin typeface="新宋体" panose="02010609030101010101" charset="-122"/>
                <a:ea typeface="新宋体" panose="02010609030101010101" charset="-122"/>
              </a:rPr>
              <a:t>1</a:t>
            </a:r>
            <a:r>
              <a:rPr lang="en-US" altLang="zh-CN" sz="2400">
                <a:latin typeface="新宋体" panose="02010609030101010101" charset="-122"/>
                <a:ea typeface="新宋体" panose="02010609030101010101" charset="-122"/>
              </a:rPr>
              <a:t>a</a:t>
            </a:r>
            <a:r>
              <a:rPr lang="en-US" altLang="zh-CN" sz="2400" baseline="-30000">
                <a:latin typeface="新宋体" panose="02010609030101010101" charset="-122"/>
                <a:ea typeface="新宋体" panose="02010609030101010101" charset="-122"/>
              </a:rPr>
              <a:t>2</a:t>
            </a:r>
            <a:r>
              <a:rPr lang="en-US" altLang="zh-CN" sz="2400">
                <a:latin typeface="Times New Roman" panose="02020603050405020304"/>
                <a:ea typeface="新宋体" panose="02010609030101010101" charset="-122"/>
              </a:rPr>
              <a:t>…</a:t>
            </a:r>
            <a:r>
              <a:rPr lang="en-US" altLang="zh-CN" sz="2400">
                <a:latin typeface="新宋体" panose="02010609030101010101" charset="-122"/>
                <a:ea typeface="新宋体" panose="02010609030101010101" charset="-122"/>
              </a:rPr>
              <a:t>a</a:t>
            </a:r>
            <a:r>
              <a:rPr lang="en-US" altLang="zh-CN" sz="2400" baseline="-30000">
                <a:latin typeface="新宋体" panose="02010609030101010101" charset="-122"/>
                <a:ea typeface="新宋体" panose="02010609030101010101" charset="-122"/>
              </a:rPr>
              <a:t>n</a:t>
            </a:r>
            <a:r>
              <a:rPr lang="zh-CN" altLang="en-US" sz="2400">
                <a:latin typeface="新宋体" panose="02010609030101010101" charset="-122"/>
                <a:ea typeface="新宋体" panose="02010609030101010101" charset="-122"/>
              </a:rPr>
              <a:t>放在输入带上。在输入带的第一个方</a:t>
            </a:r>
            <a:endParaRPr lang="zh-CN" altLang="en-US"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格中放入符号</a:t>
            </a:r>
            <a:r>
              <a:rPr lang="en-US" altLang="zh-CN" sz="2400">
                <a:latin typeface="新宋体" panose="02010609030101010101" charset="-122"/>
                <a:ea typeface="新宋体" panose="02010609030101010101" charset="-122"/>
              </a:rPr>
              <a:t>a</a:t>
            </a:r>
            <a:r>
              <a:rPr lang="en-US" altLang="zh-CN" sz="2400" baseline="-30000">
                <a:latin typeface="新宋体" panose="02010609030101010101" charset="-122"/>
                <a:ea typeface="新宋体" panose="02010609030101010101" charset="-122"/>
              </a:rPr>
              <a:t>1</a:t>
            </a:r>
            <a:r>
              <a:rPr lang="en-US" altLang="zh-CN" sz="2400">
                <a:latin typeface="新宋体" panose="02010609030101010101" charset="-122"/>
                <a:ea typeface="新宋体" panose="02010609030101010101" charset="-122"/>
              </a:rPr>
              <a:t>，</a:t>
            </a:r>
            <a:r>
              <a:rPr lang="zh-CN" altLang="en-US" sz="2400">
                <a:latin typeface="新宋体" panose="02010609030101010101" charset="-122"/>
                <a:ea typeface="新宋体" panose="02010609030101010101" charset="-122"/>
              </a:rPr>
              <a:t>第二个方格中放入符号</a:t>
            </a:r>
            <a:r>
              <a:rPr lang="en-US" altLang="zh-CN" sz="2400">
                <a:latin typeface="新宋体" panose="02010609030101010101" charset="-122"/>
                <a:ea typeface="新宋体" panose="02010609030101010101" charset="-122"/>
              </a:rPr>
              <a:t>a</a:t>
            </a:r>
            <a:r>
              <a:rPr lang="en-US" altLang="zh-CN" sz="2400" baseline="-30000">
                <a:latin typeface="新宋体" panose="02010609030101010101" charset="-122"/>
                <a:ea typeface="新宋体" panose="02010609030101010101" charset="-122"/>
              </a:rPr>
              <a:t>2</a:t>
            </a:r>
            <a:r>
              <a:rPr lang="en-US" altLang="zh-CN" sz="2400">
                <a:latin typeface="新宋体" panose="02010609030101010101" charset="-122"/>
                <a:ea typeface="新宋体" panose="02010609030101010101" charset="-122"/>
              </a:rPr>
              <a:t>，</a:t>
            </a:r>
            <a:r>
              <a:rPr lang="en-US" altLang="zh-CN" sz="2400">
                <a:latin typeface="Times New Roman" panose="02020603050405020304"/>
                <a:ea typeface="新宋体" panose="02010609030101010101" charset="-122"/>
              </a:rPr>
              <a:t>…</a:t>
            </a:r>
            <a:r>
              <a:rPr lang="en-US" altLang="zh-CN" sz="2400">
                <a:latin typeface="新宋体" panose="02010609030101010101" charset="-122"/>
                <a:ea typeface="新宋体" panose="02010609030101010101" charset="-122"/>
              </a:rPr>
              <a:t>，</a:t>
            </a:r>
            <a:r>
              <a:rPr lang="zh-CN" altLang="en-US" sz="2400">
                <a:latin typeface="新宋体" panose="02010609030101010101" charset="-122"/>
                <a:ea typeface="新宋体" panose="02010609030101010101" charset="-122"/>
              </a:rPr>
              <a:t>第</a:t>
            </a:r>
            <a:r>
              <a:rPr lang="en-US" altLang="zh-CN" sz="2400">
                <a:latin typeface="新宋体" panose="02010609030101010101" charset="-122"/>
                <a:ea typeface="新宋体" panose="02010609030101010101" charset="-122"/>
              </a:rPr>
              <a:t>n</a:t>
            </a:r>
            <a:r>
              <a:rPr lang="zh-CN" altLang="en-US" sz="2400">
                <a:latin typeface="新宋体" panose="02010609030101010101" charset="-122"/>
                <a:ea typeface="新宋体" panose="02010609030101010101" charset="-122"/>
              </a:rPr>
              <a:t>个方格中</a:t>
            </a:r>
            <a:endParaRPr lang="zh-CN" altLang="en-US"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放入符号</a:t>
            </a:r>
            <a:r>
              <a:rPr lang="en-US" altLang="zh-CN" sz="2400">
                <a:latin typeface="新宋体" panose="02010609030101010101" charset="-122"/>
                <a:ea typeface="新宋体" panose="02010609030101010101" charset="-122"/>
              </a:rPr>
              <a:t>a</a:t>
            </a:r>
            <a:r>
              <a:rPr lang="en-US" altLang="zh-CN" sz="2400" baseline="-30000">
                <a:latin typeface="新宋体" panose="02010609030101010101" charset="-122"/>
                <a:ea typeface="新宋体" panose="02010609030101010101" charset="-122"/>
              </a:rPr>
              <a:t>n</a:t>
            </a:r>
            <a:r>
              <a:rPr lang="en-US" altLang="zh-CN" sz="2400">
                <a:latin typeface="新宋体" panose="02010609030101010101" charset="-122"/>
                <a:ea typeface="新宋体" panose="02010609030101010101" charset="-122"/>
              </a:rPr>
              <a:t>。</a:t>
            </a:r>
            <a:r>
              <a:rPr lang="zh-CN" altLang="en-US" sz="2400">
                <a:latin typeface="新宋体" panose="02010609030101010101" charset="-122"/>
                <a:ea typeface="新宋体" panose="02010609030101010101" charset="-122"/>
              </a:rPr>
              <a:t>然后在第</a:t>
            </a:r>
            <a:r>
              <a:rPr lang="en-US" altLang="zh-CN" sz="2400">
                <a:latin typeface="新宋体" panose="02010609030101010101" charset="-122"/>
                <a:ea typeface="新宋体" panose="02010609030101010101" charset="-122"/>
              </a:rPr>
              <a:t>n+1</a:t>
            </a:r>
            <a:r>
              <a:rPr lang="zh-CN" altLang="en-US" sz="2400">
                <a:latin typeface="新宋体" panose="02010609030101010101" charset="-122"/>
                <a:ea typeface="新宋体" panose="02010609030101010101" charset="-122"/>
              </a:rPr>
              <a:t>个方格中放入0，作为输入串的结束标</a:t>
            </a:r>
            <a:endParaRPr lang="zh-CN" altLang="en-US"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志符。如果一个</a:t>
            </a:r>
            <a:r>
              <a:rPr lang="en-US" altLang="zh-CN" sz="2400">
                <a:latin typeface="新宋体" panose="02010609030101010101" charset="-122"/>
                <a:ea typeface="新宋体" panose="02010609030101010101" charset="-122"/>
              </a:rPr>
              <a:t>RAM</a:t>
            </a:r>
            <a:r>
              <a:rPr lang="zh-CN" altLang="en-US" sz="2400">
                <a:latin typeface="新宋体" panose="02010609030101010101" charset="-122"/>
                <a:ea typeface="新宋体" panose="02010609030101010101" charset="-122"/>
              </a:rPr>
              <a:t>程序</a:t>
            </a:r>
            <a:r>
              <a:rPr lang="en-US" altLang="zh-CN" sz="2400">
                <a:latin typeface="新宋体" panose="02010609030101010101" charset="-122"/>
                <a:ea typeface="新宋体" panose="02010609030101010101" charset="-122"/>
              </a:rPr>
              <a:t>P</a:t>
            </a:r>
            <a:r>
              <a:rPr lang="zh-CN" altLang="en-US" sz="2400">
                <a:latin typeface="新宋体" panose="02010609030101010101" charset="-122"/>
                <a:ea typeface="新宋体" panose="02010609030101010101" charset="-122"/>
              </a:rPr>
              <a:t>读了字符串</a:t>
            </a:r>
            <a:r>
              <a:rPr lang="en-US" altLang="zh-CN" sz="2400">
                <a:latin typeface="新宋体" panose="02010609030101010101" charset="-122"/>
                <a:ea typeface="新宋体" panose="02010609030101010101" charset="-122"/>
              </a:rPr>
              <a:t>S</a:t>
            </a:r>
            <a:r>
              <a:rPr lang="zh-CN" altLang="en-US" sz="2400">
                <a:latin typeface="新宋体" panose="02010609030101010101" charset="-122"/>
                <a:ea typeface="新宋体" panose="02010609030101010101" charset="-122"/>
              </a:rPr>
              <a:t>及结束标志符0后，在输出</a:t>
            </a:r>
            <a:endParaRPr lang="zh-CN" altLang="en-US"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带的第一格输出一个1并停机，就说</a:t>
            </a:r>
            <a:r>
              <a:rPr lang="zh-CN" altLang="en-US" sz="2400" b="1">
                <a:solidFill>
                  <a:srgbClr val="CC0000"/>
                </a:solidFill>
                <a:latin typeface="华文行楷" panose="02010800040101010101" pitchFamily="2" charset="-122"/>
                <a:ea typeface="华文行楷" panose="02010800040101010101" pitchFamily="2" charset="-122"/>
              </a:rPr>
              <a:t>程序</a:t>
            </a:r>
            <a:r>
              <a:rPr lang="en-US" altLang="zh-CN" sz="2400" b="1">
                <a:solidFill>
                  <a:srgbClr val="CC0000"/>
                </a:solidFill>
                <a:latin typeface="华文行楷" panose="02010800040101010101" pitchFamily="2" charset="-122"/>
                <a:ea typeface="华文行楷" panose="02010800040101010101" pitchFamily="2" charset="-122"/>
              </a:rPr>
              <a:t>P</a:t>
            </a:r>
            <a:r>
              <a:rPr lang="zh-CN" altLang="en-US" sz="2400" b="1">
                <a:solidFill>
                  <a:srgbClr val="CC0000"/>
                </a:solidFill>
                <a:latin typeface="华文行楷" panose="02010800040101010101" pitchFamily="2" charset="-122"/>
                <a:ea typeface="华文行楷" panose="02010800040101010101" pitchFamily="2" charset="-122"/>
              </a:rPr>
              <a:t>接受字符串</a:t>
            </a:r>
            <a:r>
              <a:rPr lang="en-US" altLang="zh-CN" sz="2400" b="1">
                <a:solidFill>
                  <a:srgbClr val="CC0000"/>
                </a:solidFill>
                <a:latin typeface="华文行楷" panose="02010800040101010101" pitchFamily="2" charset="-122"/>
                <a:ea typeface="华文行楷" panose="02010800040101010101" pitchFamily="2" charset="-122"/>
              </a:rPr>
              <a:t>S</a:t>
            </a:r>
            <a:r>
              <a:rPr lang="en-US" altLang="zh-CN" sz="2400">
                <a:latin typeface="新宋体" panose="02010609030101010101" charset="-122"/>
                <a:ea typeface="新宋体" panose="02010609030101010101" charset="-122"/>
              </a:rPr>
              <a:t>。 </a:t>
            </a:r>
            <a:endParaRPr lang="zh-CN" altLang="en-US" sz="2400">
              <a:latin typeface="新宋体" panose="02010609030101010101" charset="-122"/>
              <a:ea typeface="新宋体" panose="02010609030101010101" charset="-122"/>
            </a:endParaRPr>
          </a:p>
        </p:txBody>
      </p:sp>
      <p:sp>
        <p:nvSpPr>
          <p:cNvPr id="305159" name="Rectangle 7"/>
          <p:cNvSpPr>
            <a:spLocks noChangeArrowheads="1"/>
          </p:cNvSpPr>
          <p:nvPr/>
        </p:nvSpPr>
        <p:spPr bwMode="auto">
          <a:xfrm>
            <a:off x="539750" y="6127750"/>
            <a:ext cx="79930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kumimoji="1" lang="en-US" altLang="zh-CN" sz="2400" b="1" u="sng">
                <a:solidFill>
                  <a:schemeClr val="tx2"/>
                </a:solidFill>
                <a:latin typeface="华文行楷" panose="02010800040101010101" pitchFamily="2" charset="-122"/>
                <a:ea typeface="华文行楷" panose="02010800040101010101" pitchFamily="2" charset="-122"/>
              </a:rPr>
              <a:t>RAM</a:t>
            </a:r>
            <a:r>
              <a:rPr kumimoji="1" lang="zh-CN" altLang="en-US" sz="2400" b="1" u="sng">
                <a:solidFill>
                  <a:schemeClr val="tx2"/>
                </a:solidFill>
                <a:latin typeface="华文行楷" panose="02010800040101010101" pitchFamily="2" charset="-122"/>
                <a:ea typeface="华文行楷" panose="02010800040101010101" pitchFamily="2" charset="-122"/>
              </a:rPr>
              <a:t>程序</a:t>
            </a:r>
            <a:r>
              <a:rPr kumimoji="1" lang="en-US" altLang="zh-CN" sz="2400" b="1" u="sng">
                <a:solidFill>
                  <a:schemeClr val="tx2"/>
                </a:solidFill>
                <a:latin typeface="华文行楷" panose="02010800040101010101" pitchFamily="2" charset="-122"/>
                <a:ea typeface="华文行楷" panose="02010800040101010101" pitchFamily="2" charset="-122"/>
              </a:rPr>
              <a:t>P</a:t>
            </a:r>
            <a:r>
              <a:rPr kumimoji="1" lang="zh-CN" altLang="en-US" sz="2400" b="1" u="sng">
                <a:solidFill>
                  <a:schemeClr val="tx2"/>
                </a:solidFill>
                <a:latin typeface="华文行楷" panose="02010800040101010101" pitchFamily="2" charset="-122"/>
                <a:ea typeface="华文行楷" panose="02010800040101010101" pitchFamily="2" charset="-122"/>
              </a:rPr>
              <a:t>可接受的语言</a:t>
            </a:r>
            <a:r>
              <a:rPr kumimoji="1" lang="zh-CN" altLang="en-US" sz="2400">
                <a:solidFill>
                  <a:schemeClr val="tx2"/>
                </a:solidFill>
                <a:latin typeface="华文行楷" panose="02010800040101010101" pitchFamily="2" charset="-122"/>
                <a:ea typeface="华文行楷" panose="02010800040101010101" pitchFamily="2" charset="-122"/>
              </a:rPr>
              <a:t>是指</a:t>
            </a:r>
            <a:r>
              <a:rPr kumimoji="1" lang="en-US" altLang="zh-CN" sz="2400">
                <a:solidFill>
                  <a:schemeClr val="tx2"/>
                </a:solidFill>
                <a:latin typeface="华文行楷" panose="02010800040101010101" pitchFamily="2" charset="-122"/>
                <a:ea typeface="华文行楷" panose="02010800040101010101" pitchFamily="2" charset="-122"/>
              </a:rPr>
              <a:t>P</a:t>
            </a:r>
            <a:r>
              <a:rPr kumimoji="1" lang="zh-CN" altLang="en-US" sz="2400">
                <a:solidFill>
                  <a:schemeClr val="tx2"/>
                </a:solidFill>
                <a:latin typeface="华文行楷" panose="02010800040101010101" pitchFamily="2" charset="-122"/>
                <a:ea typeface="华文行楷" panose="02010800040101010101" pitchFamily="2" charset="-122"/>
              </a:rPr>
              <a:t>可接受的所有字符串的集合 </a:t>
            </a:r>
            <a:endParaRPr kumimoji="1" lang="zh-CN" altLang="en-US" sz="2400">
              <a:solidFill>
                <a:schemeClr val="tx2"/>
              </a:solidFill>
              <a:latin typeface="华文行楷" panose="02010800040101010101" pitchFamily="2" charset="-122"/>
              <a:ea typeface="华文行楷" panose="020108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5155"/>
                                        </p:tgtEl>
                                        <p:attrNameLst>
                                          <p:attrName>style.visibility</p:attrName>
                                        </p:attrNameLst>
                                      </p:cBhvr>
                                      <p:to>
                                        <p:strVal val="visible"/>
                                      </p:to>
                                    </p:set>
                                    <p:animEffect transition="in" filter="blinds(horizontal)">
                                      <p:cBhvr>
                                        <p:cTn id="7" dur="500"/>
                                        <p:tgtEl>
                                          <p:spTgt spid="30515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05156"/>
                                        </p:tgtEl>
                                        <p:attrNameLst>
                                          <p:attrName>style.visibility</p:attrName>
                                        </p:attrNameLst>
                                      </p:cBhvr>
                                      <p:to>
                                        <p:strVal val="visible"/>
                                      </p:to>
                                    </p:set>
                                    <p:animEffect transition="in" filter="blinds(horizontal)">
                                      <p:cBhvr>
                                        <p:cTn id="12" dur="500"/>
                                        <p:tgtEl>
                                          <p:spTgt spid="30515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05157">
                                            <p:txEl>
                                              <p:pRg st="0" end="0"/>
                                            </p:txEl>
                                          </p:spTgt>
                                        </p:tgtEl>
                                        <p:attrNameLst>
                                          <p:attrName>style.visibility</p:attrName>
                                        </p:attrNameLst>
                                      </p:cBhvr>
                                      <p:to>
                                        <p:strVal val="visible"/>
                                      </p:to>
                                    </p:set>
                                    <p:animEffect transition="in" filter="blinds(horizontal)">
                                      <p:cBhvr>
                                        <p:cTn id="17" dur="500"/>
                                        <p:tgtEl>
                                          <p:spTgt spid="305157">
                                            <p:txEl>
                                              <p:pRg st="0" end="0"/>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305157">
                                            <p:txEl>
                                              <p:pRg st="1" end="1"/>
                                            </p:txEl>
                                          </p:spTgt>
                                        </p:tgtEl>
                                        <p:attrNameLst>
                                          <p:attrName>style.visibility</p:attrName>
                                        </p:attrNameLst>
                                      </p:cBhvr>
                                      <p:to>
                                        <p:strVal val="visible"/>
                                      </p:to>
                                    </p:set>
                                    <p:animEffect transition="in" filter="blinds(horizontal)">
                                      <p:cBhvr>
                                        <p:cTn id="20" dur="500"/>
                                        <p:tgtEl>
                                          <p:spTgt spid="305157">
                                            <p:txEl>
                                              <p:pRg st="1" end="1"/>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305157">
                                            <p:txEl>
                                              <p:pRg st="2" end="2"/>
                                            </p:txEl>
                                          </p:spTgt>
                                        </p:tgtEl>
                                        <p:attrNameLst>
                                          <p:attrName>style.visibility</p:attrName>
                                        </p:attrNameLst>
                                      </p:cBhvr>
                                      <p:to>
                                        <p:strVal val="visible"/>
                                      </p:to>
                                    </p:set>
                                    <p:animEffect transition="in" filter="blinds(horizontal)">
                                      <p:cBhvr>
                                        <p:cTn id="23" dur="500"/>
                                        <p:tgtEl>
                                          <p:spTgt spid="305157">
                                            <p:txEl>
                                              <p:pRg st="2" end="2"/>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305157">
                                            <p:txEl>
                                              <p:pRg st="3" end="3"/>
                                            </p:txEl>
                                          </p:spTgt>
                                        </p:tgtEl>
                                        <p:attrNameLst>
                                          <p:attrName>style.visibility</p:attrName>
                                        </p:attrNameLst>
                                      </p:cBhvr>
                                      <p:to>
                                        <p:strVal val="visible"/>
                                      </p:to>
                                    </p:set>
                                    <p:animEffect transition="in" filter="blinds(horizontal)">
                                      <p:cBhvr>
                                        <p:cTn id="26" dur="500"/>
                                        <p:tgtEl>
                                          <p:spTgt spid="305157">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05158"/>
                                        </p:tgtEl>
                                        <p:attrNameLst>
                                          <p:attrName>style.visibility</p:attrName>
                                        </p:attrNameLst>
                                      </p:cBhvr>
                                      <p:to>
                                        <p:strVal val="visible"/>
                                      </p:to>
                                    </p:set>
                                    <p:anim calcmode="lin" valueType="num">
                                      <p:cBhvr additive="base">
                                        <p:cTn id="31" dur="500" fill="hold"/>
                                        <p:tgtEl>
                                          <p:spTgt spid="305158"/>
                                        </p:tgtEl>
                                        <p:attrNameLst>
                                          <p:attrName>ppt_x</p:attrName>
                                        </p:attrNameLst>
                                      </p:cBhvr>
                                      <p:tavLst>
                                        <p:tav tm="0">
                                          <p:val>
                                            <p:strVal val="#ppt_x"/>
                                          </p:val>
                                        </p:tav>
                                        <p:tav tm="100000">
                                          <p:val>
                                            <p:strVal val="#ppt_x"/>
                                          </p:val>
                                        </p:tav>
                                      </p:tavLst>
                                    </p:anim>
                                    <p:anim calcmode="lin" valueType="num">
                                      <p:cBhvr additive="base">
                                        <p:cTn id="32" dur="500" fill="hold"/>
                                        <p:tgtEl>
                                          <p:spTgt spid="30515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305159"/>
                                        </p:tgtEl>
                                        <p:attrNameLst>
                                          <p:attrName>style.visibility</p:attrName>
                                        </p:attrNameLst>
                                      </p:cBhvr>
                                      <p:to>
                                        <p:strVal val="visible"/>
                                      </p:to>
                                    </p:set>
                                    <p:animEffect transition="in" filter="randombar(horizontal)">
                                      <p:cBhvr>
                                        <p:cTn id="37" dur="500"/>
                                        <p:tgtEl>
                                          <p:spTgt spid="305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5" grpId="0" autoUpdateAnimBg="0"/>
      <p:bldP spid="305156" grpId="0" autoUpdateAnimBg="0"/>
      <p:bldP spid="305157" grpId="0" autoUpdateAnimBg="0" build="allAtOnce"/>
      <p:bldP spid="305158" grpId="0" autoUpdateAnimBg="0"/>
      <p:bldP spid="30515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6"/>
          <p:cNvSpPr>
            <a:spLocks noGrp="1"/>
          </p:cNvSpPr>
          <p:nvPr>
            <p:ph type="sldNum" sz="quarter" idx="12"/>
          </p:nvPr>
        </p:nvSpPr>
        <p:spPr/>
        <p:txBody>
          <a:bodyPr/>
          <a:lstStyle/>
          <a:p>
            <a:fld id="{C177C93D-5E18-4B96-8C98-DEBB0806D133}" type="slidenum">
              <a:rPr lang="en-US" altLang="zh-CN"/>
            </a:fld>
            <a:endParaRPr lang="en-US" altLang="zh-CN"/>
          </a:p>
        </p:txBody>
      </p:sp>
      <p:sp>
        <p:nvSpPr>
          <p:cNvPr id="367618" name="Rectangle 2"/>
          <p:cNvSpPr>
            <a:spLocks noGrp="1" noChangeArrowheads="1"/>
          </p:cNvSpPr>
          <p:nvPr>
            <p:ph type="title"/>
          </p:nvPr>
        </p:nvSpPr>
        <p:spPr/>
        <p:txBody>
          <a:bodyPr/>
          <a:lstStyle/>
          <a:p>
            <a:r>
              <a:rPr lang="zh-CN" altLang="en-US"/>
              <a:t>例子一</a:t>
            </a:r>
            <a:endParaRPr lang="zh-CN" altLang="en-US"/>
          </a:p>
        </p:txBody>
      </p:sp>
      <p:sp>
        <p:nvSpPr>
          <p:cNvPr id="367619" name="Rectangle 3"/>
          <p:cNvSpPr>
            <a:spLocks noGrp="1" noChangeArrowheads="1"/>
          </p:cNvSpPr>
          <p:nvPr>
            <p:ph type="body" sz="half" idx="1"/>
          </p:nvPr>
        </p:nvSpPr>
        <p:spPr/>
        <p:txBody>
          <a:bodyPr/>
          <a:lstStyle/>
          <a:p>
            <a:r>
              <a:rPr lang="zh-CN" altLang="en-US" sz="2600"/>
              <a:t>定义函数</a:t>
            </a:r>
            <a:endParaRPr lang="zh-CN" altLang="en-US" sz="2600"/>
          </a:p>
        </p:txBody>
      </p:sp>
      <p:graphicFrame>
        <p:nvGraphicFramePr>
          <p:cNvPr id="367620" name="Object 4"/>
          <p:cNvGraphicFramePr>
            <a:graphicFrameLocks noGrp="1" noChangeAspect="1"/>
          </p:cNvGraphicFramePr>
          <p:nvPr>
            <p:ph sz="half" idx="2"/>
          </p:nvPr>
        </p:nvGraphicFramePr>
        <p:xfrm>
          <a:off x="684213" y="2924175"/>
          <a:ext cx="2879725" cy="1100138"/>
        </p:xfrm>
        <a:graphic>
          <a:graphicData uri="http://schemas.openxmlformats.org/presentationml/2006/ole">
            <mc:AlternateContent xmlns:mc="http://schemas.openxmlformats.org/markup-compatibility/2006">
              <mc:Choice xmlns:v="urn:schemas-microsoft-com:vml" Requires="v">
                <p:oleObj spid="_x0000_s367626" name="公式" r:id="rId1" imgW="1167765" imgH="482600" progId="Equation.3">
                  <p:embed/>
                </p:oleObj>
              </mc:Choice>
              <mc:Fallback>
                <p:oleObj name="公式" r:id="rId1" imgW="1167765" imgH="4826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2924175"/>
                        <a:ext cx="2879725" cy="1100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7622" name="Rectangle 6"/>
          <p:cNvSpPr>
            <a:spLocks noChangeArrowheads="1"/>
          </p:cNvSpPr>
          <p:nvPr/>
        </p:nvSpPr>
        <p:spPr bwMode="auto">
          <a:xfrm>
            <a:off x="4787900" y="1341438"/>
            <a:ext cx="4038600" cy="518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tx2"/>
              </a:buClr>
              <a:buSzPct val="70000"/>
              <a:buFont typeface="Wingdings" panose="05000000000000000000" pitchFamily="2" charset="2"/>
              <a:buNone/>
            </a:pPr>
            <a:r>
              <a:rPr lang="en-US" altLang="zh-CN" sz="2600"/>
              <a:t>int f(int r1)</a:t>
            </a:r>
            <a:endParaRPr lang="en-US" altLang="zh-CN" sz="2600"/>
          </a:p>
          <a:p>
            <a:pPr marL="342900" indent="-342900">
              <a:spcBef>
                <a:spcPct val="20000"/>
              </a:spcBef>
              <a:buClr>
                <a:schemeClr val="tx2"/>
              </a:buClr>
              <a:buSzPct val="70000"/>
              <a:buFont typeface="Wingdings" panose="05000000000000000000" pitchFamily="2" charset="2"/>
              <a:buNone/>
            </a:pPr>
            <a:r>
              <a:rPr lang="en-US" altLang="zh-CN" sz="2600"/>
              <a:t>{</a:t>
            </a:r>
            <a:endParaRPr lang="en-US" altLang="zh-CN" sz="2600"/>
          </a:p>
          <a:p>
            <a:pPr marL="342900" indent="-342900">
              <a:spcBef>
                <a:spcPct val="20000"/>
              </a:spcBef>
              <a:buClr>
                <a:schemeClr val="tx2"/>
              </a:buClr>
              <a:buSzPct val="70000"/>
              <a:buFont typeface="Wingdings" panose="05000000000000000000" pitchFamily="2" charset="2"/>
              <a:buNone/>
            </a:pPr>
            <a:r>
              <a:rPr lang="en-US" altLang="zh-CN" sz="2600"/>
              <a:t>	if(r1&lt;=0) return 0;</a:t>
            </a:r>
            <a:endParaRPr lang="en-US" altLang="zh-CN" sz="2600"/>
          </a:p>
          <a:p>
            <a:pPr marL="342900" indent="-342900">
              <a:spcBef>
                <a:spcPct val="20000"/>
              </a:spcBef>
              <a:buClr>
                <a:schemeClr val="tx2"/>
              </a:buClr>
              <a:buSzPct val="70000"/>
              <a:buFont typeface="Wingdings" panose="05000000000000000000" pitchFamily="2" charset="2"/>
              <a:buNone/>
            </a:pPr>
            <a:r>
              <a:rPr lang="en-US" altLang="zh-CN" sz="2600"/>
              <a:t>	int r2=r1;</a:t>
            </a:r>
            <a:endParaRPr lang="en-US" altLang="zh-CN" sz="2600"/>
          </a:p>
          <a:p>
            <a:pPr marL="342900" indent="-342900">
              <a:spcBef>
                <a:spcPct val="20000"/>
              </a:spcBef>
              <a:buClr>
                <a:schemeClr val="tx2"/>
              </a:buClr>
              <a:buSzPct val="70000"/>
              <a:buFont typeface="Wingdings" panose="05000000000000000000" pitchFamily="2" charset="2"/>
              <a:buNone/>
            </a:pPr>
            <a:r>
              <a:rPr lang="en-US" altLang="zh-CN" sz="2600"/>
              <a:t>	int r3=r1-1;</a:t>
            </a:r>
            <a:endParaRPr lang="en-US" altLang="zh-CN" sz="2600"/>
          </a:p>
          <a:p>
            <a:pPr marL="342900" indent="-342900">
              <a:spcBef>
                <a:spcPct val="20000"/>
              </a:spcBef>
              <a:buClr>
                <a:schemeClr val="tx2"/>
              </a:buClr>
              <a:buSzPct val="70000"/>
              <a:buFont typeface="Wingdings" panose="05000000000000000000" pitchFamily="2" charset="2"/>
              <a:buNone/>
            </a:pPr>
            <a:r>
              <a:rPr lang="en-US" altLang="zh-CN" sz="2600"/>
              <a:t>	while(r3&gt;0){</a:t>
            </a:r>
            <a:endParaRPr lang="en-US" altLang="zh-CN" sz="2600"/>
          </a:p>
          <a:p>
            <a:pPr marL="342900" indent="-342900">
              <a:spcBef>
                <a:spcPct val="20000"/>
              </a:spcBef>
              <a:buClr>
                <a:schemeClr val="tx2"/>
              </a:buClr>
              <a:buSzPct val="70000"/>
              <a:buFont typeface="Wingdings" panose="05000000000000000000" pitchFamily="2" charset="2"/>
              <a:buNone/>
            </a:pPr>
            <a:r>
              <a:rPr lang="en-US" altLang="zh-CN" sz="2600"/>
              <a:t>		r2=r2*r1;</a:t>
            </a:r>
            <a:endParaRPr lang="en-US" altLang="zh-CN" sz="2600"/>
          </a:p>
          <a:p>
            <a:pPr marL="342900" indent="-342900">
              <a:spcBef>
                <a:spcPct val="20000"/>
              </a:spcBef>
              <a:buClr>
                <a:schemeClr val="tx2"/>
              </a:buClr>
              <a:buSzPct val="70000"/>
              <a:buFont typeface="Wingdings" panose="05000000000000000000" pitchFamily="2" charset="2"/>
              <a:buNone/>
            </a:pPr>
            <a:r>
              <a:rPr lang="en-US" altLang="zh-CN" sz="2600"/>
              <a:t>		r3=r3-1;</a:t>
            </a:r>
            <a:endParaRPr lang="en-US" altLang="zh-CN" sz="2600"/>
          </a:p>
          <a:p>
            <a:pPr marL="342900" indent="-342900">
              <a:spcBef>
                <a:spcPct val="20000"/>
              </a:spcBef>
              <a:buClr>
                <a:schemeClr val="tx2"/>
              </a:buClr>
              <a:buSzPct val="70000"/>
              <a:buFont typeface="Wingdings" panose="05000000000000000000" pitchFamily="2" charset="2"/>
              <a:buNone/>
            </a:pPr>
            <a:r>
              <a:rPr lang="en-US" altLang="zh-CN" sz="2600"/>
              <a:t>	}</a:t>
            </a:r>
            <a:endParaRPr lang="en-US" altLang="zh-CN" sz="2600"/>
          </a:p>
          <a:p>
            <a:pPr marL="342900" indent="-342900">
              <a:spcBef>
                <a:spcPct val="20000"/>
              </a:spcBef>
              <a:buClr>
                <a:schemeClr val="tx2"/>
              </a:buClr>
              <a:buSzPct val="70000"/>
              <a:buFont typeface="Wingdings" panose="05000000000000000000" pitchFamily="2" charset="2"/>
              <a:buNone/>
            </a:pPr>
            <a:r>
              <a:rPr lang="en-US" altLang="zh-CN" sz="2600"/>
              <a:t>	return r2;</a:t>
            </a:r>
            <a:endParaRPr lang="en-US" altLang="zh-CN" sz="2600"/>
          </a:p>
          <a:p>
            <a:pPr marL="342900" indent="-342900">
              <a:spcBef>
                <a:spcPct val="20000"/>
              </a:spcBef>
              <a:buClr>
                <a:schemeClr val="tx2"/>
              </a:buClr>
              <a:buSzPct val="70000"/>
              <a:buFont typeface="Wingdings" panose="05000000000000000000" pitchFamily="2" charset="2"/>
              <a:buNone/>
            </a:pPr>
            <a:r>
              <a:rPr lang="en-US" altLang="zh-CN" sz="2600"/>
              <a:t>}</a:t>
            </a:r>
            <a:endParaRPr lang="en-US" altLang="zh-CN" sz="2600"/>
          </a:p>
        </p:txBody>
      </p:sp>
      <p:sp>
        <p:nvSpPr>
          <p:cNvPr id="367623" name="Text Box 7"/>
          <p:cNvSpPr txBox="1">
            <a:spLocks noChangeArrowheads="1"/>
          </p:cNvSpPr>
          <p:nvPr/>
        </p:nvSpPr>
        <p:spPr bwMode="auto">
          <a:xfrm>
            <a:off x="755650" y="5373688"/>
            <a:ext cx="34559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相应的</a:t>
            </a:r>
            <a:r>
              <a:rPr lang="en-US" altLang="zh-CN" sz="2400"/>
              <a:t>RAM</a:t>
            </a:r>
            <a:r>
              <a:rPr lang="zh-CN" altLang="en-US" sz="2400"/>
              <a:t>程序见</a:t>
            </a:r>
            <a:r>
              <a:rPr lang="en-US" altLang="zh-CN" sz="2400"/>
              <a:t>P282</a:t>
            </a:r>
            <a:endParaRPr lang="en-US" altLang="zh-CN"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367622"/>
                                        </p:tgtEl>
                                        <p:attrNameLst>
                                          <p:attrName>style.visibility</p:attrName>
                                        </p:attrNameLst>
                                      </p:cBhvr>
                                      <p:to>
                                        <p:strVal val="visible"/>
                                      </p:to>
                                    </p:set>
                                    <p:animEffect transition="in" filter="barn(inHorizontal)">
                                      <p:cBhvr>
                                        <p:cTn id="7" dur="500"/>
                                        <p:tgtEl>
                                          <p:spTgt spid="36762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367623"/>
                                        </p:tgtEl>
                                        <p:attrNameLst>
                                          <p:attrName>style.visibility</p:attrName>
                                        </p:attrNameLst>
                                      </p:cBhvr>
                                      <p:to>
                                        <p:strVal val="visible"/>
                                      </p:to>
                                    </p:set>
                                    <p:animEffect transition="in" filter="strips(downRight)">
                                      <p:cBhvr>
                                        <p:cTn id="12" dur="500"/>
                                        <p:tgtEl>
                                          <p:spTgt spid="3676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22" grpId="0"/>
      <p:bldP spid="36762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087F1908-A4C8-4C25-BE47-05253B19BEAE}" type="slidenum">
              <a:rPr lang="en-US" altLang="zh-CN"/>
            </a:fld>
            <a:endParaRPr lang="en-US" altLang="zh-CN"/>
          </a:p>
        </p:txBody>
      </p:sp>
      <p:sp>
        <p:nvSpPr>
          <p:cNvPr id="369666" name="Rectangle 2"/>
          <p:cNvSpPr>
            <a:spLocks noGrp="1" noChangeArrowheads="1"/>
          </p:cNvSpPr>
          <p:nvPr>
            <p:ph type="title"/>
          </p:nvPr>
        </p:nvSpPr>
        <p:spPr/>
        <p:txBody>
          <a:bodyPr/>
          <a:lstStyle/>
          <a:p>
            <a:r>
              <a:rPr lang="zh-CN" altLang="en-US"/>
              <a:t>例子二</a:t>
            </a:r>
            <a:endParaRPr lang="zh-CN" altLang="en-US"/>
          </a:p>
        </p:txBody>
      </p:sp>
      <p:sp>
        <p:nvSpPr>
          <p:cNvPr id="369667" name="Rectangle 3"/>
          <p:cNvSpPr>
            <a:spLocks noGrp="1" noChangeArrowheads="1"/>
          </p:cNvSpPr>
          <p:nvPr>
            <p:ph type="body" idx="1"/>
          </p:nvPr>
        </p:nvSpPr>
        <p:spPr>
          <a:xfrm>
            <a:off x="457200" y="1719263"/>
            <a:ext cx="4186238" cy="3654425"/>
          </a:xfrm>
        </p:spPr>
        <p:txBody>
          <a:bodyPr/>
          <a:lstStyle/>
          <a:p>
            <a:r>
              <a:rPr lang="zh-CN" altLang="en-US"/>
              <a:t>接受字母表</a:t>
            </a:r>
            <a:r>
              <a:rPr lang="en-US" altLang="zh-CN"/>
              <a:t>{1,2}</a:t>
            </a:r>
            <a:r>
              <a:rPr lang="zh-CN" altLang="en-US"/>
              <a:t>上的一个语言。</a:t>
            </a:r>
            <a:endParaRPr lang="zh-CN" altLang="en-US"/>
          </a:p>
          <a:p>
            <a:r>
              <a:rPr lang="zh-CN" altLang="en-US"/>
              <a:t>该语言包含所有由同样多个</a:t>
            </a:r>
            <a:r>
              <a:rPr lang="en-US" altLang="zh-CN"/>
              <a:t>1</a:t>
            </a:r>
            <a:r>
              <a:rPr lang="zh-CN" altLang="en-US"/>
              <a:t>和</a:t>
            </a:r>
            <a:r>
              <a:rPr lang="en-US" altLang="zh-CN"/>
              <a:t>2</a:t>
            </a:r>
            <a:r>
              <a:rPr lang="zh-CN" altLang="en-US"/>
              <a:t>组成的字符串。</a:t>
            </a:r>
            <a:endParaRPr lang="zh-CN" altLang="en-US"/>
          </a:p>
        </p:txBody>
      </p:sp>
      <p:sp>
        <p:nvSpPr>
          <p:cNvPr id="369668" name="Rectangle 4"/>
          <p:cNvSpPr>
            <a:spLocks noChangeArrowheads="1"/>
          </p:cNvSpPr>
          <p:nvPr/>
        </p:nvSpPr>
        <p:spPr bwMode="auto">
          <a:xfrm>
            <a:off x="4716463" y="476250"/>
            <a:ext cx="4038600" cy="6192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tx2"/>
              </a:buClr>
              <a:buSzPct val="70000"/>
              <a:buFont typeface="Wingdings" panose="05000000000000000000" pitchFamily="2" charset="2"/>
              <a:buNone/>
            </a:pPr>
            <a:r>
              <a:rPr lang="en-US" altLang="zh-CN" sz="2600"/>
              <a:t>int accept()</a:t>
            </a:r>
            <a:endParaRPr lang="en-US" altLang="zh-CN" sz="2600"/>
          </a:p>
          <a:p>
            <a:pPr marL="342900" indent="-342900">
              <a:spcBef>
                <a:spcPct val="20000"/>
              </a:spcBef>
              <a:buClr>
                <a:schemeClr val="tx2"/>
              </a:buClr>
              <a:buSzPct val="70000"/>
              <a:buFont typeface="Wingdings" panose="05000000000000000000" pitchFamily="2" charset="2"/>
              <a:buNone/>
            </a:pPr>
            <a:r>
              <a:rPr lang="en-US" altLang="zh-CN" sz="2600"/>
              <a:t>{</a:t>
            </a:r>
            <a:endParaRPr lang="en-US" altLang="zh-CN" sz="2600"/>
          </a:p>
          <a:p>
            <a:pPr marL="342900" indent="-342900">
              <a:spcBef>
                <a:spcPct val="20000"/>
              </a:spcBef>
              <a:buClr>
                <a:schemeClr val="tx2"/>
              </a:buClr>
              <a:buSzPct val="70000"/>
              <a:buFont typeface="Wingdings" panose="05000000000000000000" pitchFamily="2" charset="2"/>
              <a:buNone/>
            </a:pPr>
            <a:r>
              <a:rPr lang="en-US" altLang="zh-CN" sz="2600"/>
              <a:t>	int x;</a:t>
            </a:r>
            <a:endParaRPr lang="en-US" altLang="zh-CN" sz="2600"/>
          </a:p>
          <a:p>
            <a:pPr marL="342900" indent="-342900">
              <a:spcBef>
                <a:spcPct val="20000"/>
              </a:spcBef>
              <a:buClr>
                <a:schemeClr val="tx2"/>
              </a:buClr>
              <a:buSzPct val="70000"/>
              <a:buFont typeface="Wingdings" panose="05000000000000000000" pitchFamily="2" charset="2"/>
              <a:buNone/>
            </a:pPr>
            <a:r>
              <a:rPr lang="en-US" altLang="zh-CN" sz="2600"/>
              <a:t>	int d=0;</a:t>
            </a:r>
            <a:endParaRPr lang="en-US" altLang="zh-CN" sz="2600"/>
          </a:p>
          <a:p>
            <a:pPr marL="342900" indent="-342900">
              <a:spcBef>
                <a:spcPct val="20000"/>
              </a:spcBef>
              <a:buClr>
                <a:schemeClr val="tx2"/>
              </a:buClr>
              <a:buSzPct val="70000"/>
              <a:buFont typeface="Wingdings" panose="05000000000000000000" pitchFamily="2" charset="2"/>
              <a:buNone/>
            </a:pPr>
            <a:r>
              <a:rPr lang="en-US" altLang="zh-CN" sz="2600"/>
              <a:t>	x=readint();</a:t>
            </a:r>
            <a:endParaRPr lang="en-US" altLang="zh-CN" sz="2600"/>
          </a:p>
          <a:p>
            <a:pPr marL="342900" indent="-342900">
              <a:spcBef>
                <a:spcPct val="20000"/>
              </a:spcBef>
              <a:buClr>
                <a:schemeClr val="tx2"/>
              </a:buClr>
              <a:buSzPct val="70000"/>
              <a:buFont typeface="Wingdings" panose="05000000000000000000" pitchFamily="2" charset="2"/>
              <a:buNone/>
            </a:pPr>
            <a:r>
              <a:rPr lang="en-US" altLang="zh-CN" sz="2600"/>
              <a:t>	while(x!=0){</a:t>
            </a:r>
            <a:endParaRPr lang="en-US" altLang="zh-CN" sz="2600"/>
          </a:p>
          <a:p>
            <a:pPr marL="342900" indent="-342900">
              <a:spcBef>
                <a:spcPct val="20000"/>
              </a:spcBef>
              <a:buClr>
                <a:schemeClr val="tx2"/>
              </a:buClr>
              <a:buSzPct val="70000"/>
              <a:buFont typeface="Wingdings" panose="05000000000000000000" pitchFamily="2" charset="2"/>
              <a:buNone/>
            </a:pPr>
            <a:r>
              <a:rPr lang="en-US" altLang="zh-CN" sz="2600"/>
              <a:t>		if(x!=1) d--;</a:t>
            </a:r>
            <a:endParaRPr lang="en-US" altLang="zh-CN" sz="2600"/>
          </a:p>
          <a:p>
            <a:pPr marL="342900" indent="-342900">
              <a:spcBef>
                <a:spcPct val="20000"/>
              </a:spcBef>
              <a:buClr>
                <a:schemeClr val="tx2"/>
              </a:buClr>
              <a:buSzPct val="70000"/>
              <a:buFont typeface="Wingdings" panose="05000000000000000000" pitchFamily="2" charset="2"/>
              <a:buNone/>
            </a:pPr>
            <a:r>
              <a:rPr lang="en-US" altLang="zh-CN" sz="2600"/>
              <a:t>		else d++;</a:t>
            </a:r>
            <a:endParaRPr lang="en-US" altLang="zh-CN" sz="2600"/>
          </a:p>
          <a:p>
            <a:pPr marL="342900" indent="-342900">
              <a:spcBef>
                <a:spcPct val="20000"/>
              </a:spcBef>
              <a:buClr>
                <a:schemeClr val="tx2"/>
              </a:buClr>
              <a:buSzPct val="70000"/>
              <a:buFont typeface="Wingdings" panose="05000000000000000000" pitchFamily="2" charset="2"/>
              <a:buNone/>
            </a:pPr>
            <a:r>
              <a:rPr lang="en-US" altLang="zh-CN" sz="2600"/>
              <a:t>		x=readint();</a:t>
            </a:r>
            <a:endParaRPr lang="en-US" altLang="zh-CN" sz="2600"/>
          </a:p>
          <a:p>
            <a:pPr marL="342900" indent="-342900">
              <a:spcBef>
                <a:spcPct val="20000"/>
              </a:spcBef>
              <a:buClr>
                <a:schemeClr val="tx2"/>
              </a:buClr>
              <a:buSzPct val="70000"/>
              <a:buFont typeface="Wingdings" panose="05000000000000000000" pitchFamily="2" charset="2"/>
              <a:buNone/>
            </a:pPr>
            <a:r>
              <a:rPr lang="en-US" altLang="zh-CN" sz="2600"/>
              <a:t>	}</a:t>
            </a:r>
            <a:endParaRPr lang="en-US" altLang="zh-CN" sz="2600"/>
          </a:p>
          <a:p>
            <a:pPr marL="342900" indent="-342900">
              <a:spcBef>
                <a:spcPct val="20000"/>
              </a:spcBef>
              <a:buClr>
                <a:schemeClr val="tx2"/>
              </a:buClr>
              <a:buSzPct val="70000"/>
              <a:buFont typeface="Wingdings" panose="05000000000000000000" pitchFamily="2" charset="2"/>
              <a:buNone/>
            </a:pPr>
            <a:r>
              <a:rPr lang="en-US" altLang="zh-CN" sz="2600"/>
              <a:t>	if(d==0) return 1;</a:t>
            </a:r>
            <a:endParaRPr lang="en-US" altLang="zh-CN" sz="2600"/>
          </a:p>
          <a:p>
            <a:pPr marL="342900" indent="-342900">
              <a:spcBef>
                <a:spcPct val="20000"/>
              </a:spcBef>
              <a:buClr>
                <a:schemeClr val="tx2"/>
              </a:buClr>
              <a:buSzPct val="70000"/>
              <a:buFont typeface="Wingdings" panose="05000000000000000000" pitchFamily="2" charset="2"/>
              <a:buNone/>
            </a:pPr>
            <a:r>
              <a:rPr lang="en-US" altLang="zh-CN" sz="2600"/>
              <a:t>	else return 0;</a:t>
            </a:r>
            <a:endParaRPr lang="en-US" altLang="zh-CN" sz="2600"/>
          </a:p>
          <a:p>
            <a:pPr marL="342900" indent="-342900">
              <a:spcBef>
                <a:spcPct val="20000"/>
              </a:spcBef>
              <a:buClr>
                <a:schemeClr val="tx2"/>
              </a:buClr>
              <a:buSzPct val="70000"/>
              <a:buFont typeface="Wingdings" panose="05000000000000000000" pitchFamily="2" charset="2"/>
              <a:buNone/>
            </a:pPr>
            <a:r>
              <a:rPr lang="en-US" altLang="zh-CN" sz="2600"/>
              <a:t>}</a:t>
            </a:r>
            <a:endParaRPr lang="en-US" altLang="zh-CN" sz="2600"/>
          </a:p>
        </p:txBody>
      </p:sp>
      <p:sp>
        <p:nvSpPr>
          <p:cNvPr id="369669" name="Text Box 5"/>
          <p:cNvSpPr txBox="1">
            <a:spLocks noChangeArrowheads="1"/>
          </p:cNvSpPr>
          <p:nvPr/>
        </p:nvSpPr>
        <p:spPr bwMode="auto">
          <a:xfrm>
            <a:off x="755650" y="5373688"/>
            <a:ext cx="34559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相应的</a:t>
            </a:r>
            <a:r>
              <a:rPr lang="en-US" altLang="zh-CN" sz="2400"/>
              <a:t>RAM</a:t>
            </a:r>
            <a:r>
              <a:rPr lang="zh-CN" altLang="en-US" sz="2400"/>
              <a:t>程序见</a:t>
            </a:r>
            <a:r>
              <a:rPr lang="en-US" altLang="zh-CN" sz="2400"/>
              <a:t>P283</a:t>
            </a:r>
            <a:endParaRPr lang="en-US" altLang="zh-CN"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369668"/>
                                        </p:tgtEl>
                                        <p:attrNameLst>
                                          <p:attrName>style.visibility</p:attrName>
                                        </p:attrNameLst>
                                      </p:cBhvr>
                                      <p:to>
                                        <p:strVal val="visible"/>
                                      </p:to>
                                    </p:set>
                                    <p:animEffect transition="in" filter="barn(inHorizontal)">
                                      <p:cBhvr>
                                        <p:cTn id="7" dur="500"/>
                                        <p:tgtEl>
                                          <p:spTgt spid="36966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369669"/>
                                        </p:tgtEl>
                                        <p:attrNameLst>
                                          <p:attrName>style.visibility</p:attrName>
                                        </p:attrNameLst>
                                      </p:cBhvr>
                                      <p:to>
                                        <p:strVal val="visible"/>
                                      </p:to>
                                    </p:set>
                                    <p:animEffect transition="in" filter="strips(downRight)">
                                      <p:cBhvr>
                                        <p:cTn id="12" dur="500"/>
                                        <p:tgtEl>
                                          <p:spTgt spid="3696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68" grpId="0"/>
      <p:bldP spid="369669" grpId="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55F4C045-3F03-4CDF-AF2A-F6180AB96B8E}" type="slidenum">
              <a:rPr lang="en-US" altLang="zh-CN"/>
            </a:fld>
            <a:endParaRPr lang="en-US" altLang="zh-CN"/>
          </a:p>
        </p:txBody>
      </p:sp>
      <p:sp>
        <p:nvSpPr>
          <p:cNvPr id="306178" name="Rectangle 2"/>
          <p:cNvSpPr>
            <a:spLocks noGrp="1" noChangeArrowheads="1"/>
          </p:cNvSpPr>
          <p:nvPr>
            <p:ph type="title"/>
          </p:nvPr>
        </p:nvSpPr>
        <p:spPr>
          <a:xfrm>
            <a:off x="457200" y="122238"/>
            <a:ext cx="7543800" cy="1036637"/>
          </a:xfrm>
        </p:spPr>
        <p:txBody>
          <a:bodyPr/>
          <a:lstStyle/>
          <a:p>
            <a:r>
              <a:rPr lang="en-US" altLang="zh-CN" sz="3000"/>
              <a:t>8.1.1  </a:t>
            </a:r>
            <a:r>
              <a:rPr lang="zh-CN" altLang="en-US" sz="3000">
                <a:latin typeface="新宋体" panose="02010609030101010101" charset="-122"/>
                <a:ea typeface="新宋体" panose="02010609030101010101" charset="-122"/>
              </a:rPr>
              <a:t>随机存取机</a:t>
            </a:r>
            <a:r>
              <a:rPr lang="en-US" altLang="zh-CN" sz="3000">
                <a:latin typeface="新宋体" panose="02010609030101010101" charset="-122"/>
                <a:ea typeface="新宋体" panose="02010609030101010101" charset="-122"/>
              </a:rPr>
              <a:t>RAM</a:t>
            </a:r>
            <a:endParaRPr lang="zh-CN" altLang="en-US" sz="3000">
              <a:latin typeface="新宋体" panose="02010609030101010101" charset="-122"/>
              <a:ea typeface="新宋体" panose="02010609030101010101" charset="-122"/>
            </a:endParaRPr>
          </a:p>
        </p:txBody>
      </p:sp>
      <p:sp>
        <p:nvSpPr>
          <p:cNvPr id="306179" name="Text Box 3"/>
          <p:cNvSpPr txBox="1">
            <a:spLocks noChangeArrowheads="1"/>
          </p:cNvSpPr>
          <p:nvPr/>
        </p:nvSpPr>
        <p:spPr bwMode="auto">
          <a:xfrm>
            <a:off x="593725" y="1477963"/>
            <a:ext cx="46990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en-US" altLang="zh-CN" sz="3200" b="1">
                <a:solidFill>
                  <a:schemeClr val="accent2"/>
                </a:solidFill>
                <a:latin typeface="Times New Roman" panose="02020603050405020304" pitchFamily="18" charset="0"/>
                <a:ea typeface="黑体" panose="02010609060101010101" pitchFamily="2" charset="-122"/>
              </a:rPr>
              <a:t>3、 </a:t>
            </a:r>
            <a:r>
              <a:rPr lang="en-US" altLang="zh-CN" sz="3200" b="1">
                <a:solidFill>
                  <a:schemeClr val="accent2"/>
                </a:solidFill>
                <a:latin typeface="新宋体" panose="02010609030101010101" charset="-122"/>
                <a:ea typeface="新宋体" panose="02010609030101010101" charset="-122"/>
              </a:rPr>
              <a:t>RAM</a:t>
            </a:r>
            <a:r>
              <a:rPr lang="zh-CN" altLang="en-US" sz="3200" b="1">
                <a:solidFill>
                  <a:schemeClr val="accent2"/>
                </a:solidFill>
                <a:latin typeface="新宋体" panose="02010609030101010101" charset="-122"/>
                <a:ea typeface="新宋体" panose="02010609030101010101" charset="-122"/>
              </a:rPr>
              <a:t>程序的耗费标准</a:t>
            </a:r>
            <a:endParaRPr lang="en-US" altLang="zh-CN" sz="3200" b="1">
              <a:solidFill>
                <a:schemeClr val="accent2"/>
              </a:solidFill>
              <a:latin typeface="新宋体" panose="02010609030101010101" charset="-122"/>
              <a:ea typeface="新宋体" panose="02010609030101010101" charset="-122"/>
            </a:endParaRPr>
          </a:p>
        </p:txBody>
      </p:sp>
      <p:sp>
        <p:nvSpPr>
          <p:cNvPr id="306180" name="Text Box 4"/>
          <p:cNvSpPr txBox="1">
            <a:spLocks noChangeArrowheads="1"/>
          </p:cNvSpPr>
          <p:nvPr/>
        </p:nvSpPr>
        <p:spPr bwMode="auto">
          <a:xfrm>
            <a:off x="304800" y="2105025"/>
            <a:ext cx="856615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lang="zh-CN" altLang="en-US" sz="2400" b="1">
                <a:latin typeface="新宋体" panose="02010609030101010101" charset="-122"/>
                <a:ea typeface="新宋体" panose="02010609030101010101" charset="-122"/>
              </a:rPr>
              <a:t>标准一：均匀耗费标准</a:t>
            </a:r>
            <a:endParaRPr lang="zh-CN" altLang="en-US" sz="2400" b="1">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	在均匀耗费标准下，每条</a:t>
            </a:r>
            <a:r>
              <a:rPr lang="en-US" altLang="zh-CN" sz="2400">
                <a:latin typeface="新宋体" panose="02010609030101010101" charset="-122"/>
                <a:ea typeface="新宋体" panose="02010609030101010101" charset="-122"/>
              </a:rPr>
              <a:t>RAM</a:t>
            </a:r>
            <a:r>
              <a:rPr lang="zh-CN" altLang="en-US" sz="2400">
                <a:latin typeface="新宋体" panose="02010609030101010101" charset="-122"/>
                <a:ea typeface="新宋体" panose="02010609030101010101" charset="-122"/>
              </a:rPr>
              <a:t>指令需要一个单位时间；每</a:t>
            </a:r>
            <a:endParaRPr lang="zh-CN" altLang="en-US"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个寄存器占用一个单位空间。以后除特别注明，</a:t>
            </a:r>
            <a:r>
              <a:rPr lang="en-US" altLang="zh-CN" sz="2400">
                <a:latin typeface="新宋体" panose="02010609030101010101" charset="-122"/>
                <a:ea typeface="新宋体" panose="02010609030101010101" charset="-122"/>
              </a:rPr>
              <a:t>RAM</a:t>
            </a:r>
            <a:r>
              <a:rPr lang="zh-CN" altLang="en-US" sz="2400">
                <a:latin typeface="新宋体" panose="02010609030101010101" charset="-122"/>
                <a:ea typeface="新宋体" panose="02010609030101010101" charset="-122"/>
              </a:rPr>
              <a:t>程序的复杂</a:t>
            </a:r>
            <a:endParaRPr lang="zh-CN" altLang="en-US"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性将按照均匀耗费标准衡量。 </a:t>
            </a:r>
            <a:endParaRPr lang="zh-CN" altLang="en-US" sz="2400">
              <a:latin typeface="新宋体" panose="02010609030101010101" charset="-122"/>
              <a:ea typeface="新宋体" panose="02010609030101010101" charset="-122"/>
            </a:endParaRPr>
          </a:p>
        </p:txBody>
      </p:sp>
      <p:sp>
        <p:nvSpPr>
          <p:cNvPr id="306181" name="Text Box 5"/>
          <p:cNvSpPr txBox="1">
            <a:spLocks noChangeArrowheads="1"/>
          </p:cNvSpPr>
          <p:nvPr/>
        </p:nvSpPr>
        <p:spPr bwMode="auto">
          <a:xfrm>
            <a:off x="304800" y="3810000"/>
            <a:ext cx="887095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lang="zh-CN" altLang="en-US" sz="2400" b="1">
                <a:latin typeface="新宋体" panose="02010609030101010101" charset="-122"/>
                <a:ea typeface="新宋体" panose="02010609030101010101" charset="-122"/>
              </a:rPr>
              <a:t>标准二：对数耗费标准</a:t>
            </a:r>
            <a:endParaRPr lang="zh-CN" altLang="en-US" sz="2400" b="1">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	对数耗费标准是基于这样的假定，即执行一条指令的耗费</a:t>
            </a:r>
            <a:endParaRPr lang="zh-CN" altLang="en-US"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与以二进制表示的指令的操作数长度成比例。在</a:t>
            </a:r>
            <a:r>
              <a:rPr lang="en-US" altLang="zh-CN" sz="2400">
                <a:latin typeface="新宋体" panose="02010609030101010101" charset="-122"/>
                <a:ea typeface="新宋体" panose="02010609030101010101" charset="-122"/>
              </a:rPr>
              <a:t>RAM</a:t>
            </a:r>
            <a:r>
              <a:rPr lang="zh-CN" altLang="en-US" sz="2400">
                <a:latin typeface="新宋体" panose="02010609030101010101" charset="-122"/>
                <a:ea typeface="新宋体" panose="02010609030101010101" charset="-122"/>
              </a:rPr>
              <a:t>计算模型下，</a:t>
            </a:r>
            <a:endParaRPr lang="zh-CN" altLang="en-US"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假定一个寄存器可存放一个任意大小的整数。因此若设</a:t>
            </a:r>
            <a:r>
              <a:rPr lang="en-US" altLang="zh-CN" sz="2400">
                <a:latin typeface="新宋体" panose="02010609030101010101" charset="-122"/>
                <a:ea typeface="新宋体" panose="02010609030101010101" charset="-122"/>
              </a:rPr>
              <a:t>l(i)</a:t>
            </a:r>
            <a:r>
              <a:rPr lang="zh-CN" altLang="en-US" sz="2400">
                <a:latin typeface="新宋体" panose="02010609030101010101" charset="-122"/>
                <a:ea typeface="新宋体" panose="02010609030101010101" charset="-122"/>
              </a:rPr>
              <a:t>是整</a:t>
            </a:r>
            <a:endParaRPr lang="zh-CN" altLang="en-US"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数</a:t>
            </a:r>
            <a:r>
              <a:rPr lang="en-US" altLang="zh-CN" sz="2400">
                <a:latin typeface="新宋体" panose="02010609030101010101" charset="-122"/>
                <a:ea typeface="新宋体" panose="02010609030101010101" charset="-122"/>
              </a:rPr>
              <a:t>i</a:t>
            </a:r>
            <a:r>
              <a:rPr lang="zh-CN" altLang="en-US" sz="2400">
                <a:latin typeface="新宋体" panose="02010609030101010101" charset="-122"/>
                <a:ea typeface="新宋体" panose="02010609030101010101" charset="-122"/>
              </a:rPr>
              <a:t>所占的二进制位数，则 </a:t>
            </a:r>
            <a:endParaRPr lang="zh-CN" altLang="en-US" sz="2400">
              <a:latin typeface="新宋体" panose="02010609030101010101" charset="-122"/>
              <a:ea typeface="新宋体" panose="02010609030101010101" charset="-122"/>
            </a:endParaRPr>
          </a:p>
        </p:txBody>
      </p:sp>
      <p:graphicFrame>
        <p:nvGraphicFramePr>
          <p:cNvPr id="306182" name="Object 6"/>
          <p:cNvGraphicFramePr>
            <a:graphicFrameLocks noChangeAspect="1"/>
          </p:cNvGraphicFramePr>
          <p:nvPr/>
        </p:nvGraphicFramePr>
        <p:xfrm>
          <a:off x="4171950" y="5434013"/>
          <a:ext cx="2838450" cy="773112"/>
        </p:xfrm>
        <a:graphic>
          <a:graphicData uri="http://schemas.openxmlformats.org/presentationml/2006/ole">
            <mc:AlternateContent xmlns:mc="http://schemas.openxmlformats.org/markup-compatibility/2006">
              <mc:Choice xmlns:v="urn:schemas-microsoft-com:vml" Requires="v">
                <p:oleObj spid="_x0000_s306186" name="" r:id="rId1" imgW="1104900" imgH="393700" progId="Equation.3">
                  <p:embed/>
                </p:oleObj>
              </mc:Choice>
              <mc:Fallback>
                <p:oleObj name="" r:id="rId1" imgW="1104900" imgH="3937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1950" y="5434013"/>
                        <a:ext cx="2838450" cy="773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6179"/>
                                        </p:tgtEl>
                                        <p:attrNameLst>
                                          <p:attrName>style.visibility</p:attrName>
                                        </p:attrNameLst>
                                      </p:cBhvr>
                                      <p:to>
                                        <p:strVal val="visible"/>
                                      </p:to>
                                    </p:set>
                                    <p:animEffect transition="in" filter="blinds(horizontal)">
                                      <p:cBhvr>
                                        <p:cTn id="7" dur="500"/>
                                        <p:tgtEl>
                                          <p:spTgt spid="30617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06180"/>
                                        </p:tgtEl>
                                        <p:attrNameLst>
                                          <p:attrName>style.visibility</p:attrName>
                                        </p:attrNameLst>
                                      </p:cBhvr>
                                      <p:to>
                                        <p:strVal val="visible"/>
                                      </p:to>
                                    </p:set>
                                    <p:animEffect transition="in" filter="blinds(horizontal)">
                                      <p:cBhvr>
                                        <p:cTn id="12" dur="500"/>
                                        <p:tgtEl>
                                          <p:spTgt spid="30618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06181"/>
                                        </p:tgtEl>
                                        <p:attrNameLst>
                                          <p:attrName>style.visibility</p:attrName>
                                        </p:attrNameLst>
                                      </p:cBhvr>
                                      <p:to>
                                        <p:strVal val="visible"/>
                                      </p:to>
                                    </p:set>
                                    <p:animEffect transition="in" filter="blinds(horizontal)">
                                      <p:cBhvr>
                                        <p:cTn id="17" dur="500"/>
                                        <p:tgtEl>
                                          <p:spTgt spid="306181"/>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06182"/>
                                        </p:tgtEl>
                                        <p:attrNameLst>
                                          <p:attrName>style.visibility</p:attrName>
                                        </p:attrNameLst>
                                      </p:cBhvr>
                                      <p:to>
                                        <p:strVal val="visible"/>
                                      </p:to>
                                    </p:set>
                                    <p:anim calcmode="lin" valueType="num">
                                      <p:cBhvr additive="base">
                                        <p:cTn id="22" dur="500" fill="hold"/>
                                        <p:tgtEl>
                                          <p:spTgt spid="306182"/>
                                        </p:tgtEl>
                                        <p:attrNameLst>
                                          <p:attrName>ppt_x</p:attrName>
                                        </p:attrNameLst>
                                      </p:cBhvr>
                                      <p:tavLst>
                                        <p:tav tm="0">
                                          <p:val>
                                            <p:strVal val="#ppt_x"/>
                                          </p:val>
                                        </p:tav>
                                        <p:tav tm="100000">
                                          <p:val>
                                            <p:strVal val="#ppt_x"/>
                                          </p:val>
                                        </p:tav>
                                      </p:tavLst>
                                    </p:anim>
                                    <p:anim calcmode="lin" valueType="num">
                                      <p:cBhvr additive="base">
                                        <p:cTn id="23" dur="500" fill="hold"/>
                                        <p:tgtEl>
                                          <p:spTgt spid="3061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179" grpId="0" autoUpdateAnimBg="0"/>
      <p:bldP spid="306180" grpId="0" autoUpdateAnimBg="0"/>
      <p:bldP spid="306181"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4AD5A935-FD09-4F9B-A002-A81F0F396624}" type="slidenum">
              <a:rPr lang="en-US" altLang="zh-CN"/>
            </a:fld>
            <a:endParaRPr lang="en-US" altLang="zh-CN"/>
          </a:p>
        </p:txBody>
      </p:sp>
      <p:pic>
        <p:nvPicPr>
          <p:cNvPr id="370692" name="Picture 4"/>
          <p:cNvPicPr>
            <a:picLocks noGrp="1" noChangeAspect="1" noChangeArrowheads="1"/>
          </p:cNvPicPr>
          <p:nvPr>
            <p:ph type="body" idx="1"/>
          </p:nvPr>
        </p:nvPicPr>
        <p:blipFill>
          <a:blip r:embed="rId1">
            <a:extLst>
              <a:ext uri="{28A0092B-C50C-407E-A947-70E740481C1C}">
                <a14:useLocalDpi xmlns:a14="http://schemas.microsoft.com/office/drawing/2010/main" val="0"/>
              </a:ext>
            </a:extLst>
          </a:blip>
          <a:srcRect/>
          <a:stretch>
            <a:fillRect/>
          </a:stretch>
        </p:blipFill>
        <p:spPr>
          <a:xfrm>
            <a:off x="1116013" y="5300663"/>
            <a:ext cx="6840537" cy="1362075"/>
          </a:xfrm>
          <a:noFill/>
          <a:extLst>
            <a:ext uri="{91240B29-F687-4F45-9708-019B960494DF}">
              <a14:hiddenLine xmlns:a14="http://schemas.microsoft.com/office/drawing/2010/main" w="9525">
                <a:solidFill>
                  <a:schemeClr val="tx1"/>
                </a:solidFill>
                <a:prstDash val="solid"/>
                <a:miter lim="800000"/>
                <a:headEnd type="none" w="med" len="med"/>
                <a:tailEnd type="none" w="med" len="med"/>
              </a14:hiddenLine>
            </a:ext>
          </a:extLst>
        </p:spPr>
      </p:pic>
      <p:grpSp>
        <p:nvGrpSpPr>
          <p:cNvPr id="370696" name="Group 8"/>
          <p:cNvGrpSpPr/>
          <p:nvPr/>
        </p:nvGrpSpPr>
        <p:grpSpPr bwMode="auto">
          <a:xfrm>
            <a:off x="1116013" y="260350"/>
            <a:ext cx="6840537" cy="4872038"/>
            <a:chOff x="703" y="386"/>
            <a:chExt cx="4309" cy="3069"/>
          </a:xfrm>
        </p:grpSpPr>
        <p:pic>
          <p:nvPicPr>
            <p:cNvPr id="37069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 y="799"/>
              <a:ext cx="4264" cy="2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069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 y="386"/>
              <a:ext cx="4309" cy="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EC3BB638-A7AA-44FB-83B8-8AA5AD0BD4CC}" type="slidenum">
              <a:rPr lang="en-US" altLang="zh-CN"/>
            </a:fld>
            <a:endParaRPr lang="en-US" altLang="zh-CN"/>
          </a:p>
        </p:txBody>
      </p:sp>
      <p:sp>
        <p:nvSpPr>
          <p:cNvPr id="307202" name="Rectangle 2"/>
          <p:cNvSpPr>
            <a:spLocks noGrp="1" noChangeArrowheads="1"/>
          </p:cNvSpPr>
          <p:nvPr>
            <p:ph type="title"/>
          </p:nvPr>
        </p:nvSpPr>
        <p:spPr/>
        <p:txBody>
          <a:bodyPr/>
          <a:lstStyle/>
          <a:p>
            <a:r>
              <a:rPr lang="en-US" altLang="zh-CN" sz="3000"/>
              <a:t>8.1.2  </a:t>
            </a:r>
            <a:r>
              <a:rPr lang="zh-CN" altLang="en-US" sz="3000">
                <a:latin typeface="新宋体" panose="02010609030101010101" charset="-122"/>
                <a:ea typeface="新宋体" panose="02010609030101010101" charset="-122"/>
              </a:rPr>
              <a:t>随机存取存储程序机</a:t>
            </a:r>
            <a:r>
              <a:rPr lang="en-US" altLang="zh-CN" sz="3000">
                <a:latin typeface="新宋体" panose="02010609030101010101" charset="-122"/>
                <a:ea typeface="新宋体" panose="02010609030101010101" charset="-122"/>
              </a:rPr>
              <a:t>RASP</a:t>
            </a:r>
            <a:endParaRPr lang="zh-CN" altLang="en-US" sz="3000">
              <a:latin typeface="新宋体" panose="02010609030101010101" charset="-122"/>
              <a:ea typeface="新宋体" panose="02010609030101010101" charset="-122"/>
            </a:endParaRPr>
          </a:p>
        </p:txBody>
      </p:sp>
      <p:sp>
        <p:nvSpPr>
          <p:cNvPr id="307203" name="Text Box 3"/>
          <p:cNvSpPr txBox="1">
            <a:spLocks noChangeArrowheads="1"/>
          </p:cNvSpPr>
          <p:nvPr/>
        </p:nvSpPr>
        <p:spPr bwMode="auto">
          <a:xfrm>
            <a:off x="593725" y="1676400"/>
            <a:ext cx="35210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en-US" altLang="zh-CN" sz="3200" b="1">
                <a:solidFill>
                  <a:schemeClr val="accent2"/>
                </a:solidFill>
                <a:latin typeface="Times New Roman" panose="02020603050405020304" pitchFamily="18" charset="0"/>
                <a:ea typeface="黑体" panose="02010609060101010101" pitchFamily="2" charset="-122"/>
              </a:rPr>
              <a:t>1、</a:t>
            </a:r>
            <a:r>
              <a:rPr lang="en-US" altLang="zh-CN" sz="3200" b="1">
                <a:solidFill>
                  <a:schemeClr val="accent2"/>
                </a:solidFill>
                <a:latin typeface="新宋体" panose="02010609030101010101" charset="-122"/>
                <a:ea typeface="新宋体" panose="02010609030101010101" charset="-122"/>
              </a:rPr>
              <a:t>RASP</a:t>
            </a:r>
            <a:r>
              <a:rPr lang="zh-CN" altLang="en-US" sz="3200" b="1">
                <a:solidFill>
                  <a:schemeClr val="accent2"/>
                </a:solidFill>
                <a:latin typeface="新宋体" panose="02010609030101010101" charset="-122"/>
                <a:ea typeface="新宋体" panose="02010609030101010101" charset="-122"/>
              </a:rPr>
              <a:t>的结构</a:t>
            </a:r>
            <a:endParaRPr lang="en-US" altLang="zh-CN" sz="3200" b="1">
              <a:solidFill>
                <a:schemeClr val="accent2"/>
              </a:solidFill>
              <a:latin typeface="新宋体" panose="02010609030101010101" charset="-122"/>
              <a:ea typeface="新宋体" panose="02010609030101010101" charset="-122"/>
            </a:endParaRPr>
          </a:p>
        </p:txBody>
      </p:sp>
      <p:sp>
        <p:nvSpPr>
          <p:cNvPr id="307204" name="Text Box 4"/>
          <p:cNvSpPr txBox="1">
            <a:spLocks noChangeArrowheads="1"/>
          </p:cNvSpPr>
          <p:nvPr/>
        </p:nvSpPr>
        <p:spPr bwMode="auto">
          <a:xfrm>
            <a:off x="304800" y="2314575"/>
            <a:ext cx="871855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lang="en-US" altLang="zh-CN" sz="2400">
                <a:latin typeface="新宋体" panose="02010609030101010101" charset="-122"/>
                <a:ea typeface="新宋体" panose="02010609030101010101" charset="-122"/>
              </a:rPr>
              <a:t>	RASP</a:t>
            </a:r>
            <a:r>
              <a:rPr lang="zh-CN" altLang="en-US" sz="2400">
                <a:latin typeface="新宋体" panose="02010609030101010101" charset="-122"/>
                <a:ea typeface="新宋体" panose="02010609030101010101" charset="-122"/>
              </a:rPr>
              <a:t>的整体结构类似于</a:t>
            </a:r>
            <a:r>
              <a:rPr lang="en-US" altLang="zh-CN" sz="2400">
                <a:latin typeface="新宋体" panose="02010609030101010101" charset="-122"/>
                <a:ea typeface="新宋体" panose="02010609030101010101" charset="-122"/>
              </a:rPr>
              <a:t>RAM，</a:t>
            </a:r>
            <a:r>
              <a:rPr lang="zh-CN" altLang="en-US" sz="2400">
                <a:latin typeface="新宋体" panose="02010609030101010101" charset="-122"/>
                <a:ea typeface="新宋体" panose="02010609030101010101" charset="-122"/>
              </a:rPr>
              <a:t>所不同的是</a:t>
            </a:r>
            <a:r>
              <a:rPr lang="en-US" altLang="zh-CN" sz="2400">
                <a:latin typeface="新宋体" panose="02010609030101010101" charset="-122"/>
                <a:ea typeface="新宋体" panose="02010609030101010101" charset="-122"/>
              </a:rPr>
              <a:t>RASP</a:t>
            </a:r>
            <a:r>
              <a:rPr lang="zh-CN" altLang="en-US" sz="2400">
                <a:latin typeface="新宋体" panose="02010609030101010101" charset="-122"/>
                <a:ea typeface="新宋体" panose="02010609030101010101" charset="-122"/>
              </a:rPr>
              <a:t>的程序是存</a:t>
            </a:r>
            <a:endParaRPr lang="zh-CN" altLang="en-US"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储在寄存器中的。每条</a:t>
            </a:r>
            <a:r>
              <a:rPr lang="en-US" altLang="zh-CN" sz="2400">
                <a:latin typeface="新宋体" panose="02010609030101010101" charset="-122"/>
                <a:ea typeface="新宋体" panose="02010609030101010101" charset="-122"/>
              </a:rPr>
              <a:t>RASP</a:t>
            </a:r>
            <a:r>
              <a:rPr lang="zh-CN" altLang="en-US" sz="2400">
                <a:latin typeface="新宋体" panose="02010609030101010101" charset="-122"/>
                <a:ea typeface="新宋体" panose="02010609030101010101" charset="-122"/>
              </a:rPr>
              <a:t>指令占据2个连续的寄存器。第一个</a:t>
            </a:r>
            <a:endParaRPr lang="zh-CN" altLang="en-US"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寄存器存放操作码的编码，第二个寄存器存放地址。</a:t>
            </a:r>
            <a:r>
              <a:rPr lang="en-US" altLang="zh-CN" sz="2400">
                <a:latin typeface="新宋体" panose="02010609030101010101" charset="-122"/>
                <a:ea typeface="新宋体" panose="02010609030101010101" charset="-122"/>
              </a:rPr>
              <a:t>RASP</a:t>
            </a:r>
            <a:r>
              <a:rPr lang="zh-CN" altLang="en-US" sz="2400">
                <a:latin typeface="新宋体" panose="02010609030101010101" charset="-122"/>
                <a:ea typeface="新宋体" panose="02010609030101010101" charset="-122"/>
              </a:rPr>
              <a:t>指令用</a:t>
            </a:r>
            <a:endParaRPr lang="zh-CN" altLang="en-US"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整数进行编码。  </a:t>
            </a:r>
            <a:endParaRPr lang="zh-CN" altLang="en-US" sz="2400">
              <a:latin typeface="新宋体" panose="02010609030101010101" charset="-122"/>
              <a:ea typeface="新宋体" panose="02010609030101010101" charset="-122"/>
            </a:endParaRPr>
          </a:p>
        </p:txBody>
      </p:sp>
      <p:pic>
        <p:nvPicPr>
          <p:cNvPr id="307207"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92275" y="3933825"/>
            <a:ext cx="554355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7203"/>
                                        </p:tgtEl>
                                        <p:attrNameLst>
                                          <p:attrName>style.visibility</p:attrName>
                                        </p:attrNameLst>
                                      </p:cBhvr>
                                      <p:to>
                                        <p:strVal val="visible"/>
                                      </p:to>
                                    </p:set>
                                    <p:animEffect transition="in" filter="blinds(horizontal)">
                                      <p:cBhvr>
                                        <p:cTn id="7" dur="500"/>
                                        <p:tgtEl>
                                          <p:spTgt spid="30720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07204"/>
                                        </p:tgtEl>
                                        <p:attrNameLst>
                                          <p:attrName>style.visibility</p:attrName>
                                        </p:attrNameLst>
                                      </p:cBhvr>
                                      <p:to>
                                        <p:strVal val="visible"/>
                                      </p:to>
                                    </p:set>
                                    <p:animEffect transition="in" filter="blinds(horizontal)">
                                      <p:cBhvr>
                                        <p:cTn id="12" dur="500"/>
                                        <p:tgtEl>
                                          <p:spTgt spid="307204"/>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307207"/>
                                        </p:tgtEl>
                                        <p:attrNameLst>
                                          <p:attrName>style.visibility</p:attrName>
                                        </p:attrNameLst>
                                      </p:cBhvr>
                                      <p:to>
                                        <p:strVal val="visible"/>
                                      </p:to>
                                    </p:set>
                                    <p:animEffect transition="in" filter="slide(fromBottom)">
                                      <p:cBhvr>
                                        <p:cTn id="17" dur="500"/>
                                        <p:tgtEl>
                                          <p:spTgt spid="307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03" grpId="0" autoUpdateAnimBg="0"/>
      <p:bldP spid="307204"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73463197-1CE1-4A48-985C-4747C37E65BF}" type="slidenum">
              <a:rPr lang="en-US" altLang="zh-CN"/>
            </a:fld>
            <a:endParaRPr lang="en-US" altLang="zh-CN"/>
          </a:p>
        </p:txBody>
      </p:sp>
      <p:sp>
        <p:nvSpPr>
          <p:cNvPr id="372738" name="Rectangle 2"/>
          <p:cNvSpPr>
            <a:spLocks noGrp="1" noChangeArrowheads="1"/>
          </p:cNvSpPr>
          <p:nvPr>
            <p:ph type="title"/>
          </p:nvPr>
        </p:nvSpPr>
        <p:spPr/>
        <p:txBody>
          <a:bodyPr/>
          <a:lstStyle/>
          <a:p>
            <a:r>
              <a:rPr lang="zh-CN" altLang="en-US" sz="3000">
                <a:latin typeface="新宋体" panose="02010609030101010101" charset="-122"/>
                <a:ea typeface="新宋体" panose="02010609030101010101" charset="-122"/>
              </a:rPr>
              <a:t>随机存取存储程序机</a:t>
            </a:r>
            <a:r>
              <a:rPr lang="en-US" altLang="zh-CN" sz="3000">
                <a:latin typeface="新宋体" panose="02010609030101010101" charset="-122"/>
                <a:ea typeface="新宋体" panose="02010609030101010101" charset="-122"/>
              </a:rPr>
              <a:t>RASP</a:t>
            </a:r>
            <a:endParaRPr lang="zh-CN" altLang="en-US" sz="3000">
              <a:latin typeface="新宋体" panose="02010609030101010101" charset="-122"/>
              <a:ea typeface="新宋体" panose="02010609030101010101" charset="-122"/>
            </a:endParaRPr>
          </a:p>
        </p:txBody>
      </p:sp>
      <p:sp>
        <p:nvSpPr>
          <p:cNvPr id="372739" name="Rectangle 3"/>
          <p:cNvSpPr>
            <a:spLocks noGrp="1" noChangeArrowheads="1"/>
          </p:cNvSpPr>
          <p:nvPr>
            <p:ph type="body" idx="1"/>
          </p:nvPr>
        </p:nvSpPr>
        <p:spPr>
          <a:xfrm>
            <a:off x="457200" y="4292600"/>
            <a:ext cx="8229600" cy="2160588"/>
          </a:xfrm>
        </p:spPr>
        <p:txBody>
          <a:bodyPr/>
          <a:lstStyle/>
          <a:p>
            <a:pPr>
              <a:lnSpc>
                <a:spcPct val="90000"/>
              </a:lnSpc>
            </a:pPr>
            <a:r>
              <a:rPr lang="zh-CN" altLang="en-US"/>
              <a:t>见书上例子：</a:t>
            </a:r>
            <a:endParaRPr lang="zh-CN" altLang="en-US"/>
          </a:p>
          <a:p>
            <a:pPr lvl="1">
              <a:lnSpc>
                <a:spcPct val="90000"/>
              </a:lnSpc>
            </a:pPr>
            <a:r>
              <a:rPr lang="zh-CN" altLang="en-US"/>
              <a:t>通过对</a:t>
            </a:r>
            <a:r>
              <a:rPr lang="en-US" altLang="zh-CN"/>
              <a:t>RAM</a:t>
            </a:r>
            <a:r>
              <a:rPr lang="zh-CN" altLang="en-US"/>
              <a:t>指令的模拟构造一个占据</a:t>
            </a:r>
            <a:r>
              <a:rPr lang="en-US" altLang="zh-CN"/>
              <a:t>RASP</a:t>
            </a:r>
            <a:r>
              <a:rPr lang="zh-CN" altLang="en-US"/>
              <a:t>的</a:t>
            </a:r>
            <a:r>
              <a:rPr lang="en-US" altLang="zh-CN"/>
              <a:t>r-1</a:t>
            </a:r>
            <a:r>
              <a:rPr lang="zh-CN" altLang="en-US"/>
              <a:t>个寄存器的相应</a:t>
            </a:r>
            <a:r>
              <a:rPr lang="en-US" altLang="zh-CN"/>
              <a:t>RASP</a:t>
            </a:r>
            <a:r>
              <a:rPr lang="zh-CN" altLang="en-US"/>
              <a:t>程序</a:t>
            </a:r>
            <a:r>
              <a:rPr lang="en-US" altLang="zh-CN"/>
              <a:t>P</a:t>
            </a:r>
            <a:r>
              <a:rPr lang="en-US" altLang="zh-CN" baseline="-25000"/>
              <a:t>s</a:t>
            </a:r>
            <a:r>
              <a:rPr lang="zh-CN" altLang="en-US"/>
              <a:t>。</a:t>
            </a:r>
            <a:endParaRPr lang="zh-CN" altLang="en-US"/>
          </a:p>
          <a:p>
            <a:pPr lvl="2">
              <a:lnSpc>
                <a:spcPct val="90000"/>
              </a:lnSpc>
            </a:pPr>
            <a:r>
              <a:rPr lang="zh-CN" altLang="en-US"/>
              <a:t>模拟</a:t>
            </a:r>
            <a:r>
              <a:rPr lang="en-US" altLang="zh-CN"/>
              <a:t>RAM</a:t>
            </a:r>
            <a:r>
              <a:rPr lang="zh-CN" altLang="en-US"/>
              <a:t>命令</a:t>
            </a:r>
            <a:r>
              <a:rPr lang="en-US" altLang="zh-CN"/>
              <a:t>SUB *i</a:t>
            </a:r>
            <a:r>
              <a:rPr lang="zh-CN" altLang="en-US"/>
              <a:t>需要</a:t>
            </a:r>
            <a:r>
              <a:rPr lang="en-US" altLang="zh-CN"/>
              <a:t>6</a:t>
            </a:r>
            <a:r>
              <a:rPr lang="zh-CN" altLang="en-US"/>
              <a:t>条</a:t>
            </a:r>
            <a:r>
              <a:rPr lang="en-US" altLang="zh-CN"/>
              <a:t>RASP</a:t>
            </a:r>
            <a:r>
              <a:rPr lang="zh-CN" altLang="en-US"/>
              <a:t>指令。</a:t>
            </a:r>
            <a:endParaRPr lang="zh-CN" altLang="en-US"/>
          </a:p>
          <a:p>
            <a:pPr lvl="1">
              <a:lnSpc>
                <a:spcPct val="90000"/>
              </a:lnSpc>
            </a:pPr>
            <a:r>
              <a:rPr lang="zh-CN" altLang="en-US"/>
              <a:t>用</a:t>
            </a:r>
            <a:r>
              <a:rPr lang="en-US" altLang="zh-CN"/>
              <a:t>RAM</a:t>
            </a:r>
            <a:r>
              <a:rPr lang="zh-CN" altLang="en-US"/>
              <a:t>程序模拟</a:t>
            </a:r>
            <a:r>
              <a:rPr lang="en-US" altLang="zh-CN"/>
              <a:t>RASP</a:t>
            </a:r>
            <a:r>
              <a:rPr lang="zh-CN" altLang="en-US"/>
              <a:t>程序</a:t>
            </a:r>
            <a:endParaRPr lang="zh-CN" altLang="en-US"/>
          </a:p>
        </p:txBody>
      </p:sp>
      <p:sp>
        <p:nvSpPr>
          <p:cNvPr id="372740" name="Text Box 4"/>
          <p:cNvSpPr txBox="1">
            <a:spLocks noChangeArrowheads="1"/>
          </p:cNvSpPr>
          <p:nvPr/>
        </p:nvSpPr>
        <p:spPr bwMode="auto">
          <a:xfrm>
            <a:off x="468313" y="1700213"/>
            <a:ext cx="45878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en-US" altLang="zh-CN" sz="3200" b="1">
                <a:solidFill>
                  <a:schemeClr val="accent2"/>
                </a:solidFill>
                <a:latin typeface="Times New Roman" panose="02020603050405020304" pitchFamily="18" charset="0"/>
                <a:ea typeface="黑体" panose="02010609060101010101" pitchFamily="2" charset="-122"/>
              </a:rPr>
              <a:t>2、</a:t>
            </a:r>
            <a:r>
              <a:rPr lang="en-US" altLang="zh-CN" sz="3200" b="1">
                <a:solidFill>
                  <a:schemeClr val="accent2"/>
                </a:solidFill>
                <a:latin typeface="新宋体" panose="02010609030101010101" charset="-122"/>
                <a:ea typeface="新宋体" panose="02010609030101010101" charset="-122"/>
              </a:rPr>
              <a:t>RASP</a:t>
            </a:r>
            <a:r>
              <a:rPr lang="zh-CN" altLang="en-US" sz="3200" b="1">
                <a:solidFill>
                  <a:schemeClr val="accent2"/>
                </a:solidFill>
                <a:latin typeface="新宋体" panose="02010609030101010101" charset="-122"/>
                <a:ea typeface="新宋体" panose="02010609030101010101" charset="-122"/>
              </a:rPr>
              <a:t>程序的复杂性</a:t>
            </a:r>
            <a:endParaRPr lang="en-US" altLang="zh-CN" sz="3200" b="1">
              <a:solidFill>
                <a:schemeClr val="accent2"/>
              </a:solidFill>
              <a:latin typeface="新宋体" panose="02010609030101010101" charset="-122"/>
              <a:ea typeface="新宋体" panose="02010609030101010101" charset="-122"/>
            </a:endParaRPr>
          </a:p>
        </p:txBody>
      </p:sp>
      <p:sp>
        <p:nvSpPr>
          <p:cNvPr id="372741" name="Text Box 5"/>
          <p:cNvSpPr txBox="1">
            <a:spLocks noChangeArrowheads="1"/>
          </p:cNvSpPr>
          <p:nvPr/>
        </p:nvSpPr>
        <p:spPr bwMode="auto">
          <a:xfrm>
            <a:off x="179388" y="2338388"/>
            <a:ext cx="871855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spAutoFit/>
          </a:bodyPr>
          <a:lstStyle/>
          <a:p>
            <a:r>
              <a:rPr lang="en-US" altLang="zh-CN" sz="2400">
                <a:latin typeface="新宋体" panose="02010609030101010101" charset="-122"/>
                <a:ea typeface="新宋体" panose="02010609030101010101" charset="-122"/>
              </a:rPr>
              <a:t>	</a:t>
            </a:r>
            <a:r>
              <a:rPr lang="zh-CN" altLang="en-US" sz="2400">
                <a:latin typeface="新宋体" panose="02010609030101010101" charset="-122"/>
                <a:ea typeface="新宋体" panose="02010609030101010101" charset="-122"/>
              </a:rPr>
              <a:t>不管是在均匀耗费标准下，还是在对数耗费标准下，</a:t>
            </a:r>
            <a:r>
              <a:rPr lang="en-US" altLang="zh-CN" sz="2400">
                <a:latin typeface="新宋体" panose="02010609030101010101" charset="-122"/>
                <a:ea typeface="新宋体" panose="02010609030101010101" charset="-122"/>
              </a:rPr>
              <a:t>RAM</a:t>
            </a:r>
            <a:endParaRPr lang="en-US" altLang="zh-CN"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程序和</a:t>
            </a:r>
            <a:r>
              <a:rPr lang="en-US" altLang="zh-CN" sz="2400">
                <a:latin typeface="新宋体" panose="02010609030101010101" charset="-122"/>
                <a:ea typeface="新宋体" panose="02010609030101010101" charset="-122"/>
              </a:rPr>
              <a:t>RASP</a:t>
            </a:r>
            <a:r>
              <a:rPr lang="zh-CN" altLang="en-US" sz="2400">
                <a:latin typeface="新宋体" panose="02010609030101010101" charset="-122"/>
                <a:ea typeface="新宋体" panose="02010609030101010101" charset="-122"/>
              </a:rPr>
              <a:t>程序的复杂性只差一个常数因子。在一个计算模型下</a:t>
            </a:r>
            <a:endParaRPr lang="zh-CN" altLang="en-US" sz="2400">
              <a:latin typeface="新宋体" panose="02010609030101010101" charset="-122"/>
              <a:ea typeface="新宋体" panose="02010609030101010101" charset="-122"/>
            </a:endParaRPr>
          </a:p>
          <a:p>
            <a:r>
              <a:rPr lang="en-US" altLang="zh-CN" sz="2400">
                <a:latin typeface="新宋体" panose="02010609030101010101" charset="-122"/>
                <a:ea typeface="新宋体" panose="02010609030101010101" charset="-122"/>
              </a:rPr>
              <a:t>T(n)</a:t>
            </a:r>
            <a:r>
              <a:rPr lang="zh-CN" altLang="en-US" sz="2400">
                <a:latin typeface="新宋体" panose="02010609030101010101" charset="-122"/>
                <a:ea typeface="新宋体" panose="02010609030101010101" charset="-122"/>
              </a:rPr>
              <a:t>时间内完成的输入-输出映射可在另一个计算模型下模拟，</a:t>
            </a:r>
            <a:endParaRPr lang="zh-CN" altLang="en-US"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并在</a:t>
            </a:r>
            <a:r>
              <a:rPr lang="en-US" altLang="zh-CN" sz="2400">
                <a:latin typeface="新宋体" panose="02010609030101010101" charset="-122"/>
                <a:ea typeface="新宋体" panose="02010609030101010101" charset="-122"/>
              </a:rPr>
              <a:t>kT(n)</a:t>
            </a:r>
            <a:r>
              <a:rPr lang="zh-CN" altLang="en-US" sz="2400">
                <a:latin typeface="新宋体" panose="02010609030101010101" charset="-122"/>
                <a:ea typeface="新宋体" panose="02010609030101010101" charset="-122"/>
              </a:rPr>
              <a:t>时间内完成。其中</a:t>
            </a:r>
            <a:r>
              <a:rPr lang="en-US" altLang="zh-CN" sz="2400">
                <a:latin typeface="新宋体" panose="02010609030101010101" charset="-122"/>
                <a:ea typeface="新宋体" panose="02010609030101010101" charset="-122"/>
              </a:rPr>
              <a:t>k</a:t>
            </a:r>
            <a:r>
              <a:rPr lang="zh-CN" altLang="en-US" sz="2400">
                <a:latin typeface="新宋体" panose="02010609030101010101" charset="-122"/>
                <a:ea typeface="新宋体" panose="02010609030101010101" charset="-122"/>
              </a:rPr>
              <a:t>是一个常数因子。空间复杂性的情</a:t>
            </a:r>
            <a:endParaRPr lang="zh-CN" altLang="en-US"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况也是类似的。 </a:t>
            </a:r>
            <a:endParaRPr lang="zh-CN" altLang="en-US" sz="2400">
              <a:latin typeface="新宋体" panose="02010609030101010101" charset="-122"/>
              <a:ea typeface="新宋体" panose="0201060903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2740"/>
                                        </p:tgtEl>
                                        <p:attrNameLst>
                                          <p:attrName>style.visibility</p:attrName>
                                        </p:attrNameLst>
                                      </p:cBhvr>
                                      <p:to>
                                        <p:strVal val="visible"/>
                                      </p:to>
                                    </p:set>
                                    <p:animEffect transition="in" filter="blinds(horizontal)">
                                      <p:cBhvr>
                                        <p:cTn id="7" dur="500"/>
                                        <p:tgtEl>
                                          <p:spTgt spid="37274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72741"/>
                                        </p:tgtEl>
                                        <p:attrNameLst>
                                          <p:attrName>style.visibility</p:attrName>
                                        </p:attrNameLst>
                                      </p:cBhvr>
                                      <p:to>
                                        <p:strVal val="visible"/>
                                      </p:to>
                                    </p:set>
                                    <p:animEffect transition="in" filter="blinds(horizontal)">
                                      <p:cBhvr>
                                        <p:cTn id="12" dur="500"/>
                                        <p:tgtEl>
                                          <p:spTgt spid="372741"/>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72739">
                                            <p:txEl>
                                              <p:pRg st="4294967295" end="4294967295"/>
                                            </p:txEl>
                                          </p:spTgt>
                                        </p:tgtEl>
                                        <p:attrNameLst>
                                          <p:attrName>style.visibility</p:attrName>
                                        </p:attrNameLst>
                                      </p:cBhvr>
                                      <p:to>
                                        <p:strVal val="visible"/>
                                      </p:to>
                                    </p:set>
                                    <p:anim calcmode="lin" valueType="num">
                                      <p:cBhvr additive="base">
                                        <p:cTn id="17" dur="500" fill="hold"/>
                                        <p:tgtEl>
                                          <p:spTgt spid="372739">
                                            <p:txEl>
                                              <p:pRg st="4294967295" end="429496729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72739">
                                            <p:txEl>
                                              <p:pRg st="4294967295" end="4294967295"/>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72739">
                                            <p:txEl>
                                              <p:pRg st="0" end="0"/>
                                            </p:txEl>
                                          </p:spTgt>
                                        </p:tgtEl>
                                        <p:attrNameLst>
                                          <p:attrName>style.visibility</p:attrName>
                                        </p:attrNameLst>
                                      </p:cBhvr>
                                      <p:to>
                                        <p:strVal val="visible"/>
                                      </p:to>
                                    </p:set>
                                    <p:anim calcmode="lin" valueType="num">
                                      <p:cBhvr additive="base">
                                        <p:cTn id="23" dur="500" fill="hold"/>
                                        <p:tgtEl>
                                          <p:spTgt spid="372739">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72739">
                                            <p:txEl>
                                              <p:pRg st="0" end="0"/>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72739">
                                            <p:txEl>
                                              <p:pRg st="1" end="1"/>
                                            </p:txEl>
                                          </p:spTgt>
                                        </p:tgtEl>
                                        <p:attrNameLst>
                                          <p:attrName>style.visibility</p:attrName>
                                        </p:attrNameLst>
                                      </p:cBhvr>
                                      <p:to>
                                        <p:strVal val="visible"/>
                                      </p:to>
                                    </p:set>
                                    <p:anim calcmode="lin" valueType="num">
                                      <p:cBhvr additive="base">
                                        <p:cTn id="27" dur="500" fill="hold"/>
                                        <p:tgtEl>
                                          <p:spTgt spid="372739">
                                            <p:txEl>
                                              <p:pRg st="1" end="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72739">
                                            <p:txEl>
                                              <p:pRg st="1" end="1"/>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72739">
                                            <p:txEl>
                                              <p:pRg st="2" end="2"/>
                                            </p:txEl>
                                          </p:spTgt>
                                        </p:tgtEl>
                                        <p:attrNameLst>
                                          <p:attrName>style.visibility</p:attrName>
                                        </p:attrNameLst>
                                      </p:cBhvr>
                                      <p:to>
                                        <p:strVal val="visible"/>
                                      </p:to>
                                    </p:set>
                                    <p:anim calcmode="lin" valueType="num">
                                      <p:cBhvr additive="base">
                                        <p:cTn id="31" dur="500" fill="hold"/>
                                        <p:tgtEl>
                                          <p:spTgt spid="372739">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72739">
                                            <p:txEl>
                                              <p:pRg st="2" end="2"/>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72739">
                                            <p:txEl>
                                              <p:pRg st="3" end="3"/>
                                            </p:txEl>
                                          </p:spTgt>
                                        </p:tgtEl>
                                        <p:attrNameLst>
                                          <p:attrName>style.visibility</p:attrName>
                                        </p:attrNameLst>
                                      </p:cBhvr>
                                      <p:to>
                                        <p:strVal val="visible"/>
                                      </p:to>
                                    </p:set>
                                    <p:anim calcmode="lin" valueType="num">
                                      <p:cBhvr additive="base">
                                        <p:cTn id="35" dur="500" fill="hold"/>
                                        <p:tgtEl>
                                          <p:spTgt spid="372739">
                                            <p:txEl>
                                              <p:pRg st="3" end="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7273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2739" grpId="0" build="p"/>
      <p:bldP spid="372740" grpId="0" autoUpdateAnimBg="0"/>
      <p:bldP spid="372741"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4C4BB622-D1DE-47D5-B2A5-E798EE988D07}" type="slidenum">
              <a:rPr lang="en-US" altLang="zh-CN"/>
            </a:fld>
            <a:endParaRPr lang="en-US" altLang="zh-CN"/>
          </a:p>
        </p:txBody>
      </p:sp>
      <p:sp>
        <p:nvSpPr>
          <p:cNvPr id="373762" name="Rectangle 2"/>
          <p:cNvSpPr>
            <a:spLocks noGrp="1" noChangeArrowheads="1"/>
          </p:cNvSpPr>
          <p:nvPr>
            <p:ph type="title"/>
          </p:nvPr>
        </p:nvSpPr>
        <p:spPr/>
        <p:txBody>
          <a:bodyPr/>
          <a:lstStyle/>
          <a:p>
            <a:r>
              <a:rPr lang="zh-CN" altLang="en-US" sz="3000">
                <a:latin typeface="新宋体" panose="02010609030101010101" charset="-122"/>
                <a:ea typeface="新宋体" panose="02010609030101010101" charset="-122"/>
              </a:rPr>
              <a:t>随机存取存储程序机</a:t>
            </a:r>
            <a:r>
              <a:rPr lang="en-US" altLang="zh-CN" sz="3000">
                <a:latin typeface="新宋体" panose="02010609030101010101" charset="-122"/>
                <a:ea typeface="新宋体" panose="02010609030101010101" charset="-122"/>
              </a:rPr>
              <a:t>RASP</a:t>
            </a:r>
            <a:endParaRPr lang="zh-CN" altLang="en-US" sz="3000">
              <a:latin typeface="新宋体" panose="02010609030101010101" charset="-122"/>
              <a:ea typeface="新宋体" panose="02010609030101010101" charset="-122"/>
            </a:endParaRPr>
          </a:p>
        </p:txBody>
      </p:sp>
      <p:sp>
        <p:nvSpPr>
          <p:cNvPr id="373763" name="Rectangle 3"/>
          <p:cNvSpPr>
            <a:spLocks noGrp="1" noChangeArrowheads="1"/>
          </p:cNvSpPr>
          <p:nvPr>
            <p:ph type="body" idx="1"/>
          </p:nvPr>
        </p:nvSpPr>
        <p:spPr>
          <a:xfrm>
            <a:off x="457200" y="1719263"/>
            <a:ext cx="8229600" cy="4733925"/>
          </a:xfrm>
        </p:spPr>
        <p:txBody>
          <a:bodyPr/>
          <a:lstStyle/>
          <a:p>
            <a:r>
              <a:rPr lang="zh-CN" altLang="en-US" sz="2600"/>
              <a:t>定理</a:t>
            </a:r>
            <a:r>
              <a:rPr lang="en-US" altLang="zh-CN" sz="2600"/>
              <a:t>8.1</a:t>
            </a:r>
            <a:endParaRPr lang="en-US" altLang="zh-CN" sz="2600"/>
          </a:p>
          <a:p>
            <a:pPr lvl="1"/>
            <a:r>
              <a:rPr lang="zh-CN" altLang="en-US" sz="2200"/>
              <a:t>不论在均匀耗费标准还是对数耗费标准下，对时间复杂性为</a:t>
            </a:r>
            <a:r>
              <a:rPr lang="en-US" altLang="zh-CN" sz="2200"/>
              <a:t>T(n)</a:t>
            </a:r>
            <a:r>
              <a:rPr lang="zh-CN" altLang="en-US" sz="2200"/>
              <a:t>的任一</a:t>
            </a:r>
            <a:r>
              <a:rPr lang="en-US" altLang="zh-CN" sz="2200"/>
              <a:t>RAM</a:t>
            </a:r>
            <a:r>
              <a:rPr lang="zh-CN" altLang="en-US" sz="2200"/>
              <a:t>程序，都存在一个时间复杂性为</a:t>
            </a:r>
            <a:r>
              <a:rPr lang="en-US" altLang="zh-CN" sz="2200"/>
              <a:t>kT(n)</a:t>
            </a:r>
            <a:r>
              <a:rPr lang="zh-CN" altLang="en-US" sz="2200"/>
              <a:t>的</a:t>
            </a:r>
            <a:r>
              <a:rPr lang="en-US" altLang="zh-CN" sz="2200"/>
              <a:t>RASP</a:t>
            </a:r>
            <a:r>
              <a:rPr lang="zh-CN" altLang="en-US" sz="2200"/>
              <a:t>程序与之等价，其中，</a:t>
            </a:r>
            <a:r>
              <a:rPr lang="en-US" altLang="zh-CN" sz="2200"/>
              <a:t>k</a:t>
            </a:r>
            <a:r>
              <a:rPr lang="zh-CN" altLang="en-US" sz="2200"/>
              <a:t>为一常数。</a:t>
            </a:r>
            <a:endParaRPr lang="zh-CN" altLang="en-US" sz="2200"/>
          </a:p>
          <a:p>
            <a:r>
              <a:rPr lang="zh-CN" altLang="en-US" sz="2600"/>
              <a:t>定理</a:t>
            </a:r>
            <a:r>
              <a:rPr lang="en-US" altLang="zh-CN" sz="2600"/>
              <a:t>8.2</a:t>
            </a:r>
            <a:endParaRPr lang="en-US" altLang="zh-CN" sz="2600"/>
          </a:p>
          <a:p>
            <a:pPr lvl="1"/>
            <a:r>
              <a:rPr lang="zh-CN" altLang="en-US" sz="2200"/>
              <a:t>不论在均匀耗费标准还是对数耗费标准下，对时间复杂性为</a:t>
            </a:r>
            <a:r>
              <a:rPr lang="en-US" altLang="zh-CN" sz="2200"/>
              <a:t>kT(n)</a:t>
            </a:r>
            <a:r>
              <a:rPr lang="zh-CN" altLang="en-US" sz="2200"/>
              <a:t>的任一</a:t>
            </a:r>
            <a:r>
              <a:rPr lang="en-US" altLang="zh-CN" sz="2200"/>
              <a:t>RASP</a:t>
            </a:r>
            <a:r>
              <a:rPr lang="zh-CN" altLang="en-US" sz="2200"/>
              <a:t> 程序，都存在一个时间复杂性为</a:t>
            </a:r>
            <a:r>
              <a:rPr lang="en-US" altLang="zh-CN" sz="2200"/>
              <a:t>T(n)</a:t>
            </a:r>
            <a:r>
              <a:rPr lang="zh-CN" altLang="en-US" sz="2200"/>
              <a:t>的</a:t>
            </a:r>
            <a:r>
              <a:rPr lang="en-US" altLang="zh-CN" sz="2200"/>
              <a:t>RAM</a:t>
            </a:r>
            <a:r>
              <a:rPr lang="zh-CN" altLang="en-US" sz="2200"/>
              <a:t>程序与之等价，其中，</a:t>
            </a:r>
            <a:r>
              <a:rPr lang="en-US" altLang="zh-CN" sz="2200"/>
              <a:t>k</a:t>
            </a:r>
            <a:r>
              <a:rPr lang="zh-CN" altLang="en-US" sz="2200"/>
              <a:t>为一常数。</a:t>
            </a:r>
            <a:endParaRPr lang="zh-CN" altLang="en-US" sz="2200"/>
          </a:p>
          <a:p>
            <a:pPr lvl="1"/>
            <a:endParaRPr lang="zh-CN" altLang="en-US" sz="2200"/>
          </a:p>
          <a:p>
            <a:r>
              <a:rPr lang="zh-CN" altLang="en-US" sz="2600" b="1">
                <a:solidFill>
                  <a:srgbClr val="CC0000"/>
                </a:solidFill>
              </a:rPr>
              <a:t>从计算复杂性的观点看，</a:t>
            </a:r>
            <a:r>
              <a:rPr lang="en-US" altLang="zh-CN" sz="2600" b="1">
                <a:solidFill>
                  <a:srgbClr val="CC0000"/>
                </a:solidFill>
              </a:rPr>
              <a:t>RAM</a:t>
            </a:r>
            <a:r>
              <a:rPr lang="zh-CN" altLang="en-US" sz="2600" b="1">
                <a:solidFill>
                  <a:srgbClr val="CC0000"/>
                </a:solidFill>
              </a:rPr>
              <a:t>计算模型和</a:t>
            </a:r>
            <a:r>
              <a:rPr lang="en-US" altLang="zh-CN" sz="2600" b="1">
                <a:solidFill>
                  <a:srgbClr val="CC0000"/>
                </a:solidFill>
              </a:rPr>
              <a:t>RASP</a:t>
            </a:r>
            <a:r>
              <a:rPr lang="zh-CN" altLang="en-US" sz="2600" b="1">
                <a:solidFill>
                  <a:srgbClr val="CC0000"/>
                </a:solidFill>
              </a:rPr>
              <a:t>计算模型在相差一个常数因子的意义下是等价的。</a:t>
            </a:r>
            <a:endParaRPr lang="zh-CN" altLang="en-US" sz="2600" b="1">
              <a:solidFill>
                <a:srgbClr val="CC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73763">
                                            <p:txEl>
                                              <p:pRg st="0" end="0"/>
                                            </p:txEl>
                                          </p:spTgt>
                                        </p:tgtEl>
                                        <p:attrNameLst>
                                          <p:attrName>style.visibility</p:attrName>
                                        </p:attrNameLst>
                                      </p:cBhvr>
                                      <p:to>
                                        <p:strVal val="visible"/>
                                      </p:to>
                                    </p:set>
                                    <p:animEffect transition="in" filter="slide(fromBottom)">
                                      <p:cBhvr>
                                        <p:cTn id="7" dur="500"/>
                                        <p:tgtEl>
                                          <p:spTgt spid="373763">
                                            <p:txEl>
                                              <p:pRg st="0" end="0"/>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373763">
                                            <p:txEl>
                                              <p:pRg st="1" end="1"/>
                                            </p:txEl>
                                          </p:spTgt>
                                        </p:tgtEl>
                                        <p:attrNameLst>
                                          <p:attrName>style.visibility</p:attrName>
                                        </p:attrNameLst>
                                      </p:cBhvr>
                                      <p:to>
                                        <p:strVal val="visible"/>
                                      </p:to>
                                    </p:set>
                                    <p:animEffect transition="in" filter="slide(fromBottom)">
                                      <p:cBhvr>
                                        <p:cTn id="10" dur="500"/>
                                        <p:tgtEl>
                                          <p:spTgt spid="373763">
                                            <p:txEl>
                                              <p:pRg st="1" end="1"/>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373763">
                                            <p:txEl>
                                              <p:pRg st="2" end="2"/>
                                            </p:txEl>
                                          </p:spTgt>
                                        </p:tgtEl>
                                        <p:attrNameLst>
                                          <p:attrName>style.visibility</p:attrName>
                                        </p:attrNameLst>
                                      </p:cBhvr>
                                      <p:to>
                                        <p:strVal val="visible"/>
                                      </p:to>
                                    </p:set>
                                    <p:animEffect transition="in" filter="slide(fromBottom)">
                                      <p:cBhvr>
                                        <p:cTn id="13" dur="500"/>
                                        <p:tgtEl>
                                          <p:spTgt spid="373763">
                                            <p:txEl>
                                              <p:pRg st="2" end="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373763">
                                            <p:txEl>
                                              <p:pRg st="3" end="3"/>
                                            </p:txEl>
                                          </p:spTgt>
                                        </p:tgtEl>
                                        <p:attrNameLst>
                                          <p:attrName>style.visibility</p:attrName>
                                        </p:attrNameLst>
                                      </p:cBhvr>
                                      <p:to>
                                        <p:strVal val="visible"/>
                                      </p:to>
                                    </p:set>
                                    <p:animEffect transition="in" filter="slide(fromBottom)">
                                      <p:cBhvr>
                                        <p:cTn id="16" dur="500"/>
                                        <p:tgtEl>
                                          <p:spTgt spid="37376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nodeType="clickEffect">
                                  <p:stCondLst>
                                    <p:cond delay="0"/>
                                  </p:stCondLst>
                                  <p:childTnLst>
                                    <p:set>
                                      <p:cBhvr>
                                        <p:cTn id="20" dur="1" fill="hold">
                                          <p:stCondLst>
                                            <p:cond delay="0"/>
                                          </p:stCondLst>
                                        </p:cTn>
                                        <p:tgtEl>
                                          <p:spTgt spid="373763">
                                            <p:txEl>
                                              <p:pRg st="5" end="5"/>
                                            </p:txEl>
                                          </p:spTgt>
                                        </p:tgtEl>
                                        <p:attrNameLst>
                                          <p:attrName>style.visibility</p:attrName>
                                        </p:attrNameLst>
                                      </p:cBhvr>
                                      <p:to>
                                        <p:strVal val="visible"/>
                                      </p:to>
                                    </p:set>
                                    <p:animEffect transition="in" filter="slide(fromBottom)">
                                      <p:cBhvr>
                                        <p:cTn id="21" dur="500"/>
                                        <p:tgtEl>
                                          <p:spTgt spid="3737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8E88A1B3-C3C1-4FE8-875E-F22FC93E6EBF}" type="slidenum">
              <a:rPr lang="en-US" altLang="zh-CN"/>
            </a:fld>
            <a:endParaRPr lang="en-US" altLang="zh-CN"/>
          </a:p>
        </p:txBody>
      </p:sp>
      <p:sp>
        <p:nvSpPr>
          <p:cNvPr id="374786" name="Rectangle 2"/>
          <p:cNvSpPr>
            <a:spLocks noGrp="1" noChangeArrowheads="1"/>
          </p:cNvSpPr>
          <p:nvPr>
            <p:ph type="title"/>
          </p:nvPr>
        </p:nvSpPr>
        <p:spPr/>
        <p:txBody>
          <a:bodyPr/>
          <a:lstStyle/>
          <a:p>
            <a:r>
              <a:rPr lang="en-US" altLang="zh-CN"/>
              <a:t>RAM</a:t>
            </a:r>
            <a:r>
              <a:rPr lang="zh-CN" altLang="en-US"/>
              <a:t>的种种变形</a:t>
            </a:r>
            <a:endParaRPr lang="zh-CN" altLang="en-US"/>
          </a:p>
        </p:txBody>
      </p:sp>
      <p:sp>
        <p:nvSpPr>
          <p:cNvPr id="374787" name="Rectangle 3"/>
          <p:cNvSpPr>
            <a:spLocks noGrp="1" noChangeArrowheads="1"/>
          </p:cNvSpPr>
          <p:nvPr>
            <p:ph type="body" idx="1"/>
          </p:nvPr>
        </p:nvSpPr>
        <p:spPr/>
        <p:txBody>
          <a:bodyPr/>
          <a:lstStyle/>
          <a:p>
            <a:r>
              <a:rPr lang="zh-CN" altLang="en-US"/>
              <a:t>实随机存取机</a:t>
            </a:r>
            <a:r>
              <a:rPr lang="en-US" altLang="zh-CN"/>
              <a:t>RRAM</a:t>
            </a:r>
            <a:endParaRPr lang="en-US" altLang="zh-CN"/>
          </a:p>
          <a:p>
            <a:r>
              <a:rPr lang="zh-CN" altLang="en-US"/>
              <a:t>直线式程序</a:t>
            </a:r>
            <a:r>
              <a:rPr lang="en-US" altLang="zh-CN"/>
              <a:t>(straight line programs)</a:t>
            </a:r>
            <a:endParaRPr lang="en-US" altLang="zh-CN"/>
          </a:p>
          <a:p>
            <a:r>
              <a:rPr lang="zh-CN" altLang="en-US"/>
              <a:t>位式计算</a:t>
            </a:r>
            <a:r>
              <a:rPr lang="en-US" altLang="zh-CN"/>
              <a:t>(bitwise computation)</a:t>
            </a:r>
            <a:endParaRPr lang="en-US" altLang="zh-CN"/>
          </a:p>
          <a:p>
            <a:r>
              <a:rPr lang="zh-CN" altLang="en-US"/>
              <a:t>位向量运算</a:t>
            </a:r>
            <a:r>
              <a:rPr lang="en-US" altLang="zh-CN"/>
              <a:t>(bit vector operations)</a:t>
            </a:r>
            <a:endParaRPr lang="en-US" altLang="zh-CN"/>
          </a:p>
          <a:p>
            <a:r>
              <a:rPr lang="zh-CN" altLang="en-US"/>
              <a:t>判定树</a:t>
            </a:r>
            <a:endParaRPr lang="zh-CN" altLang="en-US"/>
          </a:p>
          <a:p>
            <a:r>
              <a:rPr lang="zh-CN" altLang="en-US"/>
              <a:t>代数计算树</a:t>
            </a:r>
            <a:r>
              <a:rPr lang="en-US" altLang="zh-CN"/>
              <a:t>(ACT)</a:t>
            </a:r>
            <a:endParaRPr lang="en-US" altLang="zh-CN"/>
          </a:p>
          <a:p>
            <a:r>
              <a:rPr lang="zh-CN" altLang="en-US"/>
              <a:t>代数判定树</a:t>
            </a:r>
            <a:r>
              <a:rPr lang="en-US" altLang="zh-CN"/>
              <a:t>(ADT)</a:t>
            </a:r>
            <a:endParaRPr lang="en-US" altLang="zh-CN"/>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B38F8F38-0735-41C6-8C78-05A70A73296E}" type="slidenum">
              <a:rPr lang="en-US" altLang="zh-CN"/>
            </a:fld>
            <a:endParaRPr lang="en-US" altLang="zh-CN"/>
          </a:p>
        </p:txBody>
      </p:sp>
      <p:sp>
        <p:nvSpPr>
          <p:cNvPr id="315394" name="Rectangle 2"/>
          <p:cNvSpPr>
            <a:spLocks noGrp="1" noChangeArrowheads="1"/>
          </p:cNvSpPr>
          <p:nvPr>
            <p:ph type="title"/>
          </p:nvPr>
        </p:nvSpPr>
        <p:spPr/>
        <p:txBody>
          <a:bodyPr/>
          <a:lstStyle/>
          <a:p>
            <a:r>
              <a:rPr lang="en-US" altLang="zh-CN" sz="3000"/>
              <a:t>8.1.3 </a:t>
            </a:r>
            <a:r>
              <a:rPr lang="zh-CN" altLang="en-US" sz="3000">
                <a:latin typeface="新宋体" panose="02010609030101010101" charset="-122"/>
                <a:ea typeface="新宋体" panose="02010609030101010101" charset="-122"/>
              </a:rPr>
              <a:t>图灵机</a:t>
            </a:r>
            <a:endParaRPr lang="zh-CN" altLang="en-US" sz="3000">
              <a:latin typeface="新宋体" panose="02010609030101010101" charset="-122"/>
              <a:ea typeface="新宋体" panose="02010609030101010101" charset="-122"/>
            </a:endParaRPr>
          </a:p>
        </p:txBody>
      </p:sp>
      <p:pic>
        <p:nvPicPr>
          <p:cNvPr id="315396" name="Picture 4" descr="t8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600" y="2514600"/>
            <a:ext cx="6858000" cy="3556000"/>
          </a:xfrm>
          <a:prstGeom prst="rect">
            <a:avLst/>
          </a:prstGeom>
          <a:noFill/>
          <a:extLst>
            <a:ext uri="{909E8E84-426E-40DD-AFC4-6F175D3DCCD1}">
              <a14:hiddenFill xmlns:a14="http://schemas.microsoft.com/office/drawing/2010/main">
                <a:solidFill>
                  <a:srgbClr val="FFFFFF"/>
                </a:solidFill>
              </a14:hiddenFill>
            </a:ext>
          </a:extLst>
        </p:spPr>
      </p:pic>
      <p:sp>
        <p:nvSpPr>
          <p:cNvPr id="315397" name="Text Box 5"/>
          <p:cNvSpPr txBox="1">
            <a:spLocks noChangeArrowheads="1"/>
          </p:cNvSpPr>
          <p:nvPr/>
        </p:nvSpPr>
        <p:spPr bwMode="auto">
          <a:xfrm>
            <a:off x="3276600" y="1125538"/>
            <a:ext cx="42481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a:solidFill>
                  <a:srgbClr val="CC0000"/>
                </a:solidFill>
                <a:ea typeface="华文行楷" panose="02010800040101010101" pitchFamily="2" charset="-122"/>
              </a:rPr>
              <a:t>图灵机是一个结构简单且计算能力很强的计算模型。</a:t>
            </a:r>
            <a:endParaRPr lang="zh-CN" altLang="en-US" sz="2800">
              <a:solidFill>
                <a:srgbClr val="CC0000"/>
              </a:solidFill>
              <a:ea typeface="华文行楷" panose="020108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15396"/>
                                        </p:tgtEl>
                                        <p:attrNameLst>
                                          <p:attrName>style.visibility</p:attrName>
                                        </p:attrNameLst>
                                      </p:cBhvr>
                                      <p:to>
                                        <p:strVal val="visible"/>
                                      </p:to>
                                    </p:set>
                                    <p:animEffect transition="in" filter="dissolve">
                                      <p:cBhvr>
                                        <p:cTn id="7" dur="500"/>
                                        <p:tgtEl>
                                          <p:spTgt spid="315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D0B674DF-29C4-4108-8C1C-436D1725B6FD}" type="slidenum">
              <a:rPr lang="en-US" altLang="zh-CN"/>
            </a:fld>
            <a:endParaRPr lang="en-US" altLang="zh-CN"/>
          </a:p>
        </p:txBody>
      </p:sp>
      <p:sp>
        <p:nvSpPr>
          <p:cNvPr id="375810" name="Rectangle 2"/>
          <p:cNvSpPr>
            <a:spLocks noGrp="1" noChangeArrowheads="1"/>
          </p:cNvSpPr>
          <p:nvPr>
            <p:ph type="title"/>
          </p:nvPr>
        </p:nvSpPr>
        <p:spPr>
          <a:xfrm>
            <a:off x="323850" y="188913"/>
            <a:ext cx="8540750" cy="863600"/>
          </a:xfrm>
        </p:spPr>
        <p:txBody>
          <a:bodyPr/>
          <a:lstStyle/>
          <a:p>
            <a:r>
              <a:rPr lang="zh-CN" altLang="en-US"/>
              <a:t>图灵机</a:t>
            </a:r>
            <a:endParaRPr lang="zh-CN" altLang="en-US"/>
          </a:p>
        </p:txBody>
      </p:sp>
      <p:pic>
        <p:nvPicPr>
          <p:cNvPr id="375811" name="Picture 3" descr="File:Maquina.png">
            <a:hlinkClick r:id="rId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1196975"/>
            <a:ext cx="7620000" cy="4229100"/>
          </a:xfrm>
          <a:prstGeom prst="rect">
            <a:avLst/>
          </a:prstGeom>
          <a:solidFill>
            <a:srgbClr val="FFFFC5"/>
          </a:solidFill>
        </p:spPr>
      </p:pic>
      <p:sp>
        <p:nvSpPr>
          <p:cNvPr id="375812" name="Rectangle 4"/>
          <p:cNvSpPr>
            <a:spLocks noChangeArrowheads="1"/>
          </p:cNvSpPr>
          <p:nvPr/>
        </p:nvSpPr>
        <p:spPr bwMode="auto">
          <a:xfrm>
            <a:off x="755650" y="5589588"/>
            <a:ext cx="7632700"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a:t>图灵机（英语：</a:t>
            </a:r>
            <a:r>
              <a:rPr lang="en-US" altLang="zh-CN"/>
              <a:t>Turing Machine</a:t>
            </a:r>
            <a:r>
              <a:rPr lang="zh-CN" altLang="en-US"/>
              <a:t>，又称确定型图灵机）是英国数学家阿兰</a:t>
            </a:r>
            <a:r>
              <a:rPr lang="en-US" altLang="zh-CN"/>
              <a:t>·</a:t>
            </a:r>
            <a:r>
              <a:rPr lang="zh-CN" altLang="en-US"/>
              <a:t>图灵于</a:t>
            </a:r>
            <a:r>
              <a:rPr lang="en-US" altLang="zh-CN"/>
              <a:t>1936</a:t>
            </a:r>
            <a:r>
              <a:rPr lang="zh-CN" altLang="en-US"/>
              <a:t>年提出的一种抽象计算模型，其更抽象的意义为一种数学逻辑机，可以看作等价于任何有限逻辑数学过程的终极强大逻辑机器。</a:t>
            </a:r>
            <a:endParaRPr lang="zh-CN" altLang="en-US"/>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91262266-E12D-4631-BB10-0694B02BE306}" type="slidenum">
              <a:rPr lang="en-US" altLang="zh-CN"/>
            </a:fld>
            <a:endParaRPr lang="en-US" altLang="zh-CN"/>
          </a:p>
        </p:txBody>
      </p:sp>
      <p:sp>
        <p:nvSpPr>
          <p:cNvPr id="376834" name="Rectangle 2"/>
          <p:cNvSpPr>
            <a:spLocks noGrp="1" noChangeArrowheads="1"/>
          </p:cNvSpPr>
          <p:nvPr>
            <p:ph type="title"/>
          </p:nvPr>
        </p:nvSpPr>
        <p:spPr/>
        <p:txBody>
          <a:bodyPr/>
          <a:lstStyle/>
          <a:p>
            <a:r>
              <a:rPr lang="zh-CN" altLang="en-US"/>
              <a:t>图灵的基本思想 </a:t>
            </a:r>
            <a:endParaRPr lang="zh-CN" altLang="en-US"/>
          </a:p>
        </p:txBody>
      </p:sp>
      <p:sp>
        <p:nvSpPr>
          <p:cNvPr id="376835" name="Rectangle 3"/>
          <p:cNvSpPr>
            <a:spLocks noGrp="1" noChangeArrowheads="1"/>
          </p:cNvSpPr>
          <p:nvPr>
            <p:ph type="body" idx="1"/>
          </p:nvPr>
        </p:nvSpPr>
        <p:spPr/>
        <p:txBody>
          <a:bodyPr/>
          <a:lstStyle/>
          <a:p>
            <a:pPr marL="609600" indent="-609600">
              <a:lnSpc>
                <a:spcPct val="90000"/>
              </a:lnSpc>
            </a:pPr>
            <a:r>
              <a:rPr lang="zh-CN" altLang="en-US"/>
              <a:t>图灵的基本思想是用机器来模拟人们用纸笔进行数学运算的过程，他把这样的过程看作下列两种简单的动作：</a:t>
            </a:r>
            <a:endParaRPr lang="zh-CN" altLang="en-US"/>
          </a:p>
          <a:p>
            <a:pPr marL="609600" indent="-609600">
              <a:lnSpc>
                <a:spcPct val="90000"/>
              </a:lnSpc>
              <a:buFont typeface="Wingdings 2" panose="05020102010507070707" pitchFamily="18" charset="2"/>
              <a:buAutoNum type="arabicPeriod"/>
            </a:pPr>
            <a:r>
              <a:rPr lang="zh-CN" altLang="en-US"/>
              <a:t>在纸上写上或擦除某个符号； </a:t>
            </a:r>
            <a:endParaRPr lang="zh-CN" altLang="en-US"/>
          </a:p>
          <a:p>
            <a:pPr marL="609600" indent="-609600">
              <a:lnSpc>
                <a:spcPct val="90000"/>
              </a:lnSpc>
              <a:buFont typeface="Wingdings 2" panose="05020102010507070707" pitchFamily="18" charset="2"/>
              <a:buAutoNum type="arabicPeriod"/>
            </a:pPr>
            <a:r>
              <a:rPr lang="zh-CN" altLang="en-US"/>
              <a:t>把注意力从纸的一个位置移动到另一个位置； </a:t>
            </a:r>
            <a:endParaRPr lang="zh-CN" altLang="en-US"/>
          </a:p>
          <a:p>
            <a:pPr marL="609600" indent="-609600">
              <a:lnSpc>
                <a:spcPct val="90000"/>
              </a:lnSpc>
            </a:pPr>
            <a:r>
              <a:rPr lang="zh-CN" altLang="en-US"/>
              <a:t>而在每个阶段，人要决定下一步的动作，依赖于 </a:t>
            </a:r>
            <a:r>
              <a:rPr lang="en-US" altLang="zh-CN"/>
              <a:t>(a) </a:t>
            </a:r>
            <a:r>
              <a:rPr lang="zh-CN" altLang="en-US"/>
              <a:t>此人当前所关注的纸上某个位置的符号和</a:t>
            </a:r>
            <a:r>
              <a:rPr lang="en-US" altLang="zh-CN"/>
              <a:t>(b) </a:t>
            </a:r>
            <a:r>
              <a:rPr lang="zh-CN" altLang="en-US"/>
              <a:t>此人当前思维的状态。</a:t>
            </a:r>
            <a:endParaRPr lang="zh-CN" altLang="en-US"/>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C48E04F5-6DF4-41EE-AD1D-1C9BB79E1357}" type="slidenum">
              <a:rPr lang="en-US" altLang="zh-CN"/>
            </a:fld>
            <a:endParaRPr lang="en-US" altLang="zh-CN"/>
          </a:p>
        </p:txBody>
      </p:sp>
      <p:sp>
        <p:nvSpPr>
          <p:cNvPr id="377858" name="Rectangle 2"/>
          <p:cNvSpPr>
            <a:spLocks noGrp="1" noChangeArrowheads="1"/>
          </p:cNvSpPr>
          <p:nvPr>
            <p:ph type="body" idx="1"/>
          </p:nvPr>
        </p:nvSpPr>
        <p:spPr>
          <a:xfrm>
            <a:off x="323850" y="71438"/>
            <a:ext cx="8540750" cy="4652962"/>
          </a:xfrm>
          <a:solidFill>
            <a:schemeClr val="bg1"/>
          </a:solidFill>
        </p:spPr>
        <p:txBody>
          <a:bodyPr/>
          <a:lstStyle/>
          <a:p>
            <a:pPr>
              <a:lnSpc>
                <a:spcPct val="80000"/>
              </a:lnSpc>
            </a:pPr>
            <a:r>
              <a:rPr lang="zh-CN" altLang="en-US" sz="2100"/>
              <a:t>为了模拟人的这种运算过程，图灵构造出一台假想的机器，该机器由以下几个部分组成：</a:t>
            </a:r>
            <a:endParaRPr lang="zh-CN" altLang="en-US" sz="2100"/>
          </a:p>
          <a:p>
            <a:pPr lvl="1">
              <a:lnSpc>
                <a:spcPct val="80000"/>
              </a:lnSpc>
              <a:buFont typeface="Wingdings" panose="05000000000000000000" pitchFamily="2" charset="2"/>
              <a:buNone/>
            </a:pPr>
            <a:r>
              <a:rPr lang="en-US" altLang="zh-CN" sz="2000"/>
              <a:t>1.</a:t>
            </a:r>
            <a:r>
              <a:rPr lang="zh-CN" altLang="en-US" sz="2000"/>
              <a:t>一条无限长的纸带 </a:t>
            </a:r>
            <a:r>
              <a:rPr lang="en-US" altLang="zh-CN" sz="2000"/>
              <a:t>TAPE</a:t>
            </a:r>
            <a:r>
              <a:rPr lang="zh-CN" altLang="en-US" sz="2000"/>
              <a:t>。纸带被划分为一个接一个的小格子，每个格子上包含一个来自有限字母表的符号，字母表中有一个特殊的符号 表示空白。纸带上的格子从左到右依此被编号为 </a:t>
            </a:r>
            <a:r>
              <a:rPr lang="en-US" altLang="zh-CN" sz="2000"/>
              <a:t>0, 1, 2, ... </a:t>
            </a:r>
            <a:r>
              <a:rPr lang="zh-CN" altLang="en-US" sz="2000"/>
              <a:t>，纸带的右端可以无限伸展。 </a:t>
            </a:r>
            <a:endParaRPr lang="zh-CN" altLang="en-US" sz="2000"/>
          </a:p>
          <a:p>
            <a:pPr lvl="1">
              <a:lnSpc>
                <a:spcPct val="80000"/>
              </a:lnSpc>
              <a:buFont typeface="Wingdings" panose="05000000000000000000" pitchFamily="2" charset="2"/>
              <a:buNone/>
            </a:pPr>
            <a:r>
              <a:rPr lang="en-US" altLang="zh-CN" sz="2000"/>
              <a:t>2.</a:t>
            </a:r>
            <a:r>
              <a:rPr lang="zh-CN" altLang="en-US" sz="2000"/>
              <a:t>一个读写头 </a:t>
            </a:r>
            <a:r>
              <a:rPr lang="en-US" altLang="zh-CN" sz="2000"/>
              <a:t>HEAD</a:t>
            </a:r>
            <a:r>
              <a:rPr lang="zh-CN" altLang="en-US" sz="2000"/>
              <a:t>。该读写头可以在纸带上左右移动，它能读出当前所指的格子上的符号，并能改变当前格子上的符号。 </a:t>
            </a:r>
            <a:endParaRPr lang="zh-CN" altLang="en-US" sz="2000"/>
          </a:p>
          <a:p>
            <a:pPr lvl="1">
              <a:lnSpc>
                <a:spcPct val="80000"/>
              </a:lnSpc>
              <a:buFont typeface="Wingdings" panose="05000000000000000000" pitchFamily="2" charset="2"/>
              <a:buNone/>
            </a:pPr>
            <a:r>
              <a:rPr lang="en-US" altLang="zh-CN" sz="2000"/>
              <a:t>3.</a:t>
            </a:r>
            <a:r>
              <a:rPr lang="zh-CN" altLang="en-US" sz="2000"/>
              <a:t>一套控制规则 </a:t>
            </a:r>
            <a:r>
              <a:rPr lang="en-US" altLang="zh-CN" sz="2000"/>
              <a:t>TABLE</a:t>
            </a:r>
            <a:r>
              <a:rPr lang="zh-CN" altLang="en-US" sz="2000"/>
              <a:t>。它根据当前机器所处的状态以及当前读写头所指的格子上的符号来确定读写头下一步的动作，并改变状态寄存器的值，令机器进入一个新的状态。 </a:t>
            </a:r>
            <a:endParaRPr lang="zh-CN" altLang="en-US" sz="2000"/>
          </a:p>
          <a:p>
            <a:pPr lvl="1">
              <a:lnSpc>
                <a:spcPct val="80000"/>
              </a:lnSpc>
              <a:buFont typeface="Wingdings" panose="05000000000000000000" pitchFamily="2" charset="2"/>
              <a:buNone/>
            </a:pPr>
            <a:r>
              <a:rPr lang="en-US" altLang="zh-CN" sz="2000"/>
              <a:t>4.</a:t>
            </a:r>
            <a:r>
              <a:rPr lang="zh-CN" altLang="en-US" sz="2000"/>
              <a:t>一个状态寄存器。它用来保存图灵机当前所处的状态。图灵机的所有可能状态的数目是有限的，并且有一个特殊的状态，称为停机状态。 </a:t>
            </a:r>
            <a:endParaRPr lang="zh-CN" altLang="en-US" sz="2000"/>
          </a:p>
          <a:p>
            <a:pPr>
              <a:lnSpc>
                <a:spcPct val="80000"/>
              </a:lnSpc>
            </a:pPr>
            <a:r>
              <a:rPr lang="zh-CN" altLang="en-US" sz="2100"/>
              <a:t>注意这个机器的每一部分都是有限的，但它有一个潜在的无限长的纸带，因此这种机器只是一个理想的设备。图灵认为这样的一台机器就能模拟人类所能进行的任何计算过程。</a:t>
            </a:r>
            <a:endParaRPr lang="zh-CN" altLang="en-US" sz="2100"/>
          </a:p>
        </p:txBody>
      </p:sp>
      <p:pic>
        <p:nvPicPr>
          <p:cNvPr id="37785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92275" y="4584700"/>
            <a:ext cx="5616575" cy="22733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CC78B9DB-2F60-45CB-841E-3E7AB0E2D833}" type="slidenum">
              <a:rPr lang="en-US" altLang="zh-CN"/>
            </a:fld>
            <a:endParaRPr lang="en-US" altLang="zh-CN"/>
          </a:p>
        </p:txBody>
      </p:sp>
      <p:sp>
        <p:nvSpPr>
          <p:cNvPr id="378882" name="Rectangle 2"/>
          <p:cNvSpPr>
            <a:spLocks noGrp="1" noChangeArrowheads="1"/>
          </p:cNvSpPr>
          <p:nvPr>
            <p:ph type="body" idx="1"/>
          </p:nvPr>
        </p:nvSpPr>
        <p:spPr>
          <a:xfrm>
            <a:off x="457200" y="4359275"/>
            <a:ext cx="8229600" cy="1771650"/>
          </a:xfrm>
        </p:spPr>
        <p:txBody>
          <a:bodyPr/>
          <a:lstStyle/>
          <a:p>
            <a:pPr>
              <a:spcBef>
                <a:spcPct val="50000"/>
              </a:spcBef>
              <a:buClrTx/>
              <a:buSzTx/>
              <a:buFontTx/>
              <a:buChar char="•"/>
            </a:pPr>
            <a:r>
              <a:rPr lang="zh-CN" altLang="en-US" sz="2600"/>
              <a:t>一旦图灵机在运行中进入了一个状态，而且这个状态是一个结束状态，那么，图灵机就停机，计算任务宣告完成，此时带上的内容就是计算的输出结果。</a:t>
            </a:r>
            <a:endParaRPr lang="zh-CN" altLang="en-US" sz="2600"/>
          </a:p>
        </p:txBody>
      </p:sp>
      <p:pic>
        <p:nvPicPr>
          <p:cNvPr id="37888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58888" y="1125538"/>
            <a:ext cx="6983412" cy="2825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0078A72C-1866-4067-9957-2C986388E1AB}" type="slidenum">
              <a:rPr lang="en-US" altLang="zh-CN"/>
            </a:fld>
            <a:endParaRPr lang="en-US" altLang="zh-CN"/>
          </a:p>
        </p:txBody>
      </p:sp>
      <p:sp>
        <p:nvSpPr>
          <p:cNvPr id="316418" name="Rectangle 2"/>
          <p:cNvSpPr>
            <a:spLocks noGrp="1" noChangeArrowheads="1"/>
          </p:cNvSpPr>
          <p:nvPr>
            <p:ph type="title"/>
          </p:nvPr>
        </p:nvSpPr>
        <p:spPr>
          <a:xfrm>
            <a:off x="666750" y="122238"/>
            <a:ext cx="7124700" cy="647700"/>
          </a:xfrm>
        </p:spPr>
        <p:txBody>
          <a:bodyPr/>
          <a:lstStyle/>
          <a:p>
            <a:r>
              <a:rPr lang="en-US" altLang="zh-CN" sz="3000"/>
              <a:t>8.1.3 </a:t>
            </a:r>
            <a:r>
              <a:rPr lang="zh-CN" altLang="en-US" sz="3000">
                <a:latin typeface="新宋体" panose="02010609030101010101" charset="-122"/>
                <a:ea typeface="新宋体" panose="02010609030101010101" charset="-122"/>
              </a:rPr>
              <a:t>图灵机</a:t>
            </a:r>
            <a:endParaRPr lang="zh-CN" altLang="en-US" sz="3000">
              <a:latin typeface="新宋体" panose="02010609030101010101" charset="-122"/>
              <a:ea typeface="新宋体" panose="02010609030101010101" charset="-122"/>
            </a:endParaRPr>
          </a:p>
        </p:txBody>
      </p:sp>
      <p:sp>
        <p:nvSpPr>
          <p:cNvPr id="316420" name="Text Box 4"/>
          <p:cNvSpPr txBox="1">
            <a:spLocks noChangeArrowheads="1"/>
          </p:cNvSpPr>
          <p:nvPr/>
        </p:nvSpPr>
        <p:spPr bwMode="auto">
          <a:xfrm>
            <a:off x="179388" y="836613"/>
            <a:ext cx="8839200" cy="2720975"/>
          </a:xfrm>
          <a:prstGeom prst="rect">
            <a:avLst/>
          </a:prstGeom>
          <a:solidFill>
            <a:schemeClr val="bg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nSpc>
                <a:spcPct val="120000"/>
              </a:lnSpc>
            </a:pPr>
            <a:r>
              <a:rPr lang="zh-CN" altLang="en-US" sz="2400" b="1">
                <a:latin typeface="新宋体" panose="02010609030101010101" charset="-122"/>
                <a:ea typeface="新宋体" panose="02010609030101010101" charset="-122"/>
              </a:rPr>
              <a:t>    根据有限状态控制器的当前状态及每个读写头读到的带符号，图灵机的一个计算步可实现下面3个操作之一或全部。</a:t>
            </a:r>
            <a:endParaRPr lang="zh-CN" altLang="en-US" sz="2400" b="1">
              <a:latin typeface="新宋体" panose="02010609030101010101" charset="-122"/>
              <a:ea typeface="新宋体" panose="02010609030101010101" charset="-122"/>
            </a:endParaRPr>
          </a:p>
          <a:p>
            <a:pPr>
              <a:lnSpc>
                <a:spcPct val="120000"/>
              </a:lnSpc>
            </a:pPr>
            <a:r>
              <a:rPr lang="zh-CN" altLang="en-US" sz="2400" b="1">
                <a:latin typeface="新宋体" panose="02010609030101010101" charset="-122"/>
                <a:ea typeface="新宋体" panose="02010609030101010101" charset="-122"/>
              </a:rPr>
              <a:t>  (1)改变有限状态控制器中的状态。</a:t>
            </a:r>
            <a:endParaRPr lang="zh-CN" altLang="en-US" sz="2400" b="1">
              <a:latin typeface="新宋体" panose="02010609030101010101" charset="-122"/>
              <a:ea typeface="新宋体" panose="02010609030101010101" charset="-122"/>
            </a:endParaRPr>
          </a:p>
          <a:p>
            <a:pPr>
              <a:lnSpc>
                <a:spcPct val="120000"/>
              </a:lnSpc>
            </a:pPr>
            <a:r>
              <a:rPr lang="zh-CN" altLang="en-US" sz="2400" b="1">
                <a:latin typeface="新宋体" panose="02010609030101010101" charset="-122"/>
                <a:ea typeface="新宋体" panose="02010609030101010101" charset="-122"/>
              </a:rPr>
              <a:t>  (2)清除当前读写头下的方格中原有带符号并写上新的带符号。</a:t>
            </a:r>
            <a:endParaRPr lang="zh-CN" altLang="en-US" sz="2400" b="1">
              <a:latin typeface="新宋体" panose="02010609030101010101" charset="-122"/>
              <a:ea typeface="新宋体" panose="02010609030101010101" charset="-122"/>
            </a:endParaRPr>
          </a:p>
          <a:p>
            <a:pPr>
              <a:lnSpc>
                <a:spcPct val="120000"/>
              </a:lnSpc>
            </a:pPr>
            <a:r>
              <a:rPr lang="zh-CN" altLang="en-US" sz="2400" b="1">
                <a:latin typeface="新宋体" panose="02010609030101010101" charset="-122"/>
                <a:ea typeface="新宋体" panose="02010609030101010101" charset="-122"/>
              </a:rPr>
              <a:t>  (3)独立地将任何一个或所有读写头，向左移动一个方格(</a:t>
            </a:r>
            <a:r>
              <a:rPr lang="en-US" altLang="zh-CN" sz="2400" b="1">
                <a:latin typeface="新宋体" panose="02010609030101010101" charset="-122"/>
                <a:ea typeface="新宋体" panose="02010609030101010101" charset="-122"/>
              </a:rPr>
              <a:t>L)</a:t>
            </a:r>
            <a:r>
              <a:rPr lang="zh-CN" altLang="en-US" sz="2400" b="1">
                <a:latin typeface="新宋体" panose="02010609030101010101" charset="-122"/>
                <a:ea typeface="新宋体" panose="02010609030101010101" charset="-122"/>
              </a:rPr>
              <a:t>或向右移动一个方格(</a:t>
            </a:r>
            <a:r>
              <a:rPr lang="en-US" altLang="zh-CN" sz="2400" b="1">
                <a:latin typeface="新宋体" panose="02010609030101010101" charset="-122"/>
                <a:ea typeface="新宋体" panose="02010609030101010101" charset="-122"/>
              </a:rPr>
              <a:t>R)</a:t>
            </a:r>
            <a:r>
              <a:rPr lang="zh-CN" altLang="en-US" sz="2400" b="1">
                <a:latin typeface="新宋体" panose="02010609030101010101" charset="-122"/>
                <a:ea typeface="新宋体" panose="02010609030101010101" charset="-122"/>
              </a:rPr>
              <a:t>或停在当前单元不动(</a:t>
            </a:r>
            <a:r>
              <a:rPr lang="en-US" altLang="zh-CN" sz="2400" b="1">
                <a:latin typeface="新宋体" panose="02010609030101010101" charset="-122"/>
                <a:ea typeface="新宋体" panose="02010609030101010101" charset="-122"/>
              </a:rPr>
              <a:t>S)。 </a:t>
            </a:r>
            <a:endParaRPr lang="zh-CN" altLang="en-US" sz="2400" b="1">
              <a:latin typeface="新宋体" panose="02010609030101010101" charset="-122"/>
              <a:ea typeface="新宋体" panose="02010609030101010101" charset="-122"/>
            </a:endParaRPr>
          </a:p>
        </p:txBody>
      </p:sp>
      <p:sp>
        <p:nvSpPr>
          <p:cNvPr id="316421" name="Text Box 5"/>
          <p:cNvSpPr txBox="1">
            <a:spLocks noChangeArrowheads="1"/>
          </p:cNvSpPr>
          <p:nvPr/>
        </p:nvSpPr>
        <p:spPr bwMode="auto">
          <a:xfrm>
            <a:off x="0" y="3644900"/>
            <a:ext cx="9144000" cy="3187700"/>
          </a:xfrm>
          <a:prstGeom prst="rect">
            <a:avLst/>
          </a:prstGeom>
          <a:solidFill>
            <a:srgbClr val="FFFF66"/>
          </a:solidFill>
          <a:ln w="28575">
            <a:solidFill>
              <a:srgbClr val="A50021"/>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nSpc>
                <a:spcPct val="120000"/>
              </a:lnSpc>
            </a:pPr>
            <a:r>
              <a:rPr lang="zh-CN" altLang="en-US" sz="2400" b="1">
                <a:latin typeface="新宋体" panose="02010609030101010101" charset="-122"/>
                <a:ea typeface="新宋体" panose="02010609030101010101" charset="-122"/>
              </a:rPr>
              <a:t>    </a:t>
            </a:r>
            <a:r>
              <a:rPr lang="en-US" altLang="zh-CN" sz="2400" b="1">
                <a:latin typeface="新宋体" panose="02010609030101010101" charset="-122"/>
                <a:ea typeface="新宋体" panose="02010609030101010101" charset="-122"/>
              </a:rPr>
              <a:t>k</a:t>
            </a:r>
            <a:r>
              <a:rPr lang="zh-CN" altLang="en-US" sz="2400" b="1">
                <a:latin typeface="新宋体" panose="02010609030101010101" charset="-122"/>
                <a:ea typeface="新宋体" panose="02010609030101010101" charset="-122"/>
              </a:rPr>
              <a:t>带图灵机可形式化地描述为一个7元组</a:t>
            </a:r>
            <a:r>
              <a:rPr lang="zh-CN" altLang="en-US" b="1">
                <a:latin typeface="新宋体" panose="02010609030101010101" charset="-122"/>
                <a:ea typeface="新宋体" panose="02010609030101010101" charset="-122"/>
              </a:rPr>
              <a:t>(</a:t>
            </a:r>
            <a:r>
              <a:rPr lang="en-US" altLang="zh-CN" b="1">
                <a:latin typeface="新宋体" panose="02010609030101010101" charset="-122"/>
                <a:ea typeface="新宋体" panose="02010609030101010101" charset="-122"/>
              </a:rPr>
              <a:t>Q，T，I，δ，b，q</a:t>
            </a:r>
            <a:r>
              <a:rPr lang="en-US" altLang="zh-CN" b="1" baseline="-30000">
                <a:latin typeface="新宋体" panose="02010609030101010101" charset="-122"/>
                <a:ea typeface="新宋体" panose="02010609030101010101" charset="-122"/>
              </a:rPr>
              <a:t>0</a:t>
            </a:r>
            <a:r>
              <a:rPr lang="en-US" altLang="zh-CN" b="1">
                <a:latin typeface="新宋体" panose="02010609030101010101" charset="-122"/>
                <a:ea typeface="新宋体" panose="02010609030101010101" charset="-122"/>
              </a:rPr>
              <a:t>，q</a:t>
            </a:r>
            <a:r>
              <a:rPr lang="en-US" altLang="zh-CN" b="1" baseline="-30000">
                <a:latin typeface="新宋体" panose="02010609030101010101" charset="-122"/>
                <a:ea typeface="新宋体" panose="02010609030101010101" charset="-122"/>
              </a:rPr>
              <a:t>f</a:t>
            </a:r>
            <a:r>
              <a:rPr lang="en-US" altLang="zh-CN" b="1">
                <a:latin typeface="新宋体" panose="02010609030101010101" charset="-122"/>
                <a:ea typeface="新宋体" panose="02010609030101010101" charset="-122"/>
              </a:rPr>
              <a:t>)，</a:t>
            </a:r>
            <a:r>
              <a:rPr lang="zh-CN" altLang="en-US" sz="2400" b="1">
                <a:latin typeface="新宋体" panose="02010609030101010101" charset="-122"/>
                <a:ea typeface="新宋体" panose="02010609030101010101" charset="-122"/>
              </a:rPr>
              <a:t>其中:</a:t>
            </a:r>
            <a:endParaRPr lang="zh-CN" altLang="en-US" sz="2400" b="1">
              <a:latin typeface="新宋体" panose="02010609030101010101" charset="-122"/>
              <a:ea typeface="新宋体" panose="02010609030101010101" charset="-122"/>
            </a:endParaRPr>
          </a:p>
          <a:p>
            <a:pPr>
              <a:lnSpc>
                <a:spcPct val="120000"/>
              </a:lnSpc>
            </a:pPr>
            <a:r>
              <a:rPr lang="zh-CN" altLang="en-US" sz="2400" b="1">
                <a:latin typeface="新宋体" panose="02010609030101010101" charset="-122"/>
                <a:ea typeface="新宋体" panose="02010609030101010101" charset="-122"/>
              </a:rPr>
              <a:t>(1)</a:t>
            </a:r>
            <a:r>
              <a:rPr lang="en-US" altLang="zh-CN" sz="2400" b="1">
                <a:latin typeface="新宋体" panose="02010609030101010101" charset="-122"/>
                <a:ea typeface="新宋体" panose="02010609030101010101" charset="-122"/>
              </a:rPr>
              <a:t>Q</a:t>
            </a:r>
            <a:r>
              <a:rPr lang="zh-CN" altLang="en-US" sz="2400" b="1">
                <a:latin typeface="新宋体" panose="02010609030101010101" charset="-122"/>
                <a:ea typeface="新宋体" panose="02010609030101010101" charset="-122"/>
              </a:rPr>
              <a:t>是有限个状态的集合。     (2)</a:t>
            </a:r>
            <a:r>
              <a:rPr lang="en-US" altLang="zh-CN" sz="2400" b="1">
                <a:latin typeface="新宋体" panose="02010609030101010101" charset="-122"/>
                <a:ea typeface="新宋体" panose="02010609030101010101" charset="-122"/>
              </a:rPr>
              <a:t>T</a:t>
            </a:r>
            <a:r>
              <a:rPr lang="zh-CN" altLang="en-US" sz="2400" b="1">
                <a:latin typeface="新宋体" panose="02010609030101010101" charset="-122"/>
                <a:ea typeface="新宋体" panose="02010609030101010101" charset="-122"/>
              </a:rPr>
              <a:t>是有限个带符号的集合。</a:t>
            </a:r>
            <a:endParaRPr lang="zh-CN" altLang="en-US" sz="2400" b="1">
              <a:latin typeface="新宋体" panose="02010609030101010101" charset="-122"/>
              <a:ea typeface="新宋体" panose="02010609030101010101" charset="-122"/>
            </a:endParaRPr>
          </a:p>
          <a:p>
            <a:pPr algn="just">
              <a:lnSpc>
                <a:spcPct val="120000"/>
              </a:lnSpc>
            </a:pPr>
            <a:r>
              <a:rPr lang="zh-CN" altLang="en-US" sz="2400" b="1">
                <a:latin typeface="新宋体" panose="02010609030101010101" charset="-122"/>
                <a:ea typeface="新宋体" panose="02010609030101010101" charset="-122"/>
              </a:rPr>
              <a:t>(3)</a:t>
            </a:r>
            <a:r>
              <a:rPr lang="en-US" altLang="zh-CN" sz="2400" b="1">
                <a:latin typeface="新宋体" panose="02010609030101010101" charset="-122"/>
                <a:ea typeface="新宋体" panose="02010609030101010101" charset="-122"/>
              </a:rPr>
              <a:t>I</a:t>
            </a:r>
            <a:r>
              <a:rPr lang="zh-CN" altLang="en-US" sz="2400" b="1">
                <a:latin typeface="新宋体" panose="02010609030101010101" charset="-122"/>
                <a:ea typeface="新宋体" panose="02010609030101010101" charset="-122"/>
              </a:rPr>
              <a:t>是输入符号的集合，</a:t>
            </a:r>
            <a:r>
              <a:rPr lang="en-US" altLang="zh-CN" sz="2400" b="1">
                <a:latin typeface="新宋体" panose="02010609030101010101" charset="-122"/>
                <a:ea typeface="新宋体" panose="02010609030101010101" charset="-122"/>
              </a:rPr>
              <a:t>I</a:t>
            </a:r>
            <a:r>
              <a:rPr lang="en-US" altLang="zh-CN" sz="2400" b="1">
                <a:latin typeface="新宋体" panose="02010609030101010101" charset="-122"/>
                <a:ea typeface="新宋体" panose="02010609030101010101" charset="-122"/>
                <a:sym typeface="Symbol" panose="05050102010706020507" pitchFamily="18" charset="2"/>
              </a:rPr>
              <a:t></a:t>
            </a:r>
            <a:r>
              <a:rPr lang="en-US" altLang="zh-CN" sz="2400" b="1">
                <a:latin typeface="新宋体" panose="02010609030101010101" charset="-122"/>
                <a:ea typeface="新宋体" panose="02010609030101010101" charset="-122"/>
              </a:rPr>
              <a:t>T。  (4)b</a:t>
            </a:r>
            <a:r>
              <a:rPr lang="zh-CN" altLang="en-US" sz="2400" b="1">
                <a:latin typeface="新宋体" panose="02010609030101010101" charset="-122"/>
                <a:ea typeface="新宋体" panose="02010609030101010101" charset="-122"/>
              </a:rPr>
              <a:t>是唯一的空白符，</a:t>
            </a:r>
            <a:r>
              <a:rPr lang="en-US" altLang="zh-CN" sz="2400" b="1">
                <a:latin typeface="新宋体" panose="02010609030101010101" charset="-122"/>
                <a:ea typeface="新宋体" panose="02010609030101010101" charset="-122"/>
              </a:rPr>
              <a:t>b∈T-I。</a:t>
            </a:r>
            <a:endParaRPr lang="en-US" altLang="zh-CN" sz="2400" b="1">
              <a:latin typeface="新宋体" panose="02010609030101010101" charset="-122"/>
              <a:ea typeface="新宋体" panose="02010609030101010101" charset="-122"/>
            </a:endParaRPr>
          </a:p>
          <a:p>
            <a:pPr algn="just">
              <a:lnSpc>
                <a:spcPct val="120000"/>
              </a:lnSpc>
            </a:pPr>
            <a:r>
              <a:rPr lang="en-US" altLang="zh-CN" sz="2400" b="1">
                <a:latin typeface="新宋体" panose="02010609030101010101" charset="-122"/>
                <a:ea typeface="新宋体" panose="02010609030101010101" charset="-122"/>
              </a:rPr>
              <a:t>(5)q</a:t>
            </a:r>
            <a:r>
              <a:rPr lang="en-US" altLang="zh-CN" sz="2400" b="1" baseline="-30000">
                <a:latin typeface="新宋体" panose="02010609030101010101" charset="-122"/>
                <a:ea typeface="新宋体" panose="02010609030101010101" charset="-122"/>
              </a:rPr>
              <a:t>0</a:t>
            </a:r>
            <a:r>
              <a:rPr lang="zh-CN" altLang="en-US" sz="2400" b="1">
                <a:latin typeface="新宋体" panose="02010609030101010101" charset="-122"/>
                <a:ea typeface="新宋体" panose="02010609030101010101" charset="-122"/>
              </a:rPr>
              <a:t>是初始状态。	           (6)</a:t>
            </a:r>
            <a:r>
              <a:rPr lang="en-US" altLang="zh-CN" sz="2400" b="1">
                <a:latin typeface="新宋体" panose="02010609030101010101" charset="-122"/>
                <a:ea typeface="新宋体" panose="02010609030101010101" charset="-122"/>
              </a:rPr>
              <a:t>q</a:t>
            </a:r>
            <a:r>
              <a:rPr lang="en-US" altLang="zh-CN" sz="2400" b="1" baseline="-30000">
                <a:latin typeface="新宋体" panose="02010609030101010101" charset="-122"/>
                <a:ea typeface="新宋体" panose="02010609030101010101" charset="-122"/>
              </a:rPr>
              <a:t>f</a:t>
            </a:r>
            <a:r>
              <a:rPr lang="zh-CN" altLang="en-US" sz="2400" b="1">
                <a:latin typeface="新宋体" panose="02010609030101010101" charset="-122"/>
                <a:ea typeface="新宋体" panose="02010609030101010101" charset="-122"/>
              </a:rPr>
              <a:t>是终止(或接受)状态。</a:t>
            </a:r>
            <a:endParaRPr lang="zh-CN" altLang="en-US" sz="2400" b="1">
              <a:latin typeface="新宋体" panose="02010609030101010101" charset="-122"/>
              <a:ea typeface="新宋体" panose="02010609030101010101" charset="-122"/>
            </a:endParaRPr>
          </a:p>
          <a:p>
            <a:pPr>
              <a:lnSpc>
                <a:spcPct val="120000"/>
              </a:lnSpc>
            </a:pPr>
            <a:r>
              <a:rPr lang="zh-CN" altLang="en-US" sz="2400" b="1">
                <a:latin typeface="新宋体" panose="02010609030101010101" charset="-122"/>
                <a:ea typeface="新宋体" panose="02010609030101010101" charset="-122"/>
              </a:rPr>
              <a:t>(7)</a:t>
            </a:r>
            <a:r>
              <a:rPr lang="en-US" altLang="zh-CN" sz="2400" b="1">
                <a:latin typeface="新宋体" panose="02010609030101010101" charset="-122"/>
                <a:ea typeface="新宋体" panose="02010609030101010101" charset="-122"/>
              </a:rPr>
              <a:t>δ</a:t>
            </a:r>
            <a:r>
              <a:rPr lang="zh-CN" altLang="en-US" sz="2400" b="1">
                <a:latin typeface="新宋体" panose="02010609030101010101" charset="-122"/>
                <a:ea typeface="新宋体" panose="02010609030101010101" charset="-122"/>
              </a:rPr>
              <a:t>是移动函数。</a:t>
            </a:r>
            <a:endParaRPr lang="zh-CN" altLang="en-US" sz="2400" b="1">
              <a:latin typeface="新宋体" panose="02010609030101010101" charset="-122"/>
              <a:ea typeface="新宋体" panose="02010609030101010101" charset="-122"/>
            </a:endParaRPr>
          </a:p>
          <a:p>
            <a:pPr>
              <a:lnSpc>
                <a:spcPct val="120000"/>
              </a:lnSpc>
            </a:pPr>
            <a:r>
              <a:rPr lang="zh-CN" altLang="en-US" sz="2400" b="1">
                <a:latin typeface="新宋体" panose="02010609030101010101" charset="-122"/>
                <a:ea typeface="新宋体" panose="02010609030101010101" charset="-122"/>
              </a:rPr>
              <a:t>它是从</a:t>
            </a:r>
            <a:r>
              <a:rPr lang="en-US" altLang="zh-CN" sz="2400" b="1">
                <a:latin typeface="新宋体" panose="02010609030101010101" charset="-122"/>
                <a:ea typeface="新宋体" panose="02010609030101010101" charset="-122"/>
              </a:rPr>
              <a:t>Q</a:t>
            </a:r>
            <a:r>
              <a:rPr lang="en-US" altLang="zh-CN" sz="2400" b="1">
                <a:latin typeface="新宋体" panose="02010609030101010101" charset="-122"/>
                <a:ea typeface="新宋体" panose="02010609030101010101" charset="-122"/>
                <a:sym typeface="Symbol" panose="05050102010706020507" pitchFamily="18" charset="2"/>
              </a:rPr>
              <a:t></a:t>
            </a:r>
            <a:r>
              <a:rPr lang="en-US" altLang="zh-CN" sz="2400" b="1">
                <a:latin typeface="新宋体" panose="02010609030101010101" charset="-122"/>
                <a:ea typeface="新宋体" panose="02010609030101010101" charset="-122"/>
              </a:rPr>
              <a:t>T</a:t>
            </a:r>
            <a:r>
              <a:rPr lang="en-US" altLang="zh-CN" sz="2400" b="1" baseline="30000">
                <a:latin typeface="新宋体" panose="02010609030101010101" charset="-122"/>
                <a:ea typeface="新宋体" panose="02010609030101010101" charset="-122"/>
              </a:rPr>
              <a:t>k</a:t>
            </a:r>
            <a:r>
              <a:rPr lang="zh-CN" altLang="en-US" sz="2400" b="1">
                <a:latin typeface="新宋体" panose="02010609030101010101" charset="-122"/>
                <a:ea typeface="新宋体" panose="02010609030101010101" charset="-122"/>
              </a:rPr>
              <a:t>的某一子集映射到</a:t>
            </a:r>
            <a:r>
              <a:rPr lang="en-US" altLang="zh-CN" sz="2400" b="1">
                <a:latin typeface="新宋体" panose="02010609030101010101" charset="-122"/>
                <a:ea typeface="新宋体" panose="02010609030101010101" charset="-122"/>
              </a:rPr>
              <a:t>Q</a:t>
            </a:r>
            <a:r>
              <a:rPr lang="en-US" altLang="zh-CN" sz="2400" b="1">
                <a:latin typeface="新宋体" panose="02010609030101010101" charset="-122"/>
                <a:ea typeface="新宋体" panose="02010609030101010101" charset="-122"/>
                <a:sym typeface="Symbol" panose="05050102010706020507" pitchFamily="18" charset="2"/>
              </a:rPr>
              <a:t></a:t>
            </a:r>
            <a:r>
              <a:rPr lang="en-US" altLang="zh-CN" sz="2400" b="1">
                <a:latin typeface="新宋体" panose="02010609030101010101" charset="-122"/>
                <a:ea typeface="新宋体" panose="02010609030101010101" charset="-122"/>
              </a:rPr>
              <a:t> (T</a:t>
            </a:r>
            <a:r>
              <a:rPr lang="en-US" altLang="zh-CN" sz="2400" b="1">
                <a:latin typeface="新宋体" panose="02010609030101010101" charset="-122"/>
                <a:ea typeface="新宋体" panose="02010609030101010101" charset="-122"/>
                <a:sym typeface="Symbol" panose="05050102010706020507" pitchFamily="18" charset="2"/>
              </a:rPr>
              <a:t></a:t>
            </a:r>
            <a:r>
              <a:rPr lang="en-US" altLang="zh-CN" sz="2400" b="1">
                <a:latin typeface="新宋体" panose="02010609030101010101" charset="-122"/>
                <a:ea typeface="新宋体" panose="02010609030101010101" charset="-122"/>
              </a:rPr>
              <a:t>{L，R，S})</a:t>
            </a:r>
            <a:r>
              <a:rPr lang="en-US" altLang="zh-CN" sz="2400" b="1" baseline="30000">
                <a:latin typeface="新宋体" panose="02010609030101010101" charset="-122"/>
                <a:ea typeface="新宋体" panose="02010609030101010101" charset="-122"/>
              </a:rPr>
              <a:t>k</a:t>
            </a:r>
            <a:r>
              <a:rPr lang="zh-CN" altLang="en-US" sz="2400" b="1">
                <a:latin typeface="新宋体" panose="02010609030101010101" charset="-122"/>
                <a:ea typeface="新宋体" panose="02010609030101010101" charset="-122"/>
              </a:rPr>
              <a:t>的函数。 </a:t>
            </a:r>
            <a:endParaRPr lang="zh-CN" altLang="en-US" sz="2400" b="1">
              <a:latin typeface="新宋体" panose="02010609030101010101" charset="-122"/>
              <a:ea typeface="新宋体" panose="02010609030101010101"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6420"/>
                                        </p:tgtEl>
                                        <p:attrNameLst>
                                          <p:attrName>style.visibility</p:attrName>
                                        </p:attrNameLst>
                                      </p:cBhvr>
                                      <p:to>
                                        <p:strVal val="visible"/>
                                      </p:to>
                                    </p:set>
                                    <p:animEffect transition="in" filter="blinds(horizontal)">
                                      <p:cBhvr>
                                        <p:cTn id="7" dur="500"/>
                                        <p:tgtEl>
                                          <p:spTgt spid="31642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16421"/>
                                        </p:tgtEl>
                                        <p:attrNameLst>
                                          <p:attrName>style.visibility</p:attrName>
                                        </p:attrNameLst>
                                      </p:cBhvr>
                                      <p:to>
                                        <p:strVal val="visible"/>
                                      </p:to>
                                    </p:set>
                                    <p:animEffect transition="in" filter="blinds(horizontal)">
                                      <p:cBhvr>
                                        <p:cTn id="12" dur="500"/>
                                        <p:tgtEl>
                                          <p:spTgt spid="316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420" grpId="0" animBg="1" autoUpdateAnimBg="0"/>
      <p:bldP spid="316421"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B53ADE16-86BA-4DF4-A98F-E4E66F59412D}" type="slidenum">
              <a:rPr lang="en-US" altLang="zh-CN"/>
            </a:fld>
            <a:endParaRPr lang="en-US" altLang="zh-CN"/>
          </a:p>
        </p:txBody>
      </p:sp>
      <p:sp>
        <p:nvSpPr>
          <p:cNvPr id="317442" name="Rectangle 2"/>
          <p:cNvSpPr>
            <a:spLocks noGrp="1" noChangeArrowheads="1"/>
          </p:cNvSpPr>
          <p:nvPr>
            <p:ph type="title"/>
          </p:nvPr>
        </p:nvSpPr>
        <p:spPr/>
        <p:txBody>
          <a:bodyPr/>
          <a:lstStyle/>
          <a:p>
            <a:r>
              <a:rPr lang="en-US" altLang="zh-CN" sz="3000"/>
              <a:t>8.1.3 </a:t>
            </a:r>
            <a:r>
              <a:rPr lang="zh-CN" altLang="en-US" sz="3000">
                <a:latin typeface="新宋体" panose="02010609030101010101" charset="-122"/>
                <a:ea typeface="新宋体" panose="02010609030101010101" charset="-122"/>
              </a:rPr>
              <a:t>图灵机</a:t>
            </a:r>
            <a:endParaRPr lang="zh-CN" altLang="en-US" sz="3000">
              <a:latin typeface="新宋体" panose="02010609030101010101" charset="-122"/>
              <a:ea typeface="新宋体" panose="02010609030101010101" charset="-122"/>
            </a:endParaRPr>
          </a:p>
        </p:txBody>
      </p:sp>
      <p:sp>
        <p:nvSpPr>
          <p:cNvPr id="317444" name="Text Box 4"/>
          <p:cNvSpPr txBox="1">
            <a:spLocks noChangeArrowheads="1"/>
          </p:cNvSpPr>
          <p:nvPr/>
        </p:nvSpPr>
        <p:spPr bwMode="auto">
          <a:xfrm>
            <a:off x="152400" y="2922588"/>
            <a:ext cx="88392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新宋体" panose="02010609030101010101" charset="-122"/>
                <a:ea typeface="新宋体" panose="02010609030101010101" charset="-122"/>
              </a:rPr>
              <a:t>	图灵机</a:t>
            </a:r>
            <a:r>
              <a:rPr lang="en-US" altLang="zh-CN" sz="2400">
                <a:latin typeface="新宋体" panose="02010609030101010101" charset="-122"/>
                <a:ea typeface="新宋体" panose="02010609030101010101" charset="-122"/>
              </a:rPr>
              <a:t>M</a:t>
            </a:r>
            <a:r>
              <a:rPr lang="zh-CN" altLang="en-US" sz="2400">
                <a:latin typeface="新宋体" panose="02010609030101010101" charset="-122"/>
                <a:ea typeface="新宋体" panose="02010609030101010101" charset="-122"/>
              </a:rPr>
              <a:t>的时间复杂性</a:t>
            </a:r>
            <a:r>
              <a:rPr lang="en-US" altLang="zh-CN" sz="2400">
                <a:latin typeface="新宋体" panose="02010609030101010101" charset="-122"/>
                <a:ea typeface="新宋体" panose="02010609030101010101" charset="-122"/>
              </a:rPr>
              <a:t>T(n)</a:t>
            </a:r>
            <a:r>
              <a:rPr lang="zh-CN" altLang="en-US" sz="2400">
                <a:latin typeface="新宋体" panose="02010609030101010101" charset="-122"/>
                <a:ea typeface="新宋体" panose="02010609030101010101" charset="-122"/>
              </a:rPr>
              <a:t>是它处理所有长度为</a:t>
            </a:r>
            <a:r>
              <a:rPr lang="en-US" altLang="zh-CN" sz="2400">
                <a:latin typeface="新宋体" panose="02010609030101010101" charset="-122"/>
                <a:ea typeface="新宋体" panose="02010609030101010101" charset="-122"/>
              </a:rPr>
              <a:t>n</a:t>
            </a:r>
            <a:r>
              <a:rPr lang="zh-CN" altLang="en-US" sz="2400">
                <a:latin typeface="新宋体" panose="02010609030101010101" charset="-122"/>
                <a:ea typeface="新宋体" panose="02010609030101010101" charset="-122"/>
              </a:rPr>
              <a:t>的输入所需的最大计算步数。如果对某个长度为</a:t>
            </a:r>
            <a:r>
              <a:rPr lang="en-US" altLang="zh-CN" sz="2400">
                <a:latin typeface="新宋体" panose="02010609030101010101" charset="-122"/>
                <a:ea typeface="新宋体" panose="02010609030101010101" charset="-122"/>
              </a:rPr>
              <a:t>n</a:t>
            </a:r>
            <a:r>
              <a:rPr lang="zh-CN" altLang="en-US" sz="2400">
                <a:latin typeface="新宋体" panose="02010609030101010101" charset="-122"/>
                <a:ea typeface="新宋体" panose="02010609030101010101" charset="-122"/>
              </a:rPr>
              <a:t>的输入，图灵机不停机，</a:t>
            </a:r>
            <a:r>
              <a:rPr lang="en-US" altLang="zh-CN" sz="2400">
                <a:latin typeface="新宋体" panose="02010609030101010101" charset="-122"/>
                <a:ea typeface="新宋体" panose="02010609030101010101" charset="-122"/>
              </a:rPr>
              <a:t>T(n)</a:t>
            </a:r>
            <a:r>
              <a:rPr lang="zh-CN" altLang="en-US" sz="2400">
                <a:latin typeface="新宋体" panose="02010609030101010101" charset="-122"/>
                <a:ea typeface="新宋体" panose="02010609030101010101" charset="-122"/>
              </a:rPr>
              <a:t>对这个</a:t>
            </a:r>
            <a:r>
              <a:rPr lang="en-US" altLang="zh-CN" sz="2400">
                <a:latin typeface="新宋体" panose="02010609030101010101" charset="-122"/>
                <a:ea typeface="新宋体" panose="02010609030101010101" charset="-122"/>
              </a:rPr>
              <a:t>n</a:t>
            </a:r>
            <a:r>
              <a:rPr lang="zh-CN" altLang="en-US" sz="2400">
                <a:latin typeface="新宋体" panose="02010609030101010101" charset="-122"/>
                <a:ea typeface="新宋体" panose="02010609030101010101" charset="-122"/>
              </a:rPr>
              <a:t>值无定义。  </a:t>
            </a:r>
            <a:endParaRPr lang="zh-CN" altLang="en-US" sz="2400">
              <a:latin typeface="新宋体" panose="02010609030101010101" charset="-122"/>
              <a:ea typeface="新宋体" panose="02010609030101010101" charset="-122"/>
            </a:endParaRPr>
          </a:p>
        </p:txBody>
      </p:sp>
      <p:sp>
        <p:nvSpPr>
          <p:cNvPr id="317445" name="Text Box 5"/>
          <p:cNvSpPr txBox="1">
            <a:spLocks noChangeArrowheads="1"/>
          </p:cNvSpPr>
          <p:nvPr/>
        </p:nvSpPr>
        <p:spPr bwMode="auto">
          <a:xfrm>
            <a:off x="152400" y="4370388"/>
            <a:ext cx="88392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新宋体" panose="02010609030101010101" charset="-122"/>
                <a:ea typeface="新宋体" panose="02010609030101010101" charset="-122"/>
              </a:rPr>
              <a:t>	图灵机的空间复杂性</a:t>
            </a:r>
            <a:r>
              <a:rPr lang="en-US" altLang="zh-CN" sz="2400">
                <a:latin typeface="新宋体" panose="02010609030101010101" charset="-122"/>
                <a:ea typeface="新宋体" panose="02010609030101010101" charset="-122"/>
              </a:rPr>
              <a:t>S(n)</a:t>
            </a:r>
            <a:r>
              <a:rPr lang="zh-CN" altLang="en-US" sz="2400">
                <a:latin typeface="新宋体" panose="02010609030101010101" charset="-122"/>
                <a:ea typeface="新宋体" panose="02010609030101010101" charset="-122"/>
              </a:rPr>
              <a:t>是它处理所有长度为</a:t>
            </a:r>
            <a:r>
              <a:rPr lang="en-US" altLang="zh-CN" sz="2400">
                <a:latin typeface="新宋体" panose="02010609030101010101" charset="-122"/>
                <a:ea typeface="新宋体" panose="02010609030101010101" charset="-122"/>
              </a:rPr>
              <a:t>n</a:t>
            </a:r>
            <a:r>
              <a:rPr lang="zh-CN" altLang="en-US" sz="2400">
                <a:latin typeface="新宋体" panose="02010609030101010101" charset="-122"/>
                <a:ea typeface="新宋体" panose="02010609030101010101" charset="-122"/>
              </a:rPr>
              <a:t>的输入时，在</a:t>
            </a:r>
            <a:r>
              <a:rPr lang="en-US" altLang="zh-CN" sz="2400">
                <a:latin typeface="新宋体" panose="02010609030101010101" charset="-122"/>
                <a:ea typeface="新宋体" panose="02010609030101010101" charset="-122"/>
              </a:rPr>
              <a:t>k</a:t>
            </a:r>
            <a:r>
              <a:rPr lang="zh-CN" altLang="en-US" sz="2400">
                <a:latin typeface="新宋体" panose="02010609030101010101" charset="-122"/>
                <a:ea typeface="新宋体" panose="02010609030101010101" charset="-122"/>
              </a:rPr>
              <a:t>条带上所使用过的方格数的总和。如果某个读写头无限地向右移动而不停机，</a:t>
            </a:r>
            <a:r>
              <a:rPr lang="en-US" altLang="zh-CN" sz="2400">
                <a:latin typeface="新宋体" panose="02010609030101010101" charset="-122"/>
                <a:ea typeface="新宋体" panose="02010609030101010101" charset="-122"/>
              </a:rPr>
              <a:t>S(n)</a:t>
            </a:r>
            <a:r>
              <a:rPr lang="zh-CN" altLang="en-US" sz="2400">
                <a:latin typeface="新宋体" panose="02010609030101010101" charset="-122"/>
                <a:ea typeface="新宋体" panose="02010609030101010101" charset="-122"/>
              </a:rPr>
              <a:t>也无定义。 </a:t>
            </a:r>
            <a:endParaRPr lang="zh-CN" altLang="en-US" sz="2400">
              <a:latin typeface="新宋体" panose="02010609030101010101" charset="-122"/>
              <a:ea typeface="新宋体" panose="02010609030101010101" charset="-122"/>
            </a:endParaRPr>
          </a:p>
        </p:txBody>
      </p:sp>
      <p:sp>
        <p:nvSpPr>
          <p:cNvPr id="317446" name="Text Box 6"/>
          <p:cNvSpPr txBox="1">
            <a:spLocks noChangeArrowheads="1"/>
          </p:cNvSpPr>
          <p:nvPr/>
        </p:nvSpPr>
        <p:spPr bwMode="auto">
          <a:xfrm>
            <a:off x="152400" y="1916113"/>
            <a:ext cx="8839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新宋体" panose="02010609030101010101" charset="-122"/>
                <a:ea typeface="新宋体" panose="02010609030101010101" charset="-122"/>
              </a:rPr>
              <a:t>	与</a:t>
            </a:r>
            <a:r>
              <a:rPr lang="en-US" altLang="zh-CN" sz="2400">
                <a:latin typeface="新宋体" panose="02010609030101010101" charset="-122"/>
                <a:ea typeface="新宋体" panose="02010609030101010101" charset="-122"/>
              </a:rPr>
              <a:t>RAM</a:t>
            </a:r>
            <a:r>
              <a:rPr lang="zh-CN" altLang="en-US" sz="2400">
                <a:latin typeface="新宋体" panose="02010609030101010101" charset="-122"/>
                <a:ea typeface="新宋体" panose="02010609030101010101" charset="-122"/>
              </a:rPr>
              <a:t>模型类似，图灵机既可作为语言接受器，也可作为计算函数的装置。 </a:t>
            </a:r>
            <a:endParaRPr lang="zh-CN" altLang="en-US" sz="2400">
              <a:latin typeface="新宋体" panose="02010609030101010101" charset="-122"/>
              <a:ea typeface="新宋体" panose="02010609030101010101"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7446"/>
                                        </p:tgtEl>
                                        <p:attrNameLst>
                                          <p:attrName>style.visibility</p:attrName>
                                        </p:attrNameLst>
                                      </p:cBhvr>
                                      <p:to>
                                        <p:strVal val="visible"/>
                                      </p:to>
                                    </p:set>
                                    <p:animEffect transition="in" filter="blinds(horizontal)">
                                      <p:cBhvr>
                                        <p:cTn id="7" dur="500"/>
                                        <p:tgtEl>
                                          <p:spTgt spid="31744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17444"/>
                                        </p:tgtEl>
                                        <p:attrNameLst>
                                          <p:attrName>style.visibility</p:attrName>
                                        </p:attrNameLst>
                                      </p:cBhvr>
                                      <p:to>
                                        <p:strVal val="visible"/>
                                      </p:to>
                                    </p:set>
                                    <p:animEffect transition="in" filter="blinds(horizontal)">
                                      <p:cBhvr>
                                        <p:cTn id="12" dur="500"/>
                                        <p:tgtEl>
                                          <p:spTgt spid="31744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17445"/>
                                        </p:tgtEl>
                                        <p:attrNameLst>
                                          <p:attrName>style.visibility</p:attrName>
                                        </p:attrNameLst>
                                      </p:cBhvr>
                                      <p:to>
                                        <p:strVal val="visible"/>
                                      </p:to>
                                    </p:set>
                                    <p:animEffect transition="in" filter="blinds(horizontal)">
                                      <p:cBhvr>
                                        <p:cTn id="17" dur="500"/>
                                        <p:tgtEl>
                                          <p:spTgt spid="3174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44" grpId="0" autoUpdateAnimBg="0"/>
      <p:bldP spid="317445" grpId="0" autoUpdateAnimBg="0"/>
      <p:bldP spid="317446"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CB7EDE81-99D7-4FBA-9B00-C3C32E316F1C}" type="slidenum">
              <a:rPr lang="en-US" altLang="zh-CN"/>
            </a:fld>
            <a:endParaRPr lang="en-US" altLang="zh-CN"/>
          </a:p>
        </p:txBody>
      </p:sp>
      <p:sp>
        <p:nvSpPr>
          <p:cNvPr id="379906" name="Rectangle 2"/>
          <p:cNvSpPr>
            <a:spLocks noGrp="1" noChangeArrowheads="1"/>
          </p:cNvSpPr>
          <p:nvPr>
            <p:ph type="title"/>
          </p:nvPr>
        </p:nvSpPr>
        <p:spPr/>
        <p:txBody>
          <a:bodyPr/>
          <a:lstStyle/>
          <a:p>
            <a:r>
              <a:rPr lang="en-US" altLang="zh-CN" sz="3200"/>
              <a:t>8.1.5 </a:t>
            </a:r>
            <a:r>
              <a:rPr lang="zh-CN" altLang="en-US" sz="3200"/>
              <a:t>图灵机模型与</a:t>
            </a:r>
            <a:r>
              <a:rPr lang="en-US" altLang="zh-CN" sz="3200"/>
              <a:t>RAM</a:t>
            </a:r>
            <a:r>
              <a:rPr lang="zh-CN" altLang="en-US" sz="3200"/>
              <a:t>模型的关系</a:t>
            </a:r>
            <a:endParaRPr lang="zh-CN" altLang="en-US" sz="3200"/>
          </a:p>
        </p:txBody>
      </p:sp>
      <p:sp>
        <p:nvSpPr>
          <p:cNvPr id="379907" name="Rectangle 3"/>
          <p:cNvSpPr>
            <a:spLocks noGrp="1" noChangeArrowheads="1"/>
          </p:cNvSpPr>
          <p:nvPr>
            <p:ph type="body" idx="1"/>
          </p:nvPr>
        </p:nvSpPr>
        <p:spPr/>
        <p:txBody>
          <a:bodyPr/>
          <a:lstStyle/>
          <a:p>
            <a:pPr>
              <a:lnSpc>
                <a:spcPct val="80000"/>
              </a:lnSpc>
            </a:pPr>
            <a:r>
              <a:rPr lang="zh-CN" altLang="en-US" sz="2600"/>
              <a:t>定理</a:t>
            </a:r>
            <a:r>
              <a:rPr lang="en-US" altLang="zh-CN" sz="2600"/>
              <a:t>8.3</a:t>
            </a:r>
            <a:endParaRPr lang="en-US" altLang="zh-CN" sz="2600"/>
          </a:p>
          <a:p>
            <a:pPr lvl="1">
              <a:lnSpc>
                <a:spcPct val="80000"/>
              </a:lnSpc>
            </a:pPr>
            <a:r>
              <a:rPr lang="zh-CN" altLang="en-US" sz="2200"/>
              <a:t>对于问题</a:t>
            </a:r>
            <a:r>
              <a:rPr lang="en-US" altLang="zh-CN" sz="2200"/>
              <a:t>P</a:t>
            </a:r>
            <a:r>
              <a:rPr lang="zh-CN" altLang="en-US" sz="2200"/>
              <a:t>的任何长度为</a:t>
            </a:r>
            <a:r>
              <a:rPr lang="en-US" altLang="zh-CN" sz="2200"/>
              <a:t>n</a:t>
            </a:r>
            <a:r>
              <a:rPr lang="zh-CN" altLang="en-US" sz="2200"/>
              <a:t>的输入，设求解问题</a:t>
            </a:r>
            <a:r>
              <a:rPr lang="en-US" altLang="zh-CN" sz="2200"/>
              <a:t>P</a:t>
            </a:r>
            <a:r>
              <a:rPr lang="zh-CN" altLang="en-US" sz="2200"/>
              <a:t>的算法</a:t>
            </a:r>
            <a:r>
              <a:rPr lang="en-US" altLang="zh-CN" sz="2200"/>
              <a:t>A</a:t>
            </a:r>
            <a:r>
              <a:rPr lang="zh-CN" altLang="en-US" sz="2200"/>
              <a:t>在</a:t>
            </a:r>
            <a:r>
              <a:rPr lang="en-US" altLang="zh-CN" sz="2200"/>
              <a:t>k</a:t>
            </a:r>
            <a:r>
              <a:rPr lang="zh-CN" altLang="en-US" sz="2200"/>
              <a:t>带图灵机模型</a:t>
            </a:r>
            <a:r>
              <a:rPr lang="en-US" altLang="zh-CN" sz="2200"/>
              <a:t>TM</a:t>
            </a:r>
            <a:r>
              <a:rPr lang="zh-CN" altLang="en-US" sz="2200"/>
              <a:t>下的时间复杂性为</a:t>
            </a:r>
            <a:r>
              <a:rPr lang="en-US" altLang="zh-CN" sz="2200"/>
              <a:t>T(n)</a:t>
            </a:r>
            <a:r>
              <a:rPr lang="zh-CN" altLang="en-US" sz="2200"/>
              <a:t>，那么，算法</a:t>
            </a:r>
            <a:r>
              <a:rPr lang="en-US" altLang="zh-CN" sz="2200"/>
              <a:t>A</a:t>
            </a:r>
            <a:r>
              <a:rPr lang="zh-CN" altLang="en-US" sz="2200"/>
              <a:t>在</a:t>
            </a:r>
            <a:r>
              <a:rPr lang="en-US" altLang="zh-CN" sz="2200"/>
              <a:t>RAM</a:t>
            </a:r>
            <a:r>
              <a:rPr lang="zh-CN" altLang="en-US" sz="2200"/>
              <a:t>模型下的时间复杂性为</a:t>
            </a:r>
            <a:r>
              <a:rPr lang="en-US" altLang="zh-CN" sz="2200"/>
              <a:t>O(T</a:t>
            </a:r>
            <a:r>
              <a:rPr lang="en-US" altLang="zh-CN" sz="2200" baseline="30000"/>
              <a:t>2</a:t>
            </a:r>
            <a:r>
              <a:rPr lang="en-US" altLang="zh-CN" sz="2200"/>
              <a:t>(n))</a:t>
            </a:r>
            <a:r>
              <a:rPr lang="zh-CN" altLang="en-US" sz="2200"/>
              <a:t>。</a:t>
            </a:r>
            <a:endParaRPr lang="zh-CN" altLang="en-US" sz="2200"/>
          </a:p>
          <a:p>
            <a:pPr>
              <a:lnSpc>
                <a:spcPct val="80000"/>
              </a:lnSpc>
            </a:pPr>
            <a:r>
              <a:rPr lang="zh-CN" altLang="en-US" sz="2600"/>
              <a:t>定理</a:t>
            </a:r>
            <a:r>
              <a:rPr lang="en-US" altLang="zh-CN" sz="2600"/>
              <a:t>8.4</a:t>
            </a:r>
            <a:endParaRPr lang="en-US" altLang="zh-CN" sz="2600"/>
          </a:p>
          <a:p>
            <a:pPr lvl="1">
              <a:lnSpc>
                <a:spcPct val="80000"/>
              </a:lnSpc>
            </a:pPr>
            <a:r>
              <a:rPr lang="zh-CN" altLang="en-US" sz="2200"/>
              <a:t>对于问题</a:t>
            </a:r>
            <a:r>
              <a:rPr lang="en-US" altLang="zh-CN" sz="2200"/>
              <a:t>P</a:t>
            </a:r>
            <a:r>
              <a:rPr lang="zh-CN" altLang="en-US" sz="2200"/>
              <a:t>的任何长度为</a:t>
            </a:r>
            <a:r>
              <a:rPr lang="en-US" altLang="zh-CN" sz="2200"/>
              <a:t>n</a:t>
            </a:r>
            <a:r>
              <a:rPr lang="zh-CN" altLang="en-US" sz="2200"/>
              <a:t>的输入，设求解问题</a:t>
            </a:r>
            <a:r>
              <a:rPr lang="en-US" altLang="zh-CN" sz="2200"/>
              <a:t>P</a:t>
            </a:r>
            <a:r>
              <a:rPr lang="zh-CN" altLang="en-US" sz="2200"/>
              <a:t>的算法</a:t>
            </a:r>
            <a:r>
              <a:rPr lang="en-US" altLang="zh-CN" sz="2200"/>
              <a:t>A</a:t>
            </a:r>
            <a:r>
              <a:rPr lang="zh-CN" altLang="en-US" sz="2200"/>
              <a:t>在</a:t>
            </a:r>
            <a:r>
              <a:rPr lang="en-US" altLang="zh-CN" sz="2200"/>
              <a:t>RAM</a:t>
            </a:r>
            <a:r>
              <a:rPr lang="zh-CN" altLang="en-US" sz="2200"/>
              <a:t>模型下的时间复杂性为</a:t>
            </a:r>
            <a:r>
              <a:rPr lang="en-US" altLang="zh-CN" sz="2200"/>
              <a:t>T(n)</a:t>
            </a:r>
            <a:r>
              <a:rPr lang="zh-CN" altLang="en-US" sz="2200"/>
              <a:t>，那么，算法</a:t>
            </a:r>
            <a:r>
              <a:rPr lang="en-US" altLang="zh-CN" sz="2200"/>
              <a:t>A</a:t>
            </a:r>
            <a:r>
              <a:rPr lang="zh-CN" altLang="en-US" sz="2200"/>
              <a:t>在</a:t>
            </a:r>
            <a:r>
              <a:rPr lang="en-US" altLang="zh-CN" sz="2200"/>
              <a:t>k</a:t>
            </a:r>
            <a:r>
              <a:rPr lang="zh-CN" altLang="en-US" sz="2200"/>
              <a:t>带图灵机模型</a:t>
            </a:r>
            <a:r>
              <a:rPr lang="en-US" altLang="zh-CN" sz="2200"/>
              <a:t>TM</a:t>
            </a:r>
            <a:r>
              <a:rPr lang="zh-CN" altLang="en-US" sz="2200"/>
              <a:t>下的时间复杂性为</a:t>
            </a:r>
            <a:r>
              <a:rPr lang="en-US" altLang="zh-CN" sz="2200"/>
              <a:t>O(T</a:t>
            </a:r>
            <a:r>
              <a:rPr lang="en-US" altLang="zh-CN" sz="2200" baseline="30000"/>
              <a:t>2</a:t>
            </a:r>
            <a:r>
              <a:rPr lang="en-US" altLang="zh-CN" sz="2200"/>
              <a:t>(n))</a:t>
            </a:r>
            <a:r>
              <a:rPr lang="zh-CN" altLang="en-US" sz="2200"/>
              <a:t>。</a:t>
            </a:r>
            <a:endParaRPr lang="zh-CN" altLang="en-US" sz="2200"/>
          </a:p>
          <a:p>
            <a:pPr>
              <a:lnSpc>
                <a:spcPct val="80000"/>
              </a:lnSpc>
            </a:pPr>
            <a:endParaRPr lang="zh-CN" altLang="en-US" sz="2600"/>
          </a:p>
          <a:p>
            <a:pPr>
              <a:lnSpc>
                <a:spcPct val="80000"/>
              </a:lnSpc>
            </a:pPr>
            <a:r>
              <a:rPr lang="zh-CN" altLang="en-US" sz="2600"/>
              <a:t>在对数耗费下的</a:t>
            </a:r>
            <a:r>
              <a:rPr lang="en-US" altLang="zh-CN" sz="2600"/>
              <a:t>RAM</a:t>
            </a:r>
            <a:r>
              <a:rPr lang="zh-CN" altLang="en-US" sz="2600"/>
              <a:t>模型和</a:t>
            </a:r>
            <a:r>
              <a:rPr lang="en-US" altLang="zh-CN" sz="2600"/>
              <a:t>RASP</a:t>
            </a:r>
            <a:r>
              <a:rPr lang="zh-CN" altLang="en-US" sz="2600"/>
              <a:t>模型是与图灵机模型多项式相关的计算模型。对空间复杂性也可得到类似的结论。</a:t>
            </a:r>
            <a:endParaRPr lang="zh-CN" altLang="en-US" sz="2600"/>
          </a:p>
          <a:p>
            <a:pPr lvl="1">
              <a:lnSpc>
                <a:spcPct val="80000"/>
              </a:lnSpc>
            </a:pPr>
            <a:endParaRPr lang="en-US" altLang="zh-CN" sz="220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6"/>
          <p:cNvSpPr>
            <a:spLocks noGrp="1"/>
          </p:cNvSpPr>
          <p:nvPr>
            <p:ph type="sldNum" sz="quarter" idx="12"/>
          </p:nvPr>
        </p:nvSpPr>
        <p:spPr/>
        <p:txBody>
          <a:bodyPr/>
          <a:lstStyle/>
          <a:p>
            <a:fld id="{40766320-E9E9-4262-A92E-9975B057D677}" type="slidenum">
              <a:rPr lang="en-US" altLang="zh-CN"/>
            </a:fld>
            <a:endParaRPr lang="en-US" altLang="zh-CN"/>
          </a:p>
        </p:txBody>
      </p:sp>
      <p:sp>
        <p:nvSpPr>
          <p:cNvPr id="380930" name="Rectangle 2"/>
          <p:cNvSpPr>
            <a:spLocks noGrp="1" noChangeArrowheads="1"/>
          </p:cNvSpPr>
          <p:nvPr>
            <p:ph type="title"/>
          </p:nvPr>
        </p:nvSpPr>
        <p:spPr>
          <a:xfrm>
            <a:off x="457200" y="122238"/>
            <a:ext cx="7543800" cy="714375"/>
          </a:xfrm>
        </p:spPr>
        <p:txBody>
          <a:bodyPr/>
          <a:lstStyle/>
          <a:p>
            <a:r>
              <a:rPr lang="en-US" altLang="zh-CN" sz="3200"/>
              <a:t>8.1.6 </a:t>
            </a:r>
            <a:r>
              <a:rPr lang="zh-CN" altLang="en-US" sz="3200"/>
              <a:t>问题变换与计算复杂性归约</a:t>
            </a:r>
            <a:endParaRPr lang="zh-CN" altLang="en-US" sz="3200"/>
          </a:p>
        </p:txBody>
      </p:sp>
      <p:sp>
        <p:nvSpPr>
          <p:cNvPr id="380931" name="Rectangle 3"/>
          <p:cNvSpPr>
            <a:spLocks noGrp="1" noChangeArrowheads="1"/>
          </p:cNvSpPr>
          <p:nvPr>
            <p:ph type="body" sz="half" idx="1"/>
          </p:nvPr>
        </p:nvSpPr>
        <p:spPr>
          <a:xfrm>
            <a:off x="457200" y="4724400"/>
            <a:ext cx="7859713" cy="1873250"/>
          </a:xfrm>
        </p:spPr>
        <p:txBody>
          <a:bodyPr/>
          <a:lstStyle/>
          <a:p>
            <a:r>
              <a:rPr lang="zh-CN" altLang="en-US" sz="2600"/>
              <a:t>给定问题</a:t>
            </a:r>
            <a:r>
              <a:rPr lang="en-US" altLang="zh-CN" sz="2600"/>
              <a:t>A</a:t>
            </a:r>
            <a:r>
              <a:rPr lang="zh-CN" altLang="en-US" sz="2600"/>
              <a:t>的一个实例</a:t>
            </a:r>
            <a:r>
              <a:rPr lang="en-US" altLang="zh-CN" sz="2600"/>
              <a:t>α</a:t>
            </a:r>
            <a:r>
              <a:rPr lang="zh-CN" altLang="en-US" sz="2600"/>
              <a:t>，利用多项式时间归约算法，将它转换为问题</a:t>
            </a:r>
            <a:r>
              <a:rPr lang="en-US" altLang="zh-CN" sz="2600"/>
              <a:t>B</a:t>
            </a:r>
            <a:r>
              <a:rPr lang="zh-CN" altLang="en-US" sz="2600"/>
              <a:t>的一个实例</a:t>
            </a:r>
            <a:r>
              <a:rPr lang="en-US" altLang="zh-CN" sz="2600"/>
              <a:t>β</a:t>
            </a:r>
            <a:r>
              <a:rPr lang="zh-CN" altLang="en-US" sz="2600"/>
              <a:t>。</a:t>
            </a:r>
            <a:endParaRPr lang="zh-CN" altLang="en-US" sz="2600"/>
          </a:p>
          <a:p>
            <a:r>
              <a:rPr lang="zh-CN" altLang="en-US" sz="2600"/>
              <a:t>在实例</a:t>
            </a:r>
            <a:r>
              <a:rPr lang="en-US" altLang="zh-CN" sz="2600"/>
              <a:t>β</a:t>
            </a:r>
            <a:r>
              <a:rPr lang="zh-CN" altLang="en-US" sz="2600"/>
              <a:t>上，运行</a:t>
            </a:r>
            <a:r>
              <a:rPr lang="en-US" altLang="zh-CN" sz="2600"/>
              <a:t>B</a:t>
            </a:r>
            <a:r>
              <a:rPr lang="zh-CN" altLang="en-US" sz="2600"/>
              <a:t>的多项式时间判定算法。</a:t>
            </a:r>
            <a:endParaRPr lang="zh-CN" altLang="en-US" sz="2600"/>
          </a:p>
          <a:p>
            <a:r>
              <a:rPr lang="zh-CN" altLang="en-US" sz="2600"/>
              <a:t>将</a:t>
            </a:r>
            <a:r>
              <a:rPr lang="en-US" altLang="zh-CN" sz="2600"/>
              <a:t>β</a:t>
            </a:r>
            <a:r>
              <a:rPr lang="zh-CN" altLang="en-US" sz="2600"/>
              <a:t>的答案用作</a:t>
            </a:r>
            <a:r>
              <a:rPr lang="en-US" altLang="zh-CN" sz="2600"/>
              <a:t>α</a:t>
            </a:r>
            <a:r>
              <a:rPr lang="zh-CN" altLang="en-US" sz="2600"/>
              <a:t>的答案。</a:t>
            </a:r>
            <a:endParaRPr lang="zh-CN" altLang="en-US" sz="2600"/>
          </a:p>
        </p:txBody>
      </p:sp>
      <p:pic>
        <p:nvPicPr>
          <p:cNvPr id="38093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71550" y="836613"/>
            <a:ext cx="7019925" cy="391953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80933" name="Object 5"/>
          <p:cNvGraphicFramePr>
            <a:graphicFrameLocks noGrp="1" noChangeAspect="1"/>
          </p:cNvGraphicFramePr>
          <p:nvPr>
            <p:ph sz="half" idx="2"/>
          </p:nvPr>
        </p:nvGraphicFramePr>
        <p:xfrm>
          <a:off x="6156325" y="3429000"/>
          <a:ext cx="2093913" cy="828675"/>
        </p:xfrm>
        <a:graphic>
          <a:graphicData uri="http://schemas.openxmlformats.org/presentationml/2006/ole">
            <mc:AlternateContent xmlns:mc="http://schemas.openxmlformats.org/markup-compatibility/2006">
              <mc:Choice xmlns:v="urn:schemas-microsoft-com:vml" Requires="v">
                <p:oleObj spid="_x0000_s380937" name="公式" r:id="rId2" imgW="609600" imgH="241300" progId="Equation.3">
                  <p:embed/>
                </p:oleObj>
              </mc:Choice>
              <mc:Fallback>
                <p:oleObj name="公式" r:id="rId2" imgW="609600" imgH="2413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325" y="3429000"/>
                        <a:ext cx="2093913" cy="828675"/>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nodeType="clickEffect">
                                  <p:stCondLst>
                                    <p:cond delay="0"/>
                                  </p:stCondLst>
                                  <p:childTnLst>
                                    <p:set>
                                      <p:cBhvr>
                                        <p:cTn id="6" dur="1" fill="hold">
                                          <p:stCondLst>
                                            <p:cond delay="0"/>
                                          </p:stCondLst>
                                        </p:cTn>
                                        <p:tgtEl>
                                          <p:spTgt spid="380933"/>
                                        </p:tgtEl>
                                        <p:attrNameLst>
                                          <p:attrName>style.visibility</p:attrName>
                                        </p:attrNameLst>
                                      </p:cBhvr>
                                      <p:to>
                                        <p:strVal val="visible"/>
                                      </p:to>
                                    </p:set>
                                    <p:animEffect transition="in" filter="slide(fromRight)">
                                      <p:cBhvr>
                                        <p:cTn id="7" dur="500"/>
                                        <p:tgtEl>
                                          <p:spTgt spid="3809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902060EF-8D12-431E-BE97-BCD86F79D035}" type="slidenum">
              <a:rPr lang="en-US" altLang="zh-CN"/>
            </a:fld>
            <a:endParaRPr lang="en-US" altLang="zh-CN"/>
          </a:p>
        </p:txBody>
      </p:sp>
      <p:sp>
        <p:nvSpPr>
          <p:cNvPr id="322562" name="Rectangle 2"/>
          <p:cNvSpPr>
            <a:spLocks noGrp="1" noChangeArrowheads="1"/>
          </p:cNvSpPr>
          <p:nvPr>
            <p:ph type="title"/>
          </p:nvPr>
        </p:nvSpPr>
        <p:spPr>
          <a:xfrm>
            <a:off x="323850" y="188913"/>
            <a:ext cx="7772400" cy="863600"/>
          </a:xfrm>
        </p:spPr>
        <p:txBody>
          <a:bodyPr/>
          <a:lstStyle/>
          <a:p>
            <a:r>
              <a:rPr lang="en-US" altLang="zh-CN" sz="3000"/>
              <a:t>8.2	</a:t>
            </a:r>
            <a:r>
              <a:rPr lang="en-US" altLang="zh-CN" sz="3000">
                <a:ea typeface="新宋体" panose="02010609030101010101" charset="-122"/>
              </a:rPr>
              <a:t>P</a:t>
            </a:r>
            <a:r>
              <a:rPr lang="zh-CN" altLang="en-US" sz="3000">
                <a:ea typeface="新宋体" panose="02010609030101010101" charset="-122"/>
              </a:rPr>
              <a:t>类与</a:t>
            </a:r>
            <a:r>
              <a:rPr lang="en-US" altLang="zh-CN" sz="3000">
                <a:ea typeface="新宋体" panose="02010609030101010101" charset="-122"/>
              </a:rPr>
              <a:t>NP</a:t>
            </a:r>
            <a:r>
              <a:rPr lang="zh-CN" altLang="en-US" sz="3000">
                <a:ea typeface="新宋体" panose="02010609030101010101" charset="-122"/>
              </a:rPr>
              <a:t>类问题</a:t>
            </a:r>
            <a:endParaRPr lang="zh-CN" altLang="en-US" sz="3000">
              <a:ea typeface="新宋体" panose="02010609030101010101" charset="-122"/>
            </a:endParaRPr>
          </a:p>
        </p:txBody>
      </p:sp>
      <p:sp>
        <p:nvSpPr>
          <p:cNvPr id="322563" name="Rectangle 3"/>
          <p:cNvSpPr>
            <a:spLocks noGrp="1" noChangeArrowheads="1"/>
          </p:cNvSpPr>
          <p:nvPr>
            <p:ph type="body" idx="1"/>
          </p:nvPr>
        </p:nvSpPr>
        <p:spPr>
          <a:xfrm>
            <a:off x="323850" y="1125538"/>
            <a:ext cx="8496300" cy="5399087"/>
          </a:xfrm>
          <a:solidFill>
            <a:schemeClr val="bg1"/>
          </a:solidFill>
        </p:spPr>
        <p:txBody>
          <a:bodyPr/>
          <a:lstStyle/>
          <a:p>
            <a:pPr algn="just">
              <a:lnSpc>
                <a:spcPct val="130000"/>
              </a:lnSpc>
            </a:pPr>
            <a:r>
              <a:rPr lang="zh-CN" altLang="en-US" sz="2200"/>
              <a:t>一般地说，将可由多项式时间算法求解的问题看作是易处理的问题，而将需要超多项式时间才能求解的问题看作是难处理的问题。</a:t>
            </a:r>
            <a:endParaRPr lang="zh-CN" altLang="en-US" sz="2200"/>
          </a:p>
          <a:p>
            <a:pPr algn="just">
              <a:lnSpc>
                <a:spcPct val="130000"/>
              </a:lnSpc>
            </a:pPr>
            <a:r>
              <a:rPr lang="zh-CN" altLang="en-US" sz="2200"/>
              <a:t>有许多问题，从表面上看似乎并不比排序或图的搜索等问题更困难，然而至今人们还没有找到解决这些问题的多项式时间算法，也没有人能够证明这些问题需要超多项式时间下界。</a:t>
            </a:r>
            <a:endParaRPr lang="zh-CN" altLang="en-US" sz="2200"/>
          </a:p>
          <a:p>
            <a:pPr algn="just">
              <a:lnSpc>
                <a:spcPct val="130000"/>
              </a:lnSpc>
            </a:pPr>
            <a:r>
              <a:rPr lang="zh-CN" altLang="en-US" sz="2200"/>
              <a:t>在图灵机计算模型下，这类问题的计算复杂性至今未知。</a:t>
            </a:r>
            <a:endParaRPr lang="zh-CN" altLang="en-US" sz="2200"/>
          </a:p>
          <a:p>
            <a:pPr algn="just">
              <a:lnSpc>
                <a:spcPct val="130000"/>
              </a:lnSpc>
            </a:pPr>
            <a:r>
              <a:rPr lang="zh-CN" altLang="en-US" sz="2200"/>
              <a:t>为了研究这类问题的计算复杂性，人们提出了另一个能力更强的计算模型，即非确定性图灵机计算模型，简记为</a:t>
            </a:r>
            <a:r>
              <a:rPr lang="en-US" altLang="zh-CN" sz="2200"/>
              <a:t>NDTM(Nondeterministic Turing Machine)</a:t>
            </a:r>
            <a:r>
              <a:rPr lang="zh-CN" altLang="en-US" sz="2200"/>
              <a:t>。</a:t>
            </a:r>
            <a:endParaRPr lang="zh-CN" altLang="en-US" sz="2200"/>
          </a:p>
          <a:p>
            <a:pPr algn="just">
              <a:lnSpc>
                <a:spcPct val="130000"/>
              </a:lnSpc>
            </a:pPr>
            <a:r>
              <a:rPr lang="zh-CN" altLang="en-US" sz="2200"/>
              <a:t>在非确定性图灵机计算模型下，许多问题可以在多项式时间内求解。</a:t>
            </a:r>
            <a:endParaRPr lang="zh-CN" altLang="en-US" sz="220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2563">
                                            <p:txEl>
                                              <p:pRg st="4294967295" end="4294967295"/>
                                            </p:txEl>
                                          </p:spTgt>
                                        </p:tgtEl>
                                        <p:attrNameLst>
                                          <p:attrName>style.visibility</p:attrName>
                                        </p:attrNameLst>
                                      </p:cBhvr>
                                      <p:to>
                                        <p:strVal val="visible"/>
                                      </p:to>
                                    </p:set>
                                    <p:animEffect transition="in" filter="blinds(horizontal)">
                                      <p:cBhvr>
                                        <p:cTn id="7" dur="500"/>
                                        <p:tgtEl>
                                          <p:spTgt spid="322563">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2563">
                                            <p:txEl>
                                              <p:pRg st="0" end="0"/>
                                            </p:txEl>
                                          </p:spTgt>
                                        </p:tgtEl>
                                        <p:attrNameLst>
                                          <p:attrName>style.visibility</p:attrName>
                                        </p:attrNameLst>
                                      </p:cBhvr>
                                      <p:to>
                                        <p:strVal val="visible"/>
                                      </p:to>
                                    </p:set>
                                    <p:animEffect transition="in" filter="blinds(horizontal)">
                                      <p:cBhvr>
                                        <p:cTn id="12" dur="500"/>
                                        <p:tgtEl>
                                          <p:spTgt spid="32256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22563">
                                            <p:txEl>
                                              <p:pRg st="1" end="1"/>
                                            </p:txEl>
                                          </p:spTgt>
                                        </p:tgtEl>
                                        <p:attrNameLst>
                                          <p:attrName>style.visibility</p:attrName>
                                        </p:attrNameLst>
                                      </p:cBhvr>
                                      <p:to>
                                        <p:strVal val="visible"/>
                                      </p:to>
                                    </p:set>
                                    <p:animEffect transition="in" filter="blinds(horizontal)">
                                      <p:cBhvr>
                                        <p:cTn id="17" dur="500"/>
                                        <p:tgtEl>
                                          <p:spTgt spid="32256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22563">
                                            <p:txEl>
                                              <p:pRg st="2" end="2"/>
                                            </p:txEl>
                                          </p:spTgt>
                                        </p:tgtEl>
                                        <p:attrNameLst>
                                          <p:attrName>style.visibility</p:attrName>
                                        </p:attrNameLst>
                                      </p:cBhvr>
                                      <p:to>
                                        <p:strVal val="visible"/>
                                      </p:to>
                                    </p:set>
                                    <p:animEffect transition="in" filter="blinds(horizontal)">
                                      <p:cBhvr>
                                        <p:cTn id="22" dur="500"/>
                                        <p:tgtEl>
                                          <p:spTgt spid="32256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22563">
                                            <p:txEl>
                                              <p:pRg st="3" end="3"/>
                                            </p:txEl>
                                          </p:spTgt>
                                        </p:tgtEl>
                                        <p:attrNameLst>
                                          <p:attrName>style.visibility</p:attrName>
                                        </p:attrNameLst>
                                      </p:cBhvr>
                                      <p:to>
                                        <p:strVal val="visible"/>
                                      </p:to>
                                    </p:set>
                                    <p:animEffect transition="in" filter="blinds(horizontal)">
                                      <p:cBhvr>
                                        <p:cTn id="27" dur="500"/>
                                        <p:tgtEl>
                                          <p:spTgt spid="32256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22563">
                                            <p:txEl>
                                              <p:pRg st="4" end="4"/>
                                            </p:txEl>
                                          </p:spTgt>
                                        </p:tgtEl>
                                        <p:attrNameLst>
                                          <p:attrName>style.visibility</p:attrName>
                                        </p:attrNameLst>
                                      </p:cBhvr>
                                      <p:to>
                                        <p:strVal val="visible"/>
                                      </p:to>
                                    </p:set>
                                    <p:animEffect transition="in" filter="blinds(horizontal)">
                                      <p:cBhvr>
                                        <p:cTn id="32" dur="500"/>
                                        <p:tgtEl>
                                          <p:spTgt spid="3225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563" grpId="0" autoUpdateAnimBg="0" build="p"/>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B8FE8A52-03C7-4261-A297-319779F15B4A}" type="slidenum">
              <a:rPr lang="en-US" altLang="zh-CN"/>
            </a:fld>
            <a:endParaRPr lang="en-US" altLang="zh-CN"/>
          </a:p>
        </p:txBody>
      </p:sp>
      <p:sp>
        <p:nvSpPr>
          <p:cNvPr id="397314" name="Rectangle 2"/>
          <p:cNvSpPr>
            <a:spLocks noGrp="1" noChangeArrowheads="1"/>
          </p:cNvSpPr>
          <p:nvPr>
            <p:ph type="title"/>
          </p:nvPr>
        </p:nvSpPr>
        <p:spPr/>
        <p:txBody>
          <a:bodyPr/>
          <a:lstStyle/>
          <a:p>
            <a:r>
              <a:rPr lang="en-US" altLang="zh-CN" sz="3000"/>
              <a:t>8.2.1  </a:t>
            </a:r>
            <a:r>
              <a:rPr lang="zh-CN" altLang="en-US" sz="3000">
                <a:latin typeface="新宋体" panose="02010609030101010101" charset="-122"/>
                <a:ea typeface="新宋体" panose="02010609030101010101" charset="-122"/>
              </a:rPr>
              <a:t>非确定性图灵机</a:t>
            </a:r>
            <a:endParaRPr lang="zh-CN" altLang="en-US" sz="3000">
              <a:latin typeface="新宋体" panose="02010609030101010101" charset="-122"/>
              <a:ea typeface="新宋体" panose="02010609030101010101" charset="-122"/>
            </a:endParaRPr>
          </a:p>
        </p:txBody>
      </p:sp>
      <p:sp>
        <p:nvSpPr>
          <p:cNvPr id="397315" name="Text Box 3"/>
          <p:cNvSpPr txBox="1">
            <a:spLocks noChangeArrowheads="1"/>
          </p:cNvSpPr>
          <p:nvPr/>
        </p:nvSpPr>
        <p:spPr bwMode="auto">
          <a:xfrm>
            <a:off x="152400" y="3676650"/>
            <a:ext cx="88392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新宋体" panose="02010609030101010101" charset="-122"/>
                <a:ea typeface="新宋体" panose="02010609030101010101" charset="-122"/>
              </a:rPr>
              <a:t>	</a:t>
            </a:r>
            <a:r>
              <a:rPr lang="zh-CN" altLang="en-US" sz="2400" b="1">
                <a:solidFill>
                  <a:schemeClr val="accent2"/>
                </a:solidFill>
                <a:latin typeface="新宋体" panose="02010609030101010101" charset="-122"/>
                <a:ea typeface="新宋体" panose="02010609030101010101" charset="-122"/>
              </a:rPr>
              <a:t>非确定性图灵机</a:t>
            </a:r>
            <a:r>
              <a:rPr lang="zh-CN" altLang="en-US" sz="2400" b="1">
                <a:latin typeface="新宋体" panose="02010609030101010101" charset="-122"/>
                <a:ea typeface="新宋体" panose="02010609030101010101" charset="-122"/>
              </a:rPr>
              <a:t>（ </a:t>
            </a:r>
            <a:r>
              <a:rPr lang="en-US" altLang="zh-CN" sz="2400" b="1">
                <a:latin typeface="新宋体" panose="02010609030101010101" charset="-122"/>
                <a:ea typeface="新宋体" panose="02010609030101010101" charset="-122"/>
              </a:rPr>
              <a:t>NDTM </a:t>
            </a:r>
            <a:r>
              <a:rPr lang="zh-CN" altLang="en-US" sz="2400" b="1">
                <a:latin typeface="新宋体" panose="02010609030101010101" charset="-122"/>
                <a:ea typeface="新宋体" panose="02010609030101010101" charset="-122"/>
              </a:rPr>
              <a:t>）</a:t>
            </a:r>
            <a:r>
              <a:rPr lang="zh-CN" altLang="en-US" sz="2400">
                <a:latin typeface="新宋体" panose="02010609030101010101" charset="-122"/>
                <a:ea typeface="新宋体" panose="02010609030101010101" charset="-122"/>
              </a:rPr>
              <a:t>：一个</a:t>
            </a:r>
            <a:r>
              <a:rPr lang="en-US" altLang="zh-CN" sz="2400">
                <a:latin typeface="新宋体" panose="02010609030101010101" charset="-122"/>
                <a:ea typeface="新宋体" panose="02010609030101010101" charset="-122"/>
              </a:rPr>
              <a:t>k</a:t>
            </a:r>
            <a:r>
              <a:rPr lang="zh-CN" altLang="en-US" sz="2400">
                <a:latin typeface="新宋体" panose="02010609030101010101" charset="-122"/>
                <a:ea typeface="新宋体" panose="02010609030101010101" charset="-122"/>
              </a:rPr>
              <a:t>带的非确定性图灵机</a:t>
            </a:r>
            <a:r>
              <a:rPr lang="en-US" altLang="zh-CN" sz="2400">
                <a:latin typeface="新宋体" panose="02010609030101010101" charset="-122"/>
                <a:ea typeface="新宋体" panose="02010609030101010101" charset="-122"/>
              </a:rPr>
              <a:t>M</a:t>
            </a:r>
            <a:r>
              <a:rPr lang="zh-CN" altLang="en-US" sz="2400">
                <a:latin typeface="新宋体" panose="02010609030101010101" charset="-122"/>
                <a:ea typeface="新宋体" panose="02010609030101010101" charset="-122"/>
              </a:rPr>
              <a:t>是一个</a:t>
            </a:r>
            <a:r>
              <a:rPr lang="en-US" altLang="zh-CN" sz="2400">
                <a:latin typeface="新宋体" panose="02010609030101010101" charset="-122"/>
                <a:ea typeface="新宋体" panose="02010609030101010101" charset="-122"/>
              </a:rPr>
              <a:t>7</a:t>
            </a:r>
            <a:r>
              <a:rPr lang="zh-CN" altLang="en-US" sz="2400">
                <a:latin typeface="新宋体" panose="02010609030101010101" charset="-122"/>
                <a:ea typeface="新宋体" panose="02010609030101010101" charset="-122"/>
              </a:rPr>
              <a:t>元组：</a:t>
            </a:r>
            <a:r>
              <a:rPr lang="en-US" altLang="zh-CN" sz="2400">
                <a:latin typeface="新宋体" panose="02010609030101010101" charset="-122"/>
                <a:ea typeface="新宋体" panose="02010609030101010101" charset="-122"/>
              </a:rPr>
              <a:t>(Q</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T</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I</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δ</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b</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q</a:t>
            </a:r>
            <a:r>
              <a:rPr lang="en-US" altLang="zh-CN" sz="2400" baseline="-30000">
                <a:latin typeface="新宋体" panose="02010609030101010101" charset="-122"/>
                <a:ea typeface="新宋体" panose="02010609030101010101" charset="-122"/>
              </a:rPr>
              <a:t>0</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q</a:t>
            </a:r>
            <a:r>
              <a:rPr lang="en-US" altLang="zh-CN" sz="2400" baseline="-30000">
                <a:latin typeface="新宋体" panose="02010609030101010101" charset="-122"/>
                <a:ea typeface="新宋体" panose="02010609030101010101" charset="-122"/>
              </a:rPr>
              <a:t>f</a:t>
            </a:r>
            <a:r>
              <a:rPr lang="en-US" altLang="zh-CN" sz="2400">
                <a:latin typeface="新宋体" panose="02010609030101010101" charset="-122"/>
                <a:ea typeface="新宋体" panose="02010609030101010101" charset="-122"/>
              </a:rPr>
              <a:t>)</a:t>
            </a:r>
            <a:r>
              <a:rPr lang="zh-CN" altLang="en-US" sz="2400">
                <a:latin typeface="新宋体" panose="02010609030101010101" charset="-122"/>
                <a:ea typeface="新宋体" panose="02010609030101010101" charset="-122"/>
              </a:rPr>
              <a:t>。与确定性图灵机不同的是非确定性图灵机允许移动函数</a:t>
            </a:r>
            <a:r>
              <a:rPr lang="en-US" altLang="zh-CN" sz="2400" b="1">
                <a:latin typeface="新宋体" panose="02010609030101010101" charset="-122"/>
                <a:ea typeface="新宋体" panose="02010609030101010101" charset="-122"/>
              </a:rPr>
              <a:t>δ</a:t>
            </a:r>
            <a:r>
              <a:rPr lang="zh-CN" altLang="en-US" sz="2400" b="1">
                <a:latin typeface="新宋体" panose="02010609030101010101" charset="-122"/>
                <a:ea typeface="新宋体" panose="02010609030101010101" charset="-122"/>
              </a:rPr>
              <a:t>具有不确定性</a:t>
            </a:r>
            <a:r>
              <a:rPr lang="zh-CN" altLang="en-US" sz="2400">
                <a:latin typeface="新宋体" panose="02010609030101010101" charset="-122"/>
                <a:ea typeface="新宋体" panose="02010609030101010101" charset="-122"/>
              </a:rPr>
              <a:t>，即对于</a:t>
            </a:r>
            <a:r>
              <a:rPr lang="en-US" altLang="zh-CN" sz="2400">
                <a:latin typeface="新宋体" panose="02010609030101010101" charset="-122"/>
                <a:ea typeface="新宋体" panose="02010609030101010101" charset="-122"/>
              </a:rPr>
              <a:t>Q</a:t>
            </a:r>
            <a:r>
              <a:rPr lang="en-US" altLang="zh-CN" sz="2400">
                <a:latin typeface="新宋体" panose="02010609030101010101" charset="-122"/>
                <a:ea typeface="新宋体" panose="02010609030101010101" charset="-122"/>
                <a:sym typeface="Symbol" panose="05050102010706020507" pitchFamily="18" charset="2"/>
              </a:rPr>
              <a:t></a:t>
            </a:r>
            <a:r>
              <a:rPr lang="en-US" altLang="zh-CN" sz="2400">
                <a:latin typeface="新宋体" panose="02010609030101010101" charset="-122"/>
                <a:ea typeface="新宋体" panose="02010609030101010101" charset="-122"/>
              </a:rPr>
              <a:t>T</a:t>
            </a:r>
            <a:r>
              <a:rPr lang="en-US" altLang="zh-CN" sz="2400" baseline="30000">
                <a:latin typeface="新宋体" panose="02010609030101010101" charset="-122"/>
                <a:ea typeface="新宋体" panose="02010609030101010101" charset="-122"/>
              </a:rPr>
              <a:t>k</a:t>
            </a:r>
            <a:r>
              <a:rPr lang="zh-CN" altLang="en-US" sz="2400">
                <a:latin typeface="新宋体" panose="02010609030101010101" charset="-122"/>
                <a:ea typeface="新宋体" panose="02010609030101010101" charset="-122"/>
              </a:rPr>
              <a:t>中的每一个值</a:t>
            </a:r>
            <a:r>
              <a:rPr lang="en-US" altLang="zh-CN" sz="2400">
                <a:latin typeface="新宋体" panose="02010609030101010101" charset="-122"/>
                <a:ea typeface="新宋体" panose="02010609030101010101" charset="-122"/>
              </a:rPr>
              <a:t>(q;x</a:t>
            </a:r>
            <a:r>
              <a:rPr lang="en-US" altLang="zh-CN" sz="2400" baseline="-30000">
                <a:latin typeface="新宋体" panose="02010609030101010101" charset="-122"/>
                <a:ea typeface="新宋体" panose="02010609030101010101" charset="-122"/>
              </a:rPr>
              <a:t>1</a:t>
            </a:r>
            <a:r>
              <a:rPr lang="en-US" altLang="zh-CN" sz="2400">
                <a:latin typeface="新宋体" panose="02010609030101010101" charset="-122"/>
                <a:ea typeface="新宋体" panose="02010609030101010101" charset="-122"/>
              </a:rPr>
              <a:t>,x</a:t>
            </a:r>
            <a:r>
              <a:rPr lang="en-US" altLang="zh-CN" sz="2400" baseline="-30000">
                <a:latin typeface="新宋体" panose="02010609030101010101" charset="-122"/>
                <a:ea typeface="新宋体" panose="02010609030101010101" charset="-122"/>
              </a:rPr>
              <a:t>2</a:t>
            </a:r>
            <a:r>
              <a:rPr lang="en-US" altLang="zh-CN" sz="2400">
                <a:latin typeface="新宋体" panose="02010609030101010101" charset="-122"/>
                <a:ea typeface="新宋体" panose="02010609030101010101" charset="-122"/>
              </a:rPr>
              <a:t>,</a:t>
            </a:r>
            <a:r>
              <a:rPr lang="en-US" altLang="zh-CN" sz="2400">
                <a:latin typeface="Times New Roman" panose="02020603050405020304"/>
                <a:ea typeface="新宋体" panose="02010609030101010101" charset="-122"/>
              </a:rPr>
              <a:t>…</a:t>
            </a:r>
            <a:r>
              <a:rPr lang="en-US" altLang="zh-CN" sz="2400">
                <a:latin typeface="新宋体" panose="02010609030101010101" charset="-122"/>
                <a:ea typeface="新宋体" panose="02010609030101010101" charset="-122"/>
              </a:rPr>
              <a:t>,x</a:t>
            </a:r>
            <a:r>
              <a:rPr lang="en-US" altLang="zh-CN" sz="2400" baseline="-30000">
                <a:latin typeface="新宋体" panose="02010609030101010101" charset="-122"/>
                <a:ea typeface="新宋体" panose="02010609030101010101" charset="-122"/>
              </a:rPr>
              <a:t>k</a:t>
            </a:r>
            <a:r>
              <a:rPr lang="en-US" altLang="zh-CN" sz="2400">
                <a:latin typeface="新宋体" panose="02010609030101010101" charset="-122"/>
                <a:ea typeface="新宋体" panose="02010609030101010101" charset="-122"/>
              </a:rPr>
              <a:t>)</a:t>
            </a:r>
            <a:r>
              <a:rPr lang="zh-CN" altLang="en-US" sz="2400">
                <a:latin typeface="新宋体" panose="02010609030101010101" charset="-122"/>
                <a:ea typeface="新宋体" panose="02010609030101010101" charset="-122"/>
              </a:rPr>
              <a:t>，当它属于</a:t>
            </a:r>
            <a:r>
              <a:rPr lang="en-US" altLang="zh-CN" sz="2400">
                <a:latin typeface="新宋体" panose="02010609030101010101" charset="-122"/>
                <a:ea typeface="新宋体" panose="02010609030101010101" charset="-122"/>
              </a:rPr>
              <a:t>δ</a:t>
            </a:r>
            <a:r>
              <a:rPr lang="zh-CN" altLang="en-US" sz="2400">
                <a:latin typeface="新宋体" panose="02010609030101010101" charset="-122"/>
                <a:ea typeface="新宋体" panose="02010609030101010101" charset="-122"/>
              </a:rPr>
              <a:t>的定义域时，</a:t>
            </a:r>
            <a:r>
              <a:rPr lang="en-US" altLang="zh-CN" sz="2400">
                <a:latin typeface="新宋体" panose="02010609030101010101" charset="-122"/>
                <a:ea typeface="新宋体" panose="02010609030101010101" charset="-122"/>
              </a:rPr>
              <a:t>Q</a:t>
            </a:r>
            <a:r>
              <a:rPr lang="en-US" altLang="zh-CN" sz="2400">
                <a:latin typeface="新宋体" panose="02010609030101010101" charset="-122"/>
                <a:ea typeface="新宋体" panose="02010609030101010101" charset="-122"/>
                <a:sym typeface="Symbol" panose="05050102010706020507" pitchFamily="18" charset="2"/>
              </a:rPr>
              <a:t></a:t>
            </a:r>
            <a:r>
              <a:rPr lang="en-US" altLang="zh-CN" sz="2400">
                <a:latin typeface="新宋体" panose="02010609030101010101" charset="-122"/>
                <a:ea typeface="新宋体" panose="02010609030101010101" charset="-122"/>
              </a:rPr>
              <a:t>(T</a:t>
            </a:r>
            <a:r>
              <a:rPr lang="en-US" altLang="zh-CN" sz="2400">
                <a:latin typeface="新宋体" panose="02010609030101010101" charset="-122"/>
                <a:ea typeface="新宋体" panose="02010609030101010101" charset="-122"/>
                <a:sym typeface="Symbol" panose="05050102010706020507" pitchFamily="18" charset="2"/>
              </a:rPr>
              <a:t></a:t>
            </a:r>
            <a:r>
              <a:rPr lang="en-US" altLang="zh-CN" sz="2400">
                <a:latin typeface="新宋体" panose="02010609030101010101" charset="-122"/>
                <a:ea typeface="新宋体" panose="02010609030101010101" charset="-122"/>
              </a:rPr>
              <a:t>{L</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R</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S})</a:t>
            </a:r>
            <a:r>
              <a:rPr lang="en-US" altLang="zh-CN" sz="2400" baseline="30000">
                <a:latin typeface="新宋体" panose="02010609030101010101" charset="-122"/>
                <a:ea typeface="新宋体" panose="02010609030101010101" charset="-122"/>
              </a:rPr>
              <a:t>k</a:t>
            </a:r>
            <a:r>
              <a:rPr lang="zh-CN" altLang="en-US" sz="2400">
                <a:latin typeface="新宋体" panose="02010609030101010101" charset="-122"/>
                <a:ea typeface="新宋体" panose="02010609030101010101" charset="-122"/>
              </a:rPr>
              <a:t>中有唯一的一个</a:t>
            </a:r>
            <a:r>
              <a:rPr lang="zh-CN" altLang="en-US" sz="2400" b="1">
                <a:latin typeface="新宋体" panose="02010609030101010101" charset="-122"/>
                <a:ea typeface="新宋体" panose="02010609030101010101" charset="-122"/>
              </a:rPr>
              <a:t>子集</a:t>
            </a:r>
            <a:r>
              <a:rPr lang="en-US" altLang="zh-CN" sz="2400">
                <a:latin typeface="新宋体" panose="02010609030101010101" charset="-122"/>
                <a:ea typeface="新宋体" panose="02010609030101010101" charset="-122"/>
              </a:rPr>
              <a:t>δ(q;x</a:t>
            </a:r>
            <a:r>
              <a:rPr lang="en-US" altLang="zh-CN" sz="2400" baseline="-30000">
                <a:latin typeface="新宋体" panose="02010609030101010101" charset="-122"/>
                <a:ea typeface="新宋体" panose="02010609030101010101" charset="-122"/>
              </a:rPr>
              <a:t>1</a:t>
            </a:r>
            <a:r>
              <a:rPr lang="en-US" altLang="zh-CN" sz="2400">
                <a:latin typeface="新宋体" panose="02010609030101010101" charset="-122"/>
                <a:ea typeface="新宋体" panose="02010609030101010101" charset="-122"/>
              </a:rPr>
              <a:t>,x</a:t>
            </a:r>
            <a:r>
              <a:rPr lang="en-US" altLang="zh-CN" sz="2400" baseline="-30000">
                <a:latin typeface="新宋体" panose="02010609030101010101" charset="-122"/>
                <a:ea typeface="新宋体" panose="02010609030101010101" charset="-122"/>
              </a:rPr>
              <a:t>2</a:t>
            </a:r>
            <a:r>
              <a:rPr lang="en-US" altLang="zh-CN" sz="2400">
                <a:latin typeface="新宋体" panose="02010609030101010101" charset="-122"/>
                <a:ea typeface="新宋体" panose="02010609030101010101" charset="-122"/>
              </a:rPr>
              <a:t>,</a:t>
            </a:r>
            <a:r>
              <a:rPr lang="en-US" altLang="zh-CN" sz="2400">
                <a:latin typeface="Times New Roman" panose="02020603050405020304"/>
                <a:ea typeface="新宋体" panose="02010609030101010101" charset="-122"/>
              </a:rPr>
              <a:t>…</a:t>
            </a:r>
            <a:r>
              <a:rPr lang="en-US" altLang="zh-CN" sz="2400">
                <a:latin typeface="新宋体" panose="02010609030101010101" charset="-122"/>
                <a:ea typeface="新宋体" panose="02010609030101010101" charset="-122"/>
              </a:rPr>
              <a:t>,x</a:t>
            </a:r>
            <a:r>
              <a:rPr lang="en-US" altLang="zh-CN" sz="2400" baseline="-30000">
                <a:latin typeface="新宋体" panose="02010609030101010101" charset="-122"/>
                <a:ea typeface="新宋体" panose="02010609030101010101" charset="-122"/>
              </a:rPr>
              <a:t>k</a:t>
            </a:r>
            <a:r>
              <a:rPr lang="en-US" altLang="zh-CN" sz="2400">
                <a:latin typeface="新宋体" panose="02010609030101010101" charset="-122"/>
                <a:ea typeface="新宋体" panose="02010609030101010101" charset="-122"/>
              </a:rPr>
              <a:t>)</a:t>
            </a:r>
            <a:r>
              <a:rPr lang="zh-CN" altLang="en-US" sz="2400">
                <a:latin typeface="新宋体" panose="02010609030101010101" charset="-122"/>
                <a:ea typeface="新宋体" panose="02010609030101010101" charset="-122"/>
              </a:rPr>
              <a:t>与之对应。可以在</a:t>
            </a:r>
            <a:r>
              <a:rPr lang="en-US" altLang="zh-CN" sz="2400">
                <a:latin typeface="新宋体" panose="02010609030101010101" charset="-122"/>
                <a:ea typeface="新宋体" panose="02010609030101010101" charset="-122"/>
              </a:rPr>
              <a:t>δ(q;x</a:t>
            </a:r>
            <a:r>
              <a:rPr lang="en-US" altLang="zh-CN" sz="2400" baseline="-30000">
                <a:latin typeface="新宋体" panose="02010609030101010101" charset="-122"/>
                <a:ea typeface="新宋体" panose="02010609030101010101" charset="-122"/>
              </a:rPr>
              <a:t>1</a:t>
            </a:r>
            <a:r>
              <a:rPr lang="en-US" altLang="zh-CN" sz="2400">
                <a:latin typeface="新宋体" panose="02010609030101010101" charset="-122"/>
                <a:ea typeface="新宋体" panose="02010609030101010101" charset="-122"/>
              </a:rPr>
              <a:t>,x</a:t>
            </a:r>
            <a:r>
              <a:rPr lang="en-US" altLang="zh-CN" sz="2400" baseline="-30000">
                <a:latin typeface="新宋体" panose="02010609030101010101" charset="-122"/>
                <a:ea typeface="新宋体" panose="02010609030101010101" charset="-122"/>
              </a:rPr>
              <a:t>2</a:t>
            </a:r>
            <a:r>
              <a:rPr lang="en-US" altLang="zh-CN" sz="2400">
                <a:latin typeface="新宋体" panose="02010609030101010101" charset="-122"/>
                <a:ea typeface="新宋体" panose="02010609030101010101" charset="-122"/>
              </a:rPr>
              <a:t>,</a:t>
            </a:r>
            <a:r>
              <a:rPr lang="en-US" altLang="zh-CN" sz="2400">
                <a:latin typeface="Times New Roman" panose="02020603050405020304"/>
                <a:ea typeface="新宋体" panose="02010609030101010101" charset="-122"/>
              </a:rPr>
              <a:t>…</a:t>
            </a:r>
            <a:r>
              <a:rPr lang="en-US" altLang="zh-CN" sz="2400">
                <a:latin typeface="新宋体" panose="02010609030101010101" charset="-122"/>
                <a:ea typeface="新宋体" panose="02010609030101010101" charset="-122"/>
              </a:rPr>
              <a:t>,x</a:t>
            </a:r>
            <a:r>
              <a:rPr lang="en-US" altLang="zh-CN" sz="2400" baseline="-30000">
                <a:latin typeface="新宋体" panose="02010609030101010101" charset="-122"/>
                <a:ea typeface="新宋体" panose="02010609030101010101" charset="-122"/>
              </a:rPr>
              <a:t>k</a:t>
            </a:r>
            <a:r>
              <a:rPr lang="en-US" altLang="zh-CN" sz="2400">
                <a:latin typeface="新宋体" panose="02010609030101010101" charset="-122"/>
                <a:ea typeface="新宋体" panose="02010609030101010101" charset="-122"/>
              </a:rPr>
              <a:t>)</a:t>
            </a:r>
            <a:r>
              <a:rPr lang="zh-CN" altLang="en-US" sz="2400">
                <a:latin typeface="新宋体" panose="02010609030101010101" charset="-122"/>
                <a:ea typeface="新宋体" panose="02010609030101010101" charset="-122"/>
              </a:rPr>
              <a:t>中随意选定一个值作为它的函数值。</a:t>
            </a:r>
            <a:endParaRPr lang="zh-CN" altLang="en-US" sz="2400">
              <a:latin typeface="新宋体" panose="02010609030101010101" charset="-122"/>
              <a:ea typeface="新宋体" panose="02010609030101010101" charset="-122"/>
            </a:endParaRPr>
          </a:p>
        </p:txBody>
      </p:sp>
      <p:sp>
        <p:nvSpPr>
          <p:cNvPr id="397316" name="Text Box 4"/>
          <p:cNvSpPr txBox="1">
            <a:spLocks noChangeArrowheads="1"/>
          </p:cNvSpPr>
          <p:nvPr/>
        </p:nvSpPr>
        <p:spPr bwMode="auto">
          <a:xfrm>
            <a:off x="152400" y="1828800"/>
            <a:ext cx="88392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新宋体" panose="02010609030101010101" charset="-122"/>
                <a:ea typeface="新宋体" panose="02010609030101010101" charset="-122"/>
              </a:rPr>
              <a:t>	在图灵机计算模型中，移动函数</a:t>
            </a:r>
            <a:r>
              <a:rPr lang="en-US" altLang="zh-CN" sz="2400" b="1">
                <a:latin typeface="新宋体" panose="02010609030101010101" charset="-122"/>
                <a:ea typeface="新宋体" panose="02010609030101010101" charset="-122"/>
              </a:rPr>
              <a:t>δ</a:t>
            </a:r>
            <a:r>
              <a:rPr lang="zh-CN" altLang="en-US" sz="2400" b="1">
                <a:latin typeface="新宋体" panose="02010609030101010101" charset="-122"/>
                <a:ea typeface="新宋体" panose="02010609030101010101" charset="-122"/>
              </a:rPr>
              <a:t>是单值的</a:t>
            </a:r>
            <a:r>
              <a:rPr lang="zh-CN" altLang="en-US" sz="2400">
                <a:latin typeface="新宋体" panose="02010609030101010101" charset="-122"/>
                <a:ea typeface="新宋体" panose="02010609030101010101" charset="-122"/>
              </a:rPr>
              <a:t>，即对于</a:t>
            </a:r>
            <a:r>
              <a:rPr lang="en-US" altLang="zh-CN" sz="2400">
                <a:latin typeface="新宋体" panose="02010609030101010101" charset="-122"/>
                <a:ea typeface="新宋体" panose="02010609030101010101" charset="-122"/>
              </a:rPr>
              <a:t>Q</a:t>
            </a:r>
            <a:r>
              <a:rPr lang="en-US" altLang="zh-CN" sz="2400">
                <a:latin typeface="新宋体" panose="02010609030101010101" charset="-122"/>
                <a:ea typeface="新宋体" panose="02010609030101010101" charset="-122"/>
                <a:sym typeface="Symbol" panose="05050102010706020507" pitchFamily="18" charset="2"/>
              </a:rPr>
              <a:t></a:t>
            </a:r>
            <a:r>
              <a:rPr lang="en-US" altLang="zh-CN" sz="2400">
                <a:latin typeface="新宋体" panose="02010609030101010101" charset="-122"/>
                <a:ea typeface="新宋体" panose="02010609030101010101" charset="-122"/>
              </a:rPr>
              <a:t>T</a:t>
            </a:r>
            <a:r>
              <a:rPr lang="en-US" altLang="zh-CN" sz="2400" baseline="30000">
                <a:latin typeface="新宋体" panose="02010609030101010101" charset="-122"/>
                <a:ea typeface="新宋体" panose="02010609030101010101" charset="-122"/>
              </a:rPr>
              <a:t>k</a:t>
            </a:r>
            <a:r>
              <a:rPr lang="zh-CN" altLang="en-US" sz="2400">
                <a:latin typeface="新宋体" panose="02010609030101010101" charset="-122"/>
                <a:ea typeface="新宋体" panose="02010609030101010101" charset="-122"/>
              </a:rPr>
              <a:t>中的每一个值，当它属于</a:t>
            </a:r>
            <a:r>
              <a:rPr lang="en-US" altLang="zh-CN" sz="2400">
                <a:latin typeface="新宋体" panose="02010609030101010101" charset="-122"/>
                <a:ea typeface="新宋体" panose="02010609030101010101" charset="-122"/>
              </a:rPr>
              <a:t>δ</a:t>
            </a:r>
            <a:r>
              <a:rPr lang="zh-CN" altLang="en-US" sz="2400">
                <a:latin typeface="新宋体" panose="02010609030101010101" charset="-122"/>
                <a:ea typeface="新宋体" panose="02010609030101010101" charset="-122"/>
              </a:rPr>
              <a:t>的定义域时，</a:t>
            </a:r>
            <a:r>
              <a:rPr lang="en-US" altLang="zh-CN" sz="2400">
                <a:latin typeface="新宋体" panose="02010609030101010101" charset="-122"/>
                <a:ea typeface="新宋体" panose="02010609030101010101" charset="-122"/>
              </a:rPr>
              <a:t>Q</a:t>
            </a:r>
            <a:r>
              <a:rPr lang="en-US" altLang="zh-CN" sz="2400">
                <a:latin typeface="新宋体" panose="02010609030101010101" charset="-122"/>
                <a:ea typeface="新宋体" panose="02010609030101010101" charset="-122"/>
                <a:sym typeface="Symbol" panose="05050102010706020507" pitchFamily="18" charset="2"/>
              </a:rPr>
              <a:t></a:t>
            </a:r>
            <a:r>
              <a:rPr lang="en-US" altLang="zh-CN" sz="2400">
                <a:latin typeface="新宋体" panose="02010609030101010101" charset="-122"/>
                <a:ea typeface="新宋体" panose="02010609030101010101" charset="-122"/>
              </a:rPr>
              <a:t>(T</a:t>
            </a:r>
            <a:r>
              <a:rPr lang="en-US" altLang="zh-CN" sz="2400">
                <a:latin typeface="新宋体" panose="02010609030101010101" charset="-122"/>
                <a:ea typeface="新宋体" panose="02010609030101010101" charset="-122"/>
                <a:sym typeface="Symbol" panose="05050102010706020507" pitchFamily="18" charset="2"/>
              </a:rPr>
              <a:t></a:t>
            </a:r>
            <a:r>
              <a:rPr lang="en-US" altLang="zh-CN" sz="2400">
                <a:latin typeface="新宋体" panose="02010609030101010101" charset="-122"/>
                <a:ea typeface="新宋体" panose="02010609030101010101" charset="-122"/>
              </a:rPr>
              <a:t>{L</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R</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S})</a:t>
            </a:r>
            <a:r>
              <a:rPr lang="en-US" altLang="zh-CN" sz="2400" baseline="30000">
                <a:latin typeface="新宋体" panose="02010609030101010101" charset="-122"/>
                <a:ea typeface="新宋体" panose="02010609030101010101" charset="-122"/>
              </a:rPr>
              <a:t>k</a:t>
            </a:r>
            <a:r>
              <a:rPr lang="zh-CN" altLang="en-US" sz="2400">
                <a:latin typeface="新宋体" panose="02010609030101010101" charset="-122"/>
                <a:ea typeface="新宋体" panose="02010609030101010101" charset="-122"/>
              </a:rPr>
              <a:t>中只有唯一的值与之对应，称这种图灵机为</a:t>
            </a:r>
            <a:r>
              <a:rPr lang="zh-CN" altLang="en-US" sz="2400" b="1">
                <a:solidFill>
                  <a:schemeClr val="accent2"/>
                </a:solidFill>
                <a:latin typeface="新宋体" panose="02010609030101010101" charset="-122"/>
                <a:ea typeface="新宋体" panose="02010609030101010101" charset="-122"/>
              </a:rPr>
              <a:t>确定性图灵机</a:t>
            </a:r>
            <a:r>
              <a:rPr lang="zh-CN" altLang="en-US" sz="2400">
                <a:latin typeface="新宋体" panose="02010609030101010101" charset="-122"/>
                <a:ea typeface="新宋体" panose="02010609030101010101" charset="-122"/>
              </a:rPr>
              <a:t>，简记为</a:t>
            </a:r>
            <a:r>
              <a:rPr lang="en-US" altLang="zh-CN" sz="2400" b="1">
                <a:latin typeface="新宋体" panose="02010609030101010101" charset="-122"/>
                <a:ea typeface="新宋体" panose="02010609030101010101" charset="-122"/>
              </a:rPr>
              <a:t>DTM</a:t>
            </a:r>
            <a:r>
              <a:rPr lang="en-US" altLang="zh-CN" sz="2400">
                <a:latin typeface="新宋体" panose="02010609030101010101" charset="-122"/>
                <a:ea typeface="新宋体" panose="02010609030101010101" charset="-122"/>
              </a:rPr>
              <a:t>(Deterministic Turing Machine)</a:t>
            </a:r>
            <a:r>
              <a:rPr lang="zh-CN" altLang="en-US" sz="2400">
                <a:latin typeface="新宋体" panose="02010609030101010101" charset="-122"/>
                <a:ea typeface="新宋体" panose="02010609030101010101" charset="-122"/>
              </a:rPr>
              <a:t>。 </a:t>
            </a:r>
            <a:endParaRPr lang="zh-CN" altLang="en-US" sz="2400">
              <a:latin typeface="新宋体" panose="02010609030101010101" charset="-122"/>
              <a:ea typeface="新宋体" panose="02010609030101010101"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7316"/>
                                        </p:tgtEl>
                                        <p:attrNameLst>
                                          <p:attrName>style.visibility</p:attrName>
                                        </p:attrNameLst>
                                      </p:cBhvr>
                                      <p:to>
                                        <p:strVal val="visible"/>
                                      </p:to>
                                    </p:set>
                                    <p:animEffect transition="in" filter="blinds(horizontal)">
                                      <p:cBhvr>
                                        <p:cTn id="7" dur="500"/>
                                        <p:tgtEl>
                                          <p:spTgt spid="3973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97315"/>
                                        </p:tgtEl>
                                        <p:attrNameLst>
                                          <p:attrName>style.visibility</p:attrName>
                                        </p:attrNameLst>
                                      </p:cBhvr>
                                      <p:to>
                                        <p:strVal val="visible"/>
                                      </p:to>
                                    </p:set>
                                    <p:animEffect transition="in" filter="blinds(horizontal)">
                                      <p:cBhvr>
                                        <p:cTn id="12" dur="500"/>
                                        <p:tgtEl>
                                          <p:spTgt spid="397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315" grpId="0" autoUpdateAnimBg="0"/>
      <p:bldP spid="397316"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39343822-391E-4625-8443-4384BED4B42B}" type="slidenum">
              <a:rPr lang="en-US" altLang="zh-CN"/>
            </a:fld>
            <a:endParaRPr lang="en-US" altLang="zh-CN"/>
          </a:p>
        </p:txBody>
      </p:sp>
      <p:sp>
        <p:nvSpPr>
          <p:cNvPr id="398338" name="Rectangle 2"/>
          <p:cNvSpPr>
            <a:spLocks noGrp="1" noChangeArrowheads="1"/>
          </p:cNvSpPr>
          <p:nvPr>
            <p:ph type="title"/>
          </p:nvPr>
        </p:nvSpPr>
        <p:spPr>
          <a:xfrm>
            <a:off x="457200" y="207963"/>
            <a:ext cx="7543800" cy="1209675"/>
          </a:xfrm>
        </p:spPr>
        <p:txBody>
          <a:bodyPr/>
          <a:lstStyle/>
          <a:p>
            <a:r>
              <a:rPr lang="en-US" altLang="zh-CN" sz="3000"/>
              <a:t>8.2.2  </a:t>
            </a:r>
            <a:r>
              <a:rPr lang="en-US" altLang="zh-CN" sz="3000">
                <a:latin typeface="新宋体" panose="02010609030101010101" charset="-122"/>
                <a:ea typeface="新宋体" panose="02010609030101010101" charset="-122"/>
              </a:rPr>
              <a:t>P</a:t>
            </a:r>
            <a:r>
              <a:rPr lang="zh-CN" altLang="en-US" sz="3000">
                <a:latin typeface="新宋体" panose="02010609030101010101" charset="-122"/>
                <a:ea typeface="新宋体" panose="02010609030101010101" charset="-122"/>
              </a:rPr>
              <a:t>类与</a:t>
            </a:r>
            <a:r>
              <a:rPr lang="en-US" altLang="zh-CN" sz="3000">
                <a:latin typeface="新宋体" panose="02010609030101010101" charset="-122"/>
                <a:ea typeface="新宋体" panose="02010609030101010101" charset="-122"/>
              </a:rPr>
              <a:t>NP</a:t>
            </a:r>
            <a:r>
              <a:rPr lang="zh-CN" altLang="en-US" sz="3000">
                <a:latin typeface="新宋体" panose="02010609030101010101" charset="-122"/>
                <a:ea typeface="新宋体" panose="02010609030101010101" charset="-122"/>
              </a:rPr>
              <a:t>类语言</a:t>
            </a:r>
            <a:endParaRPr lang="zh-CN" altLang="en-US" sz="3000">
              <a:latin typeface="新宋体" panose="02010609030101010101" charset="-122"/>
              <a:ea typeface="新宋体" panose="02010609030101010101" charset="-122"/>
            </a:endParaRPr>
          </a:p>
        </p:txBody>
      </p:sp>
      <p:sp>
        <p:nvSpPr>
          <p:cNvPr id="398339" name="Text Box 3"/>
          <p:cNvSpPr txBox="1">
            <a:spLocks noChangeArrowheads="1"/>
          </p:cNvSpPr>
          <p:nvPr/>
        </p:nvSpPr>
        <p:spPr bwMode="auto">
          <a:xfrm>
            <a:off x="228600" y="1778000"/>
            <a:ext cx="86868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新宋体" panose="02010609030101010101" charset="-122"/>
                <a:ea typeface="新宋体" panose="02010609030101010101" charset="-122"/>
              </a:rPr>
              <a:t>  </a:t>
            </a:r>
            <a:r>
              <a:rPr lang="en-US" altLang="zh-CN" sz="2800">
                <a:latin typeface="新宋体" panose="02010609030101010101" charset="-122"/>
                <a:ea typeface="新宋体" panose="02010609030101010101" charset="-122"/>
              </a:rPr>
              <a:t>P</a:t>
            </a:r>
            <a:r>
              <a:rPr lang="zh-CN" altLang="en-US" sz="2800">
                <a:latin typeface="新宋体" panose="02010609030101010101" charset="-122"/>
                <a:ea typeface="新宋体" panose="02010609030101010101" charset="-122"/>
              </a:rPr>
              <a:t>类和</a:t>
            </a:r>
            <a:r>
              <a:rPr lang="en-US" altLang="zh-CN" sz="2800">
                <a:latin typeface="新宋体" panose="02010609030101010101" charset="-122"/>
                <a:ea typeface="新宋体" panose="02010609030101010101" charset="-122"/>
              </a:rPr>
              <a:t>NP</a:t>
            </a:r>
            <a:r>
              <a:rPr lang="zh-CN" altLang="en-US" sz="2800">
                <a:latin typeface="新宋体" panose="02010609030101010101" charset="-122"/>
                <a:ea typeface="新宋体" panose="02010609030101010101" charset="-122"/>
              </a:rPr>
              <a:t>类语言的定义：</a:t>
            </a:r>
            <a:endParaRPr lang="zh-CN" altLang="en-US" sz="2800">
              <a:latin typeface="新宋体" panose="02010609030101010101" charset="-122"/>
              <a:ea typeface="新宋体" panose="02010609030101010101" charset="-122"/>
            </a:endParaRPr>
          </a:p>
          <a:p>
            <a:r>
              <a:rPr lang="zh-CN" altLang="en-US" sz="2800">
                <a:latin typeface="新宋体" panose="02010609030101010101" charset="-122"/>
                <a:ea typeface="新宋体" panose="02010609030101010101" charset="-122"/>
              </a:rPr>
              <a:t>    </a:t>
            </a:r>
            <a:r>
              <a:rPr lang="en-US" altLang="zh-CN" sz="2800">
                <a:latin typeface="新宋体" panose="02010609030101010101" charset="-122"/>
                <a:ea typeface="新宋体" panose="02010609030101010101" charset="-122"/>
              </a:rPr>
              <a:t>P={L|L</a:t>
            </a:r>
            <a:r>
              <a:rPr lang="zh-CN" altLang="en-US" sz="2800">
                <a:latin typeface="新宋体" panose="02010609030101010101" charset="-122"/>
                <a:ea typeface="新宋体" panose="02010609030101010101" charset="-122"/>
              </a:rPr>
              <a:t>是一个能在</a:t>
            </a:r>
            <a:r>
              <a:rPr lang="zh-CN" altLang="en-US" sz="2800" b="1">
                <a:latin typeface="新宋体" panose="02010609030101010101" charset="-122"/>
                <a:ea typeface="新宋体" panose="02010609030101010101" charset="-122"/>
              </a:rPr>
              <a:t>多项式时间内</a:t>
            </a:r>
            <a:r>
              <a:rPr lang="zh-CN" altLang="en-US" sz="2800">
                <a:latin typeface="新宋体" panose="02010609030101010101" charset="-122"/>
                <a:ea typeface="新宋体" panose="02010609030101010101" charset="-122"/>
              </a:rPr>
              <a:t>被一台</a:t>
            </a:r>
            <a:r>
              <a:rPr lang="en-US" altLang="zh-CN" sz="2800" b="1">
                <a:latin typeface="新宋体" panose="02010609030101010101" charset="-122"/>
                <a:ea typeface="新宋体" panose="02010609030101010101" charset="-122"/>
              </a:rPr>
              <a:t>DTM</a:t>
            </a:r>
            <a:r>
              <a:rPr lang="zh-CN" altLang="en-US" sz="2800">
                <a:latin typeface="新宋体" panose="02010609030101010101" charset="-122"/>
                <a:ea typeface="新宋体" panose="02010609030101010101" charset="-122"/>
              </a:rPr>
              <a:t>所接受的语言</a:t>
            </a:r>
            <a:r>
              <a:rPr lang="en-US" altLang="zh-CN" sz="2800">
                <a:latin typeface="新宋体" panose="02010609030101010101" charset="-122"/>
                <a:ea typeface="新宋体" panose="02010609030101010101" charset="-122"/>
              </a:rPr>
              <a:t>} </a:t>
            </a:r>
            <a:endParaRPr lang="en-US" altLang="zh-CN" sz="2800">
              <a:latin typeface="新宋体" panose="02010609030101010101" charset="-122"/>
              <a:ea typeface="新宋体" panose="02010609030101010101" charset="-122"/>
            </a:endParaRPr>
          </a:p>
          <a:p>
            <a:r>
              <a:rPr lang="en-US" altLang="zh-CN" sz="2800">
                <a:latin typeface="新宋体" panose="02010609030101010101" charset="-122"/>
                <a:ea typeface="新宋体" panose="02010609030101010101" charset="-122"/>
              </a:rPr>
              <a:t>    NP={L|L</a:t>
            </a:r>
            <a:r>
              <a:rPr lang="zh-CN" altLang="en-US" sz="2800">
                <a:latin typeface="新宋体" panose="02010609030101010101" charset="-122"/>
                <a:ea typeface="新宋体" panose="02010609030101010101" charset="-122"/>
              </a:rPr>
              <a:t>是一个能在</a:t>
            </a:r>
            <a:r>
              <a:rPr lang="zh-CN" altLang="en-US" sz="2800" b="1">
                <a:latin typeface="新宋体" panose="02010609030101010101" charset="-122"/>
                <a:ea typeface="新宋体" panose="02010609030101010101" charset="-122"/>
              </a:rPr>
              <a:t>多项式时间</a:t>
            </a:r>
            <a:r>
              <a:rPr lang="zh-CN" altLang="en-US" sz="2800">
                <a:latin typeface="新宋体" panose="02010609030101010101" charset="-122"/>
                <a:ea typeface="新宋体" panose="02010609030101010101" charset="-122"/>
              </a:rPr>
              <a:t>内被一台</a:t>
            </a:r>
            <a:r>
              <a:rPr lang="en-US" altLang="zh-CN" sz="2800" b="1">
                <a:latin typeface="新宋体" panose="02010609030101010101" charset="-122"/>
                <a:ea typeface="新宋体" panose="02010609030101010101" charset="-122"/>
              </a:rPr>
              <a:t>NDTM</a:t>
            </a:r>
            <a:r>
              <a:rPr lang="zh-CN" altLang="en-US" sz="2800">
                <a:latin typeface="新宋体" panose="02010609030101010101" charset="-122"/>
                <a:ea typeface="新宋体" panose="02010609030101010101" charset="-122"/>
              </a:rPr>
              <a:t>所接受的语言</a:t>
            </a:r>
            <a:r>
              <a:rPr lang="en-US" altLang="zh-CN" sz="2800">
                <a:latin typeface="新宋体" panose="02010609030101010101" charset="-122"/>
                <a:ea typeface="新宋体" panose="02010609030101010101" charset="-122"/>
              </a:rPr>
              <a:t>}</a:t>
            </a:r>
            <a:endParaRPr lang="en-US" altLang="zh-CN" sz="2800">
              <a:latin typeface="新宋体" panose="02010609030101010101" charset="-122"/>
              <a:ea typeface="新宋体" panose="02010609030101010101" charset="-122"/>
            </a:endParaRPr>
          </a:p>
        </p:txBody>
      </p:sp>
      <p:sp>
        <p:nvSpPr>
          <p:cNvPr id="398340" name="Rectangle 4"/>
          <p:cNvSpPr>
            <a:spLocks noChangeArrowheads="1"/>
          </p:cNvSpPr>
          <p:nvPr/>
        </p:nvSpPr>
        <p:spPr bwMode="auto">
          <a:xfrm>
            <a:off x="990600" y="4495800"/>
            <a:ext cx="7162800" cy="1603375"/>
          </a:xfrm>
          <a:prstGeom prst="rect">
            <a:avLst/>
          </a:prstGeom>
          <a:solidFill>
            <a:schemeClr val="hlink"/>
          </a:solidFill>
          <a:ln w="508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p>
            <a:r>
              <a:rPr lang="zh-CN" altLang="en-US" sz="2400">
                <a:latin typeface="宋体" panose="02010600030101010101" pitchFamily="2" charset="-122"/>
              </a:rPr>
              <a:t>	</a:t>
            </a:r>
            <a:r>
              <a:rPr lang="zh-CN" altLang="en-US" sz="2400">
                <a:latin typeface="新宋体" panose="02010609030101010101" charset="-122"/>
                <a:ea typeface="新宋体" panose="02010609030101010101" charset="-122"/>
              </a:rPr>
              <a:t>由于一台确定性图灵机可看作是非确定性图灵机的特例，所以可在多项式时间内被确定性图灵机接受的语言也可在多项式时间内被非确定性图灵机接受。故</a:t>
            </a:r>
            <a:r>
              <a:rPr lang="en-US" altLang="zh-CN" sz="2400" b="1">
                <a:latin typeface="新宋体" panose="02010609030101010101" charset="-122"/>
                <a:ea typeface="新宋体" panose="02010609030101010101" charset="-122"/>
              </a:rPr>
              <a:t>P </a:t>
            </a:r>
            <a:r>
              <a:rPr lang="en-US" altLang="zh-CN" sz="2400" b="1">
                <a:latin typeface="新宋体" panose="02010609030101010101" charset="-122"/>
                <a:ea typeface="新宋体" panose="02010609030101010101" charset="-122"/>
                <a:sym typeface="Symbol" panose="05050102010706020507" pitchFamily="18" charset="2"/>
              </a:rPr>
              <a:t></a:t>
            </a:r>
            <a:r>
              <a:rPr lang="en-US" altLang="zh-CN" sz="2400" b="1">
                <a:latin typeface="新宋体" panose="02010609030101010101" charset="-122"/>
                <a:ea typeface="新宋体" panose="02010609030101010101" charset="-122"/>
              </a:rPr>
              <a:t> NP</a:t>
            </a:r>
            <a:r>
              <a:rPr lang="zh-CN" altLang="en-US" sz="2400">
                <a:latin typeface="新宋体" panose="02010609030101010101" charset="-122"/>
                <a:ea typeface="新宋体" panose="02010609030101010101" charset="-122"/>
              </a:rPr>
              <a:t>。</a:t>
            </a:r>
            <a:r>
              <a:rPr lang="zh-CN" altLang="en-US" sz="2400">
                <a:ea typeface="新宋体" panose="02010609030101010101" charset="-122"/>
              </a:rPr>
              <a:t> </a:t>
            </a:r>
            <a:endParaRPr lang="zh-CN" altLang="en-US" sz="2400">
              <a:ea typeface="新宋体" panose="02010609030101010101"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8339"/>
                                        </p:tgtEl>
                                        <p:attrNameLst>
                                          <p:attrName>style.visibility</p:attrName>
                                        </p:attrNameLst>
                                      </p:cBhvr>
                                      <p:to>
                                        <p:strVal val="visible"/>
                                      </p:to>
                                    </p:set>
                                    <p:animEffect transition="in" filter="blinds(horizontal)">
                                      <p:cBhvr>
                                        <p:cTn id="7" dur="500"/>
                                        <p:tgtEl>
                                          <p:spTgt spid="39833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98340"/>
                                        </p:tgtEl>
                                        <p:attrNameLst>
                                          <p:attrName>style.visibility</p:attrName>
                                        </p:attrNameLst>
                                      </p:cBhvr>
                                      <p:to>
                                        <p:strVal val="visible"/>
                                      </p:to>
                                    </p:set>
                                    <p:anim calcmode="lin" valueType="num">
                                      <p:cBhvr additive="base">
                                        <p:cTn id="12" dur="500" fill="hold"/>
                                        <p:tgtEl>
                                          <p:spTgt spid="398340"/>
                                        </p:tgtEl>
                                        <p:attrNameLst>
                                          <p:attrName>ppt_x</p:attrName>
                                        </p:attrNameLst>
                                      </p:cBhvr>
                                      <p:tavLst>
                                        <p:tav tm="0">
                                          <p:val>
                                            <p:strVal val="#ppt_x"/>
                                          </p:val>
                                        </p:tav>
                                        <p:tav tm="100000">
                                          <p:val>
                                            <p:strVal val="#ppt_x"/>
                                          </p:val>
                                        </p:tav>
                                      </p:tavLst>
                                    </p:anim>
                                    <p:anim calcmode="lin" valueType="num">
                                      <p:cBhvr additive="base">
                                        <p:cTn id="13" dur="500" fill="hold"/>
                                        <p:tgtEl>
                                          <p:spTgt spid="3983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39" grpId="0" autoUpdateAnimBg="0"/>
      <p:bldP spid="398340" grpId="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C8D87B85-10E7-48DA-8A81-98AD922CB51B}" type="slidenum">
              <a:rPr lang="en-US" altLang="zh-CN"/>
            </a:fld>
            <a:endParaRPr lang="en-US" altLang="zh-CN"/>
          </a:p>
        </p:txBody>
      </p:sp>
      <p:sp>
        <p:nvSpPr>
          <p:cNvPr id="399362" name="Rectangle 2"/>
          <p:cNvSpPr>
            <a:spLocks noGrp="1" noChangeArrowheads="1"/>
          </p:cNvSpPr>
          <p:nvPr>
            <p:ph type="title"/>
          </p:nvPr>
        </p:nvSpPr>
        <p:spPr>
          <a:xfrm>
            <a:off x="457200" y="468313"/>
            <a:ext cx="7543800" cy="863600"/>
          </a:xfrm>
        </p:spPr>
        <p:txBody>
          <a:bodyPr/>
          <a:lstStyle/>
          <a:p>
            <a:r>
              <a:rPr lang="en-US" altLang="zh-CN" sz="3000"/>
              <a:t>8.2.2  </a:t>
            </a:r>
            <a:r>
              <a:rPr lang="en-US" altLang="zh-CN" sz="3000">
                <a:latin typeface="新宋体" panose="02010609030101010101" charset="-122"/>
                <a:ea typeface="新宋体" panose="02010609030101010101" charset="-122"/>
              </a:rPr>
              <a:t>P</a:t>
            </a:r>
            <a:r>
              <a:rPr lang="zh-CN" altLang="en-US" sz="3000">
                <a:latin typeface="新宋体" panose="02010609030101010101" charset="-122"/>
                <a:ea typeface="新宋体" panose="02010609030101010101" charset="-122"/>
              </a:rPr>
              <a:t>类与</a:t>
            </a:r>
            <a:r>
              <a:rPr lang="en-US" altLang="zh-CN" sz="3000">
                <a:latin typeface="新宋体" panose="02010609030101010101" charset="-122"/>
                <a:ea typeface="新宋体" panose="02010609030101010101" charset="-122"/>
              </a:rPr>
              <a:t>NP</a:t>
            </a:r>
            <a:r>
              <a:rPr lang="zh-CN" altLang="en-US" sz="3000">
                <a:latin typeface="新宋体" panose="02010609030101010101" charset="-122"/>
                <a:ea typeface="新宋体" panose="02010609030101010101" charset="-122"/>
              </a:rPr>
              <a:t>类语言</a:t>
            </a:r>
            <a:endParaRPr lang="zh-CN" altLang="en-US" sz="3000">
              <a:latin typeface="新宋体" panose="02010609030101010101" charset="-122"/>
              <a:ea typeface="新宋体" panose="02010609030101010101" charset="-122"/>
            </a:endParaRPr>
          </a:p>
        </p:txBody>
      </p:sp>
      <p:grpSp>
        <p:nvGrpSpPr>
          <p:cNvPr id="399363" name="Group 3"/>
          <p:cNvGrpSpPr/>
          <p:nvPr/>
        </p:nvGrpSpPr>
        <p:grpSpPr bwMode="auto">
          <a:xfrm>
            <a:off x="152400" y="1628775"/>
            <a:ext cx="8839200" cy="4362450"/>
            <a:chOff x="96" y="1200"/>
            <a:chExt cx="5568" cy="2748"/>
          </a:xfrm>
        </p:grpSpPr>
        <p:sp>
          <p:nvSpPr>
            <p:cNvPr id="399364" name="Text Box 4"/>
            <p:cNvSpPr txBox="1">
              <a:spLocks noChangeArrowheads="1"/>
            </p:cNvSpPr>
            <p:nvPr/>
          </p:nvSpPr>
          <p:spPr bwMode="auto">
            <a:xfrm>
              <a:off x="96" y="1200"/>
              <a:ext cx="5568" cy="2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新宋体" panose="02010609030101010101" charset="-122"/>
                  <a:ea typeface="新宋体" panose="02010609030101010101" charset="-122"/>
                </a:rPr>
                <a:t>    </a:t>
              </a:r>
              <a:r>
                <a:rPr lang="en-US" altLang="zh-CN" sz="2800" b="1">
                  <a:latin typeface="新宋体" panose="02010609030101010101" charset="-122"/>
                  <a:ea typeface="新宋体" panose="02010609030101010101" charset="-122"/>
                </a:rPr>
                <a:t>NP</a:t>
              </a:r>
              <a:r>
                <a:rPr lang="zh-CN" altLang="en-US" sz="2800" b="1">
                  <a:latin typeface="新宋体" panose="02010609030101010101" charset="-122"/>
                  <a:ea typeface="新宋体" panose="02010609030101010101" charset="-122"/>
                </a:rPr>
                <a:t>类语言举例</a:t>
              </a:r>
              <a:r>
                <a:rPr lang="en-US" altLang="zh-CN" sz="2800" b="1">
                  <a:latin typeface="Times New Roman" panose="02020603050405020304"/>
                  <a:ea typeface="新宋体" panose="02010609030101010101" charset="-122"/>
                </a:rPr>
                <a:t>——</a:t>
              </a:r>
              <a:r>
                <a:rPr lang="zh-CN" altLang="en-US" sz="2800" b="1">
                  <a:latin typeface="新宋体" panose="02010609030101010101" charset="-122"/>
                  <a:ea typeface="新宋体" panose="02010609030101010101" charset="-122"/>
                </a:rPr>
                <a:t>无向图的团问题</a:t>
              </a:r>
              <a:r>
                <a:rPr lang="zh-CN" altLang="en-US" sz="2800">
                  <a:latin typeface="新宋体" panose="02010609030101010101" charset="-122"/>
                  <a:ea typeface="新宋体" panose="02010609030101010101" charset="-122"/>
                </a:rPr>
                <a:t>。</a:t>
              </a:r>
              <a:endParaRPr lang="zh-CN" altLang="en-US" sz="2800">
                <a:latin typeface="新宋体" panose="02010609030101010101" charset="-122"/>
                <a:ea typeface="新宋体" panose="02010609030101010101" charset="-122"/>
              </a:endParaRPr>
            </a:p>
            <a:p>
              <a:r>
                <a:rPr lang="zh-CN" altLang="en-US" sz="2800">
                  <a:latin typeface="新宋体" panose="02010609030101010101" charset="-122"/>
                  <a:ea typeface="新宋体" panose="02010609030101010101" charset="-122"/>
                </a:rPr>
                <a:t>   该问题的输入是一个有</a:t>
              </a:r>
              <a:r>
                <a:rPr lang="en-US" altLang="zh-CN" sz="2800">
                  <a:latin typeface="新宋体" panose="02010609030101010101" charset="-122"/>
                  <a:ea typeface="新宋体" panose="02010609030101010101" charset="-122"/>
                </a:rPr>
                <a:t>n</a:t>
              </a:r>
              <a:r>
                <a:rPr lang="zh-CN" altLang="en-US" sz="2800">
                  <a:latin typeface="新宋体" panose="02010609030101010101" charset="-122"/>
                  <a:ea typeface="新宋体" panose="02010609030101010101" charset="-122"/>
                </a:rPr>
                <a:t>个顶点的无向图</a:t>
              </a:r>
              <a:r>
                <a:rPr lang="en-US" altLang="zh-CN" sz="2800">
                  <a:latin typeface="新宋体" panose="02010609030101010101" charset="-122"/>
                  <a:ea typeface="新宋体" panose="02010609030101010101" charset="-122"/>
                </a:rPr>
                <a:t>G=(V</a:t>
              </a:r>
              <a:r>
                <a:rPr lang="zh-CN" altLang="en-US" sz="2800">
                  <a:latin typeface="新宋体" panose="02010609030101010101" charset="-122"/>
                  <a:ea typeface="新宋体" panose="02010609030101010101" charset="-122"/>
                </a:rPr>
                <a:t>，</a:t>
              </a:r>
              <a:r>
                <a:rPr lang="en-US" altLang="zh-CN" sz="2800">
                  <a:latin typeface="新宋体" panose="02010609030101010101" charset="-122"/>
                  <a:ea typeface="新宋体" panose="02010609030101010101" charset="-122"/>
                </a:rPr>
                <a:t>E)</a:t>
              </a:r>
              <a:r>
                <a:rPr lang="zh-CN" altLang="en-US" sz="2800">
                  <a:latin typeface="新宋体" panose="02010609030101010101" charset="-122"/>
                  <a:ea typeface="新宋体" panose="02010609030101010101" charset="-122"/>
                </a:rPr>
                <a:t>和一个整数</a:t>
              </a:r>
              <a:r>
                <a:rPr lang="en-US" altLang="zh-CN" sz="2800">
                  <a:latin typeface="新宋体" panose="02010609030101010101" charset="-122"/>
                  <a:ea typeface="新宋体" panose="02010609030101010101" charset="-122"/>
                </a:rPr>
                <a:t>k</a:t>
              </a:r>
              <a:r>
                <a:rPr lang="zh-CN" altLang="en-US" sz="2800">
                  <a:latin typeface="新宋体" panose="02010609030101010101" charset="-122"/>
                  <a:ea typeface="新宋体" panose="02010609030101010101" charset="-122"/>
                </a:rPr>
                <a:t>。要求判定图</a:t>
              </a:r>
              <a:r>
                <a:rPr lang="en-US" altLang="zh-CN" sz="2800">
                  <a:latin typeface="新宋体" panose="02010609030101010101" charset="-122"/>
                  <a:ea typeface="新宋体" panose="02010609030101010101" charset="-122"/>
                </a:rPr>
                <a:t>G</a:t>
              </a:r>
              <a:r>
                <a:rPr lang="zh-CN" altLang="en-US" sz="2800">
                  <a:latin typeface="新宋体" panose="02010609030101010101" charset="-122"/>
                  <a:ea typeface="新宋体" panose="02010609030101010101" charset="-122"/>
                </a:rPr>
                <a:t>是否包含一个</a:t>
              </a:r>
              <a:r>
                <a:rPr lang="en-US" altLang="zh-CN" sz="2800">
                  <a:latin typeface="新宋体" panose="02010609030101010101" charset="-122"/>
                  <a:ea typeface="新宋体" panose="02010609030101010101" charset="-122"/>
                </a:rPr>
                <a:t>k</a:t>
              </a:r>
              <a:r>
                <a:rPr lang="zh-CN" altLang="en-US" sz="2800">
                  <a:latin typeface="新宋体" panose="02010609030101010101" charset="-122"/>
                  <a:ea typeface="新宋体" panose="02010609030101010101" charset="-122"/>
                </a:rPr>
                <a:t>顶点的</a:t>
              </a:r>
              <a:r>
                <a:rPr lang="zh-CN" altLang="en-US" sz="2800" b="1">
                  <a:latin typeface="新宋体" panose="02010609030101010101" charset="-122"/>
                  <a:ea typeface="新宋体" panose="02010609030101010101" charset="-122"/>
                </a:rPr>
                <a:t>完全子图</a:t>
              </a:r>
              <a:r>
                <a:rPr lang="en-US" altLang="zh-CN" sz="2800" b="1">
                  <a:latin typeface="新宋体" panose="02010609030101010101" charset="-122"/>
                  <a:ea typeface="新宋体" panose="02010609030101010101" charset="-122"/>
                </a:rPr>
                <a:t>(</a:t>
              </a:r>
              <a:r>
                <a:rPr lang="zh-CN" altLang="en-US" sz="2800" b="1">
                  <a:latin typeface="新宋体" panose="02010609030101010101" charset="-122"/>
                  <a:ea typeface="新宋体" panose="02010609030101010101" charset="-122"/>
                </a:rPr>
                <a:t>团</a:t>
              </a:r>
              <a:r>
                <a:rPr lang="en-US" altLang="zh-CN" sz="2800" b="1">
                  <a:latin typeface="新宋体" panose="02010609030101010101" charset="-122"/>
                  <a:ea typeface="新宋体" panose="02010609030101010101" charset="-122"/>
                </a:rPr>
                <a:t>)</a:t>
              </a:r>
              <a:r>
                <a:rPr lang="zh-CN" altLang="en-US" sz="2800">
                  <a:latin typeface="新宋体" panose="02010609030101010101" charset="-122"/>
                  <a:ea typeface="新宋体" panose="02010609030101010101" charset="-122"/>
                </a:rPr>
                <a:t>，即判定是否存在</a:t>
              </a:r>
              <a:r>
                <a:rPr lang="en-US" altLang="zh-CN" sz="2800">
                  <a:latin typeface="新宋体" panose="02010609030101010101" charset="-122"/>
                  <a:ea typeface="新宋体" panose="02010609030101010101" charset="-122"/>
                </a:rPr>
                <a:t>V</a:t>
              </a:r>
              <a:r>
                <a:rPr lang="en-US" altLang="zh-CN" sz="2800">
                  <a:latin typeface="Times New Roman" panose="02020603050405020304"/>
                  <a:ea typeface="新宋体" panose="02010609030101010101" charset="-122"/>
                </a:rPr>
                <a:t>’</a:t>
              </a:r>
              <a:r>
                <a:rPr lang="en-US" altLang="zh-CN" sz="2800">
                  <a:latin typeface="新宋体" panose="02010609030101010101" charset="-122"/>
                  <a:ea typeface="新宋体" panose="02010609030101010101" charset="-122"/>
                  <a:sym typeface="Symbol" panose="05050102010706020507" pitchFamily="18" charset="2"/>
                </a:rPr>
                <a:t></a:t>
              </a:r>
              <a:r>
                <a:rPr lang="en-US" altLang="zh-CN" sz="2800">
                  <a:latin typeface="新宋体" panose="02010609030101010101" charset="-122"/>
                  <a:ea typeface="新宋体" panose="02010609030101010101" charset="-122"/>
                </a:rPr>
                <a:t>V</a:t>
              </a:r>
              <a:r>
                <a:rPr lang="zh-CN" altLang="en-US" sz="2800">
                  <a:latin typeface="新宋体" panose="02010609030101010101" charset="-122"/>
                  <a:ea typeface="新宋体" panose="02010609030101010101" charset="-122"/>
                </a:rPr>
                <a:t>，</a:t>
              </a:r>
              <a:r>
                <a:rPr lang="en-US" altLang="zh-CN" sz="2800">
                  <a:latin typeface="新宋体" panose="02010609030101010101" charset="-122"/>
                  <a:ea typeface="新宋体" panose="02010609030101010101" charset="-122"/>
                </a:rPr>
                <a:t>|V</a:t>
              </a:r>
              <a:r>
                <a:rPr lang="en-US" altLang="zh-CN" sz="2800">
                  <a:latin typeface="Times New Roman" panose="02020603050405020304"/>
                  <a:ea typeface="新宋体" panose="02010609030101010101" charset="-122"/>
                </a:rPr>
                <a:t>’</a:t>
              </a:r>
              <a:r>
                <a:rPr lang="en-US" altLang="zh-CN" sz="2800">
                  <a:latin typeface="新宋体" panose="02010609030101010101" charset="-122"/>
                  <a:ea typeface="新宋体" panose="02010609030101010101" charset="-122"/>
                </a:rPr>
                <a:t>|=k</a:t>
              </a:r>
              <a:r>
                <a:rPr lang="zh-CN" altLang="en-US" sz="2800">
                  <a:latin typeface="新宋体" panose="02010609030101010101" charset="-122"/>
                  <a:ea typeface="新宋体" panose="02010609030101010101" charset="-122"/>
                </a:rPr>
                <a:t>，且对于所有的</a:t>
              </a:r>
              <a:r>
                <a:rPr lang="en-US" altLang="zh-CN" sz="2800">
                  <a:latin typeface="新宋体" panose="02010609030101010101" charset="-122"/>
                  <a:ea typeface="新宋体" panose="02010609030101010101" charset="-122"/>
                </a:rPr>
                <a:t>u</a:t>
              </a:r>
              <a:r>
                <a:rPr lang="zh-CN" altLang="en-US" sz="2800">
                  <a:latin typeface="新宋体" panose="02010609030101010101" charset="-122"/>
                  <a:ea typeface="新宋体" panose="02010609030101010101" charset="-122"/>
                </a:rPr>
                <a:t>，</a:t>
              </a:r>
              <a:r>
                <a:rPr lang="en-US" altLang="zh-CN" sz="2800">
                  <a:latin typeface="新宋体" panose="02010609030101010101" charset="-122"/>
                  <a:ea typeface="新宋体" panose="02010609030101010101" charset="-122"/>
                </a:rPr>
                <a:t>v∈V</a:t>
              </a:r>
              <a:r>
                <a:rPr lang="en-US" altLang="zh-CN" sz="2800">
                  <a:latin typeface="Times New Roman" panose="02020603050405020304"/>
                  <a:ea typeface="新宋体" panose="02010609030101010101" charset="-122"/>
                </a:rPr>
                <a:t>’</a:t>
              </a:r>
              <a:r>
                <a:rPr lang="zh-CN" altLang="en-US" sz="2800">
                  <a:latin typeface="新宋体" panose="02010609030101010101" charset="-122"/>
                  <a:ea typeface="新宋体" panose="02010609030101010101" charset="-122"/>
                </a:rPr>
                <a:t>，有</a:t>
              </a:r>
              <a:r>
                <a:rPr lang="en-US" altLang="zh-CN" sz="2800">
                  <a:latin typeface="新宋体" panose="02010609030101010101" charset="-122"/>
                  <a:ea typeface="新宋体" panose="02010609030101010101" charset="-122"/>
                </a:rPr>
                <a:t>(u</a:t>
              </a:r>
              <a:r>
                <a:rPr lang="zh-CN" altLang="en-US" sz="2800">
                  <a:latin typeface="新宋体" panose="02010609030101010101" charset="-122"/>
                  <a:ea typeface="新宋体" panose="02010609030101010101" charset="-122"/>
                </a:rPr>
                <a:t>，</a:t>
              </a:r>
              <a:r>
                <a:rPr lang="en-US" altLang="zh-CN" sz="2800">
                  <a:latin typeface="新宋体" panose="02010609030101010101" charset="-122"/>
                  <a:ea typeface="新宋体" panose="02010609030101010101" charset="-122"/>
                </a:rPr>
                <a:t>v)∈E</a:t>
              </a:r>
              <a:r>
                <a:rPr lang="zh-CN" altLang="en-US" sz="2800">
                  <a:latin typeface="新宋体" panose="02010609030101010101" charset="-122"/>
                  <a:ea typeface="新宋体" panose="02010609030101010101" charset="-122"/>
                </a:rPr>
                <a:t>。</a:t>
              </a:r>
              <a:endParaRPr lang="zh-CN" altLang="en-US" sz="2800">
                <a:latin typeface="新宋体" panose="02010609030101010101" charset="-122"/>
                <a:ea typeface="新宋体" panose="02010609030101010101" charset="-122"/>
              </a:endParaRPr>
            </a:p>
            <a:p>
              <a:r>
                <a:rPr lang="zh-CN" altLang="en-US" sz="2800">
                  <a:latin typeface="新宋体" panose="02010609030101010101" charset="-122"/>
                  <a:ea typeface="新宋体" panose="02010609030101010101" charset="-122"/>
                </a:rPr>
                <a:t>    若用邻接矩阵表示图</a:t>
              </a:r>
              <a:r>
                <a:rPr lang="en-US" altLang="zh-CN" sz="2800">
                  <a:latin typeface="新宋体" panose="02010609030101010101" charset="-122"/>
                  <a:ea typeface="新宋体" panose="02010609030101010101" charset="-122"/>
                </a:rPr>
                <a:t>G</a:t>
              </a:r>
              <a:r>
                <a:rPr lang="zh-CN" altLang="en-US" sz="2800">
                  <a:latin typeface="新宋体" panose="02010609030101010101" charset="-122"/>
                  <a:ea typeface="新宋体" panose="02010609030101010101" charset="-122"/>
                </a:rPr>
                <a:t>，用二进制串表示整数</a:t>
              </a:r>
              <a:r>
                <a:rPr lang="en-US" altLang="zh-CN" sz="2800">
                  <a:latin typeface="新宋体" panose="02010609030101010101" charset="-122"/>
                  <a:ea typeface="新宋体" panose="02010609030101010101" charset="-122"/>
                </a:rPr>
                <a:t>k</a:t>
              </a:r>
              <a:r>
                <a:rPr lang="zh-CN" altLang="en-US" sz="2800">
                  <a:latin typeface="新宋体" panose="02010609030101010101" charset="-122"/>
                  <a:ea typeface="新宋体" panose="02010609030101010101" charset="-122"/>
                </a:rPr>
                <a:t>，则团问题的一个实例可以用长度为         的二进位串表示。因此，团问题可表示为语言：</a:t>
              </a:r>
              <a:endParaRPr lang="zh-CN" altLang="en-US" sz="2800">
                <a:latin typeface="新宋体" panose="02010609030101010101" charset="-122"/>
                <a:ea typeface="新宋体" panose="02010609030101010101" charset="-122"/>
              </a:endParaRPr>
            </a:p>
            <a:p>
              <a:r>
                <a:rPr lang="zh-CN" altLang="en-US" sz="2800">
                  <a:latin typeface="新宋体" panose="02010609030101010101" charset="-122"/>
                  <a:ea typeface="新宋体" panose="02010609030101010101" charset="-122"/>
                </a:rPr>
                <a:t>     </a:t>
              </a:r>
              <a:r>
                <a:rPr lang="en-US" altLang="zh-CN" sz="2800">
                  <a:latin typeface="新宋体" panose="02010609030101010101" charset="-122"/>
                  <a:ea typeface="新宋体" panose="02010609030101010101" charset="-122"/>
                </a:rPr>
                <a:t>CLIQUE={w#v|w</a:t>
              </a:r>
              <a:r>
                <a:rPr lang="zh-CN" altLang="en-US" sz="2800">
                  <a:latin typeface="新宋体" panose="02010609030101010101" charset="-122"/>
                  <a:ea typeface="新宋体" panose="02010609030101010101" charset="-122"/>
                </a:rPr>
                <a:t>，</a:t>
              </a:r>
              <a:r>
                <a:rPr lang="en-US" altLang="zh-CN" sz="2800">
                  <a:latin typeface="新宋体" panose="02010609030101010101" charset="-122"/>
                  <a:ea typeface="新宋体" panose="02010609030101010101" charset="-122"/>
                </a:rPr>
                <a:t>v∈{0</a:t>
              </a:r>
              <a:r>
                <a:rPr lang="zh-CN" altLang="en-US" sz="2800">
                  <a:latin typeface="新宋体" panose="02010609030101010101" charset="-122"/>
                  <a:ea typeface="新宋体" panose="02010609030101010101" charset="-122"/>
                </a:rPr>
                <a:t>，</a:t>
              </a:r>
              <a:r>
                <a:rPr lang="en-US" altLang="zh-CN" sz="2800">
                  <a:latin typeface="新宋体" panose="02010609030101010101" charset="-122"/>
                  <a:ea typeface="新宋体" panose="02010609030101010101" charset="-122"/>
                </a:rPr>
                <a:t>1}</a:t>
              </a:r>
              <a:r>
                <a:rPr lang="en-US" altLang="zh-CN" sz="2800" baseline="30000">
                  <a:latin typeface="新宋体" panose="02010609030101010101" charset="-122"/>
                  <a:ea typeface="新宋体" panose="02010609030101010101" charset="-122"/>
                </a:rPr>
                <a:t>*</a:t>
              </a:r>
              <a:r>
                <a:rPr lang="zh-CN" altLang="en-US" sz="2800">
                  <a:latin typeface="新宋体" panose="02010609030101010101" charset="-122"/>
                  <a:ea typeface="新宋体" panose="02010609030101010101" charset="-122"/>
                </a:rPr>
                <a:t>，以</a:t>
              </a:r>
              <a:r>
                <a:rPr lang="en-US" altLang="zh-CN" sz="2800">
                  <a:latin typeface="新宋体" panose="02010609030101010101" charset="-122"/>
                  <a:ea typeface="新宋体" panose="02010609030101010101" charset="-122"/>
                </a:rPr>
                <a:t>w</a:t>
              </a:r>
              <a:r>
                <a:rPr lang="zh-CN" altLang="en-US" sz="2800">
                  <a:latin typeface="新宋体" panose="02010609030101010101" charset="-122"/>
                  <a:ea typeface="新宋体" panose="02010609030101010101" charset="-122"/>
                </a:rPr>
                <a:t>为邻接矩阵的图</a:t>
              </a:r>
              <a:r>
                <a:rPr lang="en-US" altLang="zh-CN" sz="2800">
                  <a:latin typeface="新宋体" panose="02010609030101010101" charset="-122"/>
                  <a:ea typeface="新宋体" panose="02010609030101010101" charset="-122"/>
                </a:rPr>
                <a:t>G</a:t>
              </a:r>
              <a:r>
                <a:rPr lang="zh-CN" altLang="en-US" sz="2800">
                  <a:latin typeface="新宋体" panose="02010609030101010101" charset="-122"/>
                  <a:ea typeface="新宋体" panose="02010609030101010101" charset="-122"/>
                </a:rPr>
                <a:t>有一个</a:t>
              </a:r>
              <a:r>
                <a:rPr lang="en-US" altLang="zh-CN" sz="2800">
                  <a:latin typeface="新宋体" panose="02010609030101010101" charset="-122"/>
                  <a:ea typeface="新宋体" panose="02010609030101010101" charset="-122"/>
                </a:rPr>
                <a:t>k</a:t>
              </a:r>
              <a:r>
                <a:rPr lang="zh-CN" altLang="en-US" sz="2800">
                  <a:latin typeface="新宋体" panose="02010609030101010101" charset="-122"/>
                  <a:ea typeface="新宋体" panose="02010609030101010101" charset="-122"/>
                </a:rPr>
                <a:t>顶点的团，其中</a:t>
              </a:r>
              <a:r>
                <a:rPr lang="en-US" altLang="zh-CN" sz="2800">
                  <a:latin typeface="新宋体" panose="02010609030101010101" charset="-122"/>
                  <a:ea typeface="新宋体" panose="02010609030101010101" charset="-122"/>
                </a:rPr>
                <a:t>v</a:t>
              </a:r>
              <a:r>
                <a:rPr lang="zh-CN" altLang="en-US" sz="2800">
                  <a:latin typeface="新宋体" panose="02010609030101010101" charset="-122"/>
                  <a:ea typeface="新宋体" panose="02010609030101010101" charset="-122"/>
                </a:rPr>
                <a:t>是</a:t>
              </a:r>
              <a:r>
                <a:rPr lang="en-US" altLang="zh-CN" sz="2800">
                  <a:latin typeface="新宋体" panose="02010609030101010101" charset="-122"/>
                  <a:ea typeface="新宋体" panose="02010609030101010101" charset="-122"/>
                </a:rPr>
                <a:t>k</a:t>
              </a:r>
              <a:r>
                <a:rPr lang="zh-CN" altLang="en-US" sz="2800">
                  <a:latin typeface="新宋体" panose="02010609030101010101" charset="-122"/>
                  <a:ea typeface="新宋体" panose="02010609030101010101" charset="-122"/>
                </a:rPr>
                <a:t>的二进制表示。</a:t>
              </a:r>
              <a:r>
                <a:rPr lang="en-US" altLang="zh-CN" sz="2800">
                  <a:latin typeface="新宋体" panose="02010609030101010101" charset="-122"/>
                  <a:ea typeface="新宋体" panose="02010609030101010101" charset="-122"/>
                </a:rPr>
                <a:t>} </a:t>
              </a:r>
              <a:endParaRPr lang="en-US" altLang="zh-CN" sz="2800">
                <a:latin typeface="新宋体" panose="02010609030101010101" charset="-122"/>
                <a:ea typeface="新宋体" panose="02010609030101010101" charset="-122"/>
              </a:endParaRPr>
            </a:p>
          </p:txBody>
        </p:sp>
        <p:graphicFrame>
          <p:nvGraphicFramePr>
            <p:cNvPr id="399365" name="Object 5"/>
            <p:cNvGraphicFramePr>
              <a:graphicFrameLocks noChangeAspect="1"/>
            </p:cNvGraphicFramePr>
            <p:nvPr/>
          </p:nvGraphicFramePr>
          <p:xfrm>
            <a:off x="3312" y="2880"/>
            <a:ext cx="960" cy="288"/>
          </p:xfrm>
          <a:graphic>
            <a:graphicData uri="http://schemas.openxmlformats.org/presentationml/2006/ole">
              <mc:AlternateContent xmlns:mc="http://schemas.openxmlformats.org/markup-compatibility/2006">
                <mc:Choice xmlns:v="urn:schemas-microsoft-com:vml" Requires="v">
                  <p:oleObj spid="_x0000_s399368" name="" r:id="rId1" imgW="838200" imgH="228600" progId="Equation.3">
                    <p:embed/>
                  </p:oleObj>
                </mc:Choice>
                <mc:Fallback>
                  <p:oleObj name="" r:id="rId1" imgW="838200" imgH="2286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2" y="2880"/>
                          <a:ext cx="960"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99363"/>
                                        </p:tgtEl>
                                        <p:attrNameLst>
                                          <p:attrName>style.visibility</p:attrName>
                                        </p:attrNameLst>
                                      </p:cBhvr>
                                      <p:to>
                                        <p:strVal val="visible"/>
                                      </p:to>
                                    </p:set>
                                    <p:animEffect transition="in" filter="box(in)">
                                      <p:cBhvr>
                                        <p:cTn id="7" dur="500"/>
                                        <p:tgtEl>
                                          <p:spTgt spid="399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 name="灯片编号占位符 5"/>
          <p:cNvSpPr>
            <a:spLocks noGrp="1"/>
          </p:cNvSpPr>
          <p:nvPr>
            <p:ph type="sldNum" sz="quarter" idx="12"/>
          </p:nvPr>
        </p:nvSpPr>
        <p:spPr/>
        <p:txBody>
          <a:bodyPr/>
          <a:lstStyle/>
          <a:p>
            <a:fld id="{05FB6FCB-AD4B-4BCE-86DC-99B6A5BA3D57}" type="slidenum">
              <a:rPr lang="en-US" altLang="zh-CN"/>
            </a:fld>
            <a:endParaRPr lang="en-US" altLang="zh-CN"/>
          </a:p>
        </p:txBody>
      </p:sp>
      <p:sp>
        <p:nvSpPr>
          <p:cNvPr id="400386" name="Rectangle 2"/>
          <p:cNvSpPr>
            <a:spLocks noGrp="1" noChangeArrowheads="1"/>
          </p:cNvSpPr>
          <p:nvPr>
            <p:ph type="title"/>
          </p:nvPr>
        </p:nvSpPr>
        <p:spPr>
          <a:xfrm>
            <a:off x="457200" y="207963"/>
            <a:ext cx="7543800" cy="863600"/>
          </a:xfrm>
        </p:spPr>
        <p:txBody>
          <a:bodyPr/>
          <a:lstStyle/>
          <a:p>
            <a:r>
              <a:rPr lang="en-US" altLang="zh-CN" sz="3000"/>
              <a:t>8.2.2  </a:t>
            </a:r>
            <a:r>
              <a:rPr lang="en-US" altLang="zh-CN" sz="3000">
                <a:latin typeface="新宋体" panose="02010609030101010101" charset="-122"/>
                <a:ea typeface="新宋体" panose="02010609030101010101" charset="-122"/>
              </a:rPr>
              <a:t>P</a:t>
            </a:r>
            <a:r>
              <a:rPr lang="zh-CN" altLang="en-US" sz="3000">
                <a:latin typeface="新宋体" panose="02010609030101010101" charset="-122"/>
                <a:ea typeface="新宋体" panose="02010609030101010101" charset="-122"/>
              </a:rPr>
              <a:t>类与</a:t>
            </a:r>
            <a:r>
              <a:rPr lang="en-US" altLang="zh-CN" sz="3000">
                <a:latin typeface="新宋体" panose="02010609030101010101" charset="-122"/>
                <a:ea typeface="新宋体" panose="02010609030101010101" charset="-122"/>
              </a:rPr>
              <a:t>NP</a:t>
            </a:r>
            <a:r>
              <a:rPr lang="zh-CN" altLang="en-US" sz="3000">
                <a:latin typeface="新宋体" panose="02010609030101010101" charset="-122"/>
                <a:ea typeface="新宋体" panose="02010609030101010101" charset="-122"/>
              </a:rPr>
              <a:t>类语言</a:t>
            </a:r>
            <a:endParaRPr lang="zh-CN" altLang="en-US" sz="3000">
              <a:latin typeface="新宋体" panose="02010609030101010101" charset="-122"/>
              <a:ea typeface="新宋体" panose="02010609030101010101" charset="-122"/>
            </a:endParaRPr>
          </a:p>
        </p:txBody>
      </p:sp>
      <p:sp>
        <p:nvSpPr>
          <p:cNvPr id="400387" name="Text Box 3"/>
          <p:cNvSpPr txBox="1">
            <a:spLocks noChangeArrowheads="1"/>
          </p:cNvSpPr>
          <p:nvPr/>
        </p:nvSpPr>
        <p:spPr bwMode="auto">
          <a:xfrm>
            <a:off x="152400" y="1447800"/>
            <a:ext cx="8839200" cy="1187450"/>
          </a:xfrm>
          <a:prstGeom prst="rect">
            <a:avLst/>
          </a:prstGeom>
          <a:solidFill>
            <a:schemeClr val="bg1"/>
          </a:solidFill>
          <a:ln>
            <a:noFill/>
          </a:ln>
          <a:effectLst/>
          <a:extLs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新宋体" panose="02010609030101010101" charset="-122"/>
                <a:ea typeface="新宋体" panose="02010609030101010101" charset="-122"/>
              </a:rPr>
              <a:t>    接受该语言</a:t>
            </a:r>
            <a:r>
              <a:rPr lang="en-US" altLang="zh-CN" sz="2400">
                <a:latin typeface="新宋体" panose="02010609030101010101" charset="-122"/>
                <a:ea typeface="新宋体" panose="02010609030101010101" charset="-122"/>
              </a:rPr>
              <a:t>CLIQUE</a:t>
            </a:r>
            <a:r>
              <a:rPr lang="zh-CN" altLang="en-US" sz="2400">
                <a:latin typeface="新宋体" panose="02010609030101010101" charset="-122"/>
                <a:ea typeface="新宋体" panose="02010609030101010101" charset="-122"/>
              </a:rPr>
              <a:t>的</a:t>
            </a:r>
            <a:r>
              <a:rPr lang="zh-CN" altLang="en-US" sz="2400" b="1">
                <a:latin typeface="新宋体" panose="02010609030101010101" charset="-122"/>
                <a:ea typeface="新宋体" panose="02010609030101010101" charset="-122"/>
              </a:rPr>
              <a:t>非确定性算法</a:t>
            </a:r>
            <a:r>
              <a:rPr lang="zh-CN" altLang="en-US" sz="2400">
                <a:latin typeface="新宋体" panose="02010609030101010101" charset="-122"/>
                <a:ea typeface="新宋体" panose="02010609030101010101" charset="-122"/>
              </a:rPr>
              <a:t>：用非确定性选择指令选出包含</a:t>
            </a:r>
            <a:r>
              <a:rPr lang="en-US" altLang="zh-CN" sz="2400">
                <a:latin typeface="新宋体" panose="02010609030101010101" charset="-122"/>
                <a:ea typeface="新宋体" panose="02010609030101010101" charset="-122"/>
              </a:rPr>
              <a:t>k</a:t>
            </a:r>
            <a:r>
              <a:rPr lang="zh-CN" altLang="en-US" sz="2400">
                <a:latin typeface="新宋体" panose="02010609030101010101" charset="-122"/>
                <a:ea typeface="新宋体" panose="02010609030101010101" charset="-122"/>
              </a:rPr>
              <a:t>个顶点的候选顶点子集</a:t>
            </a:r>
            <a:r>
              <a:rPr lang="en-US" altLang="zh-CN" sz="2400">
                <a:latin typeface="新宋体" panose="02010609030101010101" charset="-122"/>
                <a:ea typeface="新宋体" panose="02010609030101010101" charset="-122"/>
              </a:rPr>
              <a:t>V</a:t>
            </a:r>
            <a:r>
              <a:rPr lang="zh-CN" altLang="en-US" sz="2400">
                <a:latin typeface="新宋体" panose="02010609030101010101" charset="-122"/>
                <a:ea typeface="新宋体" panose="02010609030101010101" charset="-122"/>
              </a:rPr>
              <a:t>，然后确定性地检查该子集是否是团问题的一个解。算法分为</a:t>
            </a:r>
            <a:r>
              <a:rPr lang="en-US" altLang="zh-CN" sz="2400">
                <a:latin typeface="新宋体" panose="02010609030101010101" charset="-122"/>
                <a:ea typeface="新宋体" panose="02010609030101010101" charset="-122"/>
              </a:rPr>
              <a:t>3</a:t>
            </a:r>
            <a:r>
              <a:rPr lang="zh-CN" altLang="en-US" sz="2400">
                <a:latin typeface="新宋体" panose="02010609030101010101" charset="-122"/>
                <a:ea typeface="新宋体" panose="02010609030101010101" charset="-122"/>
              </a:rPr>
              <a:t>个阶段： </a:t>
            </a:r>
            <a:endParaRPr lang="zh-CN" altLang="en-US" sz="2400">
              <a:latin typeface="新宋体" panose="02010609030101010101" charset="-122"/>
              <a:ea typeface="新宋体" panose="02010609030101010101" charset="-122"/>
            </a:endParaRPr>
          </a:p>
        </p:txBody>
      </p:sp>
      <p:grpSp>
        <p:nvGrpSpPr>
          <p:cNvPr id="400388" name="Group 4"/>
          <p:cNvGrpSpPr/>
          <p:nvPr/>
        </p:nvGrpSpPr>
        <p:grpSpPr bwMode="auto">
          <a:xfrm>
            <a:off x="152400" y="2590800"/>
            <a:ext cx="8839200" cy="1243013"/>
            <a:chOff x="192" y="1953"/>
            <a:chExt cx="5568" cy="783"/>
          </a:xfrm>
        </p:grpSpPr>
        <p:sp>
          <p:nvSpPr>
            <p:cNvPr id="400389" name="Text Box 5"/>
            <p:cNvSpPr txBox="1">
              <a:spLocks noChangeArrowheads="1"/>
            </p:cNvSpPr>
            <p:nvPr/>
          </p:nvSpPr>
          <p:spPr bwMode="auto">
            <a:xfrm>
              <a:off x="192" y="1988"/>
              <a:ext cx="5568"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新宋体" panose="02010609030101010101" charset="-122"/>
                  <a:ea typeface="新宋体" panose="02010609030101010101" charset="-122"/>
                </a:rPr>
                <a:t>    算法的第一阶段将输入串</a:t>
              </a:r>
              <a:r>
                <a:rPr lang="en-US" altLang="zh-CN" sz="2400">
                  <a:latin typeface="新宋体" panose="02010609030101010101" charset="-122"/>
                  <a:ea typeface="新宋体" panose="02010609030101010101" charset="-122"/>
                </a:rPr>
                <a:t>w#v</a:t>
              </a:r>
              <a:r>
                <a:rPr lang="zh-CN" altLang="en-US" sz="2400">
                  <a:latin typeface="新宋体" panose="02010609030101010101" charset="-122"/>
                  <a:ea typeface="新宋体" panose="02010609030101010101" charset="-122"/>
                </a:rPr>
                <a:t>分解，并计算出</a:t>
              </a:r>
              <a:r>
                <a:rPr lang="en-US" altLang="zh-CN" sz="2400">
                  <a:latin typeface="新宋体" panose="02010609030101010101" charset="-122"/>
                  <a:ea typeface="新宋体" panose="02010609030101010101" charset="-122"/>
                </a:rPr>
                <a:t>n=     </a:t>
              </a:r>
              <a:r>
                <a:rPr lang="zh-CN" altLang="en-US" sz="2400">
                  <a:latin typeface="新宋体" panose="02010609030101010101" charset="-122"/>
                  <a:ea typeface="新宋体" panose="02010609030101010101" charset="-122"/>
                </a:rPr>
                <a:t>，以及用</a:t>
              </a:r>
              <a:r>
                <a:rPr lang="en-US" altLang="zh-CN" sz="2400">
                  <a:latin typeface="新宋体" panose="02010609030101010101" charset="-122"/>
                  <a:ea typeface="新宋体" panose="02010609030101010101" charset="-122"/>
                </a:rPr>
                <a:t>v</a:t>
              </a:r>
              <a:r>
                <a:rPr lang="zh-CN" altLang="en-US" sz="2400">
                  <a:latin typeface="新宋体" panose="02010609030101010101" charset="-122"/>
                  <a:ea typeface="新宋体" panose="02010609030101010101" charset="-122"/>
                </a:rPr>
                <a:t>表示的整数</a:t>
              </a:r>
              <a:r>
                <a:rPr lang="en-US" altLang="zh-CN" sz="2400">
                  <a:latin typeface="新宋体" panose="02010609030101010101" charset="-122"/>
                  <a:ea typeface="新宋体" panose="02010609030101010101" charset="-122"/>
                </a:rPr>
                <a:t>k</a:t>
              </a:r>
              <a:r>
                <a:rPr lang="zh-CN" altLang="en-US" sz="2400">
                  <a:latin typeface="新宋体" panose="02010609030101010101" charset="-122"/>
                  <a:ea typeface="新宋体" panose="02010609030101010101" charset="-122"/>
                </a:rPr>
                <a:t>。若输入不具有形式</a:t>
              </a:r>
              <a:r>
                <a:rPr lang="en-US" altLang="zh-CN" sz="2400">
                  <a:latin typeface="新宋体" panose="02010609030101010101" charset="-122"/>
                  <a:ea typeface="新宋体" panose="02010609030101010101" charset="-122"/>
                </a:rPr>
                <a:t>w#v</a:t>
              </a:r>
              <a:r>
                <a:rPr lang="zh-CN" altLang="en-US" sz="2400">
                  <a:latin typeface="新宋体" panose="02010609030101010101" charset="-122"/>
                  <a:ea typeface="新宋体" panose="02010609030101010101" charset="-122"/>
                </a:rPr>
                <a:t>或</a:t>
              </a:r>
              <a:r>
                <a:rPr lang="en-US" altLang="zh-CN" sz="2400">
                  <a:latin typeface="新宋体" panose="02010609030101010101" charset="-122"/>
                  <a:ea typeface="新宋体" panose="02010609030101010101" charset="-122"/>
                </a:rPr>
                <a:t>|w|</a:t>
              </a:r>
              <a:r>
                <a:rPr lang="zh-CN" altLang="en-US" sz="2400">
                  <a:latin typeface="新宋体" panose="02010609030101010101" charset="-122"/>
                  <a:ea typeface="新宋体" panose="02010609030101010101" charset="-122"/>
                </a:rPr>
                <a:t>不是一个平方数就拒绝该输入。显而易见，第一阶段可      在时间内完成。</a:t>
              </a:r>
              <a:endParaRPr lang="zh-CN" altLang="en-US" sz="2400">
                <a:latin typeface="新宋体" panose="02010609030101010101" charset="-122"/>
                <a:ea typeface="新宋体" panose="02010609030101010101" charset="-122"/>
              </a:endParaRPr>
            </a:p>
          </p:txBody>
        </p:sp>
        <p:graphicFrame>
          <p:nvGraphicFramePr>
            <p:cNvPr id="400390" name="Object 6"/>
            <p:cNvGraphicFramePr>
              <a:graphicFrameLocks noChangeAspect="1"/>
            </p:cNvGraphicFramePr>
            <p:nvPr/>
          </p:nvGraphicFramePr>
          <p:xfrm>
            <a:off x="4656" y="1953"/>
            <a:ext cx="432" cy="300"/>
          </p:xfrm>
          <a:graphic>
            <a:graphicData uri="http://schemas.openxmlformats.org/presentationml/2006/ole">
              <mc:AlternateContent xmlns:mc="http://schemas.openxmlformats.org/markup-compatibility/2006">
                <mc:Choice xmlns:v="urn:schemas-microsoft-com:vml" Requires="v">
                  <p:oleObj spid="_x0000_s400406" name="" r:id="rId1" imgW="368300" imgH="254000" progId="Equation.3">
                    <p:embed/>
                  </p:oleObj>
                </mc:Choice>
                <mc:Fallback>
                  <p:oleObj name="" r:id="rId1" imgW="368300" imgH="2540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6" y="1953"/>
                          <a:ext cx="432" cy="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0391" name="Object 7"/>
            <p:cNvGraphicFramePr>
              <a:graphicFrameLocks noChangeAspect="1"/>
            </p:cNvGraphicFramePr>
            <p:nvPr/>
          </p:nvGraphicFramePr>
          <p:xfrm>
            <a:off x="3360" y="2448"/>
            <a:ext cx="528" cy="281"/>
          </p:xfrm>
          <a:graphic>
            <a:graphicData uri="http://schemas.openxmlformats.org/presentationml/2006/ole">
              <mc:AlternateContent xmlns:mc="http://schemas.openxmlformats.org/markup-compatibility/2006">
                <mc:Choice xmlns:v="urn:schemas-microsoft-com:vml" Requires="v">
                  <p:oleObj spid="_x0000_s400407" name="" r:id="rId3" imgW="431800" imgH="228600" progId="Equation.3">
                    <p:embed/>
                  </p:oleObj>
                </mc:Choice>
                <mc:Fallback>
                  <p:oleObj name="" r:id="rId3" imgW="431800" imgH="2286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0" y="2448"/>
                          <a:ext cx="528" cy="2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00392" name="Text Box 8"/>
          <p:cNvSpPr txBox="1">
            <a:spLocks noChangeArrowheads="1"/>
          </p:cNvSpPr>
          <p:nvPr/>
        </p:nvSpPr>
        <p:spPr bwMode="auto">
          <a:xfrm>
            <a:off x="152400" y="3886200"/>
            <a:ext cx="8839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新宋体" panose="02010609030101010101" charset="-122"/>
                <a:ea typeface="新宋体" panose="02010609030101010101" charset="-122"/>
              </a:rPr>
              <a:t>    在算法的第二阶段中，非确定性地选择</a:t>
            </a:r>
            <a:r>
              <a:rPr lang="en-US" altLang="zh-CN" sz="2400">
                <a:latin typeface="新宋体" panose="02010609030101010101" charset="-122"/>
                <a:ea typeface="新宋体" panose="02010609030101010101" charset="-122"/>
              </a:rPr>
              <a:t>V</a:t>
            </a:r>
            <a:r>
              <a:rPr lang="zh-CN" altLang="en-US" sz="2400">
                <a:latin typeface="新宋体" panose="02010609030101010101" charset="-122"/>
                <a:ea typeface="新宋体" panose="02010609030101010101" charset="-122"/>
              </a:rPr>
              <a:t>的一个</a:t>
            </a:r>
            <a:r>
              <a:rPr lang="en-US" altLang="zh-CN" sz="2400">
                <a:latin typeface="新宋体" panose="02010609030101010101" charset="-122"/>
                <a:ea typeface="新宋体" panose="02010609030101010101" charset="-122"/>
              </a:rPr>
              <a:t>k</a:t>
            </a:r>
            <a:r>
              <a:rPr lang="zh-CN" altLang="en-US" sz="2400">
                <a:latin typeface="新宋体" panose="02010609030101010101" charset="-122"/>
                <a:ea typeface="新宋体" panose="02010609030101010101" charset="-122"/>
              </a:rPr>
              <a:t>元子集</a:t>
            </a:r>
            <a:r>
              <a:rPr lang="en-US" altLang="zh-CN" sz="2400">
                <a:latin typeface="新宋体" panose="02010609030101010101" charset="-122"/>
                <a:ea typeface="新宋体" panose="02010609030101010101" charset="-122"/>
              </a:rPr>
              <a:t>V</a:t>
            </a:r>
            <a:r>
              <a:rPr lang="en-US" altLang="zh-CN" sz="2400">
                <a:latin typeface="Times New Roman" panose="02020603050405020304"/>
                <a:ea typeface="新宋体" panose="02010609030101010101" charset="-122"/>
              </a:rPr>
              <a:t>’</a:t>
            </a:r>
            <a:r>
              <a:rPr lang="en-US" altLang="zh-CN" sz="2400">
                <a:latin typeface="新宋体" panose="02010609030101010101" charset="-122"/>
                <a:ea typeface="新宋体" panose="02010609030101010101" charset="-122"/>
                <a:sym typeface="Symbol" panose="05050102010706020507" pitchFamily="18" charset="2"/>
              </a:rPr>
              <a:t></a:t>
            </a:r>
            <a:r>
              <a:rPr lang="en-US" altLang="zh-CN" sz="2400">
                <a:latin typeface="新宋体" panose="02010609030101010101" charset="-122"/>
                <a:ea typeface="新宋体" panose="02010609030101010101" charset="-122"/>
              </a:rPr>
              <a:t>V</a:t>
            </a:r>
            <a:r>
              <a:rPr lang="zh-CN" altLang="en-US" sz="2400">
                <a:latin typeface="新宋体" panose="02010609030101010101" charset="-122"/>
                <a:ea typeface="新宋体" panose="02010609030101010101" charset="-122"/>
              </a:rPr>
              <a:t>。见书</a:t>
            </a:r>
            <a:r>
              <a:rPr lang="en-US" altLang="zh-CN" sz="2400">
                <a:latin typeface="新宋体" panose="02010609030101010101" charset="-122"/>
                <a:ea typeface="新宋体" panose="02010609030101010101" charset="-122"/>
              </a:rPr>
              <a:t>P303.  </a:t>
            </a:r>
            <a:endParaRPr lang="en-US" altLang="zh-CN" sz="2400">
              <a:latin typeface="新宋体" panose="02010609030101010101" charset="-122"/>
              <a:ea typeface="新宋体" panose="02010609030101010101" charset="-122"/>
            </a:endParaRPr>
          </a:p>
        </p:txBody>
      </p:sp>
      <p:grpSp>
        <p:nvGrpSpPr>
          <p:cNvPr id="400393" name="Group 9"/>
          <p:cNvGrpSpPr/>
          <p:nvPr/>
        </p:nvGrpSpPr>
        <p:grpSpPr bwMode="auto">
          <a:xfrm>
            <a:off x="125413" y="4724400"/>
            <a:ext cx="8839200" cy="1198563"/>
            <a:chOff x="0" y="2976"/>
            <a:chExt cx="5568" cy="755"/>
          </a:xfrm>
        </p:grpSpPr>
        <p:sp>
          <p:nvSpPr>
            <p:cNvPr id="400394" name="Text Box 10"/>
            <p:cNvSpPr txBox="1">
              <a:spLocks noChangeArrowheads="1"/>
            </p:cNvSpPr>
            <p:nvPr/>
          </p:nvSpPr>
          <p:spPr bwMode="auto">
            <a:xfrm>
              <a:off x="0" y="2976"/>
              <a:ext cx="5568"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新宋体" panose="02010609030101010101" charset="-122"/>
                  <a:ea typeface="新宋体" panose="02010609030101010101" charset="-122"/>
                </a:rPr>
                <a:t>    算法的第三阶段是确定性地检查</a:t>
              </a:r>
              <a:r>
                <a:rPr lang="en-US" altLang="zh-CN" sz="2400">
                  <a:latin typeface="新宋体" panose="02010609030101010101" charset="-122"/>
                  <a:ea typeface="新宋体" panose="02010609030101010101" charset="-122"/>
                </a:rPr>
                <a:t>V</a:t>
              </a:r>
              <a:r>
                <a:rPr lang="en-US" altLang="zh-CN" sz="2400">
                  <a:latin typeface="Times New Roman" panose="02020603050405020304"/>
                  <a:ea typeface="新宋体" panose="02010609030101010101" charset="-122"/>
                </a:rPr>
                <a:t>’</a:t>
              </a:r>
              <a:r>
                <a:rPr lang="zh-CN" altLang="en-US" sz="2400">
                  <a:latin typeface="新宋体" panose="02010609030101010101" charset="-122"/>
                  <a:ea typeface="新宋体" panose="02010609030101010101" charset="-122"/>
                </a:rPr>
                <a:t>的团性质。若</a:t>
              </a:r>
              <a:r>
                <a:rPr lang="en-US" altLang="zh-CN" sz="2400">
                  <a:latin typeface="新宋体" panose="02010609030101010101" charset="-122"/>
                  <a:ea typeface="新宋体" panose="02010609030101010101" charset="-122"/>
                </a:rPr>
                <a:t>V</a:t>
              </a:r>
              <a:r>
                <a:rPr lang="en-US" altLang="zh-CN" sz="2400">
                  <a:latin typeface="Times New Roman" panose="02020603050405020304"/>
                  <a:ea typeface="新宋体" panose="02010609030101010101" charset="-122"/>
                </a:rPr>
                <a:t>’</a:t>
              </a:r>
              <a:r>
                <a:rPr lang="zh-CN" altLang="en-US" sz="2400">
                  <a:latin typeface="新宋体" panose="02010609030101010101" charset="-122"/>
                  <a:ea typeface="新宋体" panose="02010609030101010101" charset="-122"/>
                </a:rPr>
                <a:t>是一个团则接受输入，否则拒绝输入。这可以在      时间内完成。因此，整个算法的时间复杂性为     。</a:t>
              </a:r>
              <a:endParaRPr lang="zh-CN" altLang="en-US" sz="2400">
                <a:latin typeface="新宋体" panose="02010609030101010101" charset="-122"/>
                <a:ea typeface="新宋体" panose="02010609030101010101" charset="-122"/>
              </a:endParaRPr>
            </a:p>
          </p:txBody>
        </p:sp>
        <p:graphicFrame>
          <p:nvGraphicFramePr>
            <p:cNvPr id="400395" name="Object 11"/>
            <p:cNvGraphicFramePr>
              <a:graphicFrameLocks noChangeAspect="1"/>
            </p:cNvGraphicFramePr>
            <p:nvPr/>
          </p:nvGraphicFramePr>
          <p:xfrm>
            <a:off x="3334" y="3249"/>
            <a:ext cx="480" cy="256"/>
          </p:xfrm>
          <a:graphic>
            <a:graphicData uri="http://schemas.openxmlformats.org/presentationml/2006/ole">
              <mc:AlternateContent xmlns:mc="http://schemas.openxmlformats.org/markup-compatibility/2006">
                <mc:Choice xmlns:v="urn:schemas-microsoft-com:vml" Requires="v">
                  <p:oleObj spid="_x0000_s400408" name="" r:id="rId5" imgW="431800" imgH="228600" progId="Equation.3">
                    <p:embed/>
                  </p:oleObj>
                </mc:Choice>
                <mc:Fallback>
                  <p:oleObj name="" r:id="rId5" imgW="431800" imgH="22860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34" y="3249"/>
                          <a:ext cx="480" cy="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0396" name="Object 12"/>
            <p:cNvGraphicFramePr>
              <a:graphicFrameLocks noChangeAspect="1"/>
            </p:cNvGraphicFramePr>
            <p:nvPr/>
          </p:nvGraphicFramePr>
          <p:xfrm>
            <a:off x="2536" y="3475"/>
            <a:ext cx="480" cy="256"/>
          </p:xfrm>
          <a:graphic>
            <a:graphicData uri="http://schemas.openxmlformats.org/presentationml/2006/ole">
              <mc:AlternateContent xmlns:mc="http://schemas.openxmlformats.org/markup-compatibility/2006">
                <mc:Choice xmlns:v="urn:schemas-microsoft-com:vml" Requires="v">
                  <p:oleObj spid="_x0000_s400409" name="" r:id="rId7" imgW="431800" imgH="228600" progId="Equation.3">
                    <p:embed/>
                  </p:oleObj>
                </mc:Choice>
                <mc:Fallback>
                  <p:oleObj name="" r:id="rId7" imgW="431800" imgH="228600"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36" y="3475"/>
                          <a:ext cx="480" cy="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00397" name="Rectangle 13"/>
          <p:cNvSpPr>
            <a:spLocks noChangeArrowheads="1"/>
          </p:cNvSpPr>
          <p:nvPr/>
        </p:nvSpPr>
        <p:spPr bwMode="auto">
          <a:xfrm>
            <a:off x="228600" y="6089650"/>
            <a:ext cx="8686800" cy="508000"/>
          </a:xfrm>
          <a:prstGeom prst="rect">
            <a:avLst/>
          </a:prstGeom>
          <a:solidFill>
            <a:schemeClr val="hlink"/>
          </a:solidFill>
          <a:ln w="50800">
            <a:solidFill>
              <a:srgbClr val="FF6600"/>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spAutoFit/>
          </a:bodyPr>
          <a:lstStyle/>
          <a:p>
            <a:r>
              <a:rPr lang="zh-CN" altLang="en-US" sz="2400">
                <a:latin typeface="新宋体" panose="02010609030101010101" charset="-122"/>
                <a:ea typeface="新宋体" panose="02010609030101010101" charset="-122"/>
              </a:rPr>
              <a:t>非确定性算法在多项式时间内接受语言</a:t>
            </a:r>
            <a:r>
              <a:rPr lang="en-US" altLang="zh-CN" sz="2400">
                <a:latin typeface="新宋体" panose="02010609030101010101" charset="-122"/>
                <a:ea typeface="新宋体" panose="02010609030101010101" charset="-122"/>
              </a:rPr>
              <a:t>CLIQUE</a:t>
            </a:r>
            <a:r>
              <a:rPr lang="zh-CN" altLang="en-US" sz="2400">
                <a:latin typeface="新宋体" panose="02010609030101010101" charset="-122"/>
                <a:ea typeface="新宋体" panose="02010609030101010101" charset="-122"/>
              </a:rPr>
              <a:t>，故</a:t>
            </a:r>
            <a:r>
              <a:rPr lang="en-US" altLang="zh-CN" sz="2400">
                <a:latin typeface="新宋体" panose="02010609030101010101" charset="-122"/>
                <a:ea typeface="新宋体" panose="02010609030101010101" charset="-122"/>
              </a:rPr>
              <a:t>CLIQUE∈NP</a:t>
            </a:r>
            <a:r>
              <a:rPr lang="zh-CN" altLang="en-US" sz="2400">
                <a:latin typeface="新宋体" panose="02010609030101010101" charset="-122"/>
                <a:ea typeface="新宋体" panose="02010609030101010101" charset="-122"/>
              </a:rPr>
              <a:t>。</a:t>
            </a:r>
            <a:r>
              <a:rPr lang="zh-CN" altLang="en-US" sz="2400">
                <a:latin typeface="宋体" panose="02010600030101010101" pitchFamily="2" charset="-122"/>
              </a:rPr>
              <a:t> </a:t>
            </a:r>
            <a:endParaRPr lang="zh-CN" altLang="en-US" sz="2400">
              <a:latin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0387"/>
                                        </p:tgtEl>
                                        <p:attrNameLst>
                                          <p:attrName>style.visibility</p:attrName>
                                        </p:attrNameLst>
                                      </p:cBhvr>
                                      <p:to>
                                        <p:strVal val="visible"/>
                                      </p:to>
                                    </p:set>
                                    <p:animEffect transition="in" filter="blinds(horizontal)">
                                      <p:cBhvr>
                                        <p:cTn id="7" dur="500"/>
                                        <p:tgtEl>
                                          <p:spTgt spid="40038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00388"/>
                                        </p:tgtEl>
                                        <p:attrNameLst>
                                          <p:attrName>style.visibility</p:attrName>
                                        </p:attrNameLst>
                                      </p:cBhvr>
                                      <p:to>
                                        <p:strVal val="visible"/>
                                      </p:to>
                                    </p:set>
                                    <p:animEffect transition="in" filter="blinds(horizontal)">
                                      <p:cBhvr>
                                        <p:cTn id="12" dur="500"/>
                                        <p:tgtEl>
                                          <p:spTgt spid="40038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00392"/>
                                        </p:tgtEl>
                                        <p:attrNameLst>
                                          <p:attrName>style.visibility</p:attrName>
                                        </p:attrNameLst>
                                      </p:cBhvr>
                                      <p:to>
                                        <p:strVal val="visible"/>
                                      </p:to>
                                    </p:set>
                                    <p:animEffect transition="in" filter="blinds(horizontal)">
                                      <p:cBhvr>
                                        <p:cTn id="17" dur="500"/>
                                        <p:tgtEl>
                                          <p:spTgt spid="40039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00393"/>
                                        </p:tgtEl>
                                        <p:attrNameLst>
                                          <p:attrName>style.visibility</p:attrName>
                                        </p:attrNameLst>
                                      </p:cBhvr>
                                      <p:to>
                                        <p:strVal val="visible"/>
                                      </p:to>
                                    </p:set>
                                    <p:animEffect transition="in" filter="blinds(horizontal)">
                                      <p:cBhvr>
                                        <p:cTn id="22" dur="500"/>
                                        <p:tgtEl>
                                          <p:spTgt spid="400393"/>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00397"/>
                                        </p:tgtEl>
                                        <p:attrNameLst>
                                          <p:attrName>style.visibility</p:attrName>
                                        </p:attrNameLst>
                                      </p:cBhvr>
                                      <p:to>
                                        <p:strVal val="visible"/>
                                      </p:to>
                                    </p:set>
                                    <p:anim calcmode="lin" valueType="num">
                                      <p:cBhvr additive="base">
                                        <p:cTn id="27" dur="500" fill="hold"/>
                                        <p:tgtEl>
                                          <p:spTgt spid="400397"/>
                                        </p:tgtEl>
                                        <p:attrNameLst>
                                          <p:attrName>ppt_x</p:attrName>
                                        </p:attrNameLst>
                                      </p:cBhvr>
                                      <p:tavLst>
                                        <p:tav tm="0">
                                          <p:val>
                                            <p:strVal val="#ppt_x"/>
                                          </p:val>
                                        </p:tav>
                                        <p:tav tm="100000">
                                          <p:val>
                                            <p:strVal val="#ppt_x"/>
                                          </p:val>
                                        </p:tav>
                                      </p:tavLst>
                                    </p:anim>
                                    <p:anim calcmode="lin" valueType="num">
                                      <p:cBhvr additive="base">
                                        <p:cTn id="28" dur="500" fill="hold"/>
                                        <p:tgtEl>
                                          <p:spTgt spid="40039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387" grpId="0" animBg="1" autoUpdateAnimBg="0"/>
      <p:bldP spid="400392" grpId="0" autoUpdateAnimBg="0"/>
      <p:bldP spid="400397" grpId="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灯片编号占位符 5"/>
          <p:cNvSpPr>
            <a:spLocks noGrp="1"/>
          </p:cNvSpPr>
          <p:nvPr>
            <p:ph type="sldNum" sz="quarter" idx="12"/>
          </p:nvPr>
        </p:nvSpPr>
        <p:spPr/>
        <p:txBody>
          <a:bodyPr/>
          <a:lstStyle/>
          <a:p>
            <a:fld id="{35E1886F-3671-4050-A5B9-DA6E7B38D868}" type="slidenum">
              <a:rPr lang="en-US" altLang="zh-CN"/>
            </a:fld>
            <a:endParaRPr lang="en-US" altLang="zh-CN"/>
          </a:p>
        </p:txBody>
      </p:sp>
      <p:sp>
        <p:nvSpPr>
          <p:cNvPr id="401410" name="Rectangle 2"/>
          <p:cNvSpPr>
            <a:spLocks noGrp="1" noChangeArrowheads="1"/>
          </p:cNvSpPr>
          <p:nvPr>
            <p:ph type="title"/>
          </p:nvPr>
        </p:nvSpPr>
        <p:spPr>
          <a:xfrm>
            <a:off x="395288" y="1196975"/>
            <a:ext cx="7543800" cy="581025"/>
          </a:xfrm>
        </p:spPr>
        <p:txBody>
          <a:bodyPr/>
          <a:lstStyle/>
          <a:p>
            <a:r>
              <a:rPr lang="en-US" altLang="zh-CN" sz="3000"/>
              <a:t>8.2.3  </a:t>
            </a:r>
            <a:r>
              <a:rPr lang="zh-CN" altLang="en-US" sz="3000">
                <a:latin typeface="新宋体" panose="02010609030101010101" charset="-122"/>
                <a:ea typeface="新宋体" panose="02010609030101010101" charset="-122"/>
              </a:rPr>
              <a:t>多项式时间验证</a:t>
            </a:r>
            <a:endParaRPr lang="zh-CN" altLang="en-US" sz="3000">
              <a:latin typeface="新宋体" panose="02010609030101010101" charset="-122"/>
              <a:ea typeface="新宋体" panose="02010609030101010101" charset="-122"/>
            </a:endParaRPr>
          </a:p>
        </p:txBody>
      </p:sp>
      <p:sp>
        <p:nvSpPr>
          <p:cNvPr id="401411" name="Text Box 3"/>
          <p:cNvSpPr txBox="1">
            <a:spLocks noChangeArrowheads="1"/>
          </p:cNvSpPr>
          <p:nvPr/>
        </p:nvSpPr>
        <p:spPr bwMode="auto">
          <a:xfrm>
            <a:off x="152400" y="2546350"/>
            <a:ext cx="88392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新宋体" panose="02010609030101010101" charset="-122"/>
                <a:ea typeface="新宋体" panose="02010609030101010101" charset="-122"/>
              </a:rPr>
              <a:t>    </a:t>
            </a:r>
            <a:r>
              <a:rPr lang="en-US" altLang="zh-CN" sz="2400">
                <a:latin typeface="新宋体" panose="02010609030101010101" charset="-122"/>
                <a:ea typeface="新宋体" panose="02010609030101010101" charset="-122"/>
              </a:rPr>
              <a:t>VP={L|L∈∑*</a:t>
            </a:r>
            <a:r>
              <a:rPr lang="zh-CN" altLang="en-US" sz="2400">
                <a:latin typeface="新宋体" panose="02010609030101010101" charset="-122"/>
                <a:ea typeface="新宋体" panose="02010609030101010101" charset="-122"/>
              </a:rPr>
              <a:t>，∑为一有限字符集，存在一个多项式</a:t>
            </a:r>
            <a:r>
              <a:rPr lang="en-US" altLang="zh-CN" sz="2400">
                <a:latin typeface="新宋体" panose="02010609030101010101" charset="-122"/>
                <a:ea typeface="新宋体" panose="02010609030101010101" charset="-122"/>
              </a:rPr>
              <a:t>p</a:t>
            </a:r>
            <a:r>
              <a:rPr lang="zh-CN" altLang="en-US" sz="2400">
                <a:latin typeface="新宋体" panose="02010609030101010101" charset="-122"/>
                <a:ea typeface="新宋体" panose="02010609030101010101" charset="-122"/>
              </a:rPr>
              <a:t>和一个多项式时间验证算法</a:t>
            </a:r>
            <a:r>
              <a:rPr lang="en-US" altLang="zh-CN" sz="2400">
                <a:latin typeface="新宋体" panose="02010609030101010101" charset="-122"/>
                <a:ea typeface="新宋体" panose="02010609030101010101" charset="-122"/>
              </a:rPr>
              <a:t>A(X</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Y)</a:t>
            </a:r>
            <a:r>
              <a:rPr lang="zh-CN" altLang="en-US" sz="2400">
                <a:latin typeface="新宋体" panose="02010609030101010101" charset="-122"/>
                <a:ea typeface="新宋体" panose="02010609030101010101" charset="-122"/>
              </a:rPr>
              <a:t>使得对任意</a:t>
            </a:r>
            <a:r>
              <a:rPr lang="en-US" altLang="zh-CN" sz="2400">
                <a:latin typeface="新宋体" panose="02010609030101010101" charset="-122"/>
                <a:ea typeface="新宋体" panose="02010609030101010101" charset="-122"/>
              </a:rPr>
              <a:t>X∈∑*</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X∈L</a:t>
            </a:r>
            <a:r>
              <a:rPr lang="zh-CN" altLang="en-US" sz="2400">
                <a:latin typeface="新宋体" panose="02010609030101010101" charset="-122"/>
                <a:ea typeface="新宋体" panose="02010609030101010101" charset="-122"/>
              </a:rPr>
              <a:t>当且仅当存在</a:t>
            </a:r>
            <a:r>
              <a:rPr lang="en-US" altLang="zh-CN" sz="2400">
                <a:latin typeface="新宋体" panose="02010609030101010101" charset="-122"/>
                <a:ea typeface="新宋体" panose="02010609030101010101" charset="-122"/>
              </a:rPr>
              <a:t>Y∈∑*</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|Y|≤p(|X|)</a:t>
            </a:r>
            <a:r>
              <a:rPr lang="zh-CN" altLang="en-US" sz="2400">
                <a:latin typeface="新宋体" panose="02010609030101010101" charset="-122"/>
                <a:ea typeface="新宋体" panose="02010609030101010101" charset="-122"/>
              </a:rPr>
              <a:t>且</a:t>
            </a:r>
            <a:r>
              <a:rPr lang="en-US" altLang="zh-CN" sz="2400">
                <a:latin typeface="新宋体" panose="02010609030101010101" charset="-122"/>
                <a:ea typeface="新宋体" panose="02010609030101010101" charset="-122"/>
              </a:rPr>
              <a:t>A(X</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Y)=1}</a:t>
            </a:r>
            <a:r>
              <a:rPr lang="zh-CN" altLang="en-US" sz="2400">
                <a:latin typeface="新宋体" panose="02010609030101010101" charset="-122"/>
                <a:ea typeface="新宋体" panose="02010609030101010101" charset="-122"/>
              </a:rPr>
              <a:t>。 </a:t>
            </a:r>
            <a:endParaRPr lang="zh-CN" altLang="en-US" sz="2400">
              <a:latin typeface="新宋体" panose="02010609030101010101" charset="-122"/>
              <a:ea typeface="新宋体" panose="02010609030101010101" charset="-122"/>
            </a:endParaRPr>
          </a:p>
        </p:txBody>
      </p:sp>
      <p:sp>
        <p:nvSpPr>
          <p:cNvPr id="401412" name="Text Box 4"/>
          <p:cNvSpPr txBox="1">
            <a:spLocks noChangeArrowheads="1"/>
          </p:cNvSpPr>
          <p:nvPr/>
        </p:nvSpPr>
        <p:spPr bwMode="auto">
          <a:xfrm>
            <a:off x="152400" y="1905000"/>
            <a:ext cx="883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新宋体" panose="02010609030101010101" charset="-122"/>
                <a:ea typeface="新宋体" panose="02010609030101010101" charset="-122"/>
              </a:rPr>
              <a:t>    多项式时间可验证语言类</a:t>
            </a:r>
            <a:r>
              <a:rPr lang="en-US" altLang="zh-CN" sz="2400">
                <a:latin typeface="新宋体" panose="02010609030101010101" charset="-122"/>
                <a:ea typeface="新宋体" panose="02010609030101010101" charset="-122"/>
              </a:rPr>
              <a:t>VP</a:t>
            </a:r>
            <a:r>
              <a:rPr lang="zh-CN" altLang="en-US" sz="2400">
                <a:latin typeface="新宋体" panose="02010609030101010101" charset="-122"/>
                <a:ea typeface="新宋体" panose="02010609030101010101" charset="-122"/>
              </a:rPr>
              <a:t>可定义为： </a:t>
            </a:r>
            <a:endParaRPr lang="zh-CN" altLang="en-US" sz="2400">
              <a:latin typeface="新宋体" panose="02010609030101010101" charset="-122"/>
              <a:ea typeface="新宋体" panose="02010609030101010101" charset="-122"/>
            </a:endParaRPr>
          </a:p>
        </p:txBody>
      </p:sp>
      <p:sp>
        <p:nvSpPr>
          <p:cNvPr id="401413" name="Text Box 5"/>
          <p:cNvSpPr txBox="1">
            <a:spLocks noChangeArrowheads="1"/>
          </p:cNvSpPr>
          <p:nvPr/>
        </p:nvSpPr>
        <p:spPr bwMode="auto">
          <a:xfrm>
            <a:off x="152400" y="3962400"/>
            <a:ext cx="883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b="1">
                <a:latin typeface="新宋体" panose="02010609030101010101" charset="-122"/>
                <a:ea typeface="新宋体" panose="02010609030101010101" charset="-122"/>
              </a:rPr>
              <a:t>    定理</a:t>
            </a:r>
            <a:r>
              <a:rPr lang="en-US" altLang="zh-CN" sz="2400" b="1">
                <a:latin typeface="新宋体" panose="02010609030101010101" charset="-122"/>
                <a:ea typeface="新宋体" panose="02010609030101010101" charset="-122"/>
              </a:rPr>
              <a:t>8.5</a:t>
            </a:r>
            <a:r>
              <a:rPr lang="zh-CN" altLang="en-US" sz="2400" b="1">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VP=NP</a:t>
            </a:r>
            <a:r>
              <a:rPr lang="zh-CN" altLang="en-US" sz="2400">
                <a:latin typeface="新宋体" panose="02010609030101010101" charset="-122"/>
                <a:ea typeface="新宋体" panose="02010609030101010101" charset="-122"/>
              </a:rPr>
              <a:t>。</a:t>
            </a:r>
            <a:endParaRPr lang="zh-CN" altLang="en-US" sz="2400">
              <a:latin typeface="新宋体" panose="02010609030101010101" charset="-122"/>
              <a:ea typeface="新宋体" panose="02010609030101010101" charset="-122"/>
            </a:endParaRPr>
          </a:p>
        </p:txBody>
      </p:sp>
      <p:sp>
        <p:nvSpPr>
          <p:cNvPr id="401414" name="Text Box 6"/>
          <p:cNvSpPr txBox="1">
            <a:spLocks noChangeArrowheads="1"/>
          </p:cNvSpPr>
          <p:nvPr/>
        </p:nvSpPr>
        <p:spPr bwMode="auto">
          <a:xfrm>
            <a:off x="152400" y="4619625"/>
            <a:ext cx="88392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just"/>
            <a:r>
              <a:rPr lang="zh-CN" altLang="en-US" sz="2400">
                <a:latin typeface="新宋体" panose="02010609030101010101" charset="-122"/>
                <a:ea typeface="新宋体" panose="02010609030101010101" charset="-122"/>
              </a:rPr>
              <a:t>  例如</a:t>
            </a:r>
            <a:r>
              <a:rPr lang="en-US" altLang="zh-CN" sz="2400">
                <a:latin typeface="新宋体" panose="02010609030101010101" charset="-122"/>
                <a:ea typeface="新宋体" panose="02010609030101010101" charset="-122"/>
              </a:rPr>
              <a:t>(</a:t>
            </a:r>
            <a:r>
              <a:rPr lang="zh-CN" altLang="en-US" sz="2400" b="1">
                <a:latin typeface="新宋体" panose="02010609030101010101" charset="-122"/>
                <a:ea typeface="新宋体" panose="02010609030101010101" charset="-122"/>
              </a:rPr>
              <a:t>哈密顿回路问题</a:t>
            </a:r>
            <a:r>
              <a:rPr lang="en-US" altLang="zh-CN" sz="2400">
                <a:latin typeface="新宋体" panose="02010609030101010101" charset="-122"/>
                <a:ea typeface="新宋体" panose="02010609030101010101" charset="-122"/>
              </a:rPr>
              <a:t>)</a:t>
            </a:r>
            <a:r>
              <a:rPr lang="zh-CN" altLang="en-US" sz="2400">
                <a:latin typeface="新宋体" panose="02010609030101010101" charset="-122"/>
                <a:ea typeface="新宋体" panose="02010609030101010101" charset="-122"/>
              </a:rPr>
              <a:t>：一个无向图</a:t>
            </a:r>
            <a:r>
              <a:rPr lang="en-US" altLang="zh-CN" sz="2400">
                <a:latin typeface="新宋体" panose="02010609030101010101" charset="-122"/>
                <a:ea typeface="新宋体" panose="02010609030101010101" charset="-122"/>
              </a:rPr>
              <a:t>G</a:t>
            </a:r>
            <a:r>
              <a:rPr lang="zh-CN" altLang="en-US" sz="2400">
                <a:latin typeface="新宋体" panose="02010609030101010101" charset="-122"/>
                <a:ea typeface="新宋体" panose="02010609030101010101" charset="-122"/>
              </a:rPr>
              <a:t>含有哈密顿回路吗</a:t>
            </a:r>
            <a:r>
              <a:rPr lang="en-US" altLang="zh-CN" sz="2400">
                <a:latin typeface="新宋体" panose="02010609030101010101" charset="-122"/>
                <a:ea typeface="新宋体" panose="02010609030101010101" charset="-122"/>
              </a:rPr>
              <a:t>?</a:t>
            </a:r>
            <a:endParaRPr lang="en-US" altLang="zh-CN" sz="2400">
              <a:latin typeface="新宋体" panose="02010609030101010101" charset="-122"/>
              <a:ea typeface="新宋体" panose="02010609030101010101" charset="-122"/>
            </a:endParaRPr>
          </a:p>
          <a:p>
            <a:pPr algn="just"/>
            <a:r>
              <a:rPr lang="en-US" altLang="zh-CN" sz="2400">
                <a:latin typeface="新宋体" panose="02010609030101010101" charset="-122"/>
                <a:ea typeface="新宋体" panose="02010609030101010101" charset="-122"/>
              </a:rPr>
              <a:t>  </a:t>
            </a:r>
            <a:r>
              <a:rPr lang="zh-CN" altLang="en-US" sz="2400">
                <a:latin typeface="新宋体" panose="02010609030101010101" charset="-122"/>
                <a:ea typeface="新宋体" panose="02010609030101010101" charset="-122"/>
              </a:rPr>
              <a:t>无向图</a:t>
            </a:r>
            <a:r>
              <a:rPr lang="en-US" altLang="zh-CN" sz="2400">
                <a:latin typeface="新宋体" panose="02010609030101010101" charset="-122"/>
                <a:ea typeface="新宋体" panose="02010609030101010101" charset="-122"/>
              </a:rPr>
              <a:t>G</a:t>
            </a:r>
            <a:r>
              <a:rPr lang="zh-CN" altLang="en-US" sz="2400">
                <a:latin typeface="新宋体" panose="02010609030101010101" charset="-122"/>
                <a:ea typeface="新宋体" panose="02010609030101010101" charset="-122"/>
              </a:rPr>
              <a:t>的哈密顿回路是通过</a:t>
            </a:r>
            <a:r>
              <a:rPr lang="en-US" altLang="zh-CN" sz="2400">
                <a:latin typeface="新宋体" panose="02010609030101010101" charset="-122"/>
                <a:ea typeface="新宋体" panose="02010609030101010101" charset="-122"/>
              </a:rPr>
              <a:t>G</a:t>
            </a:r>
            <a:r>
              <a:rPr lang="zh-CN" altLang="en-US" sz="2400">
                <a:latin typeface="新宋体" panose="02010609030101010101" charset="-122"/>
                <a:ea typeface="新宋体" panose="02010609030101010101" charset="-122"/>
              </a:rPr>
              <a:t>的每个顶点恰好一次的简单回路。可用语言</a:t>
            </a:r>
            <a:r>
              <a:rPr lang="en-US" altLang="zh-CN" sz="2400">
                <a:latin typeface="新宋体" panose="02010609030101010101" charset="-122"/>
                <a:ea typeface="新宋体" panose="02010609030101010101" charset="-122"/>
              </a:rPr>
              <a:t>HAM-CYCLE </a:t>
            </a:r>
            <a:r>
              <a:rPr lang="zh-CN" altLang="en-US" sz="2400">
                <a:latin typeface="新宋体" panose="02010609030101010101" charset="-122"/>
                <a:ea typeface="新宋体" panose="02010609030101010101" charset="-122"/>
              </a:rPr>
              <a:t>定义该问题如下：</a:t>
            </a:r>
            <a:endParaRPr lang="zh-CN" altLang="en-US"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		</a:t>
            </a:r>
            <a:r>
              <a:rPr lang="en-US" altLang="zh-CN" sz="2400">
                <a:latin typeface="新宋体" panose="02010609030101010101" charset="-122"/>
                <a:ea typeface="新宋体" panose="02010609030101010101" charset="-122"/>
              </a:rPr>
              <a:t>HAM-CYCLE={G|G</a:t>
            </a:r>
            <a:r>
              <a:rPr lang="zh-CN" altLang="en-US" sz="2400">
                <a:latin typeface="新宋体" panose="02010609030101010101" charset="-122"/>
                <a:ea typeface="新宋体" panose="02010609030101010101" charset="-122"/>
              </a:rPr>
              <a:t>含有哈密顿回路</a:t>
            </a:r>
            <a:r>
              <a:rPr lang="en-US" altLang="zh-CN" sz="2400">
                <a:latin typeface="新宋体" panose="02010609030101010101" charset="-122"/>
              </a:rPr>
              <a:t>}</a:t>
            </a:r>
            <a:r>
              <a:rPr lang="en-US" altLang="zh-CN" sz="2400">
                <a:latin typeface="新宋体" panose="02010609030101010101" charset="-122"/>
                <a:ea typeface="新宋体" panose="02010609030101010101" charset="-122"/>
              </a:rPr>
              <a:t> </a:t>
            </a:r>
            <a:endParaRPr lang="en-US" altLang="zh-CN" sz="2400">
              <a:latin typeface="新宋体" panose="02010609030101010101" charset="-122"/>
              <a:ea typeface="新宋体" panose="02010609030101010101" charset="-122"/>
            </a:endParaRPr>
          </a:p>
        </p:txBody>
      </p:sp>
      <p:sp>
        <p:nvSpPr>
          <p:cNvPr id="401415" name="Rectangle 7"/>
          <p:cNvSpPr>
            <a:spLocks noChangeArrowheads="1"/>
          </p:cNvSpPr>
          <p:nvPr/>
        </p:nvSpPr>
        <p:spPr bwMode="auto">
          <a:xfrm>
            <a:off x="144463" y="134938"/>
            <a:ext cx="8820150" cy="984250"/>
          </a:xfrm>
          <a:prstGeom prst="rect">
            <a:avLst/>
          </a:prstGeom>
          <a:solidFill>
            <a:schemeClr val="accent1"/>
          </a:solidFill>
          <a:ln w="38100">
            <a:solidFill>
              <a:srgbClr val="A5002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kumimoji="1" lang="en-US" altLang="zh-CN" sz="2800" b="1">
                <a:solidFill>
                  <a:srgbClr val="0000CC"/>
                </a:solidFill>
                <a:latin typeface="新宋体" panose="02010609030101010101" charset="-122"/>
                <a:ea typeface="新宋体" panose="02010609030101010101" charset="-122"/>
              </a:rPr>
              <a:t>NP</a:t>
            </a:r>
            <a:r>
              <a:rPr kumimoji="1" lang="zh-CN" altLang="en-US" sz="2800" b="1">
                <a:solidFill>
                  <a:srgbClr val="0000CC"/>
                </a:solidFill>
                <a:latin typeface="新宋体" panose="02010609030101010101" charset="-122"/>
                <a:ea typeface="新宋体" panose="02010609030101010101" charset="-122"/>
              </a:rPr>
              <a:t>问题不是非</a:t>
            </a:r>
            <a:r>
              <a:rPr kumimoji="1" lang="en-US" altLang="zh-CN" sz="2800" b="1">
                <a:solidFill>
                  <a:srgbClr val="0000CC"/>
                </a:solidFill>
                <a:latin typeface="新宋体" panose="02010609030101010101" charset="-122"/>
                <a:ea typeface="新宋体" panose="02010609030101010101" charset="-122"/>
              </a:rPr>
              <a:t>P</a:t>
            </a:r>
            <a:r>
              <a:rPr kumimoji="1" lang="zh-CN" altLang="en-US" sz="2800" b="1">
                <a:solidFill>
                  <a:srgbClr val="0000CC"/>
                </a:solidFill>
                <a:latin typeface="新宋体" panose="02010609030101010101" charset="-122"/>
                <a:ea typeface="新宋体" panose="02010609030101010101" charset="-122"/>
              </a:rPr>
              <a:t>类问题。</a:t>
            </a:r>
            <a:endParaRPr kumimoji="1" lang="zh-CN" altLang="en-US" sz="2800" b="1">
              <a:solidFill>
                <a:srgbClr val="0000CC"/>
              </a:solidFill>
              <a:latin typeface="新宋体" panose="02010609030101010101" charset="-122"/>
              <a:ea typeface="新宋体" panose="02010609030101010101" charset="-122"/>
            </a:endParaRPr>
          </a:p>
          <a:p>
            <a:r>
              <a:rPr kumimoji="1" lang="en-US" altLang="zh-CN" sz="2800" b="1">
                <a:solidFill>
                  <a:srgbClr val="0000CC"/>
                </a:solidFill>
                <a:latin typeface="新宋体" panose="02010609030101010101" charset="-122"/>
                <a:ea typeface="新宋体" panose="02010609030101010101" charset="-122"/>
              </a:rPr>
              <a:t>NP</a:t>
            </a:r>
            <a:r>
              <a:rPr kumimoji="1" lang="zh-CN" altLang="en-US" sz="2800" b="1">
                <a:solidFill>
                  <a:srgbClr val="0000CC"/>
                </a:solidFill>
                <a:latin typeface="新宋体" panose="02010609030101010101" charset="-122"/>
                <a:ea typeface="新宋体" panose="02010609030101010101" charset="-122"/>
              </a:rPr>
              <a:t>问题是指可以在多项式的时间里验证一个解的问题。 </a:t>
            </a:r>
            <a:endParaRPr kumimoji="1" lang="zh-CN" altLang="en-US" sz="2800" b="1">
              <a:solidFill>
                <a:srgbClr val="0000CC"/>
              </a:solidFill>
              <a:latin typeface="新宋体" panose="02010609030101010101" charset="-122"/>
              <a:ea typeface="新宋体" panose="02010609030101010101" charset="-122"/>
            </a:endParaRPr>
          </a:p>
        </p:txBody>
      </p:sp>
      <p:sp>
        <p:nvSpPr>
          <p:cNvPr id="401416" name="Text Box 8"/>
          <p:cNvSpPr txBox="1">
            <a:spLocks noChangeArrowheads="1"/>
          </p:cNvSpPr>
          <p:nvPr/>
        </p:nvSpPr>
        <p:spPr bwMode="auto">
          <a:xfrm>
            <a:off x="269875" y="6237288"/>
            <a:ext cx="6678613" cy="495300"/>
          </a:xfrm>
          <a:prstGeom prst="rect">
            <a:avLst/>
          </a:prstGeom>
          <a:solidFill>
            <a:srgbClr val="FFFF66"/>
          </a:solidFill>
          <a:ln w="38100">
            <a:solidFill>
              <a:srgbClr val="A50021"/>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b="1">
                <a:latin typeface="新宋体" panose="02010609030101010101" charset="-122"/>
                <a:ea typeface="新宋体" panose="02010609030101010101" charset="-122"/>
              </a:rPr>
              <a:t>思考：试问一个图中是否不存在</a:t>
            </a:r>
            <a:r>
              <a:rPr lang="en-US" altLang="zh-CN" sz="2400" b="1">
                <a:latin typeface="新宋体" panose="02010609030101010101" charset="-122"/>
                <a:ea typeface="新宋体" panose="02010609030101010101" charset="-122"/>
              </a:rPr>
              <a:t>Hamilton</a:t>
            </a:r>
            <a:r>
              <a:rPr lang="zh-CN" altLang="en-US" sz="2400" b="1">
                <a:latin typeface="新宋体" panose="02010609030101010101" charset="-122"/>
                <a:ea typeface="新宋体" panose="02010609030101010101" charset="-122"/>
              </a:rPr>
              <a:t>回路？</a:t>
            </a:r>
            <a:endParaRPr lang="zh-CN" altLang="en-US" sz="2400" b="1">
              <a:latin typeface="新宋体" panose="02010609030101010101" charset="-122"/>
              <a:ea typeface="新宋体" panose="02010609030101010101" charset="-122"/>
            </a:endParaRPr>
          </a:p>
        </p:txBody>
      </p:sp>
      <p:sp>
        <p:nvSpPr>
          <p:cNvPr id="401417" name="AutoShape 9"/>
          <p:cNvSpPr>
            <a:spLocks noChangeArrowheads="1"/>
          </p:cNvSpPr>
          <p:nvPr/>
        </p:nvSpPr>
        <p:spPr bwMode="auto">
          <a:xfrm>
            <a:off x="6804025" y="5661025"/>
            <a:ext cx="1800225" cy="792163"/>
          </a:xfrm>
          <a:prstGeom prst="cloudCallout">
            <a:avLst>
              <a:gd name="adj1" fmla="val -43208"/>
              <a:gd name="adj2" fmla="val 73648"/>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400"/>
              <a:t>NP</a:t>
            </a:r>
            <a:r>
              <a:rPr lang="zh-CN" altLang="en-US" sz="2400"/>
              <a:t>否？</a:t>
            </a:r>
            <a:endParaRPr lang="zh-CN" altLang="en-US" sz="240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1410"/>
                                        </p:tgtEl>
                                        <p:attrNameLst>
                                          <p:attrName>style.visibility</p:attrName>
                                        </p:attrNameLst>
                                      </p:cBhvr>
                                      <p:to>
                                        <p:strVal val="visible"/>
                                      </p:to>
                                    </p:set>
                                    <p:animEffect transition="in" filter="slide(fromBottom)">
                                      <p:cBhvr>
                                        <p:cTn id="7" dur="500"/>
                                        <p:tgtEl>
                                          <p:spTgt spid="4014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01412"/>
                                        </p:tgtEl>
                                        <p:attrNameLst>
                                          <p:attrName>style.visibility</p:attrName>
                                        </p:attrNameLst>
                                      </p:cBhvr>
                                      <p:to>
                                        <p:strVal val="visible"/>
                                      </p:to>
                                    </p:set>
                                    <p:animEffect transition="in" filter="blinds(horizontal)">
                                      <p:cBhvr>
                                        <p:cTn id="12" dur="500"/>
                                        <p:tgtEl>
                                          <p:spTgt spid="4014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01411"/>
                                        </p:tgtEl>
                                        <p:attrNameLst>
                                          <p:attrName>style.visibility</p:attrName>
                                        </p:attrNameLst>
                                      </p:cBhvr>
                                      <p:to>
                                        <p:strVal val="visible"/>
                                      </p:to>
                                    </p:set>
                                    <p:animEffect transition="in" filter="blinds(horizontal)">
                                      <p:cBhvr>
                                        <p:cTn id="17" dur="500"/>
                                        <p:tgtEl>
                                          <p:spTgt spid="4014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01413"/>
                                        </p:tgtEl>
                                        <p:attrNameLst>
                                          <p:attrName>style.visibility</p:attrName>
                                        </p:attrNameLst>
                                      </p:cBhvr>
                                      <p:to>
                                        <p:strVal val="visible"/>
                                      </p:to>
                                    </p:set>
                                    <p:animEffect transition="in" filter="blinds(horizontal)">
                                      <p:cBhvr>
                                        <p:cTn id="22" dur="500"/>
                                        <p:tgtEl>
                                          <p:spTgt spid="40141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01414"/>
                                        </p:tgtEl>
                                        <p:attrNameLst>
                                          <p:attrName>style.visibility</p:attrName>
                                        </p:attrNameLst>
                                      </p:cBhvr>
                                      <p:to>
                                        <p:strVal val="visible"/>
                                      </p:to>
                                    </p:set>
                                    <p:animEffect transition="in" filter="blinds(horizontal)">
                                      <p:cBhvr>
                                        <p:cTn id="27" dur="500"/>
                                        <p:tgtEl>
                                          <p:spTgt spid="40141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01416"/>
                                        </p:tgtEl>
                                        <p:attrNameLst>
                                          <p:attrName>style.visibility</p:attrName>
                                        </p:attrNameLst>
                                      </p:cBhvr>
                                      <p:to>
                                        <p:strVal val="visible"/>
                                      </p:to>
                                    </p:set>
                                    <p:animEffect transition="in" filter="blinds(horizontal)">
                                      <p:cBhvr>
                                        <p:cTn id="32" dur="500"/>
                                        <p:tgtEl>
                                          <p:spTgt spid="401416"/>
                                        </p:tgtEl>
                                      </p:cBhvr>
                                    </p:animEffect>
                                  </p:childTnLst>
                                </p:cTn>
                              </p:par>
                            </p:childTnLst>
                          </p:cTn>
                        </p:par>
                        <p:par>
                          <p:cTn id="33" fill="hold">
                            <p:stCondLst>
                              <p:cond delay="500"/>
                            </p:stCondLst>
                            <p:childTnLst>
                              <p:par>
                                <p:cTn id="34" presetID="2" presetClass="entr" presetSubtype="4" fill="hold" grpId="0" nodeType="afterEffect">
                                  <p:stCondLst>
                                    <p:cond delay="5000"/>
                                  </p:stCondLst>
                                  <p:childTnLst>
                                    <p:set>
                                      <p:cBhvr>
                                        <p:cTn id="35" dur="1" fill="hold">
                                          <p:stCondLst>
                                            <p:cond delay="0"/>
                                          </p:stCondLst>
                                        </p:cTn>
                                        <p:tgtEl>
                                          <p:spTgt spid="401417"/>
                                        </p:tgtEl>
                                        <p:attrNameLst>
                                          <p:attrName>style.visibility</p:attrName>
                                        </p:attrNameLst>
                                      </p:cBhvr>
                                      <p:to>
                                        <p:strVal val="visible"/>
                                      </p:to>
                                    </p:set>
                                    <p:anim calcmode="lin" valueType="num">
                                      <p:cBhvr additive="base">
                                        <p:cTn id="36" dur="2000" fill="hold"/>
                                        <p:tgtEl>
                                          <p:spTgt spid="401417"/>
                                        </p:tgtEl>
                                        <p:attrNameLst>
                                          <p:attrName>ppt_x</p:attrName>
                                        </p:attrNameLst>
                                      </p:cBhvr>
                                      <p:tavLst>
                                        <p:tav tm="0">
                                          <p:val>
                                            <p:strVal val="#ppt_x"/>
                                          </p:val>
                                        </p:tav>
                                        <p:tav tm="100000">
                                          <p:val>
                                            <p:strVal val="#ppt_x"/>
                                          </p:val>
                                        </p:tav>
                                      </p:tavLst>
                                    </p:anim>
                                    <p:anim calcmode="lin" valueType="num">
                                      <p:cBhvr additive="base">
                                        <p:cTn id="37" dur="2000" fill="hold"/>
                                        <p:tgtEl>
                                          <p:spTgt spid="4014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410" grpId="0" bldLvl="0" animBg="1"/>
      <p:bldP spid="401411" grpId="0" autoUpdateAnimBg="0"/>
      <p:bldP spid="401412" grpId="0" autoUpdateAnimBg="0"/>
      <p:bldP spid="401413" grpId="0" autoUpdateAnimBg="0"/>
      <p:bldP spid="401414" grpId="0" autoUpdateAnimBg="0"/>
      <p:bldP spid="401416" grpId="0" animBg="1" autoUpdateAnimBg="0"/>
      <p:bldP spid="401417"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161687FF-CFFB-4A86-B225-FCED2534BE01}" type="slidenum">
              <a:rPr lang="en-US" altLang="zh-CN"/>
            </a:fld>
            <a:endParaRPr lang="en-US" altLang="zh-CN"/>
          </a:p>
        </p:txBody>
      </p:sp>
      <p:sp>
        <p:nvSpPr>
          <p:cNvPr id="402434" name="Rectangle 2"/>
          <p:cNvSpPr>
            <a:spLocks noGrp="1" noChangeArrowheads="1"/>
          </p:cNvSpPr>
          <p:nvPr>
            <p:ph type="title"/>
          </p:nvPr>
        </p:nvSpPr>
        <p:spPr>
          <a:xfrm>
            <a:off x="685800" y="1066800"/>
            <a:ext cx="7772400" cy="1143000"/>
          </a:xfrm>
        </p:spPr>
        <p:txBody>
          <a:bodyPr/>
          <a:lstStyle/>
          <a:p>
            <a:r>
              <a:rPr lang="en-US" altLang="zh-CN"/>
              <a:t>8.3	</a:t>
            </a:r>
            <a:r>
              <a:rPr lang="en-US" altLang="zh-CN">
                <a:ea typeface="新宋体" panose="02010609030101010101" charset="-122"/>
              </a:rPr>
              <a:t>NP</a:t>
            </a:r>
            <a:r>
              <a:rPr lang="zh-CN" altLang="en-US">
                <a:ea typeface="新宋体" panose="02010609030101010101" charset="-122"/>
              </a:rPr>
              <a:t>完全问题</a:t>
            </a:r>
            <a:endParaRPr lang="zh-CN" altLang="en-US">
              <a:ea typeface="新宋体" panose="02010609030101010101" charset="-122"/>
            </a:endParaRPr>
          </a:p>
        </p:txBody>
      </p:sp>
      <p:sp>
        <p:nvSpPr>
          <p:cNvPr id="402435" name="Rectangle 3"/>
          <p:cNvSpPr>
            <a:spLocks noGrp="1" noChangeArrowheads="1"/>
          </p:cNvSpPr>
          <p:nvPr>
            <p:ph type="body" idx="1"/>
          </p:nvPr>
        </p:nvSpPr>
        <p:spPr>
          <a:xfrm>
            <a:off x="457200" y="2862263"/>
            <a:ext cx="8229600" cy="2697162"/>
          </a:xfrm>
        </p:spPr>
        <p:txBody>
          <a:bodyPr/>
          <a:lstStyle/>
          <a:p>
            <a:r>
              <a:rPr lang="en-US" altLang="zh-CN"/>
              <a:t>8.3.1  </a:t>
            </a:r>
            <a:r>
              <a:rPr lang="zh-CN" altLang="en-US">
                <a:latin typeface="新宋体" panose="02010609030101010101" charset="-122"/>
                <a:ea typeface="新宋体" panose="02010609030101010101" charset="-122"/>
              </a:rPr>
              <a:t>多项式时间变换</a:t>
            </a:r>
            <a:endParaRPr lang="zh-CN" altLang="en-US">
              <a:latin typeface="新宋体" panose="02010609030101010101" charset="-122"/>
              <a:ea typeface="新宋体" panose="02010609030101010101" charset="-122"/>
            </a:endParaRPr>
          </a:p>
          <a:p>
            <a:pPr>
              <a:buFont typeface="Wingdings" panose="05000000000000000000" pitchFamily="2" charset="2"/>
              <a:buNone/>
            </a:pPr>
            <a:endParaRPr lang="zh-CN" altLang="en-US">
              <a:latin typeface="新宋体" panose="02010609030101010101" charset="-122"/>
              <a:ea typeface="新宋体" panose="02010609030101010101" charset="-122"/>
            </a:endParaRPr>
          </a:p>
          <a:p>
            <a:r>
              <a:rPr lang="en-US" altLang="zh-CN"/>
              <a:t>8.3.2  </a:t>
            </a:r>
            <a:r>
              <a:rPr lang="en-US" altLang="zh-CN">
                <a:latin typeface="新宋体" panose="02010609030101010101" charset="-122"/>
                <a:ea typeface="新宋体" panose="02010609030101010101" charset="-122"/>
              </a:rPr>
              <a:t>Cook</a:t>
            </a:r>
            <a:r>
              <a:rPr lang="zh-CN" altLang="en-US">
                <a:latin typeface="新宋体" panose="02010609030101010101" charset="-122"/>
                <a:ea typeface="新宋体" panose="02010609030101010101" charset="-122"/>
              </a:rPr>
              <a:t>定理</a:t>
            </a:r>
            <a:endParaRPr lang="zh-CN" altLang="en-US">
              <a:latin typeface="新宋体" panose="02010609030101010101" charset="-122"/>
              <a:ea typeface="新宋体" panose="02010609030101010101"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2435">
                                            <p:txEl>
                                              <p:pRg st="4294967295" end="4294967295"/>
                                            </p:txEl>
                                          </p:spTgt>
                                        </p:tgtEl>
                                        <p:attrNameLst>
                                          <p:attrName>style.visibility</p:attrName>
                                        </p:attrNameLst>
                                      </p:cBhvr>
                                      <p:to>
                                        <p:strVal val="visible"/>
                                      </p:to>
                                    </p:set>
                                    <p:animEffect transition="in" filter="blinds(horizontal)">
                                      <p:cBhvr>
                                        <p:cTn id="7" dur="500"/>
                                        <p:tgtEl>
                                          <p:spTgt spid="402435">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02435">
                                            <p:txEl>
                                              <p:pRg st="0" end="0"/>
                                            </p:txEl>
                                          </p:spTgt>
                                        </p:tgtEl>
                                        <p:attrNameLst>
                                          <p:attrName>style.visibility</p:attrName>
                                        </p:attrNameLst>
                                      </p:cBhvr>
                                      <p:to>
                                        <p:strVal val="visible"/>
                                      </p:to>
                                    </p:set>
                                    <p:animEffect transition="in" filter="blinds(horizontal)">
                                      <p:cBhvr>
                                        <p:cTn id="12" dur="500"/>
                                        <p:tgtEl>
                                          <p:spTgt spid="40243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02435">
                                            <p:txEl>
                                              <p:pRg st="2" end="2"/>
                                            </p:txEl>
                                          </p:spTgt>
                                        </p:tgtEl>
                                        <p:attrNameLst>
                                          <p:attrName>style.visibility</p:attrName>
                                        </p:attrNameLst>
                                      </p:cBhvr>
                                      <p:to>
                                        <p:strVal val="visible"/>
                                      </p:to>
                                    </p:set>
                                    <p:animEffect transition="in" filter="blinds(horizontal)">
                                      <p:cBhvr>
                                        <p:cTn id="17" dur="500"/>
                                        <p:tgtEl>
                                          <p:spTgt spid="4024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5" grpId="0" autoUpdateAnimBg="0" build="p"/>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17956D4B-427D-46F3-80D7-E3CE23298087}" type="slidenum">
              <a:rPr lang="en-US" altLang="zh-CN"/>
            </a:fld>
            <a:endParaRPr lang="en-US" altLang="zh-CN"/>
          </a:p>
        </p:txBody>
      </p:sp>
      <p:sp>
        <p:nvSpPr>
          <p:cNvPr id="403458" name="Rectangle 2"/>
          <p:cNvSpPr>
            <a:spLocks noGrp="1" noChangeArrowheads="1"/>
          </p:cNvSpPr>
          <p:nvPr>
            <p:ph type="title"/>
          </p:nvPr>
        </p:nvSpPr>
        <p:spPr>
          <a:xfrm>
            <a:off x="395288" y="260350"/>
            <a:ext cx="7772400" cy="777875"/>
          </a:xfrm>
        </p:spPr>
        <p:txBody>
          <a:bodyPr/>
          <a:lstStyle/>
          <a:p>
            <a:r>
              <a:rPr lang="en-US" altLang="zh-CN" sz="3000"/>
              <a:t>8.3	</a:t>
            </a:r>
            <a:r>
              <a:rPr lang="en-US" altLang="zh-CN" sz="3000">
                <a:ea typeface="新宋体" panose="02010609030101010101" charset="-122"/>
              </a:rPr>
              <a:t>NP</a:t>
            </a:r>
            <a:r>
              <a:rPr lang="zh-CN" altLang="en-US" sz="3000">
                <a:ea typeface="新宋体" panose="02010609030101010101" charset="-122"/>
              </a:rPr>
              <a:t>完全问题</a:t>
            </a:r>
            <a:r>
              <a:rPr lang="en-US" altLang="zh-CN" sz="3000">
                <a:ea typeface="新宋体" panose="02010609030101010101" charset="-122"/>
              </a:rPr>
              <a:t>NPC</a:t>
            </a:r>
            <a:endParaRPr lang="en-US" altLang="zh-CN" sz="3000">
              <a:ea typeface="新宋体" panose="02010609030101010101" charset="-122"/>
            </a:endParaRPr>
          </a:p>
        </p:txBody>
      </p:sp>
      <p:sp>
        <p:nvSpPr>
          <p:cNvPr id="403459" name="Rectangle 3"/>
          <p:cNvSpPr>
            <a:spLocks noGrp="1" noChangeArrowheads="1"/>
          </p:cNvSpPr>
          <p:nvPr>
            <p:ph type="body" idx="1"/>
          </p:nvPr>
        </p:nvSpPr>
        <p:spPr>
          <a:xfrm>
            <a:off x="468313" y="1196975"/>
            <a:ext cx="8351837" cy="5111750"/>
          </a:xfrm>
        </p:spPr>
        <p:txBody>
          <a:bodyPr/>
          <a:lstStyle/>
          <a:p>
            <a:pPr algn="just">
              <a:lnSpc>
                <a:spcPct val="130000"/>
              </a:lnSpc>
            </a:pPr>
            <a:r>
              <a:rPr lang="en-US" altLang="zh-CN" sz="2400"/>
              <a:t>P</a:t>
            </a:r>
            <a:r>
              <a:rPr lang="en-US" altLang="zh-CN" sz="2400">
                <a:sym typeface="Symbol" panose="05050102010706020507" pitchFamily="18" charset="2"/>
              </a:rPr>
              <a:t></a:t>
            </a:r>
            <a:r>
              <a:rPr lang="en-US" altLang="zh-CN" sz="2400"/>
              <a:t>NP</a:t>
            </a:r>
            <a:r>
              <a:rPr lang="zh-CN" altLang="en-US" sz="2400"/>
              <a:t>。</a:t>
            </a:r>
            <a:endParaRPr lang="zh-CN" altLang="en-US" sz="2400"/>
          </a:p>
          <a:p>
            <a:pPr algn="just">
              <a:lnSpc>
                <a:spcPct val="130000"/>
              </a:lnSpc>
            </a:pPr>
            <a:r>
              <a:rPr lang="zh-CN" altLang="en-US" sz="2400"/>
              <a:t>直观上看，</a:t>
            </a:r>
            <a:r>
              <a:rPr lang="en-US" altLang="zh-CN" sz="2400"/>
              <a:t>P</a:t>
            </a:r>
            <a:r>
              <a:rPr lang="zh-CN" altLang="en-US" sz="2400"/>
              <a:t>类问题是确定性计算模型下的易解问题类，而</a:t>
            </a:r>
            <a:r>
              <a:rPr lang="en-US" altLang="zh-CN" sz="2400"/>
              <a:t>NP</a:t>
            </a:r>
            <a:r>
              <a:rPr lang="zh-CN" altLang="en-US" sz="2400"/>
              <a:t>类问题是非确定性计算模型下的易验证问题类。</a:t>
            </a:r>
            <a:endParaRPr lang="zh-CN" altLang="en-US" sz="2400"/>
          </a:p>
          <a:p>
            <a:pPr algn="just">
              <a:lnSpc>
                <a:spcPct val="130000"/>
              </a:lnSpc>
            </a:pPr>
            <a:r>
              <a:rPr lang="zh-CN" altLang="en-US" sz="2400"/>
              <a:t>大多数的计算机科学家认为</a:t>
            </a:r>
            <a:r>
              <a:rPr lang="en-US" altLang="zh-CN" sz="2400"/>
              <a:t>NP</a:t>
            </a:r>
            <a:r>
              <a:rPr lang="zh-CN" altLang="en-US" sz="2400"/>
              <a:t>类中包含了不属于</a:t>
            </a:r>
            <a:r>
              <a:rPr lang="en-US" altLang="zh-CN" sz="2400"/>
              <a:t>P</a:t>
            </a:r>
            <a:r>
              <a:rPr lang="zh-CN" altLang="en-US" sz="2400"/>
              <a:t>类的语言，即</a:t>
            </a:r>
            <a:r>
              <a:rPr lang="en-US" altLang="zh-CN" sz="2400"/>
              <a:t>P≠NP</a:t>
            </a:r>
            <a:r>
              <a:rPr lang="zh-CN" altLang="en-US" sz="2400"/>
              <a:t>。</a:t>
            </a:r>
            <a:endParaRPr lang="zh-CN" altLang="en-US" sz="2400"/>
          </a:p>
          <a:p>
            <a:pPr algn="just">
              <a:lnSpc>
                <a:spcPct val="130000"/>
              </a:lnSpc>
            </a:pPr>
            <a:r>
              <a:rPr lang="en-US" altLang="zh-CN" sz="2400"/>
              <a:t>NP</a:t>
            </a:r>
            <a:r>
              <a:rPr lang="zh-CN" altLang="en-US" sz="2400"/>
              <a:t>完全问题有一种令人惊奇的性质，即如果一个</a:t>
            </a:r>
            <a:r>
              <a:rPr lang="en-US" altLang="zh-CN" sz="2400"/>
              <a:t>NP</a:t>
            </a:r>
            <a:r>
              <a:rPr lang="zh-CN" altLang="en-US" sz="2400"/>
              <a:t>完全问题能在多项式时间内得到解决，那么</a:t>
            </a:r>
            <a:r>
              <a:rPr lang="en-US" altLang="zh-CN" sz="2400"/>
              <a:t>NP</a:t>
            </a:r>
            <a:r>
              <a:rPr lang="zh-CN" altLang="en-US" sz="2400"/>
              <a:t>中的每一个问题都可以在多项式时间内求解，即</a:t>
            </a:r>
            <a:r>
              <a:rPr lang="en-US" altLang="zh-CN" sz="2400"/>
              <a:t>P=NP</a:t>
            </a:r>
            <a:r>
              <a:rPr lang="zh-CN" altLang="en-US" sz="2400"/>
              <a:t>。</a:t>
            </a:r>
            <a:endParaRPr lang="zh-CN" altLang="en-US" sz="2400"/>
          </a:p>
          <a:p>
            <a:pPr algn="just">
              <a:lnSpc>
                <a:spcPct val="130000"/>
              </a:lnSpc>
            </a:pPr>
            <a:r>
              <a:rPr lang="zh-CN" altLang="en-US" sz="2400"/>
              <a:t>目前还没有一个</a:t>
            </a:r>
            <a:r>
              <a:rPr lang="en-US" altLang="zh-CN" sz="2400"/>
              <a:t>NP</a:t>
            </a:r>
            <a:r>
              <a:rPr lang="zh-CN" altLang="en-US" sz="2400"/>
              <a:t>完全问题有多项式时间算法。</a:t>
            </a:r>
            <a:endParaRPr lang="zh-CN" altLang="en-US" sz="2400"/>
          </a:p>
        </p:txBody>
      </p:sp>
      <p:sp>
        <p:nvSpPr>
          <p:cNvPr id="403460" name="Rectangle 4"/>
          <p:cNvSpPr>
            <a:spLocks noChangeArrowheads="1"/>
          </p:cNvSpPr>
          <p:nvPr/>
        </p:nvSpPr>
        <p:spPr bwMode="auto">
          <a:xfrm>
            <a:off x="1116013" y="5876925"/>
            <a:ext cx="5557837"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a:t>世界七大数学难题</a:t>
            </a:r>
            <a:endParaRPr lang="zh-CN" altLang="en-US" sz="2400"/>
          </a:p>
          <a:p>
            <a:r>
              <a:rPr lang="en-US" altLang="zh-CN" sz="2400"/>
              <a:t>http://baike.baidu.com/view/253218.htm</a:t>
            </a:r>
            <a:endParaRPr lang="en-US" altLang="zh-CN" sz="240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3459">
                                            <p:txEl>
                                              <p:pRg st="4294967295" end="4294967295"/>
                                            </p:txEl>
                                          </p:spTgt>
                                        </p:tgtEl>
                                        <p:attrNameLst>
                                          <p:attrName>style.visibility</p:attrName>
                                        </p:attrNameLst>
                                      </p:cBhvr>
                                      <p:to>
                                        <p:strVal val="visible"/>
                                      </p:to>
                                    </p:set>
                                    <p:animEffect transition="in" filter="blinds(horizontal)">
                                      <p:cBhvr>
                                        <p:cTn id="7" dur="500"/>
                                        <p:tgtEl>
                                          <p:spTgt spid="403459">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03459">
                                            <p:txEl>
                                              <p:pRg st="0" end="0"/>
                                            </p:txEl>
                                          </p:spTgt>
                                        </p:tgtEl>
                                        <p:attrNameLst>
                                          <p:attrName>style.visibility</p:attrName>
                                        </p:attrNameLst>
                                      </p:cBhvr>
                                      <p:to>
                                        <p:strVal val="visible"/>
                                      </p:to>
                                    </p:set>
                                    <p:animEffect transition="in" filter="blinds(horizontal)">
                                      <p:cBhvr>
                                        <p:cTn id="12" dur="500"/>
                                        <p:tgtEl>
                                          <p:spTgt spid="40345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03459">
                                            <p:txEl>
                                              <p:pRg st="1" end="1"/>
                                            </p:txEl>
                                          </p:spTgt>
                                        </p:tgtEl>
                                        <p:attrNameLst>
                                          <p:attrName>style.visibility</p:attrName>
                                        </p:attrNameLst>
                                      </p:cBhvr>
                                      <p:to>
                                        <p:strVal val="visible"/>
                                      </p:to>
                                    </p:set>
                                    <p:animEffect transition="in" filter="blinds(horizontal)">
                                      <p:cBhvr>
                                        <p:cTn id="17" dur="500"/>
                                        <p:tgtEl>
                                          <p:spTgt spid="40345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03459">
                                            <p:txEl>
                                              <p:pRg st="2" end="2"/>
                                            </p:txEl>
                                          </p:spTgt>
                                        </p:tgtEl>
                                        <p:attrNameLst>
                                          <p:attrName>style.visibility</p:attrName>
                                        </p:attrNameLst>
                                      </p:cBhvr>
                                      <p:to>
                                        <p:strVal val="visible"/>
                                      </p:to>
                                    </p:set>
                                    <p:animEffect transition="in" filter="blinds(horizontal)">
                                      <p:cBhvr>
                                        <p:cTn id="22" dur="500"/>
                                        <p:tgtEl>
                                          <p:spTgt spid="40345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03459">
                                            <p:txEl>
                                              <p:pRg st="3" end="3"/>
                                            </p:txEl>
                                          </p:spTgt>
                                        </p:tgtEl>
                                        <p:attrNameLst>
                                          <p:attrName>style.visibility</p:attrName>
                                        </p:attrNameLst>
                                      </p:cBhvr>
                                      <p:to>
                                        <p:strVal val="visible"/>
                                      </p:to>
                                    </p:set>
                                    <p:animEffect transition="in" filter="blinds(horizontal)">
                                      <p:cBhvr>
                                        <p:cTn id="27" dur="500"/>
                                        <p:tgtEl>
                                          <p:spTgt spid="403459">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03459">
                                            <p:txEl>
                                              <p:pRg st="4" end="4"/>
                                            </p:txEl>
                                          </p:spTgt>
                                        </p:tgtEl>
                                        <p:attrNameLst>
                                          <p:attrName>style.visibility</p:attrName>
                                        </p:attrNameLst>
                                      </p:cBhvr>
                                      <p:to>
                                        <p:strVal val="visible"/>
                                      </p:to>
                                    </p:set>
                                    <p:animEffect transition="in" filter="blinds(horizontal)">
                                      <p:cBhvr>
                                        <p:cTn id="32" dur="500"/>
                                        <p:tgtEl>
                                          <p:spTgt spid="403459">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03460"/>
                                        </p:tgtEl>
                                        <p:attrNameLst>
                                          <p:attrName>style.visibility</p:attrName>
                                        </p:attrNameLst>
                                      </p:cBhvr>
                                      <p:to>
                                        <p:strVal val="visible"/>
                                      </p:to>
                                    </p:set>
                                    <p:anim calcmode="lin" valueType="num">
                                      <p:cBhvr additive="base">
                                        <p:cTn id="37" dur="500" fill="hold"/>
                                        <p:tgtEl>
                                          <p:spTgt spid="403460"/>
                                        </p:tgtEl>
                                        <p:attrNameLst>
                                          <p:attrName>ppt_x</p:attrName>
                                        </p:attrNameLst>
                                      </p:cBhvr>
                                      <p:tavLst>
                                        <p:tav tm="0">
                                          <p:val>
                                            <p:strVal val="#ppt_x"/>
                                          </p:val>
                                        </p:tav>
                                        <p:tav tm="100000">
                                          <p:val>
                                            <p:strVal val="#ppt_x"/>
                                          </p:val>
                                        </p:tav>
                                      </p:tavLst>
                                    </p:anim>
                                    <p:anim calcmode="lin" valueType="num">
                                      <p:cBhvr additive="base">
                                        <p:cTn id="38" dur="500" fill="hold"/>
                                        <p:tgtEl>
                                          <p:spTgt spid="4034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459" grpId="0" autoUpdateAnimBg="0" build="p"/>
      <p:bldP spid="403460" grpId="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 name="灯片编号占位符 5"/>
          <p:cNvSpPr>
            <a:spLocks noGrp="1"/>
          </p:cNvSpPr>
          <p:nvPr>
            <p:ph type="sldNum" sz="quarter" idx="12"/>
          </p:nvPr>
        </p:nvSpPr>
        <p:spPr/>
        <p:txBody>
          <a:bodyPr/>
          <a:lstStyle/>
          <a:p>
            <a:fld id="{04561C4F-02C1-4B05-8BEB-077E61A05D64}" type="slidenum">
              <a:rPr lang="en-US" altLang="zh-CN"/>
            </a:fld>
            <a:endParaRPr lang="en-US" altLang="zh-CN"/>
          </a:p>
        </p:txBody>
      </p:sp>
      <p:sp>
        <p:nvSpPr>
          <p:cNvPr id="404482" name="Rectangle 2"/>
          <p:cNvSpPr>
            <a:spLocks noGrp="1" noChangeArrowheads="1"/>
          </p:cNvSpPr>
          <p:nvPr>
            <p:ph type="title"/>
          </p:nvPr>
        </p:nvSpPr>
        <p:spPr>
          <a:xfrm>
            <a:off x="457200" y="260350"/>
            <a:ext cx="7543800" cy="647700"/>
          </a:xfrm>
        </p:spPr>
        <p:txBody>
          <a:bodyPr/>
          <a:lstStyle/>
          <a:p>
            <a:r>
              <a:rPr lang="en-US" altLang="zh-CN" sz="3000"/>
              <a:t>8.3.1  </a:t>
            </a:r>
            <a:r>
              <a:rPr lang="zh-CN" altLang="en-US" sz="3000">
                <a:latin typeface="新宋体" panose="02010609030101010101" charset="-122"/>
                <a:ea typeface="新宋体" panose="02010609030101010101" charset="-122"/>
              </a:rPr>
              <a:t>多项式时间变换</a:t>
            </a:r>
            <a:endParaRPr lang="zh-CN" altLang="en-US" sz="3000">
              <a:latin typeface="新宋体" panose="02010609030101010101" charset="-122"/>
              <a:ea typeface="新宋体" panose="02010609030101010101" charset="-122"/>
            </a:endParaRPr>
          </a:p>
        </p:txBody>
      </p:sp>
      <p:sp>
        <p:nvSpPr>
          <p:cNvPr id="404483" name="Text Box 3"/>
          <p:cNvSpPr txBox="1">
            <a:spLocks noChangeArrowheads="1"/>
          </p:cNvSpPr>
          <p:nvPr/>
        </p:nvSpPr>
        <p:spPr bwMode="auto">
          <a:xfrm>
            <a:off x="152400" y="2924175"/>
            <a:ext cx="88392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新宋体" panose="02010609030101010101" charset="-122"/>
                <a:ea typeface="新宋体" panose="02010609030101010101" charset="-122"/>
              </a:rPr>
              <a:t>    </a:t>
            </a:r>
            <a:r>
              <a:rPr lang="zh-CN" altLang="en-US" sz="2400" b="1">
                <a:latin typeface="新宋体" panose="02010609030101010101" charset="-122"/>
                <a:ea typeface="新宋体" panose="02010609030101010101" charset="-122"/>
              </a:rPr>
              <a:t>定义：</a:t>
            </a:r>
            <a:r>
              <a:rPr lang="zh-CN" altLang="en-US" sz="2400">
                <a:latin typeface="新宋体" panose="02010609030101010101" charset="-122"/>
                <a:ea typeface="新宋体" panose="02010609030101010101" charset="-122"/>
              </a:rPr>
              <a:t>语言</a:t>
            </a:r>
            <a:r>
              <a:rPr lang="en-US" altLang="zh-CN" sz="2400">
                <a:latin typeface="新宋体" panose="02010609030101010101" charset="-122"/>
                <a:ea typeface="新宋体" panose="02010609030101010101" charset="-122"/>
              </a:rPr>
              <a:t>L</a:t>
            </a:r>
            <a:r>
              <a:rPr lang="zh-CN" altLang="en-US" sz="2400">
                <a:latin typeface="新宋体" panose="02010609030101010101" charset="-122"/>
                <a:ea typeface="新宋体" panose="02010609030101010101" charset="-122"/>
              </a:rPr>
              <a:t>是</a:t>
            </a:r>
            <a:r>
              <a:rPr lang="en-US" altLang="zh-CN" sz="2400">
                <a:latin typeface="新宋体" panose="02010609030101010101" charset="-122"/>
                <a:ea typeface="新宋体" panose="02010609030101010101" charset="-122"/>
              </a:rPr>
              <a:t>NP</a:t>
            </a:r>
            <a:r>
              <a:rPr lang="zh-CN" altLang="en-US" sz="2400">
                <a:latin typeface="新宋体" panose="02010609030101010101" charset="-122"/>
                <a:ea typeface="新宋体" panose="02010609030101010101" charset="-122"/>
              </a:rPr>
              <a:t>完全的当且仅当</a:t>
            </a:r>
            <a:endParaRPr lang="zh-CN" altLang="en-US" sz="2400">
              <a:latin typeface="新宋体" panose="02010609030101010101" charset="-122"/>
              <a:ea typeface="新宋体" panose="02010609030101010101" charset="-122"/>
            </a:endParaRPr>
          </a:p>
          <a:p>
            <a:pPr algn="just"/>
            <a:r>
              <a:rPr lang="zh-CN" altLang="en-US" sz="2400">
                <a:latin typeface="新宋体" panose="02010609030101010101" charset="-122"/>
                <a:ea typeface="新宋体" panose="02010609030101010101" charset="-122"/>
              </a:rPr>
              <a:t>  </a:t>
            </a:r>
            <a:r>
              <a:rPr lang="en-US" altLang="zh-CN" sz="2400">
                <a:latin typeface="新宋体" panose="02010609030101010101" charset="-122"/>
                <a:ea typeface="新宋体" panose="02010609030101010101" charset="-122"/>
              </a:rPr>
              <a:t>(1)L∈NP</a:t>
            </a:r>
            <a:r>
              <a:rPr lang="zh-CN" altLang="en-US" sz="2400">
                <a:latin typeface="新宋体" panose="02010609030101010101" charset="-122"/>
                <a:ea typeface="新宋体" panose="02010609030101010101" charset="-122"/>
              </a:rPr>
              <a:t>；</a:t>
            </a:r>
            <a:endParaRPr lang="zh-CN" altLang="en-US" sz="2400">
              <a:latin typeface="新宋体" panose="02010609030101010101" charset="-122"/>
              <a:ea typeface="新宋体" panose="02010609030101010101" charset="-122"/>
            </a:endParaRPr>
          </a:p>
          <a:p>
            <a:pPr algn="just"/>
            <a:r>
              <a:rPr lang="zh-CN" altLang="en-US" sz="2400">
                <a:latin typeface="新宋体" panose="02010609030101010101" charset="-122"/>
                <a:ea typeface="新宋体" panose="02010609030101010101" charset="-122"/>
              </a:rPr>
              <a:t>  </a:t>
            </a:r>
            <a:r>
              <a:rPr lang="en-US" altLang="zh-CN" sz="2400">
                <a:latin typeface="新宋体" panose="02010609030101010101" charset="-122"/>
                <a:ea typeface="新宋体" panose="02010609030101010101" charset="-122"/>
              </a:rPr>
              <a:t>(2)</a:t>
            </a:r>
            <a:r>
              <a:rPr lang="zh-CN" altLang="en-US" sz="2400">
                <a:latin typeface="新宋体" panose="02010609030101010101" charset="-122"/>
                <a:ea typeface="新宋体" panose="02010609030101010101" charset="-122"/>
              </a:rPr>
              <a:t>对于所有</a:t>
            </a:r>
            <a:r>
              <a:rPr lang="en-US" altLang="zh-CN" sz="2400">
                <a:latin typeface="新宋体" panose="02010609030101010101" charset="-122"/>
                <a:ea typeface="新宋体" panose="02010609030101010101" charset="-122"/>
              </a:rPr>
              <a:t>L</a:t>
            </a:r>
            <a:r>
              <a:rPr lang="en-US" altLang="zh-CN" sz="2400">
                <a:latin typeface="Times New Roman" panose="02020603050405020304"/>
                <a:ea typeface="新宋体" panose="02010609030101010101" charset="-122"/>
              </a:rPr>
              <a:t>’</a:t>
            </a:r>
            <a:r>
              <a:rPr lang="en-US" altLang="zh-CN" sz="2400">
                <a:latin typeface="新宋体" panose="02010609030101010101" charset="-122"/>
                <a:ea typeface="新宋体" panose="02010609030101010101" charset="-122"/>
              </a:rPr>
              <a:t>∈NP</a:t>
            </a:r>
            <a:r>
              <a:rPr lang="zh-CN" altLang="en-US" sz="2400">
                <a:latin typeface="新宋体" panose="02010609030101010101" charset="-122"/>
                <a:ea typeface="新宋体" panose="02010609030101010101" charset="-122"/>
              </a:rPr>
              <a:t>有</a:t>
            </a:r>
            <a:r>
              <a:rPr lang="en-US" altLang="zh-CN" sz="2400">
                <a:latin typeface="新宋体" panose="02010609030101010101" charset="-122"/>
                <a:ea typeface="新宋体" panose="02010609030101010101" charset="-122"/>
              </a:rPr>
              <a:t>L</a:t>
            </a:r>
            <a:r>
              <a:rPr lang="en-US" altLang="zh-CN" sz="2400">
                <a:latin typeface="Times New Roman" panose="02020603050405020304"/>
                <a:ea typeface="新宋体" panose="02010609030101010101" charset="-122"/>
              </a:rPr>
              <a:t>’</a:t>
            </a:r>
            <a:r>
              <a:rPr lang="en-US" altLang="zh-CN" sz="2400">
                <a:latin typeface="新宋体" panose="02010609030101010101" charset="-122"/>
                <a:ea typeface="新宋体" panose="02010609030101010101" charset="-122"/>
              </a:rPr>
              <a:t> ∝</a:t>
            </a:r>
            <a:r>
              <a:rPr lang="en-US" altLang="zh-CN" sz="2400" baseline="-30000">
                <a:latin typeface="新宋体" panose="02010609030101010101" charset="-122"/>
                <a:ea typeface="新宋体" panose="02010609030101010101" charset="-122"/>
              </a:rPr>
              <a:t>p</a:t>
            </a:r>
            <a:r>
              <a:rPr lang="en-US" altLang="zh-CN" sz="2400">
                <a:latin typeface="新宋体" panose="02010609030101010101" charset="-122"/>
                <a:ea typeface="新宋体" panose="02010609030101010101" charset="-122"/>
              </a:rPr>
              <a:t> L</a:t>
            </a:r>
            <a:r>
              <a:rPr lang="zh-CN" altLang="en-US" sz="2400">
                <a:latin typeface="新宋体" panose="02010609030101010101" charset="-122"/>
                <a:ea typeface="新宋体" panose="02010609030101010101" charset="-122"/>
              </a:rPr>
              <a:t>。</a:t>
            </a:r>
            <a:endParaRPr lang="zh-CN" altLang="en-US"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    如果有一个语言</a:t>
            </a:r>
            <a:r>
              <a:rPr lang="en-US" altLang="zh-CN" sz="2400">
                <a:latin typeface="新宋体" panose="02010609030101010101" charset="-122"/>
                <a:ea typeface="新宋体" panose="02010609030101010101" charset="-122"/>
              </a:rPr>
              <a:t>L</a:t>
            </a:r>
            <a:r>
              <a:rPr lang="zh-CN" altLang="en-US" sz="2400">
                <a:latin typeface="新宋体" panose="02010609030101010101" charset="-122"/>
                <a:ea typeface="新宋体" panose="02010609030101010101" charset="-122"/>
              </a:rPr>
              <a:t>满足上述性质</a:t>
            </a:r>
            <a:r>
              <a:rPr lang="en-US" altLang="zh-CN" sz="2400">
                <a:latin typeface="新宋体" panose="02010609030101010101" charset="-122"/>
                <a:ea typeface="新宋体" panose="02010609030101010101" charset="-122"/>
              </a:rPr>
              <a:t>(2)</a:t>
            </a:r>
            <a:r>
              <a:rPr lang="zh-CN" altLang="en-US" sz="2400">
                <a:latin typeface="新宋体" panose="02010609030101010101" charset="-122"/>
                <a:ea typeface="新宋体" panose="02010609030101010101" charset="-122"/>
              </a:rPr>
              <a:t>，但不一定满足性质</a:t>
            </a:r>
            <a:r>
              <a:rPr lang="en-US" altLang="zh-CN" sz="2400">
                <a:latin typeface="新宋体" panose="02010609030101010101" charset="-122"/>
                <a:ea typeface="新宋体" panose="02010609030101010101" charset="-122"/>
              </a:rPr>
              <a:t>(1)</a:t>
            </a:r>
            <a:r>
              <a:rPr lang="zh-CN" altLang="en-US" sz="2400">
                <a:latin typeface="新宋体" panose="02010609030101010101" charset="-122"/>
                <a:ea typeface="新宋体" panose="02010609030101010101" charset="-122"/>
              </a:rPr>
              <a:t>，则称该语言是</a:t>
            </a:r>
            <a:r>
              <a:rPr lang="en-US" altLang="zh-CN" sz="2400" b="1">
                <a:latin typeface="新宋体" panose="02010609030101010101" charset="-122"/>
                <a:ea typeface="新宋体" panose="02010609030101010101" charset="-122"/>
              </a:rPr>
              <a:t>NP</a:t>
            </a:r>
            <a:r>
              <a:rPr lang="zh-CN" altLang="en-US" sz="2400" b="1">
                <a:latin typeface="新宋体" panose="02010609030101010101" charset="-122"/>
                <a:ea typeface="新宋体" panose="02010609030101010101" charset="-122"/>
              </a:rPr>
              <a:t>难</a:t>
            </a:r>
            <a:r>
              <a:rPr lang="zh-CN" altLang="en-US" sz="2400">
                <a:latin typeface="新宋体" panose="02010609030101010101" charset="-122"/>
                <a:ea typeface="新宋体" panose="02010609030101010101" charset="-122"/>
              </a:rPr>
              <a:t>的。所有</a:t>
            </a:r>
            <a:r>
              <a:rPr lang="en-US" altLang="zh-CN" sz="2400">
                <a:latin typeface="新宋体" panose="02010609030101010101" charset="-122"/>
                <a:ea typeface="新宋体" panose="02010609030101010101" charset="-122"/>
              </a:rPr>
              <a:t>NP</a:t>
            </a:r>
            <a:r>
              <a:rPr lang="zh-CN" altLang="en-US" sz="2400">
                <a:latin typeface="新宋体" panose="02010609030101010101" charset="-122"/>
                <a:ea typeface="新宋体" panose="02010609030101010101" charset="-122"/>
              </a:rPr>
              <a:t>完全语言构成的语言类称为</a:t>
            </a:r>
            <a:r>
              <a:rPr lang="en-US" altLang="zh-CN" sz="2400" b="1">
                <a:latin typeface="新宋体" panose="02010609030101010101" charset="-122"/>
                <a:ea typeface="新宋体" panose="02010609030101010101" charset="-122"/>
              </a:rPr>
              <a:t>NP</a:t>
            </a:r>
            <a:r>
              <a:rPr lang="zh-CN" altLang="en-US" sz="2400" b="1">
                <a:latin typeface="新宋体" panose="02010609030101010101" charset="-122"/>
                <a:ea typeface="新宋体" panose="02010609030101010101" charset="-122"/>
              </a:rPr>
              <a:t>完全语言类</a:t>
            </a:r>
            <a:r>
              <a:rPr lang="zh-CN" altLang="en-US" sz="2400">
                <a:latin typeface="新宋体" panose="02010609030101010101" charset="-122"/>
                <a:ea typeface="新宋体" panose="02010609030101010101" charset="-122"/>
              </a:rPr>
              <a:t>，记为</a:t>
            </a:r>
            <a:r>
              <a:rPr lang="en-US" altLang="zh-CN" sz="2400" b="1">
                <a:latin typeface="新宋体" panose="02010609030101010101" charset="-122"/>
                <a:ea typeface="新宋体" panose="02010609030101010101" charset="-122"/>
              </a:rPr>
              <a:t>NPC</a:t>
            </a:r>
            <a:r>
              <a:rPr lang="zh-CN" altLang="en-US" sz="2400">
                <a:latin typeface="新宋体" panose="02010609030101010101" charset="-122"/>
                <a:ea typeface="新宋体" panose="02010609030101010101" charset="-122"/>
              </a:rPr>
              <a:t>。 </a:t>
            </a:r>
            <a:endParaRPr lang="zh-CN" altLang="en-US" sz="2400">
              <a:latin typeface="新宋体" panose="02010609030101010101" charset="-122"/>
              <a:ea typeface="新宋体" panose="02010609030101010101" charset="-122"/>
            </a:endParaRPr>
          </a:p>
        </p:txBody>
      </p:sp>
      <p:grpSp>
        <p:nvGrpSpPr>
          <p:cNvPr id="404484" name="Group 4"/>
          <p:cNvGrpSpPr/>
          <p:nvPr/>
        </p:nvGrpSpPr>
        <p:grpSpPr bwMode="auto">
          <a:xfrm>
            <a:off x="152400" y="981075"/>
            <a:ext cx="8839200" cy="1917700"/>
            <a:chOff x="96" y="1200"/>
            <a:chExt cx="5568" cy="1208"/>
          </a:xfrm>
        </p:grpSpPr>
        <p:sp>
          <p:nvSpPr>
            <p:cNvPr id="404485" name="Text Box 5"/>
            <p:cNvSpPr txBox="1">
              <a:spLocks noChangeArrowheads="1"/>
            </p:cNvSpPr>
            <p:nvPr/>
          </p:nvSpPr>
          <p:spPr bwMode="auto">
            <a:xfrm>
              <a:off x="96" y="1200"/>
              <a:ext cx="5568" cy="1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新宋体" panose="02010609030101010101" charset="-122"/>
                  <a:ea typeface="新宋体" panose="02010609030101010101" charset="-122"/>
                </a:rPr>
                <a:t>    设        ，        是</a:t>
              </a:r>
              <a:r>
                <a:rPr lang="en-US" altLang="zh-CN" sz="2400">
                  <a:latin typeface="新宋体" panose="02010609030101010101" charset="-122"/>
                  <a:ea typeface="新宋体" panose="02010609030101010101" charset="-122"/>
                </a:rPr>
                <a:t>2</a:t>
              </a:r>
              <a:r>
                <a:rPr lang="zh-CN" altLang="en-US" sz="2400">
                  <a:latin typeface="新宋体" panose="02010609030101010101" charset="-122"/>
                  <a:ea typeface="新宋体" panose="02010609030101010101" charset="-122"/>
                </a:rPr>
                <a:t>个语言。所谓语言  能在多项式时间内变换为语言  </a:t>
              </a:r>
              <a:r>
                <a:rPr lang="en-US" altLang="zh-CN" sz="2400">
                  <a:latin typeface="新宋体" panose="02010609030101010101" charset="-122"/>
                  <a:ea typeface="新宋体" panose="02010609030101010101" charset="-122"/>
                </a:rPr>
                <a:t>(</a:t>
              </a:r>
              <a:r>
                <a:rPr lang="zh-CN" altLang="en-US" sz="2400">
                  <a:latin typeface="新宋体" panose="02010609030101010101" charset="-122"/>
                  <a:ea typeface="新宋体" panose="02010609030101010101" charset="-122"/>
                </a:rPr>
                <a:t>简记为  ∝</a:t>
              </a:r>
              <a:r>
                <a:rPr lang="en-US" altLang="zh-CN" sz="2400" baseline="-30000">
                  <a:latin typeface="新宋体" panose="02010609030101010101" charset="-122"/>
                  <a:ea typeface="新宋体" panose="02010609030101010101" charset="-122"/>
                </a:rPr>
                <a:t>p  </a:t>
              </a:r>
              <a:r>
                <a:rPr lang="en-US" altLang="zh-CN" sz="2400">
                  <a:latin typeface="新宋体" panose="02010609030101010101" charset="-122"/>
                  <a:ea typeface="新宋体" panose="02010609030101010101" charset="-122"/>
                </a:rPr>
                <a:t>)</a:t>
              </a:r>
              <a:r>
                <a:rPr lang="zh-CN" altLang="en-US" sz="2400">
                  <a:latin typeface="新宋体" panose="02010609030101010101" charset="-122"/>
                  <a:ea typeface="新宋体" panose="02010609030101010101" charset="-122"/>
                </a:rPr>
                <a:t>是指存在映身</a:t>
              </a:r>
              <a:r>
                <a:rPr lang="en-US" altLang="zh-CN" sz="2400">
                  <a:latin typeface="新宋体" panose="02010609030101010101" charset="-122"/>
                  <a:ea typeface="新宋体" panose="02010609030101010101" charset="-122"/>
                </a:rPr>
                <a:t>f:        </a:t>
              </a:r>
              <a:r>
                <a:rPr lang="zh-CN" altLang="en-US" sz="2400">
                  <a:latin typeface="新宋体" panose="02010609030101010101" charset="-122"/>
                  <a:ea typeface="新宋体" panose="02010609030101010101" charset="-122"/>
                </a:rPr>
                <a:t>，且</a:t>
              </a:r>
              <a:r>
                <a:rPr lang="en-US" altLang="zh-CN" sz="2400">
                  <a:latin typeface="新宋体" panose="02010609030101010101" charset="-122"/>
                  <a:ea typeface="新宋体" panose="02010609030101010101" charset="-122"/>
                </a:rPr>
                <a:t>f</a:t>
              </a:r>
              <a:r>
                <a:rPr lang="zh-CN" altLang="en-US" sz="2400">
                  <a:latin typeface="新宋体" panose="02010609030101010101" charset="-122"/>
                  <a:ea typeface="新宋体" panose="02010609030101010101" charset="-122"/>
                </a:rPr>
                <a:t>满足： </a:t>
              </a:r>
              <a:endParaRPr lang="zh-CN" altLang="en-US"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    </a:t>
              </a:r>
              <a:r>
                <a:rPr lang="en-US" altLang="zh-CN" sz="2400">
                  <a:latin typeface="新宋体" panose="02010609030101010101" charset="-122"/>
                  <a:ea typeface="新宋体" panose="02010609030101010101" charset="-122"/>
                </a:rPr>
                <a:t>(1)</a:t>
              </a:r>
              <a:r>
                <a:rPr lang="zh-CN" altLang="en-US" sz="2400">
                  <a:latin typeface="新宋体" panose="02010609030101010101" charset="-122"/>
                  <a:ea typeface="新宋体" panose="02010609030101010101" charset="-122"/>
                </a:rPr>
                <a:t>有一个计算</a:t>
              </a:r>
              <a:r>
                <a:rPr lang="en-US" altLang="zh-CN" sz="2400">
                  <a:latin typeface="新宋体" panose="02010609030101010101" charset="-122"/>
                  <a:ea typeface="新宋体" panose="02010609030101010101" charset="-122"/>
                </a:rPr>
                <a:t>f</a:t>
              </a:r>
              <a:r>
                <a:rPr lang="zh-CN" altLang="en-US" sz="2400">
                  <a:latin typeface="新宋体" panose="02010609030101010101" charset="-122"/>
                  <a:ea typeface="新宋体" panose="02010609030101010101" charset="-122"/>
                </a:rPr>
                <a:t>的多项式时间确定性图灵机；</a:t>
              </a:r>
              <a:endParaRPr lang="zh-CN" altLang="en-US"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    </a:t>
              </a:r>
              <a:r>
                <a:rPr lang="en-US" altLang="zh-CN" sz="2400">
                  <a:latin typeface="新宋体" panose="02010609030101010101" charset="-122"/>
                  <a:ea typeface="新宋体" panose="02010609030101010101" charset="-122"/>
                </a:rPr>
                <a:t>(2)</a:t>
              </a:r>
              <a:r>
                <a:rPr lang="zh-CN" altLang="en-US" sz="2400">
                  <a:latin typeface="新宋体" panose="02010609030101010101" charset="-122"/>
                  <a:ea typeface="新宋体" panose="02010609030101010101" charset="-122"/>
                </a:rPr>
                <a:t>对于所有</a:t>
              </a:r>
              <a:r>
                <a:rPr lang="en-US" altLang="zh-CN" sz="2400">
                  <a:latin typeface="新宋体" panose="02010609030101010101" charset="-122"/>
                  <a:ea typeface="新宋体" panose="02010609030101010101" charset="-122"/>
                </a:rPr>
                <a:t>x∈  </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x∈  </a:t>
              </a:r>
              <a:r>
                <a:rPr lang="zh-CN" altLang="en-US" sz="2400">
                  <a:latin typeface="新宋体" panose="02010609030101010101" charset="-122"/>
                  <a:ea typeface="新宋体" panose="02010609030101010101" charset="-122"/>
                </a:rPr>
                <a:t>，当且仅当</a:t>
              </a:r>
              <a:r>
                <a:rPr lang="en-US" altLang="zh-CN" sz="2400">
                  <a:latin typeface="新宋体" panose="02010609030101010101" charset="-122"/>
                  <a:ea typeface="新宋体" panose="02010609030101010101" charset="-122"/>
                </a:rPr>
                <a:t>f(x)∈  </a:t>
              </a:r>
              <a:r>
                <a:rPr lang="zh-CN" altLang="en-US" sz="2400">
                  <a:latin typeface="新宋体" panose="02010609030101010101" charset="-122"/>
                  <a:ea typeface="新宋体" panose="02010609030101010101" charset="-122"/>
                </a:rPr>
                <a:t>。 </a:t>
              </a:r>
              <a:endParaRPr lang="zh-CN" altLang="en-US" sz="2400">
                <a:latin typeface="新宋体" panose="02010609030101010101" charset="-122"/>
                <a:ea typeface="新宋体" panose="02010609030101010101" charset="-122"/>
              </a:endParaRPr>
            </a:p>
          </p:txBody>
        </p:sp>
        <p:graphicFrame>
          <p:nvGraphicFramePr>
            <p:cNvPr id="404486" name="Object 6"/>
            <p:cNvGraphicFramePr>
              <a:graphicFrameLocks noChangeAspect="1"/>
            </p:cNvGraphicFramePr>
            <p:nvPr/>
          </p:nvGraphicFramePr>
          <p:xfrm>
            <a:off x="672" y="1248"/>
            <a:ext cx="864" cy="240"/>
          </p:xfrm>
          <a:graphic>
            <a:graphicData uri="http://schemas.openxmlformats.org/presentationml/2006/ole">
              <mc:AlternateContent xmlns:mc="http://schemas.openxmlformats.org/markup-compatibility/2006">
                <mc:Choice xmlns:v="urn:schemas-microsoft-com:vml" Requires="v">
                  <p:oleObj spid="_x0000_s404517" name="" r:id="rId1" imgW="520700" imgH="228600" progId="Equation.3">
                    <p:embed/>
                  </p:oleObj>
                </mc:Choice>
                <mc:Fallback>
                  <p:oleObj name="" r:id="rId1" imgW="520700" imgH="2286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 y="1248"/>
                          <a:ext cx="864"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4487" name="Object 7"/>
            <p:cNvGraphicFramePr>
              <a:graphicFrameLocks noChangeAspect="1"/>
            </p:cNvGraphicFramePr>
            <p:nvPr/>
          </p:nvGraphicFramePr>
          <p:xfrm>
            <a:off x="1680" y="1253"/>
            <a:ext cx="672" cy="235"/>
          </p:xfrm>
          <a:graphic>
            <a:graphicData uri="http://schemas.openxmlformats.org/presentationml/2006/ole">
              <mc:AlternateContent xmlns:mc="http://schemas.openxmlformats.org/markup-compatibility/2006">
                <mc:Choice xmlns:v="urn:schemas-microsoft-com:vml" Requires="v">
                  <p:oleObj spid="_x0000_s404518" name="" r:id="rId3" imgW="546100" imgH="228600" progId="Equation.3">
                    <p:embed/>
                  </p:oleObj>
                </mc:Choice>
                <mc:Fallback>
                  <p:oleObj name="" r:id="rId3" imgW="546100" imgH="2286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0" y="1253"/>
                          <a:ext cx="672" cy="2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4488" name="Object 8"/>
            <p:cNvGraphicFramePr>
              <a:graphicFrameLocks noChangeAspect="1"/>
            </p:cNvGraphicFramePr>
            <p:nvPr/>
          </p:nvGraphicFramePr>
          <p:xfrm>
            <a:off x="4272" y="1200"/>
            <a:ext cx="198" cy="240"/>
          </p:xfrm>
          <a:graphic>
            <a:graphicData uri="http://schemas.openxmlformats.org/presentationml/2006/ole">
              <mc:AlternateContent xmlns:mc="http://schemas.openxmlformats.org/markup-compatibility/2006">
                <mc:Choice xmlns:v="urn:schemas-microsoft-com:vml" Requires="v">
                  <p:oleObj spid="_x0000_s404519" name="" r:id="rId5" imgW="177800" imgH="215900" progId="Equation.3">
                    <p:embed/>
                  </p:oleObj>
                </mc:Choice>
                <mc:Fallback>
                  <p:oleObj name="" r:id="rId5" imgW="177800" imgH="2159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72" y="1200"/>
                          <a:ext cx="19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4489" name="Object 9"/>
            <p:cNvGraphicFramePr>
              <a:graphicFrameLocks noChangeAspect="1"/>
            </p:cNvGraphicFramePr>
            <p:nvPr/>
          </p:nvGraphicFramePr>
          <p:xfrm>
            <a:off x="1680" y="1488"/>
            <a:ext cx="209" cy="240"/>
          </p:xfrm>
          <a:graphic>
            <a:graphicData uri="http://schemas.openxmlformats.org/presentationml/2006/ole">
              <mc:AlternateContent xmlns:mc="http://schemas.openxmlformats.org/markup-compatibility/2006">
                <mc:Choice xmlns:v="urn:schemas-microsoft-com:vml" Requires="v">
                  <p:oleObj spid="_x0000_s404520" name="" r:id="rId7" imgW="190500" imgH="215900" progId="Equation.3">
                    <p:embed/>
                  </p:oleObj>
                </mc:Choice>
                <mc:Fallback>
                  <p:oleObj name="" r:id="rId7" imgW="190500" imgH="2159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80" y="1488"/>
                          <a:ext cx="209"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4490" name="Object 10"/>
            <p:cNvGraphicFramePr>
              <a:graphicFrameLocks noChangeAspect="1"/>
            </p:cNvGraphicFramePr>
            <p:nvPr/>
          </p:nvGraphicFramePr>
          <p:xfrm>
            <a:off x="2538" y="1440"/>
            <a:ext cx="198" cy="240"/>
          </p:xfrm>
          <a:graphic>
            <a:graphicData uri="http://schemas.openxmlformats.org/presentationml/2006/ole">
              <mc:AlternateContent xmlns:mc="http://schemas.openxmlformats.org/markup-compatibility/2006">
                <mc:Choice xmlns:v="urn:schemas-microsoft-com:vml" Requires="v">
                  <p:oleObj spid="_x0000_s404521" name="" r:id="rId9" imgW="177800" imgH="215900" progId="Equation.3">
                    <p:embed/>
                  </p:oleObj>
                </mc:Choice>
                <mc:Fallback>
                  <p:oleObj name="" r:id="rId9" imgW="177800" imgH="2159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38" y="1440"/>
                          <a:ext cx="19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4491" name="Object 11"/>
            <p:cNvGraphicFramePr>
              <a:graphicFrameLocks noChangeAspect="1"/>
            </p:cNvGraphicFramePr>
            <p:nvPr/>
          </p:nvGraphicFramePr>
          <p:xfrm>
            <a:off x="2976" y="1488"/>
            <a:ext cx="209" cy="240"/>
          </p:xfrm>
          <a:graphic>
            <a:graphicData uri="http://schemas.openxmlformats.org/presentationml/2006/ole">
              <mc:AlternateContent xmlns:mc="http://schemas.openxmlformats.org/markup-compatibility/2006">
                <mc:Choice xmlns:v="urn:schemas-microsoft-com:vml" Requires="v">
                  <p:oleObj spid="_x0000_s404522" name="" r:id="rId10" imgW="190500" imgH="215900" progId="Equation.3">
                    <p:embed/>
                  </p:oleObj>
                </mc:Choice>
                <mc:Fallback>
                  <p:oleObj name="" r:id="rId10" imgW="190500" imgH="215900"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76" y="1488"/>
                          <a:ext cx="209"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4492" name="Object 12"/>
            <p:cNvGraphicFramePr>
              <a:graphicFrameLocks noChangeAspect="1"/>
            </p:cNvGraphicFramePr>
            <p:nvPr/>
          </p:nvGraphicFramePr>
          <p:xfrm>
            <a:off x="4608" y="1440"/>
            <a:ext cx="672" cy="264"/>
          </p:xfrm>
          <a:graphic>
            <a:graphicData uri="http://schemas.openxmlformats.org/presentationml/2006/ole">
              <mc:AlternateContent xmlns:mc="http://schemas.openxmlformats.org/markup-compatibility/2006">
                <mc:Choice xmlns:v="urn:schemas-microsoft-com:vml" Requires="v">
                  <p:oleObj spid="_x0000_s404523" name="" r:id="rId11" imgW="584200" imgH="228600" progId="Equation.3">
                    <p:embed/>
                  </p:oleObj>
                </mc:Choice>
                <mc:Fallback>
                  <p:oleObj name="" r:id="rId11" imgW="584200" imgH="22860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08" y="1440"/>
                          <a:ext cx="672" cy="2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4493" name="Object 13"/>
            <p:cNvGraphicFramePr>
              <a:graphicFrameLocks noChangeAspect="1"/>
            </p:cNvGraphicFramePr>
            <p:nvPr/>
          </p:nvGraphicFramePr>
          <p:xfrm>
            <a:off x="2538" y="2160"/>
            <a:ext cx="198" cy="240"/>
          </p:xfrm>
          <a:graphic>
            <a:graphicData uri="http://schemas.openxmlformats.org/presentationml/2006/ole">
              <mc:AlternateContent xmlns:mc="http://schemas.openxmlformats.org/markup-compatibility/2006">
                <mc:Choice xmlns:v="urn:schemas-microsoft-com:vml" Requires="v">
                  <p:oleObj spid="_x0000_s404524" name="" r:id="rId13" imgW="177800" imgH="215900" progId="Equation.3">
                    <p:embed/>
                  </p:oleObj>
                </mc:Choice>
                <mc:Fallback>
                  <p:oleObj name="" r:id="rId13" imgW="177800" imgH="215900"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38" y="2160"/>
                          <a:ext cx="19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4494" name="Object 14"/>
            <p:cNvGraphicFramePr>
              <a:graphicFrameLocks noChangeAspect="1"/>
            </p:cNvGraphicFramePr>
            <p:nvPr/>
          </p:nvGraphicFramePr>
          <p:xfrm>
            <a:off x="4224" y="2160"/>
            <a:ext cx="209" cy="240"/>
          </p:xfrm>
          <a:graphic>
            <a:graphicData uri="http://schemas.openxmlformats.org/presentationml/2006/ole">
              <mc:AlternateContent xmlns:mc="http://schemas.openxmlformats.org/markup-compatibility/2006">
                <mc:Choice xmlns:v="urn:schemas-microsoft-com:vml" Requires="v">
                  <p:oleObj spid="_x0000_s404525" name="" r:id="rId14" imgW="190500" imgH="215900" progId="Equation.3">
                    <p:embed/>
                  </p:oleObj>
                </mc:Choice>
                <mc:Fallback>
                  <p:oleObj name="" r:id="rId14" imgW="190500" imgH="215900"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24" y="2160"/>
                          <a:ext cx="209"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4495" name="Object 15"/>
            <p:cNvGraphicFramePr>
              <a:graphicFrameLocks noChangeAspect="1"/>
            </p:cNvGraphicFramePr>
            <p:nvPr/>
          </p:nvGraphicFramePr>
          <p:xfrm>
            <a:off x="1872" y="2160"/>
            <a:ext cx="200" cy="240"/>
          </p:xfrm>
          <a:graphic>
            <a:graphicData uri="http://schemas.openxmlformats.org/presentationml/2006/ole">
              <mc:AlternateContent xmlns:mc="http://schemas.openxmlformats.org/markup-compatibility/2006">
                <mc:Choice xmlns:v="urn:schemas-microsoft-com:vml" Requires="v">
                  <p:oleObj spid="_x0000_s404526" name="" r:id="rId15" imgW="190500" imgH="228600" progId="Equation.3">
                    <p:embed/>
                  </p:oleObj>
                </mc:Choice>
                <mc:Fallback>
                  <p:oleObj name="" r:id="rId15" imgW="190500" imgH="228600" progId="Equation.3">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872" y="2160"/>
                          <a:ext cx="200"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04496" name="Rectangle 16"/>
          <p:cNvSpPr>
            <a:spLocks noChangeArrowheads="1"/>
          </p:cNvSpPr>
          <p:nvPr/>
        </p:nvSpPr>
        <p:spPr bwMode="auto">
          <a:xfrm>
            <a:off x="1114424" y="5373688"/>
            <a:ext cx="6913959" cy="1244600"/>
          </a:xfrm>
          <a:prstGeom prst="rect">
            <a:avLst/>
          </a:prstGeom>
          <a:solidFill>
            <a:srgbClr val="FFFF66"/>
          </a:solidFill>
          <a:ln w="57150">
            <a:solidFill>
              <a:srgbClr val="A5002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kumimoji="1" lang="zh-CN" altLang="en-US" sz="2400" b="1" dirty="0"/>
              <a:t>“问题</a:t>
            </a:r>
            <a:r>
              <a:rPr kumimoji="1" lang="en-US" altLang="zh-CN" sz="2400" b="1" dirty="0"/>
              <a:t>A</a:t>
            </a:r>
            <a:r>
              <a:rPr kumimoji="1" lang="zh-CN" altLang="en-US" sz="2400" b="1" dirty="0"/>
              <a:t>可约化为问题</a:t>
            </a:r>
            <a:r>
              <a:rPr kumimoji="1" lang="en-US" altLang="zh-CN" sz="2400" b="1" dirty="0"/>
              <a:t>B”</a:t>
            </a:r>
            <a:r>
              <a:rPr kumimoji="1" lang="zh-CN" altLang="en-US" sz="2400" dirty="0"/>
              <a:t>有一个重要的直观意义：</a:t>
            </a:r>
            <a:r>
              <a:rPr kumimoji="1" lang="en-US" altLang="zh-CN" sz="2400" dirty="0"/>
              <a:t>B</a:t>
            </a:r>
            <a:r>
              <a:rPr kumimoji="1" lang="zh-CN" altLang="en-US" sz="2400" dirty="0"/>
              <a:t>的时间复杂度高于或者等于</a:t>
            </a:r>
            <a:r>
              <a:rPr kumimoji="1" lang="en-US" altLang="zh-CN" sz="2400" dirty="0"/>
              <a:t>A</a:t>
            </a:r>
            <a:r>
              <a:rPr kumimoji="1" lang="zh-CN" altLang="en-US" sz="2400" dirty="0"/>
              <a:t>的时间复杂度。</a:t>
            </a:r>
            <a:endParaRPr kumimoji="1" lang="zh-CN" altLang="en-US" sz="2400" dirty="0"/>
          </a:p>
          <a:p>
            <a:r>
              <a:rPr kumimoji="1" lang="zh-CN" altLang="en-US" sz="2400" dirty="0"/>
              <a:t>也就是说，问题</a:t>
            </a:r>
            <a:r>
              <a:rPr kumimoji="1" lang="en-US" altLang="zh-CN" sz="2400" dirty="0"/>
              <a:t>A</a:t>
            </a:r>
            <a:r>
              <a:rPr kumimoji="1" lang="zh-CN" altLang="en-US" sz="2400" dirty="0"/>
              <a:t>不比问题</a:t>
            </a:r>
            <a:r>
              <a:rPr kumimoji="1" lang="en-US" altLang="zh-CN" sz="2400" dirty="0"/>
              <a:t>B</a:t>
            </a:r>
            <a:r>
              <a:rPr kumimoji="1" lang="zh-CN" altLang="en-US" sz="2400" dirty="0"/>
              <a:t>难。 </a:t>
            </a:r>
            <a:endParaRPr kumimoji="1" lang="zh-CN" altLang="en-US" sz="2400"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04484"/>
                                        </p:tgtEl>
                                        <p:attrNameLst>
                                          <p:attrName>style.visibility</p:attrName>
                                        </p:attrNameLst>
                                      </p:cBhvr>
                                      <p:to>
                                        <p:strVal val="visible"/>
                                      </p:to>
                                    </p:set>
                                    <p:anim calcmode="lin" valueType="num">
                                      <p:cBhvr additive="base">
                                        <p:cTn id="7" dur="500" fill="hold"/>
                                        <p:tgtEl>
                                          <p:spTgt spid="404484"/>
                                        </p:tgtEl>
                                        <p:attrNameLst>
                                          <p:attrName>ppt_x</p:attrName>
                                        </p:attrNameLst>
                                      </p:cBhvr>
                                      <p:tavLst>
                                        <p:tav tm="0">
                                          <p:val>
                                            <p:strVal val="0-#ppt_w/2"/>
                                          </p:val>
                                        </p:tav>
                                        <p:tav tm="100000">
                                          <p:val>
                                            <p:strVal val="#ppt_x"/>
                                          </p:val>
                                        </p:tav>
                                      </p:tavLst>
                                    </p:anim>
                                    <p:anim calcmode="lin" valueType="num">
                                      <p:cBhvr additive="base">
                                        <p:cTn id="8" dur="500" fill="hold"/>
                                        <p:tgtEl>
                                          <p:spTgt spid="40448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404483"/>
                                        </p:tgtEl>
                                        <p:attrNameLst>
                                          <p:attrName>style.visibility</p:attrName>
                                        </p:attrNameLst>
                                      </p:cBhvr>
                                      <p:to>
                                        <p:strVal val="visible"/>
                                      </p:to>
                                    </p:set>
                                    <p:animEffect transition="in" filter="blinds(horizontal)">
                                      <p:cBhvr>
                                        <p:cTn id="13" dur="500"/>
                                        <p:tgtEl>
                                          <p:spTgt spid="404483"/>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404496"/>
                                        </p:tgtEl>
                                        <p:attrNameLst>
                                          <p:attrName>style.visibility</p:attrName>
                                        </p:attrNameLst>
                                      </p:cBhvr>
                                      <p:to>
                                        <p:strVal val="visible"/>
                                      </p:to>
                                    </p:set>
                                    <p:animEffect transition="in" filter="slide(fromBottom)">
                                      <p:cBhvr>
                                        <p:cTn id="18" dur="500"/>
                                        <p:tgtEl>
                                          <p:spTgt spid="4044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3" grpId="0" autoUpdateAnimBg="0"/>
      <p:bldP spid="404496"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fld id="{6C554FB0-5F11-4BB3-B34B-C8360CFEA4F0}" type="slidenum">
              <a:rPr lang="en-US" altLang="zh-CN"/>
            </a:fld>
            <a:endParaRPr lang="en-US" altLang="zh-CN"/>
          </a:p>
        </p:txBody>
      </p:sp>
      <p:sp>
        <p:nvSpPr>
          <p:cNvPr id="405506" name="Rectangle 2"/>
          <p:cNvSpPr>
            <a:spLocks noGrp="1" noChangeArrowheads="1"/>
          </p:cNvSpPr>
          <p:nvPr>
            <p:ph type="title"/>
          </p:nvPr>
        </p:nvSpPr>
        <p:spPr/>
        <p:txBody>
          <a:bodyPr/>
          <a:lstStyle/>
          <a:p>
            <a:r>
              <a:rPr lang="en-US" altLang="zh-CN" sz="3000"/>
              <a:t>8.3.1  </a:t>
            </a:r>
            <a:r>
              <a:rPr lang="zh-CN" altLang="en-US" sz="3000">
                <a:latin typeface="新宋体" panose="02010609030101010101" charset="-122"/>
                <a:ea typeface="新宋体" panose="02010609030101010101" charset="-122"/>
              </a:rPr>
              <a:t>多项式时间变换</a:t>
            </a:r>
            <a:endParaRPr lang="zh-CN" altLang="en-US" sz="3000">
              <a:latin typeface="新宋体" panose="02010609030101010101" charset="-122"/>
              <a:ea typeface="新宋体" panose="02010609030101010101" charset="-122"/>
            </a:endParaRPr>
          </a:p>
        </p:txBody>
      </p:sp>
      <p:grpSp>
        <p:nvGrpSpPr>
          <p:cNvPr id="405507" name="Group 3"/>
          <p:cNvGrpSpPr/>
          <p:nvPr/>
        </p:nvGrpSpPr>
        <p:grpSpPr bwMode="auto">
          <a:xfrm>
            <a:off x="179388" y="1916113"/>
            <a:ext cx="8839200" cy="1373187"/>
            <a:chOff x="96" y="1344"/>
            <a:chExt cx="5568" cy="865"/>
          </a:xfrm>
        </p:grpSpPr>
        <p:sp>
          <p:nvSpPr>
            <p:cNvPr id="405508" name="Text Box 4"/>
            <p:cNvSpPr txBox="1">
              <a:spLocks noChangeArrowheads="1"/>
            </p:cNvSpPr>
            <p:nvPr/>
          </p:nvSpPr>
          <p:spPr bwMode="auto">
            <a:xfrm>
              <a:off x="96" y="1344"/>
              <a:ext cx="5568" cy="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b="1">
                  <a:latin typeface="新宋体" panose="02010609030101010101" charset="-122"/>
                  <a:ea typeface="新宋体" panose="02010609030101010101" charset="-122"/>
                </a:rPr>
                <a:t>    </a:t>
              </a:r>
              <a:r>
                <a:rPr lang="zh-CN" altLang="en-US" sz="2800" b="1">
                  <a:latin typeface="新宋体" panose="02010609030101010101" charset="-122"/>
                  <a:ea typeface="新宋体" panose="02010609030101010101" charset="-122"/>
                </a:rPr>
                <a:t>定理</a:t>
              </a:r>
              <a:r>
                <a:rPr lang="en-US" altLang="zh-CN" sz="2800" b="1">
                  <a:latin typeface="新宋体" panose="02010609030101010101" charset="-122"/>
                  <a:ea typeface="新宋体" panose="02010609030101010101" charset="-122"/>
                </a:rPr>
                <a:t>8.6</a:t>
              </a:r>
              <a:r>
                <a:rPr lang="zh-CN" altLang="en-US" sz="2800">
                  <a:latin typeface="新宋体" panose="02010609030101010101" charset="-122"/>
                  <a:ea typeface="新宋体" panose="02010609030101010101" charset="-122"/>
                </a:rPr>
                <a:t>：设</a:t>
              </a:r>
              <a:r>
                <a:rPr lang="en-US" altLang="zh-CN" sz="2800">
                  <a:latin typeface="新宋体" panose="02010609030101010101" charset="-122"/>
                  <a:ea typeface="新宋体" panose="02010609030101010101" charset="-122"/>
                </a:rPr>
                <a:t>L</a:t>
              </a:r>
              <a:r>
                <a:rPr lang="zh-CN" altLang="en-US" sz="2800">
                  <a:latin typeface="新宋体" panose="02010609030101010101" charset="-122"/>
                  <a:ea typeface="新宋体" panose="02010609030101010101" charset="-122"/>
                </a:rPr>
                <a:t>是</a:t>
              </a:r>
              <a:r>
                <a:rPr lang="en-US" altLang="zh-CN" sz="2800">
                  <a:latin typeface="新宋体" panose="02010609030101010101" charset="-122"/>
                  <a:ea typeface="新宋体" panose="02010609030101010101" charset="-122"/>
                </a:rPr>
                <a:t>NP</a:t>
              </a:r>
              <a:r>
                <a:rPr lang="zh-CN" altLang="en-US" sz="2800">
                  <a:latin typeface="新宋体" panose="02010609030101010101" charset="-122"/>
                  <a:ea typeface="新宋体" panose="02010609030101010101" charset="-122"/>
                </a:rPr>
                <a:t>完全的，则</a:t>
              </a:r>
              <a:endParaRPr lang="zh-CN" altLang="en-US" sz="2800">
                <a:latin typeface="新宋体" panose="02010609030101010101" charset="-122"/>
                <a:ea typeface="新宋体" panose="02010609030101010101" charset="-122"/>
              </a:endParaRPr>
            </a:p>
            <a:p>
              <a:r>
                <a:rPr lang="zh-CN" altLang="en-US" sz="2800">
                  <a:latin typeface="新宋体" panose="02010609030101010101" charset="-122"/>
                  <a:ea typeface="新宋体" panose="02010609030101010101" charset="-122"/>
                </a:rPr>
                <a:t>    </a:t>
              </a:r>
              <a:r>
                <a:rPr lang="en-US" altLang="zh-CN" sz="2800">
                  <a:latin typeface="新宋体" panose="02010609030101010101" charset="-122"/>
                  <a:ea typeface="新宋体" panose="02010609030101010101" charset="-122"/>
                </a:rPr>
                <a:t>(1)L∈P</a:t>
              </a:r>
              <a:r>
                <a:rPr lang="zh-CN" altLang="en-US" sz="2800">
                  <a:latin typeface="新宋体" panose="02010609030101010101" charset="-122"/>
                  <a:ea typeface="新宋体" panose="02010609030101010101" charset="-122"/>
                </a:rPr>
                <a:t>当且仅当</a:t>
              </a:r>
              <a:r>
                <a:rPr lang="en-US" altLang="zh-CN" sz="2800">
                  <a:latin typeface="新宋体" panose="02010609030101010101" charset="-122"/>
                  <a:ea typeface="新宋体" panose="02010609030101010101" charset="-122"/>
                </a:rPr>
                <a:t>P</a:t>
              </a:r>
              <a:r>
                <a:rPr lang="zh-CN" altLang="en-US" sz="2800">
                  <a:latin typeface="新宋体" panose="02010609030101010101" charset="-122"/>
                  <a:ea typeface="新宋体" panose="02010609030101010101" charset="-122"/>
                </a:rPr>
                <a:t>＝</a:t>
              </a:r>
              <a:r>
                <a:rPr lang="en-US" altLang="zh-CN" sz="2800">
                  <a:latin typeface="新宋体" panose="02010609030101010101" charset="-122"/>
                  <a:ea typeface="新宋体" panose="02010609030101010101" charset="-122"/>
                </a:rPr>
                <a:t>NP</a:t>
              </a:r>
              <a:r>
                <a:rPr lang="zh-CN" altLang="en-US" sz="2800">
                  <a:latin typeface="新宋体" panose="02010609030101010101" charset="-122"/>
                  <a:ea typeface="新宋体" panose="02010609030101010101" charset="-122"/>
                </a:rPr>
                <a:t>；</a:t>
              </a:r>
              <a:endParaRPr lang="zh-CN" altLang="en-US" sz="2800">
                <a:latin typeface="新宋体" panose="02010609030101010101" charset="-122"/>
                <a:ea typeface="新宋体" panose="02010609030101010101" charset="-122"/>
              </a:endParaRPr>
            </a:p>
            <a:p>
              <a:r>
                <a:rPr lang="zh-CN" altLang="en-US" sz="2800">
                  <a:latin typeface="新宋体" panose="02010609030101010101" charset="-122"/>
                  <a:ea typeface="新宋体" panose="02010609030101010101" charset="-122"/>
                </a:rPr>
                <a:t>    </a:t>
              </a:r>
              <a:r>
                <a:rPr lang="en-US" altLang="zh-CN" sz="2800">
                  <a:latin typeface="新宋体" panose="02010609030101010101" charset="-122"/>
                  <a:ea typeface="新宋体" panose="02010609030101010101" charset="-122"/>
                </a:rPr>
                <a:t>(2)</a:t>
              </a:r>
              <a:r>
                <a:rPr lang="zh-CN" altLang="en-US" sz="2800">
                  <a:latin typeface="新宋体" panose="02010609030101010101" charset="-122"/>
                  <a:ea typeface="新宋体" panose="02010609030101010101" charset="-122"/>
                </a:rPr>
                <a:t>若</a:t>
              </a:r>
              <a:r>
                <a:rPr lang="en-US" altLang="zh-CN" sz="2800">
                  <a:latin typeface="新宋体" panose="02010609030101010101" charset="-122"/>
                  <a:ea typeface="新宋体" panose="02010609030101010101" charset="-122"/>
                </a:rPr>
                <a:t>L∝</a:t>
              </a:r>
              <a:r>
                <a:rPr lang="en-US" altLang="zh-CN" sz="2800" baseline="-30000">
                  <a:latin typeface="新宋体" panose="02010609030101010101" charset="-122"/>
                  <a:ea typeface="新宋体" panose="02010609030101010101" charset="-122"/>
                </a:rPr>
                <a:t>p   </a:t>
              </a:r>
              <a:r>
                <a:rPr lang="zh-CN" altLang="en-US" sz="2800">
                  <a:latin typeface="新宋体" panose="02010609030101010101" charset="-122"/>
                  <a:ea typeface="新宋体" panose="02010609030101010101" charset="-122"/>
                </a:rPr>
                <a:t>，且  ∈</a:t>
              </a:r>
              <a:r>
                <a:rPr lang="en-US" altLang="zh-CN" sz="2800">
                  <a:latin typeface="新宋体" panose="02010609030101010101" charset="-122"/>
                  <a:ea typeface="新宋体" panose="02010609030101010101" charset="-122"/>
                </a:rPr>
                <a:t>NP</a:t>
              </a:r>
              <a:r>
                <a:rPr lang="zh-CN" altLang="en-US" sz="2800">
                  <a:latin typeface="新宋体" panose="02010609030101010101" charset="-122"/>
                  <a:ea typeface="新宋体" panose="02010609030101010101" charset="-122"/>
                </a:rPr>
                <a:t>，则  是</a:t>
              </a:r>
              <a:r>
                <a:rPr lang="en-US" altLang="zh-CN" sz="2800">
                  <a:latin typeface="新宋体" panose="02010609030101010101" charset="-122"/>
                  <a:ea typeface="新宋体" panose="02010609030101010101" charset="-122"/>
                </a:rPr>
                <a:t>NP</a:t>
              </a:r>
              <a:r>
                <a:rPr lang="zh-CN" altLang="en-US" sz="2800">
                  <a:latin typeface="新宋体" panose="02010609030101010101" charset="-122"/>
                  <a:ea typeface="新宋体" panose="02010609030101010101" charset="-122"/>
                </a:rPr>
                <a:t>完全的。 </a:t>
              </a:r>
              <a:endParaRPr lang="zh-CN" altLang="en-US" sz="2800">
                <a:latin typeface="新宋体" panose="02010609030101010101" charset="-122"/>
                <a:ea typeface="新宋体" panose="02010609030101010101" charset="-122"/>
              </a:endParaRPr>
            </a:p>
          </p:txBody>
        </p:sp>
        <p:graphicFrame>
          <p:nvGraphicFramePr>
            <p:cNvPr id="405509" name="Object 5"/>
            <p:cNvGraphicFramePr>
              <a:graphicFrameLocks noChangeAspect="1"/>
            </p:cNvGraphicFramePr>
            <p:nvPr/>
          </p:nvGraphicFramePr>
          <p:xfrm>
            <a:off x="1584" y="1968"/>
            <a:ext cx="198" cy="240"/>
          </p:xfrm>
          <a:graphic>
            <a:graphicData uri="http://schemas.openxmlformats.org/presentationml/2006/ole">
              <mc:AlternateContent xmlns:mc="http://schemas.openxmlformats.org/markup-compatibility/2006">
                <mc:Choice xmlns:v="urn:schemas-microsoft-com:vml" Requires="v">
                  <p:oleObj spid="_x0000_s405519" name="" r:id="rId1" imgW="177800" imgH="215900" progId="Equation.3">
                    <p:embed/>
                  </p:oleObj>
                </mc:Choice>
                <mc:Fallback>
                  <p:oleObj name="" r:id="rId1" imgW="177800" imgH="2159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4" y="1968"/>
                          <a:ext cx="19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5510" name="Object 6"/>
            <p:cNvGraphicFramePr>
              <a:graphicFrameLocks noChangeAspect="1"/>
            </p:cNvGraphicFramePr>
            <p:nvPr/>
          </p:nvGraphicFramePr>
          <p:xfrm>
            <a:off x="2298" y="1968"/>
            <a:ext cx="198" cy="240"/>
          </p:xfrm>
          <a:graphic>
            <a:graphicData uri="http://schemas.openxmlformats.org/presentationml/2006/ole">
              <mc:AlternateContent xmlns:mc="http://schemas.openxmlformats.org/markup-compatibility/2006">
                <mc:Choice xmlns:v="urn:schemas-microsoft-com:vml" Requires="v">
                  <p:oleObj spid="_x0000_s405520" name="" r:id="rId3" imgW="177800" imgH="215900" progId="Equation.3">
                    <p:embed/>
                  </p:oleObj>
                </mc:Choice>
                <mc:Fallback>
                  <p:oleObj name="" r:id="rId3" imgW="177800" imgH="2159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8" y="1968"/>
                          <a:ext cx="19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5511" name="Object 7"/>
            <p:cNvGraphicFramePr>
              <a:graphicFrameLocks noChangeAspect="1"/>
            </p:cNvGraphicFramePr>
            <p:nvPr/>
          </p:nvGraphicFramePr>
          <p:xfrm>
            <a:off x="3402" y="1968"/>
            <a:ext cx="198" cy="240"/>
          </p:xfrm>
          <a:graphic>
            <a:graphicData uri="http://schemas.openxmlformats.org/presentationml/2006/ole">
              <mc:AlternateContent xmlns:mc="http://schemas.openxmlformats.org/markup-compatibility/2006">
                <mc:Choice xmlns:v="urn:schemas-microsoft-com:vml" Requires="v">
                  <p:oleObj spid="_x0000_s405521" name="" r:id="rId4" imgW="177800" imgH="215900" progId="Equation.3">
                    <p:embed/>
                  </p:oleObj>
                </mc:Choice>
                <mc:Fallback>
                  <p:oleObj name="" r:id="rId4" imgW="177800" imgH="215900"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2" y="1968"/>
                          <a:ext cx="19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05512" name="AutoShape 8"/>
          <p:cNvSpPr>
            <a:spLocks noChangeArrowheads="1"/>
          </p:cNvSpPr>
          <p:nvPr/>
        </p:nvSpPr>
        <p:spPr bwMode="auto">
          <a:xfrm>
            <a:off x="3348038" y="3933825"/>
            <a:ext cx="4176712" cy="1366838"/>
          </a:xfrm>
          <a:prstGeom prst="wedgeRoundRectCallout">
            <a:avLst>
              <a:gd name="adj1" fmla="val -38940"/>
              <a:gd name="adj2" fmla="val -87282"/>
              <a:gd name="adj3" fmla="val 16667"/>
            </a:avLst>
          </a:prstGeom>
          <a:solidFill>
            <a:srgbClr val="FFFF66"/>
          </a:solidFill>
          <a:ln w="6350">
            <a:solidFill>
              <a:schemeClr val="hlink"/>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lstStyle/>
          <a:p>
            <a:pPr algn="ctr"/>
            <a:r>
              <a:rPr lang="zh-CN" altLang="en-US" sz="2400" b="1">
                <a:solidFill>
                  <a:srgbClr val="0000CC"/>
                </a:solidFill>
                <a:latin typeface="新宋体" panose="02010609030101010101" charset="-122"/>
                <a:ea typeface="新宋体" panose="02010609030101010101" charset="-122"/>
              </a:rPr>
              <a:t>定理的</a:t>
            </a:r>
            <a:r>
              <a:rPr lang="en-US" altLang="zh-CN" sz="2400" b="1">
                <a:solidFill>
                  <a:srgbClr val="0000CC"/>
                </a:solidFill>
                <a:latin typeface="新宋体" panose="02010609030101010101" charset="-122"/>
                <a:ea typeface="新宋体" panose="02010609030101010101" charset="-122"/>
              </a:rPr>
              <a:t>(2)</a:t>
            </a:r>
            <a:r>
              <a:rPr lang="zh-CN" altLang="en-US" sz="2400" b="1">
                <a:solidFill>
                  <a:srgbClr val="0000CC"/>
                </a:solidFill>
                <a:latin typeface="新宋体" panose="02010609030101010101" charset="-122"/>
                <a:ea typeface="新宋体" panose="02010609030101010101" charset="-122"/>
              </a:rPr>
              <a:t>可用来证明问题的</a:t>
            </a:r>
            <a:r>
              <a:rPr lang="en-US" altLang="zh-CN" sz="2400" b="1">
                <a:solidFill>
                  <a:srgbClr val="0000CC"/>
                </a:solidFill>
                <a:latin typeface="新宋体" panose="02010609030101010101" charset="-122"/>
                <a:ea typeface="新宋体" panose="02010609030101010101" charset="-122"/>
              </a:rPr>
              <a:t>NP</a:t>
            </a:r>
            <a:r>
              <a:rPr lang="zh-CN" altLang="en-US" sz="2400" b="1">
                <a:solidFill>
                  <a:srgbClr val="0000CC"/>
                </a:solidFill>
                <a:latin typeface="新宋体" panose="02010609030101010101" charset="-122"/>
                <a:ea typeface="新宋体" panose="02010609030101010101" charset="-122"/>
              </a:rPr>
              <a:t>完全性。但前提是：要有第一个</a:t>
            </a:r>
            <a:r>
              <a:rPr lang="en-US" altLang="zh-CN" sz="2400" b="1">
                <a:solidFill>
                  <a:srgbClr val="0000CC"/>
                </a:solidFill>
                <a:latin typeface="新宋体" panose="02010609030101010101" charset="-122"/>
                <a:ea typeface="新宋体" panose="02010609030101010101" charset="-122"/>
              </a:rPr>
              <a:t>NP</a:t>
            </a:r>
            <a:r>
              <a:rPr lang="zh-CN" altLang="en-US" sz="2400" b="1">
                <a:solidFill>
                  <a:srgbClr val="0000CC"/>
                </a:solidFill>
                <a:latin typeface="新宋体" panose="02010609030101010101" charset="-122"/>
                <a:ea typeface="新宋体" panose="02010609030101010101" charset="-122"/>
              </a:rPr>
              <a:t>完全问题</a:t>
            </a:r>
            <a:r>
              <a:rPr lang="en-US" altLang="zh-CN" sz="2400" b="1">
                <a:solidFill>
                  <a:srgbClr val="0000CC"/>
                </a:solidFill>
                <a:latin typeface="新宋体" panose="02010609030101010101" charset="-122"/>
                <a:ea typeface="新宋体" panose="02010609030101010101" charset="-122"/>
              </a:rPr>
              <a:t>L</a:t>
            </a:r>
            <a:r>
              <a:rPr lang="zh-CN" altLang="en-US" sz="2400" b="1">
                <a:solidFill>
                  <a:srgbClr val="0000CC"/>
                </a:solidFill>
                <a:latin typeface="新宋体" panose="02010609030101010101" charset="-122"/>
                <a:ea typeface="新宋体" panose="02010609030101010101" charset="-122"/>
              </a:rPr>
              <a:t>。</a:t>
            </a:r>
            <a:endParaRPr lang="zh-CN" altLang="en-US" sz="2400" b="1">
              <a:solidFill>
                <a:srgbClr val="0000CC"/>
              </a:solidFill>
              <a:latin typeface="新宋体" panose="02010609030101010101" charset="-122"/>
              <a:ea typeface="新宋体" panose="02010609030101010101"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05507"/>
                                        </p:tgtEl>
                                        <p:attrNameLst>
                                          <p:attrName>style.visibility</p:attrName>
                                        </p:attrNameLst>
                                      </p:cBhvr>
                                      <p:to>
                                        <p:strVal val="visible"/>
                                      </p:to>
                                    </p:set>
                                    <p:animEffect transition="in" filter="blinds(horizontal)">
                                      <p:cBhvr>
                                        <p:cTn id="7" dur="500"/>
                                        <p:tgtEl>
                                          <p:spTgt spid="40550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05512"/>
                                        </p:tgtEl>
                                        <p:attrNameLst>
                                          <p:attrName>style.visibility</p:attrName>
                                        </p:attrNameLst>
                                      </p:cBhvr>
                                      <p:to>
                                        <p:strVal val="visible"/>
                                      </p:to>
                                    </p:set>
                                    <p:anim calcmode="lin" valueType="num">
                                      <p:cBhvr additive="base">
                                        <p:cTn id="12" dur="500" fill="hold"/>
                                        <p:tgtEl>
                                          <p:spTgt spid="405512"/>
                                        </p:tgtEl>
                                        <p:attrNameLst>
                                          <p:attrName>ppt_x</p:attrName>
                                        </p:attrNameLst>
                                      </p:cBhvr>
                                      <p:tavLst>
                                        <p:tav tm="0">
                                          <p:val>
                                            <p:strVal val="#ppt_x"/>
                                          </p:val>
                                        </p:tav>
                                        <p:tav tm="100000">
                                          <p:val>
                                            <p:strVal val="#ppt_x"/>
                                          </p:val>
                                        </p:tav>
                                      </p:tavLst>
                                    </p:anim>
                                    <p:anim calcmode="lin" valueType="num">
                                      <p:cBhvr additive="base">
                                        <p:cTn id="13" dur="500" fill="hold"/>
                                        <p:tgtEl>
                                          <p:spTgt spid="4055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5512" grpId="0" animBg="1"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9307BC3E-6D89-438C-BB2F-A02B66972ACC}" type="slidenum">
              <a:rPr lang="en-US" altLang="zh-CN"/>
            </a:fld>
            <a:endParaRPr lang="en-US" altLang="zh-CN"/>
          </a:p>
        </p:txBody>
      </p:sp>
      <p:sp>
        <p:nvSpPr>
          <p:cNvPr id="406530" name="Rectangle 2"/>
          <p:cNvSpPr>
            <a:spLocks noGrp="1" noChangeArrowheads="1"/>
          </p:cNvSpPr>
          <p:nvPr>
            <p:ph type="title"/>
          </p:nvPr>
        </p:nvSpPr>
        <p:spPr>
          <a:xfrm>
            <a:off x="457200" y="122238"/>
            <a:ext cx="7543800" cy="1003300"/>
          </a:xfrm>
        </p:spPr>
        <p:txBody>
          <a:bodyPr/>
          <a:lstStyle/>
          <a:p>
            <a:r>
              <a:rPr lang="en-US" altLang="zh-CN" sz="3200"/>
              <a:t>8.3.2 Cook</a:t>
            </a:r>
            <a:r>
              <a:rPr lang="zh-CN" altLang="en-US" sz="3200"/>
              <a:t>定理</a:t>
            </a:r>
            <a:endParaRPr lang="zh-CN" altLang="en-US" sz="3200"/>
          </a:p>
        </p:txBody>
      </p:sp>
      <p:sp>
        <p:nvSpPr>
          <p:cNvPr id="406531" name="Rectangle 3"/>
          <p:cNvSpPr>
            <a:spLocks noChangeArrowheads="1"/>
          </p:cNvSpPr>
          <p:nvPr/>
        </p:nvSpPr>
        <p:spPr bwMode="auto">
          <a:xfrm>
            <a:off x="179388" y="1125538"/>
            <a:ext cx="8713787" cy="53117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indent="269875" algn="just" eaLnBrk="0" hangingPunct="0">
              <a:lnSpc>
                <a:spcPct val="130000"/>
              </a:lnSpc>
            </a:pPr>
            <a:r>
              <a:rPr kumimoji="1" lang="zh-CN" altLang="en-US" sz="2200" b="1">
                <a:latin typeface="Times New Roman" panose="02020603050405020304" pitchFamily="18" charset="0"/>
              </a:rPr>
              <a:t>  </a:t>
            </a:r>
            <a:r>
              <a:rPr kumimoji="1" lang="en-US" altLang="zh-CN" sz="2200" b="1">
                <a:latin typeface="Times New Roman" panose="02020603050405020304" pitchFamily="18" charset="0"/>
              </a:rPr>
              <a:t>1971</a:t>
            </a:r>
            <a:r>
              <a:rPr kumimoji="1" lang="zh-CN" altLang="en-US" sz="2200" b="1">
                <a:latin typeface="Times New Roman" panose="02020603050405020304" pitchFamily="18" charset="0"/>
              </a:rPr>
              <a:t>年</a:t>
            </a:r>
            <a:r>
              <a:rPr kumimoji="1" lang="en-US" altLang="zh-CN" sz="2200" b="1">
                <a:latin typeface="Times New Roman" panose="02020603050405020304" pitchFamily="18" charset="0"/>
              </a:rPr>
              <a:t>S. Cook</a:t>
            </a:r>
            <a:r>
              <a:rPr kumimoji="1" lang="zh-CN" altLang="en-US" sz="2200" b="1">
                <a:latin typeface="Times New Roman" panose="02020603050405020304" pitchFamily="18" charset="0"/>
              </a:rPr>
              <a:t>发表了“</a:t>
            </a:r>
            <a:r>
              <a:rPr kumimoji="1" lang="en-US" altLang="zh-CN" sz="2200" b="1">
                <a:latin typeface="Times New Roman" panose="02020603050405020304" pitchFamily="18" charset="0"/>
              </a:rPr>
              <a:t>The Complexity of Theorem Proving Procedures”</a:t>
            </a:r>
            <a:r>
              <a:rPr kumimoji="1" lang="zh-CN" altLang="en-US" sz="2200" b="1">
                <a:latin typeface="Times New Roman" panose="02020603050405020304" pitchFamily="18" charset="0"/>
              </a:rPr>
              <a:t>这篇著名论文，</a:t>
            </a:r>
            <a:r>
              <a:rPr kumimoji="1" lang="en-US" altLang="zh-CN" sz="2200" b="1">
                <a:latin typeface="Times New Roman" panose="02020603050405020304" pitchFamily="18" charset="0"/>
              </a:rPr>
              <a:t>1972</a:t>
            </a:r>
            <a:r>
              <a:rPr kumimoji="1" lang="zh-CN" altLang="en-US" sz="2200" b="1">
                <a:latin typeface="Times New Roman" panose="02020603050405020304" pitchFamily="18" charset="0"/>
              </a:rPr>
              <a:t>年</a:t>
            </a:r>
            <a:r>
              <a:rPr kumimoji="1" lang="en-US" altLang="zh-CN" sz="2200" b="1">
                <a:latin typeface="Times New Roman" panose="02020603050405020304" pitchFamily="18" charset="0"/>
              </a:rPr>
              <a:t>R. Karp</a:t>
            </a:r>
            <a:r>
              <a:rPr kumimoji="1" lang="zh-CN" altLang="en-US" sz="2200" b="1">
                <a:latin typeface="Times New Roman" panose="02020603050405020304" pitchFamily="18" charset="0"/>
              </a:rPr>
              <a:t>发表了“</a:t>
            </a:r>
            <a:r>
              <a:rPr kumimoji="1" lang="en-US" altLang="zh-CN" sz="2200" b="1">
                <a:latin typeface="Times New Roman" panose="02020603050405020304" pitchFamily="18" charset="0"/>
              </a:rPr>
              <a:t>Reducibilty  Among Combinatorial Prob1ems”</a:t>
            </a:r>
            <a:r>
              <a:rPr kumimoji="1" lang="zh-CN" altLang="en-US" sz="2200" b="1">
                <a:latin typeface="Times New Roman" panose="02020603050405020304" pitchFamily="18" charset="0"/>
              </a:rPr>
              <a:t>，从此奠定了</a:t>
            </a:r>
            <a:r>
              <a:rPr kumimoji="1" lang="en-US" altLang="zh-CN" sz="2200" b="1">
                <a:latin typeface="Times New Roman" panose="02020603050405020304" pitchFamily="18" charset="0"/>
              </a:rPr>
              <a:t>NP</a:t>
            </a:r>
            <a:r>
              <a:rPr kumimoji="1" lang="zh-CN" altLang="en-US" sz="2200" b="1">
                <a:latin typeface="Times New Roman" panose="02020603050405020304" pitchFamily="18" charset="0"/>
              </a:rPr>
              <a:t>完全理论的基础。</a:t>
            </a:r>
            <a:r>
              <a:rPr kumimoji="1" lang="en-US" altLang="zh-CN" sz="2200" b="1">
                <a:latin typeface="Times New Roman" panose="02020603050405020304" pitchFamily="18" charset="0"/>
              </a:rPr>
              <a:t>NP</a:t>
            </a:r>
            <a:r>
              <a:rPr kumimoji="1" lang="zh-CN" altLang="en-US" sz="2200" b="1">
                <a:latin typeface="Times New Roman" panose="02020603050405020304" pitchFamily="18" charset="0"/>
              </a:rPr>
              <a:t>完全理论指出在</a:t>
            </a:r>
            <a:r>
              <a:rPr kumimoji="1" lang="en-US" altLang="zh-CN" sz="2200" b="1">
                <a:latin typeface="Times New Roman" panose="02020603050405020304" pitchFamily="18" charset="0"/>
              </a:rPr>
              <a:t>NP</a:t>
            </a:r>
            <a:r>
              <a:rPr kumimoji="1" lang="zh-CN" altLang="en-US" sz="2200" b="1">
                <a:latin typeface="Times New Roman" panose="02020603050405020304" pitchFamily="18" charset="0"/>
              </a:rPr>
              <a:t>类中有一些问题具有以下性质：</a:t>
            </a:r>
            <a:r>
              <a:rPr kumimoji="1" lang="zh-CN" altLang="en-US" sz="2200" b="1">
                <a:solidFill>
                  <a:schemeClr val="accent2"/>
                </a:solidFill>
                <a:latin typeface="黑体" panose="02010609060101010101" pitchFamily="2" charset="-122"/>
                <a:ea typeface="黑体" panose="02010609060101010101" pitchFamily="2" charset="-122"/>
              </a:rPr>
              <a:t>若其中一个问题获得多项式算法，则这一类问题就全部获得了多项式算法；反之，若能证明其中一个问题是多项式时间内不可解的，则这</a:t>
            </a:r>
            <a:r>
              <a:rPr kumimoji="1" lang="en-US" altLang="zh-CN" sz="2200" b="1">
                <a:solidFill>
                  <a:schemeClr val="accent2"/>
                </a:solidFill>
                <a:latin typeface="黑体" panose="02010609060101010101" pitchFamily="2" charset="-122"/>
                <a:ea typeface="黑体" panose="02010609060101010101" pitchFamily="2" charset="-122"/>
              </a:rPr>
              <a:t>-</a:t>
            </a:r>
            <a:r>
              <a:rPr kumimoji="1" lang="zh-CN" altLang="en-US" sz="2200" b="1">
                <a:solidFill>
                  <a:schemeClr val="accent2"/>
                </a:solidFill>
                <a:latin typeface="黑体" panose="02010609060101010101" pitchFamily="2" charset="-122"/>
                <a:ea typeface="黑体" panose="02010609060101010101" pitchFamily="2" charset="-122"/>
              </a:rPr>
              <a:t>类问题就全部是多项式时间内不可解的</a:t>
            </a:r>
            <a:r>
              <a:rPr kumimoji="1" lang="zh-CN" altLang="en-US" sz="2200" b="1">
                <a:latin typeface="Times New Roman" panose="02020603050405020304" pitchFamily="18" charset="0"/>
              </a:rPr>
              <a:t>。这类问题将称之为</a:t>
            </a:r>
            <a:r>
              <a:rPr kumimoji="1" lang="en-US" altLang="zh-CN" sz="2200" b="1">
                <a:latin typeface="Times New Roman" panose="02020603050405020304" pitchFamily="18" charset="0"/>
              </a:rPr>
              <a:t>NP</a:t>
            </a:r>
            <a:r>
              <a:rPr kumimoji="1" lang="zh-CN" altLang="en-US" sz="2200" b="1">
                <a:latin typeface="Times New Roman" panose="02020603050405020304" pitchFamily="18" charset="0"/>
              </a:rPr>
              <a:t>完全问题。</a:t>
            </a:r>
            <a:r>
              <a:rPr kumimoji="1" lang="en-US" altLang="zh-CN" sz="2200" b="1">
                <a:latin typeface="Times New Roman" panose="02020603050405020304" pitchFamily="18" charset="0"/>
              </a:rPr>
              <a:t>NP</a:t>
            </a:r>
            <a:r>
              <a:rPr kumimoji="1" lang="zh-CN" altLang="en-US" sz="2200" b="1">
                <a:latin typeface="Times New Roman" panose="02020603050405020304" pitchFamily="18" charset="0"/>
              </a:rPr>
              <a:t>完全理论不打算找出这一类问题的算法，仅仅着眼于证明这一类问题的等价性，即证明它们的难度相当。</a:t>
            </a:r>
            <a:endParaRPr kumimoji="1" lang="zh-CN" altLang="en-US" sz="2200" b="1">
              <a:latin typeface="Times New Roman" panose="02020603050405020304" pitchFamily="18" charset="0"/>
            </a:endParaRPr>
          </a:p>
          <a:p>
            <a:pPr indent="269875" algn="just" eaLnBrk="0" hangingPunct="0">
              <a:lnSpc>
                <a:spcPct val="130000"/>
              </a:lnSpc>
            </a:pPr>
            <a:r>
              <a:rPr kumimoji="1" lang="zh-CN" altLang="en-US" sz="2200" b="1">
                <a:latin typeface="Times New Roman" panose="02020603050405020304" pitchFamily="18" charset="0"/>
              </a:rPr>
              <a:t>  </a:t>
            </a:r>
            <a:r>
              <a:rPr kumimoji="1" lang="en-US" altLang="zh-CN" sz="2200" b="1">
                <a:latin typeface="Times New Roman" panose="02020603050405020304" pitchFamily="18" charset="0"/>
              </a:rPr>
              <a:t>NP</a:t>
            </a:r>
            <a:r>
              <a:rPr kumimoji="1" lang="zh-CN" altLang="en-US" sz="2200" b="1">
                <a:latin typeface="Times New Roman" panose="02020603050405020304" pitchFamily="18" charset="0"/>
              </a:rPr>
              <a:t>完全理论还很年轻，有许多问题等待人们研究。例如，“</a:t>
            </a:r>
            <a:r>
              <a:rPr kumimoji="1" lang="en-US" altLang="zh-CN" sz="2200" b="1">
                <a:solidFill>
                  <a:schemeClr val="accent2"/>
                </a:solidFill>
                <a:latin typeface="黑体" panose="02010609060101010101" pitchFamily="2" charset="-122"/>
                <a:ea typeface="黑体" panose="02010609060101010101" pitchFamily="2" charset="-122"/>
              </a:rPr>
              <a:t>NP</a:t>
            </a:r>
            <a:r>
              <a:rPr kumimoji="1" lang="zh-CN" altLang="en-US" sz="2200" b="1">
                <a:solidFill>
                  <a:schemeClr val="accent2"/>
                </a:solidFill>
                <a:latin typeface="黑体" panose="02010609060101010101" pitchFamily="2" charset="-122"/>
                <a:ea typeface="黑体" panose="02010609060101010101" pitchFamily="2" charset="-122"/>
              </a:rPr>
              <a:t>＝</a:t>
            </a:r>
            <a:r>
              <a:rPr kumimoji="1" lang="en-US" altLang="zh-CN" sz="2200" b="1">
                <a:solidFill>
                  <a:schemeClr val="accent2"/>
                </a:solidFill>
                <a:latin typeface="黑体" panose="02010609060101010101" pitchFamily="2" charset="-122"/>
                <a:ea typeface="黑体" panose="02010609060101010101" pitchFamily="2" charset="-122"/>
              </a:rPr>
              <a:t>P</a:t>
            </a:r>
            <a:r>
              <a:rPr kumimoji="1" lang="en-US" altLang="zh-CN" sz="2200" b="1">
                <a:latin typeface="Times New Roman" panose="02020603050405020304" pitchFamily="18" charset="0"/>
              </a:rPr>
              <a:t>”</a:t>
            </a:r>
            <a:r>
              <a:rPr kumimoji="1" lang="zh-CN" altLang="en-US" sz="2200" b="1">
                <a:latin typeface="Times New Roman" panose="02020603050405020304" pitchFamily="18" charset="0"/>
              </a:rPr>
              <a:t>还是相反“</a:t>
            </a:r>
            <a:r>
              <a:rPr kumimoji="1" lang="en-US" altLang="zh-CN" sz="2200" b="1">
                <a:solidFill>
                  <a:schemeClr val="accent2"/>
                </a:solidFill>
                <a:latin typeface="黑体" panose="02010609060101010101" pitchFamily="2" charset="-122"/>
                <a:ea typeface="黑体" panose="02010609060101010101" pitchFamily="2" charset="-122"/>
              </a:rPr>
              <a:t>P</a:t>
            </a:r>
            <a:r>
              <a:rPr kumimoji="1" lang="zh-CN" altLang="en-US" sz="2200" b="1">
                <a:solidFill>
                  <a:schemeClr val="accent2"/>
                </a:solidFill>
                <a:latin typeface="黑体" panose="02010609060101010101" pitchFamily="2" charset="-122"/>
                <a:ea typeface="黑体" panose="02010609060101010101" pitchFamily="2" charset="-122"/>
              </a:rPr>
              <a:t>是</a:t>
            </a:r>
            <a:r>
              <a:rPr kumimoji="1" lang="en-US" altLang="zh-CN" sz="2200" b="1">
                <a:solidFill>
                  <a:schemeClr val="accent2"/>
                </a:solidFill>
                <a:latin typeface="黑体" panose="02010609060101010101" pitchFamily="2" charset="-122"/>
                <a:ea typeface="黑体" panose="02010609060101010101" pitchFamily="2" charset="-122"/>
              </a:rPr>
              <a:t>NP</a:t>
            </a:r>
            <a:r>
              <a:rPr kumimoji="1" lang="zh-CN" altLang="en-US" sz="2200" b="1">
                <a:solidFill>
                  <a:schemeClr val="accent2"/>
                </a:solidFill>
                <a:latin typeface="黑体" panose="02010609060101010101" pitchFamily="2" charset="-122"/>
                <a:ea typeface="黑体" panose="02010609060101010101" pitchFamily="2" charset="-122"/>
              </a:rPr>
              <a:t>的真子集</a:t>
            </a:r>
            <a:r>
              <a:rPr kumimoji="1" lang="zh-CN" altLang="en-US" sz="2200" b="1">
                <a:latin typeface="Times New Roman" panose="02020603050405020304" pitchFamily="18" charset="0"/>
              </a:rPr>
              <a:t>”。这个问题是当代计算机科学中的一大难题。 </a:t>
            </a:r>
            <a:endParaRPr kumimoji="1" lang="zh-CN" altLang="en-US" sz="2200" b="1">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iterate type="lt">
                                    <p:tmPct val="10000"/>
                                  </p:iterate>
                                  <p:childTnLst>
                                    <p:set>
                                      <p:cBhvr>
                                        <p:cTn id="6" dur="1" fill="hold">
                                          <p:stCondLst>
                                            <p:cond delay="0"/>
                                          </p:stCondLst>
                                        </p:cTn>
                                        <p:tgtEl>
                                          <p:spTgt spid="406531">
                                            <p:bg/>
                                          </p:spTgt>
                                        </p:tgtEl>
                                        <p:attrNameLst>
                                          <p:attrName>style.visibility</p:attrName>
                                        </p:attrNameLst>
                                      </p:cBhvr>
                                      <p:to>
                                        <p:strVal val="visible"/>
                                      </p:to>
                                    </p:set>
                                    <p:anim calcmode="lin" valueType="num">
                                      <p:cBhvr additive="base">
                                        <p:cTn id="7" dur="500" fill="hold"/>
                                        <p:tgtEl>
                                          <p:spTgt spid="406531">
                                            <p:bg/>
                                          </p:spTgt>
                                        </p:tgtEl>
                                        <p:attrNameLst>
                                          <p:attrName>ppt_x</p:attrName>
                                        </p:attrNameLst>
                                      </p:cBhvr>
                                      <p:tavLst>
                                        <p:tav tm="0">
                                          <p:val>
                                            <p:strVal val="#ppt_x"/>
                                          </p:val>
                                        </p:tav>
                                        <p:tav tm="100000">
                                          <p:val>
                                            <p:strVal val="#ppt_x"/>
                                          </p:val>
                                        </p:tav>
                                      </p:tavLst>
                                    </p:anim>
                                    <p:anim calcmode="lin" valueType="num">
                                      <p:cBhvr additive="base">
                                        <p:cTn id="8" dur="500" fill="hold"/>
                                        <p:tgtEl>
                                          <p:spTgt spid="406531">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iterate type="lt">
                                    <p:tmPct val="10000"/>
                                  </p:iterate>
                                  <p:childTnLst>
                                    <p:set>
                                      <p:cBhvr>
                                        <p:cTn id="12" dur="1" fill="hold">
                                          <p:stCondLst>
                                            <p:cond delay="0"/>
                                          </p:stCondLst>
                                        </p:cTn>
                                        <p:tgtEl>
                                          <p:spTgt spid="406531">
                                            <p:txEl>
                                              <p:pRg st="0" end="0"/>
                                            </p:txEl>
                                          </p:spTgt>
                                        </p:tgtEl>
                                        <p:attrNameLst>
                                          <p:attrName>style.visibility</p:attrName>
                                        </p:attrNameLst>
                                      </p:cBhvr>
                                      <p:to>
                                        <p:strVal val="visible"/>
                                      </p:to>
                                    </p:set>
                                    <p:anim calcmode="lin" valueType="num">
                                      <p:cBhvr additive="base">
                                        <p:cTn id="13" dur="500" fill="hold"/>
                                        <p:tgtEl>
                                          <p:spTgt spid="406531">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06531">
                                            <p:txEl>
                                              <p:pRg st="0" end="0"/>
                                            </p:txEl>
                                          </p:spTgt>
                                        </p:tgtEl>
                                        <p:attrNameLst>
                                          <p:attrName>ppt_y</p:attrName>
                                        </p:attrNameLst>
                                      </p:cBhvr>
                                      <p:tavLst>
                                        <p:tav tm="0">
                                          <p:val>
                                            <p:strVal val="1+#ppt_h/2"/>
                                          </p:val>
                                        </p:tav>
                                        <p:tav tm="100000">
                                          <p:val>
                                            <p:strVal val="#ppt_y"/>
                                          </p:val>
                                        </p:tav>
                                      </p:tavLst>
                                    </p:anim>
                                  </p:childTnLst>
                                </p:cTn>
                              </p:par>
                            </p:childTnLst>
                          </p:cTn>
                        </p:par>
                        <p:par>
                          <p:cTn id="15" fill="hold">
                            <p:stCondLst>
                              <p:cond delay="16000"/>
                            </p:stCondLst>
                            <p:childTnLst>
                              <p:par>
                                <p:cTn id="16" presetID="2" presetClass="entr" presetSubtype="4" fill="hold" grpId="0" nodeType="afterEffect">
                                  <p:stCondLst>
                                    <p:cond delay="0"/>
                                  </p:stCondLst>
                                  <p:iterate type="lt">
                                    <p:tmPct val="10000"/>
                                  </p:iterate>
                                  <p:childTnLst>
                                    <p:set>
                                      <p:cBhvr>
                                        <p:cTn id="17" dur="1" fill="hold">
                                          <p:stCondLst>
                                            <p:cond delay="0"/>
                                          </p:stCondLst>
                                        </p:cTn>
                                        <p:tgtEl>
                                          <p:spTgt spid="406531">
                                            <p:txEl>
                                              <p:pRg st="1" end="1"/>
                                            </p:txEl>
                                          </p:spTgt>
                                        </p:tgtEl>
                                        <p:attrNameLst>
                                          <p:attrName>style.visibility</p:attrName>
                                        </p:attrNameLst>
                                      </p:cBhvr>
                                      <p:to>
                                        <p:strVal val="visible"/>
                                      </p:to>
                                    </p:set>
                                    <p:anim calcmode="lin" valueType="num">
                                      <p:cBhvr additive="base">
                                        <p:cTn id="18" dur="500" fill="hold"/>
                                        <p:tgtEl>
                                          <p:spTgt spid="406531">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40653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6531" grpId="0" animBg="1" build="p"/>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 name="灯片编号占位符 5"/>
          <p:cNvSpPr>
            <a:spLocks noGrp="1"/>
          </p:cNvSpPr>
          <p:nvPr>
            <p:ph type="sldNum" sz="quarter" idx="12"/>
          </p:nvPr>
        </p:nvSpPr>
        <p:spPr/>
        <p:txBody>
          <a:bodyPr/>
          <a:lstStyle/>
          <a:p>
            <a:fld id="{F8CF90A6-A3A0-4645-854B-0DA1100B4AA7}" type="slidenum">
              <a:rPr lang="en-US" altLang="zh-CN"/>
            </a:fld>
            <a:endParaRPr lang="en-US" altLang="zh-CN"/>
          </a:p>
        </p:txBody>
      </p:sp>
      <p:sp>
        <p:nvSpPr>
          <p:cNvPr id="407554" name="Rectangle 2"/>
          <p:cNvSpPr>
            <a:spLocks noGrp="1" noChangeArrowheads="1"/>
          </p:cNvSpPr>
          <p:nvPr>
            <p:ph type="title"/>
          </p:nvPr>
        </p:nvSpPr>
        <p:spPr/>
        <p:txBody>
          <a:bodyPr/>
          <a:lstStyle/>
          <a:p>
            <a:r>
              <a:rPr lang="en-US" altLang="zh-CN"/>
              <a:t>8.3.2  </a:t>
            </a:r>
            <a:r>
              <a:rPr lang="en-US" altLang="zh-CN">
                <a:latin typeface="新宋体" panose="02010609030101010101" charset="-122"/>
                <a:ea typeface="新宋体" panose="02010609030101010101" charset="-122"/>
              </a:rPr>
              <a:t>Cook</a:t>
            </a:r>
            <a:r>
              <a:rPr lang="zh-CN" altLang="en-US">
                <a:latin typeface="新宋体" panose="02010609030101010101" charset="-122"/>
                <a:ea typeface="新宋体" panose="02010609030101010101" charset="-122"/>
              </a:rPr>
              <a:t>定理</a:t>
            </a:r>
            <a:endParaRPr lang="zh-CN" altLang="en-US">
              <a:latin typeface="新宋体" panose="02010609030101010101" charset="-122"/>
              <a:ea typeface="新宋体" panose="02010609030101010101" charset="-122"/>
            </a:endParaRPr>
          </a:p>
        </p:txBody>
      </p:sp>
      <p:sp>
        <p:nvSpPr>
          <p:cNvPr id="407555" name="Text Box 3"/>
          <p:cNvSpPr txBox="1">
            <a:spLocks noChangeArrowheads="1"/>
          </p:cNvSpPr>
          <p:nvPr/>
        </p:nvSpPr>
        <p:spPr bwMode="auto">
          <a:xfrm>
            <a:off x="152400" y="1752600"/>
            <a:ext cx="8839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b="1">
                <a:latin typeface="宋体" panose="02010600030101010101" pitchFamily="2" charset="-122"/>
              </a:rPr>
              <a:t>    </a:t>
            </a:r>
            <a:r>
              <a:rPr lang="zh-CN" altLang="en-US" sz="2400" b="1">
                <a:latin typeface="新宋体" panose="02010609030101010101" charset="-122"/>
                <a:ea typeface="新宋体" panose="02010609030101010101" charset="-122"/>
              </a:rPr>
              <a:t>定理</a:t>
            </a:r>
            <a:r>
              <a:rPr lang="en-US" altLang="zh-CN" sz="2400" b="1">
                <a:latin typeface="新宋体" panose="02010609030101010101" charset="-122"/>
                <a:ea typeface="新宋体" panose="02010609030101010101" charset="-122"/>
              </a:rPr>
              <a:t>8-7(Cook</a:t>
            </a:r>
            <a:r>
              <a:rPr lang="zh-CN" altLang="en-US" sz="2400" b="1">
                <a:latin typeface="新宋体" panose="02010609030101010101" charset="-122"/>
                <a:ea typeface="新宋体" panose="02010609030101010101" charset="-122"/>
              </a:rPr>
              <a:t>定理</a:t>
            </a:r>
            <a:r>
              <a:rPr lang="en-US" altLang="zh-CN" sz="2400" b="1">
                <a:latin typeface="新宋体" panose="02010609030101010101" charset="-122"/>
                <a:ea typeface="新宋体" panose="02010609030101010101" charset="-122"/>
              </a:rPr>
              <a:t>)</a:t>
            </a:r>
            <a:r>
              <a:rPr lang="zh-CN" altLang="en-US" sz="2400" b="1">
                <a:latin typeface="新宋体" panose="02010609030101010101" charset="-122"/>
                <a:ea typeface="新宋体" panose="02010609030101010101" charset="-122"/>
              </a:rPr>
              <a:t>：</a:t>
            </a:r>
            <a:r>
              <a:rPr lang="zh-CN" altLang="en-US" sz="2400">
                <a:latin typeface="新宋体" panose="02010609030101010101" charset="-122"/>
                <a:ea typeface="新宋体" panose="02010609030101010101" charset="-122"/>
              </a:rPr>
              <a:t>布尔表达式的可满足性问题</a:t>
            </a:r>
            <a:r>
              <a:rPr lang="en-US" altLang="zh-CN" sz="2400">
                <a:latin typeface="新宋体" panose="02010609030101010101" charset="-122"/>
                <a:ea typeface="新宋体" panose="02010609030101010101" charset="-122"/>
              </a:rPr>
              <a:t>SAT</a:t>
            </a:r>
            <a:r>
              <a:rPr lang="zh-CN" altLang="en-US" sz="2400">
                <a:latin typeface="新宋体" panose="02010609030101010101" charset="-122"/>
                <a:ea typeface="新宋体" panose="02010609030101010101" charset="-122"/>
              </a:rPr>
              <a:t>是</a:t>
            </a:r>
            <a:r>
              <a:rPr lang="en-US" altLang="zh-CN" sz="2400">
                <a:latin typeface="新宋体" panose="02010609030101010101" charset="-122"/>
                <a:ea typeface="新宋体" panose="02010609030101010101" charset="-122"/>
              </a:rPr>
              <a:t>NP</a:t>
            </a:r>
            <a:r>
              <a:rPr lang="zh-CN" altLang="en-US" sz="2400">
                <a:latin typeface="新宋体" panose="02010609030101010101" charset="-122"/>
                <a:ea typeface="新宋体" panose="02010609030101010101" charset="-122"/>
              </a:rPr>
              <a:t>完全的。 </a:t>
            </a:r>
            <a:endParaRPr lang="zh-CN" altLang="en-US" sz="2400">
              <a:latin typeface="新宋体" panose="02010609030101010101" charset="-122"/>
              <a:ea typeface="新宋体" panose="02010609030101010101" charset="-122"/>
            </a:endParaRPr>
          </a:p>
        </p:txBody>
      </p:sp>
      <p:grpSp>
        <p:nvGrpSpPr>
          <p:cNvPr id="407556" name="Group 4"/>
          <p:cNvGrpSpPr/>
          <p:nvPr/>
        </p:nvGrpSpPr>
        <p:grpSpPr bwMode="auto">
          <a:xfrm>
            <a:off x="152400" y="2667000"/>
            <a:ext cx="8839200" cy="1552575"/>
            <a:chOff x="96" y="1748"/>
            <a:chExt cx="5568" cy="978"/>
          </a:xfrm>
        </p:grpSpPr>
        <p:sp>
          <p:nvSpPr>
            <p:cNvPr id="407557" name="Text Box 5"/>
            <p:cNvSpPr txBox="1">
              <a:spLocks noChangeArrowheads="1"/>
            </p:cNvSpPr>
            <p:nvPr/>
          </p:nvSpPr>
          <p:spPr bwMode="auto">
            <a:xfrm>
              <a:off x="96" y="1748"/>
              <a:ext cx="5568" cy="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新宋体" panose="02010609030101010101" charset="-122"/>
                  <a:ea typeface="新宋体" panose="02010609030101010101" charset="-122"/>
                </a:rPr>
                <a:t>证明：</a:t>
              </a:r>
              <a:r>
                <a:rPr lang="en-US" altLang="zh-CN" sz="2400">
                  <a:latin typeface="新宋体" panose="02010609030101010101" charset="-122"/>
                  <a:ea typeface="新宋体" panose="02010609030101010101" charset="-122"/>
                </a:rPr>
                <a:t>SAT</a:t>
              </a:r>
              <a:r>
                <a:rPr lang="zh-CN" altLang="en-US" sz="2400">
                  <a:latin typeface="新宋体" panose="02010609030101010101" charset="-122"/>
                  <a:ea typeface="新宋体" panose="02010609030101010101" charset="-122"/>
                </a:rPr>
                <a:t>的一个实例是</a:t>
              </a:r>
              <a:r>
                <a:rPr lang="en-US" altLang="zh-CN" sz="2400">
                  <a:latin typeface="新宋体" panose="02010609030101010101" charset="-122"/>
                  <a:ea typeface="新宋体" panose="02010609030101010101" charset="-122"/>
                </a:rPr>
                <a:t>k</a:t>
              </a:r>
              <a:r>
                <a:rPr lang="zh-CN" altLang="en-US" sz="2400">
                  <a:latin typeface="新宋体" panose="02010609030101010101" charset="-122"/>
                  <a:ea typeface="新宋体" panose="02010609030101010101" charset="-122"/>
                </a:rPr>
                <a:t>个布尔变量  ，</a:t>
              </a:r>
              <a:r>
                <a:rPr lang="en-US" altLang="zh-CN" sz="2400">
                  <a:latin typeface="Times New Roman" panose="02020603050405020304"/>
                  <a:ea typeface="新宋体" panose="02010609030101010101" charset="-122"/>
                </a:rPr>
                <a:t>…</a:t>
              </a:r>
              <a:r>
                <a:rPr lang="zh-CN" altLang="en-US" sz="2400">
                  <a:latin typeface="新宋体" panose="02010609030101010101" charset="-122"/>
                  <a:ea typeface="新宋体" panose="02010609030101010101" charset="-122"/>
                </a:rPr>
                <a:t>，  的</a:t>
              </a:r>
              <a:r>
                <a:rPr lang="en-US" altLang="zh-CN" sz="2400">
                  <a:latin typeface="新宋体" panose="02010609030101010101" charset="-122"/>
                  <a:ea typeface="新宋体" panose="02010609030101010101" charset="-122"/>
                </a:rPr>
                <a:t>m</a:t>
              </a:r>
              <a:r>
                <a:rPr lang="zh-CN" altLang="en-US" sz="2400">
                  <a:latin typeface="新宋体" panose="02010609030101010101" charset="-122"/>
                  <a:ea typeface="新宋体" panose="02010609030101010101" charset="-122"/>
                </a:rPr>
                <a:t>个布尔表达式  ，</a:t>
              </a:r>
              <a:r>
                <a:rPr lang="en-US" altLang="zh-CN" sz="2400">
                  <a:latin typeface="Times New Roman" panose="02020603050405020304"/>
                  <a:ea typeface="新宋体" panose="02010609030101010101" charset="-122"/>
                </a:rPr>
                <a:t>…</a:t>
              </a:r>
              <a:r>
                <a:rPr lang="zh-CN" altLang="en-US" sz="2400">
                  <a:latin typeface="新宋体" panose="02010609030101010101" charset="-122"/>
                  <a:ea typeface="新宋体" panose="02010609030101010101" charset="-122"/>
                </a:rPr>
                <a:t>，  若存在各布尔变量  </a:t>
              </a:r>
              <a:r>
                <a:rPr lang="en-US" altLang="zh-CN" sz="2400">
                  <a:latin typeface="新宋体" panose="02010609030101010101" charset="-122"/>
                  <a:ea typeface="新宋体" panose="02010609030101010101" charset="-122"/>
                </a:rPr>
                <a:t>(1≤i≤k)</a:t>
              </a:r>
              <a:r>
                <a:rPr lang="zh-CN" altLang="en-US" sz="2400">
                  <a:latin typeface="新宋体" panose="02010609030101010101" charset="-122"/>
                  <a:ea typeface="新宋体" panose="02010609030101010101" charset="-122"/>
                </a:rPr>
                <a:t>的</a:t>
              </a:r>
              <a:r>
                <a:rPr lang="en-US" altLang="zh-CN" sz="2400">
                  <a:latin typeface="新宋体" panose="02010609030101010101" charset="-122"/>
                  <a:ea typeface="新宋体" panose="02010609030101010101" charset="-122"/>
                </a:rPr>
                <a:t>0</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1</a:t>
              </a:r>
              <a:r>
                <a:rPr lang="zh-CN" altLang="en-US" sz="2400">
                  <a:latin typeface="新宋体" panose="02010609030101010101" charset="-122"/>
                  <a:ea typeface="新宋体" panose="02010609030101010101" charset="-122"/>
                </a:rPr>
                <a:t>赋值，使每个布尔表达式  </a:t>
              </a:r>
              <a:r>
                <a:rPr lang="en-US" altLang="zh-CN" sz="2400">
                  <a:latin typeface="新宋体" panose="02010609030101010101" charset="-122"/>
                  <a:ea typeface="新宋体" panose="02010609030101010101" charset="-122"/>
                </a:rPr>
                <a:t>(1≤i≤m)</a:t>
              </a:r>
              <a:r>
                <a:rPr lang="zh-CN" altLang="en-US" sz="2400">
                  <a:latin typeface="新宋体" panose="02010609030101010101" charset="-122"/>
                  <a:ea typeface="新宋体" panose="02010609030101010101" charset="-122"/>
                </a:rPr>
                <a:t>都取值</a:t>
              </a:r>
              <a:r>
                <a:rPr lang="en-US" altLang="zh-CN" sz="2400">
                  <a:latin typeface="新宋体" panose="02010609030101010101" charset="-122"/>
                  <a:ea typeface="新宋体" panose="02010609030101010101" charset="-122"/>
                </a:rPr>
                <a:t>1</a:t>
              </a:r>
              <a:r>
                <a:rPr lang="zh-CN" altLang="en-US" sz="2400">
                  <a:latin typeface="新宋体" panose="02010609030101010101" charset="-122"/>
                  <a:ea typeface="新宋体" panose="02010609030101010101" charset="-122"/>
                </a:rPr>
                <a:t>，则称布尔表达式     </a:t>
              </a:r>
              <a:r>
                <a:rPr lang="en-US" altLang="zh-CN" sz="2400">
                  <a:latin typeface="Times New Roman" panose="02020603050405020304"/>
                  <a:ea typeface="新宋体" panose="02010609030101010101" charset="-122"/>
                </a:rPr>
                <a:t>…</a:t>
              </a:r>
              <a:endParaRPr lang="en-US" altLang="zh-CN"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是可满足的。</a:t>
              </a:r>
              <a:r>
                <a:rPr lang="zh-CN" altLang="en-US" sz="2400">
                  <a:latin typeface="宋体" panose="02010600030101010101" pitchFamily="2" charset="-122"/>
                </a:rPr>
                <a:t> </a:t>
              </a:r>
              <a:r>
                <a:rPr lang="zh-CN" altLang="en-US" sz="2400">
                  <a:latin typeface="新宋体" panose="02010609030101010101" charset="-122"/>
                  <a:ea typeface="新宋体" panose="02010609030101010101" charset="-122"/>
                </a:rPr>
                <a:t> </a:t>
              </a:r>
              <a:endParaRPr lang="zh-CN" altLang="en-US" sz="2400">
                <a:latin typeface="新宋体" panose="02010609030101010101" charset="-122"/>
                <a:ea typeface="新宋体" panose="02010609030101010101" charset="-122"/>
              </a:endParaRPr>
            </a:p>
          </p:txBody>
        </p:sp>
        <p:graphicFrame>
          <p:nvGraphicFramePr>
            <p:cNvPr id="407558" name="Object 6"/>
            <p:cNvGraphicFramePr>
              <a:graphicFrameLocks noChangeAspect="1"/>
            </p:cNvGraphicFramePr>
            <p:nvPr/>
          </p:nvGraphicFramePr>
          <p:xfrm>
            <a:off x="3216" y="1776"/>
            <a:ext cx="177" cy="240"/>
          </p:xfrm>
          <a:graphic>
            <a:graphicData uri="http://schemas.openxmlformats.org/presentationml/2006/ole">
              <mc:AlternateContent xmlns:mc="http://schemas.openxmlformats.org/markup-compatibility/2006">
                <mc:Choice xmlns:v="urn:schemas-microsoft-com:vml" Requires="v">
                  <p:oleObj spid="_x0000_s407602" name="" r:id="rId1" imgW="165100" imgH="215900" progId="Equation.3">
                    <p:embed/>
                  </p:oleObj>
                </mc:Choice>
                <mc:Fallback>
                  <p:oleObj name="" r:id="rId1" imgW="165100" imgH="2159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6" y="1776"/>
                          <a:ext cx="177"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7559" name="Object 7"/>
            <p:cNvGraphicFramePr>
              <a:graphicFrameLocks noChangeAspect="1"/>
            </p:cNvGraphicFramePr>
            <p:nvPr/>
          </p:nvGraphicFramePr>
          <p:xfrm>
            <a:off x="3938" y="1776"/>
            <a:ext cx="190" cy="240"/>
          </p:xfrm>
          <a:graphic>
            <a:graphicData uri="http://schemas.openxmlformats.org/presentationml/2006/ole">
              <mc:AlternateContent xmlns:mc="http://schemas.openxmlformats.org/markup-compatibility/2006">
                <mc:Choice xmlns:v="urn:schemas-microsoft-com:vml" Requires="v">
                  <p:oleObj spid="_x0000_s407603" name="" r:id="rId3" imgW="177800" imgH="228600" progId="Equation.3">
                    <p:embed/>
                  </p:oleObj>
                </mc:Choice>
                <mc:Fallback>
                  <p:oleObj name="" r:id="rId3" imgW="177800" imgH="2286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8" y="1776"/>
                          <a:ext cx="190"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7560" name="Object 8"/>
            <p:cNvGraphicFramePr>
              <a:graphicFrameLocks noChangeAspect="1"/>
            </p:cNvGraphicFramePr>
            <p:nvPr/>
          </p:nvGraphicFramePr>
          <p:xfrm>
            <a:off x="336" y="2016"/>
            <a:ext cx="198" cy="240"/>
          </p:xfrm>
          <a:graphic>
            <a:graphicData uri="http://schemas.openxmlformats.org/presentationml/2006/ole">
              <mc:AlternateContent xmlns:mc="http://schemas.openxmlformats.org/markup-compatibility/2006">
                <mc:Choice xmlns:v="urn:schemas-microsoft-com:vml" Requires="v">
                  <p:oleObj spid="_x0000_s407604" name="" r:id="rId5" imgW="177800" imgH="215900" progId="Equation.3">
                    <p:embed/>
                  </p:oleObj>
                </mc:Choice>
                <mc:Fallback>
                  <p:oleObj name="" r:id="rId5" imgW="177800" imgH="2159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6" y="2016"/>
                          <a:ext cx="19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7561" name="Object 9"/>
            <p:cNvGraphicFramePr>
              <a:graphicFrameLocks noChangeAspect="1"/>
            </p:cNvGraphicFramePr>
            <p:nvPr/>
          </p:nvGraphicFramePr>
          <p:xfrm>
            <a:off x="1008" y="2040"/>
            <a:ext cx="230" cy="240"/>
          </p:xfrm>
          <a:graphic>
            <a:graphicData uri="http://schemas.openxmlformats.org/presentationml/2006/ole">
              <mc:AlternateContent xmlns:mc="http://schemas.openxmlformats.org/markup-compatibility/2006">
                <mc:Choice xmlns:v="urn:schemas-microsoft-com:vml" Requires="v">
                  <p:oleObj spid="_x0000_s407605" name="" r:id="rId7" imgW="215900" imgH="228600" progId="Equation.3">
                    <p:embed/>
                  </p:oleObj>
                </mc:Choice>
                <mc:Fallback>
                  <p:oleObj name="" r:id="rId7" imgW="215900" imgH="2286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08" y="2040"/>
                          <a:ext cx="230"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7562" name="Object 10"/>
            <p:cNvGraphicFramePr>
              <a:graphicFrameLocks noChangeAspect="1"/>
            </p:cNvGraphicFramePr>
            <p:nvPr/>
          </p:nvGraphicFramePr>
          <p:xfrm>
            <a:off x="2832" y="1968"/>
            <a:ext cx="192" cy="288"/>
          </p:xfrm>
          <a:graphic>
            <a:graphicData uri="http://schemas.openxmlformats.org/presentationml/2006/ole">
              <mc:AlternateContent xmlns:mc="http://schemas.openxmlformats.org/markup-compatibility/2006">
                <mc:Choice xmlns:v="urn:schemas-microsoft-com:vml" Requires="v">
                  <p:oleObj spid="_x0000_s407606" name="" r:id="rId9" imgW="152400" imgH="228600" progId="Equation.3">
                    <p:embed/>
                  </p:oleObj>
                </mc:Choice>
                <mc:Fallback>
                  <p:oleObj name="" r:id="rId9" imgW="152400" imgH="2286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32" y="1968"/>
                          <a:ext cx="192"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7563" name="Object 11"/>
            <p:cNvGraphicFramePr>
              <a:graphicFrameLocks noChangeAspect="1"/>
            </p:cNvGraphicFramePr>
            <p:nvPr/>
          </p:nvGraphicFramePr>
          <p:xfrm>
            <a:off x="4602" y="2232"/>
            <a:ext cx="198" cy="240"/>
          </p:xfrm>
          <a:graphic>
            <a:graphicData uri="http://schemas.openxmlformats.org/presentationml/2006/ole">
              <mc:AlternateContent xmlns:mc="http://schemas.openxmlformats.org/markup-compatibility/2006">
                <mc:Choice xmlns:v="urn:schemas-microsoft-com:vml" Requires="v">
                  <p:oleObj spid="_x0000_s407607" name="" r:id="rId11" imgW="177800" imgH="215900" progId="Equation.3">
                    <p:embed/>
                  </p:oleObj>
                </mc:Choice>
                <mc:Fallback>
                  <p:oleObj name="" r:id="rId11" imgW="177800" imgH="21590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02" y="2232"/>
                          <a:ext cx="19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7564" name="Object 12"/>
            <p:cNvGraphicFramePr>
              <a:graphicFrameLocks noChangeAspect="1"/>
            </p:cNvGraphicFramePr>
            <p:nvPr/>
          </p:nvGraphicFramePr>
          <p:xfrm>
            <a:off x="4821" y="2244"/>
            <a:ext cx="219" cy="240"/>
          </p:xfrm>
          <a:graphic>
            <a:graphicData uri="http://schemas.openxmlformats.org/presentationml/2006/ole">
              <mc:AlternateContent xmlns:mc="http://schemas.openxmlformats.org/markup-compatibility/2006">
                <mc:Choice xmlns:v="urn:schemas-microsoft-com:vml" Requires="v">
                  <p:oleObj spid="_x0000_s407608" name="" r:id="rId12" imgW="203200" imgH="215900" progId="Equation.3">
                    <p:embed/>
                  </p:oleObj>
                </mc:Choice>
                <mc:Fallback>
                  <p:oleObj name="" r:id="rId12" imgW="203200" imgH="215900" progId="Equation.3">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21" y="2244"/>
                          <a:ext cx="219"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7565" name="Object 13"/>
            <p:cNvGraphicFramePr>
              <a:graphicFrameLocks noChangeAspect="1"/>
            </p:cNvGraphicFramePr>
            <p:nvPr/>
          </p:nvGraphicFramePr>
          <p:xfrm>
            <a:off x="5280" y="2256"/>
            <a:ext cx="230" cy="240"/>
          </p:xfrm>
          <a:graphic>
            <a:graphicData uri="http://schemas.openxmlformats.org/presentationml/2006/ole">
              <mc:AlternateContent xmlns:mc="http://schemas.openxmlformats.org/markup-compatibility/2006">
                <mc:Choice xmlns:v="urn:schemas-microsoft-com:vml" Requires="v">
                  <p:oleObj spid="_x0000_s407609" name="" r:id="rId14" imgW="215900" imgH="228600" progId="Equation.3">
                    <p:embed/>
                  </p:oleObj>
                </mc:Choice>
                <mc:Fallback>
                  <p:oleObj name="" r:id="rId14" imgW="215900" imgH="228600" progId="Equation.3">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80" y="2256"/>
                          <a:ext cx="230"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7566" name="Object 14"/>
            <p:cNvGraphicFramePr>
              <a:graphicFrameLocks noChangeAspect="1"/>
            </p:cNvGraphicFramePr>
            <p:nvPr/>
          </p:nvGraphicFramePr>
          <p:xfrm>
            <a:off x="1296" y="2256"/>
            <a:ext cx="190" cy="240"/>
          </p:xfrm>
          <a:graphic>
            <a:graphicData uri="http://schemas.openxmlformats.org/presentationml/2006/ole">
              <mc:AlternateContent xmlns:mc="http://schemas.openxmlformats.org/markup-compatibility/2006">
                <mc:Choice xmlns:v="urn:schemas-microsoft-com:vml" Requires="v">
                  <p:oleObj spid="_x0000_s407610" name="" r:id="rId15" imgW="177800" imgH="228600" progId="Equation.3">
                    <p:embed/>
                  </p:oleObj>
                </mc:Choice>
                <mc:Fallback>
                  <p:oleObj name="" r:id="rId15" imgW="177800" imgH="228600" progId="Equation.3">
                    <p:embed/>
                    <p:pic>
                      <p:nvPicPr>
                        <p:cNvPr id="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96" y="2256"/>
                          <a:ext cx="190"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407567" name="Group 15"/>
          <p:cNvGrpSpPr/>
          <p:nvPr/>
        </p:nvGrpSpPr>
        <p:grpSpPr bwMode="auto">
          <a:xfrm>
            <a:off x="152400" y="4330700"/>
            <a:ext cx="8839200" cy="1917700"/>
            <a:chOff x="96" y="2910"/>
            <a:chExt cx="5568" cy="1208"/>
          </a:xfrm>
        </p:grpSpPr>
        <p:sp>
          <p:nvSpPr>
            <p:cNvPr id="407568" name="Text Box 16"/>
            <p:cNvSpPr txBox="1">
              <a:spLocks noChangeArrowheads="1"/>
            </p:cNvSpPr>
            <p:nvPr/>
          </p:nvSpPr>
          <p:spPr bwMode="auto">
            <a:xfrm>
              <a:off x="96" y="2910"/>
              <a:ext cx="5568" cy="1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just"/>
              <a:r>
                <a:rPr lang="zh-CN" altLang="en-US" sz="2400">
                  <a:latin typeface="新宋体" panose="02010609030101010101" charset="-122"/>
                </a:rPr>
                <a:t>    </a:t>
              </a:r>
              <a:r>
                <a:rPr lang="en-US" altLang="zh-CN" sz="2400">
                  <a:latin typeface="新宋体" panose="02010609030101010101" charset="-122"/>
                  <a:ea typeface="新宋体" panose="02010609030101010101" charset="-122"/>
                </a:rPr>
                <a:t>SAT∈NP</a:t>
              </a:r>
              <a:r>
                <a:rPr lang="zh-CN" altLang="en-US" sz="2400">
                  <a:latin typeface="新宋体" panose="02010609030101010101" charset="-122"/>
                  <a:ea typeface="新宋体" panose="02010609030101010101" charset="-122"/>
                </a:rPr>
                <a:t>是很明显的。对于任给的布尔变量  ，</a:t>
              </a:r>
              <a:r>
                <a:rPr lang="en-US" altLang="zh-CN" sz="2400">
                  <a:latin typeface="Times New Roman" panose="02020603050405020304"/>
                  <a:ea typeface="新宋体" panose="02010609030101010101" charset="-122"/>
                </a:rPr>
                <a:t>…</a:t>
              </a:r>
              <a:r>
                <a:rPr lang="zh-CN" altLang="en-US" sz="2400">
                  <a:latin typeface="新宋体" panose="02010609030101010101" charset="-122"/>
                  <a:ea typeface="新宋体" panose="02010609030101010101" charset="-122"/>
                </a:rPr>
                <a:t>，  的</a:t>
              </a:r>
              <a:r>
                <a:rPr lang="en-US" altLang="zh-CN" sz="2400">
                  <a:latin typeface="新宋体" panose="02010609030101010101" charset="-122"/>
                  <a:ea typeface="新宋体" panose="02010609030101010101" charset="-122"/>
                </a:rPr>
                <a:t>0</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1</a:t>
              </a:r>
              <a:r>
                <a:rPr lang="zh-CN" altLang="en-US" sz="2400">
                  <a:latin typeface="新宋体" panose="02010609030101010101" charset="-122"/>
                  <a:ea typeface="新宋体" panose="02010609030101010101" charset="-122"/>
                </a:rPr>
                <a:t>赋值，容易在多项式时间内验证相应的      </a:t>
              </a:r>
              <a:r>
                <a:rPr lang="en-US" altLang="zh-CN" sz="2400">
                  <a:latin typeface="Times New Roman" panose="02020603050405020304"/>
                  <a:ea typeface="新宋体" panose="02010609030101010101" charset="-122"/>
                </a:rPr>
                <a:t>…</a:t>
              </a:r>
              <a:r>
                <a:rPr lang="en-US" altLang="zh-CN" sz="2400">
                  <a:latin typeface="新宋体" panose="02010609030101010101" charset="-122"/>
                  <a:ea typeface="新宋体" panose="02010609030101010101" charset="-122"/>
                </a:rPr>
                <a:t>    </a:t>
              </a:r>
              <a:r>
                <a:rPr lang="zh-CN" altLang="en-US" sz="2400">
                  <a:latin typeface="新宋体" panose="02010609030101010101" charset="-122"/>
                  <a:ea typeface="新宋体" panose="02010609030101010101" charset="-122"/>
                </a:rPr>
                <a:t>的取值是</a:t>
              </a:r>
              <a:endParaRPr lang="zh-CN" altLang="en-US" sz="2400">
                <a:latin typeface="新宋体" panose="02010609030101010101" charset="-122"/>
                <a:ea typeface="新宋体" panose="02010609030101010101" charset="-122"/>
              </a:endParaRPr>
            </a:p>
            <a:p>
              <a:pPr algn="just"/>
              <a:r>
                <a:rPr lang="zh-CN" altLang="en-US" sz="2400">
                  <a:latin typeface="新宋体" panose="02010609030101010101" charset="-122"/>
                  <a:ea typeface="新宋体" panose="02010609030101010101" charset="-122"/>
                </a:rPr>
                <a:t>否为</a:t>
              </a:r>
              <a:r>
                <a:rPr lang="en-US" altLang="zh-CN" sz="2400">
                  <a:latin typeface="新宋体" panose="02010609030101010101" charset="-122"/>
                  <a:ea typeface="新宋体" panose="02010609030101010101" charset="-122"/>
                </a:rPr>
                <a:t>1</a:t>
              </a:r>
              <a:r>
                <a:rPr lang="zh-CN" altLang="en-US" sz="2400">
                  <a:latin typeface="新宋体" panose="02010609030101010101" charset="-122"/>
                  <a:ea typeface="新宋体" panose="02010609030101010101" charset="-122"/>
                </a:rPr>
                <a:t>。因此，</a:t>
              </a:r>
              <a:r>
                <a:rPr lang="en-US" altLang="zh-CN" sz="2400">
                  <a:latin typeface="新宋体" panose="02010609030101010101" charset="-122"/>
                  <a:ea typeface="新宋体" panose="02010609030101010101" charset="-122"/>
                </a:rPr>
                <a:t>SAT∈NP</a:t>
              </a:r>
              <a:r>
                <a:rPr lang="zh-CN" altLang="en-US" sz="2400">
                  <a:latin typeface="新宋体" panose="02010609030101010101" charset="-122"/>
                  <a:ea typeface="新宋体" panose="02010609030101010101" charset="-122"/>
                </a:rPr>
                <a:t>。</a:t>
              </a:r>
              <a:endParaRPr lang="zh-CN" altLang="en-US" sz="2400">
                <a:latin typeface="新宋体" panose="02010609030101010101" charset="-122"/>
                <a:ea typeface="新宋体" panose="02010609030101010101" charset="-122"/>
              </a:endParaRPr>
            </a:p>
            <a:p>
              <a:pPr algn="just"/>
              <a:r>
                <a:rPr lang="zh-CN" altLang="en-US" sz="2400">
                  <a:latin typeface="新宋体" panose="02010609030101010101" charset="-122"/>
                  <a:ea typeface="新宋体" panose="02010609030101010101" charset="-122"/>
                </a:rPr>
                <a:t>    现在只要证明对任意的</a:t>
              </a:r>
              <a:r>
                <a:rPr lang="en-US" altLang="zh-CN" sz="2400">
                  <a:latin typeface="新宋体" panose="02010609030101010101" charset="-122"/>
                  <a:ea typeface="新宋体" panose="02010609030101010101" charset="-122"/>
                </a:rPr>
                <a:t>L∈NP</a:t>
              </a:r>
              <a:r>
                <a:rPr lang="zh-CN" altLang="en-US" sz="2400">
                  <a:latin typeface="新宋体" panose="02010609030101010101" charset="-122"/>
                  <a:ea typeface="新宋体" panose="02010609030101010101" charset="-122"/>
                </a:rPr>
                <a:t>有</a:t>
              </a:r>
              <a:r>
                <a:rPr lang="en-US" altLang="zh-CN" sz="2400">
                  <a:latin typeface="新宋体" panose="02010609030101010101" charset="-122"/>
                  <a:ea typeface="新宋体" panose="02010609030101010101" charset="-122"/>
                </a:rPr>
                <a:t>L∝</a:t>
              </a:r>
              <a:r>
                <a:rPr lang="en-US" altLang="zh-CN" sz="2400" baseline="-30000">
                  <a:latin typeface="新宋体" panose="02010609030101010101" charset="-122"/>
                  <a:ea typeface="新宋体" panose="02010609030101010101" charset="-122"/>
                </a:rPr>
                <a:t>p</a:t>
              </a:r>
              <a:r>
                <a:rPr lang="en-US" altLang="zh-CN" sz="2400">
                  <a:latin typeface="新宋体" panose="02010609030101010101" charset="-122"/>
                  <a:ea typeface="新宋体" panose="02010609030101010101" charset="-122"/>
                </a:rPr>
                <a:t>SAT</a:t>
              </a:r>
              <a:r>
                <a:rPr lang="zh-CN" altLang="en-US" sz="2400">
                  <a:latin typeface="新宋体" panose="02010609030101010101" charset="-122"/>
                  <a:ea typeface="新宋体" panose="02010609030101010101" charset="-122"/>
                </a:rPr>
                <a:t>即可。</a:t>
              </a:r>
              <a:endParaRPr lang="zh-CN" altLang="en-US" sz="2400">
                <a:latin typeface="新宋体" panose="02010609030101010101" charset="-122"/>
                <a:ea typeface="新宋体" panose="02010609030101010101" charset="-122"/>
              </a:endParaRPr>
            </a:p>
            <a:p>
              <a:pPr algn="just"/>
              <a:r>
                <a:rPr lang="zh-CN" altLang="en-US" sz="2400">
                  <a:latin typeface="新宋体" panose="02010609030101010101" charset="-122"/>
                  <a:ea typeface="新宋体" panose="02010609030101010101" charset="-122"/>
                </a:rPr>
                <a:t>	（详细证明见书本</a:t>
              </a:r>
              <a:r>
                <a:rPr lang="en-US" altLang="zh-CN" sz="2400">
                  <a:latin typeface="新宋体" panose="02010609030101010101" charset="-122"/>
                  <a:ea typeface="新宋体" panose="02010609030101010101" charset="-122"/>
                </a:rPr>
                <a:t>P</a:t>
              </a:r>
              <a:r>
                <a:rPr lang="en-US" altLang="zh-CN" sz="1600">
                  <a:latin typeface="新宋体" panose="02010609030101010101" charset="-122"/>
                  <a:ea typeface="新宋体" panose="02010609030101010101" charset="-122"/>
                </a:rPr>
                <a:t>307</a:t>
              </a:r>
              <a:r>
                <a:rPr lang="zh-CN" altLang="en-US" sz="1600">
                  <a:latin typeface="新宋体" panose="02010609030101010101" charset="-122"/>
                  <a:ea typeface="新宋体" panose="02010609030101010101" charset="-122"/>
                </a:rPr>
                <a:t>～</a:t>
              </a:r>
              <a:r>
                <a:rPr lang="en-US" altLang="zh-CN" sz="1600">
                  <a:latin typeface="新宋体" panose="02010609030101010101" charset="-122"/>
                  <a:ea typeface="新宋体" panose="02010609030101010101" charset="-122"/>
                </a:rPr>
                <a:t>310</a:t>
              </a:r>
              <a:r>
                <a:rPr lang="zh-CN" altLang="en-US" sz="2400">
                  <a:latin typeface="新宋体" panose="02010609030101010101" charset="-122"/>
                  <a:ea typeface="新宋体" panose="02010609030101010101" charset="-122"/>
                </a:rPr>
                <a:t>）</a:t>
              </a:r>
              <a:endParaRPr lang="zh-CN" altLang="en-US" sz="2400">
                <a:latin typeface="新宋体" panose="02010609030101010101" charset="-122"/>
                <a:ea typeface="新宋体" panose="02010609030101010101" charset="-122"/>
              </a:endParaRPr>
            </a:p>
          </p:txBody>
        </p:sp>
        <p:graphicFrame>
          <p:nvGraphicFramePr>
            <p:cNvPr id="407569" name="Object 17"/>
            <p:cNvGraphicFramePr>
              <a:graphicFrameLocks noChangeAspect="1"/>
            </p:cNvGraphicFramePr>
            <p:nvPr/>
          </p:nvGraphicFramePr>
          <p:xfrm>
            <a:off x="4176" y="2928"/>
            <a:ext cx="177" cy="240"/>
          </p:xfrm>
          <a:graphic>
            <a:graphicData uri="http://schemas.openxmlformats.org/presentationml/2006/ole">
              <mc:AlternateContent xmlns:mc="http://schemas.openxmlformats.org/markup-compatibility/2006">
                <mc:Choice xmlns:v="urn:schemas-microsoft-com:vml" Requires="v">
                  <p:oleObj spid="_x0000_s407611" name="" r:id="rId17" imgW="165100" imgH="215900" progId="Equation.3">
                    <p:embed/>
                  </p:oleObj>
                </mc:Choice>
                <mc:Fallback>
                  <p:oleObj name="" r:id="rId17" imgW="165100" imgH="215900" progId="Equation.3">
                    <p:embed/>
                    <p:pic>
                      <p:nvPicPr>
                        <p:cNvPr id="0" name="Object 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6" y="2928"/>
                          <a:ext cx="177"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7570" name="Object 18"/>
            <p:cNvGraphicFramePr>
              <a:graphicFrameLocks noChangeAspect="1"/>
            </p:cNvGraphicFramePr>
            <p:nvPr/>
          </p:nvGraphicFramePr>
          <p:xfrm>
            <a:off x="4898" y="2928"/>
            <a:ext cx="190" cy="240"/>
          </p:xfrm>
          <a:graphic>
            <a:graphicData uri="http://schemas.openxmlformats.org/presentationml/2006/ole">
              <mc:AlternateContent xmlns:mc="http://schemas.openxmlformats.org/markup-compatibility/2006">
                <mc:Choice xmlns:v="urn:schemas-microsoft-com:vml" Requires="v">
                  <p:oleObj spid="_x0000_s407612" name="" r:id="rId18" imgW="177800" imgH="228600" progId="Equation.3">
                    <p:embed/>
                  </p:oleObj>
                </mc:Choice>
                <mc:Fallback>
                  <p:oleObj name="" r:id="rId18" imgW="177800" imgH="228600" progId="Equation.3">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98" y="2928"/>
                          <a:ext cx="190"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7571" name="Object 19"/>
            <p:cNvGraphicFramePr>
              <a:graphicFrameLocks noChangeAspect="1"/>
            </p:cNvGraphicFramePr>
            <p:nvPr/>
          </p:nvGraphicFramePr>
          <p:xfrm>
            <a:off x="3532" y="3168"/>
            <a:ext cx="198" cy="240"/>
          </p:xfrm>
          <a:graphic>
            <a:graphicData uri="http://schemas.openxmlformats.org/presentationml/2006/ole">
              <mc:AlternateContent xmlns:mc="http://schemas.openxmlformats.org/markup-compatibility/2006">
                <mc:Choice xmlns:v="urn:schemas-microsoft-com:vml" Requires="v">
                  <p:oleObj spid="_x0000_s407613" name="" r:id="rId19" imgW="177800" imgH="215900" progId="Equation.3">
                    <p:embed/>
                  </p:oleObj>
                </mc:Choice>
                <mc:Fallback>
                  <p:oleObj name="" r:id="rId19" imgW="177800" imgH="215900" progId="Equation.3">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32" y="3168"/>
                          <a:ext cx="19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7572" name="Object 20"/>
            <p:cNvGraphicFramePr>
              <a:graphicFrameLocks noChangeAspect="1"/>
            </p:cNvGraphicFramePr>
            <p:nvPr/>
          </p:nvGraphicFramePr>
          <p:xfrm>
            <a:off x="3751" y="3180"/>
            <a:ext cx="219" cy="240"/>
          </p:xfrm>
          <a:graphic>
            <a:graphicData uri="http://schemas.openxmlformats.org/presentationml/2006/ole">
              <mc:AlternateContent xmlns:mc="http://schemas.openxmlformats.org/markup-compatibility/2006">
                <mc:Choice xmlns:v="urn:schemas-microsoft-com:vml" Requires="v">
                  <p:oleObj spid="_x0000_s407614" name="" r:id="rId20" imgW="203200" imgH="215900" progId="Equation.3">
                    <p:embed/>
                  </p:oleObj>
                </mc:Choice>
                <mc:Fallback>
                  <p:oleObj name="" r:id="rId20" imgW="203200" imgH="215900" progId="Equation.3">
                    <p:embed/>
                    <p:pic>
                      <p:nvPicPr>
                        <p:cNvPr id="0" name="Object 2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51" y="3180"/>
                          <a:ext cx="219"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7573" name="Object 21"/>
            <p:cNvGraphicFramePr>
              <a:graphicFrameLocks noChangeAspect="1"/>
            </p:cNvGraphicFramePr>
            <p:nvPr/>
          </p:nvGraphicFramePr>
          <p:xfrm>
            <a:off x="4330" y="3192"/>
            <a:ext cx="230" cy="240"/>
          </p:xfrm>
          <a:graphic>
            <a:graphicData uri="http://schemas.openxmlformats.org/presentationml/2006/ole">
              <mc:AlternateContent xmlns:mc="http://schemas.openxmlformats.org/markup-compatibility/2006">
                <mc:Choice xmlns:v="urn:schemas-microsoft-com:vml" Requires="v">
                  <p:oleObj spid="_x0000_s407615" name="" r:id="rId21" imgW="215900" imgH="228600" progId="Equation.3">
                    <p:embed/>
                  </p:oleObj>
                </mc:Choice>
                <mc:Fallback>
                  <p:oleObj name="" r:id="rId21" imgW="215900" imgH="228600" progId="Equation.3">
                    <p:embed/>
                    <p:pic>
                      <p:nvPicPr>
                        <p:cNvPr id="0" name="Object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30" y="3192"/>
                          <a:ext cx="230"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7555"/>
                                        </p:tgtEl>
                                        <p:attrNameLst>
                                          <p:attrName>style.visibility</p:attrName>
                                        </p:attrNameLst>
                                      </p:cBhvr>
                                      <p:to>
                                        <p:strVal val="visible"/>
                                      </p:to>
                                    </p:set>
                                    <p:animEffect transition="in" filter="blinds(horizontal)">
                                      <p:cBhvr>
                                        <p:cTn id="7" dur="500"/>
                                        <p:tgtEl>
                                          <p:spTgt spid="40755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07556"/>
                                        </p:tgtEl>
                                        <p:attrNameLst>
                                          <p:attrName>style.visibility</p:attrName>
                                        </p:attrNameLst>
                                      </p:cBhvr>
                                      <p:to>
                                        <p:strVal val="visible"/>
                                      </p:to>
                                    </p:set>
                                    <p:animEffect transition="in" filter="blinds(horizontal)">
                                      <p:cBhvr>
                                        <p:cTn id="12" dur="500"/>
                                        <p:tgtEl>
                                          <p:spTgt spid="40755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07567"/>
                                        </p:tgtEl>
                                        <p:attrNameLst>
                                          <p:attrName>style.visibility</p:attrName>
                                        </p:attrNameLst>
                                      </p:cBhvr>
                                      <p:to>
                                        <p:strVal val="visible"/>
                                      </p:to>
                                    </p:set>
                                    <p:animEffect transition="in" filter="blinds(horizontal)">
                                      <p:cBhvr>
                                        <p:cTn id="17" dur="500"/>
                                        <p:tgtEl>
                                          <p:spTgt spid="4075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7555"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fld id="{22F2C453-0CE0-46E0-B0BB-CB538983C74F}" type="slidenum">
              <a:rPr lang="en-US" altLang="zh-CN"/>
            </a:fld>
            <a:endParaRPr lang="en-US" altLang="zh-CN"/>
          </a:p>
        </p:txBody>
      </p:sp>
      <p:sp>
        <p:nvSpPr>
          <p:cNvPr id="408578" name="Rectangle 2"/>
          <p:cNvSpPr>
            <a:spLocks noGrp="1" noChangeArrowheads="1"/>
          </p:cNvSpPr>
          <p:nvPr>
            <p:ph type="title"/>
          </p:nvPr>
        </p:nvSpPr>
        <p:spPr>
          <a:xfrm>
            <a:off x="938213" y="433388"/>
            <a:ext cx="6580187" cy="863600"/>
          </a:xfrm>
        </p:spPr>
        <p:txBody>
          <a:bodyPr/>
          <a:lstStyle/>
          <a:p>
            <a:r>
              <a:rPr lang="en-US" altLang="zh-CN" sz="4300">
                <a:latin typeface="黑体" panose="02010609060101010101" pitchFamily="2" charset="-122"/>
                <a:ea typeface="黑体" panose="02010609060101010101" pitchFamily="2" charset="-122"/>
              </a:rPr>
              <a:t>Cook</a:t>
            </a:r>
            <a:r>
              <a:rPr lang="zh-CN" altLang="en-US" sz="4300">
                <a:latin typeface="黑体" panose="02010609060101010101" pitchFamily="2" charset="-122"/>
                <a:ea typeface="黑体" panose="02010609060101010101" pitchFamily="2" charset="-122"/>
              </a:rPr>
              <a:t>定理的重要意义</a:t>
            </a:r>
            <a:endParaRPr lang="zh-CN" altLang="en-US" sz="4300">
              <a:latin typeface="黑体" panose="02010609060101010101" pitchFamily="2" charset="-122"/>
              <a:ea typeface="黑体" panose="02010609060101010101" pitchFamily="2" charset="-122"/>
            </a:endParaRPr>
          </a:p>
        </p:txBody>
      </p:sp>
      <p:sp>
        <p:nvSpPr>
          <p:cNvPr id="408579" name="Rectangle 3"/>
          <p:cNvSpPr>
            <a:spLocks noChangeArrowheads="1"/>
          </p:cNvSpPr>
          <p:nvPr/>
        </p:nvSpPr>
        <p:spPr bwMode="auto">
          <a:xfrm>
            <a:off x="76200" y="1295400"/>
            <a:ext cx="8991600" cy="213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indent="269875" algn="just">
              <a:lnSpc>
                <a:spcPct val="140000"/>
              </a:lnSpc>
            </a:pPr>
            <a:r>
              <a:rPr kumimoji="1" lang="zh-CN" altLang="en-US" sz="2400" b="1" dirty="0">
                <a:latin typeface="宋体" panose="02010600030101010101" pitchFamily="2" charset="-122"/>
              </a:rPr>
              <a:t>  </a:t>
            </a:r>
            <a:r>
              <a:rPr kumimoji="1" lang="en-US" altLang="zh-CN" sz="2400" b="1" dirty="0">
                <a:latin typeface="宋体" panose="02010600030101010101" pitchFamily="2" charset="-122"/>
              </a:rPr>
              <a:t>Cook</a:t>
            </a:r>
            <a:r>
              <a:rPr kumimoji="1" lang="zh-CN" altLang="en-US" sz="2400" b="1" dirty="0">
                <a:latin typeface="宋体" panose="02010600030101010101" pitchFamily="2" charset="-122"/>
              </a:rPr>
              <a:t>定理是</a:t>
            </a:r>
            <a:r>
              <a:rPr kumimoji="1" lang="en-US" altLang="zh-CN" sz="2400" b="1" dirty="0">
                <a:latin typeface="宋体" panose="02010600030101010101" pitchFamily="2" charset="-122"/>
              </a:rPr>
              <a:t>NP</a:t>
            </a:r>
            <a:r>
              <a:rPr kumimoji="1" lang="zh-CN" altLang="en-US" sz="2400" b="1" dirty="0">
                <a:latin typeface="宋体" panose="02010600030101010101" pitchFamily="2" charset="-122"/>
              </a:rPr>
              <a:t>完全理论中非常重要得一个定理，这是因为：</a:t>
            </a:r>
            <a:endParaRPr kumimoji="1" lang="zh-CN" altLang="en-US" sz="2400" b="1" dirty="0">
              <a:latin typeface="宋体" panose="02010600030101010101" pitchFamily="2" charset="-122"/>
            </a:endParaRPr>
          </a:p>
          <a:p>
            <a:pPr indent="269875" algn="just" eaLnBrk="0" hangingPunct="0">
              <a:lnSpc>
                <a:spcPct val="140000"/>
              </a:lnSpc>
            </a:pPr>
            <a:r>
              <a:rPr kumimoji="1" lang="zh-CN" altLang="en-US" sz="2400" b="1" dirty="0">
                <a:latin typeface="宋体" panose="02010600030101010101" pitchFamily="2" charset="-122"/>
              </a:rPr>
              <a:t>  首先，它以实例说明</a:t>
            </a:r>
            <a:r>
              <a:rPr kumimoji="1" lang="en-US" altLang="zh-CN" sz="2400" b="1" dirty="0">
                <a:solidFill>
                  <a:srgbClr val="FF0000"/>
                </a:solidFill>
                <a:latin typeface="宋体" panose="02010600030101010101" pitchFamily="2" charset="-122"/>
              </a:rPr>
              <a:t>NP</a:t>
            </a:r>
            <a:r>
              <a:rPr kumimoji="1" lang="zh-CN" altLang="en-US" sz="2400" b="1" dirty="0">
                <a:solidFill>
                  <a:srgbClr val="FF0000"/>
                </a:solidFill>
                <a:latin typeface="宋体" panose="02010600030101010101" pitchFamily="2" charset="-122"/>
              </a:rPr>
              <a:t>完全问题是存在的</a:t>
            </a:r>
            <a:r>
              <a:rPr kumimoji="1" lang="zh-CN" altLang="en-US" sz="2400" b="1" dirty="0">
                <a:latin typeface="宋体" panose="02010600030101010101" pitchFamily="2" charset="-122"/>
              </a:rPr>
              <a:t>；</a:t>
            </a:r>
            <a:endParaRPr kumimoji="1" lang="zh-CN" altLang="en-US" sz="2400" b="1" dirty="0">
              <a:latin typeface="宋体" panose="02010600030101010101" pitchFamily="2" charset="-122"/>
            </a:endParaRPr>
          </a:p>
          <a:p>
            <a:pPr indent="269875" algn="just" eaLnBrk="0" hangingPunct="0">
              <a:lnSpc>
                <a:spcPct val="140000"/>
              </a:lnSpc>
            </a:pPr>
            <a:r>
              <a:rPr kumimoji="1" lang="zh-CN" altLang="en-US" sz="2400" b="1" dirty="0">
                <a:latin typeface="宋体" panose="02010600030101010101" pitchFamily="2" charset="-122"/>
              </a:rPr>
              <a:t>  其次，它</a:t>
            </a:r>
            <a:r>
              <a:rPr kumimoji="1" lang="zh-CN" altLang="en-US" sz="2400" b="1" dirty="0">
                <a:solidFill>
                  <a:srgbClr val="FF0000"/>
                </a:solidFill>
                <a:latin typeface="宋体" panose="02010600030101010101" pitchFamily="2" charset="-122"/>
              </a:rPr>
              <a:t>给出了判断某一其它</a:t>
            </a:r>
            <a:r>
              <a:rPr kumimoji="1" lang="en-US" altLang="zh-CN" sz="2400" b="1" dirty="0">
                <a:solidFill>
                  <a:srgbClr val="FF0000"/>
                </a:solidFill>
                <a:latin typeface="宋体" panose="02010600030101010101" pitchFamily="2" charset="-122"/>
              </a:rPr>
              <a:t>NP</a:t>
            </a:r>
            <a:r>
              <a:rPr kumimoji="1" lang="zh-CN" altLang="en-US" sz="2400" b="1" dirty="0">
                <a:solidFill>
                  <a:srgbClr val="FF0000"/>
                </a:solidFill>
                <a:latin typeface="宋体" panose="02010600030101010101" pitchFamily="2" charset="-122"/>
              </a:rPr>
              <a:t>问题</a:t>
            </a:r>
            <a:r>
              <a:rPr kumimoji="1" lang="zh-CN" altLang="en-US" sz="2400" b="1" dirty="0">
                <a:latin typeface="宋体" panose="02010600030101010101" pitchFamily="2" charset="-122"/>
              </a:rPr>
              <a:t>（更确切地说是表现为这一类问题的语言）</a:t>
            </a:r>
            <a:r>
              <a:rPr kumimoji="1" lang="en-US" altLang="zh-CN" sz="2400" b="1" dirty="0">
                <a:solidFill>
                  <a:srgbClr val="FF0000"/>
                </a:solidFill>
                <a:latin typeface="宋体" panose="02010600030101010101" pitchFamily="2" charset="-122"/>
              </a:rPr>
              <a:t>L</a:t>
            </a:r>
            <a:r>
              <a:rPr kumimoji="1" lang="en-US" altLang="zh-CN" sz="2400" b="1" baseline="-30000" dirty="0">
                <a:solidFill>
                  <a:srgbClr val="FF0000"/>
                </a:solidFill>
                <a:latin typeface="宋体" panose="02010600030101010101" pitchFamily="2" charset="-122"/>
              </a:rPr>
              <a:t>0</a:t>
            </a:r>
            <a:r>
              <a:rPr kumimoji="1" lang="zh-CN" altLang="en-US" sz="2400" b="1" dirty="0">
                <a:solidFill>
                  <a:srgbClr val="FF0000"/>
                </a:solidFill>
                <a:latin typeface="宋体" panose="02010600030101010101" pitchFamily="2" charset="-122"/>
              </a:rPr>
              <a:t>是否是</a:t>
            </a:r>
            <a:r>
              <a:rPr kumimoji="1" lang="en-US" altLang="zh-CN" sz="2400" b="1" dirty="0">
                <a:solidFill>
                  <a:srgbClr val="FF0000"/>
                </a:solidFill>
                <a:latin typeface="宋体" panose="02010600030101010101" pitchFamily="2" charset="-122"/>
              </a:rPr>
              <a:t>NP</a:t>
            </a:r>
            <a:r>
              <a:rPr kumimoji="1" lang="zh-CN" altLang="en-US" sz="2400" b="1" dirty="0">
                <a:solidFill>
                  <a:srgbClr val="FF0000"/>
                </a:solidFill>
                <a:latin typeface="宋体" panose="02010600030101010101" pitchFamily="2" charset="-122"/>
              </a:rPr>
              <a:t>完全的捷径</a:t>
            </a:r>
            <a:r>
              <a:rPr kumimoji="1" lang="zh-CN" altLang="en-US" sz="2400" b="1" dirty="0">
                <a:latin typeface="宋体" panose="02010600030101010101" pitchFamily="2" charset="-122"/>
              </a:rPr>
              <a:t>，即只须证明：</a:t>
            </a:r>
            <a:endParaRPr kumimoji="1" lang="zh-CN" altLang="en-US" sz="2400" b="1" dirty="0">
              <a:latin typeface="宋体" panose="02010600030101010101" pitchFamily="2" charset="-122"/>
            </a:endParaRPr>
          </a:p>
        </p:txBody>
      </p:sp>
      <p:graphicFrame>
        <p:nvGraphicFramePr>
          <p:cNvPr id="408580" name="Object 4"/>
          <p:cNvGraphicFramePr>
            <a:graphicFrameLocks noChangeAspect="1"/>
          </p:cNvGraphicFramePr>
          <p:nvPr/>
        </p:nvGraphicFramePr>
        <p:xfrm>
          <a:off x="3708400" y="3716338"/>
          <a:ext cx="1725613" cy="542925"/>
        </p:xfrm>
        <a:graphic>
          <a:graphicData uri="http://schemas.openxmlformats.org/presentationml/2006/ole">
            <mc:AlternateContent xmlns:mc="http://schemas.openxmlformats.org/markup-compatibility/2006">
              <mc:Choice xmlns:v="urn:schemas-microsoft-com:vml" Requires="v">
                <p:oleObj spid="_x0000_s408591" name="公式" r:id="rId1" imgW="761365" imgH="241300" progId="Equation.3">
                  <p:embed/>
                </p:oleObj>
              </mc:Choice>
              <mc:Fallback>
                <p:oleObj name="公式" r:id="rId1" imgW="761365" imgH="2413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8400" y="3716338"/>
                        <a:ext cx="1725613" cy="54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8581" name="Rectangle 5"/>
          <p:cNvSpPr>
            <a:spLocks noChangeArrowheads="1"/>
          </p:cNvSpPr>
          <p:nvPr/>
        </p:nvSpPr>
        <p:spPr bwMode="auto">
          <a:xfrm>
            <a:off x="76200" y="4371975"/>
            <a:ext cx="8991600"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pPr>
            <a:r>
              <a:rPr kumimoji="1" lang="zh-CN" altLang="en-US" sz="2400" b="1" dirty="0">
                <a:latin typeface="宋体" panose="02010600030101010101" pitchFamily="2" charset="-122"/>
              </a:rPr>
              <a:t>这是因为：所有</a:t>
            </a:r>
            <a:r>
              <a:rPr kumimoji="1" lang="en-US" altLang="zh-CN" sz="2400" b="1" dirty="0">
                <a:latin typeface="宋体" panose="02010600030101010101" pitchFamily="2" charset="-122"/>
              </a:rPr>
              <a:t>L∈NP</a:t>
            </a:r>
            <a:r>
              <a:rPr kumimoji="1" lang="zh-CN" altLang="en-US" sz="2400" b="1" dirty="0">
                <a:latin typeface="宋体" panose="02010600030101010101" pitchFamily="2" charset="-122"/>
              </a:rPr>
              <a:t>，          ，再由上式和多项式变换的传递性可得： </a:t>
            </a:r>
            <a:endParaRPr kumimoji="1" lang="zh-CN" altLang="en-US" sz="2400" b="1" dirty="0">
              <a:latin typeface="宋体" panose="02010600030101010101" pitchFamily="2" charset="-122"/>
            </a:endParaRPr>
          </a:p>
        </p:txBody>
      </p:sp>
      <p:graphicFrame>
        <p:nvGraphicFramePr>
          <p:cNvPr id="408582" name="Object 6"/>
          <p:cNvGraphicFramePr>
            <a:graphicFrameLocks noChangeAspect="1"/>
          </p:cNvGraphicFramePr>
          <p:nvPr/>
        </p:nvGraphicFramePr>
        <p:xfrm>
          <a:off x="3109913" y="4497388"/>
          <a:ext cx="1601787" cy="515937"/>
        </p:xfrm>
        <a:graphic>
          <a:graphicData uri="http://schemas.openxmlformats.org/presentationml/2006/ole">
            <mc:AlternateContent xmlns:mc="http://schemas.openxmlformats.org/markup-compatibility/2006">
              <mc:Choice xmlns:v="urn:schemas-microsoft-com:vml" Requires="v">
                <p:oleObj spid="_x0000_s408592" name="公式" r:id="rId3" imgW="711200" imgH="228600" progId="Equation.3">
                  <p:embed/>
                </p:oleObj>
              </mc:Choice>
              <mc:Fallback>
                <p:oleObj name="公式" r:id="rId3" imgW="711200" imgH="2286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9913" y="4497388"/>
                        <a:ext cx="1601787" cy="515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8583" name="Object 7"/>
          <p:cNvGraphicFramePr>
            <a:graphicFrameLocks noChangeAspect="1"/>
          </p:cNvGraphicFramePr>
          <p:nvPr/>
        </p:nvGraphicFramePr>
        <p:xfrm>
          <a:off x="3708400" y="5300663"/>
          <a:ext cx="1295400" cy="542925"/>
        </p:xfrm>
        <a:graphic>
          <a:graphicData uri="http://schemas.openxmlformats.org/presentationml/2006/ole">
            <mc:AlternateContent xmlns:mc="http://schemas.openxmlformats.org/markup-compatibility/2006">
              <mc:Choice xmlns:v="urn:schemas-microsoft-com:vml" Requires="v">
                <p:oleObj spid="_x0000_s408593" name="公式" r:id="rId5" imgW="571500" imgH="241300" progId="Equation.3">
                  <p:embed/>
                </p:oleObj>
              </mc:Choice>
              <mc:Fallback>
                <p:oleObj name="公式" r:id="rId5" imgW="571500" imgH="2413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08400" y="5300663"/>
                        <a:ext cx="1295400" cy="54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8584" name="Rectangle 8"/>
          <p:cNvSpPr>
            <a:spLocks noChangeArrowheads="1"/>
          </p:cNvSpPr>
          <p:nvPr/>
        </p:nvSpPr>
        <p:spPr bwMode="auto">
          <a:xfrm>
            <a:off x="76200" y="5943600"/>
            <a:ext cx="906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latin typeface="宋体" panose="02010600030101010101" pitchFamily="2" charset="-122"/>
              </a:rPr>
              <a:t>一旦证明了</a:t>
            </a:r>
            <a:r>
              <a:rPr kumimoji="1" lang="en-US" altLang="zh-CN" sz="2400" b="1">
                <a:latin typeface="宋体" panose="02010600030101010101" pitchFamily="2" charset="-122"/>
              </a:rPr>
              <a:t>L</a:t>
            </a:r>
            <a:r>
              <a:rPr kumimoji="1" lang="en-US" altLang="zh-CN" sz="2400" b="1" baseline="-30000">
                <a:latin typeface="宋体" panose="02010600030101010101" pitchFamily="2" charset="-122"/>
              </a:rPr>
              <a:t>0</a:t>
            </a:r>
            <a:r>
              <a:rPr kumimoji="1" lang="zh-CN" altLang="en-US" sz="2400" b="1">
                <a:latin typeface="宋体" panose="02010600030101010101" pitchFamily="2" charset="-122"/>
              </a:rPr>
              <a:t>是</a:t>
            </a:r>
            <a:r>
              <a:rPr kumimoji="1" lang="en-US" altLang="zh-CN" sz="2400" b="1">
                <a:latin typeface="宋体" panose="02010600030101010101" pitchFamily="2" charset="-122"/>
              </a:rPr>
              <a:t>NP</a:t>
            </a:r>
            <a:r>
              <a:rPr kumimoji="1" lang="zh-CN" altLang="en-US" sz="2400" b="1">
                <a:latin typeface="宋体" panose="02010600030101010101" pitchFamily="2" charset="-122"/>
              </a:rPr>
              <a:t>完全的，则它又可发挥</a:t>
            </a:r>
            <a:r>
              <a:rPr kumimoji="1" lang="en-US" altLang="zh-CN" sz="2400" b="1">
                <a:latin typeface="宋体" panose="02010600030101010101" pitchFamily="2" charset="-122"/>
              </a:rPr>
              <a:t>SAT</a:t>
            </a:r>
            <a:r>
              <a:rPr kumimoji="1" lang="zh-CN" altLang="en-US" sz="2400" b="1">
                <a:latin typeface="宋体" panose="02010600030101010101" pitchFamily="2" charset="-122"/>
              </a:rPr>
              <a:t>同样的作用。 </a:t>
            </a:r>
            <a:endParaRPr kumimoji="1" lang="zh-CN" altLang="en-US" sz="2400" b="1">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08578"/>
                                        </p:tgtEl>
                                        <p:attrNameLst>
                                          <p:attrName>style.visibility</p:attrName>
                                        </p:attrNameLst>
                                      </p:cBhvr>
                                      <p:to>
                                        <p:strVal val="visible"/>
                                      </p:to>
                                    </p:set>
                                    <p:anim calcmode="lin" valueType="num">
                                      <p:cBhvr additive="base">
                                        <p:cTn id="7" dur="500" fill="hold"/>
                                        <p:tgtEl>
                                          <p:spTgt spid="408578"/>
                                        </p:tgtEl>
                                        <p:attrNameLst>
                                          <p:attrName>ppt_x</p:attrName>
                                        </p:attrNameLst>
                                      </p:cBhvr>
                                      <p:tavLst>
                                        <p:tav tm="0">
                                          <p:val>
                                            <p:strVal val="#ppt_x"/>
                                          </p:val>
                                        </p:tav>
                                        <p:tav tm="100000">
                                          <p:val>
                                            <p:strVal val="#ppt_x"/>
                                          </p:val>
                                        </p:tav>
                                      </p:tavLst>
                                    </p:anim>
                                    <p:anim calcmode="lin" valueType="num">
                                      <p:cBhvr additive="base">
                                        <p:cTn id="8" dur="500" fill="hold"/>
                                        <p:tgtEl>
                                          <p:spTgt spid="40857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08579">
                                            <p:txEl>
                                              <p:pRg st="0" end="0"/>
                                            </p:txEl>
                                          </p:spTgt>
                                        </p:tgtEl>
                                        <p:attrNameLst>
                                          <p:attrName>style.visibility</p:attrName>
                                        </p:attrNameLst>
                                      </p:cBhvr>
                                      <p:to>
                                        <p:strVal val="visible"/>
                                      </p:to>
                                    </p:set>
                                    <p:anim calcmode="lin" valueType="num">
                                      <p:cBhvr additive="base">
                                        <p:cTn id="13" dur="500" fill="hold"/>
                                        <p:tgtEl>
                                          <p:spTgt spid="408579">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085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08579">
                                            <p:txEl>
                                              <p:pRg st="1" end="1"/>
                                            </p:txEl>
                                          </p:spTgt>
                                        </p:tgtEl>
                                        <p:attrNameLst>
                                          <p:attrName>style.visibility</p:attrName>
                                        </p:attrNameLst>
                                      </p:cBhvr>
                                      <p:to>
                                        <p:strVal val="visible"/>
                                      </p:to>
                                    </p:set>
                                    <p:anim calcmode="lin" valueType="num">
                                      <p:cBhvr additive="base">
                                        <p:cTn id="19" dur="500" fill="hold"/>
                                        <p:tgtEl>
                                          <p:spTgt spid="408579">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0857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08579">
                                            <p:txEl>
                                              <p:pRg st="2" end="2"/>
                                            </p:txEl>
                                          </p:spTgt>
                                        </p:tgtEl>
                                        <p:attrNameLst>
                                          <p:attrName>style.visibility</p:attrName>
                                        </p:attrNameLst>
                                      </p:cBhvr>
                                      <p:to>
                                        <p:strVal val="visible"/>
                                      </p:to>
                                    </p:set>
                                    <p:anim calcmode="lin" valueType="num">
                                      <p:cBhvr additive="base">
                                        <p:cTn id="25" dur="500" fill="hold"/>
                                        <p:tgtEl>
                                          <p:spTgt spid="408579">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08579">
                                            <p:txEl>
                                              <p:pRg st="2" end="2"/>
                                            </p:txEl>
                                          </p:spTgt>
                                        </p:tgtEl>
                                        <p:attrNameLst>
                                          <p:attrName>ppt_y</p:attrName>
                                        </p:attrNameLst>
                                      </p:cBhvr>
                                      <p:tavLst>
                                        <p:tav tm="0">
                                          <p:val>
                                            <p:strVal val="1+#ppt_h/2"/>
                                          </p:val>
                                        </p:tav>
                                        <p:tav tm="100000">
                                          <p:val>
                                            <p:strVal val="#ppt_y"/>
                                          </p:val>
                                        </p:tav>
                                      </p:tavLst>
                                    </p:anim>
                                  </p:childTnLst>
                                </p:cTn>
                              </p:par>
                            </p:childTnLst>
                          </p:cTn>
                        </p:par>
                        <p:par>
                          <p:cTn id="27" fill="hold">
                            <p:stCondLst>
                              <p:cond delay="500"/>
                            </p:stCondLst>
                            <p:childTnLst>
                              <p:par>
                                <p:cTn id="28" presetID="2" presetClass="entr" presetSubtype="4" fill="hold" nodeType="afterEffect">
                                  <p:stCondLst>
                                    <p:cond delay="0"/>
                                  </p:stCondLst>
                                  <p:childTnLst>
                                    <p:set>
                                      <p:cBhvr>
                                        <p:cTn id="29" dur="1" fill="hold">
                                          <p:stCondLst>
                                            <p:cond delay="0"/>
                                          </p:stCondLst>
                                        </p:cTn>
                                        <p:tgtEl>
                                          <p:spTgt spid="408580"/>
                                        </p:tgtEl>
                                        <p:attrNameLst>
                                          <p:attrName>style.visibility</p:attrName>
                                        </p:attrNameLst>
                                      </p:cBhvr>
                                      <p:to>
                                        <p:strVal val="visible"/>
                                      </p:to>
                                    </p:set>
                                    <p:anim calcmode="lin" valueType="num">
                                      <p:cBhvr additive="base">
                                        <p:cTn id="30" dur="500" fill="hold"/>
                                        <p:tgtEl>
                                          <p:spTgt spid="408580"/>
                                        </p:tgtEl>
                                        <p:attrNameLst>
                                          <p:attrName>ppt_x</p:attrName>
                                        </p:attrNameLst>
                                      </p:cBhvr>
                                      <p:tavLst>
                                        <p:tav tm="0">
                                          <p:val>
                                            <p:strVal val="#ppt_x"/>
                                          </p:val>
                                        </p:tav>
                                        <p:tav tm="100000">
                                          <p:val>
                                            <p:strVal val="#ppt_x"/>
                                          </p:val>
                                        </p:tav>
                                      </p:tavLst>
                                    </p:anim>
                                    <p:anim calcmode="lin" valueType="num">
                                      <p:cBhvr additive="base">
                                        <p:cTn id="31" dur="500" fill="hold"/>
                                        <p:tgtEl>
                                          <p:spTgt spid="408580"/>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408581"/>
                                        </p:tgtEl>
                                        <p:attrNameLst>
                                          <p:attrName>style.visibility</p:attrName>
                                        </p:attrNameLst>
                                      </p:cBhvr>
                                      <p:to>
                                        <p:strVal val="visible"/>
                                      </p:to>
                                    </p:set>
                                    <p:anim calcmode="lin" valueType="num">
                                      <p:cBhvr additive="base">
                                        <p:cTn id="36" dur="500" fill="hold"/>
                                        <p:tgtEl>
                                          <p:spTgt spid="408581"/>
                                        </p:tgtEl>
                                        <p:attrNameLst>
                                          <p:attrName>ppt_x</p:attrName>
                                        </p:attrNameLst>
                                      </p:cBhvr>
                                      <p:tavLst>
                                        <p:tav tm="0">
                                          <p:val>
                                            <p:strVal val="#ppt_x"/>
                                          </p:val>
                                        </p:tav>
                                        <p:tav tm="100000">
                                          <p:val>
                                            <p:strVal val="#ppt_x"/>
                                          </p:val>
                                        </p:tav>
                                      </p:tavLst>
                                    </p:anim>
                                    <p:anim calcmode="lin" valueType="num">
                                      <p:cBhvr additive="base">
                                        <p:cTn id="37" dur="500" fill="hold"/>
                                        <p:tgtEl>
                                          <p:spTgt spid="408581"/>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408582"/>
                                        </p:tgtEl>
                                        <p:attrNameLst>
                                          <p:attrName>style.visibility</p:attrName>
                                        </p:attrNameLst>
                                      </p:cBhvr>
                                      <p:to>
                                        <p:strVal val="visible"/>
                                      </p:to>
                                    </p:set>
                                    <p:anim calcmode="lin" valueType="num">
                                      <p:cBhvr additive="base">
                                        <p:cTn id="40" dur="500" fill="hold"/>
                                        <p:tgtEl>
                                          <p:spTgt spid="408582"/>
                                        </p:tgtEl>
                                        <p:attrNameLst>
                                          <p:attrName>ppt_x</p:attrName>
                                        </p:attrNameLst>
                                      </p:cBhvr>
                                      <p:tavLst>
                                        <p:tav tm="0">
                                          <p:val>
                                            <p:strVal val="#ppt_x"/>
                                          </p:val>
                                        </p:tav>
                                        <p:tav tm="100000">
                                          <p:val>
                                            <p:strVal val="#ppt_x"/>
                                          </p:val>
                                        </p:tav>
                                      </p:tavLst>
                                    </p:anim>
                                    <p:anim calcmode="lin" valueType="num">
                                      <p:cBhvr additive="base">
                                        <p:cTn id="41" dur="500" fill="hold"/>
                                        <p:tgtEl>
                                          <p:spTgt spid="408582"/>
                                        </p:tgtEl>
                                        <p:attrNameLst>
                                          <p:attrName>ppt_y</p:attrName>
                                        </p:attrNameLst>
                                      </p:cBhvr>
                                      <p:tavLst>
                                        <p:tav tm="0">
                                          <p:val>
                                            <p:strVal val="1+#ppt_h/2"/>
                                          </p:val>
                                        </p:tav>
                                        <p:tav tm="100000">
                                          <p:val>
                                            <p:strVal val="#ppt_y"/>
                                          </p:val>
                                        </p:tav>
                                      </p:tavLst>
                                    </p:anim>
                                  </p:childTnLst>
                                </p:cTn>
                              </p:par>
                            </p:childTnLst>
                          </p:cTn>
                        </p:par>
                        <p:par>
                          <p:cTn id="42" fill="hold">
                            <p:stCondLst>
                              <p:cond delay="500"/>
                            </p:stCondLst>
                            <p:childTnLst>
                              <p:par>
                                <p:cTn id="43" presetID="2" presetClass="entr" presetSubtype="4" fill="hold" nodeType="afterEffect">
                                  <p:stCondLst>
                                    <p:cond delay="0"/>
                                  </p:stCondLst>
                                  <p:childTnLst>
                                    <p:set>
                                      <p:cBhvr>
                                        <p:cTn id="44" dur="1" fill="hold">
                                          <p:stCondLst>
                                            <p:cond delay="0"/>
                                          </p:stCondLst>
                                        </p:cTn>
                                        <p:tgtEl>
                                          <p:spTgt spid="408583"/>
                                        </p:tgtEl>
                                        <p:attrNameLst>
                                          <p:attrName>style.visibility</p:attrName>
                                        </p:attrNameLst>
                                      </p:cBhvr>
                                      <p:to>
                                        <p:strVal val="visible"/>
                                      </p:to>
                                    </p:set>
                                    <p:anim calcmode="lin" valueType="num">
                                      <p:cBhvr additive="base">
                                        <p:cTn id="45" dur="500" fill="hold"/>
                                        <p:tgtEl>
                                          <p:spTgt spid="408583"/>
                                        </p:tgtEl>
                                        <p:attrNameLst>
                                          <p:attrName>ppt_x</p:attrName>
                                        </p:attrNameLst>
                                      </p:cBhvr>
                                      <p:tavLst>
                                        <p:tav tm="0">
                                          <p:val>
                                            <p:strVal val="#ppt_x"/>
                                          </p:val>
                                        </p:tav>
                                        <p:tav tm="100000">
                                          <p:val>
                                            <p:strVal val="#ppt_x"/>
                                          </p:val>
                                        </p:tav>
                                      </p:tavLst>
                                    </p:anim>
                                    <p:anim calcmode="lin" valueType="num">
                                      <p:cBhvr additive="base">
                                        <p:cTn id="46" dur="500" fill="hold"/>
                                        <p:tgtEl>
                                          <p:spTgt spid="408583"/>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408584"/>
                                        </p:tgtEl>
                                        <p:attrNameLst>
                                          <p:attrName>style.visibility</p:attrName>
                                        </p:attrNameLst>
                                      </p:cBhvr>
                                      <p:to>
                                        <p:strVal val="visible"/>
                                      </p:to>
                                    </p:set>
                                    <p:anim calcmode="lin" valueType="num">
                                      <p:cBhvr additive="base">
                                        <p:cTn id="51" dur="500" fill="hold"/>
                                        <p:tgtEl>
                                          <p:spTgt spid="408584"/>
                                        </p:tgtEl>
                                        <p:attrNameLst>
                                          <p:attrName>ppt_x</p:attrName>
                                        </p:attrNameLst>
                                      </p:cBhvr>
                                      <p:tavLst>
                                        <p:tav tm="0">
                                          <p:val>
                                            <p:strVal val="#ppt_x"/>
                                          </p:val>
                                        </p:tav>
                                        <p:tav tm="100000">
                                          <p:val>
                                            <p:strVal val="#ppt_x"/>
                                          </p:val>
                                        </p:tav>
                                      </p:tavLst>
                                    </p:anim>
                                    <p:anim calcmode="lin" valueType="num">
                                      <p:cBhvr additive="base">
                                        <p:cTn id="52" dur="500" fill="hold"/>
                                        <p:tgtEl>
                                          <p:spTgt spid="40858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8578" grpId="0" bldLvl="0" animBg="1"/>
      <p:bldP spid="408579" grpId="0" build="p"/>
      <p:bldP spid="408581" grpId="0"/>
      <p:bldP spid="408584" grpId="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48CAB423-128C-4A59-96E5-C269A14DA94C}" type="slidenum">
              <a:rPr lang="en-US" altLang="zh-CN"/>
            </a:fld>
            <a:endParaRPr lang="en-US" altLang="zh-CN"/>
          </a:p>
        </p:txBody>
      </p:sp>
      <p:sp>
        <p:nvSpPr>
          <p:cNvPr id="409602" name="Rectangle 2"/>
          <p:cNvSpPr>
            <a:spLocks noGrp="1" noChangeArrowheads="1"/>
          </p:cNvSpPr>
          <p:nvPr>
            <p:ph type="title"/>
          </p:nvPr>
        </p:nvSpPr>
        <p:spPr>
          <a:xfrm>
            <a:off x="457200" y="122238"/>
            <a:ext cx="7543800" cy="1036637"/>
          </a:xfrm>
        </p:spPr>
        <p:txBody>
          <a:bodyPr/>
          <a:lstStyle/>
          <a:p>
            <a:r>
              <a:rPr lang="en-US" altLang="zh-CN" sz="3000"/>
              <a:t>8.4	 </a:t>
            </a:r>
            <a:r>
              <a:rPr lang="zh-CN" altLang="en-US" sz="3000"/>
              <a:t>一些典型的</a:t>
            </a:r>
            <a:r>
              <a:rPr lang="en-US" altLang="zh-CN" sz="3000">
                <a:ea typeface="新宋体" panose="02010609030101010101" charset="-122"/>
              </a:rPr>
              <a:t>NP</a:t>
            </a:r>
            <a:r>
              <a:rPr lang="zh-CN" altLang="en-US" sz="3000">
                <a:ea typeface="新宋体" panose="02010609030101010101" charset="-122"/>
              </a:rPr>
              <a:t>完全问题</a:t>
            </a:r>
            <a:endParaRPr lang="zh-CN" altLang="en-US" sz="3000">
              <a:ea typeface="新宋体" panose="02010609030101010101" charset="-122"/>
            </a:endParaRPr>
          </a:p>
        </p:txBody>
      </p:sp>
      <p:grpSp>
        <p:nvGrpSpPr>
          <p:cNvPr id="409603" name="Group 3"/>
          <p:cNvGrpSpPr/>
          <p:nvPr/>
        </p:nvGrpSpPr>
        <p:grpSpPr bwMode="auto">
          <a:xfrm>
            <a:off x="611188" y="1700213"/>
            <a:ext cx="5181600" cy="4572000"/>
            <a:chOff x="1056" y="1104"/>
            <a:chExt cx="3264" cy="2880"/>
          </a:xfrm>
        </p:grpSpPr>
        <p:pic>
          <p:nvPicPr>
            <p:cNvPr id="409604" name="Picture 4" descr="t8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56" y="1104"/>
              <a:ext cx="3264" cy="2555"/>
            </a:xfrm>
            <a:prstGeom prst="rect">
              <a:avLst/>
            </a:prstGeom>
            <a:noFill/>
            <a:extLst>
              <a:ext uri="{909E8E84-426E-40DD-AFC4-6F175D3DCCD1}">
                <a14:hiddenFill xmlns:a14="http://schemas.microsoft.com/office/drawing/2010/main">
                  <a:solidFill>
                    <a:srgbClr val="FFFFFF"/>
                  </a:solidFill>
                </a14:hiddenFill>
              </a:ext>
            </a:extLst>
          </p:spPr>
        </p:pic>
        <p:sp>
          <p:nvSpPr>
            <p:cNvPr id="409605" name="Text Box 5"/>
            <p:cNvSpPr txBox="1">
              <a:spLocks noChangeArrowheads="1"/>
            </p:cNvSpPr>
            <p:nvPr/>
          </p:nvSpPr>
          <p:spPr bwMode="auto">
            <a:xfrm>
              <a:off x="1728" y="3696"/>
              <a:ext cx="23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ctr"/>
              <a:r>
                <a:rPr lang="zh-CN" altLang="en-US" sz="2400">
                  <a:latin typeface="新宋体" panose="02010609030101010101" charset="-122"/>
                  <a:ea typeface="新宋体" panose="02010609030101010101" charset="-122"/>
                </a:rPr>
                <a:t>部分</a:t>
              </a:r>
              <a:r>
                <a:rPr lang="en-US" altLang="zh-CN" sz="2400">
                  <a:latin typeface="新宋体" panose="02010609030101010101" charset="-122"/>
                  <a:ea typeface="新宋体" panose="02010609030101010101" charset="-122"/>
                </a:rPr>
                <a:t>NP</a:t>
              </a:r>
              <a:r>
                <a:rPr lang="zh-CN" altLang="en-US" sz="2400">
                  <a:latin typeface="新宋体" panose="02010609030101010101" charset="-122"/>
                  <a:ea typeface="新宋体" panose="02010609030101010101" charset="-122"/>
                </a:rPr>
                <a:t>完全问题树</a:t>
              </a:r>
              <a:endParaRPr lang="zh-CN" altLang="en-US" sz="2400">
                <a:latin typeface="新宋体" panose="02010609030101010101" charset="-122"/>
                <a:ea typeface="新宋体" panose="02010609030101010101" charset="-122"/>
              </a:endParaRPr>
            </a:p>
          </p:txBody>
        </p:sp>
      </p:grpSp>
      <p:sp>
        <p:nvSpPr>
          <p:cNvPr id="409606" name="Text Box 6"/>
          <p:cNvSpPr txBox="1">
            <a:spLocks noChangeArrowheads="1"/>
          </p:cNvSpPr>
          <p:nvPr/>
        </p:nvSpPr>
        <p:spPr bwMode="auto">
          <a:xfrm>
            <a:off x="6156325" y="1125538"/>
            <a:ext cx="2663825" cy="5289550"/>
          </a:xfrm>
          <a:prstGeom prst="rect">
            <a:avLst/>
          </a:prstGeom>
          <a:solidFill>
            <a:srgbClr val="FFFF66"/>
          </a:solidFill>
          <a:ln w="38100">
            <a:solidFill>
              <a:srgbClr val="A5002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buClr>
                <a:schemeClr val="tx2"/>
              </a:buClr>
              <a:buSzPct val="70000"/>
              <a:buFont typeface="Wingdings" panose="05000000000000000000" pitchFamily="2" charset="2"/>
              <a:buNone/>
            </a:pPr>
            <a:r>
              <a:rPr lang="zh-CN" altLang="en-US" sz="2600" b="1">
                <a:solidFill>
                  <a:srgbClr val="0000CC"/>
                </a:solidFill>
                <a:latin typeface="新宋体" panose="02010609030101010101" charset="-122"/>
                <a:ea typeface="新宋体" panose="02010609030101010101" charset="-122"/>
              </a:rPr>
              <a:t>基于</a:t>
            </a:r>
            <a:r>
              <a:rPr lang="en-US" altLang="zh-CN" sz="2600" b="1">
                <a:solidFill>
                  <a:srgbClr val="0000CC"/>
                </a:solidFill>
                <a:latin typeface="新宋体" panose="02010609030101010101" charset="-122"/>
                <a:ea typeface="新宋体" panose="02010609030101010101" charset="-122"/>
              </a:rPr>
              <a:t>SAT</a:t>
            </a:r>
            <a:r>
              <a:rPr lang="zh-CN" altLang="en-US" sz="2600" b="1">
                <a:solidFill>
                  <a:srgbClr val="0000CC"/>
                </a:solidFill>
                <a:latin typeface="新宋体" panose="02010609030101010101" charset="-122"/>
                <a:ea typeface="新宋体" panose="02010609030101010101" charset="-122"/>
              </a:rPr>
              <a:t>，逐渐地生成一棵以</a:t>
            </a:r>
            <a:r>
              <a:rPr lang="en-US" altLang="zh-CN" sz="2600" b="1">
                <a:solidFill>
                  <a:srgbClr val="0000CC"/>
                </a:solidFill>
                <a:latin typeface="新宋体" panose="02010609030101010101" charset="-122"/>
                <a:ea typeface="新宋体" panose="02010609030101010101" charset="-122"/>
              </a:rPr>
              <a:t>SAT</a:t>
            </a:r>
            <a:r>
              <a:rPr lang="zh-CN" altLang="en-US" sz="2600" b="1">
                <a:solidFill>
                  <a:srgbClr val="0000CC"/>
                </a:solidFill>
                <a:latin typeface="新宋体" panose="02010609030101010101" charset="-122"/>
                <a:ea typeface="新宋体" panose="02010609030101010101" charset="-122"/>
              </a:rPr>
              <a:t>为树根的</a:t>
            </a:r>
            <a:r>
              <a:rPr lang="en-US" altLang="zh-CN" sz="2600" b="1">
                <a:solidFill>
                  <a:srgbClr val="0000CC"/>
                </a:solidFill>
                <a:latin typeface="新宋体" panose="02010609030101010101" charset="-122"/>
                <a:ea typeface="新宋体" panose="02010609030101010101" charset="-122"/>
              </a:rPr>
              <a:t>NP</a:t>
            </a:r>
            <a:r>
              <a:rPr lang="zh-CN" altLang="en-US" sz="2600" b="1">
                <a:solidFill>
                  <a:srgbClr val="0000CC"/>
                </a:solidFill>
                <a:latin typeface="新宋体" panose="02010609030101010101" charset="-122"/>
                <a:ea typeface="新宋体" panose="02010609030101010101" charset="-122"/>
              </a:rPr>
              <a:t>完全问题树，其中每个节点代表一个</a:t>
            </a:r>
            <a:r>
              <a:rPr lang="en-US" altLang="zh-CN" sz="2600" b="1">
                <a:solidFill>
                  <a:srgbClr val="0000CC"/>
                </a:solidFill>
                <a:latin typeface="新宋体" panose="02010609030101010101" charset="-122"/>
                <a:ea typeface="新宋体" panose="02010609030101010101" charset="-122"/>
              </a:rPr>
              <a:t>NP</a:t>
            </a:r>
            <a:r>
              <a:rPr lang="zh-CN" altLang="en-US" sz="2600" b="1">
                <a:solidFill>
                  <a:srgbClr val="0000CC"/>
                </a:solidFill>
                <a:latin typeface="新宋体" panose="02010609030101010101" charset="-122"/>
                <a:ea typeface="新宋体" panose="02010609030101010101" charset="-122"/>
              </a:rPr>
              <a:t>完全问题，该问题可在多项式时间内变换为其任意子节点表示的问题。目前，这颗树已有几千个节点，且在继续生长。</a:t>
            </a:r>
            <a:endParaRPr lang="zh-CN" altLang="en-US" sz="2600" b="1">
              <a:solidFill>
                <a:srgbClr val="0000CC"/>
              </a:solidFill>
              <a:latin typeface="新宋体" panose="02010609030101010101" charset="-122"/>
              <a:ea typeface="新宋体" panose="02010609030101010101"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09603"/>
                                        </p:tgtEl>
                                        <p:attrNameLst>
                                          <p:attrName>style.visibility</p:attrName>
                                        </p:attrNameLst>
                                      </p:cBhvr>
                                      <p:to>
                                        <p:strVal val="visible"/>
                                      </p:to>
                                    </p:set>
                                    <p:animEffect transition="in" filter="blinds(horizontal)">
                                      <p:cBhvr>
                                        <p:cTn id="7" dur="500"/>
                                        <p:tgtEl>
                                          <p:spTgt spid="40960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09606"/>
                                        </p:tgtEl>
                                        <p:attrNameLst>
                                          <p:attrName>style.visibility</p:attrName>
                                        </p:attrNameLst>
                                      </p:cBhvr>
                                      <p:to>
                                        <p:strVal val="visible"/>
                                      </p:to>
                                    </p:set>
                                    <p:animEffect transition="in" filter="box(in)">
                                      <p:cBhvr>
                                        <p:cTn id="12" dur="500"/>
                                        <p:tgtEl>
                                          <p:spTgt spid="409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06" grpId="0" animBg="1"/>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灯片编号占位符 5"/>
          <p:cNvSpPr>
            <a:spLocks noGrp="1"/>
          </p:cNvSpPr>
          <p:nvPr>
            <p:ph type="sldNum" sz="quarter" idx="12"/>
          </p:nvPr>
        </p:nvSpPr>
        <p:spPr/>
        <p:txBody>
          <a:bodyPr/>
          <a:lstStyle/>
          <a:p>
            <a:fld id="{1DC90C55-C0D1-48B6-AB4C-EE8123D2AEE2}" type="slidenum">
              <a:rPr lang="en-US" altLang="zh-CN"/>
            </a:fld>
            <a:endParaRPr lang="en-US" altLang="zh-CN"/>
          </a:p>
        </p:txBody>
      </p:sp>
      <p:sp>
        <p:nvSpPr>
          <p:cNvPr id="410626" name="Rectangle 2"/>
          <p:cNvSpPr>
            <a:spLocks noGrp="1" noChangeArrowheads="1"/>
          </p:cNvSpPr>
          <p:nvPr>
            <p:ph type="title"/>
          </p:nvPr>
        </p:nvSpPr>
        <p:spPr>
          <a:xfrm>
            <a:off x="685800" y="838200"/>
            <a:ext cx="7772400" cy="1143000"/>
          </a:xfrm>
        </p:spPr>
        <p:txBody>
          <a:bodyPr/>
          <a:lstStyle/>
          <a:p>
            <a:r>
              <a:rPr lang="en-US" altLang="zh-CN" sz="3500"/>
              <a:t>8.4.1  </a:t>
            </a:r>
            <a:r>
              <a:rPr lang="zh-CN" altLang="en-US" sz="3500">
                <a:latin typeface="新宋体" panose="02010609030101010101" charset="-122"/>
                <a:ea typeface="新宋体" panose="02010609030101010101" charset="-122"/>
              </a:rPr>
              <a:t>合取范式的可满足性问题</a:t>
            </a:r>
            <a:br>
              <a:rPr lang="zh-CN" altLang="en-US" sz="3500">
                <a:latin typeface="新宋体" panose="02010609030101010101" charset="-122"/>
                <a:ea typeface="新宋体" panose="02010609030101010101" charset="-122"/>
              </a:rPr>
            </a:br>
            <a:r>
              <a:rPr lang="zh-CN" altLang="en-US" sz="3500">
                <a:latin typeface="新宋体" panose="02010609030101010101" charset="-122"/>
                <a:ea typeface="新宋体" panose="02010609030101010101" charset="-122"/>
              </a:rPr>
              <a:t>（</a:t>
            </a:r>
            <a:r>
              <a:rPr lang="en-US" altLang="zh-CN" sz="3500">
                <a:latin typeface="新宋体" panose="02010609030101010101" charset="-122"/>
              </a:rPr>
              <a:t>CNF-SAT</a:t>
            </a:r>
            <a:r>
              <a:rPr lang="zh-CN" altLang="en-US" sz="3500">
                <a:latin typeface="新宋体" panose="02010609030101010101" charset="-122"/>
                <a:ea typeface="新宋体" panose="02010609030101010101" charset="-122"/>
              </a:rPr>
              <a:t>）</a:t>
            </a:r>
            <a:endParaRPr lang="zh-CN" altLang="en-US" sz="3500">
              <a:latin typeface="新宋体" panose="02010609030101010101" charset="-122"/>
              <a:ea typeface="新宋体" panose="02010609030101010101" charset="-122"/>
            </a:endParaRPr>
          </a:p>
        </p:txBody>
      </p:sp>
      <p:sp>
        <p:nvSpPr>
          <p:cNvPr id="410627" name="Text Box 3"/>
          <p:cNvSpPr txBox="1">
            <a:spLocks noChangeArrowheads="1"/>
          </p:cNvSpPr>
          <p:nvPr/>
        </p:nvSpPr>
        <p:spPr bwMode="auto">
          <a:xfrm>
            <a:off x="228600" y="4695825"/>
            <a:ext cx="88392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新宋体" panose="02010609030101010101" charset="-122"/>
                <a:ea typeface="新宋体" panose="02010609030101010101" charset="-122"/>
              </a:rPr>
              <a:t>    要证明</a:t>
            </a:r>
            <a:r>
              <a:rPr lang="en-US" altLang="zh-CN" sz="2400">
                <a:latin typeface="新宋体" panose="02010609030101010101" charset="-122"/>
                <a:ea typeface="新宋体" panose="02010609030101010101" charset="-122"/>
              </a:rPr>
              <a:t>CNF-SAT∈NPC</a:t>
            </a:r>
            <a:r>
              <a:rPr lang="zh-CN" altLang="en-US" sz="2400">
                <a:latin typeface="新宋体" panose="02010609030101010101" charset="-122"/>
                <a:ea typeface="新宋体" panose="02010609030101010101" charset="-122"/>
              </a:rPr>
              <a:t>，只要证明在</a:t>
            </a:r>
            <a:r>
              <a:rPr lang="en-US" altLang="zh-CN" sz="2400">
                <a:latin typeface="新宋体" panose="02010609030101010101" charset="-122"/>
                <a:ea typeface="新宋体" panose="02010609030101010101" charset="-122"/>
              </a:rPr>
              <a:t>Cook</a:t>
            </a:r>
            <a:r>
              <a:rPr lang="zh-CN" altLang="en-US" sz="2400">
                <a:latin typeface="新宋体" panose="02010609030101010101" charset="-122"/>
                <a:ea typeface="新宋体" panose="02010609030101010101" charset="-122"/>
              </a:rPr>
              <a:t>定理中定义的布尔表达式</a:t>
            </a:r>
            <a:r>
              <a:rPr lang="en-US" altLang="zh-CN" sz="2400">
                <a:latin typeface="新宋体" panose="02010609030101010101" charset="-122"/>
                <a:ea typeface="新宋体" panose="02010609030101010101" charset="-122"/>
              </a:rPr>
              <a:t>A</a:t>
            </a:r>
            <a:r>
              <a:rPr lang="zh-CN" altLang="en-US" sz="2400">
                <a:latin typeface="新宋体" panose="02010609030101010101" charset="-122"/>
                <a:ea typeface="新宋体" panose="02010609030101010101" charset="-122"/>
              </a:rPr>
              <a:t>，</a:t>
            </a:r>
            <a:r>
              <a:rPr lang="en-US" altLang="zh-CN" sz="2400">
                <a:latin typeface="Times New Roman" panose="02020603050405020304"/>
                <a:ea typeface="新宋体" panose="02010609030101010101" charset="-122"/>
              </a:rPr>
              <a:t>…</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G</a:t>
            </a:r>
            <a:r>
              <a:rPr lang="zh-CN" altLang="en-US" sz="2400">
                <a:latin typeface="新宋体" panose="02010609030101010101" charset="-122"/>
                <a:ea typeface="新宋体" panose="02010609030101010101" charset="-122"/>
              </a:rPr>
              <a:t>或者已是合取范式，或者有的虽然不是合取范式，但可以用布尔代数中的变换方法将它们化成合取范式，而且合取范式的长度与原表达式的长度只差一个常数因子。 </a:t>
            </a:r>
            <a:endParaRPr lang="zh-CN" altLang="en-US" sz="2400">
              <a:latin typeface="新宋体" panose="02010609030101010101" charset="-122"/>
              <a:ea typeface="新宋体" panose="02010609030101010101" charset="-122"/>
            </a:endParaRPr>
          </a:p>
        </p:txBody>
      </p:sp>
      <p:sp>
        <p:nvSpPr>
          <p:cNvPr id="410628" name="Text Box 4"/>
          <p:cNvSpPr txBox="1">
            <a:spLocks noChangeArrowheads="1"/>
          </p:cNvSpPr>
          <p:nvPr/>
        </p:nvSpPr>
        <p:spPr bwMode="auto">
          <a:xfrm>
            <a:off x="381000" y="2286000"/>
            <a:ext cx="876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新宋体" panose="02010609030101010101" charset="-122"/>
                <a:ea typeface="新宋体" panose="02010609030101010101" charset="-122"/>
              </a:rPr>
              <a:t>    </a:t>
            </a:r>
            <a:r>
              <a:rPr lang="zh-CN" altLang="en-US" sz="2400" b="1">
                <a:solidFill>
                  <a:schemeClr val="accent2"/>
                </a:solidFill>
                <a:latin typeface="新宋体" panose="02010609030101010101" charset="-122"/>
                <a:ea typeface="新宋体" panose="02010609030101010101" charset="-122"/>
              </a:rPr>
              <a:t>问题描述：</a:t>
            </a:r>
            <a:r>
              <a:rPr lang="zh-CN" altLang="en-US" sz="2400">
                <a:latin typeface="新宋体" panose="02010609030101010101" charset="-122"/>
                <a:ea typeface="新宋体" panose="02010609030101010101" charset="-122"/>
              </a:rPr>
              <a:t>给定一个合取范式</a:t>
            </a:r>
            <a:r>
              <a:rPr lang="en-US" altLang="zh-CN" sz="2400">
                <a:latin typeface="新宋体" panose="02010609030101010101" charset="-122"/>
                <a:ea typeface="新宋体" panose="02010609030101010101" charset="-122"/>
              </a:rPr>
              <a:t>α</a:t>
            </a:r>
            <a:r>
              <a:rPr lang="zh-CN" altLang="en-US" sz="2400">
                <a:latin typeface="新宋体" panose="02010609030101010101" charset="-122"/>
                <a:ea typeface="新宋体" panose="02010609030101010101" charset="-122"/>
              </a:rPr>
              <a:t>，判定它是否可满足。 </a:t>
            </a:r>
            <a:endParaRPr lang="zh-CN" altLang="en-US" sz="2400">
              <a:latin typeface="新宋体" panose="02010609030101010101" charset="-122"/>
              <a:ea typeface="新宋体" panose="02010609030101010101" charset="-122"/>
            </a:endParaRPr>
          </a:p>
        </p:txBody>
      </p:sp>
      <p:grpSp>
        <p:nvGrpSpPr>
          <p:cNvPr id="410629" name="Group 5"/>
          <p:cNvGrpSpPr/>
          <p:nvPr/>
        </p:nvGrpSpPr>
        <p:grpSpPr bwMode="auto">
          <a:xfrm>
            <a:off x="228600" y="2971800"/>
            <a:ext cx="8839200" cy="1552575"/>
            <a:chOff x="0" y="1728"/>
            <a:chExt cx="5568" cy="978"/>
          </a:xfrm>
        </p:grpSpPr>
        <p:sp>
          <p:nvSpPr>
            <p:cNvPr id="410630" name="Text Box 6"/>
            <p:cNvSpPr txBox="1">
              <a:spLocks noChangeArrowheads="1"/>
            </p:cNvSpPr>
            <p:nvPr/>
          </p:nvSpPr>
          <p:spPr bwMode="auto">
            <a:xfrm>
              <a:off x="0" y="1728"/>
              <a:ext cx="5568" cy="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新宋体" panose="02010609030101010101" charset="-122"/>
                  <a:ea typeface="新宋体" panose="02010609030101010101" charset="-122"/>
                </a:rPr>
                <a:t>     如果一个布尔表达式是一些因子和之积，则称之为合取范式，简称</a:t>
              </a:r>
              <a:r>
                <a:rPr lang="en-US" altLang="zh-CN" sz="2400">
                  <a:latin typeface="新宋体" panose="02010609030101010101" charset="-122"/>
                  <a:ea typeface="新宋体" panose="02010609030101010101" charset="-122"/>
                </a:rPr>
                <a:t>CNF(Conjunctive Normal Form)</a:t>
              </a:r>
              <a:r>
                <a:rPr lang="zh-CN" altLang="en-US" sz="2400">
                  <a:latin typeface="新宋体" panose="02010609030101010101" charset="-122"/>
                  <a:ea typeface="新宋体" panose="02010609030101010101" charset="-122"/>
                </a:rPr>
                <a:t>。这里的因子是变量  或   。例如：                            就是一个合取范式，而        就不是合取范式。 </a:t>
              </a:r>
              <a:endParaRPr lang="zh-CN" altLang="en-US" sz="2400">
                <a:latin typeface="新宋体" panose="02010609030101010101" charset="-122"/>
                <a:ea typeface="新宋体" panose="02010609030101010101" charset="-122"/>
              </a:endParaRPr>
            </a:p>
          </p:txBody>
        </p:sp>
        <p:graphicFrame>
          <p:nvGraphicFramePr>
            <p:cNvPr id="410631" name="Object 7"/>
            <p:cNvGraphicFramePr>
              <a:graphicFrameLocks noChangeAspect="1"/>
            </p:cNvGraphicFramePr>
            <p:nvPr/>
          </p:nvGraphicFramePr>
          <p:xfrm>
            <a:off x="5196" y="2004"/>
            <a:ext cx="224" cy="240"/>
          </p:xfrm>
          <a:graphic>
            <a:graphicData uri="http://schemas.openxmlformats.org/presentationml/2006/ole">
              <mc:AlternateContent xmlns:mc="http://schemas.openxmlformats.org/markup-compatibility/2006">
                <mc:Choice xmlns:v="urn:schemas-microsoft-com:vml" Requires="v">
                  <p:oleObj spid="_x0000_s410643" name="" r:id="rId1" imgW="127000" imgH="139700" progId="Equation.3">
                    <p:embed/>
                  </p:oleObj>
                </mc:Choice>
                <mc:Fallback>
                  <p:oleObj name="" r:id="rId1" imgW="127000" imgH="139700"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96" y="2004"/>
                          <a:ext cx="224"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632" name="Object 8"/>
            <p:cNvGraphicFramePr>
              <a:graphicFrameLocks noChangeAspect="1"/>
            </p:cNvGraphicFramePr>
            <p:nvPr/>
          </p:nvGraphicFramePr>
          <p:xfrm>
            <a:off x="240" y="2160"/>
            <a:ext cx="179" cy="288"/>
          </p:xfrm>
          <a:graphic>
            <a:graphicData uri="http://schemas.openxmlformats.org/presentationml/2006/ole">
              <mc:AlternateContent xmlns:mc="http://schemas.openxmlformats.org/markup-compatibility/2006">
                <mc:Choice xmlns:v="urn:schemas-microsoft-com:vml" Requires="v">
                  <p:oleObj spid="_x0000_s410644" name="" r:id="rId3" imgW="127000" imgH="215265" progId="Equation.3">
                    <p:embed/>
                  </p:oleObj>
                </mc:Choice>
                <mc:Fallback>
                  <p:oleObj name="" r:id="rId3" imgW="127000" imgH="215265"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 y="2160"/>
                          <a:ext cx="179"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633" name="Object 9"/>
            <p:cNvGraphicFramePr>
              <a:graphicFrameLocks noChangeAspect="1"/>
            </p:cNvGraphicFramePr>
            <p:nvPr/>
          </p:nvGraphicFramePr>
          <p:xfrm>
            <a:off x="1248" y="2208"/>
            <a:ext cx="2592" cy="254"/>
          </p:xfrm>
          <a:graphic>
            <a:graphicData uri="http://schemas.openxmlformats.org/presentationml/2006/ole">
              <mc:AlternateContent xmlns:mc="http://schemas.openxmlformats.org/markup-compatibility/2006">
                <mc:Choice xmlns:v="urn:schemas-microsoft-com:vml" Requires="v">
                  <p:oleObj spid="_x0000_s410645" name="" r:id="rId5" imgW="1968500" imgH="254000" progId="Equation.3">
                    <p:embed/>
                  </p:oleObj>
                </mc:Choice>
                <mc:Fallback>
                  <p:oleObj name="" r:id="rId5" imgW="1968500" imgH="2540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48" y="2208"/>
                          <a:ext cx="2592" cy="2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634" name="Object 10"/>
            <p:cNvGraphicFramePr>
              <a:graphicFrameLocks noChangeAspect="1"/>
            </p:cNvGraphicFramePr>
            <p:nvPr/>
          </p:nvGraphicFramePr>
          <p:xfrm>
            <a:off x="672" y="2448"/>
            <a:ext cx="720" cy="255"/>
          </p:xfrm>
          <a:graphic>
            <a:graphicData uri="http://schemas.openxmlformats.org/presentationml/2006/ole">
              <mc:AlternateContent xmlns:mc="http://schemas.openxmlformats.org/markup-compatibility/2006">
                <mc:Choice xmlns:v="urn:schemas-microsoft-com:vml" Requires="v">
                  <p:oleObj spid="_x0000_s410646" name="" r:id="rId7" imgW="596900" imgH="228600" progId="Equation.3">
                    <p:embed/>
                  </p:oleObj>
                </mc:Choice>
                <mc:Fallback>
                  <p:oleObj name="" r:id="rId7" imgW="596900" imgH="2286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2" y="2448"/>
                          <a:ext cx="720" cy="2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0628"/>
                                        </p:tgtEl>
                                        <p:attrNameLst>
                                          <p:attrName>style.visibility</p:attrName>
                                        </p:attrNameLst>
                                      </p:cBhvr>
                                      <p:to>
                                        <p:strVal val="visible"/>
                                      </p:to>
                                    </p:set>
                                    <p:animEffect transition="in" filter="blinds(horizontal)">
                                      <p:cBhvr>
                                        <p:cTn id="7" dur="500"/>
                                        <p:tgtEl>
                                          <p:spTgt spid="41062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10629"/>
                                        </p:tgtEl>
                                        <p:attrNameLst>
                                          <p:attrName>style.visibility</p:attrName>
                                        </p:attrNameLst>
                                      </p:cBhvr>
                                      <p:to>
                                        <p:strVal val="visible"/>
                                      </p:to>
                                    </p:set>
                                    <p:animEffect transition="in" filter="box(in)">
                                      <p:cBhvr>
                                        <p:cTn id="12" dur="500"/>
                                        <p:tgtEl>
                                          <p:spTgt spid="41062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10627"/>
                                        </p:tgtEl>
                                        <p:attrNameLst>
                                          <p:attrName>style.visibility</p:attrName>
                                        </p:attrNameLst>
                                      </p:cBhvr>
                                      <p:to>
                                        <p:strVal val="visible"/>
                                      </p:to>
                                    </p:set>
                                    <p:animEffect transition="in" filter="blinds(horizontal)">
                                      <p:cBhvr>
                                        <p:cTn id="17" dur="500"/>
                                        <p:tgtEl>
                                          <p:spTgt spid="410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27" grpId="0" autoUpdateAnimBg="0"/>
      <p:bldP spid="410628"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D7242F9F-B149-43CF-B5F2-79EA88C01591}" type="slidenum">
              <a:rPr lang="en-US" altLang="zh-CN"/>
            </a:fld>
            <a:endParaRPr lang="en-US" altLang="zh-CN"/>
          </a:p>
        </p:txBody>
      </p:sp>
      <p:sp>
        <p:nvSpPr>
          <p:cNvPr id="411650" name="Rectangle 2"/>
          <p:cNvSpPr>
            <a:spLocks noGrp="1" noChangeArrowheads="1"/>
          </p:cNvSpPr>
          <p:nvPr>
            <p:ph type="title"/>
          </p:nvPr>
        </p:nvSpPr>
        <p:spPr>
          <a:xfrm>
            <a:off x="685800" y="990600"/>
            <a:ext cx="8001000" cy="1143000"/>
          </a:xfrm>
        </p:spPr>
        <p:txBody>
          <a:bodyPr/>
          <a:lstStyle/>
          <a:p>
            <a:r>
              <a:rPr lang="en-US" altLang="zh-CN" sz="3500"/>
              <a:t>8.4.2 </a:t>
            </a:r>
            <a:r>
              <a:rPr lang="en-US" altLang="zh-CN" sz="3500">
                <a:latin typeface="新宋体" panose="02010609030101010101" charset="-122"/>
                <a:ea typeface="新宋体" panose="02010609030101010101" charset="-122"/>
              </a:rPr>
              <a:t>3</a:t>
            </a:r>
            <a:r>
              <a:rPr lang="zh-CN" altLang="en-US" sz="3500">
                <a:latin typeface="新宋体" panose="02010609030101010101" charset="-122"/>
                <a:ea typeface="新宋体" panose="02010609030101010101" charset="-122"/>
              </a:rPr>
              <a:t>元合取范式的可满足性问题</a:t>
            </a:r>
            <a:br>
              <a:rPr lang="zh-CN" altLang="en-US" sz="3500">
                <a:latin typeface="新宋体" panose="02010609030101010101" charset="-122"/>
                <a:ea typeface="新宋体" panose="02010609030101010101" charset="-122"/>
              </a:rPr>
            </a:br>
            <a:r>
              <a:rPr lang="zh-CN" altLang="en-US" sz="3500">
                <a:latin typeface="新宋体" panose="02010609030101010101" charset="-122"/>
                <a:ea typeface="新宋体" panose="02010609030101010101" charset="-122"/>
              </a:rPr>
              <a:t>（</a:t>
            </a:r>
            <a:r>
              <a:rPr lang="en-US" altLang="zh-CN" sz="3500">
                <a:latin typeface="新宋体" panose="02010609030101010101" charset="-122"/>
              </a:rPr>
              <a:t>3-SAT</a:t>
            </a:r>
            <a:r>
              <a:rPr lang="zh-CN" altLang="en-US" sz="3500">
                <a:latin typeface="新宋体" panose="02010609030101010101" charset="-122"/>
              </a:rPr>
              <a:t>）</a:t>
            </a:r>
            <a:endParaRPr lang="zh-CN" altLang="en-US" sz="3500">
              <a:latin typeface="新宋体" panose="02010609030101010101" charset="-122"/>
              <a:ea typeface="新宋体" panose="02010609030101010101" charset="-122"/>
            </a:endParaRPr>
          </a:p>
        </p:txBody>
      </p:sp>
      <p:sp>
        <p:nvSpPr>
          <p:cNvPr id="411651" name="Text Box 3"/>
          <p:cNvSpPr txBox="1">
            <a:spLocks noChangeArrowheads="1"/>
          </p:cNvSpPr>
          <p:nvPr/>
        </p:nvSpPr>
        <p:spPr bwMode="auto">
          <a:xfrm>
            <a:off x="304800" y="3884613"/>
            <a:ext cx="84582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800" b="1">
                <a:latin typeface="新宋体" panose="02010609030101010101" charset="-122"/>
                <a:ea typeface="新宋体" panose="02010609030101010101" charset="-122"/>
              </a:rPr>
              <a:t>证明思路：</a:t>
            </a:r>
            <a:r>
              <a:rPr lang="zh-CN" altLang="en-US" sz="2400">
                <a:latin typeface="新宋体" panose="02010609030101010101" charset="-122"/>
                <a:ea typeface="新宋体" panose="02010609030101010101" charset="-122"/>
              </a:rPr>
              <a:t> </a:t>
            </a:r>
            <a:endParaRPr lang="zh-CN" altLang="en-US"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     </a:t>
            </a:r>
            <a:r>
              <a:rPr lang="en-US" altLang="zh-CN" sz="2800">
                <a:latin typeface="新宋体" panose="02010609030101010101" charset="-122"/>
                <a:ea typeface="新宋体" panose="02010609030101010101" charset="-122"/>
              </a:rPr>
              <a:t>3-SAT∈NP</a:t>
            </a:r>
            <a:r>
              <a:rPr lang="zh-CN" altLang="en-US" sz="2800">
                <a:latin typeface="新宋体" panose="02010609030101010101" charset="-122"/>
                <a:ea typeface="新宋体" panose="02010609030101010101" charset="-122"/>
              </a:rPr>
              <a:t>是显而易见的。为了证明</a:t>
            </a:r>
            <a:r>
              <a:rPr lang="en-US" altLang="zh-CN" sz="2800">
                <a:latin typeface="新宋体" panose="02010609030101010101" charset="-122"/>
                <a:ea typeface="新宋体" panose="02010609030101010101" charset="-122"/>
              </a:rPr>
              <a:t>3-SAT∈NPC</a:t>
            </a:r>
            <a:r>
              <a:rPr lang="zh-CN" altLang="en-US" sz="2800">
                <a:latin typeface="新宋体" panose="02010609030101010101" charset="-122"/>
                <a:ea typeface="新宋体" panose="02010609030101010101" charset="-122"/>
              </a:rPr>
              <a:t>，只要证明</a:t>
            </a:r>
            <a:r>
              <a:rPr lang="en-US" altLang="zh-CN" sz="2800">
                <a:latin typeface="新宋体" panose="02010609030101010101" charset="-122"/>
                <a:ea typeface="新宋体" panose="02010609030101010101" charset="-122"/>
              </a:rPr>
              <a:t>CNF-SAT∝</a:t>
            </a:r>
            <a:r>
              <a:rPr lang="en-US" altLang="zh-CN" sz="2800" baseline="-30000">
                <a:latin typeface="新宋体" panose="02010609030101010101" charset="-122"/>
                <a:ea typeface="新宋体" panose="02010609030101010101" charset="-122"/>
              </a:rPr>
              <a:t>p</a:t>
            </a:r>
            <a:r>
              <a:rPr lang="en-US" altLang="zh-CN" sz="2800">
                <a:latin typeface="新宋体" panose="02010609030101010101" charset="-122"/>
                <a:ea typeface="新宋体" panose="02010609030101010101" charset="-122"/>
              </a:rPr>
              <a:t> 3-SAT</a:t>
            </a:r>
            <a:r>
              <a:rPr lang="zh-CN" altLang="en-US" sz="2800">
                <a:latin typeface="新宋体" panose="02010609030101010101" charset="-122"/>
                <a:ea typeface="新宋体" panose="02010609030101010101" charset="-122"/>
              </a:rPr>
              <a:t>，即合取范式的可满足性问题可在多项式时间内变换为</a:t>
            </a:r>
            <a:r>
              <a:rPr lang="en-US" altLang="zh-CN" sz="2800">
                <a:latin typeface="新宋体" panose="02010609030101010101" charset="-122"/>
                <a:ea typeface="新宋体" panose="02010609030101010101" charset="-122"/>
              </a:rPr>
              <a:t>3-SAT</a:t>
            </a:r>
            <a:r>
              <a:rPr lang="zh-CN" altLang="en-US" sz="2800">
                <a:latin typeface="新宋体" panose="02010609030101010101" charset="-122"/>
                <a:ea typeface="新宋体" panose="02010609030101010101" charset="-122"/>
              </a:rPr>
              <a:t>。</a:t>
            </a:r>
            <a:endParaRPr lang="zh-CN" altLang="en-US" sz="2800">
              <a:latin typeface="新宋体" panose="02010609030101010101" charset="-122"/>
              <a:ea typeface="新宋体" panose="02010609030101010101" charset="-122"/>
            </a:endParaRPr>
          </a:p>
        </p:txBody>
      </p:sp>
      <p:sp>
        <p:nvSpPr>
          <p:cNvPr id="411652" name="Text Box 4"/>
          <p:cNvSpPr txBox="1">
            <a:spLocks noChangeArrowheads="1"/>
          </p:cNvSpPr>
          <p:nvPr/>
        </p:nvSpPr>
        <p:spPr bwMode="auto">
          <a:xfrm>
            <a:off x="304800" y="2559050"/>
            <a:ext cx="8534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新宋体" panose="02010609030101010101" charset="-122"/>
                <a:ea typeface="新宋体" panose="02010609030101010101" charset="-122"/>
              </a:rPr>
              <a:t>    </a:t>
            </a:r>
            <a:r>
              <a:rPr lang="zh-CN" altLang="en-US" sz="2800" b="1">
                <a:solidFill>
                  <a:schemeClr val="accent2"/>
                </a:solidFill>
                <a:latin typeface="新宋体" panose="02010609030101010101" charset="-122"/>
                <a:ea typeface="新宋体" panose="02010609030101010101" charset="-122"/>
              </a:rPr>
              <a:t>问题描述：</a:t>
            </a:r>
            <a:r>
              <a:rPr lang="zh-CN" altLang="en-US" sz="2800">
                <a:latin typeface="新宋体" panose="02010609030101010101" charset="-122"/>
                <a:ea typeface="新宋体" panose="02010609030101010101" charset="-122"/>
              </a:rPr>
              <a:t>给定一个</a:t>
            </a:r>
            <a:r>
              <a:rPr kumimoji="1" lang="en-US" altLang="zh-CN" sz="2800">
                <a:latin typeface="新宋体" panose="02010609030101010101" charset="-122"/>
                <a:ea typeface="新宋体" panose="02010609030101010101" charset="-122"/>
              </a:rPr>
              <a:t>3</a:t>
            </a:r>
            <a:r>
              <a:rPr kumimoji="1" lang="zh-CN" altLang="en-US" sz="2800">
                <a:latin typeface="新宋体" panose="02010609030101010101" charset="-122"/>
                <a:ea typeface="新宋体" panose="02010609030101010101" charset="-122"/>
              </a:rPr>
              <a:t>元</a:t>
            </a:r>
            <a:r>
              <a:rPr lang="zh-CN" altLang="en-US" sz="2800">
                <a:latin typeface="新宋体" panose="02010609030101010101" charset="-122"/>
                <a:ea typeface="新宋体" panose="02010609030101010101" charset="-122"/>
              </a:rPr>
              <a:t>合取范式</a:t>
            </a:r>
            <a:r>
              <a:rPr lang="en-US" altLang="zh-CN" sz="2800">
                <a:latin typeface="新宋体" panose="02010609030101010101" charset="-122"/>
                <a:ea typeface="新宋体" panose="02010609030101010101" charset="-122"/>
              </a:rPr>
              <a:t>α</a:t>
            </a:r>
            <a:r>
              <a:rPr lang="zh-CN" altLang="en-US" sz="2800">
                <a:latin typeface="新宋体" panose="02010609030101010101" charset="-122"/>
                <a:ea typeface="新宋体" panose="02010609030101010101" charset="-122"/>
              </a:rPr>
              <a:t>，判定它是否可满足。</a:t>
            </a:r>
            <a:r>
              <a:rPr lang="zh-CN" altLang="en-US" sz="2400">
                <a:latin typeface="新宋体" panose="02010609030101010101" charset="-122"/>
                <a:ea typeface="新宋体" panose="02010609030101010101" charset="-122"/>
              </a:rPr>
              <a:t> </a:t>
            </a:r>
            <a:endParaRPr lang="zh-CN" altLang="en-US" sz="2400">
              <a:latin typeface="新宋体" panose="02010609030101010101" charset="-122"/>
              <a:ea typeface="新宋体" panose="02010609030101010101"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1652"/>
                                        </p:tgtEl>
                                        <p:attrNameLst>
                                          <p:attrName>style.visibility</p:attrName>
                                        </p:attrNameLst>
                                      </p:cBhvr>
                                      <p:to>
                                        <p:strVal val="visible"/>
                                      </p:to>
                                    </p:set>
                                    <p:animEffect transition="in" filter="blinds(horizontal)">
                                      <p:cBhvr>
                                        <p:cTn id="7" dur="500"/>
                                        <p:tgtEl>
                                          <p:spTgt spid="41165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11651"/>
                                        </p:tgtEl>
                                        <p:attrNameLst>
                                          <p:attrName>style.visibility</p:attrName>
                                        </p:attrNameLst>
                                      </p:cBhvr>
                                      <p:to>
                                        <p:strVal val="visible"/>
                                      </p:to>
                                    </p:set>
                                    <p:animEffect transition="in" filter="blinds(horizontal)">
                                      <p:cBhvr>
                                        <p:cTn id="12" dur="500"/>
                                        <p:tgtEl>
                                          <p:spTgt spid="4116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1651" grpId="0" autoUpdateAnimBg="0"/>
      <p:bldP spid="411652"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BDA00420-4FCA-4639-A8E5-D4E7C08B5B73}" type="slidenum">
              <a:rPr lang="en-US" altLang="zh-CN"/>
            </a:fld>
            <a:endParaRPr lang="en-US" altLang="zh-CN"/>
          </a:p>
        </p:txBody>
      </p:sp>
      <p:sp>
        <p:nvSpPr>
          <p:cNvPr id="412674" name="Rectangle 2"/>
          <p:cNvSpPr>
            <a:spLocks noGrp="1" noChangeArrowheads="1"/>
          </p:cNvSpPr>
          <p:nvPr>
            <p:ph type="title"/>
          </p:nvPr>
        </p:nvSpPr>
        <p:spPr>
          <a:xfrm>
            <a:off x="685800" y="762000"/>
            <a:ext cx="8001000" cy="1143000"/>
          </a:xfrm>
        </p:spPr>
        <p:txBody>
          <a:bodyPr/>
          <a:lstStyle/>
          <a:p>
            <a:r>
              <a:rPr lang="en-US" altLang="zh-CN"/>
              <a:t>8.4.3  </a:t>
            </a:r>
            <a:r>
              <a:rPr lang="zh-CN" altLang="en-US">
                <a:latin typeface="新宋体" panose="02010609030101010101" charset="-122"/>
                <a:ea typeface="新宋体" panose="02010609030101010101" charset="-122"/>
              </a:rPr>
              <a:t>团问题</a:t>
            </a:r>
            <a:r>
              <a:rPr lang="en-US" altLang="zh-CN">
                <a:latin typeface="新宋体" panose="02010609030101010101" charset="-122"/>
              </a:rPr>
              <a:t>CLIQUE</a:t>
            </a:r>
            <a:r>
              <a:rPr lang="en-US" altLang="zh-CN">
                <a:latin typeface="新宋体" panose="02010609030101010101" charset="-122"/>
                <a:ea typeface="新宋体" panose="02010609030101010101" charset="-122"/>
              </a:rPr>
              <a:t> </a:t>
            </a:r>
            <a:endParaRPr lang="en-US" altLang="zh-CN">
              <a:latin typeface="新宋体" panose="02010609030101010101" charset="-122"/>
              <a:ea typeface="新宋体" panose="02010609030101010101" charset="-122"/>
            </a:endParaRPr>
          </a:p>
        </p:txBody>
      </p:sp>
      <p:sp>
        <p:nvSpPr>
          <p:cNvPr id="412675" name="Text Box 3"/>
          <p:cNvSpPr txBox="1">
            <a:spLocks noChangeArrowheads="1"/>
          </p:cNvSpPr>
          <p:nvPr/>
        </p:nvSpPr>
        <p:spPr bwMode="auto">
          <a:xfrm>
            <a:off x="304800" y="4191000"/>
            <a:ext cx="84582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800" b="1">
                <a:latin typeface="新宋体" panose="02010609030101010101" charset="-122"/>
                <a:ea typeface="新宋体" panose="02010609030101010101" charset="-122"/>
              </a:rPr>
              <a:t>证明思路：</a:t>
            </a:r>
            <a:r>
              <a:rPr lang="zh-CN" altLang="en-US" sz="2800">
                <a:latin typeface="宋体" panose="02010600030101010101" pitchFamily="2" charset="-122"/>
              </a:rPr>
              <a:t> </a:t>
            </a:r>
            <a:endParaRPr lang="zh-CN" altLang="en-US" sz="2800">
              <a:latin typeface="宋体" panose="02010600030101010101" pitchFamily="2" charset="-122"/>
            </a:endParaRPr>
          </a:p>
          <a:p>
            <a:r>
              <a:rPr lang="zh-CN" altLang="en-US" sz="2800">
                <a:latin typeface="新宋体" panose="02010609030101010101" charset="-122"/>
                <a:ea typeface="新宋体" panose="02010609030101010101" charset="-122"/>
              </a:rPr>
              <a:t>    已经知道</a:t>
            </a:r>
            <a:r>
              <a:rPr lang="en-US" altLang="zh-CN" sz="2800">
                <a:latin typeface="新宋体" panose="02010609030101010101" charset="-122"/>
                <a:ea typeface="新宋体" panose="02010609030101010101" charset="-122"/>
              </a:rPr>
              <a:t>CLIQUE∈NP</a:t>
            </a:r>
            <a:r>
              <a:rPr lang="zh-CN" altLang="en-US" sz="2800">
                <a:latin typeface="新宋体" panose="02010609030101010101" charset="-122"/>
                <a:ea typeface="新宋体" panose="02010609030101010101" charset="-122"/>
              </a:rPr>
              <a:t>。通过</a:t>
            </a:r>
            <a:r>
              <a:rPr lang="en-US" altLang="zh-CN" sz="2800">
                <a:latin typeface="新宋体" panose="02010609030101010101" charset="-122"/>
                <a:ea typeface="新宋体" panose="02010609030101010101" charset="-122"/>
              </a:rPr>
              <a:t>3-SAT∝</a:t>
            </a:r>
            <a:r>
              <a:rPr lang="en-US" altLang="zh-CN" sz="2800" baseline="-30000">
                <a:latin typeface="新宋体" panose="02010609030101010101" charset="-122"/>
                <a:ea typeface="新宋体" panose="02010609030101010101" charset="-122"/>
              </a:rPr>
              <a:t>p</a:t>
            </a:r>
            <a:r>
              <a:rPr lang="en-US" altLang="zh-CN" sz="2800">
                <a:latin typeface="新宋体" panose="02010609030101010101" charset="-122"/>
                <a:ea typeface="新宋体" panose="02010609030101010101" charset="-122"/>
              </a:rPr>
              <a:t>CLIQUE</a:t>
            </a:r>
            <a:r>
              <a:rPr lang="zh-CN" altLang="en-US" sz="2800">
                <a:latin typeface="新宋体" panose="02010609030101010101" charset="-122"/>
                <a:ea typeface="新宋体" panose="02010609030101010101" charset="-122"/>
              </a:rPr>
              <a:t>来证明</a:t>
            </a:r>
            <a:r>
              <a:rPr lang="en-US" altLang="zh-CN" sz="2800">
                <a:latin typeface="新宋体" panose="02010609030101010101" charset="-122"/>
                <a:ea typeface="新宋体" panose="02010609030101010101" charset="-122"/>
              </a:rPr>
              <a:t>CLIQUE</a:t>
            </a:r>
            <a:r>
              <a:rPr lang="zh-CN" altLang="en-US" sz="2800">
                <a:latin typeface="新宋体" panose="02010609030101010101" charset="-122"/>
                <a:ea typeface="新宋体" panose="02010609030101010101" charset="-122"/>
              </a:rPr>
              <a:t>是</a:t>
            </a:r>
            <a:r>
              <a:rPr lang="en-US" altLang="zh-CN" sz="2800">
                <a:latin typeface="新宋体" panose="02010609030101010101" charset="-122"/>
                <a:ea typeface="新宋体" panose="02010609030101010101" charset="-122"/>
              </a:rPr>
              <a:t>NP</a:t>
            </a:r>
            <a:r>
              <a:rPr lang="zh-CN" altLang="en-US" sz="2800">
                <a:latin typeface="新宋体" panose="02010609030101010101" charset="-122"/>
                <a:ea typeface="新宋体" panose="02010609030101010101" charset="-122"/>
              </a:rPr>
              <a:t>难的，从而证明团问题是</a:t>
            </a:r>
            <a:r>
              <a:rPr lang="en-US" altLang="zh-CN" sz="2800">
                <a:latin typeface="新宋体" panose="02010609030101010101" charset="-122"/>
                <a:ea typeface="新宋体" panose="02010609030101010101" charset="-122"/>
              </a:rPr>
              <a:t>NP</a:t>
            </a:r>
            <a:r>
              <a:rPr lang="zh-CN" altLang="en-US" sz="2800">
                <a:latin typeface="新宋体" panose="02010609030101010101" charset="-122"/>
                <a:ea typeface="新宋体" panose="02010609030101010101" charset="-122"/>
              </a:rPr>
              <a:t>完全的。</a:t>
            </a:r>
            <a:endParaRPr lang="zh-CN" altLang="en-US" sz="2800">
              <a:latin typeface="新宋体" panose="02010609030101010101" charset="-122"/>
              <a:ea typeface="新宋体" panose="02010609030101010101" charset="-122"/>
            </a:endParaRPr>
          </a:p>
        </p:txBody>
      </p:sp>
      <p:sp>
        <p:nvSpPr>
          <p:cNvPr id="412676" name="Text Box 4"/>
          <p:cNvSpPr txBox="1">
            <a:spLocks noChangeArrowheads="1"/>
          </p:cNvSpPr>
          <p:nvPr/>
        </p:nvSpPr>
        <p:spPr bwMode="auto">
          <a:xfrm>
            <a:off x="304800" y="2482850"/>
            <a:ext cx="85344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新宋体" panose="02010609030101010101" charset="-122"/>
                <a:ea typeface="新宋体" panose="02010609030101010101" charset="-122"/>
              </a:rPr>
              <a:t>     </a:t>
            </a:r>
            <a:r>
              <a:rPr lang="zh-CN" altLang="en-US" sz="2800" b="1">
                <a:solidFill>
                  <a:schemeClr val="accent2"/>
                </a:solidFill>
                <a:latin typeface="新宋体" panose="02010609030101010101" charset="-122"/>
                <a:ea typeface="新宋体" panose="02010609030101010101" charset="-122"/>
              </a:rPr>
              <a:t>问题描述：</a:t>
            </a:r>
            <a:r>
              <a:rPr lang="zh-CN" altLang="en-US" sz="2800">
                <a:latin typeface="新宋体" panose="02010609030101010101" charset="-122"/>
                <a:ea typeface="新宋体" panose="02010609030101010101" charset="-122"/>
              </a:rPr>
              <a:t>给定一个无向图</a:t>
            </a:r>
            <a:r>
              <a:rPr lang="en-US" altLang="zh-CN" sz="2800">
                <a:latin typeface="新宋体" panose="02010609030101010101" charset="-122"/>
                <a:ea typeface="新宋体" panose="02010609030101010101" charset="-122"/>
              </a:rPr>
              <a:t>G=(V</a:t>
            </a:r>
            <a:r>
              <a:rPr lang="zh-CN" altLang="en-US" sz="2800">
                <a:latin typeface="新宋体" panose="02010609030101010101" charset="-122"/>
                <a:ea typeface="新宋体" panose="02010609030101010101" charset="-122"/>
              </a:rPr>
              <a:t>，</a:t>
            </a:r>
            <a:r>
              <a:rPr lang="en-US" altLang="zh-CN" sz="2800">
                <a:latin typeface="新宋体" panose="02010609030101010101" charset="-122"/>
                <a:ea typeface="新宋体" panose="02010609030101010101" charset="-122"/>
              </a:rPr>
              <a:t>E)</a:t>
            </a:r>
            <a:r>
              <a:rPr lang="zh-CN" altLang="en-US" sz="2800">
                <a:latin typeface="新宋体" panose="02010609030101010101" charset="-122"/>
                <a:ea typeface="新宋体" panose="02010609030101010101" charset="-122"/>
              </a:rPr>
              <a:t>和一个正整数</a:t>
            </a:r>
            <a:r>
              <a:rPr lang="en-US" altLang="zh-CN" sz="2800">
                <a:latin typeface="新宋体" panose="02010609030101010101" charset="-122"/>
                <a:ea typeface="新宋体" panose="02010609030101010101" charset="-122"/>
              </a:rPr>
              <a:t>k</a:t>
            </a:r>
            <a:r>
              <a:rPr lang="zh-CN" altLang="en-US" sz="2800">
                <a:latin typeface="新宋体" panose="02010609030101010101" charset="-122"/>
                <a:ea typeface="新宋体" panose="02010609030101010101" charset="-122"/>
              </a:rPr>
              <a:t>，判定图</a:t>
            </a:r>
            <a:r>
              <a:rPr lang="en-US" altLang="zh-CN" sz="2800">
                <a:latin typeface="新宋体" panose="02010609030101010101" charset="-122"/>
                <a:ea typeface="新宋体" panose="02010609030101010101" charset="-122"/>
              </a:rPr>
              <a:t>G</a:t>
            </a:r>
            <a:r>
              <a:rPr lang="zh-CN" altLang="en-US" sz="2800">
                <a:latin typeface="新宋体" panose="02010609030101010101" charset="-122"/>
                <a:ea typeface="新宋体" panose="02010609030101010101" charset="-122"/>
              </a:rPr>
              <a:t>是否包含一个</a:t>
            </a:r>
            <a:r>
              <a:rPr lang="en-US" altLang="zh-CN" sz="2800">
                <a:latin typeface="新宋体" panose="02010609030101010101" charset="-122"/>
                <a:ea typeface="新宋体" panose="02010609030101010101" charset="-122"/>
              </a:rPr>
              <a:t>k</a:t>
            </a:r>
            <a:r>
              <a:rPr lang="zh-CN" altLang="en-US" sz="2800">
                <a:latin typeface="新宋体" panose="02010609030101010101" charset="-122"/>
                <a:ea typeface="新宋体" panose="02010609030101010101" charset="-122"/>
              </a:rPr>
              <a:t>团，即是否存在，</a:t>
            </a:r>
            <a:r>
              <a:rPr lang="en-US" altLang="zh-CN" sz="2800">
                <a:latin typeface="新宋体" panose="02010609030101010101" charset="-122"/>
                <a:ea typeface="新宋体" panose="02010609030101010101" charset="-122"/>
              </a:rPr>
              <a:t>V</a:t>
            </a:r>
            <a:r>
              <a:rPr lang="en-US" altLang="zh-CN" sz="2800">
                <a:latin typeface="Times New Roman" panose="02020603050405020304"/>
                <a:ea typeface="新宋体" panose="02010609030101010101" charset="-122"/>
              </a:rPr>
              <a:t>’</a:t>
            </a:r>
            <a:r>
              <a:rPr lang="en-US" altLang="zh-CN" sz="2800">
                <a:latin typeface="新宋体" panose="02010609030101010101" charset="-122"/>
                <a:ea typeface="新宋体" panose="02010609030101010101" charset="-122"/>
                <a:sym typeface="Symbol" panose="05050102010706020507" pitchFamily="18" charset="2"/>
              </a:rPr>
              <a:t></a:t>
            </a:r>
            <a:r>
              <a:rPr lang="en-US" altLang="zh-CN" sz="2800">
                <a:latin typeface="新宋体" panose="02010609030101010101" charset="-122"/>
                <a:ea typeface="新宋体" panose="02010609030101010101" charset="-122"/>
              </a:rPr>
              <a:t>V</a:t>
            </a:r>
            <a:r>
              <a:rPr lang="zh-CN" altLang="en-US" sz="2800">
                <a:latin typeface="新宋体" panose="02010609030101010101" charset="-122"/>
                <a:ea typeface="新宋体" panose="02010609030101010101" charset="-122"/>
              </a:rPr>
              <a:t>，</a:t>
            </a:r>
            <a:r>
              <a:rPr lang="en-US" altLang="zh-CN" sz="2800">
                <a:latin typeface="新宋体" panose="02010609030101010101" charset="-122"/>
                <a:ea typeface="新宋体" panose="02010609030101010101" charset="-122"/>
              </a:rPr>
              <a:t>|V</a:t>
            </a:r>
            <a:r>
              <a:rPr lang="en-US" altLang="zh-CN" sz="2800">
                <a:latin typeface="Times New Roman" panose="02020603050405020304"/>
                <a:ea typeface="新宋体" panose="02010609030101010101" charset="-122"/>
              </a:rPr>
              <a:t>’</a:t>
            </a:r>
            <a:r>
              <a:rPr lang="en-US" altLang="zh-CN" sz="2800">
                <a:latin typeface="新宋体" panose="02010609030101010101" charset="-122"/>
                <a:ea typeface="新宋体" panose="02010609030101010101" charset="-122"/>
              </a:rPr>
              <a:t>|=k</a:t>
            </a:r>
            <a:r>
              <a:rPr lang="zh-CN" altLang="en-US" sz="2800">
                <a:latin typeface="新宋体" panose="02010609030101010101" charset="-122"/>
                <a:ea typeface="新宋体" panose="02010609030101010101" charset="-122"/>
              </a:rPr>
              <a:t>，且对任意</a:t>
            </a:r>
            <a:r>
              <a:rPr lang="en-US" altLang="zh-CN" sz="2800">
                <a:latin typeface="新宋体" panose="02010609030101010101" charset="-122"/>
                <a:ea typeface="新宋体" panose="02010609030101010101" charset="-122"/>
              </a:rPr>
              <a:t>u</a:t>
            </a:r>
            <a:r>
              <a:rPr lang="zh-CN" altLang="en-US" sz="2800">
                <a:latin typeface="新宋体" panose="02010609030101010101" charset="-122"/>
                <a:ea typeface="新宋体" panose="02010609030101010101" charset="-122"/>
              </a:rPr>
              <a:t>，</a:t>
            </a:r>
            <a:r>
              <a:rPr lang="en-US" altLang="zh-CN" sz="2800">
                <a:latin typeface="新宋体" panose="02010609030101010101" charset="-122"/>
                <a:ea typeface="新宋体" panose="02010609030101010101" charset="-122"/>
              </a:rPr>
              <a:t>w∈V</a:t>
            </a:r>
            <a:r>
              <a:rPr lang="en-US" altLang="zh-CN" sz="2800">
                <a:latin typeface="Times New Roman" panose="02020603050405020304"/>
                <a:ea typeface="新宋体" panose="02010609030101010101" charset="-122"/>
              </a:rPr>
              <a:t>’</a:t>
            </a:r>
            <a:r>
              <a:rPr lang="zh-CN" altLang="en-US" sz="2800">
                <a:latin typeface="新宋体" panose="02010609030101010101" charset="-122"/>
                <a:ea typeface="新宋体" panose="02010609030101010101" charset="-122"/>
              </a:rPr>
              <a:t>有</a:t>
            </a:r>
            <a:r>
              <a:rPr lang="en-US" altLang="zh-CN" sz="2800">
                <a:latin typeface="新宋体" panose="02010609030101010101" charset="-122"/>
                <a:ea typeface="新宋体" panose="02010609030101010101" charset="-122"/>
              </a:rPr>
              <a:t>(u</a:t>
            </a:r>
            <a:r>
              <a:rPr lang="zh-CN" altLang="en-US" sz="2800">
                <a:latin typeface="新宋体" panose="02010609030101010101" charset="-122"/>
                <a:ea typeface="新宋体" panose="02010609030101010101" charset="-122"/>
              </a:rPr>
              <a:t>，</a:t>
            </a:r>
            <a:r>
              <a:rPr lang="en-US" altLang="zh-CN" sz="2800">
                <a:latin typeface="新宋体" panose="02010609030101010101" charset="-122"/>
                <a:ea typeface="新宋体" panose="02010609030101010101" charset="-122"/>
              </a:rPr>
              <a:t>w)∈E</a:t>
            </a:r>
            <a:r>
              <a:rPr lang="zh-CN" altLang="en-US" sz="2800">
                <a:latin typeface="新宋体" panose="02010609030101010101" charset="-122"/>
                <a:ea typeface="新宋体" panose="02010609030101010101" charset="-122"/>
              </a:rPr>
              <a:t>。 </a:t>
            </a:r>
            <a:endParaRPr lang="zh-CN" altLang="en-US" sz="2800">
              <a:latin typeface="新宋体" panose="02010609030101010101" charset="-122"/>
              <a:ea typeface="新宋体" panose="02010609030101010101"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2676"/>
                                        </p:tgtEl>
                                        <p:attrNameLst>
                                          <p:attrName>style.visibility</p:attrName>
                                        </p:attrNameLst>
                                      </p:cBhvr>
                                      <p:to>
                                        <p:strVal val="visible"/>
                                      </p:to>
                                    </p:set>
                                    <p:animEffect transition="in" filter="blinds(horizontal)">
                                      <p:cBhvr>
                                        <p:cTn id="7" dur="500"/>
                                        <p:tgtEl>
                                          <p:spTgt spid="41267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12675"/>
                                        </p:tgtEl>
                                        <p:attrNameLst>
                                          <p:attrName>style.visibility</p:attrName>
                                        </p:attrNameLst>
                                      </p:cBhvr>
                                      <p:to>
                                        <p:strVal val="visible"/>
                                      </p:to>
                                    </p:set>
                                    <p:animEffect transition="in" filter="blinds(horizontal)">
                                      <p:cBhvr>
                                        <p:cTn id="12" dur="500"/>
                                        <p:tgtEl>
                                          <p:spTgt spid="4126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675" grpId="0" autoUpdateAnimBg="0"/>
      <p:bldP spid="412676"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121A516A-676F-41D0-9429-6B0152A59C5F}" type="slidenum">
              <a:rPr lang="en-US" altLang="zh-CN"/>
            </a:fld>
            <a:endParaRPr lang="en-US" altLang="zh-CN"/>
          </a:p>
        </p:txBody>
      </p:sp>
      <p:sp>
        <p:nvSpPr>
          <p:cNvPr id="413698" name="Rectangle 2"/>
          <p:cNvSpPr>
            <a:spLocks noGrp="1" noChangeArrowheads="1"/>
          </p:cNvSpPr>
          <p:nvPr>
            <p:ph type="title"/>
          </p:nvPr>
        </p:nvSpPr>
        <p:spPr>
          <a:xfrm>
            <a:off x="685800" y="838200"/>
            <a:ext cx="8001000" cy="1371600"/>
          </a:xfrm>
        </p:spPr>
        <p:txBody>
          <a:bodyPr/>
          <a:lstStyle/>
          <a:p>
            <a:r>
              <a:rPr lang="en-US" altLang="zh-CN"/>
              <a:t>8.4.4  </a:t>
            </a:r>
            <a:r>
              <a:rPr lang="zh-CN" altLang="en-US">
                <a:latin typeface="新宋体" panose="02010609030101010101" charset="-122"/>
                <a:ea typeface="新宋体" panose="02010609030101010101" charset="-122"/>
              </a:rPr>
              <a:t>顶点覆盖问题</a:t>
            </a:r>
            <a:br>
              <a:rPr lang="zh-CN" altLang="en-US">
                <a:latin typeface="新宋体" panose="02010609030101010101" charset="-122"/>
                <a:ea typeface="新宋体" panose="02010609030101010101" charset="-122"/>
              </a:rPr>
            </a:br>
            <a:r>
              <a:rPr lang="zh-CN" altLang="en-US">
                <a:latin typeface="新宋体" panose="02010609030101010101" charset="-122"/>
                <a:ea typeface="新宋体" panose="02010609030101010101" charset="-122"/>
              </a:rPr>
              <a:t>	</a:t>
            </a:r>
            <a:r>
              <a:rPr lang="zh-CN" altLang="en-US" sz="3000">
                <a:latin typeface="新宋体" panose="02010609030101010101" charset="-122"/>
                <a:ea typeface="新宋体" panose="02010609030101010101" charset="-122"/>
              </a:rPr>
              <a:t>（</a:t>
            </a:r>
            <a:r>
              <a:rPr lang="en-US" altLang="zh-CN" sz="3000">
                <a:latin typeface="新宋体" panose="02010609030101010101" charset="-122"/>
              </a:rPr>
              <a:t>VERTEX-COVER</a:t>
            </a:r>
            <a:r>
              <a:rPr lang="zh-CN" altLang="en-US" sz="3000">
                <a:latin typeface="新宋体" panose="02010609030101010101" charset="-122"/>
              </a:rPr>
              <a:t>）</a:t>
            </a:r>
            <a:r>
              <a:rPr lang="zh-CN" altLang="en-US">
                <a:ea typeface="新宋体" panose="02010609030101010101" charset="-122"/>
              </a:rPr>
              <a:t> </a:t>
            </a:r>
            <a:endParaRPr lang="zh-CN" altLang="en-US">
              <a:ea typeface="新宋体" panose="02010609030101010101" charset="-122"/>
            </a:endParaRPr>
          </a:p>
        </p:txBody>
      </p:sp>
      <p:sp>
        <p:nvSpPr>
          <p:cNvPr id="413699" name="Text Box 3"/>
          <p:cNvSpPr txBox="1">
            <a:spLocks noChangeArrowheads="1"/>
          </p:cNvSpPr>
          <p:nvPr/>
        </p:nvSpPr>
        <p:spPr bwMode="auto">
          <a:xfrm>
            <a:off x="304800" y="3962400"/>
            <a:ext cx="84582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b="1">
                <a:latin typeface="新宋体" panose="02010609030101010101" charset="-122"/>
                <a:ea typeface="新宋体" panose="02010609030101010101" charset="-122"/>
              </a:rPr>
              <a:t>证明思路：</a:t>
            </a:r>
            <a:r>
              <a:rPr lang="zh-CN" altLang="en-US" sz="2400">
                <a:latin typeface="新宋体" panose="02010609030101010101" charset="-122"/>
                <a:ea typeface="新宋体" panose="02010609030101010101" charset="-122"/>
              </a:rPr>
              <a:t> </a:t>
            </a:r>
            <a:endParaRPr lang="zh-CN" altLang="en-US"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    首先，</a:t>
            </a:r>
            <a:r>
              <a:rPr lang="en-US" altLang="zh-CN" sz="2400">
                <a:latin typeface="新宋体" panose="02010609030101010101" charset="-122"/>
                <a:ea typeface="新宋体" panose="02010609030101010101" charset="-122"/>
              </a:rPr>
              <a:t>VERTEX-COVER∈NP</a:t>
            </a:r>
            <a:r>
              <a:rPr lang="zh-CN" altLang="en-US" sz="2400">
                <a:latin typeface="新宋体" panose="02010609030101010101" charset="-122"/>
                <a:ea typeface="新宋体" panose="02010609030101010101" charset="-122"/>
              </a:rPr>
              <a:t>。因为对于给定的图</a:t>
            </a:r>
            <a:r>
              <a:rPr lang="en-US" altLang="zh-CN" sz="2400">
                <a:latin typeface="新宋体" panose="02010609030101010101" charset="-122"/>
                <a:ea typeface="新宋体" panose="02010609030101010101" charset="-122"/>
              </a:rPr>
              <a:t>G</a:t>
            </a:r>
            <a:r>
              <a:rPr lang="zh-CN" altLang="en-US" sz="2400">
                <a:latin typeface="新宋体" panose="02010609030101010101" charset="-122"/>
                <a:ea typeface="新宋体" panose="02010609030101010101" charset="-122"/>
              </a:rPr>
              <a:t>和正整数</a:t>
            </a:r>
            <a:r>
              <a:rPr lang="en-US" altLang="zh-CN" sz="2400">
                <a:latin typeface="新宋体" panose="02010609030101010101" charset="-122"/>
                <a:ea typeface="新宋体" panose="02010609030101010101" charset="-122"/>
              </a:rPr>
              <a:t>k</a:t>
            </a:r>
            <a:r>
              <a:rPr lang="zh-CN" altLang="en-US" sz="2400">
                <a:latin typeface="新宋体" panose="02010609030101010101" charset="-122"/>
                <a:ea typeface="新宋体" panose="02010609030101010101" charset="-122"/>
              </a:rPr>
              <a:t>以及一个</a:t>
            </a:r>
            <a:r>
              <a:rPr lang="zh-CN" altLang="en-US" sz="2400">
                <a:latin typeface="Times New Roman" panose="02020603050405020304"/>
                <a:ea typeface="新宋体" panose="02010609030101010101" charset="-122"/>
              </a:rPr>
              <a:t>“</a:t>
            </a:r>
            <a:r>
              <a:rPr lang="zh-CN" altLang="en-US" sz="2400">
                <a:latin typeface="新宋体" panose="02010609030101010101" charset="-122"/>
                <a:ea typeface="新宋体" panose="02010609030101010101" charset="-122"/>
              </a:rPr>
              <a:t>证书</a:t>
            </a:r>
            <a:r>
              <a:rPr lang="zh-CN" altLang="en-US" sz="2400">
                <a:latin typeface="Times New Roman" panose="02020603050405020304"/>
                <a:ea typeface="新宋体" panose="02010609030101010101" charset="-122"/>
              </a:rPr>
              <a:t>”</a:t>
            </a:r>
            <a:r>
              <a:rPr lang="en-US" altLang="zh-CN" sz="2400">
                <a:latin typeface="新宋体" panose="02010609030101010101" charset="-122"/>
                <a:ea typeface="新宋体" panose="02010609030101010101" charset="-122"/>
              </a:rPr>
              <a:t>V</a:t>
            </a:r>
            <a:r>
              <a:rPr lang="en-US" altLang="zh-CN" sz="2400">
                <a:latin typeface="Times New Roman" panose="02020603050405020304"/>
                <a:ea typeface="新宋体" panose="02010609030101010101" charset="-122"/>
              </a:rPr>
              <a:t>’</a:t>
            </a:r>
            <a:r>
              <a:rPr lang="zh-CN" altLang="en-US" sz="2400">
                <a:latin typeface="新宋体" panose="02010609030101010101" charset="-122"/>
                <a:ea typeface="新宋体" panose="02010609030101010101" charset="-122"/>
              </a:rPr>
              <a:t>，验证</a:t>
            </a:r>
            <a:r>
              <a:rPr lang="en-US" altLang="zh-CN" sz="2400">
                <a:latin typeface="新宋体" panose="02010609030101010101" charset="-122"/>
                <a:ea typeface="新宋体" panose="02010609030101010101" charset="-122"/>
              </a:rPr>
              <a:t>|V</a:t>
            </a:r>
            <a:r>
              <a:rPr lang="en-US" altLang="zh-CN" sz="2400">
                <a:latin typeface="Times New Roman" panose="02020603050405020304"/>
                <a:ea typeface="新宋体" panose="02010609030101010101" charset="-122"/>
              </a:rPr>
              <a:t>’</a:t>
            </a:r>
            <a:r>
              <a:rPr lang="en-US" altLang="zh-CN" sz="2400">
                <a:latin typeface="新宋体" panose="02010609030101010101" charset="-122"/>
                <a:ea typeface="新宋体" panose="02010609030101010101" charset="-122"/>
              </a:rPr>
              <a:t>|=k</a:t>
            </a:r>
            <a:r>
              <a:rPr lang="zh-CN" altLang="en-US" sz="2400">
                <a:latin typeface="新宋体" panose="02010609030101010101" charset="-122"/>
                <a:ea typeface="新宋体" panose="02010609030101010101" charset="-122"/>
              </a:rPr>
              <a:t>，然后对每条边</a:t>
            </a:r>
            <a:r>
              <a:rPr lang="en-US" altLang="zh-CN" sz="2400">
                <a:latin typeface="新宋体" panose="02010609030101010101" charset="-122"/>
                <a:ea typeface="新宋体" panose="02010609030101010101" charset="-122"/>
              </a:rPr>
              <a:t>(u</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v)∈E</a:t>
            </a:r>
            <a:r>
              <a:rPr lang="zh-CN" altLang="en-US" sz="2400">
                <a:latin typeface="新宋体" panose="02010609030101010101" charset="-122"/>
                <a:ea typeface="新宋体" panose="02010609030101010101" charset="-122"/>
              </a:rPr>
              <a:t>，检查是否有</a:t>
            </a:r>
            <a:r>
              <a:rPr lang="en-US" altLang="zh-CN" sz="2400">
                <a:latin typeface="新宋体" panose="02010609030101010101" charset="-122"/>
                <a:ea typeface="新宋体" panose="02010609030101010101" charset="-122"/>
              </a:rPr>
              <a:t>u∈V</a:t>
            </a:r>
            <a:r>
              <a:rPr lang="en-US" altLang="zh-CN" sz="2400">
                <a:latin typeface="Times New Roman" panose="02020603050405020304"/>
                <a:ea typeface="新宋体" panose="02010609030101010101" charset="-122"/>
              </a:rPr>
              <a:t>’</a:t>
            </a:r>
            <a:r>
              <a:rPr lang="zh-CN" altLang="en-US" sz="2400">
                <a:latin typeface="新宋体" panose="02010609030101010101" charset="-122"/>
                <a:ea typeface="新宋体" panose="02010609030101010101" charset="-122"/>
              </a:rPr>
              <a:t>或</a:t>
            </a:r>
            <a:r>
              <a:rPr lang="en-US" altLang="zh-CN" sz="2400">
                <a:latin typeface="新宋体" panose="02010609030101010101" charset="-122"/>
                <a:ea typeface="新宋体" panose="02010609030101010101" charset="-122"/>
              </a:rPr>
              <a:t>v∈V</a:t>
            </a:r>
            <a:r>
              <a:rPr lang="en-US" altLang="zh-CN" sz="2400">
                <a:latin typeface="Times New Roman" panose="02020603050405020304"/>
                <a:ea typeface="新宋体" panose="02010609030101010101" charset="-122"/>
              </a:rPr>
              <a:t>’</a:t>
            </a:r>
            <a:r>
              <a:rPr lang="zh-CN" altLang="en-US" sz="2400">
                <a:latin typeface="新宋体" panose="02010609030101010101" charset="-122"/>
                <a:ea typeface="新宋体" panose="02010609030101010101" charset="-122"/>
              </a:rPr>
              <a:t>，显然可在多项式时间内完成。</a:t>
            </a:r>
            <a:endParaRPr lang="zh-CN" altLang="en-US"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    其次，通过</a:t>
            </a:r>
            <a:r>
              <a:rPr lang="en-US" altLang="zh-CN" sz="2400">
                <a:latin typeface="新宋体" panose="02010609030101010101" charset="-122"/>
                <a:ea typeface="新宋体" panose="02010609030101010101" charset="-122"/>
              </a:rPr>
              <a:t>CLIQUE∝</a:t>
            </a:r>
            <a:r>
              <a:rPr lang="en-US" altLang="zh-CN" sz="2400" baseline="-30000">
                <a:latin typeface="新宋体" panose="02010609030101010101" charset="-122"/>
                <a:ea typeface="新宋体" panose="02010609030101010101" charset="-122"/>
              </a:rPr>
              <a:t>p</a:t>
            </a:r>
            <a:r>
              <a:rPr lang="en-US" altLang="zh-CN" sz="2400">
                <a:latin typeface="新宋体" panose="02010609030101010101" charset="-122"/>
                <a:ea typeface="新宋体" panose="02010609030101010101" charset="-122"/>
              </a:rPr>
              <a:t>VERTEX-COVER</a:t>
            </a:r>
            <a:r>
              <a:rPr lang="zh-CN" altLang="en-US" sz="2400">
                <a:latin typeface="新宋体" panose="02010609030101010101" charset="-122"/>
                <a:ea typeface="新宋体" panose="02010609030101010101" charset="-122"/>
              </a:rPr>
              <a:t>来证明顶点覆盖问题是</a:t>
            </a:r>
            <a:r>
              <a:rPr lang="en-US" altLang="zh-CN" sz="2400">
                <a:latin typeface="新宋体" panose="02010609030101010101" charset="-122"/>
                <a:ea typeface="新宋体" panose="02010609030101010101" charset="-122"/>
              </a:rPr>
              <a:t>NP</a:t>
            </a:r>
            <a:r>
              <a:rPr lang="zh-CN" altLang="en-US" sz="2400">
                <a:latin typeface="新宋体" panose="02010609030101010101" charset="-122"/>
                <a:ea typeface="新宋体" panose="02010609030101010101" charset="-122"/>
              </a:rPr>
              <a:t>难的。</a:t>
            </a:r>
            <a:endParaRPr lang="zh-CN" altLang="en-US" sz="2400">
              <a:latin typeface="新宋体" panose="02010609030101010101" charset="-122"/>
              <a:ea typeface="新宋体" panose="02010609030101010101" charset="-122"/>
            </a:endParaRPr>
          </a:p>
        </p:txBody>
      </p:sp>
      <p:sp>
        <p:nvSpPr>
          <p:cNvPr id="413700" name="Text Box 4"/>
          <p:cNvSpPr txBox="1">
            <a:spLocks noChangeArrowheads="1"/>
          </p:cNvSpPr>
          <p:nvPr/>
        </p:nvSpPr>
        <p:spPr bwMode="auto">
          <a:xfrm>
            <a:off x="304800" y="2362200"/>
            <a:ext cx="85344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新宋体" panose="02010609030101010101" charset="-122"/>
                <a:ea typeface="新宋体" panose="02010609030101010101" charset="-122"/>
              </a:rPr>
              <a:t>    </a:t>
            </a:r>
            <a:r>
              <a:rPr lang="zh-CN" altLang="en-US" sz="2400" b="1">
                <a:solidFill>
                  <a:schemeClr val="accent2"/>
                </a:solidFill>
                <a:latin typeface="新宋体" panose="02010609030101010101" charset="-122"/>
                <a:ea typeface="新宋体" panose="02010609030101010101" charset="-122"/>
              </a:rPr>
              <a:t>问题描述：</a:t>
            </a:r>
            <a:r>
              <a:rPr lang="zh-CN" altLang="en-US" sz="2400">
                <a:latin typeface="新宋体" panose="02010609030101010101" charset="-122"/>
                <a:ea typeface="新宋体" panose="02010609030101010101" charset="-122"/>
              </a:rPr>
              <a:t>给定一个无向图</a:t>
            </a:r>
            <a:r>
              <a:rPr lang="en-US" altLang="zh-CN" sz="2400">
                <a:latin typeface="新宋体" panose="02010609030101010101" charset="-122"/>
                <a:ea typeface="新宋体" panose="02010609030101010101" charset="-122"/>
              </a:rPr>
              <a:t>G=(V</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E)</a:t>
            </a:r>
            <a:r>
              <a:rPr lang="zh-CN" altLang="en-US" sz="2400">
                <a:latin typeface="新宋体" panose="02010609030101010101" charset="-122"/>
                <a:ea typeface="新宋体" panose="02010609030101010101" charset="-122"/>
              </a:rPr>
              <a:t>和一个正整数</a:t>
            </a:r>
            <a:r>
              <a:rPr lang="en-US" altLang="zh-CN" sz="2400">
                <a:latin typeface="新宋体" panose="02010609030101010101" charset="-122"/>
                <a:ea typeface="新宋体" panose="02010609030101010101" charset="-122"/>
              </a:rPr>
              <a:t>k</a:t>
            </a:r>
            <a:r>
              <a:rPr lang="zh-CN" altLang="en-US" sz="2400">
                <a:latin typeface="新宋体" panose="02010609030101010101" charset="-122"/>
                <a:ea typeface="新宋体" panose="02010609030101010101" charset="-122"/>
              </a:rPr>
              <a:t>，判定是否存在</a:t>
            </a:r>
            <a:r>
              <a:rPr lang="en-US" altLang="zh-CN" sz="2400">
                <a:latin typeface="新宋体" panose="02010609030101010101" charset="-122"/>
                <a:ea typeface="新宋体" panose="02010609030101010101" charset="-122"/>
              </a:rPr>
              <a:t>V</a:t>
            </a:r>
            <a:r>
              <a:rPr lang="en-US" altLang="zh-CN" sz="2400">
                <a:latin typeface="Times New Roman" panose="02020603050405020304"/>
                <a:ea typeface="新宋体" panose="02010609030101010101" charset="-122"/>
              </a:rPr>
              <a:t>’</a:t>
            </a:r>
            <a:r>
              <a:rPr lang="en-US" altLang="zh-CN" sz="2400">
                <a:latin typeface="新宋体" panose="02010609030101010101" charset="-122"/>
                <a:ea typeface="新宋体" panose="02010609030101010101" charset="-122"/>
                <a:sym typeface="Symbol" panose="05050102010706020507" pitchFamily="18" charset="2"/>
              </a:rPr>
              <a:t></a:t>
            </a:r>
            <a:r>
              <a:rPr lang="en-US" altLang="zh-CN" sz="2400">
                <a:latin typeface="新宋体" panose="02010609030101010101" charset="-122"/>
                <a:ea typeface="新宋体" panose="02010609030101010101" charset="-122"/>
              </a:rPr>
              <a:t>V</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|V</a:t>
            </a:r>
            <a:r>
              <a:rPr lang="en-US" altLang="zh-CN" sz="2400">
                <a:latin typeface="Times New Roman" panose="02020603050405020304"/>
                <a:ea typeface="新宋体" panose="02010609030101010101" charset="-122"/>
              </a:rPr>
              <a:t>’</a:t>
            </a:r>
            <a:r>
              <a:rPr lang="en-US" altLang="zh-CN" sz="2400">
                <a:latin typeface="新宋体" panose="02010609030101010101" charset="-122"/>
                <a:ea typeface="新宋体" panose="02010609030101010101" charset="-122"/>
              </a:rPr>
              <a:t>|=k</a:t>
            </a:r>
            <a:r>
              <a:rPr lang="zh-CN" altLang="en-US" sz="2400">
                <a:latin typeface="新宋体" panose="02010609030101010101" charset="-122"/>
                <a:ea typeface="新宋体" panose="02010609030101010101" charset="-122"/>
              </a:rPr>
              <a:t>，使得对于任意</a:t>
            </a:r>
            <a:r>
              <a:rPr lang="en-US" altLang="zh-CN" sz="2400">
                <a:latin typeface="新宋体" panose="02010609030101010101" charset="-122"/>
                <a:ea typeface="新宋体" panose="02010609030101010101" charset="-122"/>
              </a:rPr>
              <a:t>(u</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v)∈E</a:t>
            </a:r>
            <a:r>
              <a:rPr lang="zh-CN" altLang="en-US" sz="2400">
                <a:latin typeface="新宋体" panose="02010609030101010101" charset="-122"/>
                <a:ea typeface="新宋体" panose="02010609030101010101" charset="-122"/>
              </a:rPr>
              <a:t>有</a:t>
            </a:r>
            <a:r>
              <a:rPr lang="en-US" altLang="zh-CN" sz="2400">
                <a:latin typeface="新宋体" panose="02010609030101010101" charset="-122"/>
                <a:ea typeface="新宋体" panose="02010609030101010101" charset="-122"/>
              </a:rPr>
              <a:t>u∈V</a:t>
            </a:r>
            <a:r>
              <a:rPr lang="en-US" altLang="zh-CN" sz="2400">
                <a:latin typeface="Times New Roman" panose="02020603050405020304"/>
                <a:ea typeface="新宋体" panose="02010609030101010101" charset="-122"/>
              </a:rPr>
              <a:t>’</a:t>
            </a:r>
            <a:r>
              <a:rPr lang="zh-CN" altLang="en-US" sz="2400">
                <a:latin typeface="新宋体" panose="02010609030101010101" charset="-122"/>
                <a:ea typeface="新宋体" panose="02010609030101010101" charset="-122"/>
              </a:rPr>
              <a:t>或</a:t>
            </a:r>
            <a:r>
              <a:rPr lang="en-US" altLang="zh-CN" sz="2400">
                <a:latin typeface="新宋体" panose="02010609030101010101" charset="-122"/>
                <a:ea typeface="新宋体" panose="02010609030101010101" charset="-122"/>
              </a:rPr>
              <a:t>v∈V</a:t>
            </a:r>
            <a:r>
              <a:rPr lang="en-US" altLang="zh-CN" sz="2400">
                <a:latin typeface="Times New Roman" panose="02020603050405020304"/>
                <a:ea typeface="新宋体" panose="02010609030101010101" charset="-122"/>
              </a:rPr>
              <a:t>’</a:t>
            </a:r>
            <a:r>
              <a:rPr lang="zh-CN" altLang="en-US" sz="2400">
                <a:latin typeface="新宋体" panose="02010609030101010101" charset="-122"/>
                <a:ea typeface="新宋体" panose="02010609030101010101" charset="-122"/>
              </a:rPr>
              <a:t>。如果存在这样的</a:t>
            </a:r>
            <a:r>
              <a:rPr lang="en-US" altLang="zh-CN" sz="2400">
                <a:latin typeface="新宋体" panose="02010609030101010101" charset="-122"/>
                <a:ea typeface="新宋体" panose="02010609030101010101" charset="-122"/>
              </a:rPr>
              <a:t>V</a:t>
            </a:r>
            <a:r>
              <a:rPr lang="en-US" altLang="zh-CN" sz="2400">
                <a:latin typeface="Times New Roman" panose="02020603050405020304"/>
                <a:ea typeface="新宋体" panose="02010609030101010101" charset="-122"/>
              </a:rPr>
              <a:t>’</a:t>
            </a:r>
            <a:r>
              <a:rPr lang="zh-CN" altLang="en-US" sz="2400">
                <a:latin typeface="新宋体" panose="02010609030101010101" charset="-122"/>
                <a:ea typeface="新宋体" panose="02010609030101010101" charset="-122"/>
              </a:rPr>
              <a:t>，就称</a:t>
            </a:r>
            <a:r>
              <a:rPr lang="en-US" altLang="zh-CN" sz="2400">
                <a:latin typeface="新宋体" panose="02010609030101010101" charset="-122"/>
                <a:ea typeface="新宋体" panose="02010609030101010101" charset="-122"/>
              </a:rPr>
              <a:t>V</a:t>
            </a:r>
            <a:r>
              <a:rPr lang="en-US" altLang="zh-CN" sz="2400">
                <a:latin typeface="Times New Roman" panose="02020603050405020304"/>
                <a:ea typeface="新宋体" panose="02010609030101010101" charset="-122"/>
              </a:rPr>
              <a:t>’</a:t>
            </a:r>
            <a:r>
              <a:rPr lang="zh-CN" altLang="en-US" sz="2400">
                <a:latin typeface="新宋体" panose="02010609030101010101" charset="-122"/>
                <a:ea typeface="新宋体" panose="02010609030101010101" charset="-122"/>
              </a:rPr>
              <a:t>为图</a:t>
            </a:r>
            <a:r>
              <a:rPr lang="en-US" altLang="zh-CN" sz="2400">
                <a:latin typeface="新宋体" panose="02010609030101010101" charset="-122"/>
                <a:ea typeface="新宋体" panose="02010609030101010101" charset="-122"/>
              </a:rPr>
              <a:t>G</a:t>
            </a:r>
            <a:r>
              <a:rPr lang="zh-CN" altLang="en-US" sz="2400">
                <a:latin typeface="新宋体" panose="02010609030101010101" charset="-122"/>
                <a:ea typeface="新宋体" panose="02010609030101010101" charset="-122"/>
              </a:rPr>
              <a:t>的一个大小为</a:t>
            </a:r>
            <a:r>
              <a:rPr lang="en-US" altLang="zh-CN" sz="2400">
                <a:latin typeface="新宋体" panose="02010609030101010101" charset="-122"/>
                <a:ea typeface="新宋体" panose="02010609030101010101" charset="-122"/>
              </a:rPr>
              <a:t>k</a:t>
            </a:r>
            <a:r>
              <a:rPr lang="zh-CN" altLang="en-US" sz="2400">
                <a:latin typeface="新宋体" panose="02010609030101010101" charset="-122"/>
                <a:ea typeface="新宋体" panose="02010609030101010101" charset="-122"/>
              </a:rPr>
              <a:t>顶点覆盖。 </a:t>
            </a:r>
            <a:endParaRPr lang="zh-CN" altLang="en-US" sz="2400">
              <a:latin typeface="新宋体" panose="02010609030101010101" charset="-122"/>
              <a:ea typeface="新宋体" panose="02010609030101010101"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3700"/>
                                        </p:tgtEl>
                                        <p:attrNameLst>
                                          <p:attrName>style.visibility</p:attrName>
                                        </p:attrNameLst>
                                      </p:cBhvr>
                                      <p:to>
                                        <p:strVal val="visible"/>
                                      </p:to>
                                    </p:set>
                                    <p:animEffect transition="in" filter="blinds(horizontal)">
                                      <p:cBhvr>
                                        <p:cTn id="7" dur="500"/>
                                        <p:tgtEl>
                                          <p:spTgt spid="41370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13699"/>
                                        </p:tgtEl>
                                        <p:attrNameLst>
                                          <p:attrName>style.visibility</p:attrName>
                                        </p:attrNameLst>
                                      </p:cBhvr>
                                      <p:to>
                                        <p:strVal val="visible"/>
                                      </p:to>
                                    </p:set>
                                    <p:animEffect transition="in" filter="blinds(horizontal)">
                                      <p:cBhvr>
                                        <p:cTn id="12" dur="500"/>
                                        <p:tgtEl>
                                          <p:spTgt spid="4136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699" grpId="0" autoUpdateAnimBg="0"/>
      <p:bldP spid="413700"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DA0FE8AA-0ABA-4759-A99C-C39C7EF8E1AA}" type="slidenum">
              <a:rPr lang="en-US" altLang="zh-CN"/>
            </a:fld>
            <a:endParaRPr lang="en-US" altLang="zh-CN"/>
          </a:p>
        </p:txBody>
      </p:sp>
      <p:sp>
        <p:nvSpPr>
          <p:cNvPr id="414722" name="Rectangle 2"/>
          <p:cNvSpPr>
            <a:spLocks noGrp="1" noChangeArrowheads="1"/>
          </p:cNvSpPr>
          <p:nvPr>
            <p:ph type="title"/>
          </p:nvPr>
        </p:nvSpPr>
        <p:spPr>
          <a:xfrm>
            <a:off x="685800" y="838200"/>
            <a:ext cx="8001000" cy="1371600"/>
          </a:xfrm>
        </p:spPr>
        <p:txBody>
          <a:bodyPr/>
          <a:lstStyle/>
          <a:p>
            <a:r>
              <a:rPr lang="en-US" altLang="zh-CN"/>
              <a:t>8.4.5  </a:t>
            </a:r>
            <a:r>
              <a:rPr lang="zh-CN" altLang="en-US">
                <a:latin typeface="新宋体" panose="02010609030101010101" charset="-122"/>
                <a:ea typeface="新宋体" panose="02010609030101010101" charset="-122"/>
              </a:rPr>
              <a:t>子集和问题</a:t>
            </a:r>
            <a:br>
              <a:rPr lang="zh-CN" altLang="en-US">
                <a:latin typeface="新宋体" panose="02010609030101010101" charset="-122"/>
                <a:ea typeface="新宋体" panose="02010609030101010101" charset="-122"/>
              </a:rPr>
            </a:br>
            <a:r>
              <a:rPr lang="zh-CN" altLang="en-US">
                <a:latin typeface="新宋体" panose="02010609030101010101" charset="-122"/>
                <a:ea typeface="新宋体" panose="02010609030101010101" charset="-122"/>
              </a:rPr>
              <a:t>	</a:t>
            </a:r>
            <a:r>
              <a:rPr lang="zh-CN" altLang="en-US" sz="3000">
                <a:latin typeface="新宋体" panose="02010609030101010101" charset="-122"/>
                <a:ea typeface="新宋体" panose="02010609030101010101" charset="-122"/>
              </a:rPr>
              <a:t>（</a:t>
            </a:r>
            <a:r>
              <a:rPr lang="en-US" altLang="zh-CN" sz="3000">
                <a:latin typeface="新宋体" panose="02010609030101010101" charset="-122"/>
              </a:rPr>
              <a:t>SUBSET-SUM</a:t>
            </a:r>
            <a:r>
              <a:rPr lang="zh-CN" altLang="en-US" sz="3000">
                <a:latin typeface="新宋体" panose="02010609030101010101" charset="-122"/>
              </a:rPr>
              <a:t>）</a:t>
            </a:r>
            <a:r>
              <a:rPr lang="zh-CN" altLang="en-US">
                <a:ea typeface="新宋体" panose="02010609030101010101" charset="-122"/>
              </a:rPr>
              <a:t> </a:t>
            </a:r>
            <a:endParaRPr lang="zh-CN" altLang="en-US">
              <a:ea typeface="新宋体" panose="02010609030101010101" charset="-122"/>
            </a:endParaRPr>
          </a:p>
        </p:txBody>
      </p:sp>
      <p:sp>
        <p:nvSpPr>
          <p:cNvPr id="414723" name="Text Box 3"/>
          <p:cNvSpPr txBox="1">
            <a:spLocks noChangeArrowheads="1"/>
          </p:cNvSpPr>
          <p:nvPr/>
        </p:nvSpPr>
        <p:spPr bwMode="auto">
          <a:xfrm>
            <a:off x="304800" y="2562225"/>
            <a:ext cx="85344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新宋体" panose="02010609030101010101" charset="-122"/>
                <a:ea typeface="新宋体" panose="02010609030101010101" charset="-122"/>
              </a:rPr>
              <a:t>    </a:t>
            </a:r>
            <a:r>
              <a:rPr lang="zh-CN" altLang="en-US" sz="2400" b="1">
                <a:solidFill>
                  <a:schemeClr val="accent2"/>
                </a:solidFill>
                <a:latin typeface="新宋体" panose="02010609030101010101" charset="-122"/>
                <a:ea typeface="新宋体" panose="02010609030101010101" charset="-122"/>
              </a:rPr>
              <a:t>问题描述：</a:t>
            </a:r>
            <a:r>
              <a:rPr lang="zh-CN" altLang="en-US" sz="2400">
                <a:latin typeface="新宋体" panose="02010609030101010101" charset="-122"/>
                <a:ea typeface="新宋体" panose="02010609030101010101" charset="-122"/>
              </a:rPr>
              <a:t>给定整数集合</a:t>
            </a:r>
            <a:r>
              <a:rPr lang="en-US" altLang="zh-CN" sz="2400">
                <a:latin typeface="新宋体" panose="02010609030101010101" charset="-122"/>
                <a:ea typeface="新宋体" panose="02010609030101010101" charset="-122"/>
              </a:rPr>
              <a:t>S</a:t>
            </a:r>
            <a:r>
              <a:rPr lang="zh-CN" altLang="en-US" sz="2400">
                <a:latin typeface="新宋体" panose="02010609030101010101" charset="-122"/>
                <a:ea typeface="新宋体" panose="02010609030101010101" charset="-122"/>
              </a:rPr>
              <a:t>和一个整数</a:t>
            </a:r>
            <a:r>
              <a:rPr lang="en-US" altLang="zh-CN" sz="2400">
                <a:latin typeface="新宋体" panose="02010609030101010101" charset="-122"/>
                <a:ea typeface="新宋体" panose="02010609030101010101" charset="-122"/>
              </a:rPr>
              <a:t>t</a:t>
            </a:r>
            <a:r>
              <a:rPr lang="zh-CN" altLang="en-US" sz="2400">
                <a:latin typeface="新宋体" panose="02010609030101010101" charset="-122"/>
                <a:ea typeface="新宋体" panose="02010609030101010101" charset="-122"/>
              </a:rPr>
              <a:t>，判定是否存在</a:t>
            </a:r>
            <a:r>
              <a:rPr lang="en-US" altLang="zh-CN" sz="2400">
                <a:latin typeface="新宋体" panose="02010609030101010101" charset="-122"/>
                <a:ea typeface="新宋体" panose="02010609030101010101" charset="-122"/>
              </a:rPr>
              <a:t>S</a:t>
            </a:r>
            <a:r>
              <a:rPr lang="zh-CN" altLang="en-US" sz="2400">
                <a:latin typeface="新宋体" panose="02010609030101010101" charset="-122"/>
                <a:ea typeface="新宋体" panose="02010609030101010101" charset="-122"/>
              </a:rPr>
              <a:t>的一个子集</a:t>
            </a:r>
            <a:r>
              <a:rPr lang="en-US" altLang="zh-CN" sz="2400">
                <a:latin typeface="新宋体" panose="02010609030101010101" charset="-122"/>
                <a:ea typeface="新宋体" panose="02010609030101010101" charset="-122"/>
              </a:rPr>
              <a:t>S</a:t>
            </a:r>
            <a:r>
              <a:rPr lang="en-US" altLang="zh-CN" sz="2400">
                <a:latin typeface="Times New Roman" panose="02020603050405020304"/>
                <a:ea typeface="新宋体" panose="02010609030101010101" charset="-122"/>
              </a:rPr>
              <a:t>’</a:t>
            </a:r>
            <a:r>
              <a:rPr lang="en-US" altLang="zh-CN" sz="2400">
                <a:latin typeface="新宋体" panose="02010609030101010101" charset="-122"/>
                <a:ea typeface="新宋体" panose="02010609030101010101" charset="-122"/>
                <a:sym typeface="Symbol" panose="05050102010706020507" pitchFamily="18" charset="2"/>
              </a:rPr>
              <a:t></a:t>
            </a:r>
            <a:r>
              <a:rPr lang="en-US" altLang="zh-CN" sz="2400">
                <a:latin typeface="新宋体" panose="02010609030101010101" charset="-122"/>
                <a:ea typeface="新宋体" panose="02010609030101010101" charset="-122"/>
              </a:rPr>
              <a:t>S</a:t>
            </a:r>
            <a:r>
              <a:rPr lang="zh-CN" altLang="en-US" sz="2400">
                <a:latin typeface="新宋体" panose="02010609030101010101" charset="-122"/>
                <a:ea typeface="新宋体" panose="02010609030101010101" charset="-122"/>
              </a:rPr>
              <a:t>，使得</a:t>
            </a:r>
            <a:r>
              <a:rPr lang="en-US" altLang="zh-CN" sz="2400">
                <a:latin typeface="新宋体" panose="02010609030101010101" charset="-122"/>
                <a:ea typeface="新宋体" panose="02010609030101010101" charset="-122"/>
              </a:rPr>
              <a:t>S</a:t>
            </a:r>
            <a:r>
              <a:rPr lang="en-US" altLang="zh-CN" sz="2400">
                <a:latin typeface="Times New Roman" panose="02020603050405020304"/>
                <a:ea typeface="新宋体" panose="02010609030101010101" charset="-122"/>
              </a:rPr>
              <a:t>’</a:t>
            </a:r>
            <a:r>
              <a:rPr lang="zh-CN" altLang="en-US" sz="2400">
                <a:latin typeface="新宋体" panose="02010609030101010101" charset="-122"/>
                <a:ea typeface="新宋体" panose="02010609030101010101" charset="-122"/>
              </a:rPr>
              <a:t>中整数的和为</a:t>
            </a:r>
            <a:r>
              <a:rPr lang="en-US" altLang="zh-CN" sz="2400">
                <a:latin typeface="新宋体" panose="02010609030101010101" charset="-122"/>
                <a:ea typeface="新宋体" panose="02010609030101010101" charset="-122"/>
              </a:rPr>
              <a:t>t</a:t>
            </a:r>
            <a:r>
              <a:rPr lang="zh-CN" altLang="en-US" sz="2400">
                <a:latin typeface="新宋体" panose="02010609030101010101" charset="-122"/>
                <a:ea typeface="新宋体" panose="02010609030101010101" charset="-122"/>
              </a:rPr>
              <a:t>。例如，若</a:t>
            </a:r>
            <a:r>
              <a:rPr lang="en-US" altLang="zh-CN" sz="2400">
                <a:latin typeface="新宋体" panose="02010609030101010101" charset="-122"/>
                <a:ea typeface="新宋体" panose="02010609030101010101" charset="-122"/>
              </a:rPr>
              <a:t>S={1</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4</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16</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64</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256</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1040</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1041</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1093</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1284</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1344}</a:t>
            </a:r>
            <a:r>
              <a:rPr lang="zh-CN" altLang="en-US" sz="2400">
                <a:latin typeface="新宋体" panose="02010609030101010101" charset="-122"/>
                <a:ea typeface="新宋体" panose="02010609030101010101" charset="-122"/>
              </a:rPr>
              <a:t>且</a:t>
            </a:r>
            <a:r>
              <a:rPr lang="en-US" altLang="zh-CN" sz="2400">
                <a:latin typeface="新宋体" panose="02010609030101010101" charset="-122"/>
                <a:ea typeface="新宋体" panose="02010609030101010101" charset="-122"/>
              </a:rPr>
              <a:t>t=3754</a:t>
            </a:r>
            <a:r>
              <a:rPr lang="zh-CN" altLang="en-US" sz="2400">
                <a:latin typeface="新宋体" panose="02010609030101010101" charset="-122"/>
                <a:ea typeface="新宋体" panose="02010609030101010101" charset="-122"/>
              </a:rPr>
              <a:t>，则子集</a:t>
            </a:r>
            <a:r>
              <a:rPr lang="en-US" altLang="zh-CN" sz="2400">
                <a:latin typeface="新宋体" panose="02010609030101010101" charset="-122"/>
                <a:ea typeface="新宋体" panose="02010609030101010101" charset="-122"/>
              </a:rPr>
              <a:t>S</a:t>
            </a:r>
            <a:r>
              <a:rPr lang="en-US" altLang="zh-CN" sz="2400">
                <a:latin typeface="Times New Roman" panose="02020603050405020304"/>
                <a:ea typeface="新宋体" panose="02010609030101010101" charset="-122"/>
              </a:rPr>
              <a:t>’</a:t>
            </a:r>
            <a:r>
              <a:rPr lang="en-US" altLang="zh-CN" sz="2400">
                <a:latin typeface="新宋体" panose="02010609030101010101" charset="-122"/>
                <a:ea typeface="新宋体" panose="02010609030101010101" charset="-122"/>
              </a:rPr>
              <a:t>={1</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16</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64</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256</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1040</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1093</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1284}</a:t>
            </a:r>
            <a:r>
              <a:rPr lang="zh-CN" altLang="en-US" sz="2400">
                <a:latin typeface="新宋体" panose="02010609030101010101" charset="-122"/>
                <a:ea typeface="新宋体" panose="02010609030101010101" charset="-122"/>
              </a:rPr>
              <a:t>是一个解。</a:t>
            </a:r>
            <a:r>
              <a:rPr lang="zh-CN" altLang="en-US" sz="2400">
                <a:latin typeface="宋体" panose="02010600030101010101" pitchFamily="2" charset="-122"/>
              </a:rPr>
              <a:t> </a:t>
            </a:r>
            <a:r>
              <a:rPr lang="zh-CN" altLang="en-US" sz="2400">
                <a:latin typeface="新宋体" panose="02010609030101010101" charset="-122"/>
                <a:ea typeface="新宋体" panose="02010609030101010101" charset="-122"/>
              </a:rPr>
              <a:t> </a:t>
            </a:r>
            <a:endParaRPr lang="zh-CN" altLang="en-US" sz="2400">
              <a:latin typeface="新宋体" panose="02010609030101010101" charset="-122"/>
              <a:ea typeface="新宋体" panose="02010609030101010101" charset="-122"/>
            </a:endParaRPr>
          </a:p>
        </p:txBody>
      </p:sp>
      <p:grpSp>
        <p:nvGrpSpPr>
          <p:cNvPr id="414724" name="Group 4"/>
          <p:cNvGrpSpPr/>
          <p:nvPr/>
        </p:nvGrpSpPr>
        <p:grpSpPr bwMode="auto">
          <a:xfrm>
            <a:off x="304800" y="4191000"/>
            <a:ext cx="8458200" cy="1917700"/>
            <a:chOff x="192" y="2784"/>
            <a:chExt cx="5328" cy="1208"/>
          </a:xfrm>
        </p:grpSpPr>
        <p:sp>
          <p:nvSpPr>
            <p:cNvPr id="414725" name="Text Box 5"/>
            <p:cNvSpPr txBox="1">
              <a:spLocks noChangeArrowheads="1"/>
            </p:cNvSpPr>
            <p:nvPr/>
          </p:nvSpPr>
          <p:spPr bwMode="auto">
            <a:xfrm>
              <a:off x="192" y="2784"/>
              <a:ext cx="5328" cy="1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b="1">
                  <a:latin typeface="新宋体" panose="02010609030101010101" charset="-122"/>
                  <a:ea typeface="新宋体" panose="02010609030101010101" charset="-122"/>
                </a:rPr>
                <a:t>证明思路：</a:t>
              </a:r>
              <a:r>
                <a:rPr lang="zh-CN" altLang="en-US" sz="2400">
                  <a:latin typeface="新宋体" panose="02010609030101010101" charset="-122"/>
                  <a:ea typeface="新宋体" panose="02010609030101010101" charset="-122"/>
                </a:rPr>
                <a:t> </a:t>
              </a:r>
              <a:endParaRPr lang="zh-CN" altLang="en-US"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    首先，对于子集和问题的一个实例</a:t>
              </a:r>
              <a:r>
                <a:rPr lang="en-US" altLang="zh-CN" sz="2400">
                  <a:latin typeface="新宋体" panose="02010609030101010101" charset="-122"/>
                  <a:ea typeface="新宋体" panose="02010609030101010101" charset="-122"/>
                </a:rPr>
                <a:t>&lt;S</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t&gt;</a:t>
              </a:r>
              <a:r>
                <a:rPr lang="zh-CN" altLang="en-US" sz="2400">
                  <a:latin typeface="新宋体" panose="02010609030101010101" charset="-122"/>
                  <a:ea typeface="新宋体" panose="02010609030101010101" charset="-122"/>
                </a:rPr>
                <a:t>，给定一个</a:t>
              </a:r>
              <a:r>
                <a:rPr lang="zh-CN" altLang="en-US" sz="2400">
                  <a:latin typeface="Times New Roman" panose="02020603050405020304"/>
                  <a:ea typeface="新宋体" panose="02010609030101010101" charset="-122"/>
                </a:rPr>
                <a:t>“</a:t>
              </a:r>
              <a:r>
                <a:rPr lang="zh-CN" altLang="en-US" sz="2400">
                  <a:latin typeface="新宋体" panose="02010609030101010101" charset="-122"/>
                  <a:ea typeface="新宋体" panose="02010609030101010101" charset="-122"/>
                </a:rPr>
                <a:t>证书</a:t>
              </a:r>
              <a:r>
                <a:rPr lang="zh-CN" altLang="en-US" sz="2400">
                  <a:latin typeface="Times New Roman" panose="02020603050405020304"/>
                  <a:ea typeface="新宋体" panose="02010609030101010101" charset="-122"/>
                </a:rPr>
                <a:t>”</a:t>
              </a:r>
              <a:r>
                <a:rPr lang="en-US" altLang="zh-CN" sz="2400">
                  <a:latin typeface="新宋体" panose="02010609030101010101" charset="-122"/>
                  <a:ea typeface="新宋体" panose="02010609030101010101" charset="-122"/>
                </a:rPr>
                <a:t>S</a:t>
              </a:r>
              <a:r>
                <a:rPr lang="en-US" altLang="zh-CN" sz="2400">
                  <a:latin typeface="Times New Roman" panose="02020603050405020304"/>
                  <a:ea typeface="新宋体" panose="02010609030101010101" charset="-122"/>
                </a:rPr>
                <a:t>’</a:t>
              </a:r>
              <a:r>
                <a:rPr lang="zh-CN" altLang="en-US" sz="2400">
                  <a:latin typeface="新宋体" panose="02010609030101010101" charset="-122"/>
                  <a:ea typeface="新宋体" panose="02010609030101010101" charset="-122"/>
                </a:rPr>
                <a:t>，要验证</a:t>
              </a:r>
              <a:r>
                <a:rPr lang="en-US" altLang="zh-CN" sz="2400">
                  <a:latin typeface="新宋体" panose="02010609030101010101" charset="-122"/>
                  <a:ea typeface="新宋体" panose="02010609030101010101" charset="-122"/>
                </a:rPr>
                <a:t>t=      </a:t>
              </a:r>
              <a:r>
                <a:rPr lang="zh-CN" altLang="en-US" sz="2400">
                  <a:latin typeface="新宋体" panose="02010609030101010101" charset="-122"/>
                  <a:ea typeface="新宋体" panose="02010609030101010101" charset="-122"/>
                </a:rPr>
                <a:t>是否成立，显然可在多项式时间内完成。因此，</a:t>
              </a:r>
              <a:r>
                <a:rPr lang="en-US" altLang="zh-CN" sz="2400">
                  <a:latin typeface="新宋体" panose="02010609030101010101" charset="-122"/>
                  <a:ea typeface="新宋体" panose="02010609030101010101" charset="-122"/>
                </a:rPr>
                <a:t>SUBSET-SUM∈NP</a:t>
              </a:r>
              <a:r>
                <a:rPr lang="zh-CN" altLang="en-US" sz="2400">
                  <a:latin typeface="新宋体" panose="02010609030101010101" charset="-122"/>
                  <a:ea typeface="新宋体" panose="02010609030101010101" charset="-122"/>
                </a:rPr>
                <a:t>；</a:t>
              </a:r>
              <a:endParaRPr lang="zh-CN" altLang="en-US"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    其次，证明</a:t>
              </a:r>
              <a:r>
                <a:rPr lang="en-US" altLang="zh-CN" sz="2400">
                  <a:latin typeface="新宋体" panose="02010609030101010101" charset="-122"/>
                  <a:ea typeface="新宋体" panose="02010609030101010101" charset="-122"/>
                </a:rPr>
                <a:t>VERTEX-COVER∝</a:t>
              </a:r>
              <a:r>
                <a:rPr lang="en-US" altLang="zh-CN" sz="2400" baseline="-30000">
                  <a:latin typeface="新宋体" panose="02010609030101010101" charset="-122"/>
                  <a:ea typeface="新宋体" panose="02010609030101010101" charset="-122"/>
                </a:rPr>
                <a:t>p</a:t>
              </a:r>
              <a:r>
                <a:rPr lang="en-US" altLang="zh-CN" sz="2400">
                  <a:latin typeface="新宋体" panose="02010609030101010101" charset="-122"/>
                  <a:ea typeface="新宋体" panose="02010609030101010101" charset="-122"/>
                </a:rPr>
                <a:t>SUBSET-SUM</a:t>
              </a:r>
              <a:r>
                <a:rPr lang="zh-CN" altLang="en-US" sz="2400">
                  <a:latin typeface="新宋体" panose="02010609030101010101" charset="-122"/>
                  <a:ea typeface="新宋体" panose="02010609030101010101" charset="-122"/>
                </a:rPr>
                <a:t>。 </a:t>
              </a:r>
              <a:endParaRPr lang="zh-CN" altLang="en-US" sz="2400">
                <a:latin typeface="新宋体" panose="02010609030101010101" charset="-122"/>
                <a:ea typeface="新宋体" panose="02010609030101010101" charset="-122"/>
              </a:endParaRPr>
            </a:p>
          </p:txBody>
        </p:sp>
        <p:graphicFrame>
          <p:nvGraphicFramePr>
            <p:cNvPr id="414726" name="Object 6"/>
            <p:cNvGraphicFramePr>
              <a:graphicFrameLocks noChangeAspect="1"/>
            </p:cNvGraphicFramePr>
            <p:nvPr/>
          </p:nvGraphicFramePr>
          <p:xfrm>
            <a:off x="1776" y="3216"/>
            <a:ext cx="384" cy="336"/>
          </p:xfrm>
          <a:graphic>
            <a:graphicData uri="http://schemas.openxmlformats.org/presentationml/2006/ole">
              <mc:AlternateContent xmlns:mc="http://schemas.openxmlformats.org/markup-compatibility/2006">
                <mc:Choice xmlns:v="urn:schemas-microsoft-com:vml" Requires="v">
                  <p:oleObj spid="_x0000_s414729" name="" r:id="rId1" imgW="279400" imgH="342900" progId="Equation.3">
                    <p:embed/>
                  </p:oleObj>
                </mc:Choice>
                <mc:Fallback>
                  <p:oleObj name="" r:id="rId1" imgW="279400" imgH="3429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6" y="3216"/>
                          <a:ext cx="384"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4723"/>
                                        </p:tgtEl>
                                        <p:attrNameLst>
                                          <p:attrName>style.visibility</p:attrName>
                                        </p:attrNameLst>
                                      </p:cBhvr>
                                      <p:to>
                                        <p:strVal val="visible"/>
                                      </p:to>
                                    </p:set>
                                    <p:animEffect transition="in" filter="blinds(horizontal)">
                                      <p:cBhvr>
                                        <p:cTn id="7" dur="500"/>
                                        <p:tgtEl>
                                          <p:spTgt spid="4147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14724"/>
                                        </p:tgtEl>
                                        <p:attrNameLst>
                                          <p:attrName>style.visibility</p:attrName>
                                        </p:attrNameLst>
                                      </p:cBhvr>
                                      <p:to>
                                        <p:strVal val="visible"/>
                                      </p:to>
                                    </p:set>
                                    <p:animEffect transition="in" filter="dissolve">
                                      <p:cBhvr>
                                        <p:cTn id="12" dur="500"/>
                                        <p:tgtEl>
                                          <p:spTgt spid="414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3"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58430EDE-DAD1-4933-96D5-B75DA7FF4F04}" type="slidenum">
              <a:rPr lang="en-US" altLang="zh-CN"/>
            </a:fld>
            <a:endParaRPr lang="en-US" altLang="zh-CN"/>
          </a:p>
        </p:txBody>
      </p:sp>
      <p:sp>
        <p:nvSpPr>
          <p:cNvPr id="415746" name="Rectangle 2"/>
          <p:cNvSpPr>
            <a:spLocks noGrp="1" noChangeArrowheads="1"/>
          </p:cNvSpPr>
          <p:nvPr>
            <p:ph type="title"/>
          </p:nvPr>
        </p:nvSpPr>
        <p:spPr>
          <a:xfrm>
            <a:off x="685800" y="838200"/>
            <a:ext cx="8001000" cy="1371600"/>
          </a:xfrm>
        </p:spPr>
        <p:txBody>
          <a:bodyPr/>
          <a:lstStyle/>
          <a:p>
            <a:r>
              <a:rPr lang="en-US" altLang="zh-CN"/>
              <a:t>8.4.6  </a:t>
            </a:r>
            <a:r>
              <a:rPr lang="zh-CN" altLang="en-US">
                <a:latin typeface="新宋体" panose="02010609030101010101" charset="-122"/>
                <a:ea typeface="新宋体" panose="02010609030101010101" charset="-122"/>
              </a:rPr>
              <a:t>哈密顿回路问题</a:t>
            </a:r>
            <a:br>
              <a:rPr lang="zh-CN" altLang="en-US">
                <a:latin typeface="新宋体" panose="02010609030101010101" charset="-122"/>
                <a:ea typeface="新宋体" panose="02010609030101010101" charset="-122"/>
              </a:rPr>
            </a:br>
            <a:r>
              <a:rPr lang="zh-CN" altLang="en-US" sz="3500">
                <a:latin typeface="新宋体" panose="02010609030101010101" charset="-122"/>
                <a:ea typeface="新宋体" panose="02010609030101010101" charset="-122"/>
              </a:rPr>
              <a:t>	（</a:t>
            </a:r>
            <a:r>
              <a:rPr lang="en-US" altLang="zh-CN" sz="3500">
                <a:latin typeface="新宋体" panose="02010609030101010101" charset="-122"/>
              </a:rPr>
              <a:t>HAM-CYCLE</a:t>
            </a:r>
            <a:r>
              <a:rPr lang="zh-CN" altLang="en-US" sz="3500">
                <a:latin typeface="新宋体" panose="02010609030101010101" charset="-122"/>
              </a:rPr>
              <a:t>）</a:t>
            </a:r>
            <a:r>
              <a:rPr lang="zh-CN" altLang="en-US">
                <a:ea typeface="新宋体" panose="02010609030101010101" charset="-122"/>
              </a:rPr>
              <a:t> </a:t>
            </a:r>
            <a:endParaRPr lang="zh-CN" altLang="en-US">
              <a:ea typeface="新宋体" panose="02010609030101010101" charset="-122"/>
            </a:endParaRPr>
          </a:p>
        </p:txBody>
      </p:sp>
      <p:sp>
        <p:nvSpPr>
          <p:cNvPr id="415747" name="Text Box 3"/>
          <p:cNvSpPr txBox="1">
            <a:spLocks noChangeArrowheads="1"/>
          </p:cNvSpPr>
          <p:nvPr/>
        </p:nvSpPr>
        <p:spPr bwMode="auto">
          <a:xfrm>
            <a:off x="304800" y="4192588"/>
            <a:ext cx="84582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800" b="1">
                <a:latin typeface="新宋体" panose="02010609030101010101" charset="-122"/>
                <a:ea typeface="新宋体" panose="02010609030101010101" charset="-122"/>
              </a:rPr>
              <a:t>证明思路：</a:t>
            </a:r>
            <a:r>
              <a:rPr lang="zh-CN" altLang="en-US" sz="2800">
                <a:latin typeface="宋体" panose="02010600030101010101" pitchFamily="2" charset="-122"/>
              </a:rPr>
              <a:t> </a:t>
            </a:r>
            <a:endParaRPr lang="zh-CN" altLang="en-US" sz="2800">
              <a:latin typeface="宋体" panose="02010600030101010101" pitchFamily="2" charset="-122"/>
            </a:endParaRPr>
          </a:p>
          <a:p>
            <a:r>
              <a:rPr lang="zh-CN" altLang="en-US" sz="2800">
                <a:latin typeface="宋体" panose="02010600030101010101" pitchFamily="2" charset="-122"/>
              </a:rPr>
              <a:t>    </a:t>
            </a:r>
            <a:r>
              <a:rPr lang="zh-CN" altLang="en-US" sz="2800">
                <a:latin typeface="新宋体" panose="02010609030101010101" charset="-122"/>
                <a:ea typeface="新宋体" panose="02010609030101010101" charset="-122"/>
              </a:rPr>
              <a:t>首先，已知哈密顿回路问题是一个</a:t>
            </a:r>
            <a:r>
              <a:rPr lang="en-US" altLang="zh-CN" sz="2800">
                <a:latin typeface="新宋体" panose="02010609030101010101" charset="-122"/>
                <a:ea typeface="新宋体" panose="02010609030101010101" charset="-122"/>
              </a:rPr>
              <a:t>NP</a:t>
            </a:r>
            <a:r>
              <a:rPr lang="zh-CN" altLang="en-US" sz="2800">
                <a:latin typeface="新宋体" panose="02010609030101010101" charset="-122"/>
                <a:ea typeface="新宋体" panose="02010609030101010101" charset="-122"/>
              </a:rPr>
              <a:t>类问题。</a:t>
            </a:r>
            <a:endParaRPr lang="zh-CN" altLang="en-US" sz="2800">
              <a:latin typeface="新宋体" panose="02010609030101010101" charset="-122"/>
              <a:ea typeface="新宋体" panose="02010609030101010101" charset="-122"/>
            </a:endParaRPr>
          </a:p>
          <a:p>
            <a:r>
              <a:rPr lang="zh-CN" altLang="en-US" sz="2800">
                <a:latin typeface="新宋体" panose="02010609030101010101" charset="-122"/>
                <a:ea typeface="新宋体" panose="02010609030101010101" charset="-122"/>
              </a:rPr>
              <a:t>    其次，通过证明</a:t>
            </a:r>
            <a:r>
              <a:rPr lang="en-US" altLang="zh-CN" sz="2800">
                <a:latin typeface="新宋体" panose="02010609030101010101" charset="-122"/>
                <a:ea typeface="新宋体" panose="02010609030101010101" charset="-122"/>
              </a:rPr>
              <a:t>3-SAT∝</a:t>
            </a:r>
            <a:r>
              <a:rPr lang="en-US" altLang="zh-CN" sz="2800" baseline="-30000">
                <a:latin typeface="新宋体" panose="02010609030101010101" charset="-122"/>
                <a:ea typeface="新宋体" panose="02010609030101010101" charset="-122"/>
              </a:rPr>
              <a:t>p</a:t>
            </a:r>
            <a:r>
              <a:rPr lang="en-US" altLang="zh-CN" sz="2800">
                <a:latin typeface="新宋体" panose="02010609030101010101" charset="-122"/>
                <a:ea typeface="新宋体" panose="02010609030101010101" charset="-122"/>
              </a:rPr>
              <a:t>HAM-CYCLE</a:t>
            </a:r>
            <a:r>
              <a:rPr lang="zh-CN" altLang="en-US" sz="2800">
                <a:latin typeface="新宋体" panose="02010609030101010101" charset="-122"/>
                <a:ea typeface="新宋体" panose="02010609030101010101" charset="-122"/>
              </a:rPr>
              <a:t>，</a:t>
            </a:r>
            <a:endParaRPr lang="zh-CN" altLang="en-US" sz="2800">
              <a:latin typeface="新宋体" panose="02010609030101010101" charset="-122"/>
              <a:ea typeface="新宋体" panose="02010609030101010101" charset="-122"/>
            </a:endParaRPr>
          </a:p>
          <a:p>
            <a:r>
              <a:rPr lang="zh-CN" altLang="en-US" sz="2800">
                <a:latin typeface="新宋体" panose="02010609030101010101" charset="-122"/>
                <a:ea typeface="新宋体" panose="02010609030101010101" charset="-122"/>
              </a:rPr>
              <a:t>		得出：</a:t>
            </a:r>
            <a:r>
              <a:rPr lang="en-US" altLang="zh-CN" sz="2800">
                <a:latin typeface="新宋体" panose="02010609030101010101" charset="-122"/>
                <a:ea typeface="新宋体" panose="02010609030101010101" charset="-122"/>
              </a:rPr>
              <a:t>HAM-CYCLE∈NPC</a:t>
            </a:r>
            <a:r>
              <a:rPr lang="zh-CN" altLang="en-US" sz="2800">
                <a:latin typeface="新宋体" panose="02010609030101010101" charset="-122"/>
                <a:ea typeface="新宋体" panose="02010609030101010101" charset="-122"/>
              </a:rPr>
              <a:t>。	</a:t>
            </a:r>
            <a:endParaRPr lang="zh-CN" altLang="en-US" sz="2000">
              <a:latin typeface="新宋体" panose="02010609030101010101" charset="-122"/>
              <a:ea typeface="新宋体" panose="02010609030101010101" charset="-122"/>
            </a:endParaRPr>
          </a:p>
        </p:txBody>
      </p:sp>
      <p:sp>
        <p:nvSpPr>
          <p:cNvPr id="415748" name="Text Box 4"/>
          <p:cNvSpPr txBox="1">
            <a:spLocks noChangeArrowheads="1"/>
          </p:cNvSpPr>
          <p:nvPr/>
        </p:nvSpPr>
        <p:spPr bwMode="auto">
          <a:xfrm>
            <a:off x="304800" y="2863850"/>
            <a:ext cx="8534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新宋体" panose="02010609030101010101" charset="-122"/>
                <a:ea typeface="新宋体" panose="02010609030101010101" charset="-122"/>
              </a:rPr>
              <a:t>     </a:t>
            </a:r>
            <a:r>
              <a:rPr lang="zh-CN" altLang="en-US" sz="2800" b="1">
                <a:solidFill>
                  <a:schemeClr val="accent2"/>
                </a:solidFill>
                <a:latin typeface="新宋体" panose="02010609030101010101" charset="-122"/>
                <a:ea typeface="新宋体" panose="02010609030101010101" charset="-122"/>
              </a:rPr>
              <a:t>问题描述：</a:t>
            </a:r>
            <a:r>
              <a:rPr lang="zh-CN" altLang="en-US" sz="2800">
                <a:latin typeface="新宋体" panose="02010609030101010101" charset="-122"/>
                <a:ea typeface="新宋体" panose="02010609030101010101" charset="-122"/>
              </a:rPr>
              <a:t>给定无向图</a:t>
            </a:r>
            <a:r>
              <a:rPr lang="en-US" altLang="zh-CN" sz="2800">
                <a:latin typeface="新宋体" panose="02010609030101010101" charset="-122"/>
                <a:ea typeface="新宋体" panose="02010609030101010101" charset="-122"/>
              </a:rPr>
              <a:t>G=(V</a:t>
            </a:r>
            <a:r>
              <a:rPr lang="zh-CN" altLang="en-US" sz="2800">
                <a:latin typeface="新宋体" panose="02010609030101010101" charset="-122"/>
                <a:ea typeface="新宋体" panose="02010609030101010101" charset="-122"/>
              </a:rPr>
              <a:t>，</a:t>
            </a:r>
            <a:r>
              <a:rPr lang="en-US" altLang="zh-CN" sz="2800">
                <a:latin typeface="新宋体" panose="02010609030101010101" charset="-122"/>
                <a:ea typeface="新宋体" panose="02010609030101010101" charset="-122"/>
              </a:rPr>
              <a:t>E)</a:t>
            </a:r>
            <a:r>
              <a:rPr lang="zh-CN" altLang="en-US" sz="2800">
                <a:latin typeface="新宋体" panose="02010609030101010101" charset="-122"/>
                <a:ea typeface="新宋体" panose="02010609030101010101" charset="-122"/>
              </a:rPr>
              <a:t>，判定其是否含有一哈密顿回路。</a:t>
            </a:r>
            <a:r>
              <a:rPr lang="zh-CN" altLang="en-US" sz="2400">
                <a:latin typeface="新宋体" panose="02010609030101010101" charset="-122"/>
                <a:ea typeface="新宋体" panose="02010609030101010101" charset="-122"/>
              </a:rPr>
              <a:t> </a:t>
            </a:r>
            <a:endParaRPr lang="zh-CN" altLang="en-US" sz="2400">
              <a:latin typeface="新宋体" panose="02010609030101010101" charset="-122"/>
              <a:ea typeface="新宋体" panose="02010609030101010101"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5748"/>
                                        </p:tgtEl>
                                        <p:attrNameLst>
                                          <p:attrName>style.visibility</p:attrName>
                                        </p:attrNameLst>
                                      </p:cBhvr>
                                      <p:to>
                                        <p:strVal val="visible"/>
                                      </p:to>
                                    </p:set>
                                    <p:animEffect transition="in" filter="blinds(horizontal)">
                                      <p:cBhvr>
                                        <p:cTn id="7" dur="500"/>
                                        <p:tgtEl>
                                          <p:spTgt spid="41574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15747"/>
                                        </p:tgtEl>
                                        <p:attrNameLst>
                                          <p:attrName>style.visibility</p:attrName>
                                        </p:attrNameLst>
                                      </p:cBhvr>
                                      <p:to>
                                        <p:strVal val="visible"/>
                                      </p:to>
                                    </p:set>
                                    <p:animEffect transition="in" filter="blinds(horizontal)">
                                      <p:cBhvr>
                                        <p:cTn id="12" dur="500"/>
                                        <p:tgtEl>
                                          <p:spTgt spid="4157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747" grpId="0" autoUpdateAnimBg="0"/>
      <p:bldP spid="415748"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46FD41EB-9032-492C-A471-0ECA5A4B9678}" type="slidenum">
              <a:rPr lang="en-US" altLang="zh-CN"/>
            </a:fld>
            <a:endParaRPr lang="en-US" altLang="zh-CN"/>
          </a:p>
        </p:txBody>
      </p:sp>
      <p:sp>
        <p:nvSpPr>
          <p:cNvPr id="416770" name="Rectangle 2"/>
          <p:cNvSpPr>
            <a:spLocks noGrp="1" noChangeArrowheads="1"/>
          </p:cNvSpPr>
          <p:nvPr>
            <p:ph type="title"/>
          </p:nvPr>
        </p:nvSpPr>
        <p:spPr>
          <a:xfrm>
            <a:off x="685800" y="609600"/>
            <a:ext cx="8001000" cy="990600"/>
          </a:xfrm>
        </p:spPr>
        <p:txBody>
          <a:bodyPr/>
          <a:lstStyle/>
          <a:p>
            <a:r>
              <a:rPr lang="en-US" altLang="zh-CN"/>
              <a:t>8.4.7  </a:t>
            </a:r>
            <a:r>
              <a:rPr lang="zh-CN" altLang="en-US">
                <a:ea typeface="新宋体" panose="02010609030101010101" charset="-122"/>
              </a:rPr>
              <a:t>旅行售货员问题</a:t>
            </a:r>
            <a:r>
              <a:rPr lang="en-US" altLang="zh-CN">
                <a:latin typeface="新宋体" panose="02010609030101010101" charset="-122"/>
                <a:ea typeface="新宋体" panose="02010609030101010101" charset="-122"/>
              </a:rPr>
              <a:t>TSP</a:t>
            </a:r>
            <a:endParaRPr lang="en-US" altLang="zh-CN">
              <a:ea typeface="新宋体" panose="02010609030101010101" charset="-122"/>
            </a:endParaRPr>
          </a:p>
        </p:txBody>
      </p:sp>
      <p:sp>
        <p:nvSpPr>
          <p:cNvPr id="416771" name="Text Box 3"/>
          <p:cNvSpPr txBox="1">
            <a:spLocks noChangeArrowheads="1"/>
          </p:cNvSpPr>
          <p:nvPr/>
        </p:nvSpPr>
        <p:spPr bwMode="auto">
          <a:xfrm>
            <a:off x="304800" y="3048000"/>
            <a:ext cx="8458200" cy="337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新宋体" panose="02010609030101010101" charset="-122"/>
                <a:ea typeface="新宋体" panose="02010609030101010101" charset="-122"/>
              </a:rPr>
              <a:t>    首先，给定</a:t>
            </a:r>
            <a:r>
              <a:rPr lang="en-US" altLang="zh-CN" sz="2400">
                <a:latin typeface="新宋体" panose="02010609030101010101" charset="-122"/>
                <a:ea typeface="新宋体" panose="02010609030101010101" charset="-122"/>
              </a:rPr>
              <a:t>TSP</a:t>
            </a:r>
            <a:r>
              <a:rPr lang="zh-CN" altLang="en-US" sz="2400">
                <a:latin typeface="新宋体" panose="02010609030101010101" charset="-122"/>
                <a:ea typeface="新宋体" panose="02010609030101010101" charset="-122"/>
              </a:rPr>
              <a:t>的一个实例</a:t>
            </a:r>
            <a:r>
              <a:rPr lang="en-US" altLang="zh-CN" sz="2400">
                <a:latin typeface="新宋体" panose="02010609030101010101" charset="-122"/>
                <a:ea typeface="新宋体" panose="02010609030101010101" charset="-122"/>
              </a:rPr>
              <a:t>(G</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c</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k)</a:t>
            </a:r>
            <a:r>
              <a:rPr lang="zh-CN" altLang="en-US" sz="2400">
                <a:latin typeface="新宋体" panose="02010609030101010101" charset="-122"/>
                <a:ea typeface="新宋体" panose="02010609030101010101" charset="-122"/>
              </a:rPr>
              <a:t>，和一个由</a:t>
            </a:r>
            <a:r>
              <a:rPr lang="en-US" altLang="zh-CN" sz="2400">
                <a:latin typeface="新宋体" panose="02010609030101010101" charset="-122"/>
                <a:ea typeface="新宋体" panose="02010609030101010101" charset="-122"/>
              </a:rPr>
              <a:t>n</a:t>
            </a:r>
            <a:r>
              <a:rPr lang="zh-CN" altLang="en-US" sz="2400">
                <a:latin typeface="新宋体" panose="02010609030101010101" charset="-122"/>
                <a:ea typeface="新宋体" panose="02010609030101010101" charset="-122"/>
              </a:rPr>
              <a:t>个顶点组成的顶点序列。验证算法要验证这</a:t>
            </a:r>
            <a:r>
              <a:rPr lang="en-US" altLang="zh-CN" sz="2400">
                <a:latin typeface="新宋体" panose="02010609030101010101" charset="-122"/>
                <a:ea typeface="新宋体" panose="02010609030101010101" charset="-122"/>
              </a:rPr>
              <a:t>n</a:t>
            </a:r>
            <a:r>
              <a:rPr lang="zh-CN" altLang="en-US" sz="2400">
                <a:latin typeface="新宋体" panose="02010609030101010101" charset="-122"/>
                <a:ea typeface="新宋体" panose="02010609030101010101" charset="-122"/>
              </a:rPr>
              <a:t>个顶点组成的序列是图</a:t>
            </a:r>
            <a:r>
              <a:rPr lang="en-US" altLang="zh-CN" sz="2400">
                <a:latin typeface="新宋体" panose="02010609030101010101" charset="-122"/>
                <a:ea typeface="新宋体" panose="02010609030101010101" charset="-122"/>
              </a:rPr>
              <a:t>G</a:t>
            </a:r>
            <a:r>
              <a:rPr lang="zh-CN" altLang="en-US" sz="2400">
                <a:latin typeface="新宋体" panose="02010609030101010101" charset="-122"/>
                <a:ea typeface="新宋体" panose="02010609030101010101" charset="-122"/>
              </a:rPr>
              <a:t>的一条回路，且经过每个顶点一次。另外，将每条边的费用加起来，并验证所得的和不超过</a:t>
            </a:r>
            <a:r>
              <a:rPr lang="en-US" altLang="zh-CN" sz="2400">
                <a:latin typeface="新宋体" panose="02010609030101010101" charset="-122"/>
                <a:ea typeface="新宋体" panose="02010609030101010101" charset="-122"/>
              </a:rPr>
              <a:t>k</a:t>
            </a:r>
            <a:r>
              <a:rPr lang="zh-CN" altLang="en-US" sz="2400">
                <a:latin typeface="新宋体" panose="02010609030101010101" charset="-122"/>
                <a:ea typeface="新宋体" panose="02010609030101010101" charset="-122"/>
              </a:rPr>
              <a:t>。这个过程显然可在多项式时间内完成，即</a:t>
            </a:r>
            <a:r>
              <a:rPr lang="en-US" altLang="zh-CN" sz="2400">
                <a:latin typeface="新宋体" panose="02010609030101010101" charset="-122"/>
                <a:ea typeface="新宋体" panose="02010609030101010101" charset="-122"/>
              </a:rPr>
              <a:t>TSP∈NP</a:t>
            </a:r>
            <a:r>
              <a:rPr lang="zh-CN" altLang="en-US" sz="2400">
                <a:latin typeface="新宋体" panose="02010609030101010101" charset="-122"/>
                <a:ea typeface="新宋体" panose="02010609030101010101" charset="-122"/>
              </a:rPr>
              <a:t>。 </a:t>
            </a:r>
            <a:endParaRPr lang="zh-CN" altLang="en-US"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    其次，旅行售货员问题与哈密顿回路问题有着密切的联系。哈密顿回路问题可在多项式时间内变换为旅行售货员问题。即</a:t>
            </a:r>
            <a:r>
              <a:rPr lang="en-US" altLang="zh-CN" sz="2400">
                <a:latin typeface="新宋体" panose="02010609030101010101" charset="-122"/>
                <a:ea typeface="新宋体" panose="02010609030101010101" charset="-122"/>
              </a:rPr>
              <a:t>HAM-CYCLE∝</a:t>
            </a:r>
            <a:r>
              <a:rPr lang="en-US" altLang="zh-CN" sz="2400" baseline="-30000">
                <a:latin typeface="新宋体" panose="02010609030101010101" charset="-122"/>
                <a:ea typeface="新宋体" panose="02010609030101010101" charset="-122"/>
              </a:rPr>
              <a:t>p</a:t>
            </a:r>
            <a:r>
              <a:rPr lang="en-US" altLang="zh-CN" sz="2400">
                <a:latin typeface="新宋体" panose="02010609030101010101" charset="-122"/>
                <a:ea typeface="新宋体" panose="02010609030101010101" charset="-122"/>
              </a:rPr>
              <a:t>TSP</a:t>
            </a:r>
            <a:r>
              <a:rPr lang="zh-CN" altLang="en-US" sz="2400">
                <a:latin typeface="新宋体" panose="02010609030101010101" charset="-122"/>
                <a:ea typeface="新宋体" panose="02010609030101010101" charset="-122"/>
              </a:rPr>
              <a:t>。从而，旅行售货员问题是</a:t>
            </a:r>
            <a:r>
              <a:rPr lang="en-US" altLang="zh-CN" sz="2400">
                <a:latin typeface="新宋体" panose="02010609030101010101" charset="-122"/>
                <a:ea typeface="新宋体" panose="02010609030101010101" charset="-122"/>
              </a:rPr>
              <a:t>NP</a:t>
            </a:r>
            <a:r>
              <a:rPr lang="zh-CN" altLang="en-US" sz="2400">
                <a:latin typeface="新宋体" panose="02010609030101010101" charset="-122"/>
                <a:ea typeface="新宋体" panose="02010609030101010101" charset="-122"/>
              </a:rPr>
              <a:t>难的。</a:t>
            </a:r>
            <a:endParaRPr lang="zh-CN" altLang="en-US"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    因此，</a:t>
            </a:r>
            <a:r>
              <a:rPr lang="en-US" altLang="zh-CN" sz="2400">
                <a:latin typeface="新宋体" panose="02010609030101010101" charset="-122"/>
                <a:ea typeface="新宋体" panose="02010609030101010101" charset="-122"/>
              </a:rPr>
              <a:t>TSP∈NPC</a:t>
            </a:r>
            <a:r>
              <a:rPr lang="zh-CN" altLang="en-US" sz="2400">
                <a:latin typeface="新宋体" panose="02010609030101010101" charset="-122"/>
                <a:ea typeface="新宋体" panose="02010609030101010101" charset="-122"/>
              </a:rPr>
              <a:t>。  </a:t>
            </a:r>
            <a:endParaRPr lang="zh-CN" altLang="en-US" sz="2400">
              <a:latin typeface="新宋体" panose="02010609030101010101" charset="-122"/>
              <a:ea typeface="新宋体" panose="02010609030101010101" charset="-122"/>
            </a:endParaRPr>
          </a:p>
        </p:txBody>
      </p:sp>
      <p:sp>
        <p:nvSpPr>
          <p:cNvPr id="416772" name="Text Box 4"/>
          <p:cNvSpPr txBox="1">
            <a:spLocks noChangeArrowheads="1"/>
          </p:cNvSpPr>
          <p:nvPr/>
        </p:nvSpPr>
        <p:spPr bwMode="auto">
          <a:xfrm>
            <a:off x="304800" y="1752600"/>
            <a:ext cx="85344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a:latin typeface="新宋体" panose="02010609030101010101" charset="-122"/>
                <a:ea typeface="新宋体" panose="02010609030101010101" charset="-122"/>
              </a:rPr>
              <a:t>    </a:t>
            </a:r>
            <a:r>
              <a:rPr lang="zh-CN" altLang="en-US" sz="2400" b="1">
                <a:solidFill>
                  <a:schemeClr val="accent2"/>
                </a:solidFill>
                <a:latin typeface="新宋体" panose="02010609030101010101" charset="-122"/>
                <a:ea typeface="新宋体" panose="02010609030101010101" charset="-122"/>
              </a:rPr>
              <a:t>问题描述：</a:t>
            </a:r>
            <a:r>
              <a:rPr lang="zh-CN" altLang="en-US" sz="2400">
                <a:latin typeface="新宋体" panose="02010609030101010101" charset="-122"/>
                <a:ea typeface="新宋体" panose="02010609030101010101" charset="-122"/>
              </a:rPr>
              <a:t>给定一个无向完全图</a:t>
            </a:r>
            <a:r>
              <a:rPr lang="en-US" altLang="zh-CN" sz="2400">
                <a:latin typeface="新宋体" panose="02010609030101010101" charset="-122"/>
                <a:ea typeface="新宋体" panose="02010609030101010101" charset="-122"/>
              </a:rPr>
              <a:t>G=(V</a:t>
            </a:r>
            <a:r>
              <a:rPr lang="zh-CN" altLang="en-US" sz="2400">
                <a:latin typeface="新宋体" panose="02010609030101010101" charset="-122"/>
                <a:ea typeface="新宋体" panose="02010609030101010101" charset="-122"/>
              </a:rPr>
              <a:t>，</a:t>
            </a:r>
            <a:r>
              <a:rPr lang="en-US" altLang="zh-CN" sz="2400">
                <a:latin typeface="新宋体" panose="02010609030101010101" charset="-122"/>
                <a:ea typeface="新宋体" panose="02010609030101010101" charset="-122"/>
              </a:rPr>
              <a:t>E)</a:t>
            </a:r>
            <a:r>
              <a:rPr lang="zh-CN" altLang="en-US" sz="2400">
                <a:latin typeface="新宋体" panose="02010609030101010101" charset="-122"/>
                <a:ea typeface="新宋体" panose="02010609030101010101" charset="-122"/>
              </a:rPr>
              <a:t>及定义在</a:t>
            </a:r>
            <a:r>
              <a:rPr lang="en-US" altLang="zh-CN" sz="2400">
                <a:latin typeface="新宋体" panose="02010609030101010101" charset="-122"/>
                <a:ea typeface="新宋体" panose="02010609030101010101" charset="-122"/>
              </a:rPr>
              <a:t>V</a:t>
            </a:r>
            <a:r>
              <a:rPr lang="en-US" altLang="zh-CN" sz="2400">
                <a:latin typeface="新宋体" panose="02010609030101010101" charset="-122"/>
                <a:ea typeface="新宋体" panose="02010609030101010101" charset="-122"/>
                <a:sym typeface="Symbol" panose="05050102010706020507" pitchFamily="18" charset="2"/>
              </a:rPr>
              <a:t></a:t>
            </a:r>
            <a:r>
              <a:rPr lang="en-US" altLang="zh-CN" sz="2400">
                <a:latin typeface="新宋体" panose="02010609030101010101" charset="-122"/>
                <a:ea typeface="新宋体" panose="02010609030101010101" charset="-122"/>
              </a:rPr>
              <a:t>V</a:t>
            </a:r>
            <a:r>
              <a:rPr lang="zh-CN" altLang="en-US" sz="2400">
                <a:latin typeface="新宋体" panose="02010609030101010101" charset="-122"/>
                <a:ea typeface="新宋体" panose="02010609030101010101" charset="-122"/>
              </a:rPr>
              <a:t>上的一个费用函数</a:t>
            </a:r>
            <a:r>
              <a:rPr lang="en-US" altLang="zh-CN" sz="2400">
                <a:latin typeface="新宋体" panose="02010609030101010101" charset="-122"/>
                <a:ea typeface="新宋体" panose="02010609030101010101" charset="-122"/>
              </a:rPr>
              <a:t>c</a:t>
            </a:r>
            <a:r>
              <a:rPr lang="zh-CN" altLang="en-US" sz="2400">
                <a:latin typeface="新宋体" panose="02010609030101010101" charset="-122"/>
                <a:ea typeface="新宋体" panose="02010609030101010101" charset="-122"/>
              </a:rPr>
              <a:t>和一个整数</a:t>
            </a:r>
            <a:r>
              <a:rPr lang="en-US" altLang="zh-CN" sz="2400">
                <a:latin typeface="新宋体" panose="02010609030101010101" charset="-122"/>
                <a:ea typeface="新宋体" panose="02010609030101010101" charset="-122"/>
              </a:rPr>
              <a:t>k</a:t>
            </a:r>
            <a:r>
              <a:rPr lang="zh-CN" altLang="en-US" sz="2400">
                <a:latin typeface="新宋体" panose="02010609030101010101" charset="-122"/>
                <a:ea typeface="新宋体" panose="02010609030101010101" charset="-122"/>
              </a:rPr>
              <a:t>，判定</a:t>
            </a:r>
            <a:r>
              <a:rPr lang="en-US" altLang="zh-CN" sz="2400">
                <a:latin typeface="新宋体" panose="02010609030101010101" charset="-122"/>
                <a:ea typeface="新宋体" panose="02010609030101010101" charset="-122"/>
              </a:rPr>
              <a:t>G</a:t>
            </a:r>
            <a:r>
              <a:rPr lang="zh-CN" altLang="en-US" sz="2400">
                <a:latin typeface="新宋体" panose="02010609030101010101" charset="-122"/>
                <a:ea typeface="新宋体" panose="02010609030101010101" charset="-122"/>
              </a:rPr>
              <a:t>是否存在经过</a:t>
            </a:r>
            <a:r>
              <a:rPr lang="en-US" altLang="zh-CN" sz="2400">
                <a:latin typeface="新宋体" panose="02010609030101010101" charset="-122"/>
                <a:ea typeface="新宋体" panose="02010609030101010101" charset="-122"/>
              </a:rPr>
              <a:t>V</a:t>
            </a:r>
            <a:r>
              <a:rPr lang="zh-CN" altLang="en-US" sz="2400">
                <a:latin typeface="新宋体" panose="02010609030101010101" charset="-122"/>
                <a:ea typeface="新宋体" panose="02010609030101010101" charset="-122"/>
              </a:rPr>
              <a:t>中各顶点恰好一次的回路，使得该回路的费用不超过</a:t>
            </a:r>
            <a:r>
              <a:rPr lang="en-US" altLang="zh-CN" sz="2400">
                <a:latin typeface="新宋体" panose="02010609030101010101" charset="-122"/>
                <a:ea typeface="新宋体" panose="02010609030101010101" charset="-122"/>
              </a:rPr>
              <a:t>k</a:t>
            </a:r>
            <a:r>
              <a:rPr lang="zh-CN" altLang="en-US" sz="2400">
                <a:latin typeface="新宋体" panose="02010609030101010101" charset="-122"/>
                <a:ea typeface="新宋体" panose="02010609030101010101" charset="-122"/>
              </a:rPr>
              <a:t>。 </a:t>
            </a:r>
            <a:endParaRPr lang="zh-CN" altLang="en-US" sz="2400">
              <a:latin typeface="新宋体" panose="02010609030101010101" charset="-122"/>
              <a:ea typeface="新宋体" panose="02010609030101010101"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6772"/>
                                        </p:tgtEl>
                                        <p:attrNameLst>
                                          <p:attrName>style.visibility</p:attrName>
                                        </p:attrNameLst>
                                      </p:cBhvr>
                                      <p:to>
                                        <p:strVal val="visible"/>
                                      </p:to>
                                    </p:set>
                                    <p:animEffect transition="in" filter="blinds(horizontal)">
                                      <p:cBhvr>
                                        <p:cTn id="7" dur="500"/>
                                        <p:tgtEl>
                                          <p:spTgt spid="41677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16771"/>
                                        </p:tgtEl>
                                        <p:attrNameLst>
                                          <p:attrName>style.visibility</p:attrName>
                                        </p:attrNameLst>
                                      </p:cBhvr>
                                      <p:to>
                                        <p:strVal val="visible"/>
                                      </p:to>
                                    </p:set>
                                    <p:animEffect transition="in" filter="blinds(horizontal)">
                                      <p:cBhvr>
                                        <p:cTn id="12" dur="500"/>
                                        <p:tgtEl>
                                          <p:spTgt spid="4167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71" grpId="0" autoUpdateAnimBg="0"/>
      <p:bldP spid="416772"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67A615B9-BABD-4232-A236-980D4A6A9BA7}" type="slidenum">
              <a:rPr lang="en-US" altLang="zh-CN"/>
            </a:fld>
            <a:endParaRPr lang="en-US" altLang="zh-CN"/>
          </a:p>
        </p:txBody>
      </p:sp>
      <p:sp>
        <p:nvSpPr>
          <p:cNvPr id="395266" name="Rectangle 2"/>
          <p:cNvSpPr>
            <a:spLocks noGrp="1" noChangeArrowheads="1"/>
          </p:cNvSpPr>
          <p:nvPr>
            <p:ph type="title"/>
          </p:nvPr>
        </p:nvSpPr>
        <p:spPr/>
        <p:txBody>
          <a:bodyPr/>
          <a:lstStyle/>
          <a:p>
            <a:r>
              <a:rPr lang="zh-CN" altLang="en-US"/>
              <a:t>本周任务</a:t>
            </a:r>
            <a:endParaRPr lang="zh-CN" altLang="en-US"/>
          </a:p>
        </p:txBody>
      </p:sp>
      <p:sp>
        <p:nvSpPr>
          <p:cNvPr id="395267" name="Rectangle 3"/>
          <p:cNvSpPr>
            <a:spLocks noGrp="1" noChangeArrowheads="1"/>
          </p:cNvSpPr>
          <p:nvPr>
            <p:ph type="body" idx="1"/>
          </p:nvPr>
        </p:nvSpPr>
        <p:spPr/>
        <p:txBody>
          <a:bodyPr/>
          <a:lstStyle/>
          <a:p>
            <a:r>
              <a:rPr lang="en-US" altLang="zh-CN"/>
              <a:t>8.1</a:t>
            </a:r>
            <a:r>
              <a:rPr lang="zh-CN" altLang="en-US"/>
              <a:t>，</a:t>
            </a:r>
            <a:r>
              <a:rPr lang="en-US" altLang="zh-CN"/>
              <a:t>8.2</a:t>
            </a:r>
            <a:endParaRPr lang="en-US" altLang="zh-CN"/>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Network</Template>
  <TotalTime>0</TotalTime>
  <Words>9624</Words>
  <Application>WPS 演示</Application>
  <PresentationFormat>全屏显示(4:3)</PresentationFormat>
  <Paragraphs>547</Paragraphs>
  <Slides>51</Slides>
  <Notes>1</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43</vt:i4>
      </vt:variant>
      <vt:variant>
        <vt:lpstr>幻灯片标题</vt:lpstr>
      </vt:variant>
      <vt:variant>
        <vt:i4>51</vt:i4>
      </vt:variant>
    </vt:vector>
  </HeadingPairs>
  <TitlesOfParts>
    <vt:vector size="111" baseType="lpstr">
      <vt:lpstr>Arial</vt:lpstr>
      <vt:lpstr>宋体</vt:lpstr>
      <vt:lpstr>Wingdings</vt:lpstr>
      <vt:lpstr>Times New Roman</vt:lpstr>
      <vt:lpstr>黑体</vt:lpstr>
      <vt:lpstr>Symbol</vt:lpstr>
      <vt:lpstr>楷体_GB2312</vt:lpstr>
      <vt:lpstr>新宋体</vt:lpstr>
      <vt:lpstr>华文行楷</vt:lpstr>
      <vt:lpstr>Corbel</vt:lpstr>
      <vt:lpstr>微软雅黑</vt:lpstr>
      <vt:lpstr>Arial Unicode MS</vt:lpstr>
      <vt:lpstr>Times New Roman</vt:lpstr>
      <vt:lpstr>Wingdings 2</vt:lpstr>
      <vt:lpstr>Symbol</vt:lpstr>
      <vt:lpstr>楷体_GB2312</vt:lpstr>
      <vt:lpstr>Network</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第8章 NP完全性理论</vt:lpstr>
      <vt:lpstr>PowerPoint 演示文稿</vt:lpstr>
      <vt:lpstr>计算复杂度</vt:lpstr>
      <vt:lpstr>时间复杂度</vt:lpstr>
      <vt:lpstr>问题</vt:lpstr>
      <vt:lpstr>PowerPoint 演示文稿</vt:lpstr>
      <vt:lpstr>8.1	计算模型</vt:lpstr>
      <vt:lpstr>8.1.1  随机存取机RAM</vt:lpstr>
      <vt:lpstr>随机存取机RAM</vt:lpstr>
      <vt:lpstr>随机存取机RAM</vt:lpstr>
      <vt:lpstr>RAM基本指令集</vt:lpstr>
      <vt:lpstr>8.1.1  随机存取机RAM</vt:lpstr>
      <vt:lpstr>例子一</vt:lpstr>
      <vt:lpstr>例子二</vt:lpstr>
      <vt:lpstr>8.1.1  随机存取机RAM</vt:lpstr>
      <vt:lpstr>PowerPoint 演示文稿</vt:lpstr>
      <vt:lpstr>8.1.2  随机存取存储程序机RASP</vt:lpstr>
      <vt:lpstr>随机存取存储程序机RASP</vt:lpstr>
      <vt:lpstr>随机存取存储程序机RASP</vt:lpstr>
      <vt:lpstr>RAM的种种变形</vt:lpstr>
      <vt:lpstr>8.1.3 图灵机</vt:lpstr>
      <vt:lpstr>图灵机</vt:lpstr>
      <vt:lpstr>图灵的基本思想 </vt:lpstr>
      <vt:lpstr>PowerPoint 演示文稿</vt:lpstr>
      <vt:lpstr>PowerPoint 演示文稿</vt:lpstr>
      <vt:lpstr>8.1.3 图灵机</vt:lpstr>
      <vt:lpstr>8.1.3 图灵机</vt:lpstr>
      <vt:lpstr>8.1.5 图灵机模型与RAM模型的关系</vt:lpstr>
      <vt:lpstr>8.1.6 问题变换与计算复杂性归约</vt:lpstr>
      <vt:lpstr>8.2	P类与NP类问题</vt:lpstr>
      <vt:lpstr>8.2.1  非确定性图灵机</vt:lpstr>
      <vt:lpstr>8.2.2  P类与NP类语言</vt:lpstr>
      <vt:lpstr>8.2.2  P类与NP类语言</vt:lpstr>
      <vt:lpstr>8.2.2  P类与NP类语言</vt:lpstr>
      <vt:lpstr>8.2.3  多项式时间验证</vt:lpstr>
      <vt:lpstr>8.3	NP完全问题</vt:lpstr>
      <vt:lpstr>8.3	NP完全问题NPC</vt:lpstr>
      <vt:lpstr>8.3.1  多项式时间变换</vt:lpstr>
      <vt:lpstr>8.3.1  多项式时间变换</vt:lpstr>
      <vt:lpstr>8.3.2 Cook定理</vt:lpstr>
      <vt:lpstr>8.3.2  Cook定理</vt:lpstr>
      <vt:lpstr>Cook定理的重要意义</vt:lpstr>
      <vt:lpstr>8.4	 一些典型的NP完全问题</vt:lpstr>
      <vt:lpstr>8.4.1  合取范式的可满足性问题 （CNF-SAT）</vt:lpstr>
      <vt:lpstr>8.4.2 3元合取范式的可满足性问题 （3-SAT）</vt:lpstr>
      <vt:lpstr>8.4.3  团问题CLIQUE </vt:lpstr>
      <vt:lpstr>8.4.4  顶点覆盖问题 	（VERTEX-COVER） </vt:lpstr>
      <vt:lpstr>8.4.5  子集和问题 	（SUBSET-SUM） </vt:lpstr>
      <vt:lpstr>8.4.6  哈密顿回路问题 	（HAM-CYCLE） </vt:lpstr>
      <vt:lpstr>8.4.7  旅行售货员问题TSP</vt:lpstr>
      <vt:lpstr>本周任务</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dc:creator>
  <cp:lastModifiedBy>Administrator</cp:lastModifiedBy>
  <cp:revision>144</cp:revision>
  <cp:lastPrinted>2113-01-01T00:00:00Z</cp:lastPrinted>
  <dcterms:created xsi:type="dcterms:W3CDTF">2003-05-27T06:14:00Z</dcterms:created>
  <dcterms:modified xsi:type="dcterms:W3CDTF">2019-12-04T13:41:33Z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ies>
</file>