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0"/>
  </p:handoutMasterIdLst>
  <p:sldIdLst>
    <p:sldId id="320" r:id="rId3"/>
    <p:sldId id="519" r:id="rId5"/>
    <p:sldId id="520" r:id="rId6"/>
    <p:sldId id="521" r:id="rId7"/>
    <p:sldId id="522" r:id="rId8"/>
    <p:sldId id="523" r:id="rId9"/>
    <p:sldId id="524" r:id="rId10"/>
    <p:sldId id="525" r:id="rId11"/>
    <p:sldId id="526" r:id="rId12"/>
    <p:sldId id="527" r:id="rId13"/>
    <p:sldId id="461" r:id="rId14"/>
    <p:sldId id="462" r:id="rId15"/>
    <p:sldId id="463" r:id="rId16"/>
    <p:sldId id="464" r:id="rId17"/>
    <p:sldId id="465" r:id="rId18"/>
    <p:sldId id="466" r:id="rId19"/>
    <p:sldId id="467" r:id="rId20"/>
    <p:sldId id="468" r:id="rId21"/>
    <p:sldId id="469" r:id="rId22"/>
    <p:sldId id="470" r:id="rId23"/>
    <p:sldId id="471" r:id="rId24"/>
    <p:sldId id="472" r:id="rId25"/>
    <p:sldId id="488" r:id="rId26"/>
    <p:sldId id="489" r:id="rId27"/>
    <p:sldId id="490" r:id="rId28"/>
    <p:sldId id="491" r:id="rId29"/>
    <p:sldId id="492" r:id="rId30"/>
    <p:sldId id="493" r:id="rId31"/>
    <p:sldId id="494" r:id="rId32"/>
    <p:sldId id="495" r:id="rId33"/>
    <p:sldId id="496" r:id="rId34"/>
    <p:sldId id="497" r:id="rId35"/>
    <p:sldId id="498" r:id="rId36"/>
    <p:sldId id="499" r:id="rId37"/>
    <p:sldId id="500" r:id="rId38"/>
    <p:sldId id="501" r:id="rId39"/>
    <p:sldId id="502" r:id="rId40"/>
    <p:sldId id="503" r:id="rId41"/>
    <p:sldId id="504" r:id="rId42"/>
    <p:sldId id="505" r:id="rId43"/>
    <p:sldId id="506" r:id="rId44"/>
    <p:sldId id="507" r:id="rId45"/>
    <p:sldId id="508" r:id="rId46"/>
    <p:sldId id="509" r:id="rId47"/>
    <p:sldId id="510" r:id="rId48"/>
    <p:sldId id="511" r:id="rId49"/>
    <p:sldId id="512" r:id="rId50"/>
    <p:sldId id="513" r:id="rId51"/>
    <p:sldId id="528" r:id="rId52"/>
    <p:sldId id="529" r:id="rId53"/>
    <p:sldId id="530" r:id="rId54"/>
    <p:sldId id="531" r:id="rId55"/>
    <p:sldId id="532" r:id="rId56"/>
    <p:sldId id="533" r:id="rId57"/>
    <p:sldId id="534" r:id="rId58"/>
    <p:sldId id="535" r:id="rId59"/>
    <p:sldId id="536" r:id="rId60"/>
    <p:sldId id="537" r:id="rId61"/>
    <p:sldId id="538" r:id="rId62"/>
    <p:sldId id="539" r:id="rId63"/>
    <p:sldId id="540" r:id="rId64"/>
    <p:sldId id="541" r:id="rId65"/>
    <p:sldId id="542" r:id="rId66"/>
    <p:sldId id="543" r:id="rId67"/>
    <p:sldId id="544" r:id="rId68"/>
    <p:sldId id="545" r:id="rId69"/>
    <p:sldId id="546" r:id="rId70"/>
    <p:sldId id="547" r:id="rId71"/>
    <p:sldId id="548" r:id="rId72"/>
    <p:sldId id="549" r:id="rId73"/>
    <p:sldId id="550" r:id="rId74"/>
    <p:sldId id="551" r:id="rId75"/>
    <p:sldId id="552" r:id="rId76"/>
    <p:sldId id="553" r:id="rId77"/>
    <p:sldId id="554" r:id="rId78"/>
    <p:sldId id="555" r:id="rId79"/>
    <p:sldId id="556" r:id="rId80"/>
    <p:sldId id="557" r:id="rId81"/>
    <p:sldId id="558" r:id="rId82"/>
    <p:sldId id="559" r:id="rId83"/>
    <p:sldId id="560" r:id="rId84"/>
    <p:sldId id="561" r:id="rId85"/>
    <p:sldId id="562" r:id="rId86"/>
    <p:sldId id="563" r:id="rId87"/>
    <p:sldId id="564" r:id="rId88"/>
    <p:sldId id="565" r:id="rId8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008" autoAdjust="0"/>
  </p:normalViewPr>
  <p:slideViewPr>
    <p:cSldViewPr>
      <p:cViewPr varScale="1">
        <p:scale>
          <a:sx n="115" d="100"/>
          <a:sy n="115" d="100"/>
        </p:scale>
        <p:origin x="14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3" Type="http://schemas.openxmlformats.org/officeDocument/2006/relationships/tableStyles" Target="tableStyles.xml"/><Relationship Id="rId92" Type="http://schemas.openxmlformats.org/officeDocument/2006/relationships/viewProps" Target="viewProps.xml"/><Relationship Id="rId91" Type="http://schemas.openxmlformats.org/officeDocument/2006/relationships/presProps" Target="presProps.xml"/><Relationship Id="rId90" Type="http://schemas.openxmlformats.org/officeDocument/2006/relationships/handoutMaster" Target="handoutMasters/handoutMaster1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45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727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27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05ACD7F-EC03-4666-8AD3-9A310C911E5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8D041BC-6ABC-41A0-8B29-B5382EC921DB}" type="slidenum">
              <a:rPr lang="en-US" altLang="zh-CN"/>
            </a:fld>
            <a:endParaRPr lang="en-US" altLang="zh-CN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mtClean="0">
                <a:ea typeface="宋体" panose="02010600030101010101" pitchFamily="2" charset="-122"/>
              </a:rPr>
              <a:t>欢迎辞</a:t>
            </a:r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5ACD7F-EC03-4666-8AD3-9A310C911E5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6EA5FC6-296B-4612-942B-00355EF6B427}" type="slidenum">
              <a:rPr lang="en-US" altLang="zh-CN"/>
            </a:fld>
            <a:endParaRPr lang="en-US" altLang="zh-CN"/>
          </a:p>
        </p:txBody>
      </p:sp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Max{t-ai}-ai: </a:t>
            </a:r>
            <a:r>
              <a:rPr lang="zh-CN" altLang="en-US"/>
              <a:t>积压时间大于等于当前工作的时间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5" name="Group 8"/>
          <p:cNvGrpSpPr/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1CC7EC9-B088-4F97-97FC-D80BB096BC4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8FF381-A75F-4F22-BCB8-76499B4E374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315DB4-09C4-4A2A-ACFC-C7E46DC24E3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C6511D-1E39-4605-9448-78D225250EE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A9BA45-5062-4B00-ACC1-6E91172337F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7E0896-2C6E-44C1-AF02-4F92F1D2D3F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FBF30C-451A-40F9-AA56-4A7DE09EED9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218B6-68B2-4B8A-9AE5-FB60F324F28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6F0246-A404-4D76-AB4B-1E1A73B587C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F5A48-AA87-4478-8AEE-EE1F0B1DDEE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6F69BF-46AA-49CB-BB2C-682FD28759C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686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0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86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F88F192-9104-4613-BE62-193FAF913A5B}" type="slidenum">
              <a:rPr lang="en-US" altLang="zh-CN"/>
            </a:fld>
            <a:endParaRPr lang="en-US" altLang="zh-CN"/>
          </a:p>
        </p:txBody>
      </p:sp>
      <p:grpSp>
        <p:nvGrpSpPr>
          <p:cNvPr id="7176" name="Group 8"/>
          <p:cNvGrpSpPr/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68617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18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19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20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21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22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23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24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25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26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27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28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29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30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31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32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33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34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35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36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37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38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39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40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41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42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43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44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45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46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47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9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400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430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930" indent="-31623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61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3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5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7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wmf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21.wmf"/><Relationship Id="rId1" Type="http://schemas.openxmlformats.org/officeDocument/2006/relationships/oleObject" Target="../embeddings/oleObject4.bin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wmf"/><Relationship Id="rId1" Type="http://schemas.openxmlformats.org/officeDocument/2006/relationships/oleObject" Target="../embeddings/oleObject7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6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25.wmf"/><Relationship Id="rId1" Type="http://schemas.openxmlformats.org/officeDocument/2006/relationships/oleObject" Target="../embeddings/oleObject8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jpeg"/><Relationship Id="rId1" Type="http://schemas.openxmlformats.org/officeDocument/2006/relationships/hyperlink" Target="http://img.bimg.126.net/photo/ZUkJeZkbkETa6obKfLVPOw==/4850658273655190643.jpg" TargetMode="Externa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wmf"/><Relationship Id="rId1" Type="http://schemas.openxmlformats.org/officeDocument/2006/relationships/oleObject" Target="../embeddings/oleObject10.bin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wmf"/><Relationship Id="rId1" Type="http://schemas.openxmlformats.org/officeDocument/2006/relationships/oleObject" Target="../embeddings/oleObject11.bin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2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41.wmf"/><Relationship Id="rId1" Type="http://schemas.openxmlformats.org/officeDocument/2006/relationships/oleObject" Target="../embeddings/oleObject12.bin"/></Relationships>
</file>

<file path=ppt/slides/_rels/slide8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3.wmf"/><Relationship Id="rId1" Type="http://schemas.openxmlformats.org/officeDocument/2006/relationships/oleObject" Target="../embeddings/oleObject14.bin"/></Relationships>
</file>

<file path=ppt/slides/_rels/slide8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5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44.wmf"/><Relationship Id="rId1" Type="http://schemas.openxmlformats.org/officeDocument/2006/relationships/oleObject" Target="../embeddings/oleObject15.bin"/></Relationships>
</file>

<file path=ppt/slides/_rels/slide8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6.wmf"/><Relationship Id="rId1" Type="http://schemas.openxmlformats.org/officeDocument/2006/relationships/oleObject" Target="../embeddings/oleObject17.bin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7.wmf"/><Relationship Id="rId1" Type="http://schemas.openxmlformats.org/officeDocument/2006/relationships/oleObject" Target="../embeddings/oleObject18.bin"/></Relationships>
</file>

<file path=ppt/slides/_rels/slide8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wmf"/><Relationship Id="rId1" Type="http://schemas.openxmlformats.org/officeDocument/2006/relationships/oleObject" Target="../embeddings/oleObject1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700213"/>
            <a:ext cx="6480175" cy="1081087"/>
          </a:xfrm>
        </p:spPr>
        <p:txBody>
          <a:bodyPr/>
          <a:lstStyle/>
          <a:p>
            <a:pPr eaLnBrk="1" hangingPunct="1"/>
            <a:r>
              <a:rPr lang="zh-CN" altLang="en-US" smtClean="0"/>
              <a:t>第</a:t>
            </a:r>
            <a:r>
              <a:rPr lang="en-US" altLang="zh-CN" smtClean="0"/>
              <a:t>3</a:t>
            </a:r>
            <a:r>
              <a:rPr lang="zh-CN" altLang="en-US" smtClean="0"/>
              <a:t>章  动态规划</a:t>
            </a:r>
            <a:endParaRPr lang="zh-CN" altLang="en-US" smtClean="0"/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4572000" y="3068638"/>
            <a:ext cx="25733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solidFill>
                  <a:srgbClr val="CC0000"/>
                </a:solidFill>
                <a:latin typeface="Comic Sans MS" panose="030F0702030302020204" pitchFamily="66" charset="0"/>
              </a:rPr>
              <a:t>Second Part</a:t>
            </a:r>
            <a:endParaRPr lang="en-US" altLang="zh-CN" sz="3200" b="1">
              <a:solidFill>
                <a:srgbClr val="CC00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205038"/>
            <a:ext cx="7543800" cy="1295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590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最大子段和问题</a:t>
            </a:r>
            <a:endParaRPr lang="zh-CN" altLang="en-US" sz="5900" smtClean="0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1258888" y="188913"/>
            <a:ext cx="6408737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最大子段和问题</a:t>
            </a:r>
            <a:endParaRPr lang="en-US" altLang="ja-JP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755650" y="958850"/>
            <a:ext cx="7561263" cy="489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800" b="1">
                <a:solidFill>
                  <a:srgbClr val="800000"/>
                </a:solidFill>
              </a:rPr>
              <a:t>问题描述：</a:t>
            </a:r>
            <a:endParaRPr lang="zh-CN" altLang="en-US" sz="2800" b="1">
              <a:solidFill>
                <a:srgbClr val="800000"/>
              </a:solidFill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800" b="1"/>
              <a:t>给定由</a:t>
            </a:r>
            <a:r>
              <a:rPr lang="en-US" altLang="zh-CN" sz="2800" b="1"/>
              <a:t>n</a:t>
            </a:r>
            <a:r>
              <a:rPr lang="zh-CN" altLang="en-US" sz="2800" b="1"/>
              <a:t>个整数组成的序列</a:t>
            </a:r>
            <a:r>
              <a:rPr lang="en-US" altLang="zh-CN" sz="2800" b="1"/>
              <a:t>a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,a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,...,a</a:t>
            </a:r>
            <a:r>
              <a:rPr lang="en-US" altLang="zh-CN" sz="2800" b="1" baseline="-25000"/>
              <a:t>n</a:t>
            </a:r>
            <a:r>
              <a:rPr lang="zh-CN" altLang="en-US" sz="2800" b="1"/>
              <a:t>，求该序列子段和的最大值。</a:t>
            </a:r>
            <a:endParaRPr lang="zh-CN" altLang="en-US" sz="2800" b="1"/>
          </a:p>
          <a:p>
            <a:pPr eaLnBrk="1" hangingPunct="1">
              <a:lnSpc>
                <a:spcPct val="125000"/>
              </a:lnSpc>
            </a:pPr>
            <a:r>
              <a:rPr lang="zh-CN" altLang="en-US" sz="2800" b="1"/>
              <a:t>当所有整数均为负值时定义其最大子段和为</a:t>
            </a:r>
            <a:r>
              <a:rPr lang="en-US" altLang="zh-CN" sz="2800" b="1"/>
              <a:t>0</a:t>
            </a:r>
            <a:r>
              <a:rPr lang="zh-CN" altLang="en-US" sz="2800" b="1"/>
              <a:t>。</a:t>
            </a:r>
            <a:endParaRPr lang="zh-CN" altLang="en-US" sz="2800" b="1"/>
          </a:p>
          <a:p>
            <a:pPr eaLnBrk="1" hangingPunct="1">
              <a:lnSpc>
                <a:spcPct val="125000"/>
              </a:lnSpc>
            </a:pPr>
            <a:r>
              <a:rPr lang="zh-CN" altLang="en-US" sz="2800" b="1">
                <a:solidFill>
                  <a:srgbClr val="008000"/>
                </a:solidFill>
              </a:rPr>
              <a:t>依此定义，</a:t>
            </a:r>
            <a:r>
              <a:rPr lang="zh-CN" altLang="en-US" sz="2800" b="1"/>
              <a:t>所求的最优值为：</a:t>
            </a:r>
            <a:endParaRPr lang="zh-CN" altLang="en-US" sz="2800" b="1"/>
          </a:p>
          <a:p>
            <a:pPr eaLnBrk="1" hangingPunct="1">
              <a:lnSpc>
                <a:spcPct val="125000"/>
              </a:lnSpc>
            </a:pPr>
            <a:endParaRPr lang="zh-CN" altLang="en-US" sz="2800" b="1"/>
          </a:p>
          <a:p>
            <a:pPr eaLnBrk="1" hangingPunct="1">
              <a:lnSpc>
                <a:spcPct val="125000"/>
              </a:lnSpc>
            </a:pPr>
            <a:endParaRPr lang="zh-CN" altLang="en-US" sz="2800" b="1"/>
          </a:p>
          <a:p>
            <a:pPr eaLnBrk="1" hangingPunct="1">
              <a:lnSpc>
                <a:spcPct val="125000"/>
              </a:lnSpc>
            </a:pPr>
            <a:r>
              <a:rPr lang="zh-CN" altLang="en-US" sz="2800" b="1">
                <a:solidFill>
                  <a:srgbClr val="008000"/>
                </a:solidFill>
              </a:rPr>
              <a:t>例如，</a:t>
            </a:r>
            <a:r>
              <a:rPr lang="zh-CN" altLang="en-US" sz="2800" b="1"/>
              <a:t>当</a:t>
            </a:r>
            <a:r>
              <a:rPr lang="en-US" altLang="zh-CN" sz="2800" b="1"/>
              <a:t>(a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,a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 a</a:t>
            </a:r>
            <a:r>
              <a:rPr lang="en-US" altLang="zh-CN" sz="2800" b="1" baseline="-25000"/>
              <a:t>3</a:t>
            </a:r>
            <a:r>
              <a:rPr lang="en-US" altLang="zh-CN" sz="2800" b="1"/>
              <a:t>, a</a:t>
            </a:r>
            <a:r>
              <a:rPr lang="en-US" altLang="zh-CN" sz="2800" b="1" baseline="-25000"/>
              <a:t>4</a:t>
            </a:r>
            <a:r>
              <a:rPr lang="en-US" altLang="zh-CN" sz="2800" b="1"/>
              <a:t>, a</a:t>
            </a:r>
            <a:r>
              <a:rPr lang="en-US" altLang="zh-CN" sz="2800" b="1" baseline="-25000"/>
              <a:t>5</a:t>
            </a:r>
            <a:r>
              <a:rPr lang="en-US" altLang="zh-CN" sz="2800" b="1"/>
              <a:t>,a</a:t>
            </a:r>
            <a:r>
              <a:rPr lang="en-US" altLang="zh-CN" sz="2800" b="1" baseline="-25000"/>
              <a:t>6</a:t>
            </a:r>
            <a:r>
              <a:rPr lang="en-US" altLang="zh-CN" sz="2800" b="1"/>
              <a:t>)=(-2, 11, -4, 13, -5, -2)</a:t>
            </a:r>
            <a:r>
              <a:rPr lang="zh-CN" altLang="en-US" sz="2800" b="1"/>
              <a:t>时，最大子段和为：</a:t>
            </a:r>
            <a:endParaRPr lang="zh-CN" altLang="en-US" sz="2800" b="1"/>
          </a:p>
        </p:txBody>
      </p:sp>
      <p:pic>
        <p:nvPicPr>
          <p:cNvPr id="16388" name="Picture 4" descr="tabl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3789363"/>
            <a:ext cx="410527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 descr="tab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5373688"/>
            <a:ext cx="3313112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258888" y="188913"/>
            <a:ext cx="6408737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最大子段和问题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755650" y="958850"/>
            <a:ext cx="7561263" cy="520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800000"/>
                </a:solidFill>
              </a:rPr>
              <a:t>一个简单算法：</a:t>
            </a:r>
            <a:endParaRPr lang="zh-CN" altLang="en-US" sz="2800" b="1">
              <a:solidFill>
                <a:srgbClr val="800000"/>
              </a:solidFill>
            </a:endParaRPr>
          </a:p>
          <a:p>
            <a:pPr eaLnBrk="1" hangingPunct="1"/>
            <a:r>
              <a:rPr lang="en-US" altLang="zh-CN" sz="2200" b="1"/>
              <a:t>int MaxSum(int n, int a[ ], int &amp;besti, int &amp;bestj) {</a:t>
            </a:r>
            <a:endParaRPr lang="en-US" altLang="zh-CN" sz="2200" b="1"/>
          </a:p>
          <a:p>
            <a:pPr eaLnBrk="1" hangingPunct="1"/>
            <a:r>
              <a:rPr lang="en-US" altLang="zh-CN" sz="2200" b="1"/>
              <a:t>	int i, j, k, sum=0;</a:t>
            </a:r>
            <a:endParaRPr lang="en-US" altLang="zh-CN" sz="2200" b="1"/>
          </a:p>
          <a:p>
            <a:pPr eaLnBrk="1" hangingPunct="1"/>
            <a:r>
              <a:rPr lang="en-US" altLang="zh-CN" sz="2200" b="1"/>
              <a:t>	for (i=0; i&lt;n; i++)</a:t>
            </a:r>
            <a:endParaRPr lang="en-US" altLang="zh-CN" sz="2200" b="1"/>
          </a:p>
          <a:p>
            <a:pPr eaLnBrk="1" hangingPunct="1"/>
            <a:r>
              <a:rPr lang="en-US" altLang="zh-CN" sz="2200" b="1"/>
              <a:t>		for (j=0; j&lt;n; j++) {</a:t>
            </a:r>
            <a:endParaRPr lang="en-US" altLang="zh-CN" sz="2200" b="1"/>
          </a:p>
          <a:p>
            <a:pPr eaLnBrk="1" hangingPunct="1"/>
            <a:r>
              <a:rPr lang="en-US" altLang="zh-CN" sz="2200" b="1"/>
              <a:t>			int thissum=0;</a:t>
            </a:r>
            <a:endParaRPr lang="en-US" altLang="zh-CN" sz="2200" b="1"/>
          </a:p>
          <a:p>
            <a:pPr eaLnBrk="1" hangingPunct="1"/>
            <a:r>
              <a:rPr lang="en-US" altLang="zh-CN" sz="2200" b="1"/>
              <a:t>			for (k=i; k&lt;=j; k++) thissum+=a[k];</a:t>
            </a:r>
            <a:endParaRPr lang="en-US" altLang="zh-CN" sz="2200" b="1"/>
          </a:p>
          <a:p>
            <a:pPr eaLnBrk="1" hangingPunct="1"/>
            <a:r>
              <a:rPr lang="en-US" altLang="zh-CN" sz="2200" b="1"/>
              <a:t>			if (thissum&gt;sum) {</a:t>
            </a:r>
            <a:endParaRPr lang="en-US" altLang="zh-CN" sz="2200" b="1"/>
          </a:p>
          <a:p>
            <a:pPr eaLnBrk="1" hangingPunct="1"/>
            <a:r>
              <a:rPr lang="en-US" altLang="zh-CN" sz="2200" b="1"/>
              <a:t>				sum=thissum;</a:t>
            </a:r>
            <a:endParaRPr lang="en-US" altLang="zh-CN" sz="2200" b="1"/>
          </a:p>
          <a:p>
            <a:pPr eaLnBrk="1" hangingPunct="1"/>
            <a:r>
              <a:rPr lang="en-US" altLang="zh-CN" sz="2200" b="1"/>
              <a:t>				besti=i+1;</a:t>
            </a:r>
            <a:endParaRPr lang="en-US" altLang="zh-CN" sz="2200" b="1"/>
          </a:p>
          <a:p>
            <a:pPr eaLnBrk="1" hangingPunct="1"/>
            <a:r>
              <a:rPr lang="en-US" altLang="zh-CN" sz="2200" b="1"/>
              <a:t>				bestj=j+1;</a:t>
            </a:r>
            <a:endParaRPr lang="en-US" altLang="zh-CN" sz="2200" b="1"/>
          </a:p>
          <a:p>
            <a:pPr eaLnBrk="1" hangingPunct="1"/>
            <a:r>
              <a:rPr lang="en-US" altLang="zh-CN" sz="2200" b="1"/>
              <a:t>			}</a:t>
            </a:r>
            <a:endParaRPr lang="en-US" altLang="zh-CN" sz="2200" b="1"/>
          </a:p>
          <a:p>
            <a:pPr eaLnBrk="1" hangingPunct="1"/>
            <a:r>
              <a:rPr lang="en-US" altLang="zh-CN" sz="2200" b="1"/>
              <a:t>		}</a:t>
            </a:r>
            <a:endParaRPr lang="en-US" altLang="zh-CN" sz="2200" b="1"/>
          </a:p>
          <a:p>
            <a:pPr eaLnBrk="1" hangingPunct="1"/>
            <a:r>
              <a:rPr lang="en-US" altLang="zh-CN" sz="2200" b="1"/>
              <a:t>	return sum;</a:t>
            </a:r>
            <a:endParaRPr lang="en-US" altLang="zh-CN" sz="2200" b="1"/>
          </a:p>
          <a:p>
            <a:pPr eaLnBrk="1" hangingPunct="1"/>
            <a:r>
              <a:rPr lang="en-US" altLang="zh-CN" sz="2200" b="1"/>
              <a:t>}  </a:t>
            </a:r>
            <a:r>
              <a:rPr lang="en-US" altLang="zh-CN" sz="2200" b="1">
                <a:solidFill>
                  <a:srgbClr val="008000"/>
                </a:solidFill>
              </a:rPr>
              <a:t>// </a:t>
            </a:r>
            <a:r>
              <a:rPr lang="zh-CN" altLang="en-US" sz="2200" b="1">
                <a:solidFill>
                  <a:srgbClr val="008000"/>
                </a:solidFill>
              </a:rPr>
              <a:t>时间复杂度为</a:t>
            </a:r>
            <a:r>
              <a:rPr lang="en-US" altLang="zh-CN" sz="2200" b="1">
                <a:solidFill>
                  <a:srgbClr val="008000"/>
                </a:solidFill>
              </a:rPr>
              <a:t>O(n</a:t>
            </a:r>
            <a:r>
              <a:rPr lang="en-US" altLang="zh-CN" sz="2200" b="1" baseline="30000">
                <a:solidFill>
                  <a:srgbClr val="008000"/>
                </a:solidFill>
              </a:rPr>
              <a:t>3</a:t>
            </a:r>
            <a:r>
              <a:rPr lang="en-US" altLang="zh-CN" sz="2200" b="1">
                <a:solidFill>
                  <a:srgbClr val="008000"/>
                </a:solidFill>
              </a:rPr>
              <a:t>)</a:t>
            </a:r>
            <a:endParaRPr lang="en-US" altLang="zh-CN" sz="2200" b="1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1258888" y="188913"/>
            <a:ext cx="6408737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最大子段和问题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755650" y="958850"/>
            <a:ext cx="7561263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800000"/>
                </a:solidFill>
              </a:rPr>
              <a:t>简单算法的改进：</a:t>
            </a:r>
            <a:endParaRPr lang="zh-CN" altLang="en-US" sz="2000" b="1">
              <a:solidFill>
                <a:srgbClr val="800000"/>
              </a:solidFill>
            </a:endParaRPr>
          </a:p>
          <a:p>
            <a:pPr eaLnBrk="1" hangingPunct="1"/>
            <a:r>
              <a:rPr lang="en-US" altLang="zh-CN" sz="2000" b="1"/>
              <a:t>int MaxSum(int n, int a[], int &amp;besti, int &amp;bestj) {</a:t>
            </a:r>
            <a:endParaRPr lang="en-US" altLang="zh-CN" sz="2000" b="1"/>
          </a:p>
          <a:p>
            <a:pPr eaLnBrk="1" hangingPunct="1"/>
            <a:r>
              <a:rPr lang="en-US" altLang="zh-CN" sz="2000" b="1"/>
              <a:t>	int i, j, sum=0;</a:t>
            </a:r>
            <a:endParaRPr lang="en-US" altLang="zh-CN" sz="2000" b="1"/>
          </a:p>
          <a:p>
            <a:pPr eaLnBrk="1" hangingPunct="1"/>
            <a:r>
              <a:rPr lang="en-US" altLang="zh-CN" sz="2000" b="1"/>
              <a:t>	for (i=0; i&lt;n; i++) {</a:t>
            </a:r>
            <a:endParaRPr lang="en-US" altLang="zh-CN" sz="2000" b="1"/>
          </a:p>
          <a:p>
            <a:pPr eaLnBrk="1" hangingPunct="1"/>
            <a:r>
              <a:rPr lang="en-US" altLang="zh-CN" sz="2000" b="1"/>
              <a:t>		int thissum=0;</a:t>
            </a:r>
            <a:endParaRPr lang="en-US" altLang="zh-CN" sz="2000" b="1"/>
          </a:p>
          <a:p>
            <a:pPr eaLnBrk="1" hangingPunct="1"/>
            <a:r>
              <a:rPr lang="en-US" altLang="zh-CN" sz="2000" b="1"/>
              <a:t>		for (j=i; j&lt;n; j++) {</a:t>
            </a:r>
            <a:endParaRPr lang="en-US" altLang="zh-CN" sz="2000" b="1"/>
          </a:p>
          <a:p>
            <a:pPr eaLnBrk="1" hangingPunct="1"/>
            <a:r>
              <a:rPr lang="en-US" altLang="zh-CN" sz="2000" b="1"/>
              <a:t>			thissum+=a[j];</a:t>
            </a:r>
            <a:endParaRPr lang="en-US" altLang="zh-CN" sz="2000" b="1"/>
          </a:p>
          <a:p>
            <a:pPr eaLnBrk="1" hangingPunct="1"/>
            <a:r>
              <a:rPr lang="en-US" altLang="zh-CN" sz="2000" b="1"/>
              <a:t>			if (thissum&gt;sum) {</a:t>
            </a:r>
            <a:endParaRPr lang="en-US" altLang="zh-CN" sz="2000" b="1"/>
          </a:p>
          <a:p>
            <a:pPr eaLnBrk="1" hangingPunct="1"/>
            <a:r>
              <a:rPr lang="en-US" altLang="zh-CN" sz="2000" b="1"/>
              <a:t>				sum=thissum;</a:t>
            </a:r>
            <a:endParaRPr lang="en-US" altLang="zh-CN" sz="2000" b="1"/>
          </a:p>
          <a:p>
            <a:pPr eaLnBrk="1" hangingPunct="1"/>
            <a:r>
              <a:rPr lang="en-US" altLang="zh-CN" sz="2000" b="1"/>
              <a:t>				besti=i+1;</a:t>
            </a:r>
            <a:endParaRPr lang="en-US" altLang="zh-CN" sz="2000" b="1"/>
          </a:p>
          <a:p>
            <a:pPr eaLnBrk="1" hangingPunct="1"/>
            <a:r>
              <a:rPr lang="en-US" altLang="zh-CN" sz="2000" b="1"/>
              <a:t>				bestj=j+1;</a:t>
            </a:r>
            <a:endParaRPr lang="en-US" altLang="zh-CN" sz="2000" b="1"/>
          </a:p>
          <a:p>
            <a:pPr eaLnBrk="1" hangingPunct="1"/>
            <a:r>
              <a:rPr lang="en-US" altLang="zh-CN" sz="2000" b="1"/>
              <a:t>			}</a:t>
            </a:r>
            <a:endParaRPr lang="en-US" altLang="zh-CN" sz="2000" b="1"/>
          </a:p>
          <a:p>
            <a:pPr eaLnBrk="1" hangingPunct="1"/>
            <a:r>
              <a:rPr lang="en-US" altLang="zh-CN" sz="2000" b="1"/>
              <a:t>		}</a:t>
            </a:r>
            <a:endParaRPr lang="en-US" altLang="zh-CN" sz="2000" b="1"/>
          </a:p>
          <a:p>
            <a:pPr eaLnBrk="1" hangingPunct="1"/>
            <a:r>
              <a:rPr lang="en-US" altLang="zh-CN" sz="2000" b="1"/>
              <a:t>	}</a:t>
            </a:r>
            <a:endParaRPr lang="en-US" altLang="zh-CN" sz="2000" b="1"/>
          </a:p>
          <a:p>
            <a:pPr eaLnBrk="1" hangingPunct="1"/>
            <a:r>
              <a:rPr lang="en-US" altLang="zh-CN" sz="2000" b="1"/>
              <a:t>	return sum;</a:t>
            </a:r>
            <a:endParaRPr lang="en-US" altLang="zh-CN" sz="2000" b="1"/>
          </a:p>
          <a:p>
            <a:pPr eaLnBrk="1" hangingPunct="1"/>
            <a:r>
              <a:rPr lang="en-US" altLang="zh-CN" sz="2000" b="1"/>
              <a:t>}  </a:t>
            </a:r>
            <a:r>
              <a:rPr lang="en-US" altLang="zh-CN" sz="2000" b="1">
                <a:solidFill>
                  <a:srgbClr val="008000"/>
                </a:solidFill>
              </a:rPr>
              <a:t>// </a:t>
            </a:r>
            <a:r>
              <a:rPr lang="zh-CN" altLang="en-US" sz="2000" b="1">
                <a:solidFill>
                  <a:srgbClr val="008000"/>
                </a:solidFill>
              </a:rPr>
              <a:t>时间复杂度为</a:t>
            </a:r>
            <a:r>
              <a:rPr lang="en-US" altLang="zh-CN" sz="2000" b="1">
                <a:solidFill>
                  <a:srgbClr val="008000"/>
                </a:solidFill>
              </a:rPr>
              <a:t>O(n</a:t>
            </a:r>
            <a:r>
              <a:rPr lang="en-US" altLang="zh-CN" sz="2000" b="1" baseline="30000">
                <a:solidFill>
                  <a:srgbClr val="008000"/>
                </a:solidFill>
              </a:rPr>
              <a:t>2</a:t>
            </a:r>
            <a:r>
              <a:rPr lang="en-US" altLang="zh-CN" sz="2000" b="1">
                <a:solidFill>
                  <a:srgbClr val="008000"/>
                </a:solidFill>
              </a:rPr>
              <a:t>)</a:t>
            </a:r>
            <a:endParaRPr lang="en-US" altLang="zh-CN" sz="2000" b="1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258888" y="188913"/>
            <a:ext cx="6408737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最大子段和问题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029" name="Text Box 3"/>
          <p:cNvSpPr txBox="1">
            <a:spLocks noChangeArrowheads="1"/>
          </p:cNvSpPr>
          <p:nvPr/>
        </p:nvSpPr>
        <p:spPr bwMode="auto">
          <a:xfrm>
            <a:off x="755650" y="958850"/>
            <a:ext cx="7704138" cy="465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400" b="1">
                <a:solidFill>
                  <a:srgbClr val="800000"/>
                </a:solidFill>
              </a:rPr>
              <a:t>分治算法：</a:t>
            </a:r>
            <a:endParaRPr lang="zh-CN" altLang="en-US" sz="2400" b="1">
              <a:solidFill>
                <a:srgbClr val="800000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/>
              <a:t>将最大子段和</a:t>
            </a:r>
            <a:r>
              <a:rPr lang="en-US" altLang="zh-CN" sz="2400" b="1"/>
              <a:t>a[1:n]</a:t>
            </a:r>
            <a:r>
              <a:rPr lang="zh-CN" altLang="en-US" sz="2400" b="1"/>
              <a:t>分为</a:t>
            </a:r>
            <a:r>
              <a:rPr lang="en-US" altLang="zh-CN" sz="2400" b="1"/>
              <a:t>a[1:n/2 ]</a:t>
            </a:r>
            <a:r>
              <a:rPr lang="zh-CN" altLang="en-US" sz="2400" b="1"/>
              <a:t>和</a:t>
            </a:r>
            <a:r>
              <a:rPr lang="en-US" altLang="zh-CN" sz="2400" b="1"/>
              <a:t>a[n/2+1 : n]</a:t>
            </a:r>
            <a:r>
              <a:rPr lang="zh-CN" altLang="en-US" sz="2400" b="1"/>
              <a:t>两段，则可能有下列三种情况：</a:t>
            </a:r>
            <a:endParaRPr lang="zh-CN" altLang="en-US" sz="2400" b="1"/>
          </a:p>
          <a:p>
            <a:pPr eaLnBrk="1" hangingPunct="1">
              <a:lnSpc>
                <a:spcPct val="150000"/>
              </a:lnSpc>
            </a:pPr>
            <a:r>
              <a:rPr lang="en-US" altLang="zh-CN" sz="2400" b="1">
                <a:solidFill>
                  <a:srgbClr val="008000"/>
                </a:solidFill>
              </a:rPr>
              <a:t>1)</a:t>
            </a:r>
            <a:r>
              <a:rPr lang="en-US" altLang="zh-CN" sz="2400" b="1"/>
              <a:t> a[1:n]</a:t>
            </a:r>
            <a:r>
              <a:rPr lang="zh-CN" altLang="en-US" sz="2400" b="1"/>
              <a:t>的最大子段和</a:t>
            </a:r>
            <a:r>
              <a:rPr lang="en-US" altLang="zh-CN" sz="2400" b="1"/>
              <a:t>= a[1:n/2]</a:t>
            </a:r>
            <a:r>
              <a:rPr lang="zh-CN" altLang="en-US" sz="2400" b="1"/>
              <a:t>的最大子段和；</a:t>
            </a:r>
            <a:endParaRPr lang="zh-CN" altLang="en-US" sz="2400" b="1"/>
          </a:p>
          <a:p>
            <a:pPr eaLnBrk="1" hangingPunct="1">
              <a:lnSpc>
                <a:spcPct val="150000"/>
              </a:lnSpc>
            </a:pPr>
            <a:r>
              <a:rPr lang="en-US" altLang="zh-CN" sz="2400" b="1">
                <a:solidFill>
                  <a:srgbClr val="008000"/>
                </a:solidFill>
              </a:rPr>
              <a:t>2)</a:t>
            </a:r>
            <a:r>
              <a:rPr lang="en-US" altLang="zh-CN" sz="2400" b="1"/>
              <a:t> a[1:n]</a:t>
            </a:r>
            <a:r>
              <a:rPr lang="zh-CN" altLang="en-US" sz="2400" b="1"/>
              <a:t>的最大子段和</a:t>
            </a:r>
            <a:r>
              <a:rPr lang="en-US" altLang="zh-CN" sz="2400" b="1"/>
              <a:t>= a[n/2+1:n]</a:t>
            </a:r>
            <a:r>
              <a:rPr lang="zh-CN" altLang="en-US" sz="2400" b="1"/>
              <a:t>的最大子段和；</a:t>
            </a:r>
            <a:endParaRPr lang="zh-CN" altLang="en-US" sz="2400" b="1"/>
          </a:p>
          <a:p>
            <a:pPr eaLnBrk="1" hangingPunct="1">
              <a:lnSpc>
                <a:spcPct val="150000"/>
              </a:lnSpc>
            </a:pPr>
            <a:r>
              <a:rPr lang="en-US" altLang="zh-CN" sz="2400" b="1">
                <a:solidFill>
                  <a:srgbClr val="008000"/>
                </a:solidFill>
              </a:rPr>
              <a:t>3)</a:t>
            </a:r>
            <a:r>
              <a:rPr lang="en-US" altLang="zh-CN" sz="2400" b="1"/>
              <a:t> a[1:n]</a:t>
            </a:r>
            <a:r>
              <a:rPr lang="zh-CN" altLang="en-US" sz="2400" b="1"/>
              <a:t>的最大子段和</a:t>
            </a:r>
            <a:r>
              <a:rPr lang="en-US" altLang="zh-CN" sz="2400" b="1"/>
              <a:t>=           ,1≤i≤n/2, n/2+1≤j≤n</a:t>
            </a:r>
            <a:endParaRPr lang="en-US" altLang="zh-CN" sz="2400" b="1"/>
          </a:p>
          <a:p>
            <a:pPr eaLnBrk="1" hangingPunct="1">
              <a:lnSpc>
                <a:spcPct val="150000"/>
              </a:lnSpc>
            </a:pPr>
            <a:r>
              <a:rPr lang="zh-CN" altLang="en-US" sz="2400" b="1"/>
              <a:t>此时，可分别计算</a:t>
            </a:r>
            <a:r>
              <a:rPr lang="en-US" altLang="zh-CN" sz="2400" b="1"/>
              <a:t>a[1:n/2]</a:t>
            </a:r>
            <a:r>
              <a:rPr lang="zh-CN" altLang="en-US" sz="2400" b="1"/>
              <a:t>和</a:t>
            </a:r>
            <a:r>
              <a:rPr lang="en-US" altLang="zh-CN" sz="2400" b="1"/>
              <a:t>a[n/2+1:n]</a:t>
            </a:r>
            <a:r>
              <a:rPr lang="zh-CN" altLang="en-US" sz="2400" b="1"/>
              <a:t>的最大子段和</a:t>
            </a:r>
            <a:endParaRPr lang="zh-CN" altLang="en-US" sz="2400" b="1"/>
          </a:p>
          <a:p>
            <a:pPr eaLnBrk="1" hangingPunct="1">
              <a:lnSpc>
                <a:spcPct val="200000"/>
              </a:lnSpc>
            </a:pPr>
            <a:r>
              <a:rPr lang="en-US" altLang="zh-CN" sz="2400" b="1"/>
              <a:t>s1=                       , s2=                       </a:t>
            </a:r>
            <a:r>
              <a:rPr lang="en-US" altLang="zh-CN" sz="2400" b="1">
                <a:solidFill>
                  <a:srgbClr val="800000"/>
                </a:solidFill>
                <a:sym typeface="Wingdings" panose="05000000000000000000" pitchFamily="2" charset="2"/>
              </a:rPr>
              <a:t> s1+s2</a:t>
            </a:r>
            <a:endParaRPr lang="en-US" altLang="zh-CN" sz="2400" b="1">
              <a:solidFill>
                <a:srgbClr val="800000"/>
              </a:solidFill>
            </a:endParaRPr>
          </a:p>
        </p:txBody>
      </p:sp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03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19" t="67365" r="74596" b="19077"/>
          <a:stretch>
            <a:fillRect/>
          </a:stretch>
        </p:blipFill>
        <p:spPr bwMode="auto">
          <a:xfrm>
            <a:off x="3995738" y="3689350"/>
            <a:ext cx="923925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33" name="Rectangle 7"/>
          <p:cNvSpPr>
            <a:spLocks noChangeArrowheads="1"/>
          </p:cNvSpPr>
          <p:nvPr/>
        </p:nvSpPr>
        <p:spPr bwMode="auto">
          <a:xfrm>
            <a:off x="0" y="30765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26" name="Object 8"/>
          <p:cNvGraphicFramePr>
            <a:graphicFrameLocks noChangeAspect="1"/>
          </p:cNvGraphicFramePr>
          <p:nvPr/>
        </p:nvGraphicFramePr>
        <p:xfrm>
          <a:off x="1403350" y="4760913"/>
          <a:ext cx="187325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公式" r:id="rId2" imgW="888365" imgH="431800" progId="Equation.3">
                  <p:embed/>
                </p:oleObj>
              </mc:Choice>
              <mc:Fallback>
                <p:oleObj name="公式" r:id="rId2" imgW="888365" imgH="431800" progId="Equation.3">
                  <p:embed/>
                  <p:pic>
                    <p:nvPicPr>
                      <p:cNvPr id="0" name="图片 204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760913"/>
                        <a:ext cx="1873250" cy="900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9"/>
          <p:cNvGraphicFramePr>
            <a:graphicFrameLocks noChangeAspect="1"/>
          </p:cNvGraphicFramePr>
          <p:nvPr/>
        </p:nvGraphicFramePr>
        <p:xfrm>
          <a:off x="3995738" y="4868863"/>
          <a:ext cx="1800225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公式" r:id="rId4" imgW="1028065" imgH="431800" progId="Equation.3">
                  <p:embed/>
                </p:oleObj>
              </mc:Choice>
              <mc:Fallback>
                <p:oleObj name="公式" r:id="rId4" imgW="1028065" imgH="431800" progId="Equation.3">
                  <p:embed/>
                  <p:pic>
                    <p:nvPicPr>
                      <p:cNvPr id="0" name="图片 204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4868863"/>
                        <a:ext cx="1800225" cy="747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" name="Rectangle 10"/>
          <p:cNvSpPr>
            <a:spLocks noChangeArrowheads="1"/>
          </p:cNvSpPr>
          <p:nvPr/>
        </p:nvSpPr>
        <p:spPr bwMode="auto">
          <a:xfrm>
            <a:off x="684213" y="2133600"/>
            <a:ext cx="7920037" cy="410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1258888" y="188913"/>
            <a:ext cx="6408737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最大子段和问题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755650" y="958850"/>
            <a:ext cx="7561263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lang="zh-CN" altLang="en-US" sz="2400" b="1">
                <a:solidFill>
                  <a:srgbClr val="800000"/>
                </a:solidFill>
              </a:rPr>
              <a:t>分治算法：</a:t>
            </a:r>
            <a:endParaRPr lang="zh-CN" altLang="en-US" sz="2400" b="1">
              <a:solidFill>
                <a:srgbClr val="800000"/>
              </a:solidFill>
            </a:endParaRPr>
          </a:p>
          <a:p>
            <a:pPr lvl="1" eaLnBrk="1" hangingPunct="1">
              <a:lnSpc>
                <a:spcPct val="105000"/>
              </a:lnSpc>
            </a:pPr>
            <a:r>
              <a:rPr lang="en-US" altLang="zh-CN" sz="2400" b="1"/>
              <a:t>int MaxSubSum(int a[ ], int left, int right) {</a:t>
            </a:r>
            <a:endParaRPr lang="en-US" altLang="zh-CN" sz="2400" b="1"/>
          </a:p>
          <a:p>
            <a:pPr lvl="1" eaLnBrk="1" hangingPunct="1">
              <a:lnSpc>
                <a:spcPct val="105000"/>
              </a:lnSpc>
            </a:pPr>
            <a:r>
              <a:rPr lang="en-US" altLang="zh-CN" sz="2400" b="1"/>
              <a:t>	int sum=0;</a:t>
            </a:r>
            <a:endParaRPr lang="en-US" altLang="zh-CN" sz="2400" b="1"/>
          </a:p>
          <a:p>
            <a:pPr lvl="1" eaLnBrk="1" hangingPunct="1">
              <a:lnSpc>
                <a:spcPct val="105000"/>
              </a:lnSpc>
            </a:pPr>
            <a:r>
              <a:rPr lang="en-US" altLang="zh-CN" sz="2400" b="1"/>
              <a:t>	if (left==right) sum=a[left]&gt;0 ? a[left] : 0;</a:t>
            </a:r>
            <a:endParaRPr lang="en-US" altLang="zh-CN" sz="2400" b="1"/>
          </a:p>
          <a:p>
            <a:pPr lvl="1" eaLnBrk="1" hangingPunct="1">
              <a:lnSpc>
                <a:spcPct val="105000"/>
              </a:lnSpc>
            </a:pPr>
            <a:r>
              <a:rPr lang="en-US" altLang="zh-CN" sz="2400" b="1"/>
              <a:t>	else {</a:t>
            </a:r>
            <a:endParaRPr lang="en-US" altLang="zh-CN" sz="2400" b="1"/>
          </a:p>
          <a:p>
            <a:pPr lvl="1" eaLnBrk="1" hangingPunct="1">
              <a:lnSpc>
                <a:spcPct val="105000"/>
              </a:lnSpc>
            </a:pPr>
            <a:r>
              <a:rPr lang="en-US" altLang="zh-CN" sz="2400" b="1"/>
              <a:t>		int center=(left+right)/2;</a:t>
            </a:r>
            <a:endParaRPr lang="en-US" altLang="zh-CN" sz="2400" b="1"/>
          </a:p>
          <a:p>
            <a:pPr lvl="1" eaLnBrk="1" hangingPunct="1">
              <a:lnSpc>
                <a:spcPct val="105000"/>
              </a:lnSpc>
            </a:pPr>
            <a:r>
              <a:rPr lang="en-US" altLang="zh-CN" sz="2400" b="1"/>
              <a:t>		int leftsum=MaxSubSum(a,left,center);</a:t>
            </a:r>
            <a:endParaRPr lang="en-US" altLang="zh-CN" sz="2400" b="1"/>
          </a:p>
          <a:p>
            <a:pPr lvl="1" eaLnBrk="1" hangingPunct="1">
              <a:lnSpc>
                <a:spcPct val="105000"/>
              </a:lnSpc>
            </a:pPr>
            <a:r>
              <a:rPr lang="en-US" altLang="zh-CN" sz="2400" b="1"/>
              <a:t>		int </a:t>
            </a:r>
            <a:r>
              <a:rPr lang="en-US" altLang="zh-CN" sz="2000" b="1"/>
              <a:t>rightsum=MaxSubSum(a,center+1,right);</a:t>
            </a:r>
            <a:endParaRPr lang="en-US" altLang="zh-CN" sz="2000" b="1"/>
          </a:p>
          <a:p>
            <a:pPr lvl="1" eaLnBrk="1" hangingPunct="1">
              <a:lnSpc>
                <a:spcPct val="105000"/>
              </a:lnSpc>
            </a:pPr>
            <a:r>
              <a:rPr lang="en-US" altLang="zh-CN" sz="2400" b="1"/>
              <a:t>		int s1=0,lefts=0;</a:t>
            </a:r>
            <a:endParaRPr lang="en-US" altLang="zh-CN" sz="2400" b="1"/>
          </a:p>
          <a:p>
            <a:pPr lvl="1" eaLnBrk="1" hangingPunct="1">
              <a:lnSpc>
                <a:spcPct val="105000"/>
              </a:lnSpc>
            </a:pPr>
            <a:r>
              <a:rPr lang="en-US" altLang="zh-CN" sz="2400" b="1"/>
              <a:t>		for (int i=center; i&gt;=left; i--) {</a:t>
            </a:r>
            <a:endParaRPr lang="en-US" altLang="zh-CN" sz="2400" b="1"/>
          </a:p>
          <a:p>
            <a:pPr lvl="1" eaLnBrk="1" hangingPunct="1">
              <a:lnSpc>
                <a:spcPct val="105000"/>
              </a:lnSpc>
            </a:pPr>
            <a:r>
              <a:rPr lang="en-US" altLang="zh-CN" sz="2400" b="1"/>
              <a:t>			lefts+=a[i];</a:t>
            </a:r>
            <a:endParaRPr lang="en-US" altLang="zh-CN" sz="2400" b="1"/>
          </a:p>
          <a:p>
            <a:pPr lvl="1" eaLnBrk="1" hangingPunct="1">
              <a:lnSpc>
                <a:spcPct val="105000"/>
              </a:lnSpc>
            </a:pPr>
            <a:r>
              <a:rPr lang="en-US" altLang="zh-CN" sz="2400" b="1"/>
              <a:t>			if (lefts&gt;s1) s1=lefts;</a:t>
            </a:r>
            <a:endParaRPr lang="en-US" altLang="zh-CN" sz="2400" b="1"/>
          </a:p>
          <a:p>
            <a:pPr lvl="1" eaLnBrk="1" hangingPunct="1">
              <a:lnSpc>
                <a:spcPct val="105000"/>
              </a:lnSpc>
            </a:pPr>
            <a:r>
              <a:rPr lang="en-US" altLang="zh-CN" sz="2400" b="1"/>
              <a:t>		}</a:t>
            </a:r>
            <a:endParaRPr lang="en-US" altLang="zh-CN" sz="2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258888" y="188913"/>
            <a:ext cx="6408737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最大子段和问题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755650" y="958850"/>
            <a:ext cx="7561263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800000"/>
                </a:solidFill>
              </a:rPr>
              <a:t>分治算法</a:t>
            </a:r>
            <a:r>
              <a:rPr lang="en-US" altLang="zh-CN" sz="2400" b="1">
                <a:solidFill>
                  <a:srgbClr val="800000"/>
                </a:solidFill>
              </a:rPr>
              <a:t>(</a:t>
            </a:r>
            <a:r>
              <a:rPr lang="zh-CN" altLang="en-US" sz="2400" b="1">
                <a:solidFill>
                  <a:srgbClr val="800000"/>
                </a:solidFill>
              </a:rPr>
              <a:t>续</a:t>
            </a:r>
            <a:r>
              <a:rPr lang="en-US" altLang="zh-CN" sz="2400" b="1">
                <a:solidFill>
                  <a:srgbClr val="800000"/>
                </a:solidFill>
              </a:rPr>
              <a:t>)</a:t>
            </a:r>
            <a:r>
              <a:rPr lang="zh-CN" altLang="en-US" sz="2400" b="1">
                <a:solidFill>
                  <a:srgbClr val="800000"/>
                </a:solidFill>
              </a:rPr>
              <a:t>：</a:t>
            </a:r>
            <a:endParaRPr lang="zh-CN" altLang="en-US" sz="2400" b="1">
              <a:solidFill>
                <a:srgbClr val="800000"/>
              </a:solidFill>
            </a:endParaRPr>
          </a:p>
          <a:p>
            <a:pPr lvl="1" eaLnBrk="1" hangingPunct="1"/>
            <a:r>
              <a:rPr lang="zh-CN" altLang="en-US" sz="2400" b="1"/>
              <a:t>		</a:t>
            </a:r>
            <a:r>
              <a:rPr lang="en-US" altLang="zh-CN" sz="2400" b="1"/>
              <a:t>int s2=0,rights=0;</a:t>
            </a:r>
            <a:endParaRPr lang="en-US" altLang="zh-CN" sz="2400" b="1"/>
          </a:p>
          <a:p>
            <a:pPr lvl="1" eaLnBrk="1" hangingPunct="1"/>
            <a:r>
              <a:rPr lang="en-US" altLang="zh-CN" sz="2400" b="1"/>
              <a:t>		for (i=center+1; i&lt;=right; i++) {</a:t>
            </a:r>
            <a:endParaRPr lang="en-US" altLang="zh-CN" sz="2400" b="1"/>
          </a:p>
          <a:p>
            <a:pPr lvl="1" eaLnBrk="1" hangingPunct="1"/>
            <a:r>
              <a:rPr lang="en-US" altLang="zh-CN" sz="2400" b="1"/>
              <a:t>			rights+=a[i];</a:t>
            </a:r>
            <a:endParaRPr lang="en-US" altLang="zh-CN" sz="2400" b="1"/>
          </a:p>
          <a:p>
            <a:pPr lvl="1" eaLnBrk="1" hangingPunct="1"/>
            <a:r>
              <a:rPr lang="en-US" altLang="zh-CN" sz="2400" b="1"/>
              <a:t>			if (rights&gt;s2) s2=rights;</a:t>
            </a:r>
            <a:endParaRPr lang="en-US" altLang="zh-CN" sz="2400" b="1"/>
          </a:p>
          <a:p>
            <a:pPr lvl="1" eaLnBrk="1" hangingPunct="1"/>
            <a:r>
              <a:rPr lang="en-US" altLang="zh-CN" sz="2400" b="1"/>
              <a:t>		}</a:t>
            </a:r>
            <a:endParaRPr lang="en-US" altLang="zh-CN" sz="2400" b="1"/>
          </a:p>
          <a:p>
            <a:pPr lvl="1" eaLnBrk="1" hangingPunct="1"/>
            <a:r>
              <a:rPr lang="en-US" altLang="zh-CN" sz="2400" b="1"/>
              <a:t>		sum=s1+s2;</a:t>
            </a:r>
            <a:endParaRPr lang="en-US" altLang="zh-CN" sz="2400" b="1"/>
          </a:p>
          <a:p>
            <a:pPr lvl="1" eaLnBrk="1" hangingPunct="1"/>
            <a:r>
              <a:rPr lang="en-US" altLang="zh-CN" sz="2400" b="1"/>
              <a:t>		if (sum&lt;leftsum) sum=leftsum;</a:t>
            </a:r>
            <a:endParaRPr lang="en-US" altLang="zh-CN" sz="2400" b="1"/>
          </a:p>
          <a:p>
            <a:pPr lvl="1" eaLnBrk="1" hangingPunct="1"/>
            <a:r>
              <a:rPr lang="en-US" altLang="zh-CN" sz="2400" b="1"/>
              <a:t>		if (sum&lt;rightsum) sum=rightsum;</a:t>
            </a:r>
            <a:endParaRPr lang="en-US" altLang="zh-CN" sz="2400" b="1"/>
          </a:p>
          <a:p>
            <a:pPr lvl="1" eaLnBrk="1" hangingPunct="1"/>
            <a:r>
              <a:rPr lang="en-US" altLang="zh-CN" sz="2400" b="1"/>
              <a:t>	}</a:t>
            </a:r>
            <a:endParaRPr lang="en-US" altLang="zh-CN" sz="2400" b="1"/>
          </a:p>
          <a:p>
            <a:pPr lvl="1" eaLnBrk="1" hangingPunct="1"/>
            <a:r>
              <a:rPr lang="en-US" altLang="zh-CN" sz="2400" b="1"/>
              <a:t>	return sum;</a:t>
            </a:r>
            <a:endParaRPr lang="en-US" altLang="zh-CN" sz="2400" b="1"/>
          </a:p>
          <a:p>
            <a:pPr lvl="1" eaLnBrk="1" hangingPunct="1"/>
            <a:r>
              <a:rPr lang="en-US" altLang="zh-CN" sz="2400" b="1"/>
              <a:t>}</a:t>
            </a:r>
            <a:endParaRPr lang="en-US" altLang="zh-CN" sz="2200" b="1">
              <a:solidFill>
                <a:srgbClr val="008000"/>
              </a:solidFill>
            </a:endParaRPr>
          </a:p>
        </p:txBody>
      </p:sp>
      <p:pic>
        <p:nvPicPr>
          <p:cNvPr id="8196" name="Picture 4" descr="tabl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588" y="4437063"/>
            <a:ext cx="4343400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1258888" y="188913"/>
            <a:ext cx="6408737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最大子段和问题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755650" y="958850"/>
            <a:ext cx="7561263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solidFill>
                  <a:srgbClr val="800000"/>
                </a:solidFill>
              </a:rPr>
              <a:t>动态规划算法：</a:t>
            </a:r>
            <a:endParaRPr lang="zh-CN" altLang="en-US" sz="2400" b="1">
              <a:solidFill>
                <a:srgbClr val="800000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solidFill>
                  <a:srgbClr val="800000"/>
                </a:solidFill>
              </a:rPr>
              <a:t>     </a:t>
            </a:r>
            <a:r>
              <a:rPr lang="zh-CN" altLang="en-US" sz="2400" b="1"/>
              <a:t>在上述分治算法中，</a:t>
            </a:r>
            <a:endParaRPr lang="zh-CN" altLang="en-US" sz="2400" b="1"/>
          </a:p>
        </p:txBody>
      </p:sp>
      <p:pic>
        <p:nvPicPr>
          <p:cNvPr id="21508" name="Picture 4" descr="tabl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5" y="1916113"/>
            <a:ext cx="6264275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684213" y="3821113"/>
            <a:ext cx="7704137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zh-CN" sz="2400" b="1"/>
              <a:t>由</a:t>
            </a:r>
            <a:r>
              <a:rPr lang="en-US" altLang="zh-CN" sz="2400" b="1"/>
              <a:t>b</a:t>
            </a:r>
            <a:r>
              <a:rPr lang="en-US" altLang="zh-CN" sz="2400" b="1" baseline="-25000"/>
              <a:t>j</a:t>
            </a:r>
            <a:r>
              <a:rPr lang="zh-CN" altLang="en-US" sz="2400" b="1"/>
              <a:t>的定义易知，当</a:t>
            </a:r>
            <a:r>
              <a:rPr lang="en-US" altLang="zh-CN" sz="2400" b="1"/>
              <a:t>b</a:t>
            </a:r>
            <a:r>
              <a:rPr lang="en-US" altLang="zh-CN" sz="2400" b="1" baseline="-25000"/>
              <a:t>j-1</a:t>
            </a:r>
            <a:r>
              <a:rPr lang="en-US" altLang="zh-CN" sz="2400" b="1"/>
              <a:t>&gt;0</a:t>
            </a:r>
            <a:r>
              <a:rPr lang="zh-CN" altLang="en-US" sz="2400" b="1"/>
              <a:t>时，</a:t>
            </a:r>
            <a:r>
              <a:rPr lang="en-US" altLang="zh-CN" sz="2400" b="1"/>
              <a:t>b</a:t>
            </a:r>
            <a:r>
              <a:rPr lang="en-US" altLang="zh-CN" sz="2400" b="1" baseline="-25000"/>
              <a:t>j</a:t>
            </a:r>
            <a:r>
              <a:rPr lang="en-US" altLang="zh-CN" sz="2400" b="1"/>
              <a:t>=b</a:t>
            </a:r>
            <a:r>
              <a:rPr lang="en-US" altLang="zh-CN" sz="2400" b="1" baseline="-25000"/>
              <a:t>j-1</a:t>
            </a:r>
            <a:r>
              <a:rPr lang="en-US" altLang="zh-CN" sz="2400" b="1"/>
              <a:t>+a</a:t>
            </a:r>
            <a:r>
              <a:rPr lang="en-US" altLang="zh-CN" sz="2400" b="1" baseline="-25000"/>
              <a:t>j</a:t>
            </a:r>
            <a:r>
              <a:rPr lang="zh-CN" altLang="en-US" sz="2400" b="1"/>
              <a:t>，否则，</a:t>
            </a:r>
            <a:r>
              <a:rPr lang="en-US" altLang="zh-CN" sz="2400" b="1"/>
              <a:t>b</a:t>
            </a:r>
            <a:r>
              <a:rPr lang="en-US" altLang="zh-CN" sz="2400" b="1" baseline="-25000"/>
              <a:t>j</a:t>
            </a:r>
            <a:r>
              <a:rPr lang="en-US" altLang="zh-CN" sz="2400" b="1"/>
              <a:t>=a</a:t>
            </a:r>
            <a:r>
              <a:rPr lang="en-US" altLang="zh-CN" sz="2400" b="1" baseline="-25000"/>
              <a:t>j</a:t>
            </a:r>
            <a:r>
              <a:rPr lang="zh-CN" altLang="en-US" sz="2400" b="1"/>
              <a:t>。由此可得，计算</a:t>
            </a:r>
            <a:r>
              <a:rPr lang="en-US" altLang="zh-CN" sz="2400" b="1"/>
              <a:t>b</a:t>
            </a:r>
            <a:r>
              <a:rPr lang="en-US" altLang="zh-CN" sz="2400" b="1" baseline="-25000"/>
              <a:t>j</a:t>
            </a:r>
            <a:r>
              <a:rPr lang="zh-CN" altLang="en-US" sz="2400" b="1"/>
              <a:t>的动态规划递归式</a:t>
            </a:r>
            <a:r>
              <a:rPr lang="en-US" altLang="zh-CN" sz="2400" b="1"/>
              <a:t>b</a:t>
            </a:r>
            <a:r>
              <a:rPr lang="en-US" altLang="zh-CN" sz="2400" b="1" baseline="-25000"/>
              <a:t>j</a:t>
            </a:r>
            <a:r>
              <a:rPr lang="en-US" altLang="zh-CN" sz="2400" b="1"/>
              <a:t>=max{b</a:t>
            </a:r>
            <a:r>
              <a:rPr lang="en-US" altLang="zh-CN" sz="2400" b="1" baseline="-25000"/>
              <a:t>j-1</a:t>
            </a:r>
            <a:r>
              <a:rPr lang="en-US" altLang="zh-CN" sz="2400" b="1"/>
              <a:t>+a</a:t>
            </a:r>
            <a:r>
              <a:rPr lang="en-US" altLang="zh-CN" sz="2400" b="1" baseline="-25000"/>
              <a:t>j</a:t>
            </a:r>
            <a:r>
              <a:rPr lang="zh-CN" altLang="en-US" sz="2400" b="1"/>
              <a:t>，</a:t>
            </a:r>
            <a:r>
              <a:rPr lang="en-US" altLang="zh-CN" sz="2400" b="1"/>
              <a:t>a</a:t>
            </a:r>
            <a:r>
              <a:rPr lang="en-US" altLang="zh-CN" sz="2400" b="1" baseline="-25000"/>
              <a:t>j</a:t>
            </a:r>
            <a:r>
              <a:rPr lang="en-US" altLang="zh-CN" sz="2400" b="1"/>
              <a:t>}, 1≤j≤n</a:t>
            </a:r>
            <a:r>
              <a:rPr lang="zh-CN" altLang="en-US" sz="2400" b="1"/>
              <a:t>。</a:t>
            </a:r>
            <a:endParaRPr lang="zh-CN" altLang="en-US" sz="2400" b="1"/>
          </a:p>
          <a:p>
            <a:pPr eaLnBrk="1" hangingPunct="1">
              <a:lnSpc>
                <a:spcPct val="140000"/>
              </a:lnSpc>
            </a:pPr>
            <a:r>
              <a:rPr lang="zh-CN" altLang="en-US" sz="2400" b="1"/>
              <a:t>据此，可设计出求最大子段和的动态规划算法如下：</a:t>
            </a:r>
            <a:endParaRPr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258888" y="188913"/>
            <a:ext cx="6408737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最大子段和问题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755650" y="958850"/>
            <a:ext cx="75612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en-US" sz="2400" b="1">
                <a:solidFill>
                  <a:srgbClr val="800000"/>
                </a:solidFill>
              </a:rPr>
              <a:t>动态规划算法：</a:t>
            </a:r>
            <a:endParaRPr lang="zh-CN" altLang="en-US" b="1"/>
          </a:p>
          <a:p>
            <a:pPr lvl="1" eaLnBrk="1" hangingPunct="1">
              <a:lnSpc>
                <a:spcPct val="135000"/>
              </a:lnSpc>
            </a:pPr>
            <a:r>
              <a:rPr lang="zh-CN" altLang="zh-CN" sz="2400" b="1"/>
              <a:t>int MaxSum(int n, int a[</a:t>
            </a:r>
            <a:r>
              <a:rPr lang="en-US" altLang="zh-CN" sz="2400" b="1"/>
              <a:t> </a:t>
            </a:r>
            <a:r>
              <a:rPr lang="zh-CN" altLang="zh-CN" sz="2400" b="1"/>
              <a:t>])</a:t>
            </a:r>
            <a:r>
              <a:rPr lang="en-US" altLang="zh-CN" sz="2400" b="1"/>
              <a:t> </a:t>
            </a:r>
            <a:r>
              <a:rPr lang="zh-CN" altLang="zh-CN" sz="2400" b="1"/>
              <a:t>{</a:t>
            </a:r>
            <a:endParaRPr lang="zh-CN" altLang="zh-CN" sz="2400" b="1"/>
          </a:p>
          <a:p>
            <a:pPr lvl="1" eaLnBrk="1" hangingPunct="1">
              <a:lnSpc>
                <a:spcPct val="135000"/>
              </a:lnSpc>
            </a:pPr>
            <a:r>
              <a:rPr lang="zh-CN" altLang="zh-CN" sz="2400" b="1"/>
              <a:t>	int i, sum=0, b=0;</a:t>
            </a:r>
            <a:endParaRPr lang="zh-CN" altLang="zh-CN" sz="2400" b="1"/>
          </a:p>
          <a:p>
            <a:pPr lvl="1" eaLnBrk="1" hangingPunct="1">
              <a:lnSpc>
                <a:spcPct val="135000"/>
              </a:lnSpc>
            </a:pPr>
            <a:r>
              <a:rPr lang="zh-CN" altLang="zh-CN" sz="2400" b="1"/>
              <a:t>	for (i=0; i&lt;n; i++)</a:t>
            </a:r>
            <a:r>
              <a:rPr lang="en-US" altLang="zh-CN" sz="2400" b="1"/>
              <a:t> </a:t>
            </a:r>
            <a:r>
              <a:rPr lang="zh-CN" altLang="zh-CN" sz="2400" b="1"/>
              <a:t>{</a:t>
            </a:r>
            <a:endParaRPr lang="zh-CN" altLang="zh-CN" sz="2400" b="1"/>
          </a:p>
          <a:p>
            <a:pPr lvl="1" eaLnBrk="1" hangingPunct="1">
              <a:lnSpc>
                <a:spcPct val="135000"/>
              </a:lnSpc>
            </a:pPr>
            <a:r>
              <a:rPr lang="zh-CN" altLang="zh-CN" sz="2400" b="1"/>
              <a:t>		if (b&gt;0) b+=a[i];</a:t>
            </a:r>
            <a:endParaRPr lang="zh-CN" altLang="zh-CN" sz="2400" b="1"/>
          </a:p>
          <a:p>
            <a:pPr lvl="1" eaLnBrk="1" hangingPunct="1">
              <a:lnSpc>
                <a:spcPct val="135000"/>
              </a:lnSpc>
            </a:pPr>
            <a:r>
              <a:rPr lang="zh-CN" altLang="zh-CN" sz="2400" b="1"/>
              <a:t>		else b=a[i];</a:t>
            </a:r>
            <a:endParaRPr lang="zh-CN" altLang="zh-CN" sz="2400" b="1"/>
          </a:p>
          <a:p>
            <a:pPr lvl="1" eaLnBrk="1" hangingPunct="1">
              <a:lnSpc>
                <a:spcPct val="135000"/>
              </a:lnSpc>
            </a:pPr>
            <a:r>
              <a:rPr lang="zh-CN" altLang="zh-CN" sz="2400" b="1"/>
              <a:t>		if (b&gt;sum) sum=b;</a:t>
            </a:r>
            <a:endParaRPr lang="zh-CN" altLang="zh-CN" sz="2400" b="1"/>
          </a:p>
          <a:p>
            <a:pPr lvl="1" eaLnBrk="1" hangingPunct="1">
              <a:lnSpc>
                <a:spcPct val="135000"/>
              </a:lnSpc>
            </a:pPr>
            <a:r>
              <a:rPr lang="zh-CN" altLang="zh-CN" sz="2400" b="1"/>
              <a:t>	}</a:t>
            </a:r>
            <a:endParaRPr lang="zh-CN" altLang="zh-CN" sz="2400" b="1"/>
          </a:p>
          <a:p>
            <a:pPr lvl="1" eaLnBrk="1" hangingPunct="1">
              <a:lnSpc>
                <a:spcPct val="135000"/>
              </a:lnSpc>
            </a:pPr>
            <a:r>
              <a:rPr lang="zh-CN" altLang="zh-CN" sz="2400" b="1"/>
              <a:t>	return sum;</a:t>
            </a:r>
            <a:endParaRPr lang="zh-CN" altLang="zh-CN" sz="2400" b="1"/>
          </a:p>
          <a:p>
            <a:pPr lvl="1" eaLnBrk="1" hangingPunct="1">
              <a:lnSpc>
                <a:spcPct val="135000"/>
              </a:lnSpc>
            </a:pPr>
            <a:r>
              <a:rPr lang="zh-CN" altLang="zh-CN" sz="2400" b="1"/>
              <a:t>}</a:t>
            </a:r>
            <a:r>
              <a:rPr lang="en-US" altLang="zh-CN" sz="2400" b="1"/>
              <a:t>  </a:t>
            </a:r>
            <a:r>
              <a:rPr lang="en-US" altLang="zh-CN" sz="2400" b="1">
                <a:solidFill>
                  <a:srgbClr val="008000"/>
                </a:solidFill>
              </a:rPr>
              <a:t>// </a:t>
            </a:r>
            <a:r>
              <a:rPr lang="zh-CN" altLang="en-US" sz="2400" b="1">
                <a:solidFill>
                  <a:srgbClr val="008000"/>
                </a:solidFill>
              </a:rPr>
              <a:t>时间复杂度为</a:t>
            </a:r>
            <a:r>
              <a:rPr lang="en-US" altLang="zh-CN" sz="2400" b="1">
                <a:solidFill>
                  <a:srgbClr val="008000"/>
                </a:solidFill>
              </a:rPr>
              <a:t>O(n)</a:t>
            </a:r>
            <a:endParaRPr lang="en-US" altLang="zh-CN" sz="2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E093A-C583-4EC8-B3D7-E8055EF89C35}" type="slidenum">
              <a:rPr lang="en-US" altLang="zh-CN"/>
            </a:fld>
            <a:endParaRPr lang="en-US" altLang="zh-CN"/>
          </a:p>
        </p:txBody>
      </p:sp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205038"/>
            <a:ext cx="7543800" cy="1295400"/>
          </a:xfrm>
        </p:spPr>
        <p:txBody>
          <a:bodyPr/>
          <a:lstStyle/>
          <a:p>
            <a:pPr algn="ctr"/>
            <a:r>
              <a:rPr lang="zh-CN" altLang="en-US" sz="480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最长公共子序列问题</a:t>
            </a:r>
            <a:endParaRPr lang="zh-CN" altLang="en-US" sz="4800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3D58-8C48-4F64-84D0-B5E2283E74AB}" type="slidenum">
              <a:rPr lang="en-US" altLang="zh-CN"/>
            </a:fld>
            <a:endParaRPr lang="en-US" altLang="zh-CN"/>
          </a:p>
        </p:txBody>
      </p:sp>
      <p:pic>
        <p:nvPicPr>
          <p:cNvPr id="50585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77863"/>
            <a:ext cx="9144000" cy="6180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5859" name="Rectangle 3"/>
          <p:cNvSpPr>
            <a:spLocks noChangeArrowheads="1"/>
          </p:cNvSpPr>
          <p:nvPr/>
        </p:nvSpPr>
        <p:spPr bwMode="auto">
          <a:xfrm>
            <a:off x="1403350" y="117475"/>
            <a:ext cx="6408738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ctr"/>
            <a:r>
              <a:rPr lang="zh-CN" altLang="en-US" sz="4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最长公共子序列问题</a:t>
            </a:r>
            <a:endParaRPr lang="ja-JP" altLang="en-US" sz="48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E4547-77FD-4F91-B1F1-3D6704328DF5}" type="slidenum">
              <a:rPr lang="en-US" altLang="zh-CN"/>
            </a:fld>
            <a:endParaRPr lang="en-US" altLang="zh-CN"/>
          </a:p>
        </p:txBody>
      </p:sp>
      <p:sp>
        <p:nvSpPr>
          <p:cNvPr id="506882" name="Rectangle 2"/>
          <p:cNvSpPr>
            <a:spLocks noChangeArrowheads="1"/>
          </p:cNvSpPr>
          <p:nvPr/>
        </p:nvSpPr>
        <p:spPr bwMode="auto">
          <a:xfrm>
            <a:off x="1258888" y="260350"/>
            <a:ext cx="6408737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最长公共子序列问题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506883" name="Text Box 3"/>
          <p:cNvSpPr txBox="1">
            <a:spLocks noChangeArrowheads="1"/>
          </p:cNvSpPr>
          <p:nvPr/>
        </p:nvSpPr>
        <p:spPr bwMode="auto">
          <a:xfrm>
            <a:off x="827088" y="1079500"/>
            <a:ext cx="7416800" cy="458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  <a:buFontTx/>
              <a:buChar char="•"/>
            </a:pP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  对于给定序列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X={x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, x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2 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,…, x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m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}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，如果另一序列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Z={z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, z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, …, z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k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}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是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X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的子序列，是指存在一个严格递增下标序列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{i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, i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, …, i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k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}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，使得对于所有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j=1, 2, …, k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，有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z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j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=x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i</a:t>
            </a:r>
            <a:r>
              <a:rPr lang="en-US" altLang="zh-CN" sz="2800" b="1" baseline="-50000">
                <a:latin typeface="Times New Roman" panose="02020603050405020304" pitchFamily="18" charset="0"/>
                <a:ea typeface="新宋体" panose="02010609030101010101" charset="-122"/>
              </a:rPr>
              <a:t>j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。</a:t>
            </a:r>
            <a:endParaRPr lang="zh-CN" altLang="en-US" sz="2800" b="1"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</a:pPr>
            <a:r>
              <a:rPr lang="zh-CN" altLang="en-US" sz="2800" b="1">
                <a:solidFill>
                  <a:srgbClr val="008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例如，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序列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Z={B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C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D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B}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是序列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X={A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C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D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}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的子序列，相应的递增下标序列为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{ 2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5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7 }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。</a:t>
            </a:r>
            <a:endParaRPr lang="zh-CN" altLang="en-US" sz="2800" b="1"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D4DC5-DCB1-4647-A35E-A48F8E2F2B5A}" type="slidenum">
              <a:rPr lang="en-US" altLang="zh-CN"/>
            </a:fld>
            <a:endParaRPr lang="en-US" altLang="zh-CN"/>
          </a:p>
        </p:txBody>
      </p:sp>
      <p:sp>
        <p:nvSpPr>
          <p:cNvPr id="507906" name="Rectangle 2"/>
          <p:cNvSpPr>
            <a:spLocks noChangeArrowheads="1"/>
          </p:cNvSpPr>
          <p:nvPr/>
        </p:nvSpPr>
        <p:spPr bwMode="auto">
          <a:xfrm>
            <a:off x="1258888" y="260350"/>
            <a:ext cx="6408737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最长公共子序列问题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507907" name="Text Box 3"/>
          <p:cNvSpPr txBox="1">
            <a:spLocks noChangeArrowheads="1"/>
          </p:cNvSpPr>
          <p:nvPr/>
        </p:nvSpPr>
        <p:spPr bwMode="auto">
          <a:xfrm>
            <a:off x="682625" y="1052513"/>
            <a:ext cx="7777163" cy="47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75000"/>
              </a:lnSpc>
              <a:spcBef>
                <a:spcPct val="50000"/>
              </a:spcBef>
              <a:buClr>
                <a:schemeClr val="accent2"/>
              </a:buClr>
              <a:buFontTx/>
              <a:buChar char="•"/>
            </a:pP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  给定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个序列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X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和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Y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，当另一个序列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Z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既是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X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的子序列又是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Y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的子序列时，称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Z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是序列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X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和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Y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的</a:t>
            </a: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公共子序列。</a:t>
            </a:r>
            <a:endParaRPr lang="zh-CN" altLang="en-US" sz="2800" b="1"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>
              <a:lnSpc>
                <a:spcPct val="175000"/>
              </a:lnSpc>
              <a:spcBef>
                <a:spcPct val="50000"/>
              </a:spcBef>
              <a:buClr>
                <a:schemeClr val="accent2"/>
              </a:buClr>
              <a:buFontTx/>
              <a:buChar char="•"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2" charset="-122"/>
              </a:rPr>
              <a:t>  </a:t>
            </a:r>
            <a:r>
              <a:rPr lang="zh-CN" altLang="en-US" sz="2800" b="1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问题描述：</a:t>
            </a:r>
            <a:endParaRPr lang="zh-CN" altLang="en-US" sz="2800" b="1">
              <a:solidFill>
                <a:srgbClr val="008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>
              <a:lnSpc>
                <a:spcPct val="175000"/>
              </a:lnSpc>
              <a:buClr>
                <a:schemeClr val="accent2"/>
              </a:buClr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2" charset="-122"/>
              </a:rPr>
              <a:t>给定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2" charset="-122"/>
              </a:rPr>
              <a:t>个序列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2" charset="-122"/>
              </a:rPr>
              <a:t>X={x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2" charset="-122"/>
              </a:rPr>
              <a:t>, x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2" charset="-122"/>
              </a:rPr>
              <a:t>, …, x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2" charset="-122"/>
              </a:rPr>
              <a:t>m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2" charset="-122"/>
              </a:rPr>
              <a:t>}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2" charset="-122"/>
              </a:rPr>
              <a:t>和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2" charset="-122"/>
              </a:rPr>
              <a:t>Y={y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2" charset="-122"/>
              </a:rPr>
              <a:t>, y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2" charset="-122"/>
              </a:rPr>
              <a:t>, …, y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2" charset="-12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2" charset="-122"/>
              </a:rPr>
              <a:t>},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2" charset="-122"/>
              </a:rPr>
              <a:t>找出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2" charset="-122"/>
              </a:rPr>
              <a:t>X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2" charset="-122"/>
              </a:rPr>
              <a:t>和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2" charset="-122"/>
              </a:rPr>
              <a:t>Y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2" charset="-122"/>
              </a:rPr>
              <a:t>的最长公共子序列。</a:t>
            </a:r>
            <a:endParaRPr lang="zh-CN" altLang="en-US" sz="2800" b="1"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65E1-5C5A-4362-B2F1-383FD8256043}" type="slidenum">
              <a:rPr lang="en-US" altLang="zh-CN"/>
            </a:fld>
            <a:endParaRPr lang="en-US" altLang="zh-CN"/>
          </a:p>
        </p:txBody>
      </p:sp>
      <p:sp>
        <p:nvSpPr>
          <p:cNvPr id="508930" name="Rectangle 2"/>
          <p:cNvSpPr>
            <a:spLocks noChangeArrowheads="1"/>
          </p:cNvSpPr>
          <p:nvPr/>
        </p:nvSpPr>
        <p:spPr bwMode="auto">
          <a:xfrm>
            <a:off x="1258888" y="188913"/>
            <a:ext cx="6408737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1. 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最长公共子序列的结构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508931" name="Text Box 3"/>
          <p:cNvSpPr txBox="1">
            <a:spLocks noChangeArrowheads="1"/>
          </p:cNvSpPr>
          <p:nvPr/>
        </p:nvSpPr>
        <p:spPr bwMode="auto">
          <a:xfrm>
            <a:off x="684213" y="1216025"/>
            <a:ext cx="7920037" cy="453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3055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设序列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X={x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1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, x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2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, …, x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m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}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和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Y={y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1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, y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2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, …, y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n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}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的最长公共子序列为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Z={z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1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, z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2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, …, z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k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} 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，则</a:t>
            </a:r>
            <a:endParaRPr kumimoji="0" lang="zh-CN" altLang="en-US" sz="2800" b="1">
              <a:latin typeface="Arial" panose="020B0604020202020204" pitchFamily="34" charset="0"/>
              <a:ea typeface="新宋体" panose="02010609030101010101" charset="-122"/>
            </a:endParaRPr>
          </a:p>
          <a:p>
            <a:pPr>
              <a:lnSpc>
                <a:spcPct val="130000"/>
              </a:lnSpc>
            </a:pP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(1)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若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x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m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=y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n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，则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z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k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=x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m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=y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n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，且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z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k-1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是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x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m-1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和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y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n-1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的最长公共子序列。</a:t>
            </a:r>
            <a:endParaRPr kumimoji="0" lang="zh-CN" altLang="en-US" sz="2800" b="1">
              <a:latin typeface="Arial" panose="020B0604020202020204" pitchFamily="34" charset="0"/>
              <a:ea typeface="新宋体" panose="02010609030101010101" charset="-122"/>
            </a:endParaRPr>
          </a:p>
          <a:p>
            <a:pPr>
              <a:lnSpc>
                <a:spcPct val="130000"/>
              </a:lnSpc>
            </a:pP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(2)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若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x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m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≠y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n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且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z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k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≠x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m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，则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Z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是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x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m-1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和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Y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的最长公共子序列。</a:t>
            </a:r>
            <a:endParaRPr kumimoji="0" lang="zh-CN" altLang="en-US" sz="2800" b="1">
              <a:latin typeface="Arial" panose="020B0604020202020204" pitchFamily="34" charset="0"/>
              <a:ea typeface="新宋体" panose="02010609030101010101" charset="-122"/>
            </a:endParaRPr>
          </a:p>
          <a:p>
            <a:pPr>
              <a:lnSpc>
                <a:spcPct val="130000"/>
              </a:lnSpc>
            </a:pP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(3)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若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x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m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≠y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n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且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z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k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≠y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n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，则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Z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是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X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和</a:t>
            </a:r>
            <a:r>
              <a:rPr kumimoji="0" lang="en-US" altLang="zh-CN" sz="2800" b="1">
                <a:latin typeface="Arial" panose="020B0604020202020204" pitchFamily="34" charset="0"/>
                <a:ea typeface="新宋体" panose="02010609030101010101" charset="-122"/>
              </a:rPr>
              <a:t>y</a:t>
            </a:r>
            <a:r>
              <a:rPr kumimoji="0" lang="en-US" altLang="zh-CN" sz="2800" b="1" baseline="-25000">
                <a:latin typeface="Arial" panose="020B0604020202020204" pitchFamily="34" charset="0"/>
                <a:ea typeface="新宋体" panose="02010609030101010101" charset="-122"/>
              </a:rPr>
              <a:t>n-1</a:t>
            </a:r>
            <a:r>
              <a:rPr kumimoji="0" lang="zh-CN" altLang="en-US" sz="2800" b="1">
                <a:latin typeface="Arial" panose="020B0604020202020204" pitchFamily="34" charset="0"/>
                <a:ea typeface="新宋体" panose="02010609030101010101" charset="-122"/>
              </a:rPr>
              <a:t>的最长公共子序列。</a:t>
            </a:r>
            <a:endParaRPr kumimoji="0" lang="zh-CN" altLang="en-US" sz="2800" b="1">
              <a:latin typeface="Arial" panose="020B0604020202020204" pitchFamily="34" charset="0"/>
              <a:ea typeface="新宋体" panose="02010609030101010101" charset="-122"/>
            </a:endParaRPr>
          </a:p>
        </p:txBody>
      </p:sp>
      <p:sp>
        <p:nvSpPr>
          <p:cNvPr id="508932" name="Rectangle 4"/>
          <p:cNvSpPr>
            <a:spLocks noChangeArrowheads="1"/>
          </p:cNvSpPr>
          <p:nvPr/>
        </p:nvSpPr>
        <p:spPr bwMode="auto">
          <a:xfrm>
            <a:off x="2771775" y="3644900"/>
            <a:ext cx="5616575" cy="180022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1" lang="zh-CN" altLang="en-US" sz="2800" b="1">
                <a:ea typeface="新宋体" panose="02010609030101010101" charset="-122"/>
              </a:rPr>
              <a:t>由此可见，</a:t>
            </a:r>
            <a:r>
              <a:rPr kumimoji="1" lang="en-US" altLang="zh-CN" sz="2800" b="1">
                <a:ea typeface="新宋体" panose="02010609030101010101" charset="-122"/>
              </a:rPr>
              <a:t>2</a:t>
            </a:r>
            <a:r>
              <a:rPr kumimoji="1" lang="zh-CN" altLang="en-US" sz="2800" b="1">
                <a:ea typeface="新宋体" panose="02010609030101010101" charset="-122"/>
              </a:rPr>
              <a:t>个序列的最长公共子序列包含了这</a:t>
            </a:r>
            <a:r>
              <a:rPr kumimoji="1" lang="en-US" altLang="zh-CN" sz="2800" b="1">
                <a:ea typeface="新宋体" panose="02010609030101010101" charset="-122"/>
              </a:rPr>
              <a:t>2</a:t>
            </a:r>
            <a:r>
              <a:rPr kumimoji="1" lang="zh-CN" altLang="en-US" sz="2800" b="1">
                <a:ea typeface="新宋体" panose="02010609030101010101" charset="-122"/>
              </a:rPr>
              <a:t>个序列的前缀的最长公共子序列。因此，最长公共子序列问题具有</a:t>
            </a:r>
            <a:r>
              <a:rPr kumimoji="1" lang="zh-CN" altLang="en-US" sz="2800" b="1">
                <a:solidFill>
                  <a:srgbClr val="CC0000"/>
                </a:solidFill>
                <a:ea typeface="黑体" panose="02010609060101010101" pitchFamily="2" charset="-122"/>
              </a:rPr>
              <a:t>最优子结构性质</a:t>
            </a:r>
            <a:r>
              <a:rPr kumimoji="1" lang="zh-CN" altLang="en-US" sz="2800" b="1">
                <a:ea typeface="新宋体" panose="02010609030101010101" charset="-122"/>
              </a:rPr>
              <a:t>。 </a:t>
            </a:r>
            <a:endParaRPr kumimoji="1" lang="zh-CN" altLang="en-US" sz="2800" b="1"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50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9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84EBE-6B31-489E-9432-2E0DB306E68D}" type="slidenum">
              <a:rPr lang="en-US" altLang="zh-CN"/>
            </a:fld>
            <a:endParaRPr lang="en-US" altLang="zh-CN"/>
          </a:p>
        </p:txBody>
      </p:sp>
      <p:pic>
        <p:nvPicPr>
          <p:cNvPr id="50995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713"/>
            <a:ext cx="9144000" cy="546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69DD-FEEB-4360-A3F7-3DE13BD6D2A8}" type="slidenum">
              <a:rPr lang="en-US" altLang="zh-CN"/>
            </a:fld>
            <a:endParaRPr lang="en-US" altLang="zh-CN"/>
          </a:p>
        </p:txBody>
      </p:sp>
      <p:pic>
        <p:nvPicPr>
          <p:cNvPr id="51097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20738"/>
            <a:ext cx="9144000" cy="5056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78C97-510E-4F0B-B6BB-06F4E14AB282}" type="slidenum">
              <a:rPr lang="en-US" altLang="zh-CN"/>
            </a:fld>
            <a:endParaRPr lang="en-US" altLang="zh-CN"/>
          </a:p>
        </p:txBody>
      </p:sp>
      <p:sp>
        <p:nvSpPr>
          <p:cNvPr id="512002" name="Rectangle 2"/>
          <p:cNvSpPr>
            <a:spLocks noChangeArrowheads="1"/>
          </p:cNvSpPr>
          <p:nvPr/>
        </p:nvSpPr>
        <p:spPr bwMode="auto">
          <a:xfrm>
            <a:off x="1258888" y="188913"/>
            <a:ext cx="68421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2. 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最优公共子序列的递归结构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512003" name="Text Box 3"/>
          <p:cNvSpPr txBox="1">
            <a:spLocks noChangeArrowheads="1"/>
          </p:cNvSpPr>
          <p:nvPr/>
        </p:nvSpPr>
        <p:spPr bwMode="auto">
          <a:xfrm>
            <a:off x="827088" y="1196975"/>
            <a:ext cx="7561262" cy="275907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>
                <a:ea typeface="新宋体" panose="02010609030101010101" charset="-122"/>
              </a:rPr>
              <a:t>用</a:t>
            </a:r>
            <a:r>
              <a:rPr lang="en-US" altLang="zh-CN" sz="2800" b="1">
                <a:ea typeface="新宋体" panose="02010609030101010101" charset="-122"/>
              </a:rPr>
              <a:t>c[i][j]</a:t>
            </a:r>
            <a:r>
              <a:rPr lang="zh-CN" altLang="en-US" sz="2800" b="1">
                <a:ea typeface="新宋体" panose="02010609030101010101" charset="-122"/>
              </a:rPr>
              <a:t>记录序列和的最长公共子序列的长度。其中， </a:t>
            </a:r>
            <a:r>
              <a:rPr lang="en-US" altLang="zh-CN" sz="2800" b="1">
                <a:ea typeface="新宋体" panose="02010609030101010101" charset="-122"/>
              </a:rPr>
              <a:t>X</a:t>
            </a:r>
            <a:r>
              <a:rPr lang="en-US" altLang="zh-CN" sz="2800" b="1" baseline="-25000">
                <a:ea typeface="新宋体" panose="02010609030101010101" charset="-122"/>
              </a:rPr>
              <a:t>i</a:t>
            </a:r>
            <a:r>
              <a:rPr lang="en-US" altLang="zh-CN" sz="2800" b="1">
                <a:ea typeface="新宋体" panose="02010609030101010101" charset="-122"/>
              </a:rPr>
              <a:t>={x</a:t>
            </a:r>
            <a:r>
              <a:rPr lang="en-US" altLang="zh-CN" sz="2800" b="1" baseline="-25000">
                <a:ea typeface="新宋体" panose="02010609030101010101" charset="-122"/>
              </a:rPr>
              <a:t>1</a:t>
            </a:r>
            <a:r>
              <a:rPr lang="en-US" altLang="zh-CN" sz="2800" b="1">
                <a:ea typeface="新宋体" panose="02010609030101010101" charset="-122"/>
              </a:rPr>
              <a:t>,x</a:t>
            </a:r>
            <a:r>
              <a:rPr lang="en-US" altLang="zh-CN" sz="2800" b="1" baseline="-25000">
                <a:ea typeface="新宋体" panose="02010609030101010101" charset="-122"/>
              </a:rPr>
              <a:t>2</a:t>
            </a:r>
            <a:r>
              <a:rPr lang="en-US" altLang="zh-CN" sz="2800" b="1">
                <a:ea typeface="新宋体" panose="02010609030101010101" charset="-122"/>
              </a:rPr>
              <a:t>,…,x</a:t>
            </a:r>
            <a:r>
              <a:rPr lang="en-US" altLang="zh-CN" sz="2800" b="1" baseline="-25000">
                <a:ea typeface="新宋体" panose="02010609030101010101" charset="-122"/>
              </a:rPr>
              <a:t>i</a:t>
            </a:r>
            <a:r>
              <a:rPr lang="en-US" altLang="zh-CN" sz="2800" b="1">
                <a:ea typeface="新宋体" panose="02010609030101010101" charset="-122"/>
              </a:rPr>
              <a:t>}</a:t>
            </a:r>
            <a:r>
              <a:rPr lang="zh-CN" altLang="en-US" sz="2800" b="1">
                <a:ea typeface="新宋体" panose="02010609030101010101" charset="-122"/>
              </a:rPr>
              <a:t>；</a:t>
            </a:r>
            <a:r>
              <a:rPr lang="en-US" altLang="zh-CN" sz="2800" b="1">
                <a:ea typeface="新宋体" panose="02010609030101010101" charset="-122"/>
              </a:rPr>
              <a:t>Y</a:t>
            </a:r>
            <a:r>
              <a:rPr lang="en-US" altLang="zh-CN" sz="2800" b="1" baseline="-25000">
                <a:ea typeface="新宋体" panose="02010609030101010101" charset="-122"/>
              </a:rPr>
              <a:t>j</a:t>
            </a:r>
            <a:r>
              <a:rPr lang="en-US" altLang="zh-CN" sz="2800" b="1">
                <a:ea typeface="新宋体" panose="02010609030101010101" charset="-122"/>
              </a:rPr>
              <a:t>={y</a:t>
            </a:r>
            <a:r>
              <a:rPr lang="en-US" altLang="zh-CN" sz="2800" b="1" baseline="-25000">
                <a:ea typeface="新宋体" panose="02010609030101010101" charset="-122"/>
              </a:rPr>
              <a:t>1</a:t>
            </a:r>
            <a:r>
              <a:rPr lang="en-US" altLang="zh-CN" sz="2800" b="1">
                <a:ea typeface="新宋体" panose="02010609030101010101" charset="-122"/>
              </a:rPr>
              <a:t>,y</a:t>
            </a:r>
            <a:r>
              <a:rPr lang="en-US" altLang="zh-CN" sz="2800" b="1" baseline="-25000">
                <a:ea typeface="新宋体" panose="02010609030101010101" charset="-122"/>
              </a:rPr>
              <a:t>2</a:t>
            </a:r>
            <a:r>
              <a:rPr lang="en-US" altLang="zh-CN" sz="2800" b="1">
                <a:ea typeface="新宋体" panose="02010609030101010101" charset="-122"/>
              </a:rPr>
              <a:t>,…,y</a:t>
            </a:r>
            <a:r>
              <a:rPr lang="en-US" altLang="zh-CN" sz="2800" b="1" baseline="-25000">
                <a:ea typeface="新宋体" panose="02010609030101010101" charset="-122"/>
              </a:rPr>
              <a:t>j</a:t>
            </a:r>
            <a:r>
              <a:rPr lang="en-US" altLang="zh-CN" sz="2800" b="1">
                <a:ea typeface="新宋体" panose="02010609030101010101" charset="-122"/>
              </a:rPr>
              <a:t>}</a:t>
            </a:r>
            <a:r>
              <a:rPr lang="zh-CN" altLang="en-US" sz="2800" b="1">
                <a:ea typeface="新宋体" panose="02010609030101010101" charset="-122"/>
              </a:rPr>
              <a:t>。</a:t>
            </a:r>
            <a:endParaRPr lang="zh-CN" altLang="en-US" sz="2800" b="1">
              <a:ea typeface="新宋体" panose="02010609030101010101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800" b="1">
                <a:ea typeface="新宋体" panose="02010609030101010101" charset="-122"/>
              </a:rPr>
              <a:t>当</a:t>
            </a:r>
            <a:r>
              <a:rPr lang="en-US" altLang="zh-CN" sz="2800" b="1">
                <a:ea typeface="新宋体" panose="02010609030101010101" charset="-122"/>
              </a:rPr>
              <a:t>i=0</a:t>
            </a:r>
            <a:r>
              <a:rPr lang="zh-CN" altLang="en-US" sz="2800" b="1">
                <a:ea typeface="新宋体" panose="02010609030101010101" charset="-122"/>
              </a:rPr>
              <a:t>或</a:t>
            </a:r>
            <a:r>
              <a:rPr lang="en-US" altLang="zh-CN" sz="2800" b="1">
                <a:ea typeface="新宋体" panose="02010609030101010101" charset="-122"/>
              </a:rPr>
              <a:t>j=0</a:t>
            </a:r>
            <a:r>
              <a:rPr lang="zh-CN" altLang="en-US" sz="2800" b="1">
                <a:ea typeface="新宋体" panose="02010609030101010101" charset="-122"/>
              </a:rPr>
              <a:t>时，空序列是</a:t>
            </a:r>
            <a:r>
              <a:rPr lang="en-US" altLang="zh-CN" sz="2800" b="1">
                <a:ea typeface="新宋体" panose="02010609030101010101" charset="-122"/>
              </a:rPr>
              <a:t>X</a:t>
            </a:r>
            <a:r>
              <a:rPr lang="en-US" altLang="zh-CN" sz="2800" b="1" baseline="-25000">
                <a:ea typeface="新宋体" panose="02010609030101010101" charset="-122"/>
              </a:rPr>
              <a:t>i</a:t>
            </a:r>
            <a:r>
              <a:rPr lang="zh-CN" altLang="en-US" sz="2800" b="1">
                <a:ea typeface="新宋体" panose="02010609030101010101" charset="-122"/>
              </a:rPr>
              <a:t>和</a:t>
            </a:r>
            <a:r>
              <a:rPr lang="en-US" altLang="zh-CN" sz="2800" b="1">
                <a:ea typeface="新宋体" panose="02010609030101010101" charset="-122"/>
              </a:rPr>
              <a:t>Y</a:t>
            </a:r>
            <a:r>
              <a:rPr lang="en-US" altLang="zh-CN" sz="2800" b="1" baseline="-25000">
                <a:ea typeface="新宋体" panose="02010609030101010101" charset="-122"/>
              </a:rPr>
              <a:t>j</a:t>
            </a:r>
            <a:r>
              <a:rPr lang="zh-CN" altLang="en-US" sz="2800" b="1">
                <a:ea typeface="新宋体" panose="02010609030101010101" charset="-122"/>
              </a:rPr>
              <a:t>的最长公共子序列，故此时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C[i][j]=</a:t>
            </a:r>
            <a:r>
              <a:rPr lang="en-US" altLang="zh-CN" sz="2800" b="1">
                <a:ea typeface="新宋体" panose="02010609030101010101" charset="-122"/>
              </a:rPr>
              <a:t>0</a:t>
            </a:r>
            <a:r>
              <a:rPr lang="zh-CN" altLang="en-US" sz="2800" b="1">
                <a:ea typeface="新宋体" panose="02010609030101010101" charset="-122"/>
              </a:rPr>
              <a:t>。</a:t>
            </a:r>
            <a:endParaRPr lang="zh-CN" altLang="en-US" sz="2800" b="1">
              <a:ea typeface="新宋体" panose="02010609030101010101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800" b="1">
                <a:ea typeface="新宋体" panose="02010609030101010101" charset="-122"/>
              </a:rPr>
              <a:t>其它情况可由最优子结构性质可建立递归关系</a:t>
            </a:r>
            <a:r>
              <a:rPr lang="en-US" altLang="zh-CN" sz="2800" b="1">
                <a:ea typeface="新宋体" panose="02010609030101010101" charset="-122"/>
              </a:rPr>
              <a:t>:</a:t>
            </a:r>
            <a:endParaRPr lang="en-US" altLang="zh-CN" sz="2800" b="1">
              <a:ea typeface="新宋体" panose="02010609030101010101" charset="-122"/>
            </a:endParaRPr>
          </a:p>
        </p:txBody>
      </p:sp>
      <p:sp>
        <p:nvSpPr>
          <p:cNvPr id="512004" name="Rectangle 4"/>
          <p:cNvSpPr>
            <a:spLocks noChangeArrowheads="1"/>
          </p:cNvSpPr>
          <p:nvPr/>
        </p:nvSpPr>
        <p:spPr bwMode="auto">
          <a:xfrm>
            <a:off x="0" y="3062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12005" name="Object 5"/>
          <p:cNvGraphicFramePr>
            <a:graphicFrameLocks noChangeAspect="1"/>
          </p:cNvGraphicFramePr>
          <p:nvPr/>
        </p:nvGraphicFramePr>
        <p:xfrm>
          <a:off x="825500" y="4627563"/>
          <a:ext cx="7348538" cy="168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公式" r:id="rId1" imgW="3327400" imgH="736600" progId="Equation.3">
                  <p:embed/>
                </p:oleObj>
              </mc:Choice>
              <mc:Fallback>
                <p:oleObj name="公式" r:id="rId1" imgW="3327400" imgH="736600" progId="Equation.3">
                  <p:embed/>
                  <p:pic>
                    <p:nvPicPr>
                      <p:cNvPr id="0" name="图片 143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4627563"/>
                        <a:ext cx="7348538" cy="168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00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2349500"/>
            <a:ext cx="4608513" cy="221297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51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068D-CCBE-44E9-B72A-6AA1EAECE4CD}" type="slidenum">
              <a:rPr lang="en-US" altLang="zh-CN"/>
            </a:fld>
            <a:endParaRPr lang="en-US" altLang="zh-CN"/>
          </a:p>
        </p:txBody>
      </p:sp>
      <p:sp>
        <p:nvSpPr>
          <p:cNvPr id="513026" name="Rectangle 2"/>
          <p:cNvSpPr>
            <a:spLocks noChangeArrowheads="1"/>
          </p:cNvSpPr>
          <p:nvPr/>
        </p:nvSpPr>
        <p:spPr bwMode="auto">
          <a:xfrm>
            <a:off x="1258888" y="188913"/>
            <a:ext cx="6408737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3. 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计算最优值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513027" name="Rectangle 3"/>
          <p:cNvSpPr>
            <a:spLocks noChangeArrowheads="1"/>
          </p:cNvSpPr>
          <p:nvPr/>
        </p:nvSpPr>
        <p:spPr bwMode="auto">
          <a:xfrm>
            <a:off x="539750" y="1052513"/>
            <a:ext cx="8135938" cy="512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400" b="1">
                <a:solidFill>
                  <a:srgbClr val="3333FF"/>
                </a:solidFill>
              </a:rPr>
              <a:t>// c[m][n]</a:t>
            </a:r>
            <a:r>
              <a:rPr kumimoji="1" lang="zh-CN" altLang="en-US" sz="2400" b="1">
                <a:solidFill>
                  <a:srgbClr val="3333FF"/>
                </a:solidFill>
              </a:rPr>
              <a:t>记录</a:t>
            </a:r>
            <a:r>
              <a:rPr kumimoji="1" lang="en-US" altLang="zh-CN" sz="2400" b="1">
                <a:solidFill>
                  <a:srgbClr val="3333FF"/>
                </a:solidFill>
              </a:rPr>
              <a:t>X</a:t>
            </a:r>
            <a:r>
              <a:rPr kumimoji="1" lang="zh-CN" altLang="en-US" sz="2400" b="1">
                <a:solidFill>
                  <a:srgbClr val="3333FF"/>
                </a:solidFill>
              </a:rPr>
              <a:t>和</a:t>
            </a:r>
            <a:r>
              <a:rPr kumimoji="1" lang="en-US" altLang="zh-CN" sz="2400" b="1">
                <a:solidFill>
                  <a:srgbClr val="3333FF"/>
                </a:solidFill>
              </a:rPr>
              <a:t>Y</a:t>
            </a:r>
            <a:r>
              <a:rPr kumimoji="1" lang="zh-CN" altLang="en-US" sz="2400" b="1">
                <a:solidFill>
                  <a:srgbClr val="3333FF"/>
                </a:solidFill>
              </a:rPr>
              <a:t>的最长公共子序列的长度</a:t>
            </a:r>
            <a:endParaRPr kumimoji="1" lang="zh-CN" altLang="en-US" sz="2400" b="1">
              <a:solidFill>
                <a:srgbClr val="3333FF"/>
              </a:solidFill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400" b="1">
                <a:solidFill>
                  <a:srgbClr val="3333FF"/>
                </a:solidFill>
              </a:rPr>
              <a:t>// b[i][j]</a:t>
            </a:r>
            <a:r>
              <a:rPr kumimoji="1" lang="zh-CN" altLang="en-US" sz="2400" b="1">
                <a:solidFill>
                  <a:srgbClr val="3333FF"/>
                </a:solidFill>
              </a:rPr>
              <a:t>记录</a:t>
            </a:r>
            <a:r>
              <a:rPr kumimoji="1" lang="en-US" altLang="zh-CN" sz="2400" b="1">
                <a:solidFill>
                  <a:srgbClr val="3333FF"/>
                </a:solidFill>
              </a:rPr>
              <a:t>c[i][j]</a:t>
            </a:r>
            <a:r>
              <a:rPr kumimoji="1" lang="zh-CN" altLang="en-US" sz="2400" b="1">
                <a:solidFill>
                  <a:srgbClr val="3333FF"/>
                </a:solidFill>
              </a:rPr>
              <a:t>的值属于哪类子问题</a:t>
            </a:r>
            <a:endParaRPr kumimoji="1" lang="zh-CN" altLang="en-US" sz="2400" b="1">
              <a:solidFill>
                <a:srgbClr val="3333FF"/>
              </a:solidFill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400" b="1"/>
              <a:t>LCSLength(int m, int n, char *x, char *y, int **c, int **b){  </a:t>
            </a:r>
            <a:endParaRPr kumimoji="1" lang="en-US" altLang="zh-CN" sz="2400" b="1"/>
          </a:p>
          <a:p>
            <a:pPr>
              <a:lnSpc>
                <a:spcPct val="125000"/>
              </a:lnSpc>
            </a:pPr>
            <a:r>
              <a:rPr kumimoji="1" lang="en-US" altLang="zh-CN" sz="2400" b="1"/>
              <a:t>	for (int i = 1; i &lt;= m; i++)</a:t>
            </a:r>
            <a:endParaRPr kumimoji="1" lang="en-US" altLang="zh-CN" sz="2400" b="1"/>
          </a:p>
          <a:p>
            <a:pPr>
              <a:lnSpc>
                <a:spcPct val="125000"/>
              </a:lnSpc>
            </a:pPr>
            <a:r>
              <a:rPr kumimoji="1" lang="en-US" altLang="zh-CN" sz="2400" b="1"/>
              <a:t>	for (int j = 1; j &lt;= n; j++) {</a:t>
            </a:r>
            <a:endParaRPr kumimoji="1" lang="en-US" altLang="zh-CN" sz="2400" b="1"/>
          </a:p>
          <a:p>
            <a:pPr>
              <a:lnSpc>
                <a:spcPct val="125000"/>
              </a:lnSpc>
            </a:pPr>
            <a:r>
              <a:rPr kumimoji="1" lang="en-US" altLang="zh-CN" sz="2400" b="1"/>
              <a:t>             if (x[i]==y[j]) { c[i][j]=c[i-1][j-1]+1; </a:t>
            </a:r>
            <a:r>
              <a:rPr kumimoji="1" lang="en-US" altLang="zh-CN" sz="2400" b="1">
                <a:solidFill>
                  <a:srgbClr val="663300"/>
                </a:solidFill>
              </a:rPr>
              <a:t>b[i][j]=1;</a:t>
            </a:r>
            <a:r>
              <a:rPr kumimoji="1" lang="en-US" altLang="zh-CN" sz="2400" b="1"/>
              <a:t> }</a:t>
            </a:r>
            <a:endParaRPr kumimoji="1" lang="en-US" altLang="zh-CN" sz="2400" b="1"/>
          </a:p>
          <a:p>
            <a:pPr>
              <a:lnSpc>
                <a:spcPct val="125000"/>
              </a:lnSpc>
            </a:pPr>
            <a:r>
              <a:rPr kumimoji="1" lang="en-US" altLang="zh-CN" sz="2400" b="1"/>
              <a:t>             else if (c[i-1][j]&gt;=c[i][j-1])</a:t>
            </a:r>
            <a:endParaRPr kumimoji="1" lang="en-US" altLang="zh-CN" sz="2400" b="1"/>
          </a:p>
          <a:p>
            <a:pPr>
              <a:lnSpc>
                <a:spcPct val="125000"/>
              </a:lnSpc>
            </a:pPr>
            <a:r>
              <a:rPr kumimoji="1" lang="en-US" altLang="zh-CN" sz="2400" b="1"/>
              <a:t>		{ c[i][j]=c[i-1][j]; </a:t>
            </a:r>
            <a:r>
              <a:rPr kumimoji="1" lang="en-US" altLang="zh-CN" sz="2400" b="1">
                <a:solidFill>
                  <a:srgbClr val="663300"/>
                </a:solidFill>
              </a:rPr>
              <a:t>b[i][j]=2;</a:t>
            </a:r>
            <a:r>
              <a:rPr kumimoji="1" lang="en-US" altLang="zh-CN" sz="2400" b="1"/>
              <a:t> }</a:t>
            </a:r>
            <a:endParaRPr kumimoji="1" lang="en-US" altLang="zh-CN" sz="2400" b="1"/>
          </a:p>
          <a:p>
            <a:pPr>
              <a:lnSpc>
                <a:spcPct val="125000"/>
              </a:lnSpc>
            </a:pPr>
            <a:r>
              <a:rPr kumimoji="1" lang="en-US" altLang="zh-CN" sz="2400" b="1"/>
              <a:t>            	else  { c[i][j]=c[i][j-1]; </a:t>
            </a:r>
            <a:r>
              <a:rPr kumimoji="1" lang="en-US" altLang="zh-CN" sz="2400" b="1">
                <a:solidFill>
                  <a:srgbClr val="663300"/>
                </a:solidFill>
              </a:rPr>
              <a:t>b[i][j]=3;</a:t>
            </a:r>
            <a:r>
              <a:rPr kumimoji="1" lang="en-US" altLang="zh-CN" sz="2400" b="1"/>
              <a:t> }</a:t>
            </a:r>
            <a:endParaRPr kumimoji="1" lang="en-US" altLang="zh-CN" sz="2400" b="1"/>
          </a:p>
          <a:p>
            <a:pPr>
              <a:lnSpc>
                <a:spcPct val="125000"/>
              </a:lnSpc>
            </a:pPr>
            <a:r>
              <a:rPr kumimoji="1" lang="en-US" altLang="zh-CN" sz="2400" b="1"/>
              <a:t>             }</a:t>
            </a:r>
            <a:endParaRPr kumimoji="1" lang="en-US" altLang="zh-CN" sz="2400" b="1"/>
          </a:p>
          <a:p>
            <a:pPr>
              <a:lnSpc>
                <a:spcPct val="125000"/>
              </a:lnSpc>
            </a:pPr>
            <a:r>
              <a:rPr kumimoji="1" lang="en-US" altLang="zh-CN" sz="2400" b="1"/>
              <a:t>}</a:t>
            </a:r>
            <a:endParaRPr kumimoji="1" lang="en-US" altLang="zh-CN" sz="2400" b="1"/>
          </a:p>
        </p:txBody>
      </p:sp>
      <p:pic>
        <p:nvPicPr>
          <p:cNvPr id="51302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975"/>
            <a:ext cx="9144000" cy="495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513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D9D77-906A-4EFB-BD03-544181446388}" type="slidenum">
              <a:rPr lang="en-US" altLang="zh-CN"/>
            </a:fld>
            <a:endParaRPr lang="en-US" altLang="zh-CN"/>
          </a:p>
        </p:txBody>
      </p:sp>
      <p:sp>
        <p:nvSpPr>
          <p:cNvPr id="51405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405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250"/>
            <a:ext cx="9144000" cy="576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B49E4-EF1A-474D-83A2-CAC991FEA78D}" type="slidenum">
              <a:rPr lang="en-US" altLang="zh-CN"/>
            </a:fld>
            <a:endParaRPr lang="en-US" altLang="zh-CN"/>
          </a:p>
        </p:txBody>
      </p:sp>
      <p:sp>
        <p:nvSpPr>
          <p:cNvPr id="515074" name="Rectangle 2"/>
          <p:cNvSpPr>
            <a:spLocks noChangeArrowheads="1"/>
          </p:cNvSpPr>
          <p:nvPr/>
        </p:nvSpPr>
        <p:spPr bwMode="auto">
          <a:xfrm>
            <a:off x="1258888" y="188913"/>
            <a:ext cx="6408737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4. 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构造最长公共子序列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515075" name="Text Box 3"/>
          <p:cNvSpPr txBox="1">
            <a:spLocks noChangeArrowheads="1"/>
          </p:cNvSpPr>
          <p:nvPr/>
        </p:nvSpPr>
        <p:spPr bwMode="auto">
          <a:xfrm>
            <a:off x="900113" y="1484313"/>
            <a:ext cx="7343775" cy="458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800" b="1"/>
              <a:t>void LCS(int i</a:t>
            </a:r>
            <a:r>
              <a:rPr kumimoji="1" lang="zh-CN" altLang="en-US" sz="2800" b="1"/>
              <a:t>，</a:t>
            </a:r>
            <a:r>
              <a:rPr kumimoji="1" lang="en-US" altLang="zh-CN" sz="2800" b="1"/>
              <a:t>int j</a:t>
            </a:r>
            <a:r>
              <a:rPr kumimoji="1" lang="zh-CN" altLang="en-US" sz="2800" b="1"/>
              <a:t>，</a:t>
            </a:r>
            <a:r>
              <a:rPr kumimoji="1" lang="en-US" altLang="zh-CN" sz="2800" b="1"/>
              <a:t>char *x</a:t>
            </a:r>
            <a:r>
              <a:rPr kumimoji="1" lang="zh-CN" altLang="en-US" sz="2800" b="1"/>
              <a:t>，</a:t>
            </a:r>
            <a:r>
              <a:rPr kumimoji="1" lang="en-US" altLang="zh-CN" sz="2800" b="1"/>
              <a:t>int **b) {</a:t>
            </a:r>
            <a:endParaRPr kumimoji="1" lang="en-US" altLang="zh-CN" sz="2800" b="1"/>
          </a:p>
          <a:p>
            <a:pPr>
              <a:lnSpc>
                <a:spcPct val="150000"/>
              </a:lnSpc>
            </a:pPr>
            <a:r>
              <a:rPr kumimoji="1" lang="en-US" altLang="zh-CN" sz="2800" b="1"/>
              <a:t>      if (i ==0 || j==0) return;</a:t>
            </a:r>
            <a:endParaRPr kumimoji="1" lang="en-US" altLang="zh-CN" sz="2800" b="1"/>
          </a:p>
          <a:p>
            <a:pPr>
              <a:lnSpc>
                <a:spcPct val="150000"/>
              </a:lnSpc>
            </a:pPr>
            <a:r>
              <a:rPr kumimoji="1" lang="en-US" altLang="zh-CN" sz="2800" b="1"/>
              <a:t>      if (b[i][j]== 1) {</a:t>
            </a:r>
            <a:endParaRPr kumimoji="1" lang="en-US" altLang="zh-CN" sz="2800" b="1"/>
          </a:p>
          <a:p>
            <a:pPr>
              <a:lnSpc>
                <a:spcPct val="150000"/>
              </a:lnSpc>
            </a:pPr>
            <a:r>
              <a:rPr kumimoji="1" lang="en-US" altLang="zh-CN" sz="2800" b="1"/>
              <a:t>	    LCS(i-1</a:t>
            </a:r>
            <a:r>
              <a:rPr kumimoji="1" lang="zh-CN" altLang="en-US" sz="2800" b="1"/>
              <a:t>，</a:t>
            </a:r>
            <a:r>
              <a:rPr kumimoji="1" lang="en-US" altLang="zh-CN" sz="2800" b="1"/>
              <a:t>j-1</a:t>
            </a:r>
            <a:r>
              <a:rPr kumimoji="1" lang="zh-CN" altLang="en-US" sz="2800" b="1"/>
              <a:t>，</a:t>
            </a:r>
            <a:r>
              <a:rPr kumimoji="1" lang="en-US" altLang="zh-CN" sz="2800" b="1"/>
              <a:t>x</a:t>
            </a:r>
            <a:r>
              <a:rPr kumimoji="1" lang="zh-CN" altLang="en-US" sz="2800" b="1"/>
              <a:t>，</a:t>
            </a:r>
            <a:r>
              <a:rPr kumimoji="1" lang="en-US" altLang="zh-CN" sz="2800" b="1"/>
              <a:t>b);  cout&lt;&lt;x[i]; }</a:t>
            </a:r>
            <a:endParaRPr kumimoji="1" lang="en-US" altLang="zh-CN" sz="2800" b="1"/>
          </a:p>
          <a:p>
            <a:pPr>
              <a:lnSpc>
                <a:spcPct val="150000"/>
              </a:lnSpc>
            </a:pPr>
            <a:r>
              <a:rPr kumimoji="1" lang="en-US" altLang="zh-CN" sz="2800" b="1"/>
              <a:t>      else if (b[i][j]== 2)  LCS(i-1</a:t>
            </a:r>
            <a:r>
              <a:rPr kumimoji="1" lang="zh-CN" altLang="en-US" sz="2800" b="1"/>
              <a:t>，</a:t>
            </a:r>
            <a:r>
              <a:rPr kumimoji="1" lang="en-US" altLang="zh-CN" sz="2800" b="1"/>
              <a:t>j</a:t>
            </a:r>
            <a:r>
              <a:rPr kumimoji="1" lang="zh-CN" altLang="en-US" sz="2800" b="1"/>
              <a:t>，</a:t>
            </a:r>
            <a:r>
              <a:rPr kumimoji="1" lang="en-US" altLang="zh-CN" sz="2800" b="1"/>
              <a:t>x</a:t>
            </a:r>
            <a:r>
              <a:rPr kumimoji="1" lang="zh-CN" altLang="en-US" sz="2800" b="1"/>
              <a:t>，</a:t>
            </a:r>
            <a:r>
              <a:rPr kumimoji="1" lang="en-US" altLang="zh-CN" sz="2800" b="1"/>
              <a:t>b);</a:t>
            </a:r>
            <a:endParaRPr kumimoji="1" lang="en-US" altLang="zh-CN" sz="2800" b="1"/>
          </a:p>
          <a:p>
            <a:pPr>
              <a:lnSpc>
                <a:spcPct val="150000"/>
              </a:lnSpc>
            </a:pPr>
            <a:r>
              <a:rPr kumimoji="1" lang="en-US" altLang="zh-CN" sz="2800" b="1"/>
              <a:t>      else LCS(i</a:t>
            </a:r>
            <a:r>
              <a:rPr kumimoji="1" lang="zh-CN" altLang="en-US" sz="2800" b="1"/>
              <a:t>，</a:t>
            </a:r>
            <a:r>
              <a:rPr kumimoji="1" lang="en-US" altLang="zh-CN" sz="2800" b="1"/>
              <a:t>j-1</a:t>
            </a:r>
            <a:r>
              <a:rPr kumimoji="1" lang="zh-CN" altLang="en-US" sz="2800" b="1"/>
              <a:t>，</a:t>
            </a:r>
            <a:r>
              <a:rPr kumimoji="1" lang="en-US" altLang="zh-CN" sz="2800" b="1"/>
              <a:t>x</a:t>
            </a:r>
            <a:r>
              <a:rPr kumimoji="1" lang="zh-CN" altLang="en-US" sz="2800" b="1"/>
              <a:t>，</a:t>
            </a:r>
            <a:r>
              <a:rPr kumimoji="1" lang="en-US" altLang="zh-CN" sz="2800" b="1"/>
              <a:t>b);</a:t>
            </a:r>
            <a:endParaRPr kumimoji="1" lang="en-US" altLang="zh-CN" sz="2800" b="1"/>
          </a:p>
          <a:p>
            <a:pPr>
              <a:lnSpc>
                <a:spcPct val="150000"/>
              </a:lnSpc>
            </a:pPr>
            <a:r>
              <a:rPr kumimoji="1" lang="en-US" altLang="zh-CN" sz="2800" b="1"/>
              <a:t>}</a:t>
            </a:r>
            <a:endParaRPr kumimoji="1"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E012-2840-42DD-8F66-0ABCB179A9DD}" type="slidenum">
              <a:rPr lang="en-US" altLang="zh-CN"/>
            </a:fld>
            <a:endParaRPr lang="en-US" altLang="zh-CN"/>
          </a:p>
        </p:txBody>
      </p:sp>
      <p:pic>
        <p:nvPicPr>
          <p:cNvPr id="516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713"/>
            <a:ext cx="9144000" cy="4979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205038"/>
            <a:ext cx="8351837" cy="1295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530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凸多边形最优三角剖分问题</a:t>
            </a:r>
            <a:endParaRPr lang="zh-CN" altLang="en-US" sz="5300" smtClean="0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1258888" y="188913"/>
            <a:ext cx="6408737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凸多边形最优三角剖分问题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755650" y="958850"/>
            <a:ext cx="7777163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en-US" altLang="zh-CN" sz="2800" b="1">
                <a:ea typeface="新宋体" panose="02010609030101010101" charset="-122"/>
              </a:rPr>
              <a:t>  </a:t>
            </a:r>
            <a:r>
              <a:rPr lang="zh-CN" altLang="en-US" sz="2800" b="1">
                <a:ea typeface="新宋体" panose="02010609030101010101" charset="-122"/>
              </a:rPr>
              <a:t>用顶点的逆时针序列表示凸多边形，即</a:t>
            </a:r>
            <a:endParaRPr lang="zh-CN" altLang="en-US" sz="2800" b="1">
              <a:ea typeface="新宋体" panose="02010609030101010101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b="1">
                <a:solidFill>
                  <a:srgbClr val="3333FF"/>
                </a:solidFill>
                <a:ea typeface="新宋体" panose="02010609030101010101" charset="-122"/>
              </a:rPr>
              <a:t>    </a:t>
            </a:r>
            <a:r>
              <a:rPr lang="en-US" altLang="zh-CN" sz="2800" b="1">
                <a:solidFill>
                  <a:srgbClr val="3333FF"/>
                </a:solidFill>
                <a:ea typeface="新宋体" panose="02010609030101010101" charset="-122"/>
              </a:rPr>
              <a:t>P={v</a:t>
            </a:r>
            <a:r>
              <a:rPr lang="en-US" altLang="zh-CN" sz="2800" b="1" baseline="-25000">
                <a:solidFill>
                  <a:srgbClr val="3333FF"/>
                </a:solidFill>
                <a:ea typeface="新宋体" panose="02010609030101010101" charset="-122"/>
              </a:rPr>
              <a:t>0</a:t>
            </a:r>
            <a:r>
              <a:rPr lang="en-US" altLang="zh-CN" sz="2800" b="1">
                <a:solidFill>
                  <a:srgbClr val="3333FF"/>
                </a:solidFill>
                <a:ea typeface="新宋体" panose="02010609030101010101" charset="-122"/>
              </a:rPr>
              <a:t>,</a:t>
            </a:r>
            <a:r>
              <a:rPr lang="en-US" altLang="zh-CN" sz="2800" b="1">
                <a:solidFill>
                  <a:srgbClr val="3333FF"/>
                </a:solidFill>
              </a:rPr>
              <a:t>v</a:t>
            </a:r>
            <a:r>
              <a:rPr lang="en-US" altLang="zh-CN" sz="2800" b="1" baseline="-25000">
                <a:solidFill>
                  <a:srgbClr val="3333FF"/>
                </a:solidFill>
              </a:rPr>
              <a:t>1</a:t>
            </a:r>
            <a:r>
              <a:rPr lang="en-US" altLang="zh-CN" sz="2800" b="1">
                <a:solidFill>
                  <a:srgbClr val="3333FF"/>
                </a:solidFill>
              </a:rPr>
              <a:t>,</a:t>
            </a:r>
            <a:r>
              <a:rPr lang="en-US" altLang="zh-CN" sz="2800" b="1">
                <a:solidFill>
                  <a:srgbClr val="3333FF"/>
                </a:solidFill>
                <a:ea typeface="新宋体" panose="02010609030101010101" charset="-122"/>
              </a:rPr>
              <a:t>…,v</a:t>
            </a:r>
            <a:r>
              <a:rPr lang="en-US" altLang="zh-CN" sz="2800" b="1" baseline="-25000">
                <a:solidFill>
                  <a:srgbClr val="3333FF"/>
                </a:solidFill>
                <a:ea typeface="新宋体" panose="02010609030101010101" charset="-122"/>
              </a:rPr>
              <a:t>n-1</a:t>
            </a:r>
            <a:r>
              <a:rPr lang="en-US" altLang="zh-CN" sz="2800" b="1">
                <a:solidFill>
                  <a:srgbClr val="3333FF"/>
                </a:solidFill>
                <a:ea typeface="新宋体" panose="02010609030101010101" charset="-122"/>
              </a:rPr>
              <a:t>}</a:t>
            </a:r>
            <a:r>
              <a:rPr lang="zh-CN" altLang="en-US" sz="2800" b="1">
                <a:ea typeface="新宋体" panose="02010609030101010101" charset="-122"/>
              </a:rPr>
              <a:t>表示具有</a:t>
            </a:r>
            <a:r>
              <a:rPr lang="en-US" altLang="zh-CN" sz="2800" b="1">
                <a:ea typeface="新宋体" panose="02010609030101010101" charset="-122"/>
              </a:rPr>
              <a:t>n</a:t>
            </a:r>
            <a:r>
              <a:rPr lang="zh-CN" altLang="en-US" sz="2800" b="1">
                <a:ea typeface="新宋体" panose="02010609030101010101" charset="-122"/>
              </a:rPr>
              <a:t>条边的凸多边形。</a:t>
            </a:r>
            <a:endParaRPr lang="zh-CN" altLang="en-US" sz="2800" b="1">
              <a:ea typeface="新宋体" panose="02010609030101010101" charset="-122"/>
            </a:endParaRPr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zh-CN" altLang="en-US" sz="2800" b="1">
                <a:ea typeface="新宋体" panose="02010609030101010101" charset="-122"/>
              </a:rPr>
              <a:t>  若</a:t>
            </a:r>
            <a:r>
              <a:rPr lang="en-US" altLang="zh-CN" sz="2800" b="1">
                <a:ea typeface="新宋体" panose="02010609030101010101" charset="-122"/>
              </a:rPr>
              <a:t>v</a:t>
            </a:r>
            <a:r>
              <a:rPr lang="en-US" altLang="zh-CN" sz="2800" b="1" baseline="-25000">
                <a:ea typeface="新宋体" panose="02010609030101010101" charset="-122"/>
              </a:rPr>
              <a:t>i</a:t>
            </a:r>
            <a:r>
              <a:rPr lang="zh-CN" altLang="en-US" sz="2800" b="1">
                <a:ea typeface="新宋体" panose="02010609030101010101" charset="-122"/>
              </a:rPr>
              <a:t>与</a:t>
            </a:r>
            <a:r>
              <a:rPr lang="en-US" altLang="zh-CN" sz="2800" b="1">
                <a:ea typeface="新宋体" panose="02010609030101010101" charset="-122"/>
              </a:rPr>
              <a:t>v</a:t>
            </a:r>
            <a:r>
              <a:rPr lang="en-US" altLang="zh-CN" sz="2800" b="1" baseline="-25000">
                <a:ea typeface="新宋体" panose="02010609030101010101" charset="-122"/>
              </a:rPr>
              <a:t>j</a:t>
            </a:r>
            <a:r>
              <a:rPr lang="zh-CN" altLang="en-US" sz="2800" b="1">
                <a:ea typeface="新宋体" panose="02010609030101010101" charset="-122"/>
              </a:rPr>
              <a:t>是多边形上不相邻的</a:t>
            </a:r>
            <a:r>
              <a:rPr lang="en-US" altLang="zh-CN" sz="2800" b="1">
                <a:ea typeface="新宋体" panose="02010609030101010101" charset="-122"/>
              </a:rPr>
              <a:t>2</a:t>
            </a:r>
            <a:r>
              <a:rPr lang="zh-CN" altLang="en-US" sz="2800" b="1">
                <a:ea typeface="新宋体" panose="02010609030101010101" charset="-122"/>
              </a:rPr>
              <a:t>个顶点，则线段</a:t>
            </a:r>
            <a:r>
              <a:rPr lang="en-US" altLang="zh-CN" sz="2800" b="1">
                <a:ea typeface="新宋体" panose="02010609030101010101" charset="-122"/>
              </a:rPr>
              <a:t>v</a:t>
            </a:r>
            <a:r>
              <a:rPr lang="en-US" altLang="zh-CN" sz="2800" b="1" baseline="-25000">
                <a:ea typeface="新宋体" panose="02010609030101010101" charset="-122"/>
              </a:rPr>
              <a:t>i</a:t>
            </a:r>
            <a:r>
              <a:rPr lang="en-US" altLang="zh-CN" sz="2800" b="1">
                <a:ea typeface="新宋体" panose="02010609030101010101" charset="-122"/>
              </a:rPr>
              <a:t>v</a:t>
            </a:r>
            <a:r>
              <a:rPr lang="en-US" altLang="zh-CN" sz="2800" b="1" baseline="-25000">
                <a:ea typeface="新宋体" panose="02010609030101010101" charset="-122"/>
              </a:rPr>
              <a:t>j</a:t>
            </a:r>
            <a:r>
              <a:rPr lang="zh-CN" altLang="en-US" sz="2800" b="1">
                <a:ea typeface="新宋体" panose="02010609030101010101" charset="-122"/>
              </a:rPr>
              <a:t>称为多边形的一条</a:t>
            </a:r>
            <a:r>
              <a:rPr lang="zh-CN" altLang="en-US" sz="2800" b="1">
                <a:solidFill>
                  <a:srgbClr val="800000"/>
                </a:solidFill>
                <a:ea typeface="新宋体" panose="02010609030101010101" charset="-122"/>
              </a:rPr>
              <a:t>弦</a:t>
            </a:r>
            <a:r>
              <a:rPr lang="zh-CN" altLang="en-US" sz="2800" b="1">
                <a:ea typeface="新宋体" panose="02010609030101010101" charset="-122"/>
              </a:rPr>
              <a:t>。弦将多边形分割成</a:t>
            </a:r>
            <a:r>
              <a:rPr lang="en-US" altLang="zh-CN" sz="2800" b="1">
                <a:ea typeface="新宋体" panose="02010609030101010101" charset="-122"/>
              </a:rPr>
              <a:t>2</a:t>
            </a:r>
            <a:r>
              <a:rPr lang="zh-CN" altLang="en-US" sz="2800" b="1">
                <a:ea typeface="新宋体" panose="02010609030101010101" charset="-122"/>
              </a:rPr>
              <a:t>个多边形</a:t>
            </a:r>
            <a:r>
              <a:rPr lang="en-US" altLang="zh-CN" sz="2800" b="1">
                <a:ea typeface="新宋体" panose="02010609030101010101" charset="-122"/>
              </a:rPr>
              <a:t>{v</a:t>
            </a:r>
            <a:r>
              <a:rPr lang="en-US" altLang="zh-CN" sz="2800" b="1" baseline="-25000">
                <a:ea typeface="新宋体" panose="02010609030101010101" charset="-122"/>
              </a:rPr>
              <a:t>i</a:t>
            </a:r>
            <a:r>
              <a:rPr lang="en-US" altLang="zh-CN" sz="2800" b="1">
                <a:ea typeface="新宋体" panose="02010609030101010101" charset="-122"/>
              </a:rPr>
              <a:t>, v</a:t>
            </a:r>
            <a:r>
              <a:rPr lang="en-US" altLang="zh-CN" sz="2800" b="1" baseline="-25000">
                <a:ea typeface="新宋体" panose="02010609030101010101" charset="-122"/>
              </a:rPr>
              <a:t>i+1</a:t>
            </a:r>
            <a:r>
              <a:rPr lang="en-US" altLang="zh-CN" sz="2800" b="1">
                <a:ea typeface="新宋体" panose="02010609030101010101" charset="-122"/>
              </a:rPr>
              <a:t>, …, v</a:t>
            </a:r>
            <a:r>
              <a:rPr lang="en-US" altLang="zh-CN" sz="2800" b="1" baseline="-25000">
                <a:ea typeface="新宋体" panose="02010609030101010101" charset="-122"/>
              </a:rPr>
              <a:t>j</a:t>
            </a:r>
            <a:r>
              <a:rPr lang="en-US" altLang="zh-CN" sz="2800" b="1">
                <a:ea typeface="新宋体" panose="02010609030101010101" charset="-122"/>
              </a:rPr>
              <a:t>}</a:t>
            </a:r>
            <a:r>
              <a:rPr lang="zh-CN" altLang="en-US" sz="2800" b="1">
                <a:ea typeface="新宋体" panose="02010609030101010101" charset="-122"/>
              </a:rPr>
              <a:t>和</a:t>
            </a:r>
            <a:r>
              <a:rPr lang="en-US" altLang="zh-CN" sz="2800" b="1">
                <a:ea typeface="新宋体" panose="02010609030101010101" charset="-122"/>
              </a:rPr>
              <a:t>{v</a:t>
            </a:r>
            <a:r>
              <a:rPr lang="en-US" altLang="zh-CN" sz="2800" b="1" baseline="-25000">
                <a:ea typeface="新宋体" panose="02010609030101010101" charset="-122"/>
              </a:rPr>
              <a:t>j</a:t>
            </a:r>
            <a:r>
              <a:rPr lang="en-US" altLang="zh-CN" sz="2800" b="1">
                <a:ea typeface="新宋体" panose="02010609030101010101" charset="-122"/>
              </a:rPr>
              <a:t>, v</a:t>
            </a:r>
            <a:r>
              <a:rPr lang="en-US" altLang="zh-CN" sz="2800" b="1" baseline="-25000">
                <a:ea typeface="新宋体" panose="02010609030101010101" charset="-122"/>
              </a:rPr>
              <a:t>j+1</a:t>
            </a:r>
            <a:r>
              <a:rPr lang="en-US" altLang="zh-CN" sz="2800" b="1">
                <a:ea typeface="新宋体" panose="02010609030101010101" charset="-122"/>
              </a:rPr>
              <a:t>, …, v</a:t>
            </a:r>
            <a:r>
              <a:rPr lang="en-US" altLang="zh-CN" sz="2800" b="1" baseline="-25000">
                <a:ea typeface="新宋体" panose="02010609030101010101" charset="-122"/>
              </a:rPr>
              <a:t>i</a:t>
            </a:r>
            <a:r>
              <a:rPr lang="en-US" altLang="zh-CN" sz="2800" b="1">
                <a:ea typeface="新宋体" panose="02010609030101010101" charset="-122"/>
              </a:rPr>
              <a:t>}</a:t>
            </a:r>
            <a:r>
              <a:rPr lang="zh-CN" altLang="en-US" sz="2800" b="1">
                <a:ea typeface="新宋体" panose="02010609030101010101" charset="-122"/>
              </a:rPr>
              <a:t>。</a:t>
            </a:r>
            <a:endParaRPr lang="zh-CN" altLang="en-US" sz="2800" b="1">
              <a:ea typeface="新宋体" panose="02010609030101010101" charset="-122"/>
            </a:endParaRPr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zh-CN" altLang="en-US" sz="2800" b="1">
                <a:solidFill>
                  <a:srgbClr val="CC0000"/>
                </a:solidFill>
                <a:ea typeface="黑体" panose="02010609060101010101" pitchFamily="2" charset="-122"/>
              </a:rPr>
              <a:t>  多边形的三角剖分</a:t>
            </a:r>
            <a:r>
              <a:rPr lang="zh-CN" altLang="en-US" sz="2800" b="1">
                <a:ea typeface="新宋体" panose="02010609030101010101" charset="-122"/>
              </a:rPr>
              <a:t>是将多边形分割成互不相交的三角形的弦的集合</a:t>
            </a:r>
            <a:r>
              <a:rPr lang="en-US" altLang="zh-CN" sz="2800" b="1">
                <a:ea typeface="新宋体" panose="02010609030101010101" charset="-122"/>
              </a:rPr>
              <a:t>T</a:t>
            </a:r>
            <a:r>
              <a:rPr lang="zh-CN" altLang="en-US" sz="2800" b="1">
                <a:ea typeface="新宋体" panose="02010609030101010101" charset="-122"/>
              </a:rPr>
              <a:t>。</a:t>
            </a:r>
            <a:endParaRPr lang="zh-CN" altLang="en-US" sz="2800" b="1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08548" name="Picture 4" descr="t3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773238"/>
            <a:ext cx="7777163" cy="367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1258888" y="188913"/>
            <a:ext cx="6408737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凸多边形最优三角剖分问题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755650" y="1425575"/>
            <a:ext cx="7777163" cy="394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en-US" altLang="zh-CN" sz="2800">
                <a:solidFill>
                  <a:srgbClr val="8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800">
                <a:solidFill>
                  <a:srgbClr val="8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问题描述：</a:t>
            </a:r>
            <a:endParaRPr lang="zh-CN" altLang="en-US" sz="2800">
              <a:solidFill>
                <a:srgbClr val="8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>
                <a:latin typeface="黑体" panose="02010609060101010101" pitchFamily="2" charset="-122"/>
                <a:ea typeface="黑体" panose="02010609060101010101" pitchFamily="2" charset="-122"/>
              </a:rPr>
              <a:t>给定凸多边形</a:t>
            </a:r>
            <a:r>
              <a:rPr lang="en-US" altLang="zh-CN" sz="2800">
                <a:latin typeface="黑体" panose="02010609060101010101" pitchFamily="2" charset="-122"/>
                <a:ea typeface="黑体" panose="02010609060101010101" pitchFamily="2" charset="-122"/>
              </a:rPr>
              <a:t>P</a:t>
            </a:r>
            <a:r>
              <a:rPr lang="zh-CN" altLang="en-US" sz="2800">
                <a:latin typeface="黑体" panose="02010609060101010101" pitchFamily="2" charset="-122"/>
                <a:ea typeface="黑体" panose="02010609060101010101" pitchFamily="2" charset="-122"/>
              </a:rPr>
              <a:t>，以及定义在由多边形的边和弦组成的三角形上的权函数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2" charset="-122"/>
              </a:rPr>
              <a:t>w</a:t>
            </a:r>
            <a:r>
              <a:rPr lang="zh-CN" altLang="en-US" sz="2800">
                <a:latin typeface="黑体" panose="02010609060101010101" pitchFamily="2" charset="-122"/>
                <a:ea typeface="黑体" panose="02010609060101010101" pitchFamily="2" charset="-122"/>
              </a:rPr>
              <a:t>。要求确定该凸多边形的三角剖分，使得该三角剖分所对应的权</a:t>
            </a:r>
            <a:r>
              <a:rPr lang="en-US" altLang="zh-CN" sz="2800">
                <a:latin typeface="黑体" panose="02010609060101010101" pitchFamily="2" charset="-122"/>
                <a:ea typeface="黑体" panose="02010609060101010101" pitchFamily="2" charset="-122"/>
              </a:rPr>
              <a:t>(</a:t>
            </a:r>
            <a:r>
              <a:rPr lang="zh-CN" altLang="en-US" sz="2800">
                <a:latin typeface="黑体" panose="02010609060101010101" pitchFamily="2" charset="-122"/>
                <a:ea typeface="黑体" panose="02010609060101010101" pitchFamily="2" charset="-122"/>
              </a:rPr>
              <a:t>即该三角剖分中诸三角形上的权</a:t>
            </a:r>
            <a:r>
              <a:rPr lang="en-US" altLang="zh-CN" sz="280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r>
              <a:rPr lang="zh-CN" altLang="en-US" sz="2800">
                <a:latin typeface="黑体" panose="02010609060101010101" pitchFamily="2" charset="-122"/>
                <a:ea typeface="黑体" panose="02010609060101010101" pitchFamily="2" charset="-122"/>
              </a:rPr>
              <a:t>之和为最小。</a:t>
            </a:r>
            <a:endParaRPr lang="zh-CN" altLang="en-US" sz="28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>
                <a:solidFill>
                  <a:srgbClr val="008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权函数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w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可任意定义，如最小弦长等。</a:t>
            </a:r>
            <a:endParaRPr lang="zh-CN" altLang="en-US" sz="2800">
              <a:solidFill>
                <a:srgbClr val="008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ChangeArrowheads="1"/>
          </p:cNvSpPr>
          <p:nvPr/>
        </p:nvSpPr>
        <p:spPr bwMode="auto">
          <a:xfrm>
            <a:off x="10429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1. 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三角剖分的结构及其相关问题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828675" y="1117600"/>
            <a:ext cx="7704138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en-US" altLang="zh-CN" sz="2400" b="1">
                <a:ea typeface="新宋体" panose="02010609030101010101" charset="-122"/>
              </a:rPr>
              <a:t>   </a:t>
            </a:r>
            <a:r>
              <a:rPr lang="zh-CN" altLang="en-US" sz="2400" b="1">
                <a:ea typeface="新宋体" panose="02010609030101010101" charset="-122"/>
              </a:rPr>
              <a:t>一个表达式的完全加括号方式相应于一棵完全二叉树</a:t>
            </a:r>
            <a:r>
              <a:rPr lang="en-US" altLang="zh-CN" sz="2400" b="1">
                <a:ea typeface="新宋体" panose="02010609030101010101" charset="-122"/>
              </a:rPr>
              <a:t>,</a:t>
            </a:r>
            <a:r>
              <a:rPr lang="zh-CN" altLang="en-US" sz="2400" b="1">
                <a:ea typeface="新宋体" panose="02010609030101010101" charset="-122"/>
              </a:rPr>
              <a:t>称为</a:t>
            </a:r>
            <a:r>
              <a:rPr lang="zh-CN" altLang="en-US" sz="2400" b="1">
                <a:solidFill>
                  <a:srgbClr val="800000"/>
                </a:solidFill>
                <a:ea typeface="新宋体" panose="02010609030101010101" charset="-122"/>
              </a:rPr>
              <a:t>表达式的语法树</a:t>
            </a:r>
            <a:r>
              <a:rPr lang="zh-CN" altLang="en-US" sz="2400" b="1">
                <a:ea typeface="新宋体" panose="02010609030101010101" charset="-122"/>
              </a:rPr>
              <a:t>。例如，完全加括号的矩阵连乘积</a:t>
            </a:r>
            <a:r>
              <a:rPr lang="en-US" altLang="zh-CN" sz="2400" b="1">
                <a:ea typeface="新宋体" panose="02010609030101010101" charset="-122"/>
              </a:rPr>
              <a:t>((</a:t>
            </a:r>
            <a:r>
              <a:rPr lang="en-US" altLang="zh-CN" sz="2400">
                <a:ea typeface="新宋体" panose="02010609030101010101" charset="-122"/>
              </a:rPr>
              <a:t>A</a:t>
            </a:r>
            <a:r>
              <a:rPr lang="en-US" altLang="zh-CN" sz="2400" baseline="-25000">
                <a:ea typeface="新宋体" panose="02010609030101010101" charset="-122"/>
              </a:rPr>
              <a:t>1</a:t>
            </a:r>
            <a:r>
              <a:rPr lang="en-US" altLang="zh-CN" sz="2400">
                <a:ea typeface="新宋体" panose="02010609030101010101" charset="-122"/>
              </a:rPr>
              <a:t>(A</a:t>
            </a:r>
            <a:r>
              <a:rPr lang="en-US" altLang="zh-CN" sz="2400" baseline="-25000">
                <a:ea typeface="新宋体" panose="02010609030101010101" charset="-122"/>
              </a:rPr>
              <a:t>2</a:t>
            </a:r>
            <a:r>
              <a:rPr lang="en-US" altLang="zh-CN" sz="2400">
                <a:ea typeface="新宋体" panose="02010609030101010101" charset="-122"/>
              </a:rPr>
              <a:t>A</a:t>
            </a:r>
            <a:r>
              <a:rPr lang="en-US" altLang="zh-CN" sz="2400" baseline="-25000">
                <a:ea typeface="新宋体" panose="02010609030101010101" charset="-122"/>
              </a:rPr>
              <a:t>3</a:t>
            </a:r>
            <a:r>
              <a:rPr lang="en-US" altLang="zh-CN" sz="2400">
                <a:ea typeface="新宋体" panose="02010609030101010101" charset="-122"/>
              </a:rPr>
              <a:t>))(A</a:t>
            </a:r>
            <a:r>
              <a:rPr lang="en-US" altLang="zh-CN" sz="2400" baseline="-25000">
                <a:ea typeface="新宋体" panose="02010609030101010101" charset="-122"/>
              </a:rPr>
              <a:t>4</a:t>
            </a:r>
            <a:r>
              <a:rPr lang="en-US" altLang="zh-CN" sz="2400">
                <a:ea typeface="新宋体" panose="02010609030101010101" charset="-122"/>
              </a:rPr>
              <a:t>(A</a:t>
            </a:r>
            <a:r>
              <a:rPr lang="en-US" altLang="zh-CN" sz="2400" baseline="-25000">
                <a:ea typeface="新宋体" panose="02010609030101010101" charset="-122"/>
              </a:rPr>
              <a:t>5</a:t>
            </a:r>
            <a:r>
              <a:rPr lang="en-US" altLang="zh-CN" sz="2400">
                <a:ea typeface="新宋体" panose="02010609030101010101" charset="-122"/>
              </a:rPr>
              <a:t>A</a:t>
            </a:r>
            <a:r>
              <a:rPr lang="en-US" altLang="zh-CN" sz="2400" baseline="-25000">
                <a:ea typeface="新宋体" panose="02010609030101010101" charset="-122"/>
              </a:rPr>
              <a:t>6</a:t>
            </a:r>
            <a:r>
              <a:rPr lang="en-US" altLang="zh-CN" sz="2400">
                <a:ea typeface="新宋体" panose="02010609030101010101" charset="-122"/>
              </a:rPr>
              <a:t>))) </a:t>
            </a:r>
            <a:r>
              <a:rPr lang="zh-CN" altLang="en-US" sz="2400" b="1">
                <a:ea typeface="新宋体" panose="02010609030101010101" charset="-122"/>
              </a:rPr>
              <a:t>所对应的语法树如图所示。</a:t>
            </a:r>
            <a:endParaRPr lang="zh-CN" altLang="en-US" sz="2400" b="1">
              <a:ea typeface="新宋体" panose="02010609030101010101" charset="-122"/>
            </a:endParaRPr>
          </a:p>
        </p:txBody>
      </p:sp>
      <p:pic>
        <p:nvPicPr>
          <p:cNvPr id="26628" name="Picture 4" descr="t3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56" r="48853" b="19756"/>
          <a:stretch>
            <a:fillRect/>
          </a:stretch>
        </p:blipFill>
        <p:spPr bwMode="auto">
          <a:xfrm>
            <a:off x="1835150" y="3006725"/>
            <a:ext cx="5616575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t3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53" t="3951" b="15805"/>
          <a:stretch>
            <a:fillRect/>
          </a:stretch>
        </p:blipFill>
        <p:spPr bwMode="auto">
          <a:xfrm>
            <a:off x="3706813" y="2941638"/>
            <a:ext cx="4321175" cy="315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19" name="Rectangle 3"/>
          <p:cNvSpPr>
            <a:spLocks noChangeArrowheads="1"/>
          </p:cNvSpPr>
          <p:nvPr/>
        </p:nvSpPr>
        <p:spPr bwMode="auto">
          <a:xfrm>
            <a:off x="10429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1. 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三角剖分的结构及其相关问题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1041400" y="1050925"/>
            <a:ext cx="7202488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Char char="•"/>
            </a:pPr>
            <a:r>
              <a:rPr lang="en-US" altLang="zh-CN" sz="2400" b="1">
                <a:ea typeface="新宋体" panose="02010609030101010101" charset="-122"/>
              </a:rPr>
              <a:t>  </a:t>
            </a:r>
            <a:r>
              <a:rPr lang="zh-CN" altLang="en-US" sz="2400" b="1">
                <a:ea typeface="新宋体" panose="02010609030101010101" charset="-122"/>
              </a:rPr>
              <a:t>凸多边形</a:t>
            </a:r>
            <a:r>
              <a:rPr lang="en-US" altLang="zh-CN" sz="2400" b="1">
                <a:ea typeface="新宋体" panose="02010609030101010101" charset="-122"/>
              </a:rPr>
              <a:t>{v</a:t>
            </a:r>
            <a:r>
              <a:rPr lang="en-US" altLang="zh-CN" sz="2400" b="1" baseline="-25000">
                <a:ea typeface="新宋体" panose="02010609030101010101" charset="-122"/>
              </a:rPr>
              <a:t>0</a:t>
            </a:r>
            <a:r>
              <a:rPr lang="en-US" altLang="zh-CN" sz="2400" b="1">
                <a:ea typeface="新宋体" panose="02010609030101010101" charset="-122"/>
              </a:rPr>
              <a:t>, v</a:t>
            </a:r>
            <a:r>
              <a:rPr lang="en-US" altLang="zh-CN" sz="2400" b="1" baseline="-25000">
                <a:ea typeface="新宋体" panose="02010609030101010101" charset="-122"/>
              </a:rPr>
              <a:t>1</a:t>
            </a:r>
            <a:r>
              <a:rPr lang="en-US" altLang="zh-CN" sz="2400" b="1">
                <a:ea typeface="新宋体" panose="02010609030101010101" charset="-122"/>
              </a:rPr>
              <a:t>, …, v</a:t>
            </a:r>
            <a:r>
              <a:rPr lang="en-US" altLang="zh-CN" sz="2400" b="1" baseline="-25000">
                <a:ea typeface="新宋体" panose="02010609030101010101" charset="-122"/>
              </a:rPr>
              <a:t>n-1</a:t>
            </a:r>
            <a:r>
              <a:rPr lang="en-US" altLang="zh-CN" sz="2400" b="1">
                <a:ea typeface="新宋体" panose="02010609030101010101" charset="-122"/>
              </a:rPr>
              <a:t>}</a:t>
            </a:r>
            <a:r>
              <a:rPr lang="zh-CN" altLang="en-US" sz="2400" b="1">
                <a:ea typeface="新宋体" panose="02010609030101010101" charset="-122"/>
              </a:rPr>
              <a:t>的三角剖分也可以用语法树表示，</a:t>
            </a:r>
            <a:r>
              <a:rPr lang="zh-CN" altLang="en-US" sz="2400" b="1">
                <a:solidFill>
                  <a:srgbClr val="008000"/>
                </a:solidFill>
                <a:ea typeface="新宋体" panose="02010609030101010101" charset="-122"/>
              </a:rPr>
              <a:t>如</a:t>
            </a:r>
            <a:r>
              <a:rPr lang="zh-CN" altLang="en-US" sz="2400" b="1">
                <a:ea typeface="新宋体" panose="02010609030101010101" charset="-122"/>
              </a:rPr>
              <a:t>图所示。</a:t>
            </a:r>
            <a:endParaRPr lang="zh-CN" altLang="en-US" sz="2400" b="1">
              <a:ea typeface="新宋体" panose="02010609030101010101" charset="-122"/>
            </a:endParaRPr>
          </a:p>
          <a:p>
            <a:pPr eaLnBrk="1" hangingPunct="1">
              <a:lnSpc>
                <a:spcPct val="125000"/>
              </a:lnSpc>
              <a:buFontTx/>
              <a:buChar char="•"/>
            </a:pPr>
            <a:r>
              <a:rPr lang="zh-CN" altLang="en-US" sz="2400" b="1">
                <a:ea typeface="新宋体" panose="02010609030101010101" charset="-122"/>
              </a:rPr>
              <a:t>  矩阵连乘积中的每个矩阵</a:t>
            </a:r>
            <a:r>
              <a:rPr lang="en-US" altLang="zh-CN" sz="2400" b="1">
                <a:ea typeface="新宋体" panose="02010609030101010101" charset="-122"/>
              </a:rPr>
              <a:t>A</a:t>
            </a:r>
            <a:r>
              <a:rPr lang="en-US" altLang="zh-CN" sz="2400" b="1" baseline="-25000">
                <a:ea typeface="新宋体" panose="02010609030101010101" charset="-122"/>
              </a:rPr>
              <a:t>i</a:t>
            </a:r>
            <a:r>
              <a:rPr lang="zh-CN" altLang="en-US" sz="2400" b="1">
                <a:ea typeface="新宋体" panose="02010609030101010101" charset="-122"/>
              </a:rPr>
              <a:t>对应于凸</a:t>
            </a:r>
            <a:r>
              <a:rPr lang="en-US" altLang="zh-CN" sz="2400" b="1">
                <a:ea typeface="新宋体" panose="02010609030101010101" charset="-122"/>
              </a:rPr>
              <a:t>n</a:t>
            </a:r>
            <a:r>
              <a:rPr lang="zh-CN" altLang="en-US" sz="2400" b="1">
                <a:ea typeface="新宋体" panose="02010609030101010101" charset="-122"/>
              </a:rPr>
              <a:t>边形中的一条边</a:t>
            </a:r>
            <a:r>
              <a:rPr lang="en-US" altLang="zh-CN" sz="2400" b="1">
                <a:ea typeface="新宋体" panose="02010609030101010101" charset="-122"/>
              </a:rPr>
              <a:t>v</a:t>
            </a:r>
            <a:r>
              <a:rPr lang="en-US" altLang="zh-CN" sz="2400" b="1" baseline="-25000">
                <a:ea typeface="新宋体" panose="02010609030101010101" charset="-122"/>
              </a:rPr>
              <a:t>i-1</a:t>
            </a:r>
            <a:r>
              <a:rPr lang="en-US" altLang="zh-CN" sz="2400" b="1">
                <a:ea typeface="新宋体" panose="02010609030101010101" charset="-122"/>
              </a:rPr>
              <a:t>v</a:t>
            </a:r>
            <a:r>
              <a:rPr lang="en-US" altLang="zh-CN" sz="2400" b="1" baseline="-25000">
                <a:ea typeface="新宋体" panose="02010609030101010101" charset="-122"/>
              </a:rPr>
              <a:t>i</a:t>
            </a:r>
            <a:r>
              <a:rPr lang="zh-CN" altLang="en-US" sz="2400" b="1">
                <a:ea typeface="新宋体" panose="02010609030101010101" charset="-122"/>
              </a:rPr>
              <a:t>。三角剖分中的一条弦</a:t>
            </a:r>
            <a:r>
              <a:rPr lang="en-US" altLang="zh-CN" sz="2400" b="1">
                <a:ea typeface="新宋体" panose="02010609030101010101" charset="-122"/>
              </a:rPr>
              <a:t>v</a:t>
            </a:r>
            <a:r>
              <a:rPr lang="en-US" altLang="zh-CN" sz="2400" b="1" baseline="-25000">
                <a:ea typeface="新宋体" panose="02010609030101010101" charset="-122"/>
              </a:rPr>
              <a:t>i</a:t>
            </a:r>
            <a:r>
              <a:rPr lang="en-US" altLang="zh-CN" sz="2400" b="1">
                <a:ea typeface="新宋体" panose="02010609030101010101" charset="-122"/>
              </a:rPr>
              <a:t>v</a:t>
            </a:r>
            <a:r>
              <a:rPr lang="en-US" altLang="zh-CN" sz="2400" b="1" baseline="-25000">
                <a:ea typeface="新宋体" panose="02010609030101010101" charset="-122"/>
              </a:rPr>
              <a:t>j</a:t>
            </a:r>
            <a:r>
              <a:rPr lang="en-US" altLang="zh-CN" sz="2400" b="1">
                <a:ea typeface="新宋体" panose="02010609030101010101" charset="-122"/>
              </a:rPr>
              <a:t>, i&lt;j</a:t>
            </a:r>
            <a:r>
              <a:rPr lang="zh-CN" altLang="en-US" sz="2400" b="1">
                <a:ea typeface="新宋体" panose="02010609030101010101" charset="-122"/>
              </a:rPr>
              <a:t>，对应于矩阵连乘积</a:t>
            </a:r>
            <a:r>
              <a:rPr lang="en-US" altLang="zh-CN" sz="2400" b="1">
                <a:ea typeface="新宋体" panose="02010609030101010101" charset="-122"/>
              </a:rPr>
              <a:t>A[i+1:j]</a:t>
            </a:r>
            <a:r>
              <a:rPr lang="zh-CN" altLang="en-US" sz="2400" b="1">
                <a:ea typeface="新宋体" panose="02010609030101010101" charset="-122"/>
              </a:rPr>
              <a:t>。</a:t>
            </a:r>
            <a:endParaRPr lang="zh-CN" altLang="en-US" sz="2400" b="1"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ChangeArrowheads="1"/>
          </p:cNvSpPr>
          <p:nvPr/>
        </p:nvSpPr>
        <p:spPr bwMode="auto">
          <a:xfrm>
            <a:off x="10429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2. 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最优子结构性质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898525" y="1125538"/>
            <a:ext cx="7561263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FontTx/>
              <a:buChar char="•"/>
            </a:pPr>
            <a:r>
              <a:rPr lang="en-US" altLang="zh-CN" sz="2800" b="1">
                <a:ea typeface="新宋体" panose="02010609030101010101" charset="-122"/>
              </a:rPr>
              <a:t>  </a:t>
            </a:r>
            <a:r>
              <a:rPr lang="zh-CN" altLang="en-US" sz="2800" b="1">
                <a:solidFill>
                  <a:srgbClr val="800000"/>
                </a:solidFill>
                <a:ea typeface="新宋体" panose="02010609030101010101" charset="-122"/>
              </a:rPr>
              <a:t>凸多边形的最优三角剖分问题具有最优子结构性质</a:t>
            </a:r>
            <a:r>
              <a:rPr lang="zh-CN" altLang="en-US" sz="2800" b="1">
                <a:ea typeface="新宋体" panose="02010609030101010101" charset="-122"/>
              </a:rPr>
              <a:t>。</a:t>
            </a:r>
            <a:endParaRPr lang="zh-CN" altLang="en-US" sz="2800" b="1">
              <a:ea typeface="新宋体" panose="02010609030101010101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800" b="1">
                <a:ea typeface="新宋体" panose="02010609030101010101" charset="-122"/>
              </a:rPr>
              <a:t>事实上，若凸</a:t>
            </a:r>
            <a:r>
              <a:rPr lang="en-US" altLang="zh-CN" sz="2800" b="1">
                <a:ea typeface="新宋体" panose="02010609030101010101" charset="-122"/>
              </a:rPr>
              <a:t>n+1</a:t>
            </a:r>
            <a:r>
              <a:rPr lang="zh-CN" altLang="en-US" sz="2800" b="1">
                <a:ea typeface="新宋体" panose="02010609030101010101" charset="-122"/>
              </a:rPr>
              <a:t>边形</a:t>
            </a:r>
            <a:r>
              <a:rPr lang="en-US" altLang="zh-CN" sz="2800" b="1">
                <a:ea typeface="新宋体" panose="02010609030101010101" charset="-122"/>
              </a:rPr>
              <a:t>P={v</a:t>
            </a:r>
            <a:r>
              <a:rPr lang="en-US" altLang="zh-CN" sz="2800" b="1" baseline="-25000">
                <a:ea typeface="新宋体" panose="02010609030101010101" charset="-122"/>
              </a:rPr>
              <a:t>0</a:t>
            </a:r>
            <a:r>
              <a:rPr lang="en-US" altLang="zh-CN" sz="2800" b="1">
                <a:ea typeface="新宋体" panose="02010609030101010101" charset="-122"/>
              </a:rPr>
              <a:t>, v</a:t>
            </a:r>
            <a:r>
              <a:rPr lang="en-US" altLang="zh-CN" sz="2800" b="1" baseline="-25000">
                <a:ea typeface="新宋体" panose="02010609030101010101" charset="-122"/>
              </a:rPr>
              <a:t>1</a:t>
            </a:r>
            <a:r>
              <a:rPr lang="en-US" altLang="zh-CN" sz="2800" b="1">
                <a:ea typeface="新宋体" panose="02010609030101010101" charset="-122"/>
              </a:rPr>
              <a:t>, …, v</a:t>
            </a:r>
            <a:r>
              <a:rPr lang="en-US" altLang="zh-CN" sz="2800" b="1" baseline="-25000">
                <a:ea typeface="新宋体" panose="02010609030101010101" charset="-122"/>
              </a:rPr>
              <a:t>n</a:t>
            </a:r>
            <a:r>
              <a:rPr lang="en-US" altLang="zh-CN" sz="2800" b="1">
                <a:ea typeface="新宋体" panose="02010609030101010101" charset="-122"/>
              </a:rPr>
              <a:t>}</a:t>
            </a:r>
            <a:r>
              <a:rPr lang="zh-CN" altLang="en-US" sz="2800" b="1">
                <a:ea typeface="新宋体" panose="02010609030101010101" charset="-122"/>
              </a:rPr>
              <a:t>的最优三角剖分</a:t>
            </a:r>
            <a:r>
              <a:rPr lang="en-US" altLang="zh-CN" sz="2800" b="1">
                <a:ea typeface="新宋体" panose="02010609030101010101" charset="-122"/>
              </a:rPr>
              <a:t>T</a:t>
            </a:r>
            <a:r>
              <a:rPr lang="zh-CN" altLang="en-US" sz="2800" b="1">
                <a:ea typeface="新宋体" panose="02010609030101010101" charset="-122"/>
              </a:rPr>
              <a:t>包含三角形</a:t>
            </a:r>
            <a:r>
              <a:rPr lang="en-US" altLang="zh-CN" sz="2800" b="1">
                <a:ea typeface="新宋体" panose="02010609030101010101" charset="-122"/>
              </a:rPr>
              <a:t>v</a:t>
            </a:r>
            <a:r>
              <a:rPr lang="en-US" altLang="zh-CN" sz="2800" b="1" baseline="-25000">
                <a:ea typeface="新宋体" panose="02010609030101010101" charset="-122"/>
              </a:rPr>
              <a:t>0</a:t>
            </a:r>
            <a:r>
              <a:rPr lang="en-US" altLang="zh-CN" sz="2800" b="1">
                <a:ea typeface="新宋体" panose="02010609030101010101" charset="-122"/>
              </a:rPr>
              <a:t>v</a:t>
            </a:r>
            <a:r>
              <a:rPr lang="en-US" altLang="zh-CN" sz="2800" b="1" baseline="-25000">
                <a:ea typeface="新宋体" panose="02010609030101010101" charset="-122"/>
              </a:rPr>
              <a:t>k</a:t>
            </a:r>
            <a:r>
              <a:rPr lang="en-US" altLang="zh-CN" sz="2800" b="1">
                <a:ea typeface="新宋体" panose="02010609030101010101" charset="-122"/>
              </a:rPr>
              <a:t>v</a:t>
            </a:r>
            <a:r>
              <a:rPr lang="en-US" altLang="zh-CN" sz="2800" b="1" baseline="-25000">
                <a:ea typeface="新宋体" panose="02010609030101010101" charset="-122"/>
              </a:rPr>
              <a:t>n</a:t>
            </a:r>
            <a:r>
              <a:rPr lang="zh-CN" altLang="en-US" sz="2800" b="1">
                <a:ea typeface="新宋体" panose="02010609030101010101" charset="-122"/>
              </a:rPr>
              <a:t>，</a:t>
            </a:r>
            <a:r>
              <a:rPr lang="en-US" altLang="zh-CN" sz="2800">
                <a:ea typeface="新宋体" panose="02010609030101010101" charset="-122"/>
              </a:rPr>
              <a:t>1≤k≤n-1</a:t>
            </a:r>
            <a:r>
              <a:rPr lang="en-US" altLang="zh-CN" sz="2800" b="1">
                <a:ea typeface="新宋体" panose="02010609030101010101" charset="-122"/>
              </a:rPr>
              <a:t>, </a:t>
            </a:r>
            <a:r>
              <a:rPr lang="zh-CN" altLang="en-US" sz="2800" b="1">
                <a:ea typeface="新宋体" panose="02010609030101010101" charset="-122"/>
              </a:rPr>
              <a:t>则</a:t>
            </a:r>
            <a:r>
              <a:rPr lang="en-US" altLang="zh-CN" sz="2800" b="1">
                <a:ea typeface="新宋体" panose="02010609030101010101" charset="-122"/>
              </a:rPr>
              <a:t>T</a:t>
            </a:r>
            <a:r>
              <a:rPr lang="zh-CN" altLang="en-US" sz="2800" b="1">
                <a:ea typeface="新宋体" panose="02010609030101010101" charset="-122"/>
              </a:rPr>
              <a:t>的权是</a:t>
            </a:r>
            <a:r>
              <a:rPr lang="en-US" altLang="zh-CN" sz="2800" b="1">
                <a:solidFill>
                  <a:srgbClr val="3333FF"/>
                </a:solidFill>
                <a:ea typeface="新宋体" panose="02010609030101010101" charset="-122"/>
              </a:rPr>
              <a:t>3</a:t>
            </a:r>
            <a:r>
              <a:rPr lang="zh-CN" altLang="en-US" sz="2800" b="1">
                <a:solidFill>
                  <a:srgbClr val="3333FF"/>
                </a:solidFill>
                <a:ea typeface="新宋体" panose="02010609030101010101" charset="-122"/>
              </a:rPr>
              <a:t>个部分权</a:t>
            </a:r>
            <a:r>
              <a:rPr lang="zh-CN" altLang="en-US" sz="2800" b="1">
                <a:ea typeface="新宋体" panose="02010609030101010101" charset="-122"/>
              </a:rPr>
              <a:t>的和：三角形</a:t>
            </a:r>
            <a:r>
              <a:rPr lang="en-US" altLang="zh-CN" sz="2800" b="1">
                <a:ea typeface="新宋体" panose="02010609030101010101" charset="-122"/>
              </a:rPr>
              <a:t>v</a:t>
            </a:r>
            <a:r>
              <a:rPr lang="en-US" altLang="zh-CN" sz="2800" b="1" baseline="-25000">
                <a:ea typeface="新宋体" panose="02010609030101010101" charset="-122"/>
              </a:rPr>
              <a:t>0</a:t>
            </a:r>
            <a:r>
              <a:rPr lang="en-US" altLang="zh-CN" sz="2800" b="1">
                <a:ea typeface="新宋体" panose="02010609030101010101" charset="-122"/>
              </a:rPr>
              <a:t>v</a:t>
            </a:r>
            <a:r>
              <a:rPr lang="en-US" altLang="zh-CN" sz="2800" b="1" baseline="-25000">
                <a:ea typeface="新宋体" panose="02010609030101010101" charset="-122"/>
              </a:rPr>
              <a:t>k</a:t>
            </a:r>
            <a:r>
              <a:rPr lang="en-US" altLang="zh-CN" sz="2800" b="1">
                <a:ea typeface="新宋体" panose="02010609030101010101" charset="-122"/>
              </a:rPr>
              <a:t>v</a:t>
            </a:r>
            <a:r>
              <a:rPr lang="en-US" altLang="zh-CN" sz="2800" b="1" baseline="-25000">
                <a:ea typeface="新宋体" panose="02010609030101010101" charset="-122"/>
              </a:rPr>
              <a:t>n</a:t>
            </a:r>
            <a:r>
              <a:rPr lang="zh-CN" altLang="en-US" sz="2800" b="1">
                <a:ea typeface="新宋体" panose="02010609030101010101" charset="-122"/>
              </a:rPr>
              <a:t>的权，子多边形</a:t>
            </a:r>
            <a:r>
              <a:rPr lang="en-US" altLang="zh-CN" sz="2800" b="1">
                <a:ea typeface="新宋体" panose="02010609030101010101" charset="-122"/>
              </a:rPr>
              <a:t>{v</a:t>
            </a:r>
            <a:r>
              <a:rPr lang="en-US" altLang="zh-CN" sz="2800" b="1" baseline="-25000">
                <a:ea typeface="新宋体" panose="02010609030101010101" charset="-122"/>
              </a:rPr>
              <a:t>0</a:t>
            </a:r>
            <a:r>
              <a:rPr lang="en-US" altLang="zh-CN" sz="2800" b="1">
                <a:ea typeface="新宋体" panose="02010609030101010101" charset="-122"/>
              </a:rPr>
              <a:t>, v</a:t>
            </a:r>
            <a:r>
              <a:rPr lang="en-US" altLang="zh-CN" sz="2800" b="1" baseline="-25000">
                <a:ea typeface="新宋体" panose="02010609030101010101" charset="-122"/>
              </a:rPr>
              <a:t>1</a:t>
            </a:r>
            <a:r>
              <a:rPr lang="en-US" altLang="zh-CN" sz="2800" b="1">
                <a:ea typeface="新宋体" panose="02010609030101010101" charset="-122"/>
              </a:rPr>
              <a:t>, …, v</a:t>
            </a:r>
            <a:r>
              <a:rPr lang="en-US" altLang="zh-CN" sz="2800" b="1" baseline="-25000">
                <a:ea typeface="新宋体" panose="02010609030101010101" charset="-122"/>
              </a:rPr>
              <a:t>k</a:t>
            </a:r>
            <a:r>
              <a:rPr lang="en-US" altLang="zh-CN" sz="2800" b="1">
                <a:ea typeface="新宋体" panose="02010609030101010101" charset="-122"/>
              </a:rPr>
              <a:t>}</a:t>
            </a:r>
            <a:r>
              <a:rPr lang="zh-CN" altLang="en-US" sz="2800" b="1">
                <a:ea typeface="新宋体" panose="02010609030101010101" charset="-122"/>
              </a:rPr>
              <a:t>和</a:t>
            </a:r>
            <a:r>
              <a:rPr lang="en-US" altLang="zh-CN" sz="2800" b="1">
                <a:ea typeface="新宋体" panose="02010609030101010101" charset="-122"/>
              </a:rPr>
              <a:t>{v</a:t>
            </a:r>
            <a:r>
              <a:rPr lang="en-US" altLang="zh-CN" sz="2800" b="1" baseline="-25000">
                <a:ea typeface="新宋体" panose="02010609030101010101" charset="-122"/>
              </a:rPr>
              <a:t>k</a:t>
            </a:r>
            <a:r>
              <a:rPr lang="en-US" altLang="zh-CN" sz="2800" b="1">
                <a:ea typeface="新宋体" panose="02010609030101010101" charset="-122"/>
              </a:rPr>
              <a:t>, v</a:t>
            </a:r>
            <a:r>
              <a:rPr lang="en-US" altLang="zh-CN" sz="2800" b="1" baseline="-25000">
                <a:ea typeface="新宋体" panose="02010609030101010101" charset="-122"/>
              </a:rPr>
              <a:t>k+1</a:t>
            </a:r>
            <a:r>
              <a:rPr lang="en-US" altLang="zh-CN" sz="2800" b="1">
                <a:ea typeface="新宋体" panose="02010609030101010101" charset="-122"/>
              </a:rPr>
              <a:t>, …, v</a:t>
            </a:r>
            <a:r>
              <a:rPr lang="en-US" altLang="zh-CN" sz="2800" b="1" baseline="-25000">
                <a:ea typeface="新宋体" panose="02010609030101010101" charset="-122"/>
              </a:rPr>
              <a:t>n</a:t>
            </a:r>
            <a:r>
              <a:rPr lang="en-US" altLang="zh-CN" sz="2800" b="1">
                <a:ea typeface="新宋体" panose="02010609030101010101" charset="-122"/>
              </a:rPr>
              <a:t>}</a:t>
            </a:r>
            <a:r>
              <a:rPr lang="zh-CN" altLang="en-US" sz="2800" b="1">
                <a:ea typeface="新宋体" panose="02010609030101010101" charset="-122"/>
              </a:rPr>
              <a:t>的权之和。可以断言，由</a:t>
            </a:r>
            <a:r>
              <a:rPr lang="en-US" altLang="zh-CN" sz="2800" b="1">
                <a:ea typeface="新宋体" panose="02010609030101010101" charset="-122"/>
              </a:rPr>
              <a:t>T</a:t>
            </a:r>
            <a:r>
              <a:rPr lang="zh-CN" altLang="en-US" sz="2800" b="1">
                <a:ea typeface="新宋体" panose="02010609030101010101" charset="-122"/>
              </a:rPr>
              <a:t>所确定的这</a:t>
            </a:r>
            <a:r>
              <a:rPr lang="en-US" altLang="zh-CN" sz="2800" b="1">
                <a:ea typeface="新宋体" panose="02010609030101010101" charset="-122"/>
              </a:rPr>
              <a:t>2</a:t>
            </a:r>
            <a:r>
              <a:rPr lang="zh-CN" altLang="en-US" sz="2800" b="1">
                <a:ea typeface="新宋体" panose="02010609030101010101" charset="-122"/>
              </a:rPr>
              <a:t>个子多边形的三角剖分也是最优的。因为若有</a:t>
            </a:r>
            <a:r>
              <a:rPr lang="en-US" altLang="zh-CN" sz="2800" b="1">
                <a:ea typeface="新宋体" panose="02010609030101010101" charset="-122"/>
              </a:rPr>
              <a:t>{v</a:t>
            </a:r>
            <a:r>
              <a:rPr lang="en-US" altLang="zh-CN" sz="2800" b="1" baseline="-25000">
                <a:ea typeface="新宋体" panose="02010609030101010101" charset="-122"/>
              </a:rPr>
              <a:t>0</a:t>
            </a:r>
            <a:r>
              <a:rPr lang="en-US" altLang="zh-CN" sz="2800" b="1">
                <a:ea typeface="新宋体" panose="02010609030101010101" charset="-122"/>
              </a:rPr>
              <a:t>, v</a:t>
            </a:r>
            <a:r>
              <a:rPr lang="en-US" altLang="zh-CN" sz="2800" b="1" baseline="-25000">
                <a:ea typeface="新宋体" panose="02010609030101010101" charset="-122"/>
              </a:rPr>
              <a:t>1</a:t>
            </a:r>
            <a:r>
              <a:rPr lang="en-US" altLang="zh-CN" sz="2800" b="1">
                <a:ea typeface="新宋体" panose="02010609030101010101" charset="-122"/>
              </a:rPr>
              <a:t>, …, v</a:t>
            </a:r>
            <a:r>
              <a:rPr lang="en-US" altLang="zh-CN" sz="2800" b="1" baseline="-25000">
                <a:ea typeface="新宋体" panose="02010609030101010101" charset="-122"/>
              </a:rPr>
              <a:t>k</a:t>
            </a:r>
            <a:r>
              <a:rPr lang="en-US" altLang="zh-CN" sz="2800" b="1">
                <a:ea typeface="新宋体" panose="02010609030101010101" charset="-122"/>
              </a:rPr>
              <a:t>}</a:t>
            </a:r>
            <a:r>
              <a:rPr lang="zh-CN" altLang="en-US" sz="2800" b="1">
                <a:ea typeface="新宋体" panose="02010609030101010101" charset="-122"/>
              </a:rPr>
              <a:t>或</a:t>
            </a:r>
            <a:r>
              <a:rPr lang="en-US" altLang="zh-CN" sz="2800" b="1">
                <a:ea typeface="新宋体" panose="02010609030101010101" charset="-122"/>
              </a:rPr>
              <a:t>{v</a:t>
            </a:r>
            <a:r>
              <a:rPr lang="en-US" altLang="zh-CN" sz="2800" b="1" baseline="-25000">
                <a:ea typeface="新宋体" panose="02010609030101010101" charset="-122"/>
              </a:rPr>
              <a:t>k</a:t>
            </a:r>
            <a:r>
              <a:rPr lang="en-US" altLang="zh-CN" sz="2800" b="1">
                <a:ea typeface="新宋体" panose="02010609030101010101" charset="-122"/>
              </a:rPr>
              <a:t>, v</a:t>
            </a:r>
            <a:r>
              <a:rPr lang="en-US" altLang="zh-CN" sz="2800" b="1" baseline="-25000">
                <a:ea typeface="新宋体" panose="02010609030101010101" charset="-122"/>
              </a:rPr>
              <a:t>k+1</a:t>
            </a:r>
            <a:r>
              <a:rPr lang="en-US" altLang="zh-CN" sz="2800" b="1">
                <a:ea typeface="新宋体" panose="02010609030101010101" charset="-122"/>
              </a:rPr>
              <a:t>, …, v</a:t>
            </a:r>
            <a:r>
              <a:rPr lang="en-US" altLang="zh-CN" sz="2800" b="1" baseline="-25000">
                <a:ea typeface="新宋体" panose="02010609030101010101" charset="-122"/>
              </a:rPr>
              <a:t>n</a:t>
            </a:r>
            <a:r>
              <a:rPr lang="en-US" altLang="zh-CN" sz="2800" b="1">
                <a:ea typeface="新宋体" panose="02010609030101010101" charset="-122"/>
              </a:rPr>
              <a:t>}</a:t>
            </a:r>
            <a:r>
              <a:rPr lang="zh-CN" altLang="en-US" sz="2800" b="1">
                <a:ea typeface="新宋体" panose="02010609030101010101" charset="-122"/>
              </a:rPr>
              <a:t>的更小权的三角剖分将导致</a:t>
            </a:r>
            <a:r>
              <a:rPr lang="en-US" altLang="zh-CN" sz="2800" b="1">
                <a:ea typeface="新宋体" panose="02010609030101010101" charset="-122"/>
              </a:rPr>
              <a:t>T</a:t>
            </a:r>
            <a:r>
              <a:rPr lang="zh-CN" altLang="en-US" sz="2800" b="1">
                <a:ea typeface="新宋体" panose="02010609030101010101" charset="-122"/>
              </a:rPr>
              <a:t>不是最优三角剖分的矛盾。</a:t>
            </a:r>
            <a:endParaRPr lang="zh-CN" altLang="en-US" sz="2800" b="1"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10429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3. 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最优三角剖分的递归结构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684213" y="1057275"/>
            <a:ext cx="7775575" cy="489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Char char="•"/>
            </a:pP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  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设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t[i][j], 1≤i&lt;j≤n, 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为凸子多边形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{v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i-1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, v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, …, v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j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}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的最优三角剖分所对应的权函数值，即最优值。且设退化的多边形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{v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i-1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, v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}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具有权值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0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。</a:t>
            </a:r>
            <a:endParaRPr lang="zh-CN" altLang="en-US" sz="2800" b="1"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据此，要计算的凸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n+1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边形的最优值为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t[1][n]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。</a:t>
            </a:r>
            <a:endParaRPr lang="zh-CN" altLang="en-US" sz="2800" b="1"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eaLnBrk="1" hangingPunct="1">
              <a:lnSpc>
                <a:spcPct val="125000"/>
              </a:lnSpc>
              <a:buFontTx/>
              <a:buChar char="•"/>
            </a:pP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  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t[i][j]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的值可以利用最优子结构性质递归地计算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:</a:t>
            </a:r>
            <a:endParaRPr lang="en-US" altLang="zh-CN" sz="2800" b="1"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当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j-i≥1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时，凸子多边形至少有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个顶点。</a:t>
            </a:r>
            <a:endParaRPr lang="zh-CN" altLang="en-US" sz="2800" b="1"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由最优子结构性质，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t[i][j]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的值应为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t[i][k]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的值加上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t[k+1][j]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的值，再加上三角形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i-1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k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j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的权值，其中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i≤k≤j-1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。</a:t>
            </a:r>
            <a:endParaRPr lang="zh-CN" altLang="en-US" sz="2800" b="1"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ChangeArrowheads="1"/>
          </p:cNvSpPr>
          <p:nvPr/>
        </p:nvSpPr>
        <p:spPr bwMode="auto">
          <a:xfrm>
            <a:off x="10429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3. 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最优三角剖分的递归结构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9" t="14764" r="14764" b="14764"/>
          <a:stretch>
            <a:fillRect/>
          </a:stretch>
        </p:blipFill>
        <p:spPr bwMode="auto">
          <a:xfrm>
            <a:off x="755650" y="1249363"/>
            <a:ext cx="7704138" cy="470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ChangeArrowheads="1"/>
          </p:cNvSpPr>
          <p:nvPr/>
        </p:nvSpPr>
        <p:spPr bwMode="auto">
          <a:xfrm>
            <a:off x="10429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4. 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计算最优值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755650" y="987425"/>
            <a:ext cx="7777163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lang="en-US" altLang="zh-CN" sz="2400" b="1"/>
              <a:t>void MinWeightTriangulation(int n) {</a:t>
            </a:r>
            <a:endParaRPr lang="en-US" altLang="zh-CN" sz="2400" b="1"/>
          </a:p>
          <a:p>
            <a:pPr eaLnBrk="1" hangingPunct="1">
              <a:lnSpc>
                <a:spcPct val="105000"/>
              </a:lnSpc>
            </a:pPr>
            <a:r>
              <a:rPr lang="en-US" altLang="zh-CN" sz="2400" b="1"/>
              <a:t>	for(r=2; r&lt;n; r++) {</a:t>
            </a:r>
            <a:endParaRPr lang="en-US" altLang="zh-CN" sz="2400" b="1"/>
          </a:p>
          <a:p>
            <a:pPr eaLnBrk="1" hangingPunct="1">
              <a:lnSpc>
                <a:spcPct val="105000"/>
              </a:lnSpc>
            </a:pPr>
            <a:r>
              <a:rPr lang="en-US" altLang="zh-CN" sz="2400" b="1"/>
              <a:t>		for(i=1; i&lt;n-r+1; i++) {</a:t>
            </a:r>
            <a:endParaRPr lang="en-US" altLang="zh-CN" sz="2400" b="1"/>
          </a:p>
          <a:p>
            <a:pPr eaLnBrk="1" hangingPunct="1">
              <a:lnSpc>
                <a:spcPct val="105000"/>
              </a:lnSpc>
            </a:pPr>
            <a:r>
              <a:rPr lang="en-US" altLang="zh-CN" sz="2400" b="1"/>
              <a:t>			j=i+r-1;</a:t>
            </a:r>
            <a:endParaRPr lang="en-US" altLang="zh-CN" sz="2400" b="1"/>
          </a:p>
          <a:p>
            <a:pPr eaLnBrk="1" hangingPunct="1">
              <a:lnSpc>
                <a:spcPct val="105000"/>
              </a:lnSpc>
            </a:pPr>
            <a:r>
              <a:rPr lang="en-US" altLang="zh-CN" sz="2400" b="1"/>
              <a:t>			t[i][j]=t[i+1][j]+w(i-1,i,j);</a:t>
            </a:r>
            <a:endParaRPr lang="en-US" altLang="zh-CN" sz="2400" b="1"/>
          </a:p>
          <a:p>
            <a:pPr eaLnBrk="1" hangingPunct="1">
              <a:lnSpc>
                <a:spcPct val="105000"/>
              </a:lnSpc>
            </a:pPr>
            <a:r>
              <a:rPr lang="en-US" altLang="zh-CN" sz="2400" b="1"/>
              <a:t>			s[i][j]=i;</a:t>
            </a:r>
            <a:endParaRPr lang="en-US" altLang="zh-CN" sz="2400" b="1"/>
          </a:p>
          <a:p>
            <a:pPr eaLnBrk="1" hangingPunct="1">
              <a:lnSpc>
                <a:spcPct val="105000"/>
              </a:lnSpc>
            </a:pPr>
            <a:r>
              <a:rPr lang="en-US" altLang="zh-CN" sz="2400" b="1"/>
              <a:t>			for(k=i+1; k&lt;j; k++) {</a:t>
            </a:r>
            <a:endParaRPr lang="en-US" altLang="zh-CN" sz="2400" b="1"/>
          </a:p>
          <a:p>
            <a:pPr eaLnBrk="1" hangingPunct="1">
              <a:lnSpc>
                <a:spcPct val="105000"/>
              </a:lnSpc>
            </a:pPr>
            <a:r>
              <a:rPr lang="en-US" altLang="zh-CN" sz="2400" b="1"/>
              <a:t>			     u=t[i][k]+t[k+1][j]+w(i-1,k,j);</a:t>
            </a:r>
            <a:endParaRPr lang="en-US" altLang="zh-CN" sz="2400" b="1"/>
          </a:p>
          <a:p>
            <a:pPr eaLnBrk="1" hangingPunct="1">
              <a:lnSpc>
                <a:spcPct val="105000"/>
              </a:lnSpc>
            </a:pPr>
            <a:r>
              <a:rPr lang="en-US" altLang="zh-CN" sz="2400" b="1"/>
              <a:t>			     if (u&lt;t[i][j]) { t[i][j]=u; s[i][j]=k; }</a:t>
            </a:r>
            <a:endParaRPr lang="en-US" altLang="zh-CN" sz="2400" b="1"/>
          </a:p>
          <a:p>
            <a:pPr eaLnBrk="1" hangingPunct="1">
              <a:lnSpc>
                <a:spcPct val="105000"/>
              </a:lnSpc>
            </a:pPr>
            <a:r>
              <a:rPr lang="en-US" altLang="zh-CN" sz="2400" b="1"/>
              <a:t>			}</a:t>
            </a:r>
            <a:endParaRPr lang="en-US" altLang="zh-CN" sz="2400" b="1"/>
          </a:p>
          <a:p>
            <a:pPr eaLnBrk="1" hangingPunct="1">
              <a:lnSpc>
                <a:spcPct val="105000"/>
              </a:lnSpc>
            </a:pPr>
            <a:r>
              <a:rPr lang="en-US" altLang="zh-CN" sz="2400" b="1"/>
              <a:t>		}</a:t>
            </a:r>
            <a:endParaRPr lang="en-US" altLang="zh-CN" sz="2400" b="1"/>
          </a:p>
          <a:p>
            <a:pPr eaLnBrk="1" hangingPunct="1">
              <a:lnSpc>
                <a:spcPct val="105000"/>
              </a:lnSpc>
            </a:pPr>
            <a:r>
              <a:rPr lang="en-US" altLang="zh-CN" sz="2400" b="1"/>
              <a:t>	}</a:t>
            </a:r>
            <a:endParaRPr lang="en-US" altLang="zh-CN" sz="2400" b="1"/>
          </a:p>
          <a:p>
            <a:pPr eaLnBrk="1" hangingPunct="1">
              <a:lnSpc>
                <a:spcPct val="105000"/>
              </a:lnSpc>
            </a:pPr>
            <a:r>
              <a:rPr lang="en-US" altLang="zh-CN" sz="2400" b="1"/>
              <a:t>}  </a:t>
            </a:r>
            <a:r>
              <a:rPr lang="en-US" altLang="zh-CN" sz="2400" b="1">
                <a:solidFill>
                  <a:srgbClr val="800000"/>
                </a:solidFill>
              </a:rPr>
              <a:t>// </a:t>
            </a:r>
            <a:r>
              <a:rPr lang="zh-CN" altLang="en-US" sz="2400" b="1">
                <a:solidFill>
                  <a:srgbClr val="800000"/>
                </a:solidFill>
              </a:rPr>
              <a:t>算法的时间复杂度为</a:t>
            </a:r>
            <a:r>
              <a:rPr lang="en-US" altLang="zh-CN" sz="2400" b="1">
                <a:solidFill>
                  <a:srgbClr val="800000"/>
                </a:solidFill>
              </a:rPr>
              <a:t>O(n</a:t>
            </a:r>
            <a:r>
              <a:rPr lang="en-US" altLang="zh-CN" sz="2400" b="1" baseline="30000">
                <a:solidFill>
                  <a:srgbClr val="800000"/>
                </a:solidFill>
              </a:rPr>
              <a:t>3</a:t>
            </a:r>
            <a:r>
              <a:rPr lang="en-US" altLang="zh-CN" sz="2400" b="1">
                <a:solidFill>
                  <a:srgbClr val="800000"/>
                </a:solidFill>
              </a:rPr>
              <a:t>)</a:t>
            </a:r>
            <a:r>
              <a:rPr lang="zh-CN" altLang="en-US" sz="2400" b="1">
                <a:solidFill>
                  <a:srgbClr val="800000"/>
                </a:solidFill>
              </a:rPr>
              <a:t>，空间复杂度为</a:t>
            </a:r>
            <a:r>
              <a:rPr lang="en-US" altLang="zh-CN" sz="2400" b="1">
                <a:solidFill>
                  <a:srgbClr val="800000"/>
                </a:solidFill>
              </a:rPr>
              <a:t>O(n</a:t>
            </a:r>
            <a:r>
              <a:rPr lang="en-US" altLang="zh-CN" sz="2400" b="1" baseline="30000">
                <a:solidFill>
                  <a:srgbClr val="800000"/>
                </a:solidFill>
              </a:rPr>
              <a:t>2</a:t>
            </a:r>
            <a:r>
              <a:rPr lang="en-US" altLang="zh-CN" sz="2400" b="1">
                <a:solidFill>
                  <a:srgbClr val="800000"/>
                </a:solidFill>
              </a:rPr>
              <a:t>)</a:t>
            </a:r>
            <a:r>
              <a:rPr lang="zh-CN" altLang="en-US" sz="2400" b="1">
                <a:solidFill>
                  <a:srgbClr val="800000"/>
                </a:solidFill>
              </a:rPr>
              <a:t>。</a:t>
            </a:r>
            <a:endParaRPr lang="zh-CN" altLang="en-US" sz="2400" b="1">
              <a:solidFill>
                <a:srgbClr val="800000"/>
              </a:solidFill>
            </a:endParaRP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ChangeArrowheads="1"/>
          </p:cNvSpPr>
          <p:nvPr/>
        </p:nvSpPr>
        <p:spPr bwMode="auto">
          <a:xfrm>
            <a:off x="1331913" y="188913"/>
            <a:ext cx="5634037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en-US" altLang="zh-CN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5. </a:t>
            </a:r>
            <a:r>
              <a:rPr lang="zh-CN" altLang="en-US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构造最优三角剖分</a:t>
            </a:r>
            <a:endParaRPr lang="ja-JP" altLang="en-US" sz="31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971550" y="1052513"/>
            <a:ext cx="7561263" cy="470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solidFill>
                  <a:srgbClr val="3333FF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/*</a:t>
            </a:r>
            <a:r>
              <a:rPr lang="zh-CN" altLang="en-US" sz="2800" b="1">
                <a:solidFill>
                  <a:srgbClr val="3333FF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按算法计算出的信息</a:t>
            </a:r>
            <a:r>
              <a:rPr lang="en-US" altLang="zh-CN" sz="2800" b="1">
                <a:solidFill>
                  <a:srgbClr val="3333FF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s</a:t>
            </a:r>
            <a:r>
              <a:rPr lang="zh-CN" altLang="en-US" sz="2800" b="1">
                <a:solidFill>
                  <a:srgbClr val="3333FF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指示的</a:t>
            </a:r>
            <a:r>
              <a:rPr lang="zh-CN" altLang="en-US" sz="2800" b="1">
                <a:solidFill>
                  <a:srgbClr val="3333FF"/>
                </a:solidFill>
              </a:rPr>
              <a:t>△第</a:t>
            </a:r>
            <a:r>
              <a:rPr lang="en-US" altLang="zh-CN" sz="2800" b="1">
                <a:solidFill>
                  <a:srgbClr val="3333FF"/>
                </a:solidFill>
              </a:rPr>
              <a:t>3</a:t>
            </a:r>
            <a:r>
              <a:rPr lang="zh-CN" altLang="en-US" sz="2800" b="1">
                <a:solidFill>
                  <a:srgbClr val="3333FF"/>
                </a:solidFill>
              </a:rPr>
              <a:t>个顶点的</a:t>
            </a:r>
            <a:endParaRPr lang="zh-CN" altLang="en-US" sz="2800" b="1">
              <a:solidFill>
                <a:srgbClr val="3333FF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3333FF"/>
                </a:solidFill>
              </a:rPr>
              <a:t>   位置，</a:t>
            </a:r>
            <a:r>
              <a:rPr lang="zh-CN" altLang="en-US" sz="2800" b="1">
                <a:solidFill>
                  <a:srgbClr val="3333FF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输出最优三角剖分中的所有</a:t>
            </a:r>
            <a:r>
              <a:rPr lang="zh-CN" altLang="en-US" sz="2800" b="1">
                <a:solidFill>
                  <a:srgbClr val="3333FF"/>
                </a:solidFill>
              </a:rPr>
              <a:t>△</a:t>
            </a:r>
            <a:r>
              <a:rPr lang="zh-CN" altLang="en-US">
                <a:solidFill>
                  <a:srgbClr val="3333FF"/>
                </a:solidFill>
              </a:rPr>
              <a:t> </a:t>
            </a:r>
            <a:r>
              <a:rPr lang="zh-CN" altLang="en-US" sz="2800" b="1">
                <a:solidFill>
                  <a:srgbClr val="3333FF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*</a:t>
            </a:r>
            <a:r>
              <a:rPr lang="en-US" altLang="zh-CN" sz="2800" b="1">
                <a:solidFill>
                  <a:srgbClr val="3333FF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/</a:t>
            </a:r>
            <a:endParaRPr lang="en-US" altLang="zh-CN" sz="2800" b="1">
              <a:solidFill>
                <a:srgbClr val="3333FF"/>
              </a:solidFill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void Traceback(int i, int j) {</a:t>
            </a:r>
            <a:endParaRPr lang="en-US" altLang="zh-CN" sz="2800" b="1"/>
          </a:p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	if (i==j) return;</a:t>
            </a:r>
            <a:endParaRPr lang="en-US" altLang="zh-CN" sz="2800" b="1"/>
          </a:p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	Traceback(i, s[i][j]);</a:t>
            </a:r>
            <a:endParaRPr lang="en-US" altLang="zh-CN" sz="2800" b="1"/>
          </a:p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	cout&lt;&lt;"△A"&lt;&lt;i&lt;&lt;"-A"&lt;&lt;s[i][j]+1;</a:t>
            </a:r>
            <a:endParaRPr lang="en-US" altLang="zh-CN" sz="2800" b="1"/>
          </a:p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	cout&lt;&lt;"-A"&lt;&lt;j+1&lt;&lt;endl;</a:t>
            </a:r>
            <a:endParaRPr lang="en-US" altLang="zh-CN" sz="2800" b="1"/>
          </a:p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	Traceback(s[i][j]+1, j);</a:t>
            </a:r>
            <a:endParaRPr lang="en-US" altLang="zh-CN" sz="2800" b="1"/>
          </a:p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}</a:t>
            </a:r>
            <a:endParaRPr lang="en-US" altLang="zh-CN" sz="2800" b="1"/>
          </a:p>
        </p:txBody>
      </p:sp>
      <p:sp>
        <p:nvSpPr>
          <p:cNvPr id="32773" name="Text Box 5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8243888" y="5910263"/>
            <a:ext cx="2159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000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</a:t>
            </a:r>
            <a:endParaRPr lang="en-US" altLang="zh-CN" sz="10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205038"/>
            <a:ext cx="8351837" cy="1295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530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多边形游戏问题</a:t>
            </a:r>
            <a:endParaRPr lang="zh-CN" altLang="en-US" sz="5300" smtClean="0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ChangeArrowheads="1"/>
          </p:cNvSpPr>
          <p:nvPr/>
        </p:nvSpPr>
        <p:spPr bwMode="auto">
          <a:xfrm>
            <a:off x="611188" y="260350"/>
            <a:ext cx="7345362" cy="5762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多边形游戏问题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611188" y="1014413"/>
            <a:ext cx="7991475" cy="491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1" lang="zh-CN" altLang="en-US" sz="2400" b="1">
                <a:ea typeface="新宋体" panose="02010609030101010101" charset="-122"/>
              </a:rPr>
              <a:t>多边形游戏是一个单人玩的游戏，开始时有一个由</a:t>
            </a:r>
            <a:r>
              <a:rPr kumimoji="1" lang="en-US" altLang="zh-CN" sz="2400" b="1">
                <a:ea typeface="新宋体" panose="02010609030101010101" charset="-122"/>
              </a:rPr>
              <a:t>n</a:t>
            </a:r>
            <a:r>
              <a:rPr kumimoji="1" lang="zh-CN" altLang="en-US" sz="2400" b="1">
                <a:ea typeface="新宋体" panose="02010609030101010101" charset="-122"/>
              </a:rPr>
              <a:t>个顶点构成的多边形。每个顶点被赋予一个整数值，每条边被赋予一个运算符“</a:t>
            </a:r>
            <a:r>
              <a:rPr kumimoji="1" lang="en-US" altLang="zh-CN" sz="2400" b="1">
                <a:ea typeface="新宋体" panose="02010609030101010101" charset="-122"/>
              </a:rPr>
              <a:t>+”</a:t>
            </a:r>
            <a:r>
              <a:rPr kumimoji="1" lang="zh-CN" altLang="en-US" sz="2400" b="1">
                <a:ea typeface="新宋体" panose="02010609030101010101" charset="-122"/>
              </a:rPr>
              <a:t>或“*”。所有边依次用整数从</a:t>
            </a:r>
            <a:r>
              <a:rPr kumimoji="1" lang="en-US" altLang="zh-CN" sz="2400" b="1">
                <a:ea typeface="新宋体" panose="02010609030101010101" charset="-122"/>
              </a:rPr>
              <a:t>1</a:t>
            </a:r>
            <a:r>
              <a:rPr kumimoji="1" lang="zh-CN" altLang="en-US" sz="2400" b="1">
                <a:ea typeface="新宋体" panose="02010609030101010101" charset="-122"/>
              </a:rPr>
              <a:t>到</a:t>
            </a:r>
            <a:r>
              <a:rPr kumimoji="1" lang="en-US" altLang="zh-CN" sz="2400" b="1">
                <a:ea typeface="新宋体" panose="02010609030101010101" charset="-122"/>
              </a:rPr>
              <a:t>n</a:t>
            </a:r>
            <a:r>
              <a:rPr kumimoji="1" lang="zh-CN" altLang="en-US" sz="2400" b="1">
                <a:ea typeface="新宋体" panose="02010609030101010101" charset="-122"/>
              </a:rPr>
              <a:t>编号</a:t>
            </a:r>
            <a:r>
              <a:rPr kumimoji="1" lang="en-US" altLang="zh-CN" sz="2400" b="1">
                <a:ea typeface="新宋体" panose="02010609030101010101" charset="-122"/>
              </a:rPr>
              <a:t>.</a:t>
            </a:r>
            <a:endParaRPr kumimoji="1" lang="en-US" altLang="zh-CN" sz="2400" b="1">
              <a:ea typeface="新宋体" panose="02010609030101010101" charset="-122"/>
            </a:endParaRP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400" b="1">
                <a:solidFill>
                  <a:srgbClr val="008000"/>
                </a:solidFill>
                <a:ea typeface="新宋体" panose="02010609030101010101" charset="-122"/>
              </a:rPr>
              <a:t>游戏第</a:t>
            </a:r>
            <a:r>
              <a:rPr kumimoji="1" lang="en-US" altLang="zh-CN" sz="2400" b="1">
                <a:solidFill>
                  <a:srgbClr val="008000"/>
                </a:solidFill>
                <a:ea typeface="新宋体" panose="02010609030101010101" charset="-122"/>
              </a:rPr>
              <a:t>1</a:t>
            </a:r>
            <a:r>
              <a:rPr kumimoji="1" lang="zh-CN" altLang="en-US" sz="2400" b="1">
                <a:solidFill>
                  <a:srgbClr val="008000"/>
                </a:solidFill>
                <a:ea typeface="新宋体" panose="02010609030101010101" charset="-122"/>
              </a:rPr>
              <a:t>步，</a:t>
            </a:r>
            <a:r>
              <a:rPr kumimoji="1" lang="zh-CN" altLang="en-US" sz="2400" b="1">
                <a:ea typeface="新宋体" panose="02010609030101010101" charset="-122"/>
              </a:rPr>
              <a:t>将一条边删除。</a:t>
            </a:r>
            <a:endParaRPr kumimoji="1" lang="zh-CN" altLang="en-US" sz="2400" b="1">
              <a:ea typeface="新宋体" panose="02010609030101010101" charset="-122"/>
            </a:endParaRP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400" b="1">
                <a:solidFill>
                  <a:srgbClr val="008000"/>
                </a:solidFill>
                <a:ea typeface="新宋体" panose="02010609030101010101" charset="-122"/>
              </a:rPr>
              <a:t>随后</a:t>
            </a:r>
            <a:r>
              <a:rPr kumimoji="1" lang="en-US" altLang="zh-CN" sz="2400" b="1">
                <a:solidFill>
                  <a:srgbClr val="008000"/>
                </a:solidFill>
                <a:ea typeface="新宋体" panose="02010609030101010101" charset="-122"/>
              </a:rPr>
              <a:t>n-1</a:t>
            </a:r>
            <a:r>
              <a:rPr kumimoji="1" lang="zh-CN" altLang="en-US" sz="2400" b="1">
                <a:solidFill>
                  <a:srgbClr val="008000"/>
                </a:solidFill>
                <a:ea typeface="新宋体" panose="02010609030101010101" charset="-122"/>
              </a:rPr>
              <a:t>步</a:t>
            </a:r>
            <a:r>
              <a:rPr kumimoji="1" lang="zh-CN" altLang="en-US" sz="2400" b="1">
                <a:ea typeface="新宋体" panose="02010609030101010101" charset="-122"/>
              </a:rPr>
              <a:t>按以下方式操作：</a:t>
            </a:r>
            <a:endParaRPr kumimoji="1" lang="zh-CN" altLang="en-US" sz="2400" b="1">
              <a:ea typeface="新宋体" panose="02010609030101010101" charset="-122"/>
            </a:endParaRP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(1)</a:t>
            </a:r>
            <a:r>
              <a:rPr kumimoji="1"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选择一条边</a:t>
            </a:r>
            <a:r>
              <a:rPr kumimoji="1"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E</a:t>
            </a:r>
            <a:r>
              <a:rPr kumimoji="1"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以及由</a:t>
            </a:r>
            <a:r>
              <a:rPr kumimoji="1"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E</a:t>
            </a:r>
            <a:r>
              <a:rPr kumimoji="1"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连接着的</a:t>
            </a:r>
            <a:r>
              <a:rPr kumimoji="1"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kumimoji="1"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个顶点</a:t>
            </a:r>
            <a:r>
              <a:rPr kumimoji="1"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V1</a:t>
            </a:r>
            <a:r>
              <a:rPr kumimoji="1"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和</a:t>
            </a:r>
            <a:r>
              <a:rPr kumimoji="1"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V2;</a:t>
            </a:r>
            <a:endParaRPr kumimoji="1" lang="en-US" altLang="zh-CN" sz="2400" b="1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(2)</a:t>
            </a:r>
            <a:r>
              <a:rPr kumimoji="1"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用一个新的顶点取代边</a:t>
            </a:r>
            <a:r>
              <a:rPr kumimoji="1"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E</a:t>
            </a:r>
            <a:r>
              <a:rPr kumimoji="1"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以及由</a:t>
            </a:r>
            <a:r>
              <a:rPr kumimoji="1"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E</a:t>
            </a:r>
            <a:r>
              <a:rPr kumimoji="1"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连接着的</a:t>
            </a:r>
            <a:r>
              <a:rPr kumimoji="1"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kumimoji="1"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个顶点</a:t>
            </a:r>
            <a:r>
              <a:rPr kumimoji="1"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V1</a:t>
            </a:r>
            <a:r>
              <a:rPr kumimoji="1"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和</a:t>
            </a:r>
            <a:r>
              <a:rPr kumimoji="1"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V2</a:t>
            </a:r>
            <a:r>
              <a:rPr kumimoji="1"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。将由顶点</a:t>
            </a:r>
            <a:r>
              <a:rPr kumimoji="1"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V1</a:t>
            </a:r>
            <a:r>
              <a:rPr kumimoji="1"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和</a:t>
            </a:r>
            <a:r>
              <a:rPr kumimoji="1"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V2</a:t>
            </a:r>
            <a:r>
              <a:rPr kumimoji="1"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的整数值通过边</a:t>
            </a:r>
            <a:r>
              <a:rPr kumimoji="1"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E</a:t>
            </a:r>
            <a:r>
              <a:rPr kumimoji="1"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上的运算得到的结果赋予新顶点。</a:t>
            </a:r>
            <a:endParaRPr kumimoji="1" lang="zh-CN" altLang="en-US" sz="2400" b="1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400" b="1">
                <a:solidFill>
                  <a:srgbClr val="008000"/>
                </a:solidFill>
                <a:ea typeface="新宋体" panose="02010609030101010101" charset="-122"/>
              </a:rPr>
              <a:t>最后，</a:t>
            </a:r>
            <a:r>
              <a:rPr kumimoji="1" lang="zh-CN" altLang="en-US" sz="2400" b="1">
                <a:ea typeface="新宋体" panose="02010609030101010101" charset="-122"/>
              </a:rPr>
              <a:t>所有边都被删除，游戏结束。</a:t>
            </a:r>
            <a:endParaRPr kumimoji="1" lang="zh-CN" altLang="en-US" sz="2400" b="1">
              <a:ea typeface="新宋体" panose="02010609030101010101" charset="-122"/>
            </a:endParaRP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400" b="1">
                <a:ea typeface="新宋体" panose="02010609030101010101" charset="-122"/>
              </a:rPr>
              <a:t>游戏的得分就是所剩顶点上的整数值。</a:t>
            </a:r>
            <a:endParaRPr kumimoji="1" lang="zh-CN" altLang="en-US" sz="2400" b="1">
              <a:ea typeface="新宋体" panose="02010609030101010101" charset="-122"/>
            </a:endParaRP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400" b="1">
                <a:solidFill>
                  <a:srgbClr val="8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问题</a:t>
            </a:r>
            <a:r>
              <a:rPr kumimoji="1" lang="en-US" altLang="zh-CN" sz="2400" b="1">
                <a:solidFill>
                  <a:srgbClr val="8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:</a:t>
            </a:r>
            <a:r>
              <a:rPr kumimoji="1"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kumimoji="1"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对于给定的多边形，计算最高得分。</a:t>
            </a:r>
            <a:endParaRPr kumimoji="1" lang="zh-CN" altLang="en-US" sz="2400" b="1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ChangeArrowheads="1"/>
          </p:cNvSpPr>
          <p:nvPr/>
        </p:nvSpPr>
        <p:spPr bwMode="auto">
          <a:xfrm>
            <a:off x="611188" y="260350"/>
            <a:ext cx="7345362" cy="647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1. 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最优子结构性质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755650" y="1289050"/>
            <a:ext cx="7632700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chemeClr val="accent2"/>
              </a:buClr>
              <a:buFontTx/>
              <a:buChar char="•"/>
            </a:pP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  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设多边形的顶点和边的顺时针的序列为</a:t>
            </a:r>
            <a:endParaRPr lang="zh-CN" altLang="en-US" sz="2800" b="1"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eaLnBrk="1" hangingPunct="1">
              <a:lnSpc>
                <a:spcPct val="130000"/>
              </a:lnSpc>
              <a:buClr>
                <a:schemeClr val="accent2"/>
              </a:buClr>
            </a:pP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   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op[1], v[1], op[2], v[2], …, op[n], v[n]</a:t>
            </a:r>
            <a:endParaRPr lang="en-US" altLang="zh-CN" sz="2800" b="1"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eaLnBrk="1" hangingPunct="1">
              <a:lnSpc>
                <a:spcPct val="130000"/>
              </a:lnSpc>
              <a:buClr>
                <a:schemeClr val="accent2"/>
              </a:buClr>
              <a:buFontTx/>
              <a:buChar char="•"/>
            </a:pP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  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在所给多边形中，从顶点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i(1≤i≤n)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开始，长度为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j(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链中有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j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个顶点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)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的顺时针链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p(i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j) 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可表示为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v[i], op[i+1], …, v[i+j-1]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。</a:t>
            </a:r>
            <a:endParaRPr lang="zh-CN" altLang="en-US" sz="2800" b="1"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eaLnBrk="1" hangingPunct="1">
              <a:lnSpc>
                <a:spcPct val="130000"/>
              </a:lnSpc>
              <a:buClr>
                <a:schemeClr val="accent2"/>
              </a:buClr>
              <a:buFontTx/>
              <a:buChar char="•"/>
            </a:pP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  如果这条链的最后一次合并运算在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op[i+s]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处发生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(1≤s≤j-1)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，则可在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op[i+s]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处将链分割为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个子链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p(i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s)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和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p(i+s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j-s)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。</a:t>
            </a:r>
            <a:endParaRPr lang="zh-CN" altLang="en-US" sz="2800" b="1"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47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1. 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最优子结构性质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684213" y="908050"/>
            <a:ext cx="7704137" cy="526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Clr>
                <a:schemeClr val="accent2"/>
              </a:buClr>
              <a:buFontTx/>
              <a:buChar char="•"/>
            </a:pPr>
            <a:r>
              <a:rPr lang="en-US" altLang="zh-CN" sz="2800" b="1">
                <a:ea typeface="新宋体" panose="02010609030101010101" charset="-122"/>
              </a:rPr>
              <a:t>  </a:t>
            </a:r>
            <a:r>
              <a:rPr lang="zh-CN" altLang="en-US" sz="2800" b="1">
                <a:ea typeface="新宋体" panose="02010609030101010101" charset="-122"/>
              </a:rPr>
              <a:t>设</a:t>
            </a:r>
            <a:r>
              <a:rPr lang="en-US" altLang="zh-CN" sz="2800" b="1">
                <a:ea typeface="新宋体" panose="02010609030101010101" charset="-122"/>
              </a:rPr>
              <a:t>m1</a:t>
            </a:r>
            <a:r>
              <a:rPr lang="zh-CN" altLang="en-US" sz="2800" b="1">
                <a:ea typeface="新宋体" panose="02010609030101010101" charset="-122"/>
              </a:rPr>
              <a:t>是对子链</a:t>
            </a:r>
            <a:r>
              <a:rPr lang="en-US" altLang="zh-CN" sz="2800" b="1">
                <a:ea typeface="新宋体" panose="02010609030101010101" charset="-122"/>
              </a:rPr>
              <a:t>p(i</a:t>
            </a:r>
            <a:r>
              <a:rPr lang="zh-CN" altLang="en-US" sz="2800" b="1">
                <a:ea typeface="新宋体" panose="02010609030101010101" charset="-122"/>
              </a:rPr>
              <a:t>，</a:t>
            </a:r>
            <a:r>
              <a:rPr lang="en-US" altLang="zh-CN" sz="2800" b="1">
                <a:ea typeface="新宋体" panose="02010609030101010101" charset="-122"/>
              </a:rPr>
              <a:t>s)</a:t>
            </a:r>
            <a:r>
              <a:rPr lang="zh-CN" altLang="en-US" sz="2800" b="1">
                <a:ea typeface="新宋体" panose="02010609030101010101" charset="-122"/>
              </a:rPr>
              <a:t>的任意一种合并方式得到的值，而</a:t>
            </a:r>
            <a:r>
              <a:rPr lang="en-US" altLang="zh-CN" sz="2800" b="1">
                <a:ea typeface="新宋体" panose="02010609030101010101" charset="-122"/>
              </a:rPr>
              <a:t>a</a:t>
            </a:r>
            <a:r>
              <a:rPr lang="zh-CN" altLang="en-US" sz="2800" b="1">
                <a:ea typeface="新宋体" panose="02010609030101010101" charset="-122"/>
              </a:rPr>
              <a:t>和</a:t>
            </a:r>
            <a:r>
              <a:rPr lang="en-US" altLang="zh-CN" sz="2800" b="1">
                <a:ea typeface="新宋体" panose="02010609030101010101" charset="-122"/>
              </a:rPr>
              <a:t>b</a:t>
            </a:r>
            <a:r>
              <a:rPr lang="zh-CN" altLang="en-US" sz="2800" b="1">
                <a:ea typeface="新宋体" panose="02010609030101010101" charset="-122"/>
              </a:rPr>
              <a:t>分别是在所有可能的合并中得到的最小值和最大值。</a:t>
            </a:r>
            <a:r>
              <a:rPr lang="en-US" altLang="zh-CN" sz="2800" b="1">
                <a:ea typeface="新宋体" panose="02010609030101010101" charset="-122"/>
              </a:rPr>
              <a:t>m2</a:t>
            </a:r>
            <a:r>
              <a:rPr lang="zh-CN" altLang="en-US" sz="2800" b="1">
                <a:ea typeface="新宋体" panose="02010609030101010101" charset="-122"/>
              </a:rPr>
              <a:t>是</a:t>
            </a:r>
            <a:r>
              <a:rPr lang="en-US" altLang="zh-CN" sz="2800" b="1">
                <a:ea typeface="新宋体" panose="02010609030101010101" charset="-122"/>
              </a:rPr>
              <a:t>p(i+s</a:t>
            </a:r>
            <a:r>
              <a:rPr lang="zh-CN" altLang="en-US" sz="2800" b="1">
                <a:ea typeface="新宋体" panose="02010609030101010101" charset="-122"/>
              </a:rPr>
              <a:t>，</a:t>
            </a:r>
            <a:r>
              <a:rPr lang="en-US" altLang="zh-CN" sz="2800" b="1">
                <a:ea typeface="新宋体" panose="02010609030101010101" charset="-122"/>
              </a:rPr>
              <a:t>j-s)</a:t>
            </a:r>
            <a:r>
              <a:rPr lang="zh-CN" altLang="en-US" sz="2800" b="1">
                <a:ea typeface="新宋体" panose="02010609030101010101" charset="-122"/>
              </a:rPr>
              <a:t>的任意一种合并方式得到的值，而</a:t>
            </a:r>
            <a:r>
              <a:rPr lang="en-US" altLang="zh-CN" sz="2800" b="1">
                <a:ea typeface="新宋体" panose="02010609030101010101" charset="-122"/>
              </a:rPr>
              <a:t>c</a:t>
            </a:r>
            <a:r>
              <a:rPr lang="zh-CN" altLang="en-US" sz="2800" b="1">
                <a:ea typeface="新宋体" panose="02010609030101010101" charset="-122"/>
              </a:rPr>
              <a:t>和</a:t>
            </a:r>
            <a:r>
              <a:rPr lang="en-US" altLang="zh-CN" sz="2800" b="1">
                <a:ea typeface="新宋体" panose="02010609030101010101" charset="-122"/>
              </a:rPr>
              <a:t>d</a:t>
            </a:r>
            <a:r>
              <a:rPr lang="zh-CN" altLang="en-US" sz="2800" b="1">
                <a:ea typeface="新宋体" panose="02010609030101010101" charset="-122"/>
              </a:rPr>
              <a:t>分别是在所有可能的合并中得到的最小值和最大值。</a:t>
            </a:r>
            <a:endParaRPr lang="zh-CN" altLang="en-US" sz="2800" b="1">
              <a:ea typeface="新宋体" panose="02010609030101010101" charset="-122"/>
            </a:endParaRPr>
          </a:p>
          <a:p>
            <a:pPr eaLnBrk="1" hangingPunct="1">
              <a:lnSpc>
                <a:spcPct val="110000"/>
              </a:lnSpc>
              <a:buClr>
                <a:schemeClr val="accent2"/>
              </a:buClr>
            </a:pPr>
            <a:r>
              <a:rPr lang="zh-CN" altLang="en-US" sz="2800" b="1">
                <a:ea typeface="新宋体" panose="02010609030101010101" charset="-122"/>
              </a:rPr>
              <a:t>依此定义有</a:t>
            </a:r>
            <a:r>
              <a:rPr lang="en-US" altLang="zh-CN" sz="2800" b="1">
                <a:ea typeface="新宋体" panose="02010609030101010101" charset="-122"/>
              </a:rPr>
              <a:t>a≤m1≤b</a:t>
            </a:r>
            <a:r>
              <a:rPr lang="zh-CN" altLang="en-US" sz="2800" b="1">
                <a:ea typeface="新宋体" panose="02010609030101010101" charset="-122"/>
              </a:rPr>
              <a:t>，</a:t>
            </a:r>
            <a:r>
              <a:rPr lang="en-US" altLang="zh-CN" sz="2800" b="1">
                <a:ea typeface="新宋体" panose="02010609030101010101" charset="-122"/>
              </a:rPr>
              <a:t>c≤m2≤d</a:t>
            </a:r>
            <a:endParaRPr lang="en-US" altLang="zh-CN" sz="2800" b="1">
              <a:ea typeface="新宋体" panose="02010609030101010101" charset="-122"/>
            </a:endParaRPr>
          </a:p>
          <a:p>
            <a:pPr eaLnBrk="1" hangingPunct="1">
              <a:lnSpc>
                <a:spcPct val="110000"/>
              </a:lnSpc>
              <a:buClr>
                <a:schemeClr val="accent2"/>
              </a:buClr>
            </a:pPr>
            <a:r>
              <a:rPr lang="en-US" altLang="zh-CN" sz="2800" b="1">
                <a:ea typeface="新宋体" panose="02010609030101010101" charset="-122"/>
              </a:rPr>
              <a:t>(1)</a:t>
            </a:r>
            <a:r>
              <a:rPr lang="zh-CN" altLang="en-US" sz="2800" b="1">
                <a:ea typeface="新宋体" panose="02010609030101010101" charset="-122"/>
              </a:rPr>
              <a:t>当</a:t>
            </a:r>
            <a:r>
              <a:rPr lang="en-US" altLang="zh-CN" sz="2800" b="1">
                <a:ea typeface="新宋体" panose="02010609030101010101" charset="-122"/>
              </a:rPr>
              <a:t>op[i+s]='+'</a:t>
            </a:r>
            <a:r>
              <a:rPr lang="zh-CN" altLang="en-US" sz="2800" b="1">
                <a:ea typeface="新宋体" panose="02010609030101010101" charset="-122"/>
              </a:rPr>
              <a:t>时，显然有</a:t>
            </a:r>
            <a:r>
              <a:rPr lang="en-US" altLang="zh-CN" sz="2800" b="1">
                <a:ea typeface="新宋体" panose="02010609030101010101" charset="-122"/>
              </a:rPr>
              <a:t>a+c≤m≤b+d</a:t>
            </a:r>
            <a:endParaRPr lang="en-US" altLang="zh-CN" sz="2800" b="1">
              <a:ea typeface="新宋体" panose="02010609030101010101" charset="-122"/>
            </a:endParaRPr>
          </a:p>
          <a:p>
            <a:pPr eaLnBrk="1" hangingPunct="1">
              <a:lnSpc>
                <a:spcPct val="110000"/>
              </a:lnSpc>
              <a:buClr>
                <a:schemeClr val="accent2"/>
              </a:buClr>
            </a:pPr>
            <a:r>
              <a:rPr lang="en-US" altLang="zh-CN" sz="2800" b="1">
                <a:ea typeface="新宋体" panose="02010609030101010101" charset="-122"/>
              </a:rPr>
              <a:t>(2)</a:t>
            </a:r>
            <a:r>
              <a:rPr lang="zh-CN" altLang="en-US" sz="2800" b="1">
                <a:ea typeface="新宋体" panose="02010609030101010101" charset="-122"/>
              </a:rPr>
              <a:t>当</a:t>
            </a:r>
            <a:r>
              <a:rPr lang="en-US" altLang="zh-CN" sz="2800" b="1">
                <a:ea typeface="新宋体" panose="02010609030101010101" charset="-122"/>
              </a:rPr>
              <a:t>op[i+s]='*'</a:t>
            </a:r>
            <a:r>
              <a:rPr lang="zh-CN" altLang="en-US" sz="2800" b="1">
                <a:ea typeface="新宋体" panose="02010609030101010101" charset="-122"/>
              </a:rPr>
              <a:t>时，有</a:t>
            </a:r>
            <a:r>
              <a:rPr lang="en-US" altLang="zh-CN" sz="2800" b="1">
                <a:ea typeface="新宋体" panose="02010609030101010101" charset="-122"/>
              </a:rPr>
              <a:t>min{ac, ad, bc, bd}≤m ≤max{ac, ad, bc, bd}</a:t>
            </a:r>
            <a:endParaRPr lang="en-US" altLang="zh-CN" sz="2800" b="1">
              <a:ea typeface="新宋体" panose="02010609030101010101" charset="-122"/>
            </a:endParaRPr>
          </a:p>
          <a:p>
            <a:pPr eaLnBrk="1" hangingPunct="1">
              <a:lnSpc>
                <a:spcPct val="110000"/>
              </a:lnSpc>
              <a:buClr>
                <a:schemeClr val="accent2"/>
              </a:buClr>
              <a:buFontTx/>
              <a:buChar char="•"/>
            </a:pPr>
            <a:r>
              <a:rPr lang="en-US" altLang="zh-CN" sz="2800" b="1">
                <a:ea typeface="黑体" panose="02010609060101010101" pitchFamily="2" charset="-122"/>
              </a:rPr>
              <a:t>  </a:t>
            </a:r>
            <a:r>
              <a:rPr lang="zh-CN" altLang="en-US" sz="2800" b="1">
                <a:solidFill>
                  <a:srgbClr val="008000"/>
                </a:solidFill>
                <a:ea typeface="黑体" panose="02010609060101010101" pitchFamily="2" charset="-122"/>
              </a:rPr>
              <a:t>换句话说，</a:t>
            </a:r>
            <a:r>
              <a:rPr lang="zh-CN" altLang="en-US" sz="2800" b="1">
                <a:ea typeface="黑体" panose="02010609060101010101" pitchFamily="2" charset="-122"/>
              </a:rPr>
              <a:t>主链的最大值和最小值可由子链的最大值和最小值得到</a:t>
            </a:r>
            <a:r>
              <a:rPr lang="en-US" altLang="zh-CN" sz="2800" b="1">
                <a:solidFill>
                  <a:srgbClr val="3333FF"/>
                </a:solidFill>
                <a:ea typeface="黑体" panose="02010609060101010101" pitchFamily="2" charset="-122"/>
              </a:rPr>
              <a:t>——</a:t>
            </a:r>
            <a:r>
              <a:rPr lang="zh-CN" altLang="en-US" sz="2800" b="1">
                <a:solidFill>
                  <a:srgbClr val="3333FF"/>
                </a:solidFill>
                <a:ea typeface="黑体" panose="02010609060101010101" pitchFamily="2" charset="-122"/>
              </a:rPr>
              <a:t>满足最优子结构性质</a:t>
            </a:r>
            <a:r>
              <a:rPr lang="zh-CN" altLang="en-US" sz="2800" b="1">
                <a:ea typeface="黑体" panose="02010609060101010101" pitchFamily="2" charset="-122"/>
              </a:rPr>
              <a:t>。</a:t>
            </a:r>
            <a:endParaRPr lang="zh-CN" altLang="en-US" sz="2400"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2. 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多边形游戏的递归求解</a:t>
            </a:r>
            <a:endParaRPr lang="zh-CN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755650" y="1052513"/>
            <a:ext cx="7704138" cy="469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9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zh-CN" altLang="en-US" sz="2400" b="1"/>
              <a:t>为了求链合并的最大值，必须同时求子链合并的最大值和最小值。 </a:t>
            </a:r>
            <a:endParaRPr kumimoji="1" lang="zh-CN" altLang="en-US" sz="2400" b="1"/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2400" b="1"/>
              <a:t>设</a:t>
            </a:r>
            <a:r>
              <a:rPr kumimoji="1" lang="en-US" altLang="zh-CN" sz="2400" b="1"/>
              <a:t>m[i,j,0]</a:t>
            </a:r>
            <a:r>
              <a:rPr kumimoji="1" lang="zh-CN" altLang="en-US" sz="2400" b="1"/>
              <a:t>是链</a:t>
            </a:r>
            <a:r>
              <a:rPr kumimoji="1" lang="en-US" altLang="zh-CN" sz="2400" b="1"/>
              <a:t>p(i,j)</a:t>
            </a:r>
            <a:r>
              <a:rPr kumimoji="1" lang="zh-CN" altLang="en-US" sz="2400" b="1"/>
              <a:t>合并的最小值，</a:t>
            </a:r>
            <a:r>
              <a:rPr kumimoji="1" lang="en-US" altLang="zh-CN" sz="2400" b="1"/>
              <a:t>m[i,j,1]</a:t>
            </a:r>
            <a:r>
              <a:rPr kumimoji="1" lang="zh-CN" altLang="en-US" sz="2400" b="1"/>
              <a:t>是最大值。 </a:t>
            </a:r>
            <a:endParaRPr kumimoji="1" lang="zh-CN" altLang="en-US" sz="2400" b="1"/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2400" b="1"/>
              <a:t>又设最优合并在</a:t>
            </a:r>
            <a:r>
              <a:rPr kumimoji="1" lang="en-US" altLang="zh-CN" sz="2400" b="1"/>
              <a:t>op[i+s]</a:t>
            </a:r>
            <a:r>
              <a:rPr kumimoji="1" lang="zh-CN" altLang="en-US" sz="2400" b="1"/>
              <a:t>处将</a:t>
            </a:r>
            <a:r>
              <a:rPr kumimoji="1" lang="en-US" altLang="zh-CN" sz="2400" b="1"/>
              <a:t>p(i,j)</a:t>
            </a:r>
            <a:r>
              <a:rPr kumimoji="1" lang="zh-CN" altLang="en-US" sz="2400" b="1"/>
              <a:t>分为</a:t>
            </a:r>
            <a:r>
              <a:rPr kumimoji="1" lang="en-US" altLang="zh-CN" sz="2400" b="1"/>
              <a:t>2</a:t>
            </a:r>
            <a:r>
              <a:rPr kumimoji="1" lang="zh-CN" altLang="en-US" sz="2400" b="1"/>
              <a:t>个长度小于</a:t>
            </a:r>
            <a:r>
              <a:rPr kumimoji="1" lang="en-US" altLang="zh-CN" sz="2400" b="1"/>
              <a:t>j</a:t>
            </a:r>
            <a:r>
              <a:rPr kumimoji="1" lang="zh-CN" altLang="en-US" sz="2400" b="1"/>
              <a:t>的子链</a:t>
            </a:r>
            <a:r>
              <a:rPr kumimoji="1" lang="en-US" altLang="zh-CN" sz="2400" b="1"/>
              <a:t>p(i,i+s)</a:t>
            </a:r>
            <a:r>
              <a:rPr kumimoji="1" lang="zh-CN" altLang="en-US" sz="2400" b="1"/>
              <a:t>和</a:t>
            </a:r>
            <a:r>
              <a:rPr kumimoji="1" lang="en-US" altLang="zh-CN" sz="2400" b="1"/>
              <a:t>p(i+s,j-s)</a:t>
            </a:r>
            <a:r>
              <a:rPr kumimoji="1" lang="zh-CN" altLang="en-US" sz="2400" b="1"/>
              <a:t>，且从顶点</a:t>
            </a:r>
            <a:r>
              <a:rPr kumimoji="1" lang="en-US" altLang="zh-CN" sz="2400" b="1"/>
              <a:t>i</a:t>
            </a:r>
            <a:r>
              <a:rPr kumimoji="1" lang="zh-CN" altLang="en-US" sz="2400" b="1"/>
              <a:t>开始的长度小于</a:t>
            </a:r>
            <a:r>
              <a:rPr kumimoji="1" lang="en-US" altLang="zh-CN" sz="2400" b="1"/>
              <a:t>j</a:t>
            </a:r>
            <a:r>
              <a:rPr kumimoji="1" lang="zh-CN" altLang="en-US" sz="2400" b="1"/>
              <a:t>的子链的最大值和最小值均已计算出。</a:t>
            </a:r>
            <a:endParaRPr kumimoji="1" lang="zh-CN" altLang="en-US" sz="2400" b="1"/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2400" b="1"/>
              <a:t>为叙述方便，记 </a:t>
            </a:r>
            <a:r>
              <a:rPr kumimoji="1" lang="en-US" altLang="zh-CN" sz="2400" b="1"/>
              <a:t>a=m[i,i+s,0]</a:t>
            </a:r>
            <a:r>
              <a:rPr kumimoji="1" lang="zh-CN" altLang="en-US" sz="2400" b="1"/>
              <a:t>，</a:t>
            </a:r>
            <a:r>
              <a:rPr kumimoji="1" lang="en-US" altLang="zh-CN" sz="2400" b="1"/>
              <a:t>b=m[i,i+s,1]</a:t>
            </a:r>
            <a:r>
              <a:rPr kumimoji="1" lang="zh-CN" altLang="en-US" sz="2400" b="1"/>
              <a:t>，</a:t>
            </a:r>
            <a:r>
              <a:rPr kumimoji="1" lang="en-US" altLang="zh-CN" sz="2400" b="1"/>
              <a:t>c=m[i+s,j-s,0]</a:t>
            </a:r>
            <a:r>
              <a:rPr kumimoji="1" lang="zh-CN" altLang="en-US" sz="2400" b="1"/>
              <a:t>，</a:t>
            </a:r>
            <a:r>
              <a:rPr kumimoji="1" lang="en-US" altLang="zh-CN" sz="2400" b="1"/>
              <a:t>d=m[i+s,j-s,0]</a:t>
            </a:r>
            <a:endParaRPr kumimoji="1" lang="en-US" altLang="zh-CN" sz="2400" b="1"/>
          </a:p>
          <a:p>
            <a:pPr eaLnBrk="1" hangingPunct="1">
              <a:lnSpc>
                <a:spcPct val="140000"/>
              </a:lnSpc>
            </a:pPr>
            <a:r>
              <a:rPr kumimoji="1" lang="en-US" altLang="zh-CN" sz="2400" b="1"/>
              <a:t>(1)</a:t>
            </a:r>
            <a:r>
              <a:rPr kumimoji="1" lang="zh-CN" altLang="en-US" sz="2400" b="1"/>
              <a:t>当</a:t>
            </a:r>
            <a:r>
              <a:rPr kumimoji="1" lang="en-US" altLang="zh-CN" sz="2400" b="1"/>
              <a:t>op[i+s]=‘+’</a:t>
            </a:r>
            <a:r>
              <a:rPr kumimoji="1" lang="zh-CN" altLang="en-US" sz="2400" b="1"/>
              <a:t>时，</a:t>
            </a:r>
            <a:r>
              <a:rPr kumimoji="1" lang="en-US" altLang="zh-CN" sz="2400" b="1"/>
              <a:t>m[i,j,0]=a+c</a:t>
            </a:r>
            <a:r>
              <a:rPr kumimoji="1" lang="zh-CN" altLang="en-US" sz="2400" b="1"/>
              <a:t>，</a:t>
            </a:r>
            <a:r>
              <a:rPr kumimoji="1" lang="en-US" altLang="zh-CN" sz="2400" b="1"/>
              <a:t>m[i,j,1]=b+d </a:t>
            </a:r>
            <a:endParaRPr kumimoji="1" lang="en-US" altLang="zh-CN" sz="2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2. 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多边形游戏的递归求解</a:t>
            </a:r>
            <a:endParaRPr lang="zh-CN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684213" y="981075"/>
            <a:ext cx="7704137" cy="287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9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130000"/>
              </a:lnSpc>
            </a:pPr>
            <a:r>
              <a:rPr kumimoji="1" lang="en-US" altLang="zh-CN" sz="2800" b="1"/>
              <a:t>(2)</a:t>
            </a:r>
            <a:r>
              <a:rPr kumimoji="1" lang="zh-CN" altLang="en-US" sz="2800" b="1"/>
              <a:t>当</a:t>
            </a:r>
            <a:r>
              <a:rPr kumimoji="1" lang="en-US" altLang="zh-CN" sz="2800" b="1"/>
              <a:t>op[i+s]=‘*’</a:t>
            </a:r>
            <a:r>
              <a:rPr kumimoji="1" lang="zh-CN" altLang="en-US" sz="2800" b="1"/>
              <a:t>时，</a:t>
            </a:r>
            <a:endParaRPr kumimoji="1" lang="zh-CN" altLang="en-US" sz="2800" b="1"/>
          </a:p>
          <a:p>
            <a:pPr lvl="1" eaLnBrk="1" hangingPunct="1">
              <a:lnSpc>
                <a:spcPct val="130000"/>
              </a:lnSpc>
            </a:pPr>
            <a:r>
              <a:rPr kumimoji="1" lang="en-US" altLang="zh-CN" sz="2800" b="1"/>
              <a:t>m[i, j, 0]=min{ac, ad, bc, bd}</a:t>
            </a:r>
            <a:r>
              <a:rPr kumimoji="1" lang="zh-CN" altLang="en-US" sz="2800" b="1"/>
              <a:t>，</a:t>
            </a:r>
            <a:endParaRPr kumimoji="1" lang="zh-CN" altLang="en-US" sz="2800" b="1"/>
          </a:p>
          <a:p>
            <a:pPr lvl="1" eaLnBrk="1" hangingPunct="1">
              <a:lnSpc>
                <a:spcPct val="130000"/>
              </a:lnSpc>
            </a:pPr>
            <a:r>
              <a:rPr kumimoji="1" lang="en-US" altLang="zh-CN" sz="2800" b="1"/>
              <a:t>m[i, j,1]=max{ac, ad, bc, bd} </a:t>
            </a:r>
            <a:endParaRPr kumimoji="1" lang="en-US" altLang="zh-CN" sz="2800" b="1"/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800" b="1"/>
              <a:t>综合</a:t>
            </a:r>
            <a:r>
              <a:rPr kumimoji="1" lang="en-US" altLang="zh-CN" sz="2800" b="1"/>
              <a:t>(1)</a:t>
            </a:r>
            <a:r>
              <a:rPr kumimoji="1" lang="zh-CN" altLang="en-US" sz="2800" b="1"/>
              <a:t>和</a:t>
            </a:r>
            <a:r>
              <a:rPr kumimoji="1" lang="en-US" altLang="zh-CN" sz="2800" b="1"/>
              <a:t>(2)</a:t>
            </a:r>
            <a:r>
              <a:rPr kumimoji="1" lang="zh-CN" altLang="en-US" sz="2800" b="1"/>
              <a:t>，将</a:t>
            </a:r>
            <a:r>
              <a:rPr kumimoji="1" lang="en-US" altLang="zh-CN" sz="2800" b="1"/>
              <a:t>p(i, j)</a:t>
            </a:r>
            <a:r>
              <a:rPr kumimoji="1" lang="zh-CN" altLang="en-US" sz="2800" b="1"/>
              <a:t>在</a:t>
            </a:r>
            <a:r>
              <a:rPr kumimoji="1" lang="en-US" altLang="zh-CN" sz="2800" b="1"/>
              <a:t>op[i+s]</a:t>
            </a:r>
            <a:r>
              <a:rPr kumimoji="1" lang="zh-CN" altLang="en-US" sz="2800" b="1"/>
              <a:t>处断开的最大值为</a:t>
            </a:r>
            <a:r>
              <a:rPr kumimoji="1" lang="en-US" altLang="zh-CN" sz="2800" b="1"/>
              <a:t>maxf(i, j, s)</a:t>
            </a:r>
            <a:r>
              <a:rPr kumimoji="1" lang="zh-CN" altLang="en-US" sz="2800" b="1"/>
              <a:t>，最小值为</a:t>
            </a:r>
            <a:r>
              <a:rPr kumimoji="1" lang="en-US" altLang="zh-CN" sz="2800" b="1"/>
              <a:t>minf(i, j, s)</a:t>
            </a:r>
            <a:r>
              <a:rPr kumimoji="1" lang="zh-CN" altLang="en-US" sz="2800" b="1"/>
              <a:t>，则   </a:t>
            </a:r>
            <a:endParaRPr kumimoji="1" lang="zh-CN" altLang="en-US" sz="2800" b="1"/>
          </a:p>
        </p:txBody>
      </p:sp>
      <p:pic>
        <p:nvPicPr>
          <p:cNvPr id="38916" name="Picture 4" descr="xu031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933825"/>
            <a:ext cx="7129462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2. 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多边形游戏的递归求解</a:t>
            </a:r>
            <a:endParaRPr lang="zh-CN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755650" y="1230313"/>
            <a:ext cx="7559675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800" b="1"/>
              <a:t>由于最优断开位置</a:t>
            </a:r>
            <a:r>
              <a:rPr kumimoji="1" lang="en-US" altLang="zh-CN" sz="2800" b="1"/>
              <a:t>s</a:t>
            </a:r>
            <a:r>
              <a:rPr kumimoji="1" lang="zh-CN" altLang="en-US" sz="2800" b="1"/>
              <a:t>有</a:t>
            </a:r>
            <a:r>
              <a:rPr kumimoji="1" lang="en-US" altLang="zh-CN" sz="2800" b="1"/>
              <a:t>1≤s≤j-1</a:t>
            </a:r>
            <a:r>
              <a:rPr kumimoji="1" lang="zh-CN" altLang="en-US" sz="2800" b="1"/>
              <a:t>的</a:t>
            </a:r>
            <a:r>
              <a:rPr kumimoji="1" lang="en-US" altLang="zh-CN" sz="2800" b="1"/>
              <a:t>j-1</a:t>
            </a:r>
            <a:r>
              <a:rPr kumimoji="1" lang="zh-CN" altLang="en-US" sz="2800" b="1"/>
              <a:t>种情况，由此可知，</a:t>
            </a:r>
            <a:endParaRPr kumimoji="1" lang="zh-CN" altLang="en-US" sz="2800" b="1"/>
          </a:p>
          <a:p>
            <a:pPr eaLnBrk="1" hangingPunct="1">
              <a:lnSpc>
                <a:spcPct val="125000"/>
              </a:lnSpc>
            </a:pPr>
            <a:endParaRPr kumimoji="1" lang="zh-CN" altLang="en-US" sz="2800" b="1"/>
          </a:p>
          <a:p>
            <a:pPr eaLnBrk="1" hangingPunct="1">
              <a:lnSpc>
                <a:spcPct val="125000"/>
              </a:lnSpc>
            </a:pPr>
            <a:endParaRPr kumimoji="1" lang="zh-CN" altLang="en-US" sz="2800" b="1"/>
          </a:p>
          <a:p>
            <a:pPr eaLnBrk="1" hangingPunct="1">
              <a:lnSpc>
                <a:spcPct val="125000"/>
              </a:lnSpc>
            </a:pPr>
            <a:endParaRPr kumimoji="1" lang="zh-CN" altLang="en-US" sz="2800" b="1"/>
          </a:p>
          <a:p>
            <a:pPr eaLnBrk="1" hangingPunct="1">
              <a:lnSpc>
                <a:spcPct val="125000"/>
              </a:lnSpc>
            </a:pPr>
            <a:endParaRPr kumimoji="1" lang="zh-CN" altLang="en-US" sz="2800" b="1"/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2800" b="1"/>
              <a:t>初始边界值显然为</a:t>
            </a:r>
            <a:r>
              <a:rPr kumimoji="1" lang="en-US" altLang="zh-CN" sz="2800" b="1"/>
              <a:t>m[i,1,0]=v[i], m[i,1,1]=v[i], 1≤i≤n</a:t>
            </a:r>
            <a:r>
              <a:rPr kumimoji="1" lang="zh-CN" altLang="en-US" sz="2800" b="1"/>
              <a:t>。</a:t>
            </a:r>
            <a:endParaRPr kumimoji="1" lang="zh-CN" altLang="en-US" sz="2800" b="1"/>
          </a:p>
        </p:txBody>
      </p:sp>
      <p:pic>
        <p:nvPicPr>
          <p:cNvPr id="39940" name="Picture 4" descr="xu032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708275"/>
            <a:ext cx="6048375" cy="143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3. 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多边形游戏的算法描述</a:t>
            </a:r>
            <a:endParaRPr lang="zh-CN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40963" name="Rectangle 3"/>
          <p:cNvSpPr>
            <a:spLocks noChangeArrowheads="1"/>
          </p:cNvSpPr>
          <p:nvPr/>
        </p:nvSpPr>
        <p:spPr bwMode="auto">
          <a:xfrm>
            <a:off x="755650" y="869950"/>
            <a:ext cx="7559675" cy="530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9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</a:pPr>
            <a:r>
              <a:rPr kumimoji="1" lang="en-US" altLang="zh-CN" sz="2400" b="1"/>
              <a:t>void MinMax(int i, int j, int k) {</a:t>
            </a:r>
            <a:endParaRPr kumimoji="1" lang="en-US" altLang="zh-CN" sz="2400" b="1"/>
          </a:p>
          <a:p>
            <a:pPr eaLnBrk="1" hangingPunct="1">
              <a:lnSpc>
                <a:spcPct val="95000"/>
              </a:lnSpc>
            </a:pPr>
            <a:r>
              <a:rPr kumimoji="1" lang="en-US" altLang="zh-CN" sz="2400" b="1"/>
              <a:t>	int e[4], l, a = m[i][k][0], b = m[i][k][1],</a:t>
            </a:r>
            <a:endParaRPr kumimoji="1" lang="en-US" altLang="zh-CN" sz="2400" b="1"/>
          </a:p>
          <a:p>
            <a:pPr eaLnBrk="1" hangingPunct="1">
              <a:lnSpc>
                <a:spcPct val="95000"/>
              </a:lnSpc>
            </a:pPr>
            <a:r>
              <a:rPr kumimoji="1" lang="en-US" altLang="zh-CN" sz="2400" b="1"/>
              <a:t>	r = (i + k + 1) % N, c = m[r][j - k - 1][0],</a:t>
            </a:r>
            <a:endParaRPr kumimoji="1" lang="en-US" altLang="zh-CN" sz="2400" b="1"/>
          </a:p>
          <a:p>
            <a:pPr eaLnBrk="1" hangingPunct="1">
              <a:lnSpc>
                <a:spcPct val="95000"/>
              </a:lnSpc>
            </a:pPr>
            <a:r>
              <a:rPr kumimoji="1" lang="en-US" altLang="zh-CN" sz="2400" b="1"/>
              <a:t>	d = m[r][j - k - 1][1];</a:t>
            </a:r>
            <a:endParaRPr kumimoji="1" lang="en-US" altLang="zh-CN" sz="2400" b="1"/>
          </a:p>
          <a:p>
            <a:pPr eaLnBrk="1" hangingPunct="1">
              <a:lnSpc>
                <a:spcPct val="95000"/>
              </a:lnSpc>
            </a:pPr>
            <a:r>
              <a:rPr kumimoji="1" lang="en-US" altLang="zh-CN" sz="2400" b="1"/>
              <a:t>	if (op[(r - 1 + N) % N] == '+') {</a:t>
            </a:r>
            <a:endParaRPr kumimoji="1" lang="en-US" altLang="zh-CN" sz="2400" b="1"/>
          </a:p>
          <a:p>
            <a:pPr eaLnBrk="1" hangingPunct="1">
              <a:lnSpc>
                <a:spcPct val="95000"/>
              </a:lnSpc>
            </a:pPr>
            <a:r>
              <a:rPr kumimoji="1" lang="en-US" altLang="zh-CN" sz="2400" b="1"/>
              <a:t>	minf = a + c;  maxf = b + d;</a:t>
            </a:r>
            <a:endParaRPr kumimoji="1" lang="en-US" altLang="zh-CN" sz="2400" b="1"/>
          </a:p>
          <a:p>
            <a:pPr eaLnBrk="1" hangingPunct="1">
              <a:lnSpc>
                <a:spcPct val="95000"/>
              </a:lnSpc>
            </a:pPr>
            <a:r>
              <a:rPr kumimoji="1" lang="en-US" altLang="zh-CN" sz="2400" b="1"/>
              <a:t>	} else {</a:t>
            </a:r>
            <a:endParaRPr kumimoji="1" lang="en-US" altLang="zh-CN" sz="2400" b="1"/>
          </a:p>
          <a:p>
            <a:pPr eaLnBrk="1" hangingPunct="1">
              <a:lnSpc>
                <a:spcPct val="95000"/>
              </a:lnSpc>
            </a:pPr>
            <a:r>
              <a:rPr kumimoji="1" lang="en-US" altLang="zh-CN" sz="2400" b="1"/>
              <a:t>		e[0] = a * c; e[1] = a * d; e[2] = b * c;</a:t>
            </a:r>
            <a:endParaRPr kumimoji="1" lang="en-US" altLang="zh-CN" sz="2400" b="1"/>
          </a:p>
          <a:p>
            <a:pPr eaLnBrk="1" hangingPunct="1">
              <a:lnSpc>
                <a:spcPct val="95000"/>
              </a:lnSpc>
            </a:pPr>
            <a:r>
              <a:rPr kumimoji="1" lang="en-US" altLang="zh-CN" sz="2400" b="1"/>
              <a:t>		e[3] = b * d; minf = e[0]; maxf = e[0];</a:t>
            </a:r>
            <a:endParaRPr kumimoji="1" lang="en-US" altLang="zh-CN" sz="2400" b="1"/>
          </a:p>
          <a:p>
            <a:pPr eaLnBrk="1" hangingPunct="1">
              <a:lnSpc>
                <a:spcPct val="95000"/>
              </a:lnSpc>
            </a:pPr>
            <a:r>
              <a:rPr kumimoji="1" lang="en-US" altLang="zh-CN" sz="2400" b="1"/>
              <a:t>		for (l = 1; l &lt; 4; l ++) {</a:t>
            </a:r>
            <a:endParaRPr kumimoji="1" lang="en-US" altLang="zh-CN" sz="2400" b="1"/>
          </a:p>
          <a:p>
            <a:pPr eaLnBrk="1" hangingPunct="1">
              <a:lnSpc>
                <a:spcPct val="95000"/>
              </a:lnSpc>
            </a:pPr>
            <a:r>
              <a:rPr kumimoji="1" lang="en-US" altLang="zh-CN" sz="2400" b="1"/>
              <a:t>			if (minf &gt; e[l]) minf = e[l];</a:t>
            </a:r>
            <a:endParaRPr kumimoji="1" lang="en-US" altLang="zh-CN" sz="2400" b="1"/>
          </a:p>
          <a:p>
            <a:pPr eaLnBrk="1" hangingPunct="1">
              <a:lnSpc>
                <a:spcPct val="95000"/>
              </a:lnSpc>
            </a:pPr>
            <a:r>
              <a:rPr kumimoji="1" lang="en-US" altLang="zh-CN" sz="2400" b="1"/>
              <a:t>			if (maxf &lt; e[l]) maxf = e[l];</a:t>
            </a:r>
            <a:endParaRPr kumimoji="1" lang="en-US" altLang="zh-CN" sz="2400" b="1"/>
          </a:p>
          <a:p>
            <a:pPr eaLnBrk="1" hangingPunct="1">
              <a:lnSpc>
                <a:spcPct val="95000"/>
              </a:lnSpc>
            </a:pPr>
            <a:r>
              <a:rPr kumimoji="1" lang="en-US" altLang="zh-CN" sz="2400" b="1"/>
              <a:t>		}</a:t>
            </a:r>
            <a:endParaRPr kumimoji="1" lang="en-US" altLang="zh-CN" sz="2400" b="1"/>
          </a:p>
          <a:p>
            <a:pPr eaLnBrk="1" hangingPunct="1">
              <a:lnSpc>
                <a:spcPct val="95000"/>
              </a:lnSpc>
            </a:pPr>
            <a:r>
              <a:rPr kumimoji="1" lang="en-US" altLang="zh-CN" sz="2400" b="1"/>
              <a:t>	}</a:t>
            </a:r>
            <a:endParaRPr kumimoji="1" lang="en-US" altLang="zh-CN" sz="2400" b="1"/>
          </a:p>
          <a:p>
            <a:pPr eaLnBrk="1" hangingPunct="1">
              <a:lnSpc>
                <a:spcPct val="95000"/>
              </a:lnSpc>
            </a:pPr>
            <a:r>
              <a:rPr kumimoji="1" lang="en-US" altLang="zh-CN" sz="2400" b="1"/>
              <a:t>}</a:t>
            </a:r>
            <a:endParaRPr kumimoji="1" lang="en-US" altLang="zh-CN" sz="2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3. 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多边形游戏的算法描述</a:t>
            </a:r>
            <a:endParaRPr lang="zh-CN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757238" y="917575"/>
            <a:ext cx="7559675" cy="520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9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/>
              <a:t>void PolyMax() {</a:t>
            </a:r>
            <a:endParaRPr kumimoji="1" lang="en-US" altLang="zh-CN" sz="2400" b="1"/>
          </a:p>
          <a:p>
            <a:pPr eaLnBrk="1" hangingPunct="1"/>
            <a:r>
              <a:rPr kumimoji="1" lang="en-US" altLang="zh-CN" sz="2400" b="1"/>
              <a:t>     int i, j, k, max;</a:t>
            </a:r>
            <a:endParaRPr kumimoji="1" lang="en-US" altLang="zh-CN" sz="2400" b="1"/>
          </a:p>
          <a:p>
            <a:pPr eaLnBrk="1" hangingPunct="1"/>
            <a:r>
              <a:rPr kumimoji="1" lang="en-US" altLang="zh-CN" sz="2400" b="1"/>
              <a:t>     for (j = 1; j &lt; N; j ++)</a:t>
            </a:r>
            <a:endParaRPr kumimoji="1" lang="en-US" altLang="zh-CN" sz="2400" b="1"/>
          </a:p>
          <a:p>
            <a:pPr eaLnBrk="1" hangingPunct="1"/>
            <a:r>
              <a:rPr kumimoji="1" lang="en-US" altLang="zh-CN" sz="2400" b="1"/>
              <a:t>	for (i = 0; i &lt; N; i ++)</a:t>
            </a:r>
            <a:endParaRPr kumimoji="1" lang="en-US" altLang="zh-CN" sz="2400" b="1"/>
          </a:p>
          <a:p>
            <a:pPr eaLnBrk="1" hangingPunct="1"/>
            <a:r>
              <a:rPr kumimoji="1" lang="en-US" altLang="zh-CN" sz="2400" b="1"/>
              <a:t>	     for (k = 0; k &lt; j; k ++) {</a:t>
            </a:r>
            <a:endParaRPr kumimoji="1" lang="en-US" altLang="zh-CN" sz="2400" b="1"/>
          </a:p>
          <a:p>
            <a:pPr eaLnBrk="1" hangingPunct="1"/>
            <a:r>
              <a:rPr kumimoji="1" lang="en-US" altLang="zh-CN" sz="2400" b="1"/>
              <a:t>		MinMax(i, j, k);</a:t>
            </a:r>
            <a:endParaRPr kumimoji="1" lang="en-US" altLang="zh-CN" sz="2400" b="1"/>
          </a:p>
          <a:p>
            <a:pPr eaLnBrk="1" hangingPunct="1"/>
            <a:r>
              <a:rPr kumimoji="1" lang="en-US" altLang="zh-CN" sz="2400" b="1"/>
              <a:t>		if (m[i][j][0] &gt; minf) m[i][j][0] = minf;</a:t>
            </a:r>
            <a:endParaRPr kumimoji="1" lang="en-US" altLang="zh-CN" sz="2400" b="1"/>
          </a:p>
          <a:p>
            <a:pPr eaLnBrk="1" hangingPunct="1"/>
            <a:r>
              <a:rPr kumimoji="1" lang="en-US" altLang="zh-CN" sz="2400" b="1"/>
              <a:t>		if (m[i][j][1] &lt; maxf) m[i][j][1] = maxf;</a:t>
            </a:r>
            <a:endParaRPr kumimoji="1" lang="en-US" altLang="zh-CN" sz="2400" b="1"/>
          </a:p>
          <a:p>
            <a:pPr eaLnBrk="1" hangingPunct="1"/>
            <a:r>
              <a:rPr kumimoji="1" lang="en-US" altLang="zh-CN" sz="2400" b="1"/>
              <a:t>	     }</a:t>
            </a:r>
            <a:endParaRPr kumimoji="1" lang="en-US" altLang="zh-CN" sz="2400" b="1"/>
          </a:p>
          <a:p>
            <a:pPr eaLnBrk="1" hangingPunct="1"/>
            <a:r>
              <a:rPr kumimoji="1" lang="en-US" altLang="zh-CN" sz="2400" b="1"/>
              <a:t>	     max = m[0][N - 1][1];</a:t>
            </a:r>
            <a:endParaRPr kumimoji="1" lang="en-US" altLang="zh-CN" sz="2400" b="1"/>
          </a:p>
          <a:p>
            <a:pPr eaLnBrk="1" hangingPunct="1"/>
            <a:r>
              <a:rPr kumimoji="1" lang="en-US" altLang="zh-CN" sz="2400" b="1"/>
              <a:t>	     for (i = 1; i &lt; N; i ++)</a:t>
            </a:r>
            <a:endParaRPr kumimoji="1" lang="en-US" altLang="zh-CN" sz="2400" b="1"/>
          </a:p>
          <a:p>
            <a:pPr eaLnBrk="1" hangingPunct="1"/>
            <a:r>
              <a:rPr kumimoji="1" lang="en-US" altLang="zh-CN" sz="2400" b="1"/>
              <a:t>		if (max&lt;m[i][N-1][1]) max=m[i][N-1][1];</a:t>
            </a:r>
            <a:endParaRPr kumimoji="1" lang="en-US" altLang="zh-CN" sz="2400" b="1"/>
          </a:p>
          <a:p>
            <a:pPr eaLnBrk="1" hangingPunct="1"/>
            <a:r>
              <a:rPr kumimoji="1" lang="en-US" altLang="zh-CN" sz="2400" b="1"/>
              <a:t>     printf("%d\n", max);</a:t>
            </a:r>
            <a:endParaRPr kumimoji="1" lang="en-US" altLang="zh-CN" sz="2400" b="1"/>
          </a:p>
          <a:p>
            <a:pPr eaLnBrk="1" hangingPunct="1"/>
            <a:r>
              <a:rPr kumimoji="1" lang="en-US" altLang="zh-CN" sz="2400" b="1"/>
              <a:t>}   </a:t>
            </a:r>
            <a:r>
              <a:rPr kumimoji="1" lang="en-US" altLang="zh-CN" sz="2400" b="1">
                <a:solidFill>
                  <a:srgbClr val="008000"/>
                </a:solidFill>
              </a:rPr>
              <a:t>// </a:t>
            </a:r>
            <a:r>
              <a:rPr kumimoji="1" lang="zh-CN" altLang="en-US" sz="2400" b="1">
                <a:solidFill>
                  <a:srgbClr val="008000"/>
                </a:solidFill>
              </a:rPr>
              <a:t>多边形游戏的算法时间复杂度为</a:t>
            </a:r>
            <a:r>
              <a:rPr kumimoji="1" lang="en-US" altLang="zh-CN" sz="2400" b="1">
                <a:solidFill>
                  <a:srgbClr val="008000"/>
                </a:solidFill>
              </a:rPr>
              <a:t>O(n</a:t>
            </a:r>
            <a:r>
              <a:rPr kumimoji="1" lang="en-US" altLang="zh-CN" sz="2400" b="1" baseline="30000">
                <a:solidFill>
                  <a:srgbClr val="008000"/>
                </a:solidFill>
              </a:rPr>
              <a:t>3</a:t>
            </a:r>
            <a:r>
              <a:rPr kumimoji="1" lang="en-US" altLang="zh-CN" sz="2400" b="1">
                <a:solidFill>
                  <a:srgbClr val="008000"/>
                </a:solidFill>
              </a:rPr>
              <a:t>)</a:t>
            </a:r>
            <a:r>
              <a:rPr kumimoji="1" lang="zh-CN" altLang="en-US" sz="2400" b="1">
                <a:solidFill>
                  <a:srgbClr val="008000"/>
                </a:solidFill>
              </a:rPr>
              <a:t>。</a:t>
            </a:r>
            <a:endParaRPr kumimoji="1" lang="zh-CN" altLang="en-US" sz="2400" b="1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205038"/>
            <a:ext cx="7543800" cy="1295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590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图像压缩问题</a:t>
            </a:r>
            <a:endParaRPr lang="zh-CN" altLang="en-US" sz="5900" smtClean="0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图像压缩问题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2054" name="Text Box 3"/>
          <p:cNvSpPr txBox="1">
            <a:spLocks noChangeArrowheads="1"/>
          </p:cNvSpPr>
          <p:nvPr/>
        </p:nvSpPr>
        <p:spPr bwMode="auto">
          <a:xfrm>
            <a:off x="900113" y="981075"/>
            <a:ext cx="76327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通常用像素点灰度值序列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{p</a:t>
            </a:r>
            <a:r>
              <a:rPr lang="en-US" altLang="zh-CN" sz="2400" b="1" baseline="-25000">
                <a:latin typeface="Times New Roman" panose="02020603050405020304" pitchFamily="18" charset="0"/>
                <a:ea typeface="新宋体" panose="02010609030101010101" charset="-12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,p</a:t>
            </a:r>
            <a:r>
              <a:rPr lang="en-US" altLang="zh-CN" sz="2400" b="1" baseline="-25000">
                <a:latin typeface="Times New Roman" panose="02020603050405020304" pitchFamily="18" charset="0"/>
                <a:ea typeface="新宋体" panose="02010609030101010101" charset="-12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,…,p</a:t>
            </a:r>
            <a:r>
              <a:rPr lang="en-US" altLang="zh-CN" sz="2400" b="1" baseline="-25000">
                <a:latin typeface="Times New Roman" panose="02020603050405020304" pitchFamily="18" charset="0"/>
                <a:ea typeface="新宋体" panose="02010609030101010101" charset="-12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}</a:t>
            </a: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表示图像，其中，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0≤pi≤255</a:t>
            </a: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，可用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8</a:t>
            </a: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位表示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个像素。</a:t>
            </a:r>
            <a:endParaRPr lang="zh-CN" altLang="en-US" sz="2400" b="1"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图像的变位压缩存储格式将所给的像素点序列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{p</a:t>
            </a:r>
            <a:r>
              <a:rPr lang="en-US" altLang="zh-CN" sz="2400" b="1" baseline="-25000">
                <a:latin typeface="Times New Roman" panose="02020603050405020304" pitchFamily="18" charset="0"/>
                <a:ea typeface="新宋体" panose="02010609030101010101" charset="-12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, p</a:t>
            </a:r>
            <a:r>
              <a:rPr lang="en-US" altLang="zh-CN" sz="2400" b="1" baseline="-25000">
                <a:latin typeface="Times New Roman" panose="02020603050405020304" pitchFamily="18" charset="0"/>
                <a:ea typeface="新宋体" panose="02010609030101010101" charset="-12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, …, p</a:t>
            </a:r>
            <a:r>
              <a:rPr lang="en-US" altLang="zh-CN" sz="2400" b="1" baseline="-25000">
                <a:latin typeface="Times New Roman" panose="02020603050405020304" pitchFamily="18" charset="0"/>
                <a:ea typeface="新宋体" panose="02010609030101010101" charset="-12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}</a:t>
            </a: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分割成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m</a:t>
            </a: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个连续段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S</a:t>
            </a:r>
            <a:r>
              <a:rPr lang="en-US" altLang="zh-CN" sz="2400" b="1" baseline="-25000">
                <a:latin typeface="Times New Roman" panose="02020603050405020304" pitchFamily="18" charset="0"/>
                <a:ea typeface="新宋体" panose="02010609030101010101" charset="-12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,S</a:t>
            </a:r>
            <a:r>
              <a:rPr lang="en-US" altLang="zh-CN" sz="2400" b="1" baseline="-25000">
                <a:latin typeface="Times New Roman" panose="02020603050405020304" pitchFamily="18" charset="0"/>
                <a:ea typeface="新宋体" panose="02010609030101010101" charset="-12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,…,S</a:t>
            </a:r>
            <a:r>
              <a:rPr lang="en-US" altLang="zh-CN" sz="2400" b="1" baseline="-25000">
                <a:latin typeface="Times New Roman" panose="02020603050405020304" pitchFamily="18" charset="0"/>
                <a:ea typeface="新宋体" panose="02010609030101010101" charset="-122"/>
              </a:rPr>
              <a:t>m</a:t>
            </a: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。第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i</a:t>
            </a: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个像素段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Si</a:t>
            </a: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中有</a:t>
            </a:r>
            <a:r>
              <a:rPr lang="en-US" altLang="zh-CN" sz="2400" b="1" i="1">
                <a:latin typeface="Times New Roman" panose="02020603050405020304" pitchFamily="18" charset="0"/>
                <a:ea typeface="新宋体" panose="02010609030101010101" charset="-122"/>
              </a:rPr>
              <a:t>l 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[i]</a:t>
            </a: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个像素，且该段中每个像素都只用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b[i]</a:t>
            </a: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位表示。</a:t>
            </a:r>
            <a:endParaRPr lang="zh-CN" altLang="en-US" sz="2400" b="1"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设                  ，则第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i</a:t>
            </a: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个像素段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Si</a:t>
            </a: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为</a:t>
            </a:r>
            <a:endParaRPr lang="zh-CN" altLang="en-US" sz="2400" b="1"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eaLnBrk="1" hangingPunct="1">
              <a:lnSpc>
                <a:spcPct val="135000"/>
              </a:lnSpc>
            </a:pPr>
            <a:endParaRPr lang="zh-CN" altLang="en-US" sz="2400" b="1"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设                                         ，则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hi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b[i]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8</a:t>
            </a: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。</a:t>
            </a:r>
            <a:endParaRPr lang="zh-CN" altLang="en-US" sz="2400" b="1"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eaLnBrk="1" hangingPunct="1">
              <a:lnSpc>
                <a:spcPct val="135000"/>
              </a:lnSpc>
            </a:pPr>
            <a:endParaRPr lang="zh-CN" altLang="en-US" sz="2400" b="1"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因此需要用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位表示</a:t>
            </a:r>
            <a:r>
              <a:rPr lang="en-US" altLang="zh-CN" sz="2400" b="1">
                <a:latin typeface="Times New Roman" panose="02020603050405020304" pitchFamily="18" charset="0"/>
                <a:ea typeface="新宋体" panose="02010609030101010101" charset="-122"/>
              </a:rPr>
              <a:t>b[i]</a:t>
            </a:r>
            <a:r>
              <a:rPr lang="zh-CN" altLang="en-US" sz="2400" b="1">
                <a:latin typeface="Times New Roman" panose="02020603050405020304" pitchFamily="18" charset="0"/>
                <a:ea typeface="新宋体" panose="02010609030101010101" charset="-122"/>
              </a:rPr>
              <a:t>。</a:t>
            </a:r>
            <a:endParaRPr lang="zh-CN" altLang="en-US" sz="2400" b="1"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sp>
        <p:nvSpPr>
          <p:cNvPr id="2055" name="Rectangle 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56" name="Rectangle 5"/>
          <p:cNvSpPr>
            <a:spLocks noChangeArrowheads="1"/>
          </p:cNvSpPr>
          <p:nvPr/>
        </p:nvSpPr>
        <p:spPr bwMode="auto">
          <a:xfrm>
            <a:off x="0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5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58" name="Rectangle 7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50" name="Object 8"/>
          <p:cNvGraphicFramePr>
            <a:graphicFrameLocks noChangeAspect="1"/>
          </p:cNvGraphicFramePr>
          <p:nvPr/>
        </p:nvGraphicFramePr>
        <p:xfrm>
          <a:off x="1331913" y="4437063"/>
          <a:ext cx="3095625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8" name="公式" r:id="rId1" imgW="1815465" imgH="406400" progId="Equation.3">
                  <p:embed/>
                </p:oleObj>
              </mc:Choice>
              <mc:Fallback>
                <p:oleObj name="公式" r:id="rId1" imgW="1815465" imgH="406400" progId="Equation.3">
                  <p:embed/>
                  <p:pic>
                    <p:nvPicPr>
                      <p:cNvPr id="0" name="图片 174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437063"/>
                        <a:ext cx="3095625" cy="700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9"/>
          <p:cNvGraphicFramePr>
            <a:graphicFrameLocks noChangeAspect="1"/>
          </p:cNvGraphicFramePr>
          <p:nvPr/>
        </p:nvGraphicFramePr>
        <p:xfrm>
          <a:off x="5437188" y="3573463"/>
          <a:ext cx="295116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9" name="公式" r:id="rId3" imgW="1422400" imgH="241300" progId="Equation.3">
                  <p:embed/>
                </p:oleObj>
              </mc:Choice>
              <mc:Fallback>
                <p:oleObj name="公式" r:id="rId3" imgW="1422400" imgH="241300" progId="Equation.3">
                  <p:embed/>
                  <p:pic>
                    <p:nvPicPr>
                      <p:cNvPr id="0" name="图片 174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7188" y="3573463"/>
                        <a:ext cx="2951162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10"/>
          <p:cNvGraphicFramePr>
            <a:graphicFrameLocks noChangeAspect="1"/>
          </p:cNvGraphicFramePr>
          <p:nvPr/>
        </p:nvGraphicFramePr>
        <p:xfrm>
          <a:off x="1331913" y="3429000"/>
          <a:ext cx="1368425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0" name="公式" r:id="rId5" imgW="787400" imgH="431800" progId="Equation.3">
                  <p:embed/>
                </p:oleObj>
              </mc:Choice>
              <mc:Fallback>
                <p:oleObj name="公式" r:id="rId5" imgW="787400" imgH="431800" progId="Equation.3">
                  <p:embed/>
                  <p:pic>
                    <p:nvPicPr>
                      <p:cNvPr id="0" name="图片 174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429000"/>
                        <a:ext cx="1368425" cy="741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图像压缩问题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3076" name="Text Box 3"/>
          <p:cNvSpPr txBox="1">
            <a:spLocks noChangeArrowheads="1"/>
          </p:cNvSpPr>
          <p:nvPr/>
        </p:nvSpPr>
        <p:spPr bwMode="auto">
          <a:xfrm>
            <a:off x="900113" y="981075"/>
            <a:ext cx="7559675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en-US" sz="2400" b="1">
                <a:ea typeface="新宋体" panose="02010609030101010101" charset="-122"/>
              </a:rPr>
              <a:t>如果限制</a:t>
            </a:r>
            <a:r>
              <a:rPr lang="en-US" altLang="zh-CN" sz="2400" b="1">
                <a:ea typeface="新宋体" panose="02010609030101010101" charset="-122"/>
              </a:rPr>
              <a:t>1</a:t>
            </a:r>
            <a:r>
              <a:rPr lang="en-US" altLang="zh-CN" sz="2400" b="1">
                <a:ea typeface="新宋体" panose="02010609030101010101" charset="-122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ea typeface="新宋体" panose="02010609030101010101" charset="-122"/>
              </a:rPr>
              <a:t>l[i]</a:t>
            </a:r>
            <a:r>
              <a:rPr lang="en-US" altLang="zh-CN" sz="2400" b="1">
                <a:ea typeface="新宋体" panose="02010609030101010101" charset="-122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ea typeface="新宋体" panose="02010609030101010101" charset="-122"/>
              </a:rPr>
              <a:t>255</a:t>
            </a:r>
            <a:r>
              <a:rPr lang="zh-CN" altLang="en-US" sz="2400" b="1">
                <a:ea typeface="新宋体" panose="02010609030101010101" charset="-122"/>
              </a:rPr>
              <a:t>，则需要用</a:t>
            </a:r>
            <a:r>
              <a:rPr lang="en-US" altLang="zh-CN" sz="2400" b="1">
                <a:ea typeface="新宋体" panose="02010609030101010101" charset="-122"/>
              </a:rPr>
              <a:t>8</a:t>
            </a:r>
            <a:r>
              <a:rPr lang="zh-CN" altLang="en-US" sz="2400" b="1">
                <a:ea typeface="新宋体" panose="02010609030101010101" charset="-122"/>
              </a:rPr>
              <a:t>位表示</a:t>
            </a:r>
            <a:r>
              <a:rPr lang="en-US" altLang="zh-CN" sz="2400" b="1">
                <a:ea typeface="新宋体" panose="02010609030101010101" charset="-122"/>
              </a:rPr>
              <a:t>l[i]</a:t>
            </a:r>
            <a:r>
              <a:rPr lang="zh-CN" altLang="en-US" sz="2400" b="1">
                <a:ea typeface="新宋体" panose="02010609030101010101" charset="-122"/>
              </a:rPr>
              <a:t>。因此，第</a:t>
            </a:r>
            <a:r>
              <a:rPr lang="en-US" altLang="zh-CN" sz="2400" b="1">
                <a:ea typeface="新宋体" panose="02010609030101010101" charset="-122"/>
              </a:rPr>
              <a:t>i</a:t>
            </a:r>
            <a:r>
              <a:rPr lang="zh-CN" altLang="en-US" sz="2400" b="1">
                <a:ea typeface="新宋体" panose="02010609030101010101" charset="-122"/>
              </a:rPr>
              <a:t>个像素段所需的存储空间为</a:t>
            </a:r>
            <a:r>
              <a:rPr lang="en-US" altLang="zh-CN" sz="2400" b="1">
                <a:ea typeface="新宋体" panose="02010609030101010101" charset="-122"/>
              </a:rPr>
              <a:t>l[i]*b[i]+11</a:t>
            </a:r>
            <a:r>
              <a:rPr lang="zh-CN" altLang="en-US" sz="2400" b="1">
                <a:ea typeface="新宋体" panose="02010609030101010101" charset="-122"/>
              </a:rPr>
              <a:t>位。</a:t>
            </a:r>
            <a:endParaRPr lang="zh-CN" altLang="en-US" sz="2400" b="1">
              <a:ea typeface="新宋体" panose="02010609030101010101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b="1">
                <a:ea typeface="新宋体" panose="02010609030101010101" charset="-122"/>
              </a:rPr>
              <a:t>按此格式存储像素序列</a:t>
            </a:r>
            <a:r>
              <a:rPr lang="en-US" altLang="zh-CN" sz="2400" b="1">
                <a:ea typeface="新宋体" panose="02010609030101010101" charset="-122"/>
              </a:rPr>
              <a:t>{p1,p2,…,pn}</a:t>
            </a:r>
            <a:r>
              <a:rPr lang="zh-CN" altLang="en-US" sz="2400" b="1">
                <a:ea typeface="新宋体" panose="02010609030101010101" charset="-122"/>
              </a:rPr>
              <a:t>，</a:t>
            </a:r>
            <a:endParaRPr lang="zh-CN" altLang="en-US" sz="2400" b="1">
              <a:ea typeface="新宋体" panose="02010609030101010101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b="1">
                <a:ea typeface="新宋体" panose="02010609030101010101" charset="-122"/>
              </a:rPr>
              <a:t>需要                            位的存储空间。</a:t>
            </a:r>
            <a:endParaRPr lang="zh-CN" altLang="en-US" sz="2400" b="1">
              <a:ea typeface="新宋体" panose="02010609030101010101" charset="-122"/>
            </a:endParaRPr>
          </a:p>
          <a:p>
            <a:pPr eaLnBrk="1" hangingPunct="1">
              <a:lnSpc>
                <a:spcPct val="140000"/>
              </a:lnSpc>
            </a:pPr>
            <a:endParaRPr lang="zh-CN" altLang="en-US" sz="2400" b="1">
              <a:ea typeface="新宋体" panose="02010609030101010101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b="1">
                <a:solidFill>
                  <a:srgbClr val="8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图象压缩问题描述：</a:t>
            </a:r>
            <a:r>
              <a:rPr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要求确定像素序列</a:t>
            </a:r>
            <a:r>
              <a:rPr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{p1,p2,</a:t>
            </a:r>
            <a:r>
              <a:rPr lang="en-US" altLang="zh-CN" sz="2400" b="1">
                <a:ea typeface="黑体" panose="02010609060101010101" pitchFamily="2" charset="-122"/>
              </a:rPr>
              <a:t>…</a:t>
            </a:r>
            <a:r>
              <a:rPr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,pn}</a:t>
            </a:r>
            <a:r>
              <a:rPr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的最优分段，使得依此分段所需的存储空间最少。</a:t>
            </a:r>
            <a:endParaRPr lang="zh-CN" altLang="en-US" sz="2400" b="1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b="1">
                <a:solidFill>
                  <a:srgbClr val="3333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每个分段的长度不超过</a:t>
            </a:r>
            <a:r>
              <a:rPr lang="en-US" altLang="zh-CN" sz="2400" b="1">
                <a:solidFill>
                  <a:srgbClr val="3333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256</a:t>
            </a:r>
            <a:r>
              <a:rPr lang="zh-CN" altLang="en-US" sz="2400" b="1">
                <a:solidFill>
                  <a:srgbClr val="3333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位。</a:t>
            </a:r>
            <a:endParaRPr lang="zh-CN" altLang="en-US" sz="2400" b="1">
              <a:solidFill>
                <a:srgbClr val="3333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07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1692275" y="2420938"/>
          <a:ext cx="2232025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公式" r:id="rId1" imgW="1104900" imgH="431800" progId="Equation.3">
                  <p:embed/>
                </p:oleObj>
              </mc:Choice>
              <mc:Fallback>
                <p:oleObj name="公式" r:id="rId1" imgW="1104900" imgH="431800" progId="Equation.3">
                  <p:embed/>
                  <p:pic>
                    <p:nvPicPr>
                      <p:cNvPr id="0" name="图片 184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420938"/>
                        <a:ext cx="2232025" cy="865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8" name="Line 6"/>
          <p:cNvSpPr>
            <a:spLocks noChangeShapeType="1"/>
          </p:cNvSpPr>
          <p:nvPr/>
        </p:nvSpPr>
        <p:spPr bwMode="auto">
          <a:xfrm>
            <a:off x="1692275" y="3284538"/>
            <a:ext cx="2159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1. </a:t>
            </a:r>
            <a:r>
              <a:rPr lang="zh-CN" altLang="en-US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最优子结构性质</a:t>
            </a:r>
            <a:endParaRPr lang="ja-JP" altLang="en-US" sz="31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827088" y="1138238"/>
            <a:ext cx="7489825" cy="329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设</a:t>
            </a:r>
            <a:r>
              <a:rPr lang="en-US" altLang="zh-CN" sz="2800" b="1" i="1">
                <a:latin typeface="Times New Roman" panose="02020603050405020304" pitchFamily="18" charset="0"/>
                <a:ea typeface="新宋体" panose="02010609030101010101" charset="-122"/>
              </a:rPr>
              <a:t>l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[i]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b[i]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1≤i≤m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，是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{p1,p2,…,pn}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的一个最优分段。显而易见，</a:t>
            </a:r>
            <a:r>
              <a:rPr lang="en-US" altLang="zh-CN" sz="2800" b="1" i="1">
                <a:latin typeface="Times New Roman" panose="02020603050405020304" pitchFamily="18" charset="0"/>
                <a:ea typeface="新宋体" panose="02010609030101010101" charset="-122"/>
              </a:rPr>
              <a:t>l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[1]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b[1]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是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{p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,…,p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l[1]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}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的一个最优分段，且</a:t>
            </a:r>
            <a:r>
              <a:rPr lang="en-US" altLang="zh-CN" sz="2800" b="1" i="1">
                <a:latin typeface="Times New Roman" panose="02020603050405020304" pitchFamily="18" charset="0"/>
                <a:ea typeface="新宋体" panose="02010609030101010101" charset="-122"/>
              </a:rPr>
              <a:t>l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[i]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b[i]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2≤i≤m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，是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{p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l[1]+1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,…,p</a:t>
            </a:r>
            <a:r>
              <a:rPr lang="en-US" altLang="zh-CN" sz="2800" b="1" baseline="-25000">
                <a:latin typeface="Times New Roman" panose="02020603050405020304" pitchFamily="18" charset="0"/>
                <a:ea typeface="新宋体" panose="02010609030101010101" charset="-12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ea typeface="新宋体" panose="02010609030101010101" charset="-122"/>
              </a:rPr>
              <a:t>}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的最优分段。</a:t>
            </a:r>
            <a:endParaRPr lang="zh-CN" altLang="en-US" sz="2800" b="1"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>
                <a:solidFill>
                  <a:srgbClr val="008000"/>
                </a:solidFill>
                <a:latin typeface="Times New Roman" panose="02020603050405020304" pitchFamily="18" charset="0"/>
                <a:ea typeface="新宋体" panose="02010609030101010101" charset="-122"/>
                <a:sym typeface="Wingdings" panose="05000000000000000000" pitchFamily="2" charset="2"/>
              </a:rPr>
              <a:t>  </a:t>
            </a:r>
            <a:r>
              <a:rPr lang="zh-CN" altLang="en-US" sz="2800" b="1">
                <a:latin typeface="Times New Roman" panose="02020603050405020304" pitchFamily="18" charset="0"/>
                <a:ea typeface="新宋体" panose="02010609030101010101" charset="-122"/>
              </a:rPr>
              <a:t>图象压缩问题满足最优子结构性质。</a:t>
            </a:r>
            <a:endParaRPr lang="zh-CN" altLang="en-US" sz="2800" b="1"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en-US" altLang="zh-CN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2. </a:t>
            </a:r>
            <a:r>
              <a:rPr lang="zh-CN" altLang="en-US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图像压缩问题的递归结构</a:t>
            </a:r>
            <a:endParaRPr lang="zh-CN" altLang="en-US" sz="31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4101" name="Text Box 3"/>
          <p:cNvSpPr txBox="1">
            <a:spLocks noChangeArrowheads="1"/>
          </p:cNvSpPr>
          <p:nvPr/>
        </p:nvSpPr>
        <p:spPr bwMode="auto">
          <a:xfrm>
            <a:off x="827088" y="1000125"/>
            <a:ext cx="7632700" cy="329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b="1">
                <a:ea typeface="新宋体" panose="02010609030101010101" charset="-122"/>
              </a:rPr>
              <a:t>设</a:t>
            </a:r>
            <a:r>
              <a:rPr lang="en-US" altLang="zh-CN" sz="2800" b="1">
                <a:ea typeface="新宋体" panose="02010609030101010101" charset="-122"/>
              </a:rPr>
              <a:t>s[i]</a:t>
            </a:r>
            <a:r>
              <a:rPr lang="zh-CN" altLang="en-US" sz="2800" b="1">
                <a:ea typeface="新宋体" panose="02010609030101010101" charset="-122"/>
              </a:rPr>
              <a:t>，</a:t>
            </a:r>
            <a:r>
              <a:rPr lang="en-US" altLang="zh-CN" sz="2800" b="1">
                <a:ea typeface="新宋体" panose="02010609030101010101" charset="-122"/>
              </a:rPr>
              <a:t>1≤i≤n</a:t>
            </a:r>
            <a:r>
              <a:rPr lang="zh-CN" altLang="en-US" sz="2800" b="1">
                <a:ea typeface="新宋体" panose="02010609030101010101" charset="-122"/>
              </a:rPr>
              <a:t>，是像素序列</a:t>
            </a:r>
            <a:r>
              <a:rPr lang="en-US" altLang="zh-CN" sz="2800" b="1">
                <a:ea typeface="新宋体" panose="02010609030101010101" charset="-122"/>
              </a:rPr>
              <a:t>{p1,…,pn}</a:t>
            </a:r>
            <a:r>
              <a:rPr lang="zh-CN" altLang="en-US" sz="2800" b="1">
                <a:ea typeface="新宋体" panose="02010609030101010101" charset="-122"/>
              </a:rPr>
              <a:t>的最优分段所需的存储位数，则</a:t>
            </a:r>
            <a:endParaRPr lang="zh-CN" altLang="en-US" sz="2800" b="1">
              <a:ea typeface="新宋体" panose="02010609030101010101" charset="-122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sz="2800" b="1">
              <a:ea typeface="新宋体" panose="02010609030101010101" charset="-122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sz="2800" b="1">
              <a:ea typeface="新宋体" panose="02010609030101010101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b="1">
                <a:ea typeface="新宋体" panose="02010609030101010101" charset="-122"/>
              </a:rPr>
              <a:t>其中</a:t>
            </a:r>
            <a:endParaRPr lang="zh-CN" altLang="en-US" sz="2800" b="1">
              <a:ea typeface="新宋体" panose="02010609030101010101" charset="-122"/>
            </a:endParaRP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1042988" y="4456113"/>
          <a:ext cx="424973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0" name="公式" r:id="rId1" imgW="2019300" imgH="406400" progId="Equation.3">
                  <p:embed/>
                </p:oleObj>
              </mc:Choice>
              <mc:Fallback>
                <p:oleObj name="公式" r:id="rId1" imgW="2019300" imgH="406400" progId="Equation.3">
                  <p:embed/>
                  <p:pic>
                    <p:nvPicPr>
                      <p:cNvPr id="0" name="图片 194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456113"/>
                        <a:ext cx="4249737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5"/>
          <p:cNvGraphicFramePr>
            <a:graphicFrameLocks noChangeAspect="1"/>
          </p:cNvGraphicFramePr>
          <p:nvPr/>
        </p:nvGraphicFramePr>
        <p:xfrm>
          <a:off x="828675" y="2692400"/>
          <a:ext cx="7199313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1" name="公式" r:id="rId3" imgW="3187700" imgH="292100" progId="Equation.3">
                  <p:embed/>
                </p:oleObj>
              </mc:Choice>
              <mc:Fallback>
                <p:oleObj name="公式" r:id="rId3" imgW="3187700" imgH="292100" progId="Equation.3">
                  <p:embed/>
                  <p:pic>
                    <p:nvPicPr>
                      <p:cNvPr id="0" name="图片 194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2692400"/>
                        <a:ext cx="7199313" cy="665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en-US" altLang="zh-CN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3. </a:t>
            </a:r>
            <a:r>
              <a:rPr lang="zh-CN" altLang="en-US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计算最优值</a:t>
            </a:r>
            <a:endParaRPr lang="zh-CN" altLang="en-US" sz="31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827088" y="1000125"/>
            <a:ext cx="7489825" cy="520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ea typeface="新宋体" panose="02010609030101010101" charset="-122"/>
              </a:rPr>
              <a:t>void Compress(int n, int p[ ]) {</a:t>
            </a:r>
            <a:endParaRPr lang="en-US" altLang="zh-CN" sz="2400" b="1">
              <a:ea typeface="新宋体" panose="02010609030101010101" charset="-122"/>
            </a:endParaRPr>
          </a:p>
          <a:p>
            <a:pPr eaLnBrk="1" hangingPunct="1"/>
            <a:r>
              <a:rPr lang="en-US" altLang="zh-CN" sz="2400" b="1"/>
              <a:t>	int Lmax=</a:t>
            </a:r>
            <a:r>
              <a:rPr lang="en-US" altLang="zh-CN" sz="2400" b="1">
                <a:solidFill>
                  <a:srgbClr val="800000"/>
                </a:solidFill>
              </a:rPr>
              <a:t>256</a:t>
            </a:r>
            <a:r>
              <a:rPr lang="en-US" altLang="zh-CN" sz="2400" b="1"/>
              <a:t>, header=11;</a:t>
            </a:r>
            <a:endParaRPr lang="en-US" altLang="zh-CN" sz="2400" b="1"/>
          </a:p>
          <a:p>
            <a:pPr eaLnBrk="1" hangingPunct="1"/>
            <a:r>
              <a:rPr lang="en-US" altLang="zh-CN" sz="2400" b="1"/>
              <a:t>	s[0]=0;</a:t>
            </a:r>
            <a:endParaRPr lang="en-US" altLang="zh-CN" sz="2400" b="1"/>
          </a:p>
          <a:p>
            <a:pPr eaLnBrk="1" hangingPunct="1"/>
            <a:r>
              <a:rPr lang="en-US" altLang="zh-CN" sz="2400" b="1"/>
              <a:t>	for(int i=1; i&lt;=n; i++) {</a:t>
            </a:r>
            <a:endParaRPr lang="en-US" altLang="zh-CN" sz="2400" b="1"/>
          </a:p>
          <a:p>
            <a:pPr eaLnBrk="1" hangingPunct="1"/>
            <a:r>
              <a:rPr lang="en-US" altLang="zh-CN" sz="2400" b="1"/>
              <a:t>		b[i]=length(p[i]);  int bmax=b[i];</a:t>
            </a:r>
            <a:endParaRPr lang="en-US" altLang="zh-CN" sz="2400" b="1"/>
          </a:p>
          <a:p>
            <a:pPr eaLnBrk="1" hangingPunct="1"/>
            <a:r>
              <a:rPr lang="en-US" altLang="zh-CN" sz="2400" b="1"/>
              <a:t>		s[i]=s[i-1]+bmax;  l[i]=1;</a:t>
            </a:r>
            <a:endParaRPr lang="en-US" altLang="zh-CN" sz="2400" b="1"/>
          </a:p>
          <a:p>
            <a:pPr eaLnBrk="1" hangingPunct="1"/>
            <a:r>
              <a:rPr lang="en-US" altLang="zh-CN" sz="2400" b="1"/>
              <a:t>		for(int j=2; j&lt;=i &amp;&amp; j&lt;=</a:t>
            </a:r>
            <a:r>
              <a:rPr lang="en-US" altLang="zh-CN" sz="2400" b="1">
                <a:solidFill>
                  <a:srgbClr val="800000"/>
                </a:solidFill>
              </a:rPr>
              <a:t>Lmax</a:t>
            </a:r>
            <a:r>
              <a:rPr lang="en-US" altLang="zh-CN" sz="2400" b="1"/>
              <a:t>; j++) {</a:t>
            </a:r>
            <a:endParaRPr lang="en-US" altLang="zh-CN" sz="2400" b="1"/>
          </a:p>
          <a:p>
            <a:pPr eaLnBrk="1" hangingPunct="1"/>
            <a:r>
              <a:rPr lang="en-US" altLang="zh-CN" sz="2400" b="1"/>
              <a:t>			if(bmax&lt;b[i-j+1]) bmax=b[i-j+1];</a:t>
            </a:r>
            <a:endParaRPr lang="en-US" altLang="zh-CN" sz="2400" b="1"/>
          </a:p>
          <a:p>
            <a:pPr eaLnBrk="1" hangingPunct="1"/>
            <a:r>
              <a:rPr lang="en-US" altLang="zh-CN" sz="2400" b="1"/>
              <a:t>			if(s[i]&gt;s[i-j]+j*bmax)</a:t>
            </a:r>
            <a:endParaRPr lang="en-US" altLang="zh-CN" sz="2400" b="1"/>
          </a:p>
          <a:p>
            <a:pPr eaLnBrk="1" hangingPunct="1"/>
            <a:r>
              <a:rPr lang="en-US" altLang="zh-CN" sz="2400" b="1"/>
              <a:t>			{ s[i]=s[i-j]+j*bmax; l[i]=j; }</a:t>
            </a:r>
            <a:endParaRPr lang="en-US" altLang="zh-CN" sz="2400" b="1"/>
          </a:p>
          <a:p>
            <a:pPr eaLnBrk="1" hangingPunct="1"/>
            <a:r>
              <a:rPr lang="en-US" altLang="zh-CN" sz="2400" b="1"/>
              <a:t>		}</a:t>
            </a:r>
            <a:endParaRPr lang="en-US" altLang="zh-CN" sz="2400" b="1"/>
          </a:p>
          <a:p>
            <a:pPr eaLnBrk="1" hangingPunct="1"/>
            <a:r>
              <a:rPr lang="en-US" altLang="zh-CN" sz="2400" b="1"/>
              <a:t>		s[i]+=header;</a:t>
            </a:r>
            <a:endParaRPr lang="en-US" altLang="zh-CN" sz="2400" b="1"/>
          </a:p>
          <a:p>
            <a:pPr eaLnBrk="1" hangingPunct="1"/>
            <a:r>
              <a:rPr lang="en-US" altLang="zh-CN" sz="2400" b="1"/>
              <a:t>	}</a:t>
            </a:r>
            <a:endParaRPr lang="en-US" altLang="zh-CN" sz="2400" b="1"/>
          </a:p>
          <a:p>
            <a:pPr eaLnBrk="1" hangingPunct="1"/>
            <a:r>
              <a:rPr lang="en-US" altLang="zh-CN" sz="2400" b="1">
                <a:ea typeface="新宋体" panose="02010609030101010101" charset="-122"/>
              </a:rPr>
              <a:t>}  </a:t>
            </a:r>
            <a:r>
              <a:rPr lang="en-US" altLang="zh-CN" sz="2400" b="1">
                <a:solidFill>
                  <a:srgbClr val="008000"/>
                </a:solidFill>
                <a:ea typeface="新宋体" panose="02010609030101010101" charset="-122"/>
              </a:rPr>
              <a:t>// </a:t>
            </a:r>
            <a:r>
              <a:rPr lang="zh-CN" altLang="en-US" sz="2400" b="1">
                <a:solidFill>
                  <a:srgbClr val="008000"/>
                </a:solidFill>
              </a:rPr>
              <a:t>算法的计算时间为</a:t>
            </a:r>
            <a:r>
              <a:rPr lang="en-US" altLang="zh-CN" sz="2400" b="1">
                <a:solidFill>
                  <a:srgbClr val="008000"/>
                </a:solidFill>
              </a:rPr>
              <a:t>O(n)</a:t>
            </a:r>
            <a:endParaRPr lang="en-US" altLang="zh-CN" sz="2400" b="1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en-US" altLang="zh-CN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4. </a:t>
            </a:r>
            <a:r>
              <a:rPr lang="zh-CN" altLang="en-US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构造最优解</a:t>
            </a:r>
            <a:endParaRPr lang="zh-CN" altLang="en-US" sz="31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827088" y="1000125"/>
            <a:ext cx="7489825" cy="511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000" b="1"/>
              <a:t>void Traceback(int n, int &amp;i) {</a:t>
            </a:r>
            <a:endParaRPr lang="en-US" altLang="zh-CN" sz="2000" b="1"/>
          </a:p>
          <a:p>
            <a:pPr eaLnBrk="1" hangingPunct="1">
              <a:lnSpc>
                <a:spcPct val="110000"/>
              </a:lnSpc>
            </a:pPr>
            <a:r>
              <a:rPr lang="en-US" altLang="zh-CN" sz="2000" b="1"/>
              <a:t>	if (n==0) return;</a:t>
            </a:r>
            <a:endParaRPr lang="en-US" altLang="zh-CN" sz="2000" b="1"/>
          </a:p>
          <a:p>
            <a:pPr eaLnBrk="1" hangingPunct="1">
              <a:lnSpc>
                <a:spcPct val="110000"/>
              </a:lnSpc>
            </a:pPr>
            <a:r>
              <a:rPr lang="en-US" altLang="zh-CN" sz="2000" b="1"/>
              <a:t>	Traceback(n-l[n], i);</a:t>
            </a:r>
            <a:endParaRPr lang="en-US" altLang="zh-CN" sz="2000" b="1"/>
          </a:p>
          <a:p>
            <a:pPr eaLnBrk="1" hangingPunct="1">
              <a:lnSpc>
                <a:spcPct val="110000"/>
              </a:lnSpc>
            </a:pPr>
            <a:r>
              <a:rPr lang="en-US" altLang="zh-CN" sz="2000" b="1"/>
              <a:t>	s[i++]=n-l[n];</a:t>
            </a:r>
            <a:endParaRPr lang="en-US" altLang="zh-CN" sz="2000" b="1"/>
          </a:p>
          <a:p>
            <a:pPr eaLnBrk="1" hangingPunct="1">
              <a:lnSpc>
                <a:spcPct val="110000"/>
              </a:lnSpc>
            </a:pPr>
            <a:r>
              <a:rPr lang="en-US" altLang="zh-CN" sz="2000" b="1"/>
              <a:t>}</a:t>
            </a:r>
            <a:endParaRPr lang="en-US" altLang="zh-CN" sz="2000" b="1"/>
          </a:p>
          <a:p>
            <a:pPr eaLnBrk="1" hangingPunct="1">
              <a:lnSpc>
                <a:spcPct val="110000"/>
              </a:lnSpc>
            </a:pPr>
            <a:endParaRPr lang="en-US" altLang="zh-CN" sz="2000" b="1"/>
          </a:p>
          <a:p>
            <a:pPr eaLnBrk="1" hangingPunct="1">
              <a:lnSpc>
                <a:spcPct val="110000"/>
              </a:lnSpc>
            </a:pPr>
            <a:r>
              <a:rPr lang="en-US" altLang="zh-CN" sz="2000" b="1"/>
              <a:t>void Output(int n) {</a:t>
            </a:r>
            <a:endParaRPr lang="en-US" altLang="zh-CN" sz="2000" b="1"/>
          </a:p>
          <a:p>
            <a:pPr eaLnBrk="1" hangingPunct="1">
              <a:lnSpc>
                <a:spcPct val="110000"/>
              </a:lnSpc>
            </a:pPr>
            <a:r>
              <a:rPr lang="en-US" altLang="zh-CN" sz="2000" b="1"/>
              <a:t>	cout&lt;&lt;"The optimal value is "&lt;&lt;s[n]&lt;&lt;endl;</a:t>
            </a:r>
            <a:endParaRPr lang="en-US" altLang="zh-CN" sz="2000" b="1"/>
          </a:p>
          <a:p>
            <a:pPr eaLnBrk="1" hangingPunct="1">
              <a:lnSpc>
                <a:spcPct val="110000"/>
              </a:lnSpc>
            </a:pPr>
            <a:r>
              <a:rPr lang="en-US" altLang="zh-CN" sz="2000" b="1"/>
              <a:t>	int m=0;</a:t>
            </a:r>
            <a:endParaRPr lang="en-US" altLang="zh-CN" sz="2000" b="1"/>
          </a:p>
          <a:p>
            <a:pPr eaLnBrk="1" hangingPunct="1">
              <a:lnSpc>
                <a:spcPct val="110000"/>
              </a:lnSpc>
            </a:pPr>
            <a:r>
              <a:rPr lang="en-US" altLang="zh-CN" sz="2000" b="1"/>
              <a:t>	Traceback(n, m);</a:t>
            </a:r>
            <a:endParaRPr lang="en-US" altLang="zh-CN" sz="2000" b="1"/>
          </a:p>
          <a:p>
            <a:pPr eaLnBrk="1" hangingPunct="1">
              <a:lnSpc>
                <a:spcPct val="110000"/>
              </a:lnSpc>
            </a:pPr>
            <a:r>
              <a:rPr lang="en-US" altLang="zh-CN" sz="2000" b="1"/>
              <a:t>	s[m]=n;</a:t>
            </a:r>
            <a:endParaRPr lang="en-US" altLang="zh-CN" sz="2000" b="1"/>
          </a:p>
          <a:p>
            <a:pPr eaLnBrk="1" hangingPunct="1">
              <a:lnSpc>
                <a:spcPct val="110000"/>
              </a:lnSpc>
            </a:pPr>
            <a:r>
              <a:rPr lang="en-US" altLang="zh-CN" sz="2000" b="1"/>
              <a:t>	cout&lt;&lt;"Decompose into "&lt;&lt;m&lt;&lt;" segments:"&lt;&lt;endl;</a:t>
            </a:r>
            <a:endParaRPr lang="en-US" altLang="zh-CN" sz="2000" b="1"/>
          </a:p>
          <a:p>
            <a:pPr eaLnBrk="1" hangingPunct="1">
              <a:lnSpc>
                <a:spcPct val="110000"/>
              </a:lnSpc>
            </a:pPr>
            <a:r>
              <a:rPr lang="en-US" altLang="zh-CN" sz="2000" b="1"/>
              <a:t>	for(int j=1; j&lt;=m; j++) { l[j]=l[s[j]];  b[j]=b[s[j]]; }</a:t>
            </a:r>
            <a:endParaRPr lang="en-US" altLang="zh-CN" sz="2000" b="1"/>
          </a:p>
          <a:p>
            <a:pPr eaLnBrk="1" hangingPunct="1">
              <a:lnSpc>
                <a:spcPct val="110000"/>
              </a:lnSpc>
            </a:pPr>
            <a:r>
              <a:rPr lang="en-US" altLang="zh-CN" sz="2000" b="1"/>
              <a:t>	for(j=1; j&lt;=m; j++) cout&lt;&lt;l[j]&lt;&lt;'\t'&lt;&lt;b[j]&lt;&lt;endl;</a:t>
            </a:r>
            <a:endParaRPr lang="en-US" altLang="zh-CN" sz="2000" b="1"/>
          </a:p>
          <a:p>
            <a:pPr eaLnBrk="1" hangingPunct="1">
              <a:lnSpc>
                <a:spcPct val="110000"/>
              </a:lnSpc>
            </a:pPr>
            <a:r>
              <a:rPr lang="en-US" altLang="zh-CN" sz="2000" b="1"/>
              <a:t>}  </a:t>
            </a:r>
            <a:r>
              <a:rPr lang="en-US" altLang="zh-CN" b="1">
                <a:solidFill>
                  <a:srgbClr val="008000"/>
                </a:solidFill>
              </a:rPr>
              <a:t>// </a:t>
            </a:r>
            <a:r>
              <a:rPr lang="zh-CN" altLang="en-US" b="1">
                <a:solidFill>
                  <a:srgbClr val="008000"/>
                </a:solidFill>
              </a:rPr>
              <a:t>算法的计算时间为</a:t>
            </a:r>
            <a:r>
              <a:rPr lang="en-US" altLang="zh-CN" b="1">
                <a:solidFill>
                  <a:srgbClr val="008000"/>
                </a:solidFill>
              </a:rPr>
              <a:t>O(n)</a:t>
            </a:r>
            <a:endParaRPr lang="en-US" altLang="zh-CN" sz="2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205038"/>
            <a:ext cx="7543800" cy="1295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590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电路布线</a:t>
            </a:r>
            <a:endParaRPr lang="zh-CN" altLang="en-US" sz="5900" smtClean="0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543800" cy="862012"/>
          </a:xfrm>
        </p:spPr>
        <p:txBody>
          <a:bodyPr/>
          <a:lstStyle/>
          <a:p>
            <a:pPr eaLnBrk="1" hangingPunct="1"/>
            <a:r>
              <a:rPr lang="zh-CN" altLang="en-US" smtClean="0"/>
              <a:t>电路布线问题</a:t>
            </a:r>
            <a:endParaRPr lang="zh-CN" altLang="en-US" smtClean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68413"/>
            <a:ext cx="8229600" cy="44116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mtClean="0"/>
              <a:t>	   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在一块电路板的上、下两端分别有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n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个接线柱。根据电路设计，要求用导线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(i,π(i)) 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将上端接线柱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i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与下端接线柱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π(i)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相连，如下图。其中，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π(i),1≤ i &lt;≤n,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是｛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1,2,…,n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｝的一个排列。导线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(I, π(i))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称为该电路板上的第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i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条连线。对于任何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1 ≤ i ≤ j ≤n,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第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i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条连线和第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j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条连线相交的充要条件是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π(i)&gt; π(j).</a:t>
            </a:r>
            <a:endParaRPr lang="en-US" altLang="zh-CN" sz="2400" b="1" smtClean="0"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pic>
        <p:nvPicPr>
          <p:cNvPr id="4813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005263"/>
            <a:ext cx="5903912" cy="247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电路布线问题</a:t>
            </a:r>
            <a:endParaRPr lang="zh-CN" altLang="en-US" smtClean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00213"/>
            <a:ext cx="8229600" cy="4411662"/>
          </a:xfrm>
        </p:spPr>
        <p:txBody>
          <a:bodyPr/>
          <a:lstStyle/>
          <a:p>
            <a:pPr eaLnBrk="1" hangingPunct="1"/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在制作电路板时，要求将这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n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条线分布到若干个绝缘层上，在同一层上的连线不能相交。</a:t>
            </a:r>
            <a:endParaRPr lang="zh-CN" altLang="en-US" sz="2400" b="1" smtClean="0"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eaLnBrk="1" hangingPunct="1"/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电路布线问题要确定将哪些连线安排在第一层上，使得该层上有尽可能多的连线。换句话说，该问题要求确定导线集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Nets = 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｛（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i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，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π(i)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），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1 ≤ i ≤ n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｝的</a:t>
            </a:r>
            <a:r>
              <a:rPr lang="zh-CN" altLang="en-US" sz="2400" b="1" u="sng" smtClean="0">
                <a:solidFill>
                  <a:schemeClr val="tx2"/>
                </a:solidFill>
                <a:latin typeface="Times New Roman" panose="02020603050405020304" pitchFamily="18" charset="0"/>
                <a:ea typeface="新宋体" panose="02010609030101010101" charset="-122"/>
              </a:rPr>
              <a:t>最大不相交子集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。</a:t>
            </a:r>
            <a:endParaRPr lang="zh-CN" altLang="en-US" sz="2400" b="1" smtClean="0"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eaLnBrk="1" hangingPunct="1"/>
            <a:endParaRPr lang="zh-CN" altLang="en-US" sz="2400" b="1" smtClean="0"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eaLnBrk="1" hangingPunct="1"/>
            <a:endParaRPr lang="en-US" altLang="zh-CN" smtClean="0"/>
          </a:p>
        </p:txBody>
      </p:sp>
      <p:pic>
        <p:nvPicPr>
          <p:cNvPr id="49156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005263"/>
            <a:ext cx="5903912" cy="247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1.</a:t>
            </a:r>
            <a:r>
              <a:rPr lang="zh-CN" altLang="en-US" smtClean="0"/>
              <a:t>最优子结构性质</a:t>
            </a:r>
            <a:endParaRPr lang="zh-CN" altLang="en-US" smtClean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记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N(i,j) = {t|(t, π(i)) ∈ Nets,t ≤ i, π(t) ≤ j }. N(i,j)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的最大不相交子集为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MNS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（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i,j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）。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Size(i,j)=|MNS(i,j)|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。</a:t>
            </a:r>
            <a:endParaRPr lang="zh-CN" altLang="en-US" sz="2400" b="1" smtClean="0">
              <a:latin typeface="Times New Roman" panose="02020603050405020304" pitchFamily="18" charset="0"/>
              <a:ea typeface="新宋体" panose="02010609030101010101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1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） 当</a:t>
            </a:r>
            <a:r>
              <a:rPr lang="en-US" altLang="zh-CN" sz="2400" b="1" smtClean="0">
                <a:latin typeface="Times New Roman" panose="02020603050405020304" pitchFamily="18" charset="0"/>
                <a:ea typeface="新宋体" panose="02010609030101010101" charset="-122"/>
              </a:rPr>
              <a:t>i = 1</a:t>
            </a:r>
            <a:r>
              <a:rPr lang="zh-CN" altLang="en-US" sz="2400" b="1" smtClean="0">
                <a:latin typeface="Times New Roman" panose="02020603050405020304" pitchFamily="18" charset="0"/>
                <a:ea typeface="新宋体" panose="02010609030101010101" charset="-122"/>
              </a:rPr>
              <a:t>时</a:t>
            </a:r>
            <a:endParaRPr lang="zh-CN" altLang="en-US" sz="2400" b="1" smtClean="0">
              <a:latin typeface="Times New Roman" panose="02020603050405020304" pitchFamily="18" charset="0"/>
              <a:ea typeface="新宋体" panose="02010609030101010101" charset="-122"/>
            </a:endParaRPr>
          </a:p>
        </p:txBody>
      </p:sp>
      <p:pic>
        <p:nvPicPr>
          <p:cNvPr id="50180" name="Picture 4" descr="电路布线问题（动态规划） - 过客 - 过☆客">
            <a:hlinkClick r:id="rId1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3068638"/>
            <a:ext cx="5905500" cy="139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388" y="260648"/>
            <a:ext cx="8785225" cy="62642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2)</a:t>
            </a:r>
            <a:r>
              <a:rPr lang="zh-CN" altLang="en-US" sz="2400" dirty="0" smtClean="0"/>
              <a:t>当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 &gt;1</a:t>
            </a:r>
            <a:r>
              <a:rPr lang="zh-CN" altLang="en-US" sz="2400" dirty="0" smtClean="0"/>
              <a:t>时</a:t>
            </a:r>
            <a:endParaRPr lang="zh-CN" altLang="en-US" sz="2400" dirty="0" smtClean="0"/>
          </a:p>
          <a:p>
            <a:pPr eaLnBrk="1" hangingPunct="1">
              <a:lnSpc>
                <a:spcPct val="90000"/>
              </a:lnSpc>
            </a:pPr>
            <a:endParaRPr lang="zh-CN" altLang="en-US" sz="24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① </a:t>
            </a:r>
            <a:r>
              <a:rPr lang="en-US" altLang="zh-CN" sz="2400" dirty="0" smtClean="0"/>
              <a:t>j &lt;π(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。此时，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,π(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)) </a:t>
            </a:r>
            <a:r>
              <a:rPr lang="zh-CN" altLang="en-US" sz="2400" dirty="0" smtClean="0"/>
              <a:t>不属于</a:t>
            </a:r>
            <a:r>
              <a:rPr lang="en-US" altLang="zh-CN" sz="2400" dirty="0" smtClean="0"/>
              <a:t>N(</a:t>
            </a:r>
            <a:r>
              <a:rPr lang="en-US" altLang="zh-CN" sz="2400" dirty="0" err="1" smtClean="0"/>
              <a:t>i,j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。故在这种情况下，</a:t>
            </a:r>
            <a:endParaRPr lang="zh-CN" altLang="en-US" sz="24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     </a:t>
            </a:r>
            <a:r>
              <a:rPr lang="en-US" altLang="zh-CN" sz="2400" dirty="0" smtClean="0"/>
              <a:t>N(</a:t>
            </a:r>
            <a:r>
              <a:rPr lang="en-US" altLang="zh-CN" sz="2400" dirty="0" err="1" smtClean="0"/>
              <a:t>i,j</a:t>
            </a:r>
            <a:r>
              <a:rPr lang="en-US" altLang="zh-CN" sz="2400" dirty="0" smtClean="0"/>
              <a:t>) = N(i-1,j)</a:t>
            </a:r>
            <a:r>
              <a:rPr lang="zh-CN" altLang="en-US" sz="2400" dirty="0" smtClean="0"/>
              <a:t>，从而</a:t>
            </a:r>
            <a:r>
              <a:rPr lang="en-US" altLang="zh-CN" sz="2400" dirty="0" smtClean="0"/>
              <a:t>Size(</a:t>
            </a:r>
            <a:r>
              <a:rPr lang="en-US" altLang="zh-CN" sz="2400" dirty="0" err="1" smtClean="0"/>
              <a:t>i,j</a:t>
            </a:r>
            <a:r>
              <a:rPr lang="en-US" altLang="zh-CN" sz="2400" dirty="0" smtClean="0"/>
              <a:t>)=Size(i-1,j).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② j ≥π(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。此时，若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, π(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))∈MNS(</a:t>
            </a:r>
            <a:r>
              <a:rPr lang="en-US" altLang="zh-CN" sz="2400" dirty="0" err="1" smtClean="0"/>
              <a:t>i,j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，则对任意</a:t>
            </a:r>
            <a:endParaRPr lang="zh-CN" altLang="en-US" sz="24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   </a:t>
            </a:r>
            <a:r>
              <a:rPr lang="en-US" altLang="zh-CN" sz="2400" dirty="0" smtClean="0"/>
              <a:t>(t, π(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))∈MNS(</a:t>
            </a:r>
            <a:r>
              <a:rPr lang="en-US" altLang="zh-CN" sz="2400" dirty="0" err="1" smtClean="0"/>
              <a:t>i,j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有</a:t>
            </a:r>
            <a:r>
              <a:rPr lang="en-US" altLang="zh-CN" sz="2400" dirty="0" smtClean="0"/>
              <a:t>t &lt; </a:t>
            </a:r>
            <a:r>
              <a:rPr lang="en-US" altLang="zh-CN" sz="2400" dirty="0" err="1" smtClean="0"/>
              <a:t>i</a:t>
            </a:r>
            <a:r>
              <a:rPr lang="zh-CN" altLang="en-US" sz="2400" dirty="0" smtClean="0"/>
              <a:t>且</a:t>
            </a:r>
            <a:r>
              <a:rPr lang="en-US" altLang="zh-CN" sz="2400" dirty="0" smtClean="0"/>
              <a:t>π(t)&lt; π(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；</a:t>
            </a:r>
            <a:endParaRPr lang="zh-CN" altLang="en-US" sz="24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   否则，</a:t>
            </a:r>
            <a:r>
              <a:rPr lang="en-US" altLang="zh-CN" sz="2400" dirty="0" smtClean="0"/>
              <a:t>(t, π(t))</a:t>
            </a:r>
            <a:r>
              <a:rPr lang="zh-CN" altLang="en-US" sz="2400" dirty="0" smtClean="0"/>
              <a:t>与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, π(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))</a:t>
            </a:r>
            <a:r>
              <a:rPr lang="zh-CN" altLang="en-US" sz="2400" dirty="0" smtClean="0"/>
              <a:t>相交。在这种情况下</a:t>
            </a:r>
            <a:r>
              <a:rPr lang="en-US" altLang="zh-CN" sz="2400" dirty="0" smtClean="0"/>
              <a:t>MNS(</a:t>
            </a:r>
            <a:r>
              <a:rPr lang="en-US" altLang="zh-CN" sz="2400" dirty="0" err="1" smtClean="0"/>
              <a:t>i,j</a:t>
            </a:r>
            <a:r>
              <a:rPr lang="en-US" altLang="zh-CN" sz="2400" dirty="0" smtClean="0"/>
              <a:t>)-{(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, π(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))}</a:t>
            </a:r>
            <a:r>
              <a:rPr lang="zh-CN" altLang="en-US" sz="2400" dirty="0" smtClean="0"/>
              <a:t>是</a:t>
            </a:r>
            <a:r>
              <a:rPr lang="en-US" altLang="zh-CN" sz="2400" dirty="0" smtClean="0"/>
              <a:t>N(i-1, π(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)-1)</a:t>
            </a:r>
            <a:r>
              <a:rPr lang="zh-CN" altLang="en-US" sz="2400" dirty="0" smtClean="0"/>
              <a:t>的最大不相交子集。否则，子集</a:t>
            </a:r>
            <a:r>
              <a:rPr lang="en-US" altLang="zh-CN" sz="2400" dirty="0" smtClean="0"/>
              <a:t>MNS(i-1, π(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)-1)∪{(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, π(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))}</a:t>
            </a:r>
            <a:r>
              <a:rPr lang="zh-CN" altLang="en-US" sz="2400" dirty="0" smtClean="0"/>
              <a:t>包含于</a:t>
            </a:r>
            <a:r>
              <a:rPr lang="en-US" altLang="zh-CN" sz="2400" dirty="0" smtClean="0"/>
              <a:t>N(</a:t>
            </a:r>
            <a:r>
              <a:rPr lang="en-US" altLang="zh-CN" sz="2400" dirty="0" err="1" smtClean="0"/>
              <a:t>i,j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是比</a:t>
            </a:r>
            <a:r>
              <a:rPr lang="en-US" altLang="zh-CN" sz="2400" dirty="0" smtClean="0"/>
              <a:t>MNS(</a:t>
            </a:r>
            <a:r>
              <a:rPr lang="en-US" altLang="zh-CN" sz="2400" dirty="0" err="1" smtClean="0"/>
              <a:t>i,j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更大的</a:t>
            </a:r>
            <a:r>
              <a:rPr lang="en-US" altLang="zh-CN" sz="2400" dirty="0" smtClean="0"/>
              <a:t>N(</a:t>
            </a:r>
            <a:r>
              <a:rPr lang="en-US" altLang="zh-CN" sz="2400" dirty="0" err="1" smtClean="0"/>
              <a:t>i,j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的不相交子集。这与</a:t>
            </a:r>
            <a:r>
              <a:rPr lang="en-US" altLang="zh-CN" sz="2400" dirty="0" smtClean="0"/>
              <a:t>MNS(</a:t>
            </a:r>
            <a:r>
              <a:rPr lang="en-US" altLang="zh-CN" sz="2400" dirty="0" err="1" smtClean="0"/>
              <a:t>i,j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的定义相矛盾。</a:t>
            </a:r>
            <a:endParaRPr lang="zh-CN" altLang="en-US" sz="24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若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, π(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))</a:t>
            </a:r>
            <a:r>
              <a:rPr lang="zh-CN" altLang="en-US" sz="2400" dirty="0" smtClean="0"/>
              <a:t>不属于</a:t>
            </a:r>
            <a:r>
              <a:rPr lang="en-US" altLang="zh-CN" sz="2400" dirty="0" smtClean="0"/>
              <a:t>MNS(</a:t>
            </a:r>
            <a:r>
              <a:rPr lang="en-US" altLang="zh-CN" sz="2400" dirty="0" err="1" smtClean="0"/>
              <a:t>i,j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，则对任意</a:t>
            </a:r>
            <a:r>
              <a:rPr lang="en-US" altLang="zh-CN" sz="2400" dirty="0" smtClean="0"/>
              <a:t>(t, π(t))∈MNS(</a:t>
            </a:r>
            <a:r>
              <a:rPr lang="en-US" altLang="zh-CN" sz="2400" dirty="0" err="1" smtClean="0"/>
              <a:t>i,j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，有</a:t>
            </a:r>
            <a:r>
              <a:rPr lang="en-US" altLang="zh-CN" sz="2400" dirty="0" smtClean="0"/>
              <a:t>t&lt;</a:t>
            </a:r>
            <a:r>
              <a:rPr lang="en-US" altLang="zh-CN" sz="2400" dirty="0" err="1" smtClean="0"/>
              <a:t>i</a:t>
            </a:r>
            <a:r>
              <a:rPr lang="zh-CN" altLang="en-US" sz="2400" dirty="0" smtClean="0"/>
              <a:t>。从而</a:t>
            </a:r>
            <a:r>
              <a:rPr lang="en-US" altLang="zh-CN" sz="2400" dirty="0" smtClean="0"/>
              <a:t>MNS(</a:t>
            </a:r>
            <a:r>
              <a:rPr lang="en-US" altLang="zh-CN" sz="2400" dirty="0" err="1" smtClean="0"/>
              <a:t>i,j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包含于</a:t>
            </a:r>
            <a:r>
              <a:rPr lang="en-US" altLang="zh-CN" sz="2400" dirty="0" smtClean="0"/>
              <a:t>N(i-1,j)</a:t>
            </a:r>
            <a:r>
              <a:rPr lang="zh-CN" altLang="en-US" sz="2400" dirty="0" smtClean="0"/>
              <a:t>，因此，</a:t>
            </a:r>
            <a:r>
              <a:rPr lang="en-US" altLang="zh-CN" sz="2400" dirty="0" smtClean="0"/>
              <a:t>Size(</a:t>
            </a:r>
            <a:r>
              <a:rPr lang="en-US" altLang="zh-CN" sz="2400" dirty="0" err="1" smtClean="0"/>
              <a:t>i,j</a:t>
            </a:r>
            <a:r>
              <a:rPr lang="en-US" altLang="zh-CN" sz="2400" dirty="0" smtClean="0"/>
              <a:t>)≤Size(i-1,j).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另一方面，</a:t>
            </a:r>
            <a:r>
              <a:rPr lang="en-US" altLang="zh-CN" sz="2400" dirty="0" smtClean="0"/>
              <a:t>MNS(i-1,j)</a:t>
            </a:r>
            <a:r>
              <a:rPr lang="zh-CN" altLang="en-US" sz="2400" dirty="0" smtClean="0"/>
              <a:t>包含于</a:t>
            </a:r>
            <a:r>
              <a:rPr lang="en-US" altLang="zh-CN" sz="2400" dirty="0" smtClean="0"/>
              <a:t>N(</a:t>
            </a:r>
            <a:r>
              <a:rPr lang="en-US" altLang="zh-CN" sz="2400" dirty="0" err="1" smtClean="0"/>
              <a:t>i,j</a:t>
            </a:r>
            <a:r>
              <a:rPr lang="en-US" altLang="zh-CN" sz="2400" dirty="0" smtClean="0"/>
              <a:t>),</a:t>
            </a:r>
            <a:r>
              <a:rPr lang="zh-CN" altLang="en-US" sz="2400" dirty="0" smtClean="0"/>
              <a:t>故又有</a:t>
            </a:r>
            <a:r>
              <a:rPr lang="en-US" altLang="zh-CN" sz="2400" dirty="0" smtClean="0"/>
              <a:t>Size(</a:t>
            </a:r>
            <a:r>
              <a:rPr lang="en-US" altLang="zh-CN" sz="2400" dirty="0" err="1" smtClean="0"/>
              <a:t>i,j</a:t>
            </a:r>
            <a:r>
              <a:rPr lang="en-US" altLang="zh-CN" sz="2400" dirty="0" smtClean="0"/>
              <a:t>) ≥Size(i-1,j)</a:t>
            </a:r>
            <a:r>
              <a:rPr lang="zh-CN" altLang="en-US" sz="2400" dirty="0" smtClean="0"/>
              <a:t>，从而</a:t>
            </a:r>
            <a:r>
              <a:rPr lang="en-US" altLang="zh-CN" sz="2400" dirty="0" smtClean="0"/>
              <a:t>Size</a:t>
            </a:r>
            <a:r>
              <a:rPr lang="zh-CN" altLang="en-US" sz="2400" dirty="0" smtClean="0"/>
              <a:t>（</a:t>
            </a:r>
            <a:r>
              <a:rPr lang="en-US" altLang="zh-CN" sz="2400" dirty="0" err="1" smtClean="0"/>
              <a:t>i,j</a:t>
            </a:r>
            <a:r>
              <a:rPr lang="zh-CN" altLang="en-US" sz="2400" dirty="0" smtClean="0"/>
              <a:t>）</a:t>
            </a:r>
            <a:r>
              <a:rPr lang="en-US" altLang="zh-CN" sz="2400" dirty="0" smtClean="0"/>
              <a:t>= Size(i-1,j).</a:t>
            </a:r>
            <a:endParaRPr lang="en-US" altLang="zh-CN" sz="2400" dirty="0" smtClean="0"/>
          </a:p>
        </p:txBody>
      </p:sp>
      <p:sp>
        <p:nvSpPr>
          <p:cNvPr id="150533" name="Line 5"/>
          <p:cNvSpPr>
            <a:spLocks noChangeShapeType="1"/>
          </p:cNvSpPr>
          <p:nvPr/>
        </p:nvSpPr>
        <p:spPr bwMode="auto">
          <a:xfrm>
            <a:off x="6372200" y="3429149"/>
            <a:ext cx="23764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34" name="Line 6"/>
          <p:cNvSpPr>
            <a:spLocks noChangeShapeType="1"/>
          </p:cNvSpPr>
          <p:nvPr/>
        </p:nvSpPr>
        <p:spPr bwMode="auto">
          <a:xfrm>
            <a:off x="1258888" y="6705749"/>
            <a:ext cx="29527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35" name="Line 7"/>
          <p:cNvSpPr>
            <a:spLocks noChangeShapeType="1"/>
          </p:cNvSpPr>
          <p:nvPr/>
        </p:nvSpPr>
        <p:spPr bwMode="auto">
          <a:xfrm>
            <a:off x="1042988" y="1844824"/>
            <a:ext cx="20161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36" name="Line 8"/>
          <p:cNvSpPr>
            <a:spLocks noChangeShapeType="1"/>
          </p:cNvSpPr>
          <p:nvPr/>
        </p:nvSpPr>
        <p:spPr bwMode="auto">
          <a:xfrm>
            <a:off x="3924300" y="1844824"/>
            <a:ext cx="24479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5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50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50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50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5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50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50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150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1505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50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0" grpId="0" build="p"/>
      <p:bldP spid="150533" grpId="0" animBg="1"/>
      <p:bldP spid="150534" grpId="0" animBg="1"/>
      <p:bldP spid="150535" grpId="0" animBg="1"/>
      <p:bldP spid="15053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333375"/>
            <a:ext cx="8229600" cy="57975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900" b="1" smtClean="0">
                <a:solidFill>
                  <a:schemeClr val="tx2"/>
                </a:solidFill>
              </a:rPr>
              <a:t>2. </a:t>
            </a:r>
            <a:r>
              <a:rPr lang="zh-CN" altLang="en-US" sz="3900" b="1" smtClean="0">
                <a:solidFill>
                  <a:schemeClr val="tx2"/>
                </a:solidFill>
              </a:rPr>
              <a:t>递归计算最优值</a:t>
            </a:r>
            <a:endParaRPr lang="zh-CN" altLang="en-US" sz="3900" b="1" smtClean="0">
              <a:solidFill>
                <a:schemeClr val="tx2"/>
              </a:solidFill>
            </a:endParaRPr>
          </a:p>
          <a:p>
            <a:pPr eaLnBrk="1" hangingPunct="1"/>
            <a:endParaRPr lang="zh-CN" altLang="en-US" smtClean="0"/>
          </a:p>
          <a:p>
            <a:pPr eaLnBrk="1" hangingPunct="1"/>
            <a:r>
              <a:rPr lang="zh-CN" altLang="en-US" smtClean="0"/>
              <a:t>经以上后分，可电路布线问题的最优值为</a:t>
            </a:r>
            <a:r>
              <a:rPr lang="en-US" altLang="zh-CN" smtClean="0"/>
              <a:t>Size(n,n)</a:t>
            </a:r>
            <a:r>
              <a:rPr lang="zh-CN" altLang="en-US" smtClean="0"/>
              <a:t>。由该问题的最优子结构性质可知：</a:t>
            </a:r>
            <a:endParaRPr lang="zh-CN" altLang="en-US" smtClean="0"/>
          </a:p>
          <a:p>
            <a:pPr eaLnBrk="1" hangingPunct="1"/>
            <a:endParaRPr lang="zh-CN" altLang="en-US" smtClean="0"/>
          </a:p>
          <a:p>
            <a:pPr eaLnBrk="1" hangingPunct="1"/>
            <a:endParaRPr lang="en-US" altLang="zh-CN" smtClean="0"/>
          </a:p>
        </p:txBody>
      </p:sp>
      <p:pic>
        <p:nvPicPr>
          <p:cNvPr id="52227" name="Picture 3" descr="485065827365519064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25725"/>
            <a:ext cx="8713788" cy="376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620713"/>
            <a:ext cx="8229600" cy="551021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mtClean="0"/>
              <a:t>3. </a:t>
            </a:r>
            <a:r>
              <a:rPr lang="zh-CN" altLang="en-US" smtClean="0"/>
              <a:t>根据上面递归式可以得到二维表：</a:t>
            </a:r>
            <a:endParaRPr lang="zh-CN" altLang="en-US" smtClean="0"/>
          </a:p>
          <a:p>
            <a:pPr eaLnBrk="1" hangingPunct="1"/>
            <a:endParaRPr lang="zh-CN" altLang="en-US" smtClean="0"/>
          </a:p>
          <a:p>
            <a:pPr eaLnBrk="1" hangingPunct="1"/>
            <a:endParaRPr lang="en-US" altLang="zh-CN" smtClean="0"/>
          </a:p>
        </p:txBody>
      </p:sp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44675"/>
            <a:ext cx="9144000" cy="333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205038"/>
            <a:ext cx="7543800" cy="1295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590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最优二叉查找树</a:t>
            </a:r>
            <a:endParaRPr lang="zh-CN" altLang="en-US" sz="5900" smtClean="0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最优二叉查找树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650875" y="156686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600">
                <a:latin typeface="黑体" panose="02010609060101010101" pitchFamily="2" charset="-122"/>
                <a:ea typeface="黑体" panose="02010609060101010101" pitchFamily="2" charset="-122"/>
              </a:rPr>
              <a:t>二叉查找树</a:t>
            </a:r>
            <a:endParaRPr lang="zh-CN" altLang="en-US" sz="3000">
              <a:latin typeface="Verdana" panose="020B060403050404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endParaRPr lang="ja-JP" altLang="en-US" sz="3000"/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684213" y="2205038"/>
            <a:ext cx="4967287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>
                <a:latin typeface="Tahoma" panose="020B0604030504040204" pitchFamily="34" charset="0"/>
                <a:ea typeface="黑体" panose="02010609060101010101" pitchFamily="2" charset="-122"/>
              </a:rPr>
              <a:t>1</a:t>
            </a:r>
            <a:r>
              <a:rPr kumimoji="1" lang="zh-CN" altLang="en-US" sz="2400">
                <a:latin typeface="Tahoma" panose="020B0604030504040204" pitchFamily="34" charset="0"/>
                <a:ea typeface="黑体" panose="02010609060101010101" pitchFamily="2" charset="-122"/>
              </a:rPr>
              <a:t>）若左子树不空，则左子树上所有节点的值均小于它的根节点的值</a:t>
            </a:r>
            <a:r>
              <a:rPr kumimoji="1" lang="en-US" altLang="zh-CN" sz="2400">
                <a:latin typeface="Tahoma" panose="020B0604030504040204" pitchFamily="34" charset="0"/>
                <a:ea typeface="黑体" panose="02010609060101010101" pitchFamily="2" charset="-122"/>
              </a:rPr>
              <a:t>;</a:t>
            </a:r>
            <a:endParaRPr kumimoji="1" lang="en-US" altLang="zh-CN" sz="2400">
              <a:latin typeface="Tahoma" panose="020B0604030504040204" pitchFamily="34" charset="0"/>
              <a:ea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>
                <a:latin typeface="Tahoma" panose="020B0604030504040204" pitchFamily="34" charset="0"/>
                <a:ea typeface="黑体" panose="02010609060101010101" pitchFamily="2" charset="-122"/>
              </a:rPr>
              <a:t>2</a:t>
            </a:r>
            <a:r>
              <a:rPr kumimoji="1" lang="zh-CN" altLang="en-US" sz="2400">
                <a:latin typeface="Tahoma" panose="020B0604030504040204" pitchFamily="34" charset="0"/>
                <a:ea typeface="黑体" panose="02010609060101010101" pitchFamily="2" charset="-122"/>
              </a:rPr>
              <a:t>）若右子树不空，则右子树上所有节点的值均大于它的根节点的值</a:t>
            </a:r>
            <a:r>
              <a:rPr kumimoji="1" lang="en-US" altLang="zh-CN" sz="2400">
                <a:latin typeface="Tahoma" panose="020B0604030504040204" pitchFamily="34" charset="0"/>
                <a:ea typeface="黑体" panose="02010609060101010101" pitchFamily="2" charset="-122"/>
              </a:rPr>
              <a:t>;</a:t>
            </a:r>
            <a:endParaRPr kumimoji="1" lang="en-US" altLang="zh-CN" sz="2400">
              <a:latin typeface="Tahoma" panose="020B0604030504040204" pitchFamily="34" charset="0"/>
              <a:ea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>
                <a:latin typeface="Tahoma" panose="020B0604030504040204" pitchFamily="34" charset="0"/>
                <a:ea typeface="黑体" panose="02010609060101010101" pitchFamily="2" charset="-122"/>
              </a:rPr>
              <a:t>3</a:t>
            </a:r>
            <a:r>
              <a:rPr kumimoji="1" lang="zh-CN" altLang="en-US" sz="2400">
                <a:latin typeface="Tahoma" panose="020B0604030504040204" pitchFamily="34" charset="0"/>
                <a:ea typeface="黑体" panose="02010609060101010101" pitchFamily="2" charset="-122"/>
              </a:rPr>
              <a:t>）左</a:t>
            </a:r>
            <a:r>
              <a:rPr kumimoji="1" lang="zh-CN" altLang="en-US" sz="2400">
                <a:latin typeface="Tahoma" panose="020B0604030504040204" pitchFamily="34" charset="0"/>
              </a:rPr>
              <a:t>、</a:t>
            </a:r>
            <a:r>
              <a:rPr kumimoji="1" lang="zh-CN" altLang="en-US" sz="2400">
                <a:latin typeface="Tahoma" panose="020B0604030504040204" pitchFamily="34" charset="0"/>
                <a:ea typeface="黑体" panose="02010609060101010101" pitchFamily="2" charset="-122"/>
              </a:rPr>
              <a:t>右子树也分别为二叉查找树</a:t>
            </a:r>
            <a:endParaRPr kumimoji="1" lang="zh-CN" altLang="en-US" sz="240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grpSp>
        <p:nvGrpSpPr>
          <p:cNvPr id="55301" name="Group 5"/>
          <p:cNvGrpSpPr/>
          <p:nvPr/>
        </p:nvGrpSpPr>
        <p:grpSpPr bwMode="auto">
          <a:xfrm>
            <a:off x="5795963" y="1117600"/>
            <a:ext cx="2881312" cy="3429000"/>
            <a:chOff x="3744" y="1248"/>
            <a:chExt cx="1878" cy="2160"/>
          </a:xfrm>
        </p:grpSpPr>
        <p:sp>
          <p:nvSpPr>
            <p:cNvPr id="55303" name="Oval 6"/>
            <p:cNvSpPr>
              <a:spLocks noChangeArrowheads="1"/>
            </p:cNvSpPr>
            <p:nvPr/>
          </p:nvSpPr>
          <p:spPr bwMode="auto">
            <a:xfrm>
              <a:off x="4512" y="1248"/>
              <a:ext cx="240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04" name="Oval 7"/>
            <p:cNvSpPr>
              <a:spLocks noChangeArrowheads="1"/>
            </p:cNvSpPr>
            <p:nvPr/>
          </p:nvSpPr>
          <p:spPr bwMode="auto">
            <a:xfrm>
              <a:off x="3744" y="2016"/>
              <a:ext cx="240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05" name="Oval 8"/>
            <p:cNvSpPr>
              <a:spLocks noChangeArrowheads="1"/>
            </p:cNvSpPr>
            <p:nvPr/>
          </p:nvSpPr>
          <p:spPr bwMode="auto">
            <a:xfrm>
              <a:off x="4128" y="1632"/>
              <a:ext cx="240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06" name="Oval 9"/>
            <p:cNvSpPr>
              <a:spLocks noChangeArrowheads="1"/>
            </p:cNvSpPr>
            <p:nvPr/>
          </p:nvSpPr>
          <p:spPr bwMode="auto">
            <a:xfrm>
              <a:off x="4896" y="1632"/>
              <a:ext cx="240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07" name="Oval 10"/>
            <p:cNvSpPr>
              <a:spLocks noChangeArrowheads="1"/>
            </p:cNvSpPr>
            <p:nvPr/>
          </p:nvSpPr>
          <p:spPr bwMode="auto">
            <a:xfrm>
              <a:off x="5328" y="2064"/>
              <a:ext cx="240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08" name="Oval 11"/>
            <p:cNvSpPr>
              <a:spLocks noChangeArrowheads="1"/>
            </p:cNvSpPr>
            <p:nvPr/>
          </p:nvSpPr>
          <p:spPr bwMode="auto">
            <a:xfrm>
              <a:off x="4512" y="2016"/>
              <a:ext cx="240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09" name="Oval 12"/>
            <p:cNvSpPr>
              <a:spLocks noChangeArrowheads="1"/>
            </p:cNvSpPr>
            <p:nvPr/>
          </p:nvSpPr>
          <p:spPr bwMode="auto">
            <a:xfrm>
              <a:off x="4992" y="2448"/>
              <a:ext cx="240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0" name="Oval 13"/>
            <p:cNvSpPr>
              <a:spLocks noChangeArrowheads="1"/>
            </p:cNvSpPr>
            <p:nvPr/>
          </p:nvSpPr>
          <p:spPr bwMode="auto">
            <a:xfrm>
              <a:off x="4992" y="3168"/>
              <a:ext cx="240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1" name="Oval 14"/>
            <p:cNvSpPr>
              <a:spLocks noChangeArrowheads="1"/>
            </p:cNvSpPr>
            <p:nvPr/>
          </p:nvSpPr>
          <p:spPr bwMode="auto">
            <a:xfrm>
              <a:off x="4168" y="2396"/>
              <a:ext cx="240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2" name="Oval 15"/>
            <p:cNvSpPr>
              <a:spLocks noChangeArrowheads="1"/>
            </p:cNvSpPr>
            <p:nvPr/>
          </p:nvSpPr>
          <p:spPr bwMode="auto">
            <a:xfrm>
              <a:off x="5328" y="2784"/>
              <a:ext cx="240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5313" name="AutoShape 16"/>
            <p:cNvCxnSpPr>
              <a:cxnSpLocks noChangeShapeType="1"/>
              <a:stCxn id="55303" idx="3"/>
              <a:endCxn id="55305" idx="7"/>
            </p:cNvCxnSpPr>
            <p:nvPr/>
          </p:nvCxnSpPr>
          <p:spPr bwMode="auto">
            <a:xfrm flipH="1">
              <a:off x="4333" y="1462"/>
              <a:ext cx="214" cy="1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14" name="AutoShape 17"/>
            <p:cNvCxnSpPr>
              <a:cxnSpLocks noChangeShapeType="1"/>
              <a:stCxn id="55305" idx="3"/>
              <a:endCxn id="55304" idx="7"/>
            </p:cNvCxnSpPr>
            <p:nvPr/>
          </p:nvCxnSpPr>
          <p:spPr bwMode="auto">
            <a:xfrm flipH="1">
              <a:off x="3949" y="1846"/>
              <a:ext cx="214" cy="1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15" name="AutoShape 18"/>
            <p:cNvCxnSpPr>
              <a:cxnSpLocks noChangeShapeType="1"/>
              <a:stCxn id="55305" idx="5"/>
              <a:endCxn id="55308" idx="1"/>
            </p:cNvCxnSpPr>
            <p:nvPr/>
          </p:nvCxnSpPr>
          <p:spPr bwMode="auto">
            <a:xfrm>
              <a:off x="4333" y="1846"/>
              <a:ext cx="214" cy="1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16" name="AutoShape 19"/>
            <p:cNvCxnSpPr>
              <a:cxnSpLocks noChangeShapeType="1"/>
              <a:stCxn id="55303" idx="5"/>
              <a:endCxn id="55306" idx="1"/>
            </p:cNvCxnSpPr>
            <p:nvPr/>
          </p:nvCxnSpPr>
          <p:spPr bwMode="auto">
            <a:xfrm>
              <a:off x="4717" y="1462"/>
              <a:ext cx="214" cy="1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17" name="AutoShape 20"/>
            <p:cNvCxnSpPr>
              <a:cxnSpLocks noChangeShapeType="1"/>
              <a:stCxn id="55306" idx="5"/>
              <a:endCxn id="55307" idx="1"/>
            </p:cNvCxnSpPr>
            <p:nvPr/>
          </p:nvCxnSpPr>
          <p:spPr bwMode="auto">
            <a:xfrm>
              <a:off x="5101" y="1846"/>
              <a:ext cx="262" cy="24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18" name="AutoShape 21"/>
            <p:cNvCxnSpPr>
              <a:cxnSpLocks noChangeShapeType="1"/>
              <a:stCxn id="55307" idx="3"/>
              <a:endCxn id="55309" idx="7"/>
            </p:cNvCxnSpPr>
            <p:nvPr/>
          </p:nvCxnSpPr>
          <p:spPr bwMode="auto">
            <a:xfrm flipH="1">
              <a:off x="5197" y="2278"/>
              <a:ext cx="166" cy="1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19" name="AutoShape 22"/>
            <p:cNvCxnSpPr>
              <a:cxnSpLocks noChangeShapeType="1"/>
              <a:stCxn id="55309" idx="5"/>
              <a:endCxn id="55312" idx="1"/>
            </p:cNvCxnSpPr>
            <p:nvPr/>
          </p:nvCxnSpPr>
          <p:spPr bwMode="auto">
            <a:xfrm>
              <a:off x="5197" y="2662"/>
              <a:ext cx="166" cy="14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20" name="AutoShape 23"/>
            <p:cNvCxnSpPr>
              <a:cxnSpLocks noChangeShapeType="1"/>
              <a:stCxn id="55312" idx="3"/>
              <a:endCxn id="55310" idx="7"/>
            </p:cNvCxnSpPr>
            <p:nvPr/>
          </p:nvCxnSpPr>
          <p:spPr bwMode="auto">
            <a:xfrm flipH="1">
              <a:off x="5197" y="2998"/>
              <a:ext cx="166" cy="1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5321" name="Text Box 24"/>
            <p:cNvSpPr txBox="1">
              <a:spLocks noChangeArrowheads="1"/>
            </p:cNvSpPr>
            <p:nvPr/>
          </p:nvSpPr>
          <p:spPr bwMode="auto">
            <a:xfrm>
              <a:off x="4490" y="1264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ja-JP" altLang="en-US" sz="1600">
                  <a:latin typeface="Verdana" panose="020B0604030504040204" pitchFamily="34" charset="0"/>
                </a:rPr>
                <a:t>45</a:t>
              </a:r>
              <a:endParaRPr kumimoji="1" lang="ja-JP" altLang="en-US" sz="1600">
                <a:latin typeface="Verdana" panose="020B0604030504040204" pitchFamily="34" charset="0"/>
              </a:endParaRPr>
            </a:p>
          </p:txBody>
        </p:sp>
        <p:sp>
          <p:nvSpPr>
            <p:cNvPr id="55322" name="Text Box 25"/>
            <p:cNvSpPr txBox="1">
              <a:spLocks noChangeArrowheads="1"/>
            </p:cNvSpPr>
            <p:nvPr/>
          </p:nvSpPr>
          <p:spPr bwMode="auto">
            <a:xfrm>
              <a:off x="4108" y="1644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ja-JP" altLang="en-US" sz="1600">
                  <a:latin typeface="Verdana" panose="020B0604030504040204" pitchFamily="34" charset="0"/>
                </a:rPr>
                <a:t>12</a:t>
              </a:r>
              <a:endParaRPr kumimoji="1" lang="ja-JP" altLang="en-US" sz="1600">
                <a:latin typeface="Verdana" panose="020B0604030504040204" pitchFamily="34" charset="0"/>
              </a:endParaRPr>
            </a:p>
          </p:txBody>
        </p:sp>
        <p:sp>
          <p:nvSpPr>
            <p:cNvPr id="55323" name="Text Box 26"/>
            <p:cNvSpPr txBox="1">
              <a:spLocks noChangeArrowheads="1"/>
            </p:cNvSpPr>
            <p:nvPr/>
          </p:nvSpPr>
          <p:spPr bwMode="auto">
            <a:xfrm>
              <a:off x="4877" y="1648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ja-JP" altLang="en-US" sz="1600">
                  <a:latin typeface="Verdana" panose="020B0604030504040204" pitchFamily="34" charset="0"/>
                </a:rPr>
                <a:t>53</a:t>
              </a:r>
              <a:endParaRPr kumimoji="1" lang="ja-JP" altLang="en-US" sz="1600">
                <a:latin typeface="Verdana" panose="020B0604030504040204" pitchFamily="34" charset="0"/>
              </a:endParaRPr>
            </a:p>
          </p:txBody>
        </p:sp>
        <p:sp>
          <p:nvSpPr>
            <p:cNvPr id="55324" name="Text Box 27"/>
            <p:cNvSpPr txBox="1">
              <a:spLocks noChangeArrowheads="1"/>
            </p:cNvSpPr>
            <p:nvPr/>
          </p:nvSpPr>
          <p:spPr bwMode="auto">
            <a:xfrm>
              <a:off x="3762" y="2036"/>
              <a:ext cx="20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ja-JP" altLang="en-US" sz="1600">
                  <a:latin typeface="Verdana" panose="020B0604030504040204" pitchFamily="34" charset="0"/>
                </a:rPr>
                <a:t>3</a:t>
              </a:r>
              <a:endParaRPr kumimoji="1" lang="ja-JP" altLang="en-US" sz="1600">
                <a:latin typeface="Verdana" panose="020B0604030504040204" pitchFamily="34" charset="0"/>
              </a:endParaRPr>
            </a:p>
          </p:txBody>
        </p:sp>
        <p:sp>
          <p:nvSpPr>
            <p:cNvPr id="55325" name="Text Box 28"/>
            <p:cNvSpPr txBox="1">
              <a:spLocks noChangeArrowheads="1"/>
            </p:cNvSpPr>
            <p:nvPr/>
          </p:nvSpPr>
          <p:spPr bwMode="auto">
            <a:xfrm>
              <a:off x="4485" y="2028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ja-JP" altLang="en-US" sz="1600">
                  <a:latin typeface="Verdana" panose="020B0604030504040204" pitchFamily="34" charset="0"/>
                </a:rPr>
                <a:t>37</a:t>
              </a:r>
              <a:endParaRPr kumimoji="1" lang="ja-JP" altLang="en-US" sz="1600">
                <a:latin typeface="Verdana" panose="020B0604030504040204" pitchFamily="34" charset="0"/>
              </a:endParaRPr>
            </a:p>
          </p:txBody>
        </p:sp>
        <p:sp>
          <p:nvSpPr>
            <p:cNvPr id="55326" name="Text Box 29"/>
            <p:cNvSpPr txBox="1">
              <a:spLocks noChangeArrowheads="1"/>
            </p:cNvSpPr>
            <p:nvPr/>
          </p:nvSpPr>
          <p:spPr bwMode="auto">
            <a:xfrm>
              <a:off x="4144" y="2408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ja-JP" altLang="en-US" sz="1600">
                  <a:latin typeface="Verdana" panose="020B0604030504040204" pitchFamily="34" charset="0"/>
                </a:rPr>
                <a:t>24</a:t>
              </a:r>
              <a:endParaRPr kumimoji="1" lang="ja-JP" altLang="en-US" sz="1600">
                <a:latin typeface="Verdana" panose="020B0604030504040204" pitchFamily="34" charset="0"/>
              </a:endParaRPr>
            </a:p>
          </p:txBody>
        </p:sp>
        <p:sp>
          <p:nvSpPr>
            <p:cNvPr id="55327" name="Text Box 30"/>
            <p:cNvSpPr txBox="1">
              <a:spLocks noChangeArrowheads="1"/>
            </p:cNvSpPr>
            <p:nvPr/>
          </p:nvSpPr>
          <p:spPr bwMode="auto">
            <a:xfrm>
              <a:off x="5282" y="2088"/>
              <a:ext cx="3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ja-JP" altLang="en-US" sz="1400">
                  <a:latin typeface="Verdana" panose="020B0604030504040204" pitchFamily="34" charset="0"/>
                </a:rPr>
                <a:t>100</a:t>
              </a:r>
              <a:endParaRPr kumimoji="1" lang="ja-JP" altLang="en-US" sz="1400">
                <a:latin typeface="Verdana" panose="020B0604030504040204" pitchFamily="34" charset="0"/>
              </a:endParaRPr>
            </a:p>
          </p:txBody>
        </p:sp>
        <p:sp>
          <p:nvSpPr>
            <p:cNvPr id="55328" name="Text Box 31"/>
            <p:cNvSpPr txBox="1">
              <a:spLocks noChangeArrowheads="1"/>
            </p:cNvSpPr>
            <p:nvPr/>
          </p:nvSpPr>
          <p:spPr bwMode="auto">
            <a:xfrm>
              <a:off x="4972" y="2464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ja-JP" altLang="en-US" sz="1600">
                  <a:latin typeface="Verdana" panose="020B0604030504040204" pitchFamily="34" charset="0"/>
                </a:rPr>
                <a:t>61</a:t>
              </a:r>
              <a:endParaRPr kumimoji="1" lang="ja-JP" altLang="en-US" sz="1600">
                <a:latin typeface="Verdana" panose="020B0604030504040204" pitchFamily="34" charset="0"/>
              </a:endParaRPr>
            </a:p>
          </p:txBody>
        </p:sp>
        <p:sp>
          <p:nvSpPr>
            <p:cNvPr id="55329" name="Text Box 32"/>
            <p:cNvSpPr txBox="1">
              <a:spLocks noChangeArrowheads="1"/>
            </p:cNvSpPr>
            <p:nvPr/>
          </p:nvSpPr>
          <p:spPr bwMode="auto">
            <a:xfrm>
              <a:off x="5300" y="2800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ja-JP" altLang="en-US" sz="1600">
                  <a:latin typeface="Verdana" panose="020B0604030504040204" pitchFamily="34" charset="0"/>
                </a:rPr>
                <a:t>90</a:t>
              </a:r>
              <a:endParaRPr kumimoji="1" lang="ja-JP" altLang="en-US" sz="1600">
                <a:latin typeface="Verdana" panose="020B0604030504040204" pitchFamily="34" charset="0"/>
              </a:endParaRPr>
            </a:p>
          </p:txBody>
        </p:sp>
        <p:sp>
          <p:nvSpPr>
            <p:cNvPr id="55330" name="Text Box 33"/>
            <p:cNvSpPr txBox="1">
              <a:spLocks noChangeArrowheads="1"/>
            </p:cNvSpPr>
            <p:nvPr/>
          </p:nvSpPr>
          <p:spPr bwMode="auto">
            <a:xfrm>
              <a:off x="4972" y="3184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ja-JP" altLang="en-US" sz="1600">
                  <a:latin typeface="Verdana" panose="020B0604030504040204" pitchFamily="34" charset="0"/>
                </a:rPr>
                <a:t>78</a:t>
              </a:r>
              <a:endParaRPr kumimoji="1" lang="ja-JP" altLang="en-US" sz="1600">
                <a:latin typeface="Verdana" panose="020B0604030504040204" pitchFamily="34" charset="0"/>
              </a:endParaRPr>
            </a:p>
          </p:txBody>
        </p:sp>
        <p:cxnSp>
          <p:nvCxnSpPr>
            <p:cNvPr id="55331" name="AutoShape 34"/>
            <p:cNvCxnSpPr>
              <a:cxnSpLocks noChangeShapeType="1"/>
              <a:stCxn id="55308" idx="3"/>
              <a:endCxn id="55311" idx="7"/>
            </p:cNvCxnSpPr>
            <p:nvPr/>
          </p:nvCxnSpPr>
          <p:spPr bwMode="auto">
            <a:xfrm flipH="1">
              <a:off x="4373" y="2230"/>
              <a:ext cx="174" cy="19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5302" name="Text Box 35"/>
          <p:cNvSpPr txBox="1">
            <a:spLocks noChangeArrowheads="1"/>
          </p:cNvSpPr>
          <p:nvPr/>
        </p:nvSpPr>
        <p:spPr bwMode="auto">
          <a:xfrm>
            <a:off x="611188" y="4941888"/>
            <a:ext cx="5092700" cy="1006475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>
                <a:latin typeface="Verdana" panose="020B0604030504040204" pitchFamily="34" charset="0"/>
                <a:ea typeface="黑体" panose="02010609060101010101" pitchFamily="2" charset="-122"/>
              </a:rPr>
              <a:t>在随机的情况下，二叉查找树的平均查找长度为</a:t>
            </a:r>
            <a:r>
              <a:rPr kumimoji="1" lang="en-US" altLang="zh-CN" sz="2400">
                <a:latin typeface="Verdana" panose="020B0604030504040204" pitchFamily="34" charset="0"/>
                <a:ea typeface="黑体" panose="02010609060101010101" pitchFamily="2" charset="-122"/>
              </a:rPr>
              <a:t>O(logn)</a:t>
            </a:r>
            <a:r>
              <a:rPr kumimoji="1" lang="zh-CN" altLang="en-US" sz="2400">
                <a:latin typeface="Verdana" panose="020B0604030504040204" pitchFamily="34" charset="0"/>
                <a:ea typeface="黑体" panose="02010609060101010101" pitchFamily="2" charset="-122"/>
              </a:rPr>
              <a:t>。</a:t>
            </a:r>
            <a:endParaRPr kumimoji="1" lang="ja-JP" altLang="en-US" sz="2400">
              <a:latin typeface="Verdana" panose="020B0604030504040204" pitchFamily="34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827088" y="1196975"/>
            <a:ext cx="7632700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kumimoji="1" lang="zh-CN" altLang="en-US" sz="2400" b="1">
                <a:latin typeface="宋体" panose="02010600030101010101" pitchFamily="2" charset="-122"/>
              </a:rPr>
              <a:t>设</a:t>
            </a:r>
            <a:r>
              <a:rPr kumimoji="1" lang="en-US" altLang="zh-CN" sz="2400" b="1">
                <a:latin typeface="Times New Roman" panose="02020603050405020304" pitchFamily="18" charset="0"/>
              </a:rPr>
              <a:t>{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3000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3000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…,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i="1" baseline="-30000"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>
                <a:latin typeface="Times New Roman" panose="02020603050405020304" pitchFamily="18" charset="0"/>
              </a:rPr>
              <a:t>}</a:t>
            </a:r>
            <a:r>
              <a:rPr kumimoji="1" lang="zh-CN" altLang="en-US" sz="2400" b="1">
                <a:latin typeface="宋体" panose="02010600030101010101" pitchFamily="2" charset="-122"/>
              </a:rPr>
              <a:t>是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n</a:t>
            </a:r>
            <a:r>
              <a:rPr kumimoji="1" lang="zh-CN" altLang="en-US" sz="2400" b="1">
                <a:latin typeface="宋体" panose="02010600030101010101" pitchFamily="2" charset="-122"/>
              </a:rPr>
              <a:t>个记录的集合，其查找概率分别是</a:t>
            </a:r>
            <a:r>
              <a:rPr kumimoji="1" lang="en-US" altLang="zh-CN" sz="2400" b="1">
                <a:latin typeface="Times New Roman" panose="02020603050405020304" pitchFamily="18" charset="0"/>
              </a:rPr>
              <a:t>{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3000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baseline="-3000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…,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i="1" baseline="-30000"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>
                <a:latin typeface="Times New Roman" panose="02020603050405020304" pitchFamily="18" charset="0"/>
              </a:rPr>
              <a:t>}</a:t>
            </a:r>
            <a:r>
              <a:rPr kumimoji="1" lang="zh-CN" altLang="en-US" sz="2400" b="1">
                <a:latin typeface="宋体" panose="02010600030101010101" pitchFamily="2" charset="-122"/>
              </a:rPr>
              <a:t>，最优二叉查找树是以这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n</a:t>
            </a:r>
            <a:r>
              <a:rPr kumimoji="1" lang="zh-CN" altLang="en-US" sz="2400" b="1">
                <a:latin typeface="宋体" panose="02010600030101010101" pitchFamily="2" charset="-122"/>
              </a:rPr>
              <a:t>个记录构成的二叉查找树中具有最少平均比较次数的二叉查找树，即</a:t>
            </a:r>
            <a:endParaRPr kumimoji="1" lang="zh-CN" altLang="en-US" sz="2400" b="1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50000"/>
              </a:lnSpc>
            </a:pPr>
            <a:endParaRPr kumimoji="1" lang="zh-CN" altLang="en-US" sz="2400" b="1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50000"/>
              </a:lnSpc>
            </a:pPr>
            <a:endParaRPr kumimoji="1" lang="zh-CN" altLang="en-US" sz="2400" b="1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50000"/>
              </a:lnSpc>
            </a:pPr>
            <a:endParaRPr kumimoji="1" lang="zh-CN" altLang="en-US" sz="2400" b="1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50000"/>
              </a:lnSpc>
            </a:pPr>
            <a:r>
              <a:rPr kumimoji="1" lang="zh-CN" altLang="en-US" sz="2400" b="1">
                <a:latin typeface="宋体" panose="02010600030101010101" pitchFamily="2" charset="-122"/>
              </a:rPr>
              <a:t>最小，其中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i="1" baseline="-30000">
                <a:latin typeface="Times New Roman" panose="02020603050405020304" pitchFamily="18" charset="0"/>
              </a:rPr>
              <a:t>i</a:t>
            </a:r>
            <a:r>
              <a:rPr kumimoji="1" lang="zh-CN" altLang="en-US" sz="2400" b="1">
                <a:latin typeface="宋体" panose="02010600030101010101" pitchFamily="2" charset="-122"/>
              </a:rPr>
              <a:t>是记录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i="1" baseline="-30000">
                <a:latin typeface="Times New Roman" panose="02020603050405020304" pitchFamily="18" charset="0"/>
              </a:rPr>
              <a:t>i</a:t>
            </a:r>
            <a:r>
              <a:rPr kumimoji="1" lang="zh-CN" altLang="en-US" sz="2400" b="1">
                <a:latin typeface="宋体" panose="02010600030101010101" pitchFamily="2" charset="-122"/>
              </a:rPr>
              <a:t>的查找概率，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 i="1" baseline="-30000">
                <a:latin typeface="Times New Roman" panose="02020603050405020304" pitchFamily="18" charset="0"/>
              </a:rPr>
              <a:t>i</a:t>
            </a:r>
            <a:r>
              <a:rPr kumimoji="1" lang="zh-CN" altLang="en-US" sz="2400" b="1">
                <a:latin typeface="宋体" panose="02010600030101010101" pitchFamily="2" charset="-122"/>
              </a:rPr>
              <a:t>是在二叉查找树中查找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i="1" baseline="-30000">
                <a:latin typeface="Times New Roman" panose="02020603050405020304" pitchFamily="18" charset="0"/>
              </a:rPr>
              <a:t>i</a:t>
            </a:r>
            <a:r>
              <a:rPr kumimoji="1" lang="zh-CN" altLang="en-US" sz="2400" b="1">
                <a:latin typeface="宋体" panose="02010600030101010101" pitchFamily="2" charset="-122"/>
              </a:rPr>
              <a:t>的比较次数。    </a:t>
            </a:r>
            <a:endParaRPr kumimoji="1" lang="zh-CN" altLang="en-US" sz="2400" b="1">
              <a:latin typeface="宋体" panose="02010600030101010101" pitchFamily="2" charset="-122"/>
            </a:endParaRPr>
          </a:p>
        </p:txBody>
      </p:sp>
      <p:sp>
        <p:nvSpPr>
          <p:cNvPr id="155651" name="Rectangle 3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最优二叉查找树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pic>
        <p:nvPicPr>
          <p:cNvPr id="5632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47" t="50609" r="38274" b="29073"/>
          <a:stretch>
            <a:fillRect/>
          </a:stretch>
        </p:blipFill>
        <p:spPr bwMode="auto">
          <a:xfrm>
            <a:off x="3419475" y="3213100"/>
            <a:ext cx="1584325" cy="104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395288" y="1071563"/>
            <a:ext cx="8569325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200" b="1">
                <a:latin typeface="宋体" panose="02010600030101010101" pitchFamily="2" charset="-122"/>
              </a:rPr>
              <a:t>将由</a:t>
            </a:r>
            <a:r>
              <a:rPr kumimoji="1" lang="en-US" altLang="zh-CN" sz="2200" b="1">
                <a:latin typeface="Times New Roman" panose="02020603050405020304" pitchFamily="18" charset="0"/>
              </a:rPr>
              <a:t>{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200" b="1" baseline="-30000">
                <a:latin typeface="Times New Roman" panose="02020603050405020304" pitchFamily="18" charset="0"/>
              </a:rPr>
              <a:t>1</a:t>
            </a:r>
            <a:r>
              <a:rPr kumimoji="1" lang="en-US" altLang="zh-CN" sz="22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200" b="1" baseline="-30000">
                <a:latin typeface="Times New Roman" panose="02020603050405020304" pitchFamily="18" charset="0"/>
              </a:rPr>
              <a:t>2</a:t>
            </a:r>
            <a:r>
              <a:rPr kumimoji="1" lang="en-US" altLang="zh-CN" sz="2200" b="1">
                <a:latin typeface="Times New Roman" panose="02020603050405020304" pitchFamily="18" charset="0"/>
              </a:rPr>
              <a:t>, …, 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200" b="1" i="1" baseline="-30000">
                <a:latin typeface="Times New Roman" panose="02020603050405020304" pitchFamily="18" charset="0"/>
              </a:rPr>
              <a:t>n</a:t>
            </a:r>
            <a:r>
              <a:rPr kumimoji="1" lang="en-US" altLang="zh-CN" sz="2200" b="1">
                <a:latin typeface="Times New Roman" panose="02020603050405020304" pitchFamily="18" charset="0"/>
              </a:rPr>
              <a:t>}</a:t>
            </a:r>
            <a:r>
              <a:rPr kumimoji="1" lang="zh-CN" altLang="en-US" sz="2200" b="1">
                <a:latin typeface="宋体" panose="02010600030101010101" pitchFamily="2" charset="-122"/>
              </a:rPr>
              <a:t>构成的二叉查找树记为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200" b="1">
                <a:latin typeface="Times New Roman" panose="02020603050405020304" pitchFamily="18" charset="0"/>
              </a:rPr>
              <a:t>(1, 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n</a:t>
            </a:r>
            <a:r>
              <a:rPr kumimoji="1" lang="en-US" altLang="zh-CN" sz="2200" b="1">
                <a:latin typeface="Times New Roman" panose="02020603050405020304" pitchFamily="18" charset="0"/>
              </a:rPr>
              <a:t>)</a:t>
            </a:r>
            <a:r>
              <a:rPr kumimoji="1" lang="zh-CN" altLang="en-US" sz="2200" b="1">
                <a:latin typeface="宋体" panose="02010600030101010101" pitchFamily="2" charset="-122"/>
              </a:rPr>
              <a:t>，其中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200" b="1" i="1" baseline="-30000">
                <a:latin typeface="Times New Roman" panose="02020603050405020304" pitchFamily="18" charset="0"/>
              </a:rPr>
              <a:t>k</a:t>
            </a:r>
            <a:r>
              <a:rPr kumimoji="1" lang="zh-CN" altLang="en-US" sz="2200" b="1">
                <a:latin typeface="宋体" panose="02010600030101010101" pitchFamily="2" charset="-122"/>
              </a:rPr>
              <a:t>（</a:t>
            </a:r>
            <a:r>
              <a:rPr kumimoji="1" lang="en-US" altLang="zh-CN" sz="2200" b="1">
                <a:latin typeface="Times New Roman" panose="02020603050405020304" pitchFamily="18" charset="0"/>
              </a:rPr>
              <a:t>1</a:t>
            </a:r>
            <a:r>
              <a:rPr kumimoji="1" lang="en-US" altLang="zh-CN" sz="2200" b="1">
                <a:latin typeface="宋体" panose="02010600030101010101" pitchFamily="2" charset="-122"/>
              </a:rPr>
              <a:t>≤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k</a:t>
            </a:r>
            <a:r>
              <a:rPr kumimoji="1" lang="en-US" altLang="zh-CN" sz="2200" b="1">
                <a:latin typeface="宋体" panose="02010600030101010101" pitchFamily="2" charset="-122"/>
              </a:rPr>
              <a:t>≤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n</a:t>
            </a:r>
            <a:r>
              <a:rPr kumimoji="1" lang="zh-CN" altLang="en-US" sz="2200" b="1">
                <a:latin typeface="宋体" panose="02010600030101010101" pitchFamily="2" charset="-122"/>
              </a:rPr>
              <a:t>）是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200" b="1">
                <a:latin typeface="Times New Roman" panose="02020603050405020304" pitchFamily="18" charset="0"/>
              </a:rPr>
              <a:t>(1, 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n</a:t>
            </a:r>
            <a:r>
              <a:rPr kumimoji="1" lang="en-US" altLang="zh-CN" sz="2200" b="1">
                <a:latin typeface="Times New Roman" panose="02020603050405020304" pitchFamily="18" charset="0"/>
              </a:rPr>
              <a:t>)</a:t>
            </a:r>
            <a:r>
              <a:rPr kumimoji="1" lang="zh-CN" altLang="en-US" sz="2200" b="1">
                <a:latin typeface="宋体" panose="02010600030101010101" pitchFamily="2" charset="-122"/>
              </a:rPr>
              <a:t>的根结点，则其左子树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200" b="1">
                <a:latin typeface="Times New Roman" panose="02020603050405020304" pitchFamily="18" charset="0"/>
              </a:rPr>
              <a:t>(1, 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k</a:t>
            </a:r>
            <a:r>
              <a:rPr kumimoji="1" lang="en-US" altLang="zh-CN" sz="2200" b="1">
                <a:latin typeface="宋体" panose="02010600030101010101" pitchFamily="2" charset="-122"/>
              </a:rPr>
              <a:t>-</a:t>
            </a:r>
            <a:r>
              <a:rPr kumimoji="1" lang="en-US" altLang="zh-CN" sz="2200" b="1">
                <a:latin typeface="Times New Roman" panose="02020603050405020304" pitchFamily="18" charset="0"/>
              </a:rPr>
              <a:t>1)</a:t>
            </a:r>
            <a:r>
              <a:rPr kumimoji="1" lang="zh-CN" altLang="en-US" sz="2200" b="1">
                <a:latin typeface="宋体" panose="02010600030101010101" pitchFamily="2" charset="-122"/>
              </a:rPr>
              <a:t>由</a:t>
            </a:r>
            <a:r>
              <a:rPr kumimoji="1" lang="en-US" altLang="zh-CN" sz="2200" b="1">
                <a:latin typeface="Times New Roman" panose="02020603050405020304" pitchFamily="18" charset="0"/>
              </a:rPr>
              <a:t>{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200" b="1" baseline="-30000">
                <a:latin typeface="Times New Roman" panose="02020603050405020304" pitchFamily="18" charset="0"/>
              </a:rPr>
              <a:t>1</a:t>
            </a:r>
            <a:r>
              <a:rPr kumimoji="1" lang="en-US" altLang="zh-CN" sz="2200" b="1">
                <a:latin typeface="Times New Roman" panose="02020603050405020304" pitchFamily="18" charset="0"/>
              </a:rPr>
              <a:t>, …, 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200" b="1" i="1" baseline="-30000">
                <a:latin typeface="Times New Roman" panose="02020603050405020304" pitchFamily="18" charset="0"/>
              </a:rPr>
              <a:t>k</a:t>
            </a:r>
            <a:r>
              <a:rPr kumimoji="1" lang="en-US" altLang="zh-CN" sz="2200" b="1" baseline="-30000">
                <a:latin typeface="Times New Roman" panose="02020603050405020304" pitchFamily="18" charset="0"/>
              </a:rPr>
              <a:t>-1</a:t>
            </a:r>
            <a:r>
              <a:rPr kumimoji="1" lang="en-US" altLang="zh-CN" sz="2200" b="1">
                <a:latin typeface="Times New Roman" panose="02020603050405020304" pitchFamily="18" charset="0"/>
              </a:rPr>
              <a:t>}</a:t>
            </a:r>
            <a:r>
              <a:rPr kumimoji="1" lang="zh-CN" altLang="en-US" sz="2200" b="1">
                <a:latin typeface="宋体" panose="02010600030101010101" pitchFamily="2" charset="-122"/>
              </a:rPr>
              <a:t>构成，其右子树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200" b="1">
                <a:latin typeface="Times New Roman" panose="02020603050405020304" pitchFamily="18" charset="0"/>
              </a:rPr>
              <a:t>(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k</a:t>
            </a:r>
            <a:r>
              <a:rPr kumimoji="1" lang="en-US" altLang="zh-CN" sz="2200" b="1">
                <a:latin typeface="Times New Roman" panose="02020603050405020304" pitchFamily="18" charset="0"/>
              </a:rPr>
              <a:t>+1, 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n</a:t>
            </a:r>
            <a:r>
              <a:rPr kumimoji="1" lang="en-US" altLang="zh-CN" sz="2200" b="1">
                <a:latin typeface="Times New Roman" panose="02020603050405020304" pitchFamily="18" charset="0"/>
              </a:rPr>
              <a:t>)</a:t>
            </a:r>
            <a:r>
              <a:rPr kumimoji="1" lang="zh-CN" altLang="en-US" sz="2200" b="1">
                <a:latin typeface="宋体" panose="02010600030101010101" pitchFamily="2" charset="-122"/>
              </a:rPr>
              <a:t>由</a:t>
            </a:r>
            <a:r>
              <a:rPr kumimoji="1" lang="en-US" altLang="zh-CN" sz="2200" b="1">
                <a:latin typeface="Times New Roman" panose="02020603050405020304" pitchFamily="18" charset="0"/>
              </a:rPr>
              <a:t>{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200" b="1" i="1" baseline="-30000">
                <a:latin typeface="Times New Roman" panose="02020603050405020304" pitchFamily="18" charset="0"/>
              </a:rPr>
              <a:t>k</a:t>
            </a:r>
            <a:r>
              <a:rPr kumimoji="1" lang="en-US" altLang="zh-CN" sz="2200" b="1" baseline="-30000">
                <a:latin typeface="Times New Roman" panose="02020603050405020304" pitchFamily="18" charset="0"/>
              </a:rPr>
              <a:t>+1</a:t>
            </a:r>
            <a:r>
              <a:rPr kumimoji="1" lang="en-US" altLang="zh-CN" sz="2200" b="1">
                <a:latin typeface="Times New Roman" panose="02020603050405020304" pitchFamily="18" charset="0"/>
              </a:rPr>
              <a:t>, …, 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200" b="1" i="1" baseline="-30000">
                <a:latin typeface="Times New Roman" panose="02020603050405020304" pitchFamily="18" charset="0"/>
              </a:rPr>
              <a:t>n</a:t>
            </a:r>
            <a:r>
              <a:rPr kumimoji="1" lang="en-US" altLang="zh-CN" sz="2200" b="1">
                <a:latin typeface="Times New Roman" panose="02020603050405020304" pitchFamily="18" charset="0"/>
              </a:rPr>
              <a:t>}</a:t>
            </a:r>
            <a:r>
              <a:rPr kumimoji="1" lang="zh-CN" altLang="en-US" sz="2200" b="1">
                <a:latin typeface="宋体" panose="02010600030101010101" pitchFamily="2" charset="-122"/>
              </a:rPr>
              <a:t>构成。</a:t>
            </a:r>
            <a:endParaRPr kumimoji="1"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468313" y="476250"/>
            <a:ext cx="6767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CC0000"/>
                </a:solidFill>
              </a:rPr>
              <a:t>证明最优二叉查找树满足最优性原理</a:t>
            </a:r>
            <a:endParaRPr kumimoji="1" lang="zh-CN" altLang="en-US" sz="2800" b="1">
              <a:solidFill>
                <a:srgbClr val="CC0000"/>
              </a:solidFill>
            </a:endParaRPr>
          </a:p>
        </p:txBody>
      </p:sp>
      <p:grpSp>
        <p:nvGrpSpPr>
          <p:cNvPr id="57348" name="Group 4"/>
          <p:cNvGrpSpPr/>
          <p:nvPr/>
        </p:nvGrpSpPr>
        <p:grpSpPr bwMode="auto">
          <a:xfrm>
            <a:off x="5364163" y="2636838"/>
            <a:ext cx="3529012" cy="3097212"/>
            <a:chOff x="3877" y="6583"/>
            <a:chExt cx="2872" cy="2381"/>
          </a:xfrm>
        </p:grpSpPr>
        <p:sp>
          <p:nvSpPr>
            <p:cNvPr id="57350" name="Oval 5"/>
            <p:cNvSpPr>
              <a:spLocks noChangeArrowheads="1"/>
            </p:cNvSpPr>
            <p:nvPr/>
          </p:nvSpPr>
          <p:spPr bwMode="auto">
            <a:xfrm>
              <a:off x="5139" y="6583"/>
              <a:ext cx="370" cy="351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108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r</a:t>
              </a:r>
              <a:r>
                <a:rPr lang="en-US" altLang="zh-CN" sz="2000" b="1" i="1" baseline="-25000">
                  <a:latin typeface="Times New Roman" panose="02020603050405020304" pitchFamily="18" charset="0"/>
                </a:rPr>
                <a:t>k</a:t>
              </a:r>
              <a:endParaRPr lang="en-US" altLang="zh-CN" sz="2000" b="1" i="1">
                <a:latin typeface="Times New Roman" panose="02020603050405020304" pitchFamily="18" charset="0"/>
              </a:endParaRPr>
            </a:p>
          </p:txBody>
        </p:sp>
        <p:sp>
          <p:nvSpPr>
            <p:cNvPr id="57351" name="Line 6"/>
            <p:cNvSpPr>
              <a:spLocks noChangeShapeType="1"/>
            </p:cNvSpPr>
            <p:nvPr/>
          </p:nvSpPr>
          <p:spPr bwMode="auto">
            <a:xfrm flipH="1">
              <a:off x="4419" y="6823"/>
              <a:ext cx="720" cy="4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2" name="AutoShape 7"/>
            <p:cNvSpPr>
              <a:spLocks noChangeArrowheads="1"/>
            </p:cNvSpPr>
            <p:nvPr/>
          </p:nvSpPr>
          <p:spPr bwMode="auto">
            <a:xfrm>
              <a:off x="3877" y="7296"/>
              <a:ext cx="1077" cy="1247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10800" rIns="0" bIns="0"/>
            <a:lstStyle/>
            <a:p>
              <a:pPr algn="just" eaLnBrk="0" hangingPunct="0"/>
              <a:endParaRPr lang="zh-CN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57353" name="Line 8"/>
            <p:cNvSpPr>
              <a:spLocks noChangeShapeType="1"/>
            </p:cNvSpPr>
            <p:nvPr/>
          </p:nvSpPr>
          <p:spPr bwMode="auto">
            <a:xfrm>
              <a:off x="5509" y="6805"/>
              <a:ext cx="69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4" name="Text Box 9"/>
            <p:cNvSpPr txBox="1">
              <a:spLocks noChangeArrowheads="1"/>
            </p:cNvSpPr>
            <p:nvPr/>
          </p:nvSpPr>
          <p:spPr bwMode="auto">
            <a:xfrm>
              <a:off x="5019" y="6965"/>
              <a:ext cx="620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>
                  <a:latin typeface="Times New Roman" panose="02020603050405020304" pitchFamily="18" charset="0"/>
                </a:rPr>
                <a:t>(1, 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>
                  <a:latin typeface="Times New Roman" panose="02020603050405020304" pitchFamily="18" charset="0"/>
                </a:rPr>
                <a:t>)</a:t>
              </a:r>
              <a:endParaRPr lang="en-US" altLang="zh-CN" sz="2000" b="1">
                <a:latin typeface="Times New Roman" panose="02020603050405020304" pitchFamily="18" charset="0"/>
              </a:endParaRPr>
            </a:p>
            <a:p>
              <a:pPr algn="just"/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57355" name="Text Box 10"/>
            <p:cNvSpPr txBox="1">
              <a:spLocks noChangeArrowheads="1"/>
            </p:cNvSpPr>
            <p:nvPr/>
          </p:nvSpPr>
          <p:spPr bwMode="auto">
            <a:xfrm>
              <a:off x="4019" y="8652"/>
              <a:ext cx="2730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      </a:t>
              </a:r>
              <a:r>
                <a:rPr lang="zh-CN" altLang="en-US" sz="2000" b="1">
                  <a:latin typeface="Times New Roman" panose="02020603050405020304" pitchFamily="18" charset="0"/>
                </a:rPr>
                <a:t>以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r</a:t>
              </a:r>
              <a:r>
                <a:rPr lang="en-US" altLang="zh-CN" sz="2000" b="1" i="1" baseline="-25000">
                  <a:latin typeface="Times New Roman" panose="02020603050405020304" pitchFamily="18" charset="0"/>
                </a:rPr>
                <a:t>k</a:t>
              </a:r>
              <a:r>
                <a:rPr lang="zh-CN" altLang="en-US" sz="2000" b="1">
                  <a:latin typeface="Times New Roman" panose="02020603050405020304" pitchFamily="18" charset="0"/>
                </a:rPr>
                <a:t>为根的二叉查找树</a:t>
              </a:r>
              <a:endParaRPr lang="zh-CN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57356" name="AutoShape 11"/>
            <p:cNvSpPr>
              <a:spLocks noChangeArrowheads="1"/>
            </p:cNvSpPr>
            <p:nvPr/>
          </p:nvSpPr>
          <p:spPr bwMode="auto">
            <a:xfrm>
              <a:off x="5659" y="7314"/>
              <a:ext cx="1077" cy="1247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 algn="just" eaLnBrk="0" hangingPunct="0"/>
              <a:endParaRPr lang="zh-CN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57357" name="Text Box 12"/>
            <p:cNvSpPr txBox="1">
              <a:spLocks noChangeArrowheads="1"/>
            </p:cNvSpPr>
            <p:nvPr/>
          </p:nvSpPr>
          <p:spPr bwMode="auto">
            <a:xfrm>
              <a:off x="5819" y="8273"/>
              <a:ext cx="77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>
                  <a:latin typeface="Times New Roman" panose="02020603050405020304" pitchFamily="18" charset="0"/>
                </a:rPr>
                <a:t>(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k</a:t>
              </a:r>
              <a:r>
                <a:rPr lang="en-US" altLang="zh-CN" sz="2000" b="1">
                  <a:latin typeface="Times New Roman" panose="02020603050405020304" pitchFamily="18" charset="0"/>
                </a:rPr>
                <a:t>+1,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>
                  <a:latin typeface="Times New Roman" panose="02020603050405020304" pitchFamily="18" charset="0"/>
                </a:rPr>
                <a:t>)</a:t>
              </a:r>
              <a:endParaRPr lang="en-US" altLang="zh-CN" sz="2000" b="1">
                <a:latin typeface="Times New Roman" panose="02020603050405020304" pitchFamily="18" charset="0"/>
              </a:endParaRPr>
            </a:p>
            <a:p>
              <a:pPr algn="just"/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57358" name="Text Box 13"/>
            <p:cNvSpPr txBox="1">
              <a:spLocks noChangeArrowheads="1"/>
            </p:cNvSpPr>
            <p:nvPr/>
          </p:nvSpPr>
          <p:spPr bwMode="auto">
            <a:xfrm>
              <a:off x="4050" y="8249"/>
              <a:ext cx="77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96000"/>
                </a:lnSpc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>
                  <a:latin typeface="Times New Roman" panose="02020603050405020304" pitchFamily="18" charset="0"/>
                </a:rPr>
                <a:t>(1,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k</a:t>
              </a:r>
              <a:r>
                <a:rPr lang="en-US" altLang="zh-CN" sz="2000" b="1">
                  <a:latin typeface="宋体" panose="02010600030101010101" pitchFamily="2" charset="-122"/>
                </a:rPr>
                <a:t>-</a:t>
              </a:r>
              <a:r>
                <a:rPr lang="en-US" altLang="zh-CN" sz="2000" b="1">
                  <a:latin typeface="Times New Roman" panose="02020603050405020304" pitchFamily="18" charset="0"/>
                </a:rPr>
                <a:t>1)</a:t>
              </a:r>
              <a:endParaRPr lang="en-US" altLang="zh-CN" sz="2000" b="1">
                <a:latin typeface="Times New Roman" panose="02020603050405020304" pitchFamily="18" charset="0"/>
              </a:endParaRPr>
            </a:p>
            <a:p>
              <a:pPr algn="just"/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156686" name="Text Box 14"/>
          <p:cNvSpPr txBox="1">
            <a:spLocks noChangeArrowheads="1"/>
          </p:cNvSpPr>
          <p:nvPr/>
        </p:nvSpPr>
        <p:spPr bwMode="auto">
          <a:xfrm>
            <a:off x="395288" y="2133600"/>
            <a:ext cx="4752975" cy="4121150"/>
          </a:xfrm>
          <a:prstGeom prst="rect">
            <a:avLst/>
          </a:prstGeom>
          <a:solidFill>
            <a:srgbClr val="FFFF00"/>
          </a:solidFill>
          <a:ln w="12700">
            <a:solidFill>
              <a:srgbClr val="FF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200" b="1">
                <a:latin typeface="Times New Roman" panose="02020603050405020304" pitchFamily="18" charset="0"/>
              </a:rPr>
              <a:t>若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200" b="1">
                <a:latin typeface="Times New Roman" panose="02020603050405020304" pitchFamily="18" charset="0"/>
              </a:rPr>
              <a:t>(1, 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n</a:t>
            </a:r>
            <a:r>
              <a:rPr kumimoji="1" lang="en-US" altLang="zh-CN" sz="2200" b="1">
                <a:latin typeface="Times New Roman" panose="02020603050405020304" pitchFamily="18" charset="0"/>
              </a:rPr>
              <a:t>)</a:t>
            </a:r>
            <a:r>
              <a:rPr kumimoji="1" lang="zh-CN" altLang="en-US" sz="2200" b="1">
                <a:latin typeface="Times New Roman" panose="02020603050405020304" pitchFamily="18" charset="0"/>
              </a:rPr>
              <a:t>是最优二叉查找树，则其左子树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200" b="1">
                <a:latin typeface="Times New Roman" panose="02020603050405020304" pitchFamily="18" charset="0"/>
              </a:rPr>
              <a:t>(1, 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k</a:t>
            </a:r>
            <a:r>
              <a:rPr kumimoji="1" lang="en-US" altLang="zh-CN" sz="2200" b="1">
                <a:latin typeface="Times New Roman" panose="02020603050405020304" pitchFamily="18" charset="0"/>
              </a:rPr>
              <a:t>-1)</a:t>
            </a:r>
            <a:r>
              <a:rPr kumimoji="1" lang="zh-CN" altLang="en-US" sz="2200" b="1">
                <a:latin typeface="Times New Roman" panose="02020603050405020304" pitchFamily="18" charset="0"/>
              </a:rPr>
              <a:t>和右子树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200" b="1">
                <a:latin typeface="Times New Roman" panose="02020603050405020304" pitchFamily="18" charset="0"/>
              </a:rPr>
              <a:t>(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k</a:t>
            </a:r>
            <a:r>
              <a:rPr kumimoji="1" lang="en-US" altLang="zh-CN" sz="2200" b="1">
                <a:latin typeface="Times New Roman" panose="02020603050405020304" pitchFamily="18" charset="0"/>
              </a:rPr>
              <a:t>+1, 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n</a:t>
            </a:r>
            <a:r>
              <a:rPr kumimoji="1" lang="en-US" altLang="zh-CN" sz="2200" b="1">
                <a:latin typeface="Times New Roman" panose="02020603050405020304" pitchFamily="18" charset="0"/>
              </a:rPr>
              <a:t>)</a:t>
            </a:r>
            <a:r>
              <a:rPr kumimoji="1" lang="zh-CN" altLang="en-US" sz="2200" b="1">
                <a:latin typeface="Times New Roman" panose="02020603050405020304" pitchFamily="18" charset="0"/>
              </a:rPr>
              <a:t>也是最优二叉查找树，如若不然，假设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T'</a:t>
            </a:r>
            <a:r>
              <a:rPr kumimoji="1" lang="en-US" altLang="zh-CN" sz="2200" b="1">
                <a:latin typeface="Times New Roman" panose="02020603050405020304" pitchFamily="18" charset="0"/>
              </a:rPr>
              <a:t>(1, 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k</a:t>
            </a:r>
            <a:r>
              <a:rPr kumimoji="1" lang="en-US" altLang="zh-CN" sz="2200" b="1">
                <a:latin typeface="Times New Roman" panose="02020603050405020304" pitchFamily="18" charset="0"/>
              </a:rPr>
              <a:t>-1)</a:t>
            </a:r>
            <a:r>
              <a:rPr kumimoji="1" lang="zh-CN" altLang="en-US" sz="2200" b="1">
                <a:latin typeface="Times New Roman" panose="02020603050405020304" pitchFamily="18" charset="0"/>
              </a:rPr>
              <a:t>是比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200" b="1">
                <a:latin typeface="Times New Roman" panose="02020603050405020304" pitchFamily="18" charset="0"/>
              </a:rPr>
              <a:t>(1, 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k</a:t>
            </a:r>
            <a:r>
              <a:rPr kumimoji="1" lang="en-US" altLang="zh-CN" sz="2200" b="1">
                <a:latin typeface="Times New Roman" panose="02020603050405020304" pitchFamily="18" charset="0"/>
              </a:rPr>
              <a:t>-1)</a:t>
            </a:r>
            <a:r>
              <a:rPr kumimoji="1" lang="zh-CN" altLang="en-US" sz="2200" b="1">
                <a:latin typeface="Times New Roman" panose="02020603050405020304" pitchFamily="18" charset="0"/>
              </a:rPr>
              <a:t>更优的二叉查找树，则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T'</a:t>
            </a:r>
            <a:r>
              <a:rPr kumimoji="1" lang="en-US" altLang="zh-CN" sz="2200" b="1">
                <a:latin typeface="Times New Roman" panose="02020603050405020304" pitchFamily="18" charset="0"/>
              </a:rPr>
              <a:t>(1, 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k</a:t>
            </a:r>
            <a:r>
              <a:rPr kumimoji="1" lang="en-US" altLang="zh-CN" sz="2200" b="1">
                <a:latin typeface="Times New Roman" panose="02020603050405020304" pitchFamily="18" charset="0"/>
              </a:rPr>
              <a:t>-1)</a:t>
            </a:r>
            <a:r>
              <a:rPr kumimoji="1" lang="zh-CN" altLang="en-US" sz="2200" b="1">
                <a:latin typeface="Times New Roman" panose="02020603050405020304" pitchFamily="18" charset="0"/>
              </a:rPr>
              <a:t>的平均比较次数小于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200" b="1">
                <a:latin typeface="Times New Roman" panose="02020603050405020304" pitchFamily="18" charset="0"/>
              </a:rPr>
              <a:t>(1, 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k</a:t>
            </a:r>
            <a:r>
              <a:rPr kumimoji="1" lang="en-US" altLang="zh-CN" sz="2200" b="1">
                <a:latin typeface="Times New Roman" panose="02020603050405020304" pitchFamily="18" charset="0"/>
              </a:rPr>
              <a:t>-1)</a:t>
            </a:r>
            <a:r>
              <a:rPr kumimoji="1" lang="zh-CN" altLang="en-US" sz="2200" b="1">
                <a:latin typeface="Times New Roman" panose="02020603050405020304" pitchFamily="18" charset="0"/>
              </a:rPr>
              <a:t>的平均比较次数，从而由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T'</a:t>
            </a:r>
            <a:r>
              <a:rPr kumimoji="1" lang="en-US" altLang="zh-CN" sz="2200" b="1">
                <a:latin typeface="Times New Roman" panose="02020603050405020304" pitchFamily="18" charset="0"/>
              </a:rPr>
              <a:t>(1, 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k</a:t>
            </a:r>
            <a:r>
              <a:rPr kumimoji="1" lang="en-US" altLang="zh-CN" sz="2200" b="1">
                <a:latin typeface="Times New Roman" panose="02020603050405020304" pitchFamily="18" charset="0"/>
              </a:rPr>
              <a:t>-1)</a:t>
            </a:r>
            <a:r>
              <a:rPr kumimoji="1" lang="zh-CN" altLang="en-US" sz="2200" b="1">
                <a:latin typeface="Times New Roman" panose="02020603050405020304" pitchFamily="18" charset="0"/>
              </a:rPr>
              <a:t>、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200" b="1" i="1" baseline="-25000">
                <a:latin typeface="Times New Roman" panose="02020603050405020304" pitchFamily="18" charset="0"/>
              </a:rPr>
              <a:t>k</a:t>
            </a:r>
            <a:r>
              <a:rPr kumimoji="1" lang="zh-CN" altLang="en-US" sz="2200" b="1">
                <a:latin typeface="Times New Roman" panose="02020603050405020304" pitchFamily="18" charset="0"/>
              </a:rPr>
              <a:t>和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200" b="1">
                <a:latin typeface="Times New Roman" panose="02020603050405020304" pitchFamily="18" charset="0"/>
              </a:rPr>
              <a:t>(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k</a:t>
            </a:r>
            <a:r>
              <a:rPr kumimoji="1" lang="en-US" altLang="zh-CN" sz="2200" b="1">
                <a:latin typeface="Times New Roman" panose="02020603050405020304" pitchFamily="18" charset="0"/>
              </a:rPr>
              <a:t>+1, 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n</a:t>
            </a:r>
            <a:r>
              <a:rPr kumimoji="1" lang="en-US" altLang="zh-CN" sz="2200" b="1">
                <a:latin typeface="Times New Roman" panose="02020603050405020304" pitchFamily="18" charset="0"/>
              </a:rPr>
              <a:t>)</a:t>
            </a:r>
            <a:r>
              <a:rPr kumimoji="1" lang="zh-CN" altLang="en-US" sz="2200" b="1">
                <a:latin typeface="Times New Roman" panose="02020603050405020304" pitchFamily="18" charset="0"/>
              </a:rPr>
              <a:t>构成的二叉查找树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T'</a:t>
            </a:r>
            <a:r>
              <a:rPr kumimoji="1" lang="en-US" altLang="zh-CN" sz="2200" b="1">
                <a:latin typeface="Times New Roman" panose="02020603050405020304" pitchFamily="18" charset="0"/>
              </a:rPr>
              <a:t>(1, 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n</a:t>
            </a:r>
            <a:r>
              <a:rPr kumimoji="1" lang="en-US" altLang="zh-CN" sz="2200" b="1">
                <a:latin typeface="Times New Roman" panose="02020603050405020304" pitchFamily="18" charset="0"/>
              </a:rPr>
              <a:t>)</a:t>
            </a:r>
            <a:r>
              <a:rPr kumimoji="1" lang="zh-CN" altLang="en-US" sz="2200" b="1">
                <a:latin typeface="Times New Roman" panose="02020603050405020304" pitchFamily="18" charset="0"/>
              </a:rPr>
              <a:t>的平均比较次数小于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200" b="1">
                <a:latin typeface="Times New Roman" panose="02020603050405020304" pitchFamily="18" charset="0"/>
              </a:rPr>
              <a:t>(1, 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n</a:t>
            </a:r>
            <a:r>
              <a:rPr kumimoji="1" lang="en-US" altLang="zh-CN" sz="2200" b="1">
                <a:latin typeface="Times New Roman" panose="02020603050405020304" pitchFamily="18" charset="0"/>
              </a:rPr>
              <a:t>)</a:t>
            </a:r>
            <a:r>
              <a:rPr kumimoji="1" lang="zh-CN" altLang="en-US" sz="2200" b="1">
                <a:latin typeface="Times New Roman" panose="02020603050405020304" pitchFamily="18" charset="0"/>
              </a:rPr>
              <a:t>的平均比较次数，这与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200" b="1">
                <a:latin typeface="Times New Roman" panose="02020603050405020304" pitchFamily="18" charset="0"/>
              </a:rPr>
              <a:t>(1, </a:t>
            </a:r>
            <a:r>
              <a:rPr kumimoji="1" lang="en-US" altLang="zh-CN" sz="2200" b="1" i="1">
                <a:latin typeface="Times New Roman" panose="02020603050405020304" pitchFamily="18" charset="0"/>
              </a:rPr>
              <a:t>n</a:t>
            </a:r>
            <a:r>
              <a:rPr kumimoji="1" lang="en-US" altLang="zh-CN" sz="2200" b="1">
                <a:latin typeface="Times New Roman" panose="02020603050405020304" pitchFamily="18" charset="0"/>
              </a:rPr>
              <a:t>)</a:t>
            </a:r>
            <a:r>
              <a:rPr kumimoji="1" lang="zh-CN" altLang="en-US" sz="2200" b="1">
                <a:latin typeface="Times New Roman" panose="02020603050405020304" pitchFamily="18" charset="0"/>
              </a:rPr>
              <a:t>是最优二叉查找树的假设相矛盾。</a:t>
            </a:r>
            <a:endParaRPr kumimoji="1" lang="zh-CN" altLang="en-US" sz="22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6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6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8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2"/>
          <p:cNvSpPr txBox="1">
            <a:spLocks noChangeArrowheads="1"/>
          </p:cNvSpPr>
          <p:nvPr/>
        </p:nvSpPr>
        <p:spPr bwMode="auto">
          <a:xfrm>
            <a:off x="612775" y="935038"/>
            <a:ext cx="7991475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 b="1">
                <a:latin typeface="宋体" panose="02010600030101010101" pitchFamily="2" charset="-122"/>
              </a:rPr>
              <a:t>设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</a:t>
            </a:r>
            <a:r>
              <a:rPr kumimoji="1" lang="zh-CN" altLang="en-US" sz="2400" b="1">
                <a:latin typeface="宋体" panose="02010600030101010101" pitchFamily="2" charset="-122"/>
              </a:rPr>
              <a:t>是由记录</a:t>
            </a:r>
            <a:r>
              <a:rPr kumimoji="1" lang="en-US" altLang="zh-CN" sz="2400" b="1">
                <a:latin typeface="Times New Roman" panose="02020603050405020304" pitchFamily="18" charset="0"/>
              </a:rPr>
              <a:t>{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i="1" baseline="-30000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…,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i="1" baseline="-30000"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>
                <a:latin typeface="Times New Roman" panose="02020603050405020304" pitchFamily="18" charset="0"/>
              </a:rPr>
              <a:t>}(1</a:t>
            </a:r>
            <a:r>
              <a:rPr kumimoji="1" lang="en-US" altLang="zh-CN" sz="2400" b="1">
                <a:latin typeface="宋体" panose="02010600030101010101" pitchFamily="2" charset="-122"/>
              </a:rPr>
              <a:t>≤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latin typeface="宋体" panose="02010600030101010101" pitchFamily="2" charset="-122"/>
              </a:rPr>
              <a:t>≤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>
                <a:latin typeface="宋体" panose="02010600030101010101" pitchFamily="2" charset="-122"/>
              </a:rPr>
              <a:t>≤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</a:t>
            </a:r>
            <a:r>
              <a:rPr kumimoji="1" lang="zh-CN" altLang="en-US" sz="2400" b="1">
                <a:latin typeface="宋体" panose="02010600030101010101" pitchFamily="2" charset="-122"/>
              </a:rPr>
              <a:t>构成的二叉查找树，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</a:t>
            </a:r>
            <a:r>
              <a:rPr kumimoji="1" lang="zh-CN" altLang="en-US" sz="2400" b="1">
                <a:latin typeface="宋体" panose="02010600030101010101" pitchFamily="2" charset="-122"/>
              </a:rPr>
              <a:t>是这棵二叉查找树的平均比较次数。虽然最后的结果是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(1,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</a:t>
            </a:r>
            <a:r>
              <a:rPr kumimoji="1" lang="zh-CN" altLang="en-US" sz="2400" b="1">
                <a:latin typeface="宋体" panose="02010600030101010101" pitchFamily="2" charset="-122"/>
              </a:rPr>
              <a:t>，但遵循动态规划法的求解方法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，</a:t>
            </a:r>
            <a:r>
              <a:rPr kumimoji="1" lang="zh-CN" altLang="en-US" sz="2400" b="1">
                <a:latin typeface="宋体" panose="02010600030101010101" pitchFamily="2" charset="-122"/>
              </a:rPr>
              <a:t>需要求出所有较小子问题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</a:t>
            </a:r>
            <a:r>
              <a:rPr kumimoji="1" lang="zh-CN" altLang="en-US" sz="2400" b="1">
                <a:latin typeface="宋体" panose="02010600030101010101" pitchFamily="2" charset="-122"/>
              </a:rPr>
              <a:t>的值。考虑从</a:t>
            </a:r>
            <a:r>
              <a:rPr kumimoji="1" lang="en-US" altLang="zh-CN" sz="2400" b="1">
                <a:latin typeface="Times New Roman" panose="02020603050405020304" pitchFamily="18" charset="0"/>
              </a:rPr>
              <a:t>{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i="1" baseline="-30000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…,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i="1" baseline="-30000"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>
                <a:latin typeface="Times New Roman" panose="02020603050405020304" pitchFamily="18" charset="0"/>
              </a:rPr>
              <a:t>}</a:t>
            </a:r>
            <a:r>
              <a:rPr kumimoji="1" lang="zh-CN" altLang="en-US" sz="2400" b="1">
                <a:latin typeface="宋体" panose="02010600030101010101" pitchFamily="2" charset="-122"/>
              </a:rPr>
              <a:t>中选择一个记录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i="1" baseline="-30000">
                <a:latin typeface="Times New Roman" panose="02020603050405020304" pitchFamily="18" charset="0"/>
              </a:rPr>
              <a:t>k</a:t>
            </a:r>
            <a:r>
              <a:rPr kumimoji="1" lang="zh-CN" altLang="en-US" sz="2400" b="1">
                <a:latin typeface="宋体" panose="02010600030101010101" pitchFamily="2" charset="-122"/>
              </a:rPr>
              <a:t>作为二叉查找树的根结点，可以得到如下关系：</a:t>
            </a:r>
            <a:r>
              <a:rPr kumimoji="1" lang="zh-CN" altLang="en-US" sz="2400" b="1">
                <a:latin typeface="Times New Roman" panose="02020603050405020304" pitchFamily="18" charset="0"/>
              </a:rPr>
              <a:t> 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5124" name="Rectangle 3"/>
          <p:cNvSpPr>
            <a:spLocks noChangeArrowheads="1"/>
          </p:cNvSpPr>
          <p:nvPr/>
        </p:nvSpPr>
        <p:spPr bwMode="auto">
          <a:xfrm>
            <a:off x="1928813" y="2667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57700" name="Object 4"/>
          <p:cNvGraphicFramePr>
            <a:graphicFrameLocks noChangeAspect="1"/>
          </p:cNvGraphicFramePr>
          <p:nvPr/>
        </p:nvGraphicFramePr>
        <p:xfrm>
          <a:off x="0" y="3500438"/>
          <a:ext cx="9144000" cy="266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Microsoft 公式 3.0" r:id="rId1" imgW="6045200" imgH="1803400" progId="Equation.3">
                  <p:embed/>
                </p:oleObj>
              </mc:Choice>
              <mc:Fallback>
                <p:oleObj name="Microsoft 公式 3.0" r:id="rId1" imgW="6045200" imgH="1803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500438"/>
                        <a:ext cx="9144000" cy="26654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01" name="Rectangle 5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最优二叉查找树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57702" name="Line 6"/>
          <p:cNvSpPr>
            <a:spLocks noChangeShapeType="1"/>
          </p:cNvSpPr>
          <p:nvPr/>
        </p:nvSpPr>
        <p:spPr bwMode="auto">
          <a:xfrm>
            <a:off x="755650" y="1844675"/>
            <a:ext cx="54006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5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611188" y="1268413"/>
            <a:ext cx="7777162" cy="1728787"/>
          </a:xfrm>
          <a:prstGeom prst="rect">
            <a:avLst/>
          </a:prstGeom>
          <a:solidFill>
            <a:schemeClr val="accent1"/>
          </a:solidFill>
          <a:ln w="28575">
            <a:solidFill>
              <a:srgbClr val="FF000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23" name="Text Box 3"/>
          <p:cNvSpPr txBox="1">
            <a:spLocks noChangeArrowheads="1"/>
          </p:cNvSpPr>
          <p:nvPr/>
        </p:nvSpPr>
        <p:spPr bwMode="auto">
          <a:xfrm>
            <a:off x="611188" y="765175"/>
            <a:ext cx="7848600" cy="597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kumimoji="1" lang="zh-CN" altLang="en-US" sz="2400" b="1">
                <a:latin typeface="宋体" panose="02010600030101010101" pitchFamily="2" charset="-122"/>
              </a:rPr>
              <a:t>因此，得到如下动态规划函数：</a:t>
            </a:r>
            <a:r>
              <a:rPr kumimoji="1" lang="zh-CN" altLang="en-US" sz="2400" b="1">
                <a:latin typeface="Times New Roman" panose="02020603050405020304" pitchFamily="18" charset="0"/>
              </a:rPr>
              <a:t> </a:t>
            </a:r>
            <a:endParaRPr kumimoji="1" lang="zh-CN" altLang="en-US" sz="2400" b="1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3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latin typeface="Times New Roman" panose="02020603050405020304" pitchFamily="18" charset="0"/>
              </a:rPr>
              <a:t>-1)=0  (1≤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latin typeface="Times New Roman" panose="02020603050405020304" pitchFamily="18" charset="0"/>
              </a:rPr>
              <a:t>≤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>
                <a:latin typeface="Times New Roman" panose="02020603050405020304" pitchFamily="18" charset="0"/>
              </a:rPr>
              <a:t>+1)</a:t>
            </a:r>
            <a:endParaRPr kumimoji="1" lang="en-US" altLang="zh-CN" sz="2400" b="1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3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)=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i="1" baseline="-30000">
                <a:latin typeface="Times New Roman" panose="02020603050405020304" pitchFamily="18" charset="0"/>
              </a:rPr>
              <a:t>i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   (1≤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latin typeface="Times New Roman" panose="02020603050405020304" pitchFamily="18" charset="0"/>
              </a:rPr>
              <a:t>≤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 </a:t>
            </a:r>
            <a:endParaRPr kumimoji="1" lang="en-US" altLang="zh-CN" sz="2400" b="1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3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)=min{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k</a:t>
            </a:r>
            <a:r>
              <a:rPr kumimoji="1" lang="en-US" altLang="zh-CN" sz="2400" b="1">
                <a:latin typeface="Times New Roman" panose="02020603050405020304" pitchFamily="18" charset="0"/>
              </a:rPr>
              <a:t>-1)+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k</a:t>
            </a:r>
            <a:r>
              <a:rPr kumimoji="1" lang="en-US" altLang="zh-CN" sz="2400" b="1">
                <a:latin typeface="Times New Roman" panose="02020603050405020304" pitchFamily="18" charset="0"/>
              </a:rPr>
              <a:t>+1,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)+       }  (1≤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latin typeface="Times New Roman" panose="02020603050405020304" pitchFamily="18" charset="0"/>
              </a:rPr>
              <a:t>≤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>
                <a:latin typeface="Times New Roman" panose="02020603050405020304" pitchFamily="18" charset="0"/>
              </a:rPr>
              <a:t>≤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latin typeface="Times New Roman" panose="02020603050405020304" pitchFamily="18" charset="0"/>
              </a:rPr>
              <a:t>≤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k</a:t>
            </a:r>
            <a:r>
              <a:rPr kumimoji="1" lang="en-US" altLang="zh-CN" sz="2400" b="1">
                <a:latin typeface="Times New Roman" panose="02020603050405020304" pitchFamily="18" charset="0"/>
              </a:rPr>
              <a:t>≤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</a:t>
            </a:r>
            <a:endParaRPr kumimoji="1" lang="en-US" altLang="zh-CN" sz="2400" b="1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30000"/>
              </a:spcBef>
            </a:pPr>
            <a:endParaRPr kumimoji="1" lang="en-US" altLang="zh-CN" sz="2400" b="1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3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设一个二维表</a:t>
            </a:r>
            <a:r>
              <a:rPr kumimoji="1" lang="en-US" altLang="zh-CN" sz="2400" b="1">
                <a:latin typeface="Times New Roman" panose="02020603050405020304" pitchFamily="18" charset="0"/>
              </a:rPr>
              <a:t>C[n+1][n+1]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，其中</a:t>
            </a:r>
            <a:r>
              <a:rPr kumimoji="1" lang="en-US" altLang="zh-CN" sz="2400" b="1">
                <a:latin typeface="Times New Roman" panose="02020603050405020304" pitchFamily="18" charset="0"/>
              </a:rPr>
              <a:t>C[i][j]</a:t>
            </a:r>
            <a:r>
              <a:rPr kumimoji="1" lang="zh-CN" altLang="en-US" sz="2400" b="1">
                <a:latin typeface="Times New Roman" panose="02020603050405020304" pitchFamily="18" charset="0"/>
              </a:rPr>
              <a:t>表示二叉查找树</a:t>
            </a:r>
            <a:r>
              <a:rPr kumimoji="1" lang="en-US" altLang="zh-CN" sz="2400" b="1">
                <a:latin typeface="Times New Roman" panose="02020603050405020304" pitchFamily="18" charset="0"/>
              </a:rPr>
              <a:t>T(i, j)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的平均比较次数。</a:t>
            </a:r>
            <a:endParaRPr kumimoji="1" lang="zh-CN" altLang="en-US" sz="2400" b="1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3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当</a:t>
            </a:r>
            <a:r>
              <a:rPr kumimoji="1" lang="en-US" altLang="zh-CN" sz="2400" b="1">
                <a:latin typeface="Times New Roman" panose="02020603050405020304" pitchFamily="18" charset="0"/>
              </a:rPr>
              <a:t>k=1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时，求</a:t>
            </a:r>
            <a:r>
              <a:rPr kumimoji="1" lang="en-US" altLang="zh-CN" sz="2400" b="1">
                <a:latin typeface="Times New Roman" panose="02020603050405020304" pitchFamily="18" charset="0"/>
              </a:rPr>
              <a:t>C[i][j]</a:t>
            </a:r>
            <a:r>
              <a:rPr kumimoji="1" lang="zh-CN" altLang="en-US" sz="2400" b="1">
                <a:latin typeface="Times New Roman" panose="02020603050405020304" pitchFamily="18" charset="0"/>
              </a:rPr>
              <a:t>需要用到</a:t>
            </a:r>
            <a:r>
              <a:rPr kumimoji="1" lang="en-US" altLang="zh-CN" sz="2400" b="1">
                <a:latin typeface="Times New Roman" panose="02020603050405020304" pitchFamily="18" charset="0"/>
              </a:rPr>
              <a:t>C[i][0]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，当</a:t>
            </a:r>
            <a:r>
              <a:rPr kumimoji="1" lang="en-US" altLang="zh-CN" sz="2400" b="1">
                <a:latin typeface="Times New Roman" panose="02020603050405020304" pitchFamily="18" charset="0"/>
              </a:rPr>
              <a:t>k=n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时，求</a:t>
            </a:r>
            <a:r>
              <a:rPr kumimoji="1" lang="en-US" altLang="zh-CN" sz="2400" b="1">
                <a:latin typeface="Times New Roman" panose="02020603050405020304" pitchFamily="18" charset="0"/>
              </a:rPr>
              <a:t>C[i][j]</a:t>
            </a:r>
            <a:r>
              <a:rPr kumimoji="1" lang="zh-CN" altLang="en-US" sz="2400" b="1">
                <a:latin typeface="Times New Roman" panose="02020603050405020304" pitchFamily="18" charset="0"/>
              </a:rPr>
              <a:t>需要用到</a:t>
            </a:r>
            <a:r>
              <a:rPr kumimoji="1" lang="en-US" altLang="zh-CN" sz="2400" b="1">
                <a:latin typeface="Times New Roman" panose="02020603050405020304" pitchFamily="18" charset="0"/>
              </a:rPr>
              <a:t>C[n+1][j]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，所以，二维表</a:t>
            </a:r>
            <a:r>
              <a:rPr kumimoji="1" lang="en-US" altLang="zh-CN" sz="2400" b="1">
                <a:latin typeface="Times New Roman" panose="02020603050405020304" pitchFamily="18" charset="0"/>
              </a:rPr>
              <a:t>C[n+1][n+1]</a:t>
            </a:r>
            <a:r>
              <a:rPr kumimoji="1" lang="zh-CN" altLang="en-US" sz="2400" b="1">
                <a:latin typeface="Times New Roman" panose="02020603050405020304" pitchFamily="18" charset="0"/>
              </a:rPr>
              <a:t>行下标的范围为</a:t>
            </a:r>
            <a:r>
              <a:rPr kumimoji="1" lang="en-US" altLang="zh-CN" sz="2400" b="1"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～</a:t>
            </a:r>
            <a:r>
              <a:rPr kumimoji="1" lang="en-US" altLang="zh-CN" sz="2400" b="1">
                <a:latin typeface="Times New Roman" panose="02020603050405020304" pitchFamily="18" charset="0"/>
              </a:rPr>
              <a:t>n+1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，列下标的范围为</a:t>
            </a:r>
            <a:r>
              <a:rPr kumimoji="1" lang="en-US" altLang="zh-CN" sz="2400" b="1">
                <a:latin typeface="Times New Roman" panose="02020603050405020304" pitchFamily="18" charset="0"/>
              </a:rPr>
              <a:t>0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～</a:t>
            </a:r>
            <a:r>
              <a:rPr kumimoji="1" lang="en-US" altLang="zh-CN" sz="2400" b="1">
                <a:latin typeface="Times New Roman" panose="02020603050405020304" pitchFamily="18" charset="0"/>
              </a:rPr>
              <a:t>n</a:t>
            </a:r>
            <a:r>
              <a:rPr kumimoji="1" lang="zh-CN" altLang="en-US" sz="2400" b="1">
                <a:latin typeface="Times New Roman" panose="02020603050405020304" pitchFamily="18" charset="0"/>
              </a:rPr>
              <a:t>。</a:t>
            </a:r>
            <a:endParaRPr kumimoji="1" lang="zh-CN" altLang="en-US" sz="2400" b="1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3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为了在求出由</a:t>
            </a:r>
            <a:r>
              <a:rPr kumimoji="1" lang="en-US" altLang="zh-CN" sz="2400" b="1">
                <a:latin typeface="Times New Roman" panose="02020603050405020304" pitchFamily="18" charset="0"/>
              </a:rPr>
              <a:t>{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3000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3000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…,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i="1" baseline="-30000"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>
                <a:latin typeface="Times New Roman" panose="02020603050405020304" pitchFamily="18" charset="0"/>
              </a:rPr>
              <a:t>}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构成的二叉查找树的平均比较次数的同时得到最优二叉查找树，设一个二维表</a:t>
            </a:r>
            <a:r>
              <a:rPr kumimoji="1" lang="en-US" altLang="zh-CN" sz="2400" b="1">
                <a:latin typeface="Times New Roman" panose="02020603050405020304" pitchFamily="18" charset="0"/>
              </a:rPr>
              <a:t>R[n+1][n+1]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，其下标范围与二维表</a:t>
            </a:r>
            <a:r>
              <a:rPr kumimoji="1" lang="en-US" altLang="zh-CN" sz="2400" b="1">
                <a:latin typeface="Times New Roman" panose="02020603050405020304" pitchFamily="18" charset="0"/>
              </a:rPr>
              <a:t>C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相同，</a:t>
            </a:r>
            <a:r>
              <a:rPr kumimoji="1" lang="en-US" altLang="zh-CN" sz="2400" b="1">
                <a:latin typeface="Times New Roman" panose="02020603050405020304" pitchFamily="18" charset="0"/>
              </a:rPr>
              <a:t>R[i][j]</a:t>
            </a:r>
            <a:r>
              <a:rPr kumimoji="1" lang="zh-CN" altLang="en-US" sz="2400" b="1">
                <a:latin typeface="Times New Roman" panose="02020603050405020304" pitchFamily="18" charset="0"/>
              </a:rPr>
              <a:t>表示二叉查找树</a:t>
            </a:r>
            <a:r>
              <a:rPr kumimoji="1" lang="en-US" altLang="zh-CN" sz="2400" b="1">
                <a:latin typeface="Times New Roman" panose="02020603050405020304" pitchFamily="18" charset="0"/>
              </a:rPr>
              <a:t>T(i, j)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的根结点的序号。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4748213" y="2190750"/>
          <a:ext cx="615950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" r:id="rId1" imgW="381000" imgH="444500" progId="Equation.3">
                  <p:embed/>
                </p:oleObj>
              </mc:Choice>
              <mc:Fallback>
                <p:oleObj name="" r:id="rId1" imgW="381000" imgH="444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8213" y="2190750"/>
                        <a:ext cx="615950" cy="661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25" name="Rectangle 5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最优二叉查找树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752475" y="1238250"/>
            <a:ext cx="77073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zh-CN" altLang="en-US" sz="2400" b="1">
                <a:latin typeface="宋体" panose="02010600030101010101" pitchFamily="2" charset="-122"/>
              </a:rPr>
              <a:t>例如，集合</a:t>
            </a:r>
            <a:r>
              <a:rPr kumimoji="1" lang="en-US" altLang="zh-CN" sz="2400" b="1">
                <a:latin typeface="Times New Roman" panose="02020603050405020304" pitchFamily="18" charset="0"/>
              </a:rPr>
              <a:t>{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B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D</a:t>
            </a:r>
            <a:r>
              <a:rPr kumimoji="1" lang="en-US" altLang="zh-CN" sz="2400" b="1">
                <a:latin typeface="Times New Roman" panose="02020603050405020304" pitchFamily="18" charset="0"/>
              </a:rPr>
              <a:t>}</a:t>
            </a:r>
            <a:r>
              <a:rPr kumimoji="1" lang="zh-CN" altLang="en-US" sz="2400" b="1">
                <a:latin typeface="宋体" panose="02010600030101010101" pitchFamily="2" charset="-122"/>
              </a:rPr>
              <a:t>的查找概率是</a:t>
            </a:r>
            <a:r>
              <a:rPr kumimoji="1" lang="en-US" altLang="zh-CN" sz="2400" b="1">
                <a:latin typeface="Times New Roman" panose="02020603050405020304" pitchFamily="18" charset="0"/>
              </a:rPr>
              <a:t>{0.1, 0.2, 0.4, 0.3}</a:t>
            </a:r>
            <a:r>
              <a:rPr kumimoji="1" lang="zh-CN" altLang="en-US" sz="2400" b="1">
                <a:latin typeface="宋体" panose="02010600030101010101" pitchFamily="2" charset="-122"/>
              </a:rPr>
              <a:t>，二维表</a:t>
            </a:r>
            <a:r>
              <a:rPr kumimoji="1" lang="en-US" altLang="zh-CN" sz="2400" b="1">
                <a:latin typeface="Times New Roman" panose="02020603050405020304" pitchFamily="18" charset="0"/>
              </a:rPr>
              <a:t>C</a:t>
            </a:r>
            <a:r>
              <a:rPr kumimoji="1" lang="zh-CN" altLang="en-US" sz="2400" b="1">
                <a:latin typeface="宋体" panose="02010600030101010101" pitchFamily="2" charset="-122"/>
              </a:rPr>
              <a:t>和</a:t>
            </a:r>
            <a:r>
              <a:rPr kumimoji="1" lang="en-US" altLang="zh-CN" sz="2400" b="1">
                <a:latin typeface="Times New Roman" panose="02020603050405020304" pitchFamily="18" charset="0"/>
              </a:rPr>
              <a:t>R</a:t>
            </a:r>
            <a:r>
              <a:rPr kumimoji="1" lang="zh-CN" altLang="en-US" sz="2400" b="1">
                <a:latin typeface="宋体" panose="02010600030101010101" pitchFamily="2" charset="-122"/>
              </a:rPr>
              <a:t>的初始情况如图所示。</a:t>
            </a:r>
            <a:r>
              <a:rPr kumimoji="1" lang="zh-CN" altLang="en-US" sz="2400" b="1">
                <a:latin typeface="Times New Roman" panose="02020603050405020304" pitchFamily="18" charset="0"/>
              </a:rPr>
              <a:t> 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grpSp>
        <p:nvGrpSpPr>
          <p:cNvPr id="58371" name="Group 3"/>
          <p:cNvGrpSpPr/>
          <p:nvPr/>
        </p:nvGrpSpPr>
        <p:grpSpPr bwMode="auto">
          <a:xfrm>
            <a:off x="847725" y="2668588"/>
            <a:ext cx="3505200" cy="2632075"/>
            <a:chOff x="-2" y="-2"/>
            <a:chExt cx="1652" cy="2692"/>
          </a:xfrm>
        </p:grpSpPr>
        <p:grpSp>
          <p:nvGrpSpPr>
            <p:cNvPr id="58484" name="Group 4"/>
            <p:cNvGrpSpPr/>
            <p:nvPr/>
          </p:nvGrpSpPr>
          <p:grpSpPr bwMode="auto">
            <a:xfrm>
              <a:off x="0" y="0"/>
              <a:ext cx="1648" cy="2688"/>
              <a:chOff x="0" y="0"/>
              <a:chExt cx="1648" cy="2688"/>
            </a:xfrm>
          </p:grpSpPr>
          <p:grpSp>
            <p:nvGrpSpPr>
              <p:cNvPr id="58486" name="Group 5"/>
              <p:cNvGrpSpPr/>
              <p:nvPr/>
            </p:nvGrpSpPr>
            <p:grpSpPr bwMode="auto">
              <a:xfrm>
                <a:off x="0" y="0"/>
                <a:ext cx="268" cy="384"/>
                <a:chOff x="0" y="0"/>
                <a:chExt cx="268" cy="384"/>
              </a:xfrm>
            </p:grpSpPr>
            <p:sp>
              <p:nvSpPr>
                <p:cNvPr id="58592" name="Rectangle 6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1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93" name="Rectangle 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87" name="Group 8"/>
              <p:cNvGrpSpPr/>
              <p:nvPr/>
            </p:nvGrpSpPr>
            <p:grpSpPr bwMode="auto">
              <a:xfrm>
                <a:off x="268" y="0"/>
                <a:ext cx="268" cy="384"/>
                <a:chOff x="268" y="0"/>
                <a:chExt cx="268" cy="384"/>
              </a:xfrm>
            </p:grpSpPr>
            <p:sp>
              <p:nvSpPr>
                <p:cNvPr id="58590" name="Rectangle 9"/>
                <p:cNvSpPr>
                  <a:spLocks noChangeArrowheads="1"/>
                </p:cNvSpPr>
                <p:nvPr/>
              </p:nvSpPr>
              <p:spPr bwMode="auto">
                <a:xfrm>
                  <a:off x="311" y="0"/>
                  <a:ext cx="1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0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91" name="Rectangle 10"/>
                <p:cNvSpPr>
                  <a:spLocks noChangeArrowheads="1"/>
                </p:cNvSpPr>
                <p:nvPr/>
              </p:nvSpPr>
              <p:spPr bwMode="auto">
                <a:xfrm>
                  <a:off x="268" y="0"/>
                  <a:ext cx="2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88" name="Group 11"/>
              <p:cNvGrpSpPr/>
              <p:nvPr/>
            </p:nvGrpSpPr>
            <p:grpSpPr bwMode="auto">
              <a:xfrm>
                <a:off x="536" y="0"/>
                <a:ext cx="278" cy="384"/>
                <a:chOff x="536" y="0"/>
                <a:chExt cx="278" cy="384"/>
              </a:xfrm>
            </p:grpSpPr>
            <p:sp>
              <p:nvSpPr>
                <p:cNvPr id="58588" name="Rectangle 12"/>
                <p:cNvSpPr>
                  <a:spLocks noChangeArrowheads="1"/>
                </p:cNvSpPr>
                <p:nvPr/>
              </p:nvSpPr>
              <p:spPr bwMode="auto">
                <a:xfrm>
                  <a:off x="579" y="0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1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89" name="Rectangle 13"/>
                <p:cNvSpPr>
                  <a:spLocks noChangeArrowheads="1"/>
                </p:cNvSpPr>
                <p:nvPr/>
              </p:nvSpPr>
              <p:spPr bwMode="auto">
                <a:xfrm>
                  <a:off x="536" y="0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89" name="Group 14"/>
              <p:cNvGrpSpPr/>
              <p:nvPr/>
            </p:nvGrpSpPr>
            <p:grpSpPr bwMode="auto">
              <a:xfrm>
                <a:off x="814" y="0"/>
                <a:ext cx="278" cy="384"/>
                <a:chOff x="814" y="0"/>
                <a:chExt cx="278" cy="384"/>
              </a:xfrm>
            </p:grpSpPr>
            <p:sp>
              <p:nvSpPr>
                <p:cNvPr id="58586" name="Rectangle 15"/>
                <p:cNvSpPr>
                  <a:spLocks noChangeArrowheads="1"/>
                </p:cNvSpPr>
                <p:nvPr/>
              </p:nvSpPr>
              <p:spPr bwMode="auto">
                <a:xfrm>
                  <a:off x="857" y="0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2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87" name="Rectangle 16"/>
                <p:cNvSpPr>
                  <a:spLocks noChangeArrowheads="1"/>
                </p:cNvSpPr>
                <p:nvPr/>
              </p:nvSpPr>
              <p:spPr bwMode="auto">
                <a:xfrm>
                  <a:off x="814" y="0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90" name="Group 17"/>
              <p:cNvGrpSpPr/>
              <p:nvPr/>
            </p:nvGrpSpPr>
            <p:grpSpPr bwMode="auto">
              <a:xfrm>
                <a:off x="1092" y="0"/>
                <a:ext cx="278" cy="384"/>
                <a:chOff x="1092" y="0"/>
                <a:chExt cx="278" cy="384"/>
              </a:xfrm>
            </p:grpSpPr>
            <p:sp>
              <p:nvSpPr>
                <p:cNvPr id="58584" name="Rectangle 18"/>
                <p:cNvSpPr>
                  <a:spLocks noChangeArrowheads="1"/>
                </p:cNvSpPr>
                <p:nvPr/>
              </p:nvSpPr>
              <p:spPr bwMode="auto">
                <a:xfrm>
                  <a:off x="1135" y="0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3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85" name="Rectangle 19"/>
                <p:cNvSpPr>
                  <a:spLocks noChangeArrowheads="1"/>
                </p:cNvSpPr>
                <p:nvPr/>
              </p:nvSpPr>
              <p:spPr bwMode="auto">
                <a:xfrm>
                  <a:off x="1092" y="0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91" name="Group 20"/>
              <p:cNvGrpSpPr/>
              <p:nvPr/>
            </p:nvGrpSpPr>
            <p:grpSpPr bwMode="auto">
              <a:xfrm>
                <a:off x="1370" y="0"/>
                <a:ext cx="278" cy="384"/>
                <a:chOff x="1370" y="0"/>
                <a:chExt cx="278" cy="384"/>
              </a:xfrm>
            </p:grpSpPr>
            <p:sp>
              <p:nvSpPr>
                <p:cNvPr id="58582" name="Rectangle 21"/>
                <p:cNvSpPr>
                  <a:spLocks noChangeArrowheads="1"/>
                </p:cNvSpPr>
                <p:nvPr/>
              </p:nvSpPr>
              <p:spPr bwMode="auto">
                <a:xfrm>
                  <a:off x="1413" y="0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4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83" name="Rectangle 22"/>
                <p:cNvSpPr>
                  <a:spLocks noChangeArrowheads="1"/>
                </p:cNvSpPr>
                <p:nvPr/>
              </p:nvSpPr>
              <p:spPr bwMode="auto">
                <a:xfrm>
                  <a:off x="1370" y="0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92" name="Group 23"/>
              <p:cNvGrpSpPr/>
              <p:nvPr/>
            </p:nvGrpSpPr>
            <p:grpSpPr bwMode="auto">
              <a:xfrm>
                <a:off x="0" y="384"/>
                <a:ext cx="268" cy="480"/>
                <a:chOff x="0" y="384"/>
                <a:chExt cx="268" cy="480"/>
              </a:xfrm>
            </p:grpSpPr>
            <p:sp>
              <p:nvSpPr>
                <p:cNvPr id="58580" name="Rectangle 24"/>
                <p:cNvSpPr>
                  <a:spLocks noChangeArrowheads="1"/>
                </p:cNvSpPr>
                <p:nvPr/>
              </p:nvSpPr>
              <p:spPr bwMode="auto">
                <a:xfrm>
                  <a:off x="43" y="384"/>
                  <a:ext cx="18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1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81" name="Rectangle 25"/>
                <p:cNvSpPr>
                  <a:spLocks noChangeArrowheads="1"/>
                </p:cNvSpPr>
                <p:nvPr/>
              </p:nvSpPr>
              <p:spPr bwMode="auto">
                <a:xfrm>
                  <a:off x="0" y="384"/>
                  <a:ext cx="26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93" name="Group 26"/>
              <p:cNvGrpSpPr/>
              <p:nvPr/>
            </p:nvGrpSpPr>
            <p:grpSpPr bwMode="auto">
              <a:xfrm>
                <a:off x="268" y="384"/>
                <a:ext cx="268" cy="480"/>
                <a:chOff x="268" y="384"/>
                <a:chExt cx="268" cy="480"/>
              </a:xfrm>
            </p:grpSpPr>
            <p:sp>
              <p:nvSpPr>
                <p:cNvPr id="58578" name="Rectangle 27"/>
                <p:cNvSpPr>
                  <a:spLocks noChangeArrowheads="1"/>
                </p:cNvSpPr>
                <p:nvPr/>
              </p:nvSpPr>
              <p:spPr bwMode="auto">
                <a:xfrm>
                  <a:off x="311" y="384"/>
                  <a:ext cx="18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0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79" name="Rectangle 28"/>
                <p:cNvSpPr>
                  <a:spLocks noChangeArrowheads="1"/>
                </p:cNvSpPr>
                <p:nvPr/>
              </p:nvSpPr>
              <p:spPr bwMode="auto">
                <a:xfrm>
                  <a:off x="268" y="384"/>
                  <a:ext cx="26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94" name="Group 29"/>
              <p:cNvGrpSpPr/>
              <p:nvPr/>
            </p:nvGrpSpPr>
            <p:grpSpPr bwMode="auto">
              <a:xfrm>
                <a:off x="536" y="384"/>
                <a:ext cx="278" cy="480"/>
                <a:chOff x="536" y="384"/>
                <a:chExt cx="278" cy="480"/>
              </a:xfrm>
            </p:grpSpPr>
            <p:sp>
              <p:nvSpPr>
                <p:cNvPr id="58576" name="Rectangle 30"/>
                <p:cNvSpPr>
                  <a:spLocks noChangeArrowheads="1"/>
                </p:cNvSpPr>
                <p:nvPr/>
              </p:nvSpPr>
              <p:spPr bwMode="auto">
                <a:xfrm>
                  <a:off x="579" y="384"/>
                  <a:ext cx="19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0.1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77" name="Rectangle 31"/>
                <p:cNvSpPr>
                  <a:spLocks noChangeArrowheads="1"/>
                </p:cNvSpPr>
                <p:nvPr/>
              </p:nvSpPr>
              <p:spPr bwMode="auto">
                <a:xfrm>
                  <a:off x="536" y="384"/>
                  <a:ext cx="27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95" name="Group 32"/>
              <p:cNvGrpSpPr/>
              <p:nvPr/>
            </p:nvGrpSpPr>
            <p:grpSpPr bwMode="auto">
              <a:xfrm>
                <a:off x="814" y="384"/>
                <a:ext cx="278" cy="480"/>
                <a:chOff x="814" y="384"/>
                <a:chExt cx="278" cy="480"/>
              </a:xfrm>
            </p:grpSpPr>
            <p:sp>
              <p:nvSpPr>
                <p:cNvPr id="58574" name="Rectangle 33"/>
                <p:cNvSpPr>
                  <a:spLocks noChangeArrowheads="1"/>
                </p:cNvSpPr>
                <p:nvPr/>
              </p:nvSpPr>
              <p:spPr bwMode="auto">
                <a:xfrm>
                  <a:off x="857" y="384"/>
                  <a:ext cx="19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75" name="Rectangle 34"/>
                <p:cNvSpPr>
                  <a:spLocks noChangeArrowheads="1"/>
                </p:cNvSpPr>
                <p:nvPr/>
              </p:nvSpPr>
              <p:spPr bwMode="auto">
                <a:xfrm>
                  <a:off x="814" y="384"/>
                  <a:ext cx="27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96" name="Group 35"/>
              <p:cNvGrpSpPr/>
              <p:nvPr/>
            </p:nvGrpSpPr>
            <p:grpSpPr bwMode="auto">
              <a:xfrm>
                <a:off x="1092" y="384"/>
                <a:ext cx="278" cy="480"/>
                <a:chOff x="1092" y="384"/>
                <a:chExt cx="278" cy="480"/>
              </a:xfrm>
            </p:grpSpPr>
            <p:sp>
              <p:nvSpPr>
                <p:cNvPr id="58572" name="Rectangle 36"/>
                <p:cNvSpPr>
                  <a:spLocks noChangeArrowheads="1"/>
                </p:cNvSpPr>
                <p:nvPr/>
              </p:nvSpPr>
              <p:spPr bwMode="auto">
                <a:xfrm>
                  <a:off x="1135" y="384"/>
                  <a:ext cx="19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73" name="Rectangle 37"/>
                <p:cNvSpPr>
                  <a:spLocks noChangeArrowheads="1"/>
                </p:cNvSpPr>
                <p:nvPr/>
              </p:nvSpPr>
              <p:spPr bwMode="auto">
                <a:xfrm>
                  <a:off x="1092" y="384"/>
                  <a:ext cx="27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97" name="Group 38"/>
              <p:cNvGrpSpPr/>
              <p:nvPr/>
            </p:nvGrpSpPr>
            <p:grpSpPr bwMode="auto">
              <a:xfrm>
                <a:off x="1370" y="384"/>
                <a:ext cx="278" cy="480"/>
                <a:chOff x="1370" y="384"/>
                <a:chExt cx="278" cy="480"/>
              </a:xfrm>
            </p:grpSpPr>
            <p:sp>
              <p:nvSpPr>
                <p:cNvPr id="58570" name="Rectangle 39"/>
                <p:cNvSpPr>
                  <a:spLocks noChangeArrowheads="1"/>
                </p:cNvSpPr>
                <p:nvPr/>
              </p:nvSpPr>
              <p:spPr bwMode="auto">
                <a:xfrm>
                  <a:off x="1413" y="384"/>
                  <a:ext cx="19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71" name="Rectangle 40"/>
                <p:cNvSpPr>
                  <a:spLocks noChangeArrowheads="1"/>
                </p:cNvSpPr>
                <p:nvPr/>
              </p:nvSpPr>
              <p:spPr bwMode="auto">
                <a:xfrm>
                  <a:off x="1370" y="384"/>
                  <a:ext cx="27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98" name="Group 41"/>
              <p:cNvGrpSpPr/>
              <p:nvPr/>
            </p:nvGrpSpPr>
            <p:grpSpPr bwMode="auto">
              <a:xfrm>
                <a:off x="0" y="864"/>
                <a:ext cx="268" cy="480"/>
                <a:chOff x="0" y="864"/>
                <a:chExt cx="268" cy="480"/>
              </a:xfrm>
            </p:grpSpPr>
            <p:sp>
              <p:nvSpPr>
                <p:cNvPr id="58568" name="Rectangle 42"/>
                <p:cNvSpPr>
                  <a:spLocks noChangeArrowheads="1"/>
                </p:cNvSpPr>
                <p:nvPr/>
              </p:nvSpPr>
              <p:spPr bwMode="auto">
                <a:xfrm>
                  <a:off x="43" y="864"/>
                  <a:ext cx="18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2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69" name="Rectangle 43"/>
                <p:cNvSpPr>
                  <a:spLocks noChangeArrowheads="1"/>
                </p:cNvSpPr>
                <p:nvPr/>
              </p:nvSpPr>
              <p:spPr bwMode="auto">
                <a:xfrm>
                  <a:off x="0" y="864"/>
                  <a:ext cx="26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99" name="Group 44"/>
              <p:cNvGrpSpPr/>
              <p:nvPr/>
            </p:nvGrpSpPr>
            <p:grpSpPr bwMode="auto">
              <a:xfrm>
                <a:off x="268" y="864"/>
                <a:ext cx="268" cy="480"/>
                <a:chOff x="268" y="864"/>
                <a:chExt cx="268" cy="480"/>
              </a:xfrm>
            </p:grpSpPr>
            <p:sp>
              <p:nvSpPr>
                <p:cNvPr id="58566" name="Rectangle 45"/>
                <p:cNvSpPr>
                  <a:spLocks noChangeArrowheads="1"/>
                </p:cNvSpPr>
                <p:nvPr/>
              </p:nvSpPr>
              <p:spPr bwMode="auto">
                <a:xfrm>
                  <a:off x="311" y="864"/>
                  <a:ext cx="18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67" name="Rectangle 46"/>
                <p:cNvSpPr>
                  <a:spLocks noChangeArrowheads="1"/>
                </p:cNvSpPr>
                <p:nvPr/>
              </p:nvSpPr>
              <p:spPr bwMode="auto">
                <a:xfrm>
                  <a:off x="268" y="864"/>
                  <a:ext cx="26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00" name="Group 47"/>
              <p:cNvGrpSpPr/>
              <p:nvPr/>
            </p:nvGrpSpPr>
            <p:grpSpPr bwMode="auto">
              <a:xfrm>
                <a:off x="536" y="864"/>
                <a:ext cx="278" cy="480"/>
                <a:chOff x="536" y="864"/>
                <a:chExt cx="278" cy="480"/>
              </a:xfrm>
            </p:grpSpPr>
            <p:sp>
              <p:nvSpPr>
                <p:cNvPr id="58564" name="Rectangle 48"/>
                <p:cNvSpPr>
                  <a:spLocks noChangeArrowheads="1"/>
                </p:cNvSpPr>
                <p:nvPr/>
              </p:nvSpPr>
              <p:spPr bwMode="auto">
                <a:xfrm>
                  <a:off x="579" y="864"/>
                  <a:ext cx="19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0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65" name="Rectangle 49"/>
                <p:cNvSpPr>
                  <a:spLocks noChangeArrowheads="1"/>
                </p:cNvSpPr>
                <p:nvPr/>
              </p:nvSpPr>
              <p:spPr bwMode="auto">
                <a:xfrm>
                  <a:off x="536" y="864"/>
                  <a:ext cx="27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01" name="Group 50"/>
              <p:cNvGrpSpPr/>
              <p:nvPr/>
            </p:nvGrpSpPr>
            <p:grpSpPr bwMode="auto">
              <a:xfrm>
                <a:off x="814" y="864"/>
                <a:ext cx="278" cy="480"/>
                <a:chOff x="814" y="864"/>
                <a:chExt cx="278" cy="480"/>
              </a:xfrm>
            </p:grpSpPr>
            <p:sp>
              <p:nvSpPr>
                <p:cNvPr id="58562" name="Rectangle 51"/>
                <p:cNvSpPr>
                  <a:spLocks noChangeArrowheads="1"/>
                </p:cNvSpPr>
                <p:nvPr/>
              </p:nvSpPr>
              <p:spPr bwMode="auto">
                <a:xfrm>
                  <a:off x="857" y="864"/>
                  <a:ext cx="19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0.2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63" name="Rectangle 52"/>
                <p:cNvSpPr>
                  <a:spLocks noChangeArrowheads="1"/>
                </p:cNvSpPr>
                <p:nvPr/>
              </p:nvSpPr>
              <p:spPr bwMode="auto">
                <a:xfrm>
                  <a:off x="814" y="864"/>
                  <a:ext cx="27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02" name="Group 53"/>
              <p:cNvGrpSpPr/>
              <p:nvPr/>
            </p:nvGrpSpPr>
            <p:grpSpPr bwMode="auto">
              <a:xfrm>
                <a:off x="1092" y="864"/>
                <a:ext cx="278" cy="480"/>
                <a:chOff x="1092" y="864"/>
                <a:chExt cx="278" cy="480"/>
              </a:xfrm>
            </p:grpSpPr>
            <p:sp>
              <p:nvSpPr>
                <p:cNvPr id="58560" name="Rectangle 54"/>
                <p:cNvSpPr>
                  <a:spLocks noChangeArrowheads="1"/>
                </p:cNvSpPr>
                <p:nvPr/>
              </p:nvSpPr>
              <p:spPr bwMode="auto">
                <a:xfrm>
                  <a:off x="1135" y="864"/>
                  <a:ext cx="19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61" name="Rectangle 55"/>
                <p:cNvSpPr>
                  <a:spLocks noChangeArrowheads="1"/>
                </p:cNvSpPr>
                <p:nvPr/>
              </p:nvSpPr>
              <p:spPr bwMode="auto">
                <a:xfrm>
                  <a:off x="1092" y="864"/>
                  <a:ext cx="27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03" name="Group 56"/>
              <p:cNvGrpSpPr/>
              <p:nvPr/>
            </p:nvGrpSpPr>
            <p:grpSpPr bwMode="auto">
              <a:xfrm>
                <a:off x="1370" y="864"/>
                <a:ext cx="278" cy="480"/>
                <a:chOff x="1370" y="864"/>
                <a:chExt cx="278" cy="480"/>
              </a:xfrm>
            </p:grpSpPr>
            <p:sp>
              <p:nvSpPr>
                <p:cNvPr id="58558" name="Rectangle 57"/>
                <p:cNvSpPr>
                  <a:spLocks noChangeArrowheads="1"/>
                </p:cNvSpPr>
                <p:nvPr/>
              </p:nvSpPr>
              <p:spPr bwMode="auto">
                <a:xfrm>
                  <a:off x="1413" y="864"/>
                  <a:ext cx="19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59" name="Rectangle 58"/>
                <p:cNvSpPr>
                  <a:spLocks noChangeArrowheads="1"/>
                </p:cNvSpPr>
                <p:nvPr/>
              </p:nvSpPr>
              <p:spPr bwMode="auto">
                <a:xfrm>
                  <a:off x="1370" y="864"/>
                  <a:ext cx="27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04" name="Group 59"/>
              <p:cNvGrpSpPr/>
              <p:nvPr/>
            </p:nvGrpSpPr>
            <p:grpSpPr bwMode="auto">
              <a:xfrm>
                <a:off x="0" y="1344"/>
                <a:ext cx="268" cy="480"/>
                <a:chOff x="0" y="1344"/>
                <a:chExt cx="268" cy="480"/>
              </a:xfrm>
            </p:grpSpPr>
            <p:sp>
              <p:nvSpPr>
                <p:cNvPr id="58556" name="Rectangle 60"/>
                <p:cNvSpPr>
                  <a:spLocks noChangeArrowheads="1"/>
                </p:cNvSpPr>
                <p:nvPr/>
              </p:nvSpPr>
              <p:spPr bwMode="auto">
                <a:xfrm>
                  <a:off x="43" y="1344"/>
                  <a:ext cx="18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3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57" name="Rectangle 61"/>
                <p:cNvSpPr>
                  <a:spLocks noChangeArrowheads="1"/>
                </p:cNvSpPr>
                <p:nvPr/>
              </p:nvSpPr>
              <p:spPr bwMode="auto">
                <a:xfrm>
                  <a:off x="0" y="1344"/>
                  <a:ext cx="26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05" name="Group 62"/>
              <p:cNvGrpSpPr/>
              <p:nvPr/>
            </p:nvGrpSpPr>
            <p:grpSpPr bwMode="auto">
              <a:xfrm>
                <a:off x="268" y="1344"/>
                <a:ext cx="268" cy="480"/>
                <a:chOff x="268" y="1344"/>
                <a:chExt cx="268" cy="480"/>
              </a:xfrm>
            </p:grpSpPr>
            <p:sp>
              <p:nvSpPr>
                <p:cNvPr id="58554" name="Rectangle 63"/>
                <p:cNvSpPr>
                  <a:spLocks noChangeArrowheads="1"/>
                </p:cNvSpPr>
                <p:nvPr/>
              </p:nvSpPr>
              <p:spPr bwMode="auto">
                <a:xfrm>
                  <a:off x="311" y="1344"/>
                  <a:ext cx="18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55" name="Rectangle 64"/>
                <p:cNvSpPr>
                  <a:spLocks noChangeArrowheads="1"/>
                </p:cNvSpPr>
                <p:nvPr/>
              </p:nvSpPr>
              <p:spPr bwMode="auto">
                <a:xfrm>
                  <a:off x="268" y="1344"/>
                  <a:ext cx="26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06" name="Group 65"/>
              <p:cNvGrpSpPr/>
              <p:nvPr/>
            </p:nvGrpSpPr>
            <p:grpSpPr bwMode="auto">
              <a:xfrm>
                <a:off x="536" y="1344"/>
                <a:ext cx="278" cy="480"/>
                <a:chOff x="536" y="1344"/>
                <a:chExt cx="278" cy="480"/>
              </a:xfrm>
            </p:grpSpPr>
            <p:sp>
              <p:nvSpPr>
                <p:cNvPr id="58552" name="Rectangle 66"/>
                <p:cNvSpPr>
                  <a:spLocks noChangeArrowheads="1"/>
                </p:cNvSpPr>
                <p:nvPr/>
              </p:nvSpPr>
              <p:spPr bwMode="auto">
                <a:xfrm>
                  <a:off x="579" y="1344"/>
                  <a:ext cx="19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53" name="Rectangle 67"/>
                <p:cNvSpPr>
                  <a:spLocks noChangeArrowheads="1"/>
                </p:cNvSpPr>
                <p:nvPr/>
              </p:nvSpPr>
              <p:spPr bwMode="auto">
                <a:xfrm>
                  <a:off x="536" y="1344"/>
                  <a:ext cx="27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07" name="Group 68"/>
              <p:cNvGrpSpPr/>
              <p:nvPr/>
            </p:nvGrpSpPr>
            <p:grpSpPr bwMode="auto">
              <a:xfrm>
                <a:off x="814" y="1344"/>
                <a:ext cx="278" cy="480"/>
                <a:chOff x="814" y="1344"/>
                <a:chExt cx="278" cy="480"/>
              </a:xfrm>
            </p:grpSpPr>
            <p:sp>
              <p:nvSpPr>
                <p:cNvPr id="58550" name="Rectangle 69"/>
                <p:cNvSpPr>
                  <a:spLocks noChangeArrowheads="1"/>
                </p:cNvSpPr>
                <p:nvPr/>
              </p:nvSpPr>
              <p:spPr bwMode="auto">
                <a:xfrm>
                  <a:off x="857" y="1344"/>
                  <a:ext cx="19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0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51" name="Rectangle 70"/>
                <p:cNvSpPr>
                  <a:spLocks noChangeArrowheads="1"/>
                </p:cNvSpPr>
                <p:nvPr/>
              </p:nvSpPr>
              <p:spPr bwMode="auto">
                <a:xfrm>
                  <a:off x="814" y="1344"/>
                  <a:ext cx="27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08" name="Group 71"/>
              <p:cNvGrpSpPr/>
              <p:nvPr/>
            </p:nvGrpSpPr>
            <p:grpSpPr bwMode="auto">
              <a:xfrm>
                <a:off x="1092" y="1344"/>
                <a:ext cx="278" cy="480"/>
                <a:chOff x="1092" y="1344"/>
                <a:chExt cx="278" cy="480"/>
              </a:xfrm>
            </p:grpSpPr>
            <p:sp>
              <p:nvSpPr>
                <p:cNvPr id="58548" name="Rectangle 72"/>
                <p:cNvSpPr>
                  <a:spLocks noChangeArrowheads="1"/>
                </p:cNvSpPr>
                <p:nvPr/>
              </p:nvSpPr>
              <p:spPr bwMode="auto">
                <a:xfrm>
                  <a:off x="1135" y="1344"/>
                  <a:ext cx="19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0.4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49" name="Rectangle 73"/>
                <p:cNvSpPr>
                  <a:spLocks noChangeArrowheads="1"/>
                </p:cNvSpPr>
                <p:nvPr/>
              </p:nvSpPr>
              <p:spPr bwMode="auto">
                <a:xfrm>
                  <a:off x="1092" y="1344"/>
                  <a:ext cx="27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09" name="Group 74"/>
              <p:cNvGrpSpPr/>
              <p:nvPr/>
            </p:nvGrpSpPr>
            <p:grpSpPr bwMode="auto">
              <a:xfrm>
                <a:off x="1370" y="1344"/>
                <a:ext cx="278" cy="480"/>
                <a:chOff x="1370" y="1344"/>
                <a:chExt cx="278" cy="480"/>
              </a:xfrm>
            </p:grpSpPr>
            <p:sp>
              <p:nvSpPr>
                <p:cNvPr id="58546" name="Rectangle 75"/>
                <p:cNvSpPr>
                  <a:spLocks noChangeArrowheads="1"/>
                </p:cNvSpPr>
                <p:nvPr/>
              </p:nvSpPr>
              <p:spPr bwMode="auto">
                <a:xfrm>
                  <a:off x="1413" y="1344"/>
                  <a:ext cx="19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47" name="Rectangle 76"/>
                <p:cNvSpPr>
                  <a:spLocks noChangeArrowheads="1"/>
                </p:cNvSpPr>
                <p:nvPr/>
              </p:nvSpPr>
              <p:spPr bwMode="auto">
                <a:xfrm>
                  <a:off x="1370" y="1344"/>
                  <a:ext cx="27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10" name="Group 77"/>
              <p:cNvGrpSpPr/>
              <p:nvPr/>
            </p:nvGrpSpPr>
            <p:grpSpPr bwMode="auto">
              <a:xfrm>
                <a:off x="0" y="1824"/>
                <a:ext cx="268" cy="480"/>
                <a:chOff x="0" y="1824"/>
                <a:chExt cx="268" cy="480"/>
              </a:xfrm>
            </p:grpSpPr>
            <p:sp>
              <p:nvSpPr>
                <p:cNvPr id="58544" name="Rectangle 78"/>
                <p:cNvSpPr>
                  <a:spLocks noChangeArrowheads="1"/>
                </p:cNvSpPr>
                <p:nvPr/>
              </p:nvSpPr>
              <p:spPr bwMode="auto">
                <a:xfrm>
                  <a:off x="43" y="1824"/>
                  <a:ext cx="18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4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45" name="Rectangle 79"/>
                <p:cNvSpPr>
                  <a:spLocks noChangeArrowheads="1"/>
                </p:cNvSpPr>
                <p:nvPr/>
              </p:nvSpPr>
              <p:spPr bwMode="auto">
                <a:xfrm>
                  <a:off x="0" y="1824"/>
                  <a:ext cx="26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11" name="Group 80"/>
              <p:cNvGrpSpPr/>
              <p:nvPr/>
            </p:nvGrpSpPr>
            <p:grpSpPr bwMode="auto">
              <a:xfrm>
                <a:off x="268" y="1824"/>
                <a:ext cx="268" cy="480"/>
                <a:chOff x="268" y="1824"/>
                <a:chExt cx="268" cy="480"/>
              </a:xfrm>
            </p:grpSpPr>
            <p:sp>
              <p:nvSpPr>
                <p:cNvPr id="58542" name="Rectangle 81"/>
                <p:cNvSpPr>
                  <a:spLocks noChangeArrowheads="1"/>
                </p:cNvSpPr>
                <p:nvPr/>
              </p:nvSpPr>
              <p:spPr bwMode="auto">
                <a:xfrm>
                  <a:off x="311" y="1824"/>
                  <a:ext cx="18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43" name="Rectangle 82"/>
                <p:cNvSpPr>
                  <a:spLocks noChangeArrowheads="1"/>
                </p:cNvSpPr>
                <p:nvPr/>
              </p:nvSpPr>
              <p:spPr bwMode="auto">
                <a:xfrm>
                  <a:off x="268" y="1824"/>
                  <a:ext cx="26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12" name="Group 83"/>
              <p:cNvGrpSpPr/>
              <p:nvPr/>
            </p:nvGrpSpPr>
            <p:grpSpPr bwMode="auto">
              <a:xfrm>
                <a:off x="536" y="1824"/>
                <a:ext cx="278" cy="480"/>
                <a:chOff x="536" y="1824"/>
                <a:chExt cx="278" cy="480"/>
              </a:xfrm>
            </p:grpSpPr>
            <p:sp>
              <p:nvSpPr>
                <p:cNvPr id="58540" name="Rectangle 84"/>
                <p:cNvSpPr>
                  <a:spLocks noChangeArrowheads="1"/>
                </p:cNvSpPr>
                <p:nvPr/>
              </p:nvSpPr>
              <p:spPr bwMode="auto">
                <a:xfrm>
                  <a:off x="579" y="1824"/>
                  <a:ext cx="19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41" name="Rectangle 85"/>
                <p:cNvSpPr>
                  <a:spLocks noChangeArrowheads="1"/>
                </p:cNvSpPr>
                <p:nvPr/>
              </p:nvSpPr>
              <p:spPr bwMode="auto">
                <a:xfrm>
                  <a:off x="536" y="1824"/>
                  <a:ext cx="27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13" name="Group 86"/>
              <p:cNvGrpSpPr/>
              <p:nvPr/>
            </p:nvGrpSpPr>
            <p:grpSpPr bwMode="auto">
              <a:xfrm>
                <a:off x="814" y="1824"/>
                <a:ext cx="278" cy="480"/>
                <a:chOff x="814" y="1824"/>
                <a:chExt cx="278" cy="480"/>
              </a:xfrm>
            </p:grpSpPr>
            <p:sp>
              <p:nvSpPr>
                <p:cNvPr id="58538" name="Rectangle 87"/>
                <p:cNvSpPr>
                  <a:spLocks noChangeArrowheads="1"/>
                </p:cNvSpPr>
                <p:nvPr/>
              </p:nvSpPr>
              <p:spPr bwMode="auto">
                <a:xfrm>
                  <a:off x="857" y="1824"/>
                  <a:ext cx="19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39" name="Rectangle 88"/>
                <p:cNvSpPr>
                  <a:spLocks noChangeArrowheads="1"/>
                </p:cNvSpPr>
                <p:nvPr/>
              </p:nvSpPr>
              <p:spPr bwMode="auto">
                <a:xfrm>
                  <a:off x="814" y="1824"/>
                  <a:ext cx="27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14" name="Group 89"/>
              <p:cNvGrpSpPr/>
              <p:nvPr/>
            </p:nvGrpSpPr>
            <p:grpSpPr bwMode="auto">
              <a:xfrm>
                <a:off x="1092" y="1824"/>
                <a:ext cx="278" cy="480"/>
                <a:chOff x="1092" y="1824"/>
                <a:chExt cx="278" cy="480"/>
              </a:xfrm>
            </p:grpSpPr>
            <p:sp>
              <p:nvSpPr>
                <p:cNvPr id="58536" name="Rectangle 90"/>
                <p:cNvSpPr>
                  <a:spLocks noChangeArrowheads="1"/>
                </p:cNvSpPr>
                <p:nvPr/>
              </p:nvSpPr>
              <p:spPr bwMode="auto">
                <a:xfrm>
                  <a:off x="1135" y="1824"/>
                  <a:ext cx="19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0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37" name="Rectangle 91"/>
                <p:cNvSpPr>
                  <a:spLocks noChangeArrowheads="1"/>
                </p:cNvSpPr>
                <p:nvPr/>
              </p:nvSpPr>
              <p:spPr bwMode="auto">
                <a:xfrm>
                  <a:off x="1092" y="1824"/>
                  <a:ext cx="27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15" name="Group 92"/>
              <p:cNvGrpSpPr/>
              <p:nvPr/>
            </p:nvGrpSpPr>
            <p:grpSpPr bwMode="auto">
              <a:xfrm>
                <a:off x="1370" y="1824"/>
                <a:ext cx="278" cy="480"/>
                <a:chOff x="1370" y="1824"/>
                <a:chExt cx="278" cy="480"/>
              </a:xfrm>
            </p:grpSpPr>
            <p:sp>
              <p:nvSpPr>
                <p:cNvPr id="58534" name="Rectangle 93"/>
                <p:cNvSpPr>
                  <a:spLocks noChangeArrowheads="1"/>
                </p:cNvSpPr>
                <p:nvPr/>
              </p:nvSpPr>
              <p:spPr bwMode="auto">
                <a:xfrm>
                  <a:off x="1413" y="1824"/>
                  <a:ext cx="192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0.3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35" name="Rectangle 94"/>
                <p:cNvSpPr>
                  <a:spLocks noChangeArrowheads="1"/>
                </p:cNvSpPr>
                <p:nvPr/>
              </p:nvSpPr>
              <p:spPr bwMode="auto">
                <a:xfrm>
                  <a:off x="1370" y="1824"/>
                  <a:ext cx="27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16" name="Group 95"/>
              <p:cNvGrpSpPr/>
              <p:nvPr/>
            </p:nvGrpSpPr>
            <p:grpSpPr bwMode="auto">
              <a:xfrm>
                <a:off x="0" y="2304"/>
                <a:ext cx="268" cy="384"/>
                <a:chOff x="0" y="2304"/>
                <a:chExt cx="268" cy="384"/>
              </a:xfrm>
            </p:grpSpPr>
            <p:sp>
              <p:nvSpPr>
                <p:cNvPr id="58532" name="Rectangle 96"/>
                <p:cNvSpPr>
                  <a:spLocks noChangeArrowheads="1"/>
                </p:cNvSpPr>
                <p:nvPr/>
              </p:nvSpPr>
              <p:spPr bwMode="auto">
                <a:xfrm>
                  <a:off x="43" y="2304"/>
                  <a:ext cx="1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5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33" name="Rectangle 97"/>
                <p:cNvSpPr>
                  <a:spLocks noChangeArrowheads="1"/>
                </p:cNvSpPr>
                <p:nvPr/>
              </p:nvSpPr>
              <p:spPr bwMode="auto">
                <a:xfrm>
                  <a:off x="0" y="2304"/>
                  <a:ext cx="2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17" name="Group 98"/>
              <p:cNvGrpSpPr/>
              <p:nvPr/>
            </p:nvGrpSpPr>
            <p:grpSpPr bwMode="auto">
              <a:xfrm>
                <a:off x="268" y="2304"/>
                <a:ext cx="268" cy="384"/>
                <a:chOff x="268" y="2304"/>
                <a:chExt cx="268" cy="384"/>
              </a:xfrm>
            </p:grpSpPr>
            <p:sp>
              <p:nvSpPr>
                <p:cNvPr id="58530" name="Rectangle 99"/>
                <p:cNvSpPr>
                  <a:spLocks noChangeArrowheads="1"/>
                </p:cNvSpPr>
                <p:nvPr/>
              </p:nvSpPr>
              <p:spPr bwMode="auto">
                <a:xfrm>
                  <a:off x="311" y="2304"/>
                  <a:ext cx="18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31" name="Rectangle 100"/>
                <p:cNvSpPr>
                  <a:spLocks noChangeArrowheads="1"/>
                </p:cNvSpPr>
                <p:nvPr/>
              </p:nvSpPr>
              <p:spPr bwMode="auto">
                <a:xfrm>
                  <a:off x="268" y="2304"/>
                  <a:ext cx="26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18" name="Group 101"/>
              <p:cNvGrpSpPr/>
              <p:nvPr/>
            </p:nvGrpSpPr>
            <p:grpSpPr bwMode="auto">
              <a:xfrm>
                <a:off x="536" y="2304"/>
                <a:ext cx="278" cy="384"/>
                <a:chOff x="536" y="2304"/>
                <a:chExt cx="278" cy="384"/>
              </a:xfrm>
            </p:grpSpPr>
            <p:sp>
              <p:nvSpPr>
                <p:cNvPr id="58528" name="Rectangle 102"/>
                <p:cNvSpPr>
                  <a:spLocks noChangeArrowheads="1"/>
                </p:cNvSpPr>
                <p:nvPr/>
              </p:nvSpPr>
              <p:spPr bwMode="auto">
                <a:xfrm>
                  <a:off x="579" y="2304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29" name="Rectangle 103"/>
                <p:cNvSpPr>
                  <a:spLocks noChangeArrowheads="1"/>
                </p:cNvSpPr>
                <p:nvPr/>
              </p:nvSpPr>
              <p:spPr bwMode="auto">
                <a:xfrm>
                  <a:off x="536" y="2304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19" name="Group 104"/>
              <p:cNvGrpSpPr/>
              <p:nvPr/>
            </p:nvGrpSpPr>
            <p:grpSpPr bwMode="auto">
              <a:xfrm>
                <a:off x="814" y="2304"/>
                <a:ext cx="278" cy="384"/>
                <a:chOff x="814" y="2304"/>
                <a:chExt cx="278" cy="384"/>
              </a:xfrm>
            </p:grpSpPr>
            <p:sp>
              <p:nvSpPr>
                <p:cNvPr id="58526" name="Rectangle 105"/>
                <p:cNvSpPr>
                  <a:spLocks noChangeArrowheads="1"/>
                </p:cNvSpPr>
                <p:nvPr/>
              </p:nvSpPr>
              <p:spPr bwMode="auto">
                <a:xfrm>
                  <a:off x="857" y="2304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27" name="Rectangle 106"/>
                <p:cNvSpPr>
                  <a:spLocks noChangeArrowheads="1"/>
                </p:cNvSpPr>
                <p:nvPr/>
              </p:nvSpPr>
              <p:spPr bwMode="auto">
                <a:xfrm>
                  <a:off x="814" y="2304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20" name="Group 107"/>
              <p:cNvGrpSpPr/>
              <p:nvPr/>
            </p:nvGrpSpPr>
            <p:grpSpPr bwMode="auto">
              <a:xfrm>
                <a:off x="1092" y="2304"/>
                <a:ext cx="278" cy="384"/>
                <a:chOff x="1092" y="2304"/>
                <a:chExt cx="278" cy="384"/>
              </a:xfrm>
            </p:grpSpPr>
            <p:sp>
              <p:nvSpPr>
                <p:cNvPr id="58524" name="Rectangle 108"/>
                <p:cNvSpPr>
                  <a:spLocks noChangeArrowheads="1"/>
                </p:cNvSpPr>
                <p:nvPr/>
              </p:nvSpPr>
              <p:spPr bwMode="auto">
                <a:xfrm>
                  <a:off x="1135" y="2304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25" name="Rectangle 109"/>
                <p:cNvSpPr>
                  <a:spLocks noChangeArrowheads="1"/>
                </p:cNvSpPr>
                <p:nvPr/>
              </p:nvSpPr>
              <p:spPr bwMode="auto">
                <a:xfrm>
                  <a:off x="1092" y="2304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521" name="Group 110"/>
              <p:cNvGrpSpPr/>
              <p:nvPr/>
            </p:nvGrpSpPr>
            <p:grpSpPr bwMode="auto">
              <a:xfrm>
                <a:off x="1370" y="2304"/>
                <a:ext cx="278" cy="384"/>
                <a:chOff x="1370" y="2304"/>
                <a:chExt cx="278" cy="384"/>
              </a:xfrm>
            </p:grpSpPr>
            <p:sp>
              <p:nvSpPr>
                <p:cNvPr id="58522" name="Rectangle 111"/>
                <p:cNvSpPr>
                  <a:spLocks noChangeArrowheads="1"/>
                </p:cNvSpPr>
                <p:nvPr/>
              </p:nvSpPr>
              <p:spPr bwMode="auto">
                <a:xfrm>
                  <a:off x="1413" y="2304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0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523" name="Rectangle 112"/>
                <p:cNvSpPr>
                  <a:spLocks noChangeArrowheads="1"/>
                </p:cNvSpPr>
                <p:nvPr/>
              </p:nvSpPr>
              <p:spPr bwMode="auto">
                <a:xfrm>
                  <a:off x="1370" y="2304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8485" name="Rectangle 113"/>
            <p:cNvSpPr>
              <a:spLocks noChangeArrowheads="1"/>
            </p:cNvSpPr>
            <p:nvPr/>
          </p:nvSpPr>
          <p:spPr bwMode="auto">
            <a:xfrm>
              <a:off x="-2" y="-2"/>
              <a:ext cx="1652" cy="2692"/>
            </a:xfrm>
            <a:prstGeom prst="rect">
              <a:avLst/>
            </a:prstGeom>
            <a:noFill/>
            <a:ln w="6350">
              <a:solidFill>
                <a:srgbClr val="A0A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</p:grpSp>
      <p:grpSp>
        <p:nvGrpSpPr>
          <p:cNvPr id="58372" name="Group 114"/>
          <p:cNvGrpSpPr/>
          <p:nvPr/>
        </p:nvGrpSpPr>
        <p:grpSpPr bwMode="auto">
          <a:xfrm>
            <a:off x="4735513" y="2668588"/>
            <a:ext cx="3581400" cy="2632075"/>
            <a:chOff x="-2" y="-2"/>
            <a:chExt cx="1672" cy="2308"/>
          </a:xfrm>
        </p:grpSpPr>
        <p:grpSp>
          <p:nvGrpSpPr>
            <p:cNvPr id="58374" name="Group 115"/>
            <p:cNvGrpSpPr/>
            <p:nvPr/>
          </p:nvGrpSpPr>
          <p:grpSpPr bwMode="auto">
            <a:xfrm>
              <a:off x="0" y="0"/>
              <a:ext cx="1668" cy="2304"/>
              <a:chOff x="0" y="0"/>
              <a:chExt cx="1668" cy="2304"/>
            </a:xfrm>
          </p:grpSpPr>
          <p:grpSp>
            <p:nvGrpSpPr>
              <p:cNvPr id="58376" name="Group 116"/>
              <p:cNvGrpSpPr/>
              <p:nvPr/>
            </p:nvGrpSpPr>
            <p:grpSpPr bwMode="auto">
              <a:xfrm>
                <a:off x="0" y="0"/>
                <a:ext cx="278" cy="384"/>
                <a:chOff x="0" y="0"/>
                <a:chExt cx="278" cy="384"/>
              </a:xfrm>
            </p:grpSpPr>
            <p:sp>
              <p:nvSpPr>
                <p:cNvPr id="58482" name="Rectangle 117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83" name="Rectangle 11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77" name="Group 119"/>
              <p:cNvGrpSpPr/>
              <p:nvPr/>
            </p:nvGrpSpPr>
            <p:grpSpPr bwMode="auto">
              <a:xfrm>
                <a:off x="278" y="0"/>
                <a:ext cx="278" cy="384"/>
                <a:chOff x="278" y="0"/>
                <a:chExt cx="278" cy="384"/>
              </a:xfrm>
            </p:grpSpPr>
            <p:sp>
              <p:nvSpPr>
                <p:cNvPr id="58480" name="Rectangle 120"/>
                <p:cNvSpPr>
                  <a:spLocks noChangeArrowheads="1"/>
                </p:cNvSpPr>
                <p:nvPr/>
              </p:nvSpPr>
              <p:spPr bwMode="auto">
                <a:xfrm>
                  <a:off x="321" y="0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0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81" name="Rectangle 121"/>
                <p:cNvSpPr>
                  <a:spLocks noChangeArrowheads="1"/>
                </p:cNvSpPr>
                <p:nvPr/>
              </p:nvSpPr>
              <p:spPr bwMode="auto">
                <a:xfrm>
                  <a:off x="278" y="0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78" name="Group 122"/>
              <p:cNvGrpSpPr/>
              <p:nvPr/>
            </p:nvGrpSpPr>
            <p:grpSpPr bwMode="auto">
              <a:xfrm>
                <a:off x="556" y="0"/>
                <a:ext cx="278" cy="384"/>
                <a:chOff x="556" y="0"/>
                <a:chExt cx="278" cy="384"/>
              </a:xfrm>
            </p:grpSpPr>
            <p:sp>
              <p:nvSpPr>
                <p:cNvPr id="58478" name="Rectangle 123"/>
                <p:cNvSpPr>
                  <a:spLocks noChangeArrowheads="1"/>
                </p:cNvSpPr>
                <p:nvPr/>
              </p:nvSpPr>
              <p:spPr bwMode="auto">
                <a:xfrm>
                  <a:off x="599" y="0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1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79" name="Rectangle 124"/>
                <p:cNvSpPr>
                  <a:spLocks noChangeArrowheads="1"/>
                </p:cNvSpPr>
                <p:nvPr/>
              </p:nvSpPr>
              <p:spPr bwMode="auto">
                <a:xfrm>
                  <a:off x="556" y="0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79" name="Group 125"/>
              <p:cNvGrpSpPr/>
              <p:nvPr/>
            </p:nvGrpSpPr>
            <p:grpSpPr bwMode="auto">
              <a:xfrm>
                <a:off x="834" y="0"/>
                <a:ext cx="278" cy="384"/>
                <a:chOff x="834" y="0"/>
                <a:chExt cx="278" cy="384"/>
              </a:xfrm>
            </p:grpSpPr>
            <p:sp>
              <p:nvSpPr>
                <p:cNvPr id="58476" name="Rectangle 126"/>
                <p:cNvSpPr>
                  <a:spLocks noChangeArrowheads="1"/>
                </p:cNvSpPr>
                <p:nvPr/>
              </p:nvSpPr>
              <p:spPr bwMode="auto">
                <a:xfrm>
                  <a:off x="877" y="0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2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77" name="Rectangle 127"/>
                <p:cNvSpPr>
                  <a:spLocks noChangeArrowheads="1"/>
                </p:cNvSpPr>
                <p:nvPr/>
              </p:nvSpPr>
              <p:spPr bwMode="auto">
                <a:xfrm>
                  <a:off x="834" y="0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80" name="Group 128"/>
              <p:cNvGrpSpPr/>
              <p:nvPr/>
            </p:nvGrpSpPr>
            <p:grpSpPr bwMode="auto">
              <a:xfrm>
                <a:off x="1112" y="0"/>
                <a:ext cx="278" cy="384"/>
                <a:chOff x="1112" y="0"/>
                <a:chExt cx="278" cy="384"/>
              </a:xfrm>
            </p:grpSpPr>
            <p:sp>
              <p:nvSpPr>
                <p:cNvPr id="58474" name="Rectangle 129"/>
                <p:cNvSpPr>
                  <a:spLocks noChangeArrowheads="1"/>
                </p:cNvSpPr>
                <p:nvPr/>
              </p:nvSpPr>
              <p:spPr bwMode="auto">
                <a:xfrm>
                  <a:off x="1155" y="0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3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75" name="Rectangle 130"/>
                <p:cNvSpPr>
                  <a:spLocks noChangeArrowheads="1"/>
                </p:cNvSpPr>
                <p:nvPr/>
              </p:nvSpPr>
              <p:spPr bwMode="auto">
                <a:xfrm>
                  <a:off x="1112" y="0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81" name="Group 131"/>
              <p:cNvGrpSpPr/>
              <p:nvPr/>
            </p:nvGrpSpPr>
            <p:grpSpPr bwMode="auto">
              <a:xfrm>
                <a:off x="1390" y="0"/>
                <a:ext cx="278" cy="384"/>
                <a:chOff x="1390" y="0"/>
                <a:chExt cx="278" cy="384"/>
              </a:xfrm>
            </p:grpSpPr>
            <p:sp>
              <p:nvSpPr>
                <p:cNvPr id="58472" name="Rectangle 132"/>
                <p:cNvSpPr>
                  <a:spLocks noChangeArrowheads="1"/>
                </p:cNvSpPr>
                <p:nvPr/>
              </p:nvSpPr>
              <p:spPr bwMode="auto">
                <a:xfrm>
                  <a:off x="1433" y="0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4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73" name="Rectangle 133"/>
                <p:cNvSpPr>
                  <a:spLocks noChangeArrowheads="1"/>
                </p:cNvSpPr>
                <p:nvPr/>
              </p:nvSpPr>
              <p:spPr bwMode="auto">
                <a:xfrm>
                  <a:off x="1390" y="0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82" name="Group 134"/>
              <p:cNvGrpSpPr/>
              <p:nvPr/>
            </p:nvGrpSpPr>
            <p:grpSpPr bwMode="auto">
              <a:xfrm>
                <a:off x="0" y="384"/>
                <a:ext cx="278" cy="384"/>
                <a:chOff x="0" y="384"/>
                <a:chExt cx="278" cy="384"/>
              </a:xfrm>
            </p:grpSpPr>
            <p:sp>
              <p:nvSpPr>
                <p:cNvPr id="58470" name="Rectangle 135"/>
                <p:cNvSpPr>
                  <a:spLocks noChangeArrowheads="1"/>
                </p:cNvSpPr>
                <p:nvPr/>
              </p:nvSpPr>
              <p:spPr bwMode="auto">
                <a:xfrm>
                  <a:off x="43" y="384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1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71" name="Rectangle 136"/>
                <p:cNvSpPr>
                  <a:spLocks noChangeArrowheads="1"/>
                </p:cNvSpPr>
                <p:nvPr/>
              </p:nvSpPr>
              <p:spPr bwMode="auto">
                <a:xfrm>
                  <a:off x="0" y="384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83" name="Group 137"/>
              <p:cNvGrpSpPr/>
              <p:nvPr/>
            </p:nvGrpSpPr>
            <p:grpSpPr bwMode="auto">
              <a:xfrm>
                <a:off x="278" y="384"/>
                <a:ext cx="278" cy="384"/>
                <a:chOff x="278" y="384"/>
                <a:chExt cx="278" cy="384"/>
              </a:xfrm>
            </p:grpSpPr>
            <p:sp>
              <p:nvSpPr>
                <p:cNvPr id="58468" name="Rectangle 138"/>
                <p:cNvSpPr>
                  <a:spLocks noChangeArrowheads="1"/>
                </p:cNvSpPr>
                <p:nvPr/>
              </p:nvSpPr>
              <p:spPr bwMode="auto">
                <a:xfrm>
                  <a:off x="321" y="384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69" name="Rectangle 139"/>
                <p:cNvSpPr>
                  <a:spLocks noChangeArrowheads="1"/>
                </p:cNvSpPr>
                <p:nvPr/>
              </p:nvSpPr>
              <p:spPr bwMode="auto">
                <a:xfrm>
                  <a:off x="278" y="384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84" name="Group 140"/>
              <p:cNvGrpSpPr/>
              <p:nvPr/>
            </p:nvGrpSpPr>
            <p:grpSpPr bwMode="auto">
              <a:xfrm>
                <a:off x="556" y="384"/>
                <a:ext cx="278" cy="384"/>
                <a:chOff x="556" y="384"/>
                <a:chExt cx="278" cy="384"/>
              </a:xfrm>
            </p:grpSpPr>
            <p:sp>
              <p:nvSpPr>
                <p:cNvPr id="58466" name="Rectangle 141"/>
                <p:cNvSpPr>
                  <a:spLocks noChangeArrowheads="1"/>
                </p:cNvSpPr>
                <p:nvPr/>
              </p:nvSpPr>
              <p:spPr bwMode="auto">
                <a:xfrm>
                  <a:off x="599" y="384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1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67" name="Rectangle 142"/>
                <p:cNvSpPr>
                  <a:spLocks noChangeArrowheads="1"/>
                </p:cNvSpPr>
                <p:nvPr/>
              </p:nvSpPr>
              <p:spPr bwMode="auto">
                <a:xfrm>
                  <a:off x="556" y="384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85" name="Group 143"/>
              <p:cNvGrpSpPr/>
              <p:nvPr/>
            </p:nvGrpSpPr>
            <p:grpSpPr bwMode="auto">
              <a:xfrm>
                <a:off x="834" y="384"/>
                <a:ext cx="278" cy="384"/>
                <a:chOff x="834" y="384"/>
                <a:chExt cx="278" cy="384"/>
              </a:xfrm>
            </p:grpSpPr>
            <p:sp>
              <p:nvSpPr>
                <p:cNvPr id="58464" name="Rectangle 144"/>
                <p:cNvSpPr>
                  <a:spLocks noChangeArrowheads="1"/>
                </p:cNvSpPr>
                <p:nvPr/>
              </p:nvSpPr>
              <p:spPr bwMode="auto">
                <a:xfrm>
                  <a:off x="877" y="384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65" name="Rectangle 145"/>
                <p:cNvSpPr>
                  <a:spLocks noChangeArrowheads="1"/>
                </p:cNvSpPr>
                <p:nvPr/>
              </p:nvSpPr>
              <p:spPr bwMode="auto">
                <a:xfrm>
                  <a:off x="834" y="384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86" name="Group 146"/>
              <p:cNvGrpSpPr/>
              <p:nvPr/>
            </p:nvGrpSpPr>
            <p:grpSpPr bwMode="auto">
              <a:xfrm>
                <a:off x="1112" y="384"/>
                <a:ext cx="278" cy="384"/>
                <a:chOff x="1112" y="384"/>
                <a:chExt cx="278" cy="384"/>
              </a:xfrm>
            </p:grpSpPr>
            <p:sp>
              <p:nvSpPr>
                <p:cNvPr id="58462" name="Rectangle 147"/>
                <p:cNvSpPr>
                  <a:spLocks noChangeArrowheads="1"/>
                </p:cNvSpPr>
                <p:nvPr/>
              </p:nvSpPr>
              <p:spPr bwMode="auto">
                <a:xfrm>
                  <a:off x="1155" y="384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63" name="Rectangle 148"/>
                <p:cNvSpPr>
                  <a:spLocks noChangeArrowheads="1"/>
                </p:cNvSpPr>
                <p:nvPr/>
              </p:nvSpPr>
              <p:spPr bwMode="auto">
                <a:xfrm>
                  <a:off x="1112" y="384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87" name="Group 149"/>
              <p:cNvGrpSpPr/>
              <p:nvPr/>
            </p:nvGrpSpPr>
            <p:grpSpPr bwMode="auto">
              <a:xfrm>
                <a:off x="1390" y="384"/>
                <a:ext cx="278" cy="384"/>
                <a:chOff x="1390" y="384"/>
                <a:chExt cx="278" cy="384"/>
              </a:xfrm>
            </p:grpSpPr>
            <p:sp>
              <p:nvSpPr>
                <p:cNvPr id="58460" name="Rectangle 150"/>
                <p:cNvSpPr>
                  <a:spLocks noChangeArrowheads="1"/>
                </p:cNvSpPr>
                <p:nvPr/>
              </p:nvSpPr>
              <p:spPr bwMode="auto">
                <a:xfrm>
                  <a:off x="1433" y="384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61" name="Rectangle 151"/>
                <p:cNvSpPr>
                  <a:spLocks noChangeArrowheads="1"/>
                </p:cNvSpPr>
                <p:nvPr/>
              </p:nvSpPr>
              <p:spPr bwMode="auto">
                <a:xfrm>
                  <a:off x="1390" y="384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88" name="Group 152"/>
              <p:cNvGrpSpPr/>
              <p:nvPr/>
            </p:nvGrpSpPr>
            <p:grpSpPr bwMode="auto">
              <a:xfrm>
                <a:off x="0" y="768"/>
                <a:ext cx="278" cy="384"/>
                <a:chOff x="0" y="768"/>
                <a:chExt cx="278" cy="384"/>
              </a:xfrm>
            </p:grpSpPr>
            <p:sp>
              <p:nvSpPr>
                <p:cNvPr id="58458" name="Rectangle 153"/>
                <p:cNvSpPr>
                  <a:spLocks noChangeArrowheads="1"/>
                </p:cNvSpPr>
                <p:nvPr/>
              </p:nvSpPr>
              <p:spPr bwMode="auto">
                <a:xfrm>
                  <a:off x="43" y="768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2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59" name="Rectangle 154"/>
                <p:cNvSpPr>
                  <a:spLocks noChangeArrowheads="1"/>
                </p:cNvSpPr>
                <p:nvPr/>
              </p:nvSpPr>
              <p:spPr bwMode="auto">
                <a:xfrm>
                  <a:off x="0" y="768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89" name="Group 155"/>
              <p:cNvGrpSpPr/>
              <p:nvPr/>
            </p:nvGrpSpPr>
            <p:grpSpPr bwMode="auto">
              <a:xfrm>
                <a:off x="278" y="768"/>
                <a:ext cx="278" cy="384"/>
                <a:chOff x="278" y="768"/>
                <a:chExt cx="278" cy="384"/>
              </a:xfrm>
            </p:grpSpPr>
            <p:sp>
              <p:nvSpPr>
                <p:cNvPr id="58456" name="Rectangle 156"/>
                <p:cNvSpPr>
                  <a:spLocks noChangeArrowheads="1"/>
                </p:cNvSpPr>
                <p:nvPr/>
              </p:nvSpPr>
              <p:spPr bwMode="auto">
                <a:xfrm>
                  <a:off x="321" y="768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57" name="Rectangle 157"/>
                <p:cNvSpPr>
                  <a:spLocks noChangeArrowheads="1"/>
                </p:cNvSpPr>
                <p:nvPr/>
              </p:nvSpPr>
              <p:spPr bwMode="auto">
                <a:xfrm>
                  <a:off x="278" y="768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90" name="Group 158"/>
              <p:cNvGrpSpPr/>
              <p:nvPr/>
            </p:nvGrpSpPr>
            <p:grpSpPr bwMode="auto">
              <a:xfrm>
                <a:off x="556" y="768"/>
                <a:ext cx="278" cy="384"/>
                <a:chOff x="556" y="768"/>
                <a:chExt cx="278" cy="384"/>
              </a:xfrm>
            </p:grpSpPr>
            <p:sp>
              <p:nvSpPr>
                <p:cNvPr id="58454" name="Rectangle 159"/>
                <p:cNvSpPr>
                  <a:spLocks noChangeArrowheads="1"/>
                </p:cNvSpPr>
                <p:nvPr/>
              </p:nvSpPr>
              <p:spPr bwMode="auto">
                <a:xfrm>
                  <a:off x="599" y="768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55" name="Rectangle 160"/>
                <p:cNvSpPr>
                  <a:spLocks noChangeArrowheads="1"/>
                </p:cNvSpPr>
                <p:nvPr/>
              </p:nvSpPr>
              <p:spPr bwMode="auto">
                <a:xfrm>
                  <a:off x="556" y="768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91" name="Group 161"/>
              <p:cNvGrpSpPr/>
              <p:nvPr/>
            </p:nvGrpSpPr>
            <p:grpSpPr bwMode="auto">
              <a:xfrm>
                <a:off x="834" y="768"/>
                <a:ext cx="278" cy="384"/>
                <a:chOff x="834" y="768"/>
                <a:chExt cx="278" cy="384"/>
              </a:xfrm>
            </p:grpSpPr>
            <p:sp>
              <p:nvSpPr>
                <p:cNvPr id="58452" name="Rectangle 162"/>
                <p:cNvSpPr>
                  <a:spLocks noChangeArrowheads="1"/>
                </p:cNvSpPr>
                <p:nvPr/>
              </p:nvSpPr>
              <p:spPr bwMode="auto">
                <a:xfrm>
                  <a:off x="877" y="768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2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53" name="Rectangle 163"/>
                <p:cNvSpPr>
                  <a:spLocks noChangeArrowheads="1"/>
                </p:cNvSpPr>
                <p:nvPr/>
              </p:nvSpPr>
              <p:spPr bwMode="auto">
                <a:xfrm>
                  <a:off x="834" y="768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92" name="Group 164"/>
              <p:cNvGrpSpPr/>
              <p:nvPr/>
            </p:nvGrpSpPr>
            <p:grpSpPr bwMode="auto">
              <a:xfrm>
                <a:off x="1112" y="768"/>
                <a:ext cx="278" cy="384"/>
                <a:chOff x="1112" y="768"/>
                <a:chExt cx="278" cy="384"/>
              </a:xfrm>
            </p:grpSpPr>
            <p:sp>
              <p:nvSpPr>
                <p:cNvPr id="58450" name="Rectangle 165"/>
                <p:cNvSpPr>
                  <a:spLocks noChangeArrowheads="1"/>
                </p:cNvSpPr>
                <p:nvPr/>
              </p:nvSpPr>
              <p:spPr bwMode="auto">
                <a:xfrm>
                  <a:off x="1155" y="768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51" name="Rectangle 166"/>
                <p:cNvSpPr>
                  <a:spLocks noChangeArrowheads="1"/>
                </p:cNvSpPr>
                <p:nvPr/>
              </p:nvSpPr>
              <p:spPr bwMode="auto">
                <a:xfrm>
                  <a:off x="1112" y="768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93" name="Group 167"/>
              <p:cNvGrpSpPr/>
              <p:nvPr/>
            </p:nvGrpSpPr>
            <p:grpSpPr bwMode="auto">
              <a:xfrm>
                <a:off x="1390" y="768"/>
                <a:ext cx="278" cy="384"/>
                <a:chOff x="1390" y="768"/>
                <a:chExt cx="278" cy="384"/>
              </a:xfrm>
            </p:grpSpPr>
            <p:sp>
              <p:nvSpPr>
                <p:cNvPr id="58448" name="Rectangle 168"/>
                <p:cNvSpPr>
                  <a:spLocks noChangeArrowheads="1"/>
                </p:cNvSpPr>
                <p:nvPr/>
              </p:nvSpPr>
              <p:spPr bwMode="auto">
                <a:xfrm>
                  <a:off x="1433" y="768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49" name="Rectangle 169"/>
                <p:cNvSpPr>
                  <a:spLocks noChangeArrowheads="1"/>
                </p:cNvSpPr>
                <p:nvPr/>
              </p:nvSpPr>
              <p:spPr bwMode="auto">
                <a:xfrm>
                  <a:off x="1390" y="768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94" name="Group 170"/>
              <p:cNvGrpSpPr/>
              <p:nvPr/>
            </p:nvGrpSpPr>
            <p:grpSpPr bwMode="auto">
              <a:xfrm>
                <a:off x="0" y="1152"/>
                <a:ext cx="278" cy="384"/>
                <a:chOff x="0" y="1152"/>
                <a:chExt cx="278" cy="384"/>
              </a:xfrm>
            </p:grpSpPr>
            <p:sp>
              <p:nvSpPr>
                <p:cNvPr id="58446" name="Rectangle 171"/>
                <p:cNvSpPr>
                  <a:spLocks noChangeArrowheads="1"/>
                </p:cNvSpPr>
                <p:nvPr/>
              </p:nvSpPr>
              <p:spPr bwMode="auto">
                <a:xfrm>
                  <a:off x="43" y="1152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3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47" name="Rectangle 172"/>
                <p:cNvSpPr>
                  <a:spLocks noChangeArrowheads="1"/>
                </p:cNvSpPr>
                <p:nvPr/>
              </p:nvSpPr>
              <p:spPr bwMode="auto">
                <a:xfrm>
                  <a:off x="0" y="1152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95" name="Group 173"/>
              <p:cNvGrpSpPr/>
              <p:nvPr/>
            </p:nvGrpSpPr>
            <p:grpSpPr bwMode="auto">
              <a:xfrm>
                <a:off x="278" y="1152"/>
                <a:ext cx="278" cy="384"/>
                <a:chOff x="278" y="1152"/>
                <a:chExt cx="278" cy="384"/>
              </a:xfrm>
            </p:grpSpPr>
            <p:sp>
              <p:nvSpPr>
                <p:cNvPr id="58444" name="Rectangle 174"/>
                <p:cNvSpPr>
                  <a:spLocks noChangeArrowheads="1"/>
                </p:cNvSpPr>
                <p:nvPr/>
              </p:nvSpPr>
              <p:spPr bwMode="auto">
                <a:xfrm>
                  <a:off x="321" y="1152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45" name="Rectangle 175"/>
                <p:cNvSpPr>
                  <a:spLocks noChangeArrowheads="1"/>
                </p:cNvSpPr>
                <p:nvPr/>
              </p:nvSpPr>
              <p:spPr bwMode="auto">
                <a:xfrm>
                  <a:off x="278" y="1152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96" name="Group 176"/>
              <p:cNvGrpSpPr/>
              <p:nvPr/>
            </p:nvGrpSpPr>
            <p:grpSpPr bwMode="auto">
              <a:xfrm>
                <a:off x="556" y="1152"/>
                <a:ext cx="278" cy="384"/>
                <a:chOff x="556" y="1152"/>
                <a:chExt cx="278" cy="384"/>
              </a:xfrm>
            </p:grpSpPr>
            <p:sp>
              <p:nvSpPr>
                <p:cNvPr id="58442" name="Rectangle 177"/>
                <p:cNvSpPr>
                  <a:spLocks noChangeArrowheads="1"/>
                </p:cNvSpPr>
                <p:nvPr/>
              </p:nvSpPr>
              <p:spPr bwMode="auto">
                <a:xfrm>
                  <a:off x="599" y="1152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43" name="Rectangle 178"/>
                <p:cNvSpPr>
                  <a:spLocks noChangeArrowheads="1"/>
                </p:cNvSpPr>
                <p:nvPr/>
              </p:nvSpPr>
              <p:spPr bwMode="auto">
                <a:xfrm>
                  <a:off x="556" y="1152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97" name="Group 179"/>
              <p:cNvGrpSpPr/>
              <p:nvPr/>
            </p:nvGrpSpPr>
            <p:grpSpPr bwMode="auto">
              <a:xfrm>
                <a:off x="834" y="1152"/>
                <a:ext cx="278" cy="384"/>
                <a:chOff x="834" y="1152"/>
                <a:chExt cx="278" cy="384"/>
              </a:xfrm>
            </p:grpSpPr>
            <p:sp>
              <p:nvSpPr>
                <p:cNvPr id="58440" name="Rectangle 180"/>
                <p:cNvSpPr>
                  <a:spLocks noChangeArrowheads="1"/>
                </p:cNvSpPr>
                <p:nvPr/>
              </p:nvSpPr>
              <p:spPr bwMode="auto">
                <a:xfrm>
                  <a:off x="877" y="1152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41" name="Rectangle 181"/>
                <p:cNvSpPr>
                  <a:spLocks noChangeArrowheads="1"/>
                </p:cNvSpPr>
                <p:nvPr/>
              </p:nvSpPr>
              <p:spPr bwMode="auto">
                <a:xfrm>
                  <a:off x="834" y="1152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98" name="Group 182"/>
              <p:cNvGrpSpPr/>
              <p:nvPr/>
            </p:nvGrpSpPr>
            <p:grpSpPr bwMode="auto">
              <a:xfrm>
                <a:off x="1112" y="1152"/>
                <a:ext cx="278" cy="384"/>
                <a:chOff x="1112" y="1152"/>
                <a:chExt cx="278" cy="384"/>
              </a:xfrm>
            </p:grpSpPr>
            <p:sp>
              <p:nvSpPr>
                <p:cNvPr id="58438" name="Rectangle 183"/>
                <p:cNvSpPr>
                  <a:spLocks noChangeArrowheads="1"/>
                </p:cNvSpPr>
                <p:nvPr/>
              </p:nvSpPr>
              <p:spPr bwMode="auto">
                <a:xfrm>
                  <a:off x="1155" y="1152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3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39" name="Rectangle 184"/>
                <p:cNvSpPr>
                  <a:spLocks noChangeArrowheads="1"/>
                </p:cNvSpPr>
                <p:nvPr/>
              </p:nvSpPr>
              <p:spPr bwMode="auto">
                <a:xfrm>
                  <a:off x="1112" y="1152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399" name="Group 185"/>
              <p:cNvGrpSpPr/>
              <p:nvPr/>
            </p:nvGrpSpPr>
            <p:grpSpPr bwMode="auto">
              <a:xfrm>
                <a:off x="1390" y="1152"/>
                <a:ext cx="278" cy="384"/>
                <a:chOff x="1390" y="1152"/>
                <a:chExt cx="278" cy="384"/>
              </a:xfrm>
            </p:grpSpPr>
            <p:sp>
              <p:nvSpPr>
                <p:cNvPr id="58436" name="Rectangle 186"/>
                <p:cNvSpPr>
                  <a:spLocks noChangeArrowheads="1"/>
                </p:cNvSpPr>
                <p:nvPr/>
              </p:nvSpPr>
              <p:spPr bwMode="auto">
                <a:xfrm>
                  <a:off x="1433" y="1152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37" name="Rectangle 187"/>
                <p:cNvSpPr>
                  <a:spLocks noChangeArrowheads="1"/>
                </p:cNvSpPr>
                <p:nvPr/>
              </p:nvSpPr>
              <p:spPr bwMode="auto">
                <a:xfrm>
                  <a:off x="1390" y="1152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00" name="Group 188"/>
              <p:cNvGrpSpPr/>
              <p:nvPr/>
            </p:nvGrpSpPr>
            <p:grpSpPr bwMode="auto">
              <a:xfrm>
                <a:off x="0" y="1536"/>
                <a:ext cx="278" cy="384"/>
                <a:chOff x="0" y="1536"/>
                <a:chExt cx="278" cy="384"/>
              </a:xfrm>
            </p:grpSpPr>
            <p:sp>
              <p:nvSpPr>
                <p:cNvPr id="58434" name="Rectangle 189"/>
                <p:cNvSpPr>
                  <a:spLocks noChangeArrowheads="1"/>
                </p:cNvSpPr>
                <p:nvPr/>
              </p:nvSpPr>
              <p:spPr bwMode="auto">
                <a:xfrm>
                  <a:off x="43" y="1536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4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35" name="Rectangle 190"/>
                <p:cNvSpPr>
                  <a:spLocks noChangeArrowheads="1"/>
                </p:cNvSpPr>
                <p:nvPr/>
              </p:nvSpPr>
              <p:spPr bwMode="auto">
                <a:xfrm>
                  <a:off x="0" y="1536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01" name="Group 191"/>
              <p:cNvGrpSpPr/>
              <p:nvPr/>
            </p:nvGrpSpPr>
            <p:grpSpPr bwMode="auto">
              <a:xfrm>
                <a:off x="278" y="1536"/>
                <a:ext cx="278" cy="384"/>
                <a:chOff x="278" y="1536"/>
                <a:chExt cx="278" cy="384"/>
              </a:xfrm>
            </p:grpSpPr>
            <p:sp>
              <p:nvSpPr>
                <p:cNvPr id="58432" name="Rectangle 192"/>
                <p:cNvSpPr>
                  <a:spLocks noChangeArrowheads="1"/>
                </p:cNvSpPr>
                <p:nvPr/>
              </p:nvSpPr>
              <p:spPr bwMode="auto">
                <a:xfrm>
                  <a:off x="321" y="1536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33" name="Rectangle 193"/>
                <p:cNvSpPr>
                  <a:spLocks noChangeArrowheads="1"/>
                </p:cNvSpPr>
                <p:nvPr/>
              </p:nvSpPr>
              <p:spPr bwMode="auto">
                <a:xfrm>
                  <a:off x="278" y="1536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02" name="Group 194"/>
              <p:cNvGrpSpPr/>
              <p:nvPr/>
            </p:nvGrpSpPr>
            <p:grpSpPr bwMode="auto">
              <a:xfrm>
                <a:off x="556" y="1536"/>
                <a:ext cx="278" cy="384"/>
                <a:chOff x="556" y="1536"/>
                <a:chExt cx="278" cy="384"/>
              </a:xfrm>
            </p:grpSpPr>
            <p:sp>
              <p:nvSpPr>
                <p:cNvPr id="58430" name="Rectangle 195"/>
                <p:cNvSpPr>
                  <a:spLocks noChangeArrowheads="1"/>
                </p:cNvSpPr>
                <p:nvPr/>
              </p:nvSpPr>
              <p:spPr bwMode="auto">
                <a:xfrm>
                  <a:off x="599" y="1536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31" name="Rectangle 196"/>
                <p:cNvSpPr>
                  <a:spLocks noChangeArrowheads="1"/>
                </p:cNvSpPr>
                <p:nvPr/>
              </p:nvSpPr>
              <p:spPr bwMode="auto">
                <a:xfrm>
                  <a:off x="556" y="1536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03" name="Group 197"/>
              <p:cNvGrpSpPr/>
              <p:nvPr/>
            </p:nvGrpSpPr>
            <p:grpSpPr bwMode="auto">
              <a:xfrm>
                <a:off x="834" y="1536"/>
                <a:ext cx="278" cy="384"/>
                <a:chOff x="834" y="1536"/>
                <a:chExt cx="278" cy="384"/>
              </a:xfrm>
            </p:grpSpPr>
            <p:sp>
              <p:nvSpPr>
                <p:cNvPr id="58428" name="Rectangle 198"/>
                <p:cNvSpPr>
                  <a:spLocks noChangeArrowheads="1"/>
                </p:cNvSpPr>
                <p:nvPr/>
              </p:nvSpPr>
              <p:spPr bwMode="auto">
                <a:xfrm>
                  <a:off x="877" y="1536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29" name="Rectangle 199"/>
                <p:cNvSpPr>
                  <a:spLocks noChangeArrowheads="1"/>
                </p:cNvSpPr>
                <p:nvPr/>
              </p:nvSpPr>
              <p:spPr bwMode="auto">
                <a:xfrm>
                  <a:off x="834" y="1536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04" name="Group 200"/>
              <p:cNvGrpSpPr/>
              <p:nvPr/>
            </p:nvGrpSpPr>
            <p:grpSpPr bwMode="auto">
              <a:xfrm>
                <a:off x="1112" y="1536"/>
                <a:ext cx="278" cy="384"/>
                <a:chOff x="1112" y="1536"/>
                <a:chExt cx="278" cy="384"/>
              </a:xfrm>
            </p:grpSpPr>
            <p:sp>
              <p:nvSpPr>
                <p:cNvPr id="58426" name="Rectangle 201"/>
                <p:cNvSpPr>
                  <a:spLocks noChangeArrowheads="1"/>
                </p:cNvSpPr>
                <p:nvPr/>
              </p:nvSpPr>
              <p:spPr bwMode="auto">
                <a:xfrm>
                  <a:off x="1155" y="1536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27" name="Rectangle 202"/>
                <p:cNvSpPr>
                  <a:spLocks noChangeArrowheads="1"/>
                </p:cNvSpPr>
                <p:nvPr/>
              </p:nvSpPr>
              <p:spPr bwMode="auto">
                <a:xfrm>
                  <a:off x="1112" y="1536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05" name="Group 203"/>
              <p:cNvGrpSpPr/>
              <p:nvPr/>
            </p:nvGrpSpPr>
            <p:grpSpPr bwMode="auto">
              <a:xfrm>
                <a:off x="1390" y="1536"/>
                <a:ext cx="278" cy="384"/>
                <a:chOff x="1390" y="1536"/>
                <a:chExt cx="278" cy="384"/>
              </a:xfrm>
            </p:grpSpPr>
            <p:sp>
              <p:nvSpPr>
                <p:cNvPr id="58424" name="Rectangle 204"/>
                <p:cNvSpPr>
                  <a:spLocks noChangeArrowheads="1"/>
                </p:cNvSpPr>
                <p:nvPr/>
              </p:nvSpPr>
              <p:spPr bwMode="auto">
                <a:xfrm>
                  <a:off x="1433" y="1536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4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25" name="Rectangle 205"/>
                <p:cNvSpPr>
                  <a:spLocks noChangeArrowheads="1"/>
                </p:cNvSpPr>
                <p:nvPr/>
              </p:nvSpPr>
              <p:spPr bwMode="auto">
                <a:xfrm>
                  <a:off x="1390" y="1536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06" name="Group 206"/>
              <p:cNvGrpSpPr/>
              <p:nvPr/>
            </p:nvGrpSpPr>
            <p:grpSpPr bwMode="auto">
              <a:xfrm>
                <a:off x="0" y="1920"/>
                <a:ext cx="278" cy="384"/>
                <a:chOff x="0" y="1920"/>
                <a:chExt cx="278" cy="384"/>
              </a:xfrm>
            </p:grpSpPr>
            <p:sp>
              <p:nvSpPr>
                <p:cNvPr id="58422" name="Rectangle 207"/>
                <p:cNvSpPr>
                  <a:spLocks noChangeArrowheads="1"/>
                </p:cNvSpPr>
                <p:nvPr/>
              </p:nvSpPr>
              <p:spPr bwMode="auto">
                <a:xfrm>
                  <a:off x="43" y="1920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5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23" name="Rectangle 208"/>
                <p:cNvSpPr>
                  <a:spLocks noChangeArrowheads="1"/>
                </p:cNvSpPr>
                <p:nvPr/>
              </p:nvSpPr>
              <p:spPr bwMode="auto">
                <a:xfrm>
                  <a:off x="0" y="1920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07" name="Group 209"/>
              <p:cNvGrpSpPr/>
              <p:nvPr/>
            </p:nvGrpSpPr>
            <p:grpSpPr bwMode="auto">
              <a:xfrm>
                <a:off x="278" y="1920"/>
                <a:ext cx="278" cy="384"/>
                <a:chOff x="278" y="1920"/>
                <a:chExt cx="278" cy="384"/>
              </a:xfrm>
            </p:grpSpPr>
            <p:sp>
              <p:nvSpPr>
                <p:cNvPr id="58420" name="Rectangle 210"/>
                <p:cNvSpPr>
                  <a:spLocks noChangeArrowheads="1"/>
                </p:cNvSpPr>
                <p:nvPr/>
              </p:nvSpPr>
              <p:spPr bwMode="auto">
                <a:xfrm>
                  <a:off x="321" y="1920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21" name="Rectangle 211"/>
                <p:cNvSpPr>
                  <a:spLocks noChangeArrowheads="1"/>
                </p:cNvSpPr>
                <p:nvPr/>
              </p:nvSpPr>
              <p:spPr bwMode="auto">
                <a:xfrm>
                  <a:off x="278" y="1920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08" name="Group 212"/>
              <p:cNvGrpSpPr/>
              <p:nvPr/>
            </p:nvGrpSpPr>
            <p:grpSpPr bwMode="auto">
              <a:xfrm>
                <a:off x="556" y="1920"/>
                <a:ext cx="278" cy="384"/>
                <a:chOff x="556" y="1920"/>
                <a:chExt cx="278" cy="384"/>
              </a:xfrm>
            </p:grpSpPr>
            <p:sp>
              <p:nvSpPr>
                <p:cNvPr id="58418" name="Rectangle 213"/>
                <p:cNvSpPr>
                  <a:spLocks noChangeArrowheads="1"/>
                </p:cNvSpPr>
                <p:nvPr/>
              </p:nvSpPr>
              <p:spPr bwMode="auto">
                <a:xfrm>
                  <a:off x="599" y="1920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19" name="Rectangle 214"/>
                <p:cNvSpPr>
                  <a:spLocks noChangeArrowheads="1"/>
                </p:cNvSpPr>
                <p:nvPr/>
              </p:nvSpPr>
              <p:spPr bwMode="auto">
                <a:xfrm>
                  <a:off x="556" y="1920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09" name="Group 215"/>
              <p:cNvGrpSpPr/>
              <p:nvPr/>
            </p:nvGrpSpPr>
            <p:grpSpPr bwMode="auto">
              <a:xfrm>
                <a:off x="834" y="1920"/>
                <a:ext cx="278" cy="384"/>
                <a:chOff x="834" y="1920"/>
                <a:chExt cx="278" cy="384"/>
              </a:xfrm>
            </p:grpSpPr>
            <p:sp>
              <p:nvSpPr>
                <p:cNvPr id="58416" name="Rectangle 216"/>
                <p:cNvSpPr>
                  <a:spLocks noChangeArrowheads="1"/>
                </p:cNvSpPr>
                <p:nvPr/>
              </p:nvSpPr>
              <p:spPr bwMode="auto">
                <a:xfrm>
                  <a:off x="877" y="1920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17" name="Rectangle 217"/>
                <p:cNvSpPr>
                  <a:spLocks noChangeArrowheads="1"/>
                </p:cNvSpPr>
                <p:nvPr/>
              </p:nvSpPr>
              <p:spPr bwMode="auto">
                <a:xfrm>
                  <a:off x="834" y="1920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10" name="Group 218"/>
              <p:cNvGrpSpPr/>
              <p:nvPr/>
            </p:nvGrpSpPr>
            <p:grpSpPr bwMode="auto">
              <a:xfrm>
                <a:off x="1112" y="1920"/>
                <a:ext cx="278" cy="384"/>
                <a:chOff x="1112" y="1920"/>
                <a:chExt cx="278" cy="384"/>
              </a:xfrm>
            </p:grpSpPr>
            <p:sp>
              <p:nvSpPr>
                <p:cNvPr id="58414" name="Rectangle 219"/>
                <p:cNvSpPr>
                  <a:spLocks noChangeArrowheads="1"/>
                </p:cNvSpPr>
                <p:nvPr/>
              </p:nvSpPr>
              <p:spPr bwMode="auto">
                <a:xfrm>
                  <a:off x="1155" y="1920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15" name="Rectangle 220"/>
                <p:cNvSpPr>
                  <a:spLocks noChangeArrowheads="1"/>
                </p:cNvSpPr>
                <p:nvPr/>
              </p:nvSpPr>
              <p:spPr bwMode="auto">
                <a:xfrm>
                  <a:off x="1112" y="1920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411" name="Group 221"/>
              <p:cNvGrpSpPr/>
              <p:nvPr/>
            </p:nvGrpSpPr>
            <p:grpSpPr bwMode="auto">
              <a:xfrm>
                <a:off x="1390" y="1920"/>
                <a:ext cx="278" cy="384"/>
                <a:chOff x="1390" y="1920"/>
                <a:chExt cx="278" cy="384"/>
              </a:xfrm>
            </p:grpSpPr>
            <p:sp>
              <p:nvSpPr>
                <p:cNvPr id="58412" name="Rectangle 222"/>
                <p:cNvSpPr>
                  <a:spLocks noChangeArrowheads="1"/>
                </p:cNvSpPr>
                <p:nvPr/>
              </p:nvSpPr>
              <p:spPr bwMode="auto">
                <a:xfrm>
                  <a:off x="1433" y="1920"/>
                  <a:ext cx="19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/>
                <a:p>
                  <a:pPr algn="just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  <a:p>
                  <a:pPr algn="just" eaLnBrk="0" hangingPunct="0"/>
                  <a:endParaRPr kumimoji="1"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13" name="Rectangle 223"/>
                <p:cNvSpPr>
                  <a:spLocks noChangeArrowheads="1"/>
                </p:cNvSpPr>
                <p:nvPr/>
              </p:nvSpPr>
              <p:spPr bwMode="auto">
                <a:xfrm>
                  <a:off x="1390" y="1920"/>
                  <a:ext cx="2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8375" name="Rectangle 224"/>
            <p:cNvSpPr>
              <a:spLocks noChangeArrowheads="1"/>
            </p:cNvSpPr>
            <p:nvPr/>
          </p:nvSpPr>
          <p:spPr bwMode="auto">
            <a:xfrm>
              <a:off x="-2" y="-2"/>
              <a:ext cx="1672" cy="2308"/>
            </a:xfrm>
            <a:prstGeom prst="rect">
              <a:avLst/>
            </a:prstGeom>
            <a:noFill/>
            <a:ln w="6350">
              <a:solidFill>
                <a:srgbClr val="A0A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</p:grpSp>
      <p:sp>
        <p:nvSpPr>
          <p:cNvPr id="159969" name="Rectangle 225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最优二叉查找树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最优二叉查找树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pic>
        <p:nvPicPr>
          <p:cNvPr id="5939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9" t="18701" r="16240" b="18701"/>
          <a:stretch>
            <a:fillRect/>
          </a:stretch>
        </p:blipFill>
        <p:spPr bwMode="auto">
          <a:xfrm>
            <a:off x="684213" y="1268413"/>
            <a:ext cx="7920037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593725" y="1243013"/>
            <a:ext cx="7866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latin typeface="宋体" panose="02010600030101010101" pitchFamily="2" charset="-122"/>
              </a:rPr>
              <a:t>按对角线逐条计算每一个</a:t>
            </a:r>
            <a:r>
              <a:rPr kumimoji="1" lang="en-US" altLang="zh-CN" sz="2400" b="1">
                <a:latin typeface="Times New Roman" panose="02020603050405020304" pitchFamily="18" charset="0"/>
              </a:rPr>
              <a:t>C(i, j)</a:t>
            </a:r>
            <a:r>
              <a:rPr kumimoji="1" lang="zh-CN" altLang="en-US" sz="2400" b="1">
                <a:latin typeface="宋体" panose="02010600030101010101" pitchFamily="2" charset="-122"/>
              </a:rPr>
              <a:t>和</a:t>
            </a:r>
            <a:r>
              <a:rPr kumimoji="1" lang="en-US" altLang="zh-CN" sz="2400" b="1">
                <a:latin typeface="Times New Roman" panose="02020603050405020304" pitchFamily="18" charset="0"/>
              </a:rPr>
              <a:t>R(i, j)</a:t>
            </a:r>
            <a:r>
              <a:rPr kumimoji="1" lang="zh-CN" altLang="en-US" sz="2400" b="1">
                <a:latin typeface="宋体" panose="02010600030101010101" pitchFamily="2" charset="-122"/>
              </a:rPr>
              <a:t>，得到最终表。</a:t>
            </a:r>
            <a:r>
              <a:rPr kumimoji="1" lang="zh-CN" altLang="en-US" sz="2400" b="1">
                <a:latin typeface="Times New Roman" panose="02020603050405020304" pitchFamily="18" charset="0"/>
              </a:rPr>
              <a:t> 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grpSp>
        <p:nvGrpSpPr>
          <p:cNvPr id="60419" name="Group 3"/>
          <p:cNvGrpSpPr/>
          <p:nvPr/>
        </p:nvGrpSpPr>
        <p:grpSpPr bwMode="auto">
          <a:xfrm>
            <a:off x="627063" y="2097088"/>
            <a:ext cx="8048625" cy="3636962"/>
            <a:chOff x="204" y="890"/>
            <a:chExt cx="5070" cy="2291"/>
          </a:xfrm>
        </p:grpSpPr>
        <p:grpSp>
          <p:nvGrpSpPr>
            <p:cNvPr id="60421" name="Group 4"/>
            <p:cNvGrpSpPr/>
            <p:nvPr/>
          </p:nvGrpSpPr>
          <p:grpSpPr bwMode="auto">
            <a:xfrm>
              <a:off x="204" y="890"/>
              <a:ext cx="2304" cy="1488"/>
              <a:chOff x="-2" y="-2"/>
              <a:chExt cx="1652" cy="2692"/>
            </a:xfrm>
          </p:grpSpPr>
          <p:grpSp>
            <p:nvGrpSpPr>
              <p:cNvPr id="60546" name="Group 5"/>
              <p:cNvGrpSpPr/>
              <p:nvPr/>
            </p:nvGrpSpPr>
            <p:grpSpPr bwMode="auto">
              <a:xfrm>
                <a:off x="0" y="0"/>
                <a:ext cx="1648" cy="2688"/>
                <a:chOff x="0" y="0"/>
                <a:chExt cx="1648" cy="2688"/>
              </a:xfrm>
            </p:grpSpPr>
            <p:grpSp>
              <p:nvGrpSpPr>
                <p:cNvPr id="60548" name="Group 6"/>
                <p:cNvGrpSpPr/>
                <p:nvPr/>
              </p:nvGrpSpPr>
              <p:grpSpPr bwMode="auto">
                <a:xfrm>
                  <a:off x="0" y="0"/>
                  <a:ext cx="268" cy="384"/>
                  <a:chOff x="0" y="0"/>
                  <a:chExt cx="268" cy="384"/>
                </a:xfrm>
              </p:grpSpPr>
              <p:sp>
                <p:nvSpPr>
                  <p:cNvPr id="60654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18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55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26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49" name="Group 9"/>
                <p:cNvGrpSpPr/>
                <p:nvPr/>
              </p:nvGrpSpPr>
              <p:grpSpPr bwMode="auto">
                <a:xfrm>
                  <a:off x="268" y="0"/>
                  <a:ext cx="268" cy="384"/>
                  <a:chOff x="268" y="0"/>
                  <a:chExt cx="268" cy="384"/>
                </a:xfrm>
              </p:grpSpPr>
              <p:sp>
                <p:nvSpPr>
                  <p:cNvPr id="60652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311" y="0"/>
                    <a:ext cx="18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0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53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268" y="0"/>
                    <a:ext cx="26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50" name="Group 12"/>
                <p:cNvGrpSpPr/>
                <p:nvPr/>
              </p:nvGrpSpPr>
              <p:grpSpPr bwMode="auto">
                <a:xfrm>
                  <a:off x="536" y="0"/>
                  <a:ext cx="278" cy="384"/>
                  <a:chOff x="536" y="0"/>
                  <a:chExt cx="278" cy="384"/>
                </a:xfrm>
              </p:grpSpPr>
              <p:sp>
                <p:nvSpPr>
                  <p:cNvPr id="60650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579" y="0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1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51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536" y="0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51" name="Group 15"/>
                <p:cNvGrpSpPr/>
                <p:nvPr/>
              </p:nvGrpSpPr>
              <p:grpSpPr bwMode="auto">
                <a:xfrm>
                  <a:off x="814" y="0"/>
                  <a:ext cx="278" cy="384"/>
                  <a:chOff x="814" y="0"/>
                  <a:chExt cx="278" cy="384"/>
                </a:xfrm>
              </p:grpSpPr>
              <p:sp>
                <p:nvSpPr>
                  <p:cNvPr id="60648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857" y="0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2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49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814" y="0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52" name="Group 18"/>
                <p:cNvGrpSpPr/>
                <p:nvPr/>
              </p:nvGrpSpPr>
              <p:grpSpPr bwMode="auto">
                <a:xfrm>
                  <a:off x="1092" y="0"/>
                  <a:ext cx="278" cy="384"/>
                  <a:chOff x="1092" y="0"/>
                  <a:chExt cx="278" cy="384"/>
                </a:xfrm>
              </p:grpSpPr>
              <p:sp>
                <p:nvSpPr>
                  <p:cNvPr id="60646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1135" y="0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3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47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1092" y="0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53" name="Group 21"/>
                <p:cNvGrpSpPr/>
                <p:nvPr/>
              </p:nvGrpSpPr>
              <p:grpSpPr bwMode="auto">
                <a:xfrm>
                  <a:off x="1370" y="0"/>
                  <a:ext cx="278" cy="384"/>
                  <a:chOff x="1370" y="0"/>
                  <a:chExt cx="278" cy="384"/>
                </a:xfrm>
              </p:grpSpPr>
              <p:sp>
                <p:nvSpPr>
                  <p:cNvPr id="60644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1413" y="0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4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45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1370" y="0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54" name="Group 24"/>
                <p:cNvGrpSpPr/>
                <p:nvPr/>
              </p:nvGrpSpPr>
              <p:grpSpPr bwMode="auto">
                <a:xfrm>
                  <a:off x="0" y="384"/>
                  <a:ext cx="268" cy="480"/>
                  <a:chOff x="0" y="384"/>
                  <a:chExt cx="268" cy="480"/>
                </a:xfrm>
              </p:grpSpPr>
              <p:sp>
                <p:nvSpPr>
                  <p:cNvPr id="60642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384"/>
                    <a:ext cx="18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1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43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26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55" name="Group 27"/>
                <p:cNvGrpSpPr/>
                <p:nvPr/>
              </p:nvGrpSpPr>
              <p:grpSpPr bwMode="auto">
                <a:xfrm>
                  <a:off x="268" y="384"/>
                  <a:ext cx="268" cy="480"/>
                  <a:chOff x="268" y="384"/>
                  <a:chExt cx="268" cy="480"/>
                </a:xfrm>
              </p:grpSpPr>
              <p:sp>
                <p:nvSpPr>
                  <p:cNvPr id="60640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311" y="384"/>
                    <a:ext cx="18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0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41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268" y="384"/>
                    <a:ext cx="26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56" name="Group 30"/>
                <p:cNvGrpSpPr/>
                <p:nvPr/>
              </p:nvGrpSpPr>
              <p:grpSpPr bwMode="auto">
                <a:xfrm>
                  <a:off x="536" y="384"/>
                  <a:ext cx="278" cy="480"/>
                  <a:chOff x="536" y="384"/>
                  <a:chExt cx="278" cy="480"/>
                </a:xfrm>
              </p:grpSpPr>
              <p:sp>
                <p:nvSpPr>
                  <p:cNvPr id="60638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579" y="384"/>
                    <a:ext cx="19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0.1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39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536" y="384"/>
                    <a:ext cx="27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57" name="Group 33"/>
                <p:cNvGrpSpPr/>
                <p:nvPr/>
              </p:nvGrpSpPr>
              <p:grpSpPr bwMode="auto">
                <a:xfrm>
                  <a:off x="814" y="384"/>
                  <a:ext cx="278" cy="480"/>
                  <a:chOff x="814" y="384"/>
                  <a:chExt cx="278" cy="480"/>
                </a:xfrm>
              </p:grpSpPr>
              <p:sp>
                <p:nvSpPr>
                  <p:cNvPr id="60636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857" y="384"/>
                    <a:ext cx="19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solidFill>
                          <a:srgbClr val="FF3300"/>
                        </a:solidFill>
                        <a:latin typeface="Times New Roman" panose="02020603050405020304" pitchFamily="18" charset="0"/>
                      </a:rPr>
                      <a:t>0.4</a:t>
                    </a:r>
                    <a:endParaRPr kumimoji="1" lang="en-US" altLang="zh-CN" sz="2000">
                      <a:solidFill>
                        <a:srgbClr val="FF3300"/>
                      </a:solidFill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37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814" y="384"/>
                    <a:ext cx="27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58" name="Group 36"/>
                <p:cNvGrpSpPr/>
                <p:nvPr/>
              </p:nvGrpSpPr>
              <p:grpSpPr bwMode="auto">
                <a:xfrm>
                  <a:off x="1092" y="384"/>
                  <a:ext cx="278" cy="480"/>
                  <a:chOff x="1092" y="384"/>
                  <a:chExt cx="278" cy="480"/>
                </a:xfrm>
              </p:grpSpPr>
              <p:sp>
                <p:nvSpPr>
                  <p:cNvPr id="60634" name="Rectangle 37"/>
                  <p:cNvSpPr>
                    <a:spLocks noChangeArrowheads="1"/>
                  </p:cNvSpPr>
                  <p:nvPr/>
                </p:nvSpPr>
                <p:spPr bwMode="auto">
                  <a:xfrm>
                    <a:off x="1135" y="384"/>
                    <a:ext cx="19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1.1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35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1092" y="384"/>
                    <a:ext cx="27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59" name="Group 39"/>
                <p:cNvGrpSpPr/>
                <p:nvPr/>
              </p:nvGrpSpPr>
              <p:grpSpPr bwMode="auto">
                <a:xfrm>
                  <a:off x="1370" y="384"/>
                  <a:ext cx="278" cy="480"/>
                  <a:chOff x="1370" y="384"/>
                  <a:chExt cx="278" cy="480"/>
                </a:xfrm>
              </p:grpSpPr>
              <p:sp>
                <p:nvSpPr>
                  <p:cNvPr id="60632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1413" y="384"/>
                    <a:ext cx="19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1.7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33" name="Rectangle 41"/>
                  <p:cNvSpPr>
                    <a:spLocks noChangeArrowheads="1"/>
                  </p:cNvSpPr>
                  <p:nvPr/>
                </p:nvSpPr>
                <p:spPr bwMode="auto">
                  <a:xfrm>
                    <a:off x="1370" y="384"/>
                    <a:ext cx="27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60" name="Group 42"/>
                <p:cNvGrpSpPr/>
                <p:nvPr/>
              </p:nvGrpSpPr>
              <p:grpSpPr bwMode="auto">
                <a:xfrm>
                  <a:off x="0" y="864"/>
                  <a:ext cx="268" cy="480"/>
                  <a:chOff x="0" y="864"/>
                  <a:chExt cx="268" cy="480"/>
                </a:xfrm>
              </p:grpSpPr>
              <p:sp>
                <p:nvSpPr>
                  <p:cNvPr id="60630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864"/>
                    <a:ext cx="18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2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31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0" y="864"/>
                    <a:ext cx="26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61" name="Group 45"/>
                <p:cNvGrpSpPr/>
                <p:nvPr/>
              </p:nvGrpSpPr>
              <p:grpSpPr bwMode="auto">
                <a:xfrm>
                  <a:off x="268" y="864"/>
                  <a:ext cx="268" cy="480"/>
                  <a:chOff x="268" y="864"/>
                  <a:chExt cx="268" cy="480"/>
                </a:xfrm>
              </p:grpSpPr>
              <p:sp>
                <p:nvSpPr>
                  <p:cNvPr id="60628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311" y="864"/>
                    <a:ext cx="18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29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268" y="864"/>
                    <a:ext cx="26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62" name="Group 48"/>
                <p:cNvGrpSpPr/>
                <p:nvPr/>
              </p:nvGrpSpPr>
              <p:grpSpPr bwMode="auto">
                <a:xfrm>
                  <a:off x="536" y="864"/>
                  <a:ext cx="278" cy="480"/>
                  <a:chOff x="536" y="864"/>
                  <a:chExt cx="278" cy="480"/>
                </a:xfrm>
              </p:grpSpPr>
              <p:sp>
                <p:nvSpPr>
                  <p:cNvPr id="60626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579" y="864"/>
                    <a:ext cx="19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0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27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536" y="864"/>
                    <a:ext cx="27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63" name="Group 51"/>
                <p:cNvGrpSpPr/>
                <p:nvPr/>
              </p:nvGrpSpPr>
              <p:grpSpPr bwMode="auto">
                <a:xfrm>
                  <a:off x="814" y="864"/>
                  <a:ext cx="278" cy="480"/>
                  <a:chOff x="814" y="864"/>
                  <a:chExt cx="278" cy="480"/>
                </a:xfrm>
              </p:grpSpPr>
              <p:sp>
                <p:nvSpPr>
                  <p:cNvPr id="60624" name="Rectangle 52"/>
                  <p:cNvSpPr>
                    <a:spLocks noChangeArrowheads="1"/>
                  </p:cNvSpPr>
                  <p:nvPr/>
                </p:nvSpPr>
                <p:spPr bwMode="auto">
                  <a:xfrm>
                    <a:off x="857" y="864"/>
                    <a:ext cx="19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0.2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25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814" y="864"/>
                    <a:ext cx="27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64" name="Group 54"/>
                <p:cNvGrpSpPr/>
                <p:nvPr/>
              </p:nvGrpSpPr>
              <p:grpSpPr bwMode="auto">
                <a:xfrm>
                  <a:off x="1092" y="864"/>
                  <a:ext cx="278" cy="480"/>
                  <a:chOff x="1092" y="864"/>
                  <a:chExt cx="278" cy="480"/>
                </a:xfrm>
              </p:grpSpPr>
              <p:sp>
                <p:nvSpPr>
                  <p:cNvPr id="60622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1135" y="864"/>
                    <a:ext cx="19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0.8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23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1092" y="864"/>
                    <a:ext cx="27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65" name="Group 57"/>
                <p:cNvGrpSpPr/>
                <p:nvPr/>
              </p:nvGrpSpPr>
              <p:grpSpPr bwMode="auto">
                <a:xfrm>
                  <a:off x="1370" y="864"/>
                  <a:ext cx="278" cy="480"/>
                  <a:chOff x="1370" y="864"/>
                  <a:chExt cx="278" cy="480"/>
                </a:xfrm>
              </p:grpSpPr>
              <p:sp>
                <p:nvSpPr>
                  <p:cNvPr id="60620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1413" y="864"/>
                    <a:ext cx="19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1.4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21" name="Rectangle 59"/>
                  <p:cNvSpPr>
                    <a:spLocks noChangeArrowheads="1"/>
                  </p:cNvSpPr>
                  <p:nvPr/>
                </p:nvSpPr>
                <p:spPr bwMode="auto">
                  <a:xfrm>
                    <a:off x="1370" y="864"/>
                    <a:ext cx="27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66" name="Group 60"/>
                <p:cNvGrpSpPr/>
                <p:nvPr/>
              </p:nvGrpSpPr>
              <p:grpSpPr bwMode="auto">
                <a:xfrm>
                  <a:off x="0" y="1344"/>
                  <a:ext cx="268" cy="480"/>
                  <a:chOff x="0" y="1344"/>
                  <a:chExt cx="268" cy="480"/>
                </a:xfrm>
              </p:grpSpPr>
              <p:sp>
                <p:nvSpPr>
                  <p:cNvPr id="60618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1344"/>
                    <a:ext cx="18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3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19" name="Rectangle 62"/>
                  <p:cNvSpPr>
                    <a:spLocks noChangeArrowheads="1"/>
                  </p:cNvSpPr>
                  <p:nvPr/>
                </p:nvSpPr>
                <p:spPr bwMode="auto">
                  <a:xfrm>
                    <a:off x="0" y="1344"/>
                    <a:ext cx="26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67" name="Group 63"/>
                <p:cNvGrpSpPr/>
                <p:nvPr/>
              </p:nvGrpSpPr>
              <p:grpSpPr bwMode="auto">
                <a:xfrm>
                  <a:off x="268" y="1344"/>
                  <a:ext cx="268" cy="480"/>
                  <a:chOff x="268" y="1344"/>
                  <a:chExt cx="268" cy="480"/>
                </a:xfrm>
              </p:grpSpPr>
              <p:sp>
                <p:nvSpPr>
                  <p:cNvPr id="60616" name="Rectangle 64"/>
                  <p:cNvSpPr>
                    <a:spLocks noChangeArrowheads="1"/>
                  </p:cNvSpPr>
                  <p:nvPr/>
                </p:nvSpPr>
                <p:spPr bwMode="auto">
                  <a:xfrm>
                    <a:off x="311" y="1344"/>
                    <a:ext cx="18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17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268" y="1344"/>
                    <a:ext cx="26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68" name="Group 66"/>
                <p:cNvGrpSpPr/>
                <p:nvPr/>
              </p:nvGrpSpPr>
              <p:grpSpPr bwMode="auto">
                <a:xfrm>
                  <a:off x="536" y="1344"/>
                  <a:ext cx="278" cy="480"/>
                  <a:chOff x="536" y="1344"/>
                  <a:chExt cx="278" cy="480"/>
                </a:xfrm>
              </p:grpSpPr>
              <p:sp>
                <p:nvSpPr>
                  <p:cNvPr id="60614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579" y="1344"/>
                    <a:ext cx="19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15" name="Rectangle 68"/>
                  <p:cNvSpPr>
                    <a:spLocks noChangeArrowheads="1"/>
                  </p:cNvSpPr>
                  <p:nvPr/>
                </p:nvSpPr>
                <p:spPr bwMode="auto">
                  <a:xfrm>
                    <a:off x="536" y="1344"/>
                    <a:ext cx="27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69" name="Group 69"/>
                <p:cNvGrpSpPr/>
                <p:nvPr/>
              </p:nvGrpSpPr>
              <p:grpSpPr bwMode="auto">
                <a:xfrm>
                  <a:off x="814" y="1344"/>
                  <a:ext cx="278" cy="480"/>
                  <a:chOff x="814" y="1344"/>
                  <a:chExt cx="278" cy="480"/>
                </a:xfrm>
              </p:grpSpPr>
              <p:sp>
                <p:nvSpPr>
                  <p:cNvPr id="60612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857" y="1344"/>
                    <a:ext cx="19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0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13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814" y="1344"/>
                    <a:ext cx="27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70" name="Group 72"/>
                <p:cNvGrpSpPr/>
                <p:nvPr/>
              </p:nvGrpSpPr>
              <p:grpSpPr bwMode="auto">
                <a:xfrm>
                  <a:off x="1092" y="1344"/>
                  <a:ext cx="278" cy="480"/>
                  <a:chOff x="1092" y="1344"/>
                  <a:chExt cx="278" cy="480"/>
                </a:xfrm>
              </p:grpSpPr>
              <p:sp>
                <p:nvSpPr>
                  <p:cNvPr id="60610" name="Rectangle 73"/>
                  <p:cNvSpPr>
                    <a:spLocks noChangeArrowheads="1"/>
                  </p:cNvSpPr>
                  <p:nvPr/>
                </p:nvSpPr>
                <p:spPr bwMode="auto">
                  <a:xfrm>
                    <a:off x="1135" y="1344"/>
                    <a:ext cx="19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0.4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11" name="Rectangle 74"/>
                  <p:cNvSpPr>
                    <a:spLocks noChangeArrowheads="1"/>
                  </p:cNvSpPr>
                  <p:nvPr/>
                </p:nvSpPr>
                <p:spPr bwMode="auto">
                  <a:xfrm>
                    <a:off x="1092" y="1344"/>
                    <a:ext cx="27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71" name="Group 75"/>
                <p:cNvGrpSpPr/>
                <p:nvPr/>
              </p:nvGrpSpPr>
              <p:grpSpPr bwMode="auto">
                <a:xfrm>
                  <a:off x="1370" y="1344"/>
                  <a:ext cx="278" cy="480"/>
                  <a:chOff x="1370" y="1344"/>
                  <a:chExt cx="278" cy="480"/>
                </a:xfrm>
              </p:grpSpPr>
              <p:sp>
                <p:nvSpPr>
                  <p:cNvPr id="60608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1413" y="1344"/>
                    <a:ext cx="19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1.0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09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1370" y="1344"/>
                    <a:ext cx="27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72" name="Group 78"/>
                <p:cNvGrpSpPr/>
                <p:nvPr/>
              </p:nvGrpSpPr>
              <p:grpSpPr bwMode="auto">
                <a:xfrm>
                  <a:off x="0" y="1824"/>
                  <a:ext cx="268" cy="480"/>
                  <a:chOff x="0" y="1824"/>
                  <a:chExt cx="268" cy="480"/>
                </a:xfrm>
              </p:grpSpPr>
              <p:sp>
                <p:nvSpPr>
                  <p:cNvPr id="60606" name="Rectangle 79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1824"/>
                    <a:ext cx="18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4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07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0" y="1824"/>
                    <a:ext cx="26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73" name="Group 81"/>
                <p:cNvGrpSpPr/>
                <p:nvPr/>
              </p:nvGrpSpPr>
              <p:grpSpPr bwMode="auto">
                <a:xfrm>
                  <a:off x="268" y="1824"/>
                  <a:ext cx="268" cy="480"/>
                  <a:chOff x="268" y="1824"/>
                  <a:chExt cx="268" cy="480"/>
                </a:xfrm>
              </p:grpSpPr>
              <p:sp>
                <p:nvSpPr>
                  <p:cNvPr id="60604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311" y="1824"/>
                    <a:ext cx="18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05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268" y="1824"/>
                    <a:ext cx="26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74" name="Group 84"/>
                <p:cNvGrpSpPr/>
                <p:nvPr/>
              </p:nvGrpSpPr>
              <p:grpSpPr bwMode="auto">
                <a:xfrm>
                  <a:off x="536" y="1824"/>
                  <a:ext cx="278" cy="480"/>
                  <a:chOff x="536" y="1824"/>
                  <a:chExt cx="278" cy="480"/>
                </a:xfrm>
              </p:grpSpPr>
              <p:sp>
                <p:nvSpPr>
                  <p:cNvPr id="60602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579" y="1824"/>
                    <a:ext cx="19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03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536" y="1824"/>
                    <a:ext cx="27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75" name="Group 87"/>
                <p:cNvGrpSpPr/>
                <p:nvPr/>
              </p:nvGrpSpPr>
              <p:grpSpPr bwMode="auto">
                <a:xfrm>
                  <a:off x="814" y="1824"/>
                  <a:ext cx="278" cy="480"/>
                  <a:chOff x="814" y="1824"/>
                  <a:chExt cx="278" cy="480"/>
                </a:xfrm>
              </p:grpSpPr>
              <p:sp>
                <p:nvSpPr>
                  <p:cNvPr id="60600" name="Rectangle 88"/>
                  <p:cNvSpPr>
                    <a:spLocks noChangeArrowheads="1"/>
                  </p:cNvSpPr>
                  <p:nvPr/>
                </p:nvSpPr>
                <p:spPr bwMode="auto">
                  <a:xfrm>
                    <a:off x="857" y="1824"/>
                    <a:ext cx="19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01" name="Rectangle 89"/>
                  <p:cNvSpPr>
                    <a:spLocks noChangeArrowheads="1"/>
                  </p:cNvSpPr>
                  <p:nvPr/>
                </p:nvSpPr>
                <p:spPr bwMode="auto">
                  <a:xfrm>
                    <a:off x="814" y="1824"/>
                    <a:ext cx="27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76" name="Group 90"/>
                <p:cNvGrpSpPr/>
                <p:nvPr/>
              </p:nvGrpSpPr>
              <p:grpSpPr bwMode="auto">
                <a:xfrm>
                  <a:off x="1092" y="1824"/>
                  <a:ext cx="278" cy="480"/>
                  <a:chOff x="1092" y="1824"/>
                  <a:chExt cx="278" cy="480"/>
                </a:xfrm>
              </p:grpSpPr>
              <p:sp>
                <p:nvSpPr>
                  <p:cNvPr id="60598" name="Rectangle 91"/>
                  <p:cNvSpPr>
                    <a:spLocks noChangeArrowheads="1"/>
                  </p:cNvSpPr>
                  <p:nvPr/>
                </p:nvSpPr>
                <p:spPr bwMode="auto">
                  <a:xfrm>
                    <a:off x="1135" y="1824"/>
                    <a:ext cx="19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0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99" name="Rectangle 92"/>
                  <p:cNvSpPr>
                    <a:spLocks noChangeArrowheads="1"/>
                  </p:cNvSpPr>
                  <p:nvPr/>
                </p:nvSpPr>
                <p:spPr bwMode="auto">
                  <a:xfrm>
                    <a:off x="1092" y="1824"/>
                    <a:ext cx="27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77" name="Group 93"/>
                <p:cNvGrpSpPr/>
                <p:nvPr/>
              </p:nvGrpSpPr>
              <p:grpSpPr bwMode="auto">
                <a:xfrm>
                  <a:off x="1370" y="1824"/>
                  <a:ext cx="278" cy="480"/>
                  <a:chOff x="1370" y="1824"/>
                  <a:chExt cx="278" cy="480"/>
                </a:xfrm>
              </p:grpSpPr>
              <p:sp>
                <p:nvSpPr>
                  <p:cNvPr id="60596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1413" y="1824"/>
                    <a:ext cx="192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0.3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97" name="Rectangle 95"/>
                  <p:cNvSpPr>
                    <a:spLocks noChangeArrowheads="1"/>
                  </p:cNvSpPr>
                  <p:nvPr/>
                </p:nvSpPr>
                <p:spPr bwMode="auto">
                  <a:xfrm>
                    <a:off x="1370" y="1824"/>
                    <a:ext cx="278" cy="48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78" name="Group 96"/>
                <p:cNvGrpSpPr/>
                <p:nvPr/>
              </p:nvGrpSpPr>
              <p:grpSpPr bwMode="auto">
                <a:xfrm>
                  <a:off x="0" y="2304"/>
                  <a:ext cx="268" cy="384"/>
                  <a:chOff x="0" y="2304"/>
                  <a:chExt cx="268" cy="384"/>
                </a:xfrm>
              </p:grpSpPr>
              <p:sp>
                <p:nvSpPr>
                  <p:cNvPr id="60594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2304"/>
                    <a:ext cx="18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5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95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2304"/>
                    <a:ext cx="26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79" name="Group 99"/>
                <p:cNvGrpSpPr/>
                <p:nvPr/>
              </p:nvGrpSpPr>
              <p:grpSpPr bwMode="auto">
                <a:xfrm>
                  <a:off x="268" y="2304"/>
                  <a:ext cx="268" cy="384"/>
                  <a:chOff x="268" y="2304"/>
                  <a:chExt cx="268" cy="384"/>
                </a:xfrm>
              </p:grpSpPr>
              <p:sp>
                <p:nvSpPr>
                  <p:cNvPr id="60592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311" y="2304"/>
                    <a:ext cx="18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93" name="Rectangle 101"/>
                  <p:cNvSpPr>
                    <a:spLocks noChangeArrowheads="1"/>
                  </p:cNvSpPr>
                  <p:nvPr/>
                </p:nvSpPr>
                <p:spPr bwMode="auto">
                  <a:xfrm>
                    <a:off x="268" y="2304"/>
                    <a:ext cx="26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80" name="Group 102"/>
                <p:cNvGrpSpPr/>
                <p:nvPr/>
              </p:nvGrpSpPr>
              <p:grpSpPr bwMode="auto">
                <a:xfrm>
                  <a:off x="536" y="2304"/>
                  <a:ext cx="278" cy="384"/>
                  <a:chOff x="536" y="2304"/>
                  <a:chExt cx="278" cy="384"/>
                </a:xfrm>
              </p:grpSpPr>
              <p:sp>
                <p:nvSpPr>
                  <p:cNvPr id="60590" name="Rectangle 103"/>
                  <p:cNvSpPr>
                    <a:spLocks noChangeArrowheads="1"/>
                  </p:cNvSpPr>
                  <p:nvPr/>
                </p:nvSpPr>
                <p:spPr bwMode="auto">
                  <a:xfrm>
                    <a:off x="579" y="2304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91" name="Rectangle 104"/>
                  <p:cNvSpPr>
                    <a:spLocks noChangeArrowheads="1"/>
                  </p:cNvSpPr>
                  <p:nvPr/>
                </p:nvSpPr>
                <p:spPr bwMode="auto">
                  <a:xfrm>
                    <a:off x="536" y="2304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81" name="Group 105"/>
                <p:cNvGrpSpPr/>
                <p:nvPr/>
              </p:nvGrpSpPr>
              <p:grpSpPr bwMode="auto">
                <a:xfrm>
                  <a:off x="814" y="2304"/>
                  <a:ext cx="278" cy="384"/>
                  <a:chOff x="814" y="2304"/>
                  <a:chExt cx="278" cy="384"/>
                </a:xfrm>
              </p:grpSpPr>
              <p:sp>
                <p:nvSpPr>
                  <p:cNvPr id="60588" name="Rectangle 106"/>
                  <p:cNvSpPr>
                    <a:spLocks noChangeArrowheads="1"/>
                  </p:cNvSpPr>
                  <p:nvPr/>
                </p:nvSpPr>
                <p:spPr bwMode="auto">
                  <a:xfrm>
                    <a:off x="857" y="2304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89" name="Rectangle 107"/>
                  <p:cNvSpPr>
                    <a:spLocks noChangeArrowheads="1"/>
                  </p:cNvSpPr>
                  <p:nvPr/>
                </p:nvSpPr>
                <p:spPr bwMode="auto">
                  <a:xfrm>
                    <a:off x="814" y="2304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82" name="Group 108"/>
                <p:cNvGrpSpPr/>
                <p:nvPr/>
              </p:nvGrpSpPr>
              <p:grpSpPr bwMode="auto">
                <a:xfrm>
                  <a:off x="1092" y="2304"/>
                  <a:ext cx="278" cy="384"/>
                  <a:chOff x="1092" y="2304"/>
                  <a:chExt cx="278" cy="384"/>
                </a:xfrm>
              </p:grpSpPr>
              <p:sp>
                <p:nvSpPr>
                  <p:cNvPr id="60586" name="Rectangle 109"/>
                  <p:cNvSpPr>
                    <a:spLocks noChangeArrowheads="1"/>
                  </p:cNvSpPr>
                  <p:nvPr/>
                </p:nvSpPr>
                <p:spPr bwMode="auto">
                  <a:xfrm>
                    <a:off x="1135" y="2304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87" name="Rectangle 110"/>
                  <p:cNvSpPr>
                    <a:spLocks noChangeArrowheads="1"/>
                  </p:cNvSpPr>
                  <p:nvPr/>
                </p:nvSpPr>
                <p:spPr bwMode="auto">
                  <a:xfrm>
                    <a:off x="1092" y="2304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83" name="Group 111"/>
                <p:cNvGrpSpPr/>
                <p:nvPr/>
              </p:nvGrpSpPr>
              <p:grpSpPr bwMode="auto">
                <a:xfrm>
                  <a:off x="1370" y="2304"/>
                  <a:ext cx="278" cy="384"/>
                  <a:chOff x="1370" y="2304"/>
                  <a:chExt cx="278" cy="384"/>
                </a:xfrm>
              </p:grpSpPr>
              <p:sp>
                <p:nvSpPr>
                  <p:cNvPr id="60584" name="Rectangle 112"/>
                  <p:cNvSpPr>
                    <a:spLocks noChangeArrowheads="1"/>
                  </p:cNvSpPr>
                  <p:nvPr/>
                </p:nvSpPr>
                <p:spPr bwMode="auto">
                  <a:xfrm>
                    <a:off x="1413" y="2304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0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85" name="Rectangle 113"/>
                  <p:cNvSpPr>
                    <a:spLocks noChangeArrowheads="1"/>
                  </p:cNvSpPr>
                  <p:nvPr/>
                </p:nvSpPr>
                <p:spPr bwMode="auto">
                  <a:xfrm>
                    <a:off x="1370" y="2304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60547" name="Rectangle 114"/>
              <p:cNvSpPr>
                <a:spLocks noChangeArrowheads="1"/>
              </p:cNvSpPr>
              <p:nvPr/>
            </p:nvSpPr>
            <p:spPr bwMode="auto">
              <a:xfrm>
                <a:off x="-2" y="-2"/>
                <a:ext cx="1652" cy="2692"/>
              </a:xfrm>
              <a:prstGeom prst="rect">
                <a:avLst/>
              </a:prstGeom>
              <a:noFill/>
              <a:ln w="6350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rIns="0"/>
              <a:lstStyle/>
              <a:p>
                <a:endParaRPr lang="zh-CN" altLang="en-US"/>
              </a:p>
            </p:txBody>
          </p:sp>
        </p:grpSp>
        <p:grpSp>
          <p:nvGrpSpPr>
            <p:cNvPr id="60422" name="Group 115"/>
            <p:cNvGrpSpPr/>
            <p:nvPr/>
          </p:nvGrpSpPr>
          <p:grpSpPr bwMode="auto">
            <a:xfrm>
              <a:off x="2988" y="890"/>
              <a:ext cx="2056" cy="1488"/>
              <a:chOff x="-2" y="-2"/>
              <a:chExt cx="1672" cy="2308"/>
            </a:xfrm>
          </p:grpSpPr>
          <p:grpSp>
            <p:nvGrpSpPr>
              <p:cNvPr id="60436" name="Group 116"/>
              <p:cNvGrpSpPr/>
              <p:nvPr/>
            </p:nvGrpSpPr>
            <p:grpSpPr bwMode="auto">
              <a:xfrm>
                <a:off x="0" y="0"/>
                <a:ext cx="1668" cy="2304"/>
                <a:chOff x="0" y="0"/>
                <a:chExt cx="1668" cy="2304"/>
              </a:xfrm>
            </p:grpSpPr>
            <p:grpSp>
              <p:nvGrpSpPr>
                <p:cNvPr id="60438" name="Group 117"/>
                <p:cNvGrpSpPr/>
                <p:nvPr/>
              </p:nvGrpSpPr>
              <p:grpSpPr bwMode="auto">
                <a:xfrm>
                  <a:off x="0" y="0"/>
                  <a:ext cx="278" cy="384"/>
                  <a:chOff x="0" y="0"/>
                  <a:chExt cx="278" cy="384"/>
                </a:xfrm>
              </p:grpSpPr>
              <p:sp>
                <p:nvSpPr>
                  <p:cNvPr id="60544" name="Rectangle 118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45" name="Rectangle 119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39" name="Group 120"/>
                <p:cNvGrpSpPr/>
                <p:nvPr/>
              </p:nvGrpSpPr>
              <p:grpSpPr bwMode="auto">
                <a:xfrm>
                  <a:off x="278" y="0"/>
                  <a:ext cx="278" cy="384"/>
                  <a:chOff x="278" y="0"/>
                  <a:chExt cx="278" cy="384"/>
                </a:xfrm>
              </p:grpSpPr>
              <p:sp>
                <p:nvSpPr>
                  <p:cNvPr id="60542" name="Rectangle 121"/>
                  <p:cNvSpPr>
                    <a:spLocks noChangeArrowheads="1"/>
                  </p:cNvSpPr>
                  <p:nvPr/>
                </p:nvSpPr>
                <p:spPr bwMode="auto">
                  <a:xfrm>
                    <a:off x="321" y="0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0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43" name="Rectangle 122"/>
                  <p:cNvSpPr>
                    <a:spLocks noChangeArrowheads="1"/>
                  </p:cNvSpPr>
                  <p:nvPr/>
                </p:nvSpPr>
                <p:spPr bwMode="auto">
                  <a:xfrm>
                    <a:off x="278" y="0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40" name="Group 123"/>
                <p:cNvGrpSpPr/>
                <p:nvPr/>
              </p:nvGrpSpPr>
              <p:grpSpPr bwMode="auto">
                <a:xfrm>
                  <a:off x="556" y="0"/>
                  <a:ext cx="278" cy="384"/>
                  <a:chOff x="556" y="0"/>
                  <a:chExt cx="278" cy="384"/>
                </a:xfrm>
              </p:grpSpPr>
              <p:sp>
                <p:nvSpPr>
                  <p:cNvPr id="60540" name="Rectangle 124"/>
                  <p:cNvSpPr>
                    <a:spLocks noChangeArrowheads="1"/>
                  </p:cNvSpPr>
                  <p:nvPr/>
                </p:nvSpPr>
                <p:spPr bwMode="auto">
                  <a:xfrm>
                    <a:off x="599" y="0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1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41" name="Rectangle 125"/>
                  <p:cNvSpPr>
                    <a:spLocks noChangeArrowheads="1"/>
                  </p:cNvSpPr>
                  <p:nvPr/>
                </p:nvSpPr>
                <p:spPr bwMode="auto">
                  <a:xfrm>
                    <a:off x="556" y="0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41" name="Group 126"/>
                <p:cNvGrpSpPr/>
                <p:nvPr/>
              </p:nvGrpSpPr>
              <p:grpSpPr bwMode="auto">
                <a:xfrm>
                  <a:off x="834" y="0"/>
                  <a:ext cx="278" cy="384"/>
                  <a:chOff x="834" y="0"/>
                  <a:chExt cx="278" cy="384"/>
                </a:xfrm>
              </p:grpSpPr>
              <p:sp>
                <p:nvSpPr>
                  <p:cNvPr id="60538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877" y="0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2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39" name="Rectangle 128"/>
                  <p:cNvSpPr>
                    <a:spLocks noChangeArrowheads="1"/>
                  </p:cNvSpPr>
                  <p:nvPr/>
                </p:nvSpPr>
                <p:spPr bwMode="auto">
                  <a:xfrm>
                    <a:off x="834" y="0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42" name="Group 129"/>
                <p:cNvGrpSpPr/>
                <p:nvPr/>
              </p:nvGrpSpPr>
              <p:grpSpPr bwMode="auto">
                <a:xfrm>
                  <a:off x="1112" y="0"/>
                  <a:ext cx="278" cy="384"/>
                  <a:chOff x="1112" y="0"/>
                  <a:chExt cx="278" cy="384"/>
                </a:xfrm>
              </p:grpSpPr>
              <p:sp>
                <p:nvSpPr>
                  <p:cNvPr id="60536" name="Rectangle 130"/>
                  <p:cNvSpPr>
                    <a:spLocks noChangeArrowheads="1"/>
                  </p:cNvSpPr>
                  <p:nvPr/>
                </p:nvSpPr>
                <p:spPr bwMode="auto">
                  <a:xfrm>
                    <a:off x="1155" y="0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3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37" name="Rectangle 131"/>
                  <p:cNvSpPr>
                    <a:spLocks noChangeArrowheads="1"/>
                  </p:cNvSpPr>
                  <p:nvPr/>
                </p:nvSpPr>
                <p:spPr bwMode="auto">
                  <a:xfrm>
                    <a:off x="1112" y="0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43" name="Group 132"/>
                <p:cNvGrpSpPr/>
                <p:nvPr/>
              </p:nvGrpSpPr>
              <p:grpSpPr bwMode="auto">
                <a:xfrm>
                  <a:off x="1390" y="0"/>
                  <a:ext cx="278" cy="384"/>
                  <a:chOff x="1390" y="0"/>
                  <a:chExt cx="278" cy="384"/>
                </a:xfrm>
              </p:grpSpPr>
              <p:sp>
                <p:nvSpPr>
                  <p:cNvPr id="60534" name="Rectangle 133"/>
                  <p:cNvSpPr>
                    <a:spLocks noChangeArrowheads="1"/>
                  </p:cNvSpPr>
                  <p:nvPr/>
                </p:nvSpPr>
                <p:spPr bwMode="auto">
                  <a:xfrm>
                    <a:off x="1433" y="0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4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35" name="Rectangle 134"/>
                  <p:cNvSpPr>
                    <a:spLocks noChangeArrowheads="1"/>
                  </p:cNvSpPr>
                  <p:nvPr/>
                </p:nvSpPr>
                <p:spPr bwMode="auto">
                  <a:xfrm>
                    <a:off x="1390" y="0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44" name="Group 135"/>
                <p:cNvGrpSpPr/>
                <p:nvPr/>
              </p:nvGrpSpPr>
              <p:grpSpPr bwMode="auto">
                <a:xfrm>
                  <a:off x="0" y="384"/>
                  <a:ext cx="278" cy="384"/>
                  <a:chOff x="0" y="384"/>
                  <a:chExt cx="278" cy="384"/>
                </a:xfrm>
              </p:grpSpPr>
              <p:sp>
                <p:nvSpPr>
                  <p:cNvPr id="60532" name="Rectangle 136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384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1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33" name="Rectangle 137"/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45" name="Group 138"/>
                <p:cNvGrpSpPr/>
                <p:nvPr/>
              </p:nvGrpSpPr>
              <p:grpSpPr bwMode="auto">
                <a:xfrm>
                  <a:off x="278" y="384"/>
                  <a:ext cx="278" cy="384"/>
                  <a:chOff x="278" y="384"/>
                  <a:chExt cx="278" cy="384"/>
                </a:xfrm>
              </p:grpSpPr>
              <p:sp>
                <p:nvSpPr>
                  <p:cNvPr id="60530" name="Rectangle 139"/>
                  <p:cNvSpPr>
                    <a:spLocks noChangeArrowheads="1"/>
                  </p:cNvSpPr>
                  <p:nvPr/>
                </p:nvSpPr>
                <p:spPr bwMode="auto">
                  <a:xfrm>
                    <a:off x="321" y="384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31" name="Rectangle 140"/>
                  <p:cNvSpPr>
                    <a:spLocks noChangeArrowheads="1"/>
                  </p:cNvSpPr>
                  <p:nvPr/>
                </p:nvSpPr>
                <p:spPr bwMode="auto">
                  <a:xfrm>
                    <a:off x="278" y="384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46" name="Group 141"/>
                <p:cNvGrpSpPr/>
                <p:nvPr/>
              </p:nvGrpSpPr>
              <p:grpSpPr bwMode="auto">
                <a:xfrm>
                  <a:off x="556" y="384"/>
                  <a:ext cx="278" cy="384"/>
                  <a:chOff x="556" y="384"/>
                  <a:chExt cx="278" cy="384"/>
                </a:xfrm>
              </p:grpSpPr>
              <p:sp>
                <p:nvSpPr>
                  <p:cNvPr id="60528" name="Rectangle 142"/>
                  <p:cNvSpPr>
                    <a:spLocks noChangeArrowheads="1"/>
                  </p:cNvSpPr>
                  <p:nvPr/>
                </p:nvSpPr>
                <p:spPr bwMode="auto">
                  <a:xfrm>
                    <a:off x="599" y="384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1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29" name="Rectangle 143"/>
                  <p:cNvSpPr>
                    <a:spLocks noChangeArrowheads="1"/>
                  </p:cNvSpPr>
                  <p:nvPr/>
                </p:nvSpPr>
                <p:spPr bwMode="auto">
                  <a:xfrm>
                    <a:off x="556" y="384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47" name="Group 144"/>
                <p:cNvGrpSpPr/>
                <p:nvPr/>
              </p:nvGrpSpPr>
              <p:grpSpPr bwMode="auto">
                <a:xfrm>
                  <a:off x="834" y="384"/>
                  <a:ext cx="278" cy="384"/>
                  <a:chOff x="834" y="384"/>
                  <a:chExt cx="278" cy="384"/>
                </a:xfrm>
              </p:grpSpPr>
              <p:sp>
                <p:nvSpPr>
                  <p:cNvPr id="60526" name="Rectangle 145"/>
                  <p:cNvSpPr>
                    <a:spLocks noChangeArrowheads="1"/>
                  </p:cNvSpPr>
                  <p:nvPr/>
                </p:nvSpPr>
                <p:spPr bwMode="auto">
                  <a:xfrm>
                    <a:off x="877" y="384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2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27" name="Rectangle 146"/>
                  <p:cNvSpPr>
                    <a:spLocks noChangeArrowheads="1"/>
                  </p:cNvSpPr>
                  <p:nvPr/>
                </p:nvSpPr>
                <p:spPr bwMode="auto">
                  <a:xfrm>
                    <a:off x="834" y="384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r>
                      <a:rPr lang="en-US" altLang="zh-CN" sz="2000">
                        <a:solidFill>
                          <a:schemeClr val="folHlink"/>
                        </a:solidFill>
                      </a:rPr>
                      <a:t> </a:t>
                    </a:r>
                    <a:r>
                      <a:rPr lang="en-US" altLang="zh-CN" sz="2000">
                        <a:solidFill>
                          <a:srgbClr val="FF3300"/>
                        </a:solidFill>
                      </a:rPr>
                      <a:t>2</a:t>
                    </a:r>
                    <a:endParaRPr lang="en-US" altLang="zh-CN" sz="2000">
                      <a:solidFill>
                        <a:srgbClr val="FF3300"/>
                      </a:solidFill>
                    </a:endParaRPr>
                  </a:p>
                </p:txBody>
              </p:sp>
            </p:grpSp>
            <p:grpSp>
              <p:nvGrpSpPr>
                <p:cNvPr id="60448" name="Group 147"/>
                <p:cNvGrpSpPr/>
                <p:nvPr/>
              </p:nvGrpSpPr>
              <p:grpSpPr bwMode="auto">
                <a:xfrm>
                  <a:off x="1112" y="384"/>
                  <a:ext cx="278" cy="384"/>
                  <a:chOff x="1112" y="384"/>
                  <a:chExt cx="278" cy="384"/>
                </a:xfrm>
              </p:grpSpPr>
              <p:sp>
                <p:nvSpPr>
                  <p:cNvPr id="60524" name="Rectangle 148"/>
                  <p:cNvSpPr>
                    <a:spLocks noChangeArrowheads="1"/>
                  </p:cNvSpPr>
                  <p:nvPr/>
                </p:nvSpPr>
                <p:spPr bwMode="auto">
                  <a:xfrm>
                    <a:off x="1155" y="384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3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25" name="Rectangle 149"/>
                  <p:cNvSpPr>
                    <a:spLocks noChangeArrowheads="1"/>
                  </p:cNvSpPr>
                  <p:nvPr/>
                </p:nvSpPr>
                <p:spPr bwMode="auto">
                  <a:xfrm>
                    <a:off x="1112" y="384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49" name="Group 150"/>
                <p:cNvGrpSpPr/>
                <p:nvPr/>
              </p:nvGrpSpPr>
              <p:grpSpPr bwMode="auto">
                <a:xfrm>
                  <a:off x="1390" y="384"/>
                  <a:ext cx="278" cy="384"/>
                  <a:chOff x="1390" y="384"/>
                  <a:chExt cx="278" cy="384"/>
                </a:xfrm>
              </p:grpSpPr>
              <p:sp>
                <p:nvSpPr>
                  <p:cNvPr id="60522" name="Rectangle 151"/>
                  <p:cNvSpPr>
                    <a:spLocks noChangeArrowheads="1"/>
                  </p:cNvSpPr>
                  <p:nvPr/>
                </p:nvSpPr>
                <p:spPr bwMode="auto">
                  <a:xfrm>
                    <a:off x="1433" y="384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3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23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1390" y="384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50" name="Group 153"/>
                <p:cNvGrpSpPr/>
                <p:nvPr/>
              </p:nvGrpSpPr>
              <p:grpSpPr bwMode="auto">
                <a:xfrm>
                  <a:off x="0" y="768"/>
                  <a:ext cx="278" cy="384"/>
                  <a:chOff x="0" y="768"/>
                  <a:chExt cx="278" cy="384"/>
                </a:xfrm>
              </p:grpSpPr>
              <p:sp>
                <p:nvSpPr>
                  <p:cNvPr id="60520" name="Rectangle 154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768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2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21" name="Rectangle 155"/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51" name="Group 156"/>
                <p:cNvGrpSpPr/>
                <p:nvPr/>
              </p:nvGrpSpPr>
              <p:grpSpPr bwMode="auto">
                <a:xfrm>
                  <a:off x="278" y="768"/>
                  <a:ext cx="278" cy="384"/>
                  <a:chOff x="278" y="768"/>
                  <a:chExt cx="278" cy="384"/>
                </a:xfrm>
              </p:grpSpPr>
              <p:sp>
                <p:nvSpPr>
                  <p:cNvPr id="60518" name="Rectangle 157"/>
                  <p:cNvSpPr>
                    <a:spLocks noChangeArrowheads="1"/>
                  </p:cNvSpPr>
                  <p:nvPr/>
                </p:nvSpPr>
                <p:spPr bwMode="auto">
                  <a:xfrm>
                    <a:off x="321" y="768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19" name="Rectangle 158"/>
                  <p:cNvSpPr>
                    <a:spLocks noChangeArrowheads="1"/>
                  </p:cNvSpPr>
                  <p:nvPr/>
                </p:nvSpPr>
                <p:spPr bwMode="auto">
                  <a:xfrm>
                    <a:off x="278" y="768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52" name="Group 159"/>
                <p:cNvGrpSpPr/>
                <p:nvPr/>
              </p:nvGrpSpPr>
              <p:grpSpPr bwMode="auto">
                <a:xfrm>
                  <a:off x="556" y="768"/>
                  <a:ext cx="278" cy="384"/>
                  <a:chOff x="556" y="768"/>
                  <a:chExt cx="278" cy="384"/>
                </a:xfrm>
              </p:grpSpPr>
              <p:sp>
                <p:nvSpPr>
                  <p:cNvPr id="60516" name="Rectangle 160"/>
                  <p:cNvSpPr>
                    <a:spLocks noChangeArrowheads="1"/>
                  </p:cNvSpPr>
                  <p:nvPr/>
                </p:nvSpPr>
                <p:spPr bwMode="auto">
                  <a:xfrm>
                    <a:off x="599" y="768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17" name="Rectangle 161"/>
                  <p:cNvSpPr>
                    <a:spLocks noChangeArrowheads="1"/>
                  </p:cNvSpPr>
                  <p:nvPr/>
                </p:nvSpPr>
                <p:spPr bwMode="auto">
                  <a:xfrm>
                    <a:off x="556" y="768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53" name="Group 162"/>
                <p:cNvGrpSpPr/>
                <p:nvPr/>
              </p:nvGrpSpPr>
              <p:grpSpPr bwMode="auto">
                <a:xfrm>
                  <a:off x="834" y="768"/>
                  <a:ext cx="278" cy="384"/>
                  <a:chOff x="834" y="768"/>
                  <a:chExt cx="278" cy="384"/>
                </a:xfrm>
              </p:grpSpPr>
              <p:sp>
                <p:nvSpPr>
                  <p:cNvPr id="60514" name="Rectangle 163"/>
                  <p:cNvSpPr>
                    <a:spLocks noChangeArrowheads="1"/>
                  </p:cNvSpPr>
                  <p:nvPr/>
                </p:nvSpPr>
                <p:spPr bwMode="auto">
                  <a:xfrm>
                    <a:off x="877" y="768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2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15" name="Rectangle 164"/>
                  <p:cNvSpPr>
                    <a:spLocks noChangeArrowheads="1"/>
                  </p:cNvSpPr>
                  <p:nvPr/>
                </p:nvSpPr>
                <p:spPr bwMode="auto">
                  <a:xfrm>
                    <a:off x="834" y="768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54" name="Group 165"/>
                <p:cNvGrpSpPr/>
                <p:nvPr/>
              </p:nvGrpSpPr>
              <p:grpSpPr bwMode="auto">
                <a:xfrm>
                  <a:off x="1112" y="768"/>
                  <a:ext cx="278" cy="384"/>
                  <a:chOff x="1112" y="768"/>
                  <a:chExt cx="278" cy="384"/>
                </a:xfrm>
              </p:grpSpPr>
              <p:sp>
                <p:nvSpPr>
                  <p:cNvPr id="60512" name="Rectangle 166"/>
                  <p:cNvSpPr>
                    <a:spLocks noChangeArrowheads="1"/>
                  </p:cNvSpPr>
                  <p:nvPr/>
                </p:nvSpPr>
                <p:spPr bwMode="auto">
                  <a:xfrm>
                    <a:off x="1155" y="768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3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13" name="Rectangle 167"/>
                  <p:cNvSpPr>
                    <a:spLocks noChangeArrowheads="1"/>
                  </p:cNvSpPr>
                  <p:nvPr/>
                </p:nvSpPr>
                <p:spPr bwMode="auto">
                  <a:xfrm>
                    <a:off x="1112" y="768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55" name="Group 168"/>
                <p:cNvGrpSpPr/>
                <p:nvPr/>
              </p:nvGrpSpPr>
              <p:grpSpPr bwMode="auto">
                <a:xfrm>
                  <a:off x="1390" y="768"/>
                  <a:ext cx="278" cy="384"/>
                  <a:chOff x="1390" y="768"/>
                  <a:chExt cx="278" cy="384"/>
                </a:xfrm>
              </p:grpSpPr>
              <p:sp>
                <p:nvSpPr>
                  <p:cNvPr id="60510" name="Rectangle 169"/>
                  <p:cNvSpPr>
                    <a:spLocks noChangeArrowheads="1"/>
                  </p:cNvSpPr>
                  <p:nvPr/>
                </p:nvSpPr>
                <p:spPr bwMode="auto">
                  <a:xfrm>
                    <a:off x="1433" y="768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3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11" name="Rectangle 170"/>
                  <p:cNvSpPr>
                    <a:spLocks noChangeArrowheads="1"/>
                  </p:cNvSpPr>
                  <p:nvPr/>
                </p:nvSpPr>
                <p:spPr bwMode="auto">
                  <a:xfrm>
                    <a:off x="1390" y="768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56" name="Group 171"/>
                <p:cNvGrpSpPr/>
                <p:nvPr/>
              </p:nvGrpSpPr>
              <p:grpSpPr bwMode="auto">
                <a:xfrm>
                  <a:off x="0" y="1152"/>
                  <a:ext cx="278" cy="384"/>
                  <a:chOff x="0" y="1152"/>
                  <a:chExt cx="278" cy="384"/>
                </a:xfrm>
              </p:grpSpPr>
              <p:sp>
                <p:nvSpPr>
                  <p:cNvPr id="60508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1152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3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09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0" y="1152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57" name="Group 174"/>
                <p:cNvGrpSpPr/>
                <p:nvPr/>
              </p:nvGrpSpPr>
              <p:grpSpPr bwMode="auto">
                <a:xfrm>
                  <a:off x="278" y="1152"/>
                  <a:ext cx="278" cy="384"/>
                  <a:chOff x="278" y="1152"/>
                  <a:chExt cx="278" cy="384"/>
                </a:xfrm>
              </p:grpSpPr>
              <p:sp>
                <p:nvSpPr>
                  <p:cNvPr id="60506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321" y="1152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07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278" y="1152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58" name="Group 177"/>
                <p:cNvGrpSpPr/>
                <p:nvPr/>
              </p:nvGrpSpPr>
              <p:grpSpPr bwMode="auto">
                <a:xfrm>
                  <a:off x="556" y="1152"/>
                  <a:ext cx="278" cy="384"/>
                  <a:chOff x="556" y="1152"/>
                  <a:chExt cx="278" cy="384"/>
                </a:xfrm>
              </p:grpSpPr>
              <p:sp>
                <p:nvSpPr>
                  <p:cNvPr id="60504" name="Rectangle 178"/>
                  <p:cNvSpPr>
                    <a:spLocks noChangeArrowheads="1"/>
                  </p:cNvSpPr>
                  <p:nvPr/>
                </p:nvSpPr>
                <p:spPr bwMode="auto">
                  <a:xfrm>
                    <a:off x="599" y="1152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05" name="Rectangle 179"/>
                  <p:cNvSpPr>
                    <a:spLocks noChangeArrowheads="1"/>
                  </p:cNvSpPr>
                  <p:nvPr/>
                </p:nvSpPr>
                <p:spPr bwMode="auto">
                  <a:xfrm>
                    <a:off x="556" y="1152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59" name="Group 180"/>
                <p:cNvGrpSpPr/>
                <p:nvPr/>
              </p:nvGrpSpPr>
              <p:grpSpPr bwMode="auto">
                <a:xfrm>
                  <a:off x="834" y="1152"/>
                  <a:ext cx="278" cy="384"/>
                  <a:chOff x="834" y="1152"/>
                  <a:chExt cx="278" cy="384"/>
                </a:xfrm>
              </p:grpSpPr>
              <p:sp>
                <p:nvSpPr>
                  <p:cNvPr id="60502" name="Rectangle 181"/>
                  <p:cNvSpPr>
                    <a:spLocks noChangeArrowheads="1"/>
                  </p:cNvSpPr>
                  <p:nvPr/>
                </p:nvSpPr>
                <p:spPr bwMode="auto">
                  <a:xfrm>
                    <a:off x="877" y="1152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03" name="Rectangle 182"/>
                  <p:cNvSpPr>
                    <a:spLocks noChangeArrowheads="1"/>
                  </p:cNvSpPr>
                  <p:nvPr/>
                </p:nvSpPr>
                <p:spPr bwMode="auto">
                  <a:xfrm>
                    <a:off x="834" y="1152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60" name="Group 183"/>
                <p:cNvGrpSpPr/>
                <p:nvPr/>
              </p:nvGrpSpPr>
              <p:grpSpPr bwMode="auto">
                <a:xfrm>
                  <a:off x="1112" y="1152"/>
                  <a:ext cx="278" cy="384"/>
                  <a:chOff x="1112" y="1152"/>
                  <a:chExt cx="278" cy="384"/>
                </a:xfrm>
              </p:grpSpPr>
              <p:sp>
                <p:nvSpPr>
                  <p:cNvPr id="60500" name="Rectangle 184"/>
                  <p:cNvSpPr>
                    <a:spLocks noChangeArrowheads="1"/>
                  </p:cNvSpPr>
                  <p:nvPr/>
                </p:nvSpPr>
                <p:spPr bwMode="auto">
                  <a:xfrm>
                    <a:off x="1155" y="1152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3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01" name="Rectangle 185"/>
                  <p:cNvSpPr>
                    <a:spLocks noChangeArrowheads="1"/>
                  </p:cNvSpPr>
                  <p:nvPr/>
                </p:nvSpPr>
                <p:spPr bwMode="auto">
                  <a:xfrm>
                    <a:off x="1112" y="1152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61" name="Group 186"/>
                <p:cNvGrpSpPr/>
                <p:nvPr/>
              </p:nvGrpSpPr>
              <p:grpSpPr bwMode="auto">
                <a:xfrm>
                  <a:off x="1390" y="1152"/>
                  <a:ext cx="278" cy="384"/>
                  <a:chOff x="1390" y="1152"/>
                  <a:chExt cx="278" cy="384"/>
                </a:xfrm>
              </p:grpSpPr>
              <p:sp>
                <p:nvSpPr>
                  <p:cNvPr id="60498" name="Rectangle 187"/>
                  <p:cNvSpPr>
                    <a:spLocks noChangeArrowheads="1"/>
                  </p:cNvSpPr>
                  <p:nvPr/>
                </p:nvSpPr>
                <p:spPr bwMode="auto">
                  <a:xfrm>
                    <a:off x="1433" y="1152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3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99" name="Rectangle 188"/>
                  <p:cNvSpPr>
                    <a:spLocks noChangeArrowheads="1"/>
                  </p:cNvSpPr>
                  <p:nvPr/>
                </p:nvSpPr>
                <p:spPr bwMode="auto">
                  <a:xfrm>
                    <a:off x="1390" y="1152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62" name="Group 189"/>
                <p:cNvGrpSpPr/>
                <p:nvPr/>
              </p:nvGrpSpPr>
              <p:grpSpPr bwMode="auto">
                <a:xfrm>
                  <a:off x="0" y="1536"/>
                  <a:ext cx="278" cy="384"/>
                  <a:chOff x="0" y="1536"/>
                  <a:chExt cx="278" cy="384"/>
                </a:xfrm>
              </p:grpSpPr>
              <p:sp>
                <p:nvSpPr>
                  <p:cNvPr id="60496" name="Rectangle 190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1536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4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97" name="Rectangle 191"/>
                  <p:cNvSpPr>
                    <a:spLocks noChangeArrowheads="1"/>
                  </p:cNvSpPr>
                  <p:nvPr/>
                </p:nvSpPr>
                <p:spPr bwMode="auto">
                  <a:xfrm>
                    <a:off x="0" y="1536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63" name="Group 192"/>
                <p:cNvGrpSpPr/>
                <p:nvPr/>
              </p:nvGrpSpPr>
              <p:grpSpPr bwMode="auto">
                <a:xfrm>
                  <a:off x="278" y="1536"/>
                  <a:ext cx="278" cy="384"/>
                  <a:chOff x="278" y="1536"/>
                  <a:chExt cx="278" cy="384"/>
                </a:xfrm>
              </p:grpSpPr>
              <p:sp>
                <p:nvSpPr>
                  <p:cNvPr id="60494" name="Rectangle 193"/>
                  <p:cNvSpPr>
                    <a:spLocks noChangeArrowheads="1"/>
                  </p:cNvSpPr>
                  <p:nvPr/>
                </p:nvSpPr>
                <p:spPr bwMode="auto">
                  <a:xfrm>
                    <a:off x="321" y="1536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95" name="Rectangle 194"/>
                  <p:cNvSpPr>
                    <a:spLocks noChangeArrowheads="1"/>
                  </p:cNvSpPr>
                  <p:nvPr/>
                </p:nvSpPr>
                <p:spPr bwMode="auto">
                  <a:xfrm>
                    <a:off x="278" y="1536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64" name="Group 195"/>
                <p:cNvGrpSpPr/>
                <p:nvPr/>
              </p:nvGrpSpPr>
              <p:grpSpPr bwMode="auto">
                <a:xfrm>
                  <a:off x="556" y="1536"/>
                  <a:ext cx="278" cy="384"/>
                  <a:chOff x="556" y="1536"/>
                  <a:chExt cx="278" cy="384"/>
                </a:xfrm>
              </p:grpSpPr>
              <p:sp>
                <p:nvSpPr>
                  <p:cNvPr id="60492" name="Rectangle 196"/>
                  <p:cNvSpPr>
                    <a:spLocks noChangeArrowheads="1"/>
                  </p:cNvSpPr>
                  <p:nvPr/>
                </p:nvSpPr>
                <p:spPr bwMode="auto">
                  <a:xfrm>
                    <a:off x="599" y="1536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93" name="Rectangle 197"/>
                  <p:cNvSpPr>
                    <a:spLocks noChangeArrowheads="1"/>
                  </p:cNvSpPr>
                  <p:nvPr/>
                </p:nvSpPr>
                <p:spPr bwMode="auto">
                  <a:xfrm>
                    <a:off x="556" y="1536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65" name="Group 198"/>
                <p:cNvGrpSpPr/>
                <p:nvPr/>
              </p:nvGrpSpPr>
              <p:grpSpPr bwMode="auto">
                <a:xfrm>
                  <a:off x="834" y="1536"/>
                  <a:ext cx="278" cy="384"/>
                  <a:chOff x="834" y="1536"/>
                  <a:chExt cx="278" cy="384"/>
                </a:xfrm>
              </p:grpSpPr>
              <p:sp>
                <p:nvSpPr>
                  <p:cNvPr id="60490" name="Rectangle 199"/>
                  <p:cNvSpPr>
                    <a:spLocks noChangeArrowheads="1"/>
                  </p:cNvSpPr>
                  <p:nvPr/>
                </p:nvSpPr>
                <p:spPr bwMode="auto">
                  <a:xfrm>
                    <a:off x="877" y="1536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91" name="Rectangle 200"/>
                  <p:cNvSpPr>
                    <a:spLocks noChangeArrowheads="1"/>
                  </p:cNvSpPr>
                  <p:nvPr/>
                </p:nvSpPr>
                <p:spPr bwMode="auto">
                  <a:xfrm>
                    <a:off x="834" y="1536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66" name="Group 201"/>
                <p:cNvGrpSpPr/>
                <p:nvPr/>
              </p:nvGrpSpPr>
              <p:grpSpPr bwMode="auto">
                <a:xfrm>
                  <a:off x="1112" y="1536"/>
                  <a:ext cx="278" cy="384"/>
                  <a:chOff x="1112" y="1536"/>
                  <a:chExt cx="278" cy="384"/>
                </a:xfrm>
              </p:grpSpPr>
              <p:sp>
                <p:nvSpPr>
                  <p:cNvPr id="60488" name="Rectangle 202"/>
                  <p:cNvSpPr>
                    <a:spLocks noChangeArrowheads="1"/>
                  </p:cNvSpPr>
                  <p:nvPr/>
                </p:nvSpPr>
                <p:spPr bwMode="auto">
                  <a:xfrm>
                    <a:off x="1155" y="1536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89" name="Rectangle 203"/>
                  <p:cNvSpPr>
                    <a:spLocks noChangeArrowheads="1"/>
                  </p:cNvSpPr>
                  <p:nvPr/>
                </p:nvSpPr>
                <p:spPr bwMode="auto">
                  <a:xfrm>
                    <a:off x="1112" y="1536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67" name="Group 204"/>
                <p:cNvGrpSpPr/>
                <p:nvPr/>
              </p:nvGrpSpPr>
              <p:grpSpPr bwMode="auto">
                <a:xfrm>
                  <a:off x="1390" y="1536"/>
                  <a:ext cx="278" cy="384"/>
                  <a:chOff x="1390" y="1536"/>
                  <a:chExt cx="278" cy="384"/>
                </a:xfrm>
              </p:grpSpPr>
              <p:sp>
                <p:nvSpPr>
                  <p:cNvPr id="60486" name="Rectangle 205"/>
                  <p:cNvSpPr>
                    <a:spLocks noChangeArrowheads="1"/>
                  </p:cNvSpPr>
                  <p:nvPr/>
                </p:nvSpPr>
                <p:spPr bwMode="auto">
                  <a:xfrm>
                    <a:off x="1433" y="1536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4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87" name="Rectangle 206"/>
                  <p:cNvSpPr>
                    <a:spLocks noChangeArrowheads="1"/>
                  </p:cNvSpPr>
                  <p:nvPr/>
                </p:nvSpPr>
                <p:spPr bwMode="auto">
                  <a:xfrm>
                    <a:off x="1390" y="1536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68" name="Group 207"/>
                <p:cNvGrpSpPr/>
                <p:nvPr/>
              </p:nvGrpSpPr>
              <p:grpSpPr bwMode="auto">
                <a:xfrm>
                  <a:off x="0" y="1920"/>
                  <a:ext cx="278" cy="384"/>
                  <a:chOff x="0" y="1920"/>
                  <a:chExt cx="278" cy="384"/>
                </a:xfrm>
              </p:grpSpPr>
              <p:sp>
                <p:nvSpPr>
                  <p:cNvPr id="60484" name="Rectangle 208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1920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5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85" name="Rectangle 209"/>
                  <p:cNvSpPr>
                    <a:spLocks noChangeArrowheads="1"/>
                  </p:cNvSpPr>
                  <p:nvPr/>
                </p:nvSpPr>
                <p:spPr bwMode="auto">
                  <a:xfrm>
                    <a:off x="0" y="1920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69" name="Group 210"/>
                <p:cNvGrpSpPr/>
                <p:nvPr/>
              </p:nvGrpSpPr>
              <p:grpSpPr bwMode="auto">
                <a:xfrm>
                  <a:off x="278" y="1920"/>
                  <a:ext cx="278" cy="384"/>
                  <a:chOff x="278" y="1920"/>
                  <a:chExt cx="278" cy="384"/>
                </a:xfrm>
              </p:grpSpPr>
              <p:sp>
                <p:nvSpPr>
                  <p:cNvPr id="60482" name="Rectangle 211"/>
                  <p:cNvSpPr>
                    <a:spLocks noChangeArrowheads="1"/>
                  </p:cNvSpPr>
                  <p:nvPr/>
                </p:nvSpPr>
                <p:spPr bwMode="auto">
                  <a:xfrm>
                    <a:off x="321" y="1920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83" name="Rectangle 212"/>
                  <p:cNvSpPr>
                    <a:spLocks noChangeArrowheads="1"/>
                  </p:cNvSpPr>
                  <p:nvPr/>
                </p:nvSpPr>
                <p:spPr bwMode="auto">
                  <a:xfrm>
                    <a:off x="278" y="1920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70" name="Group 213"/>
                <p:cNvGrpSpPr/>
                <p:nvPr/>
              </p:nvGrpSpPr>
              <p:grpSpPr bwMode="auto">
                <a:xfrm>
                  <a:off x="556" y="1920"/>
                  <a:ext cx="278" cy="384"/>
                  <a:chOff x="556" y="1920"/>
                  <a:chExt cx="278" cy="384"/>
                </a:xfrm>
              </p:grpSpPr>
              <p:sp>
                <p:nvSpPr>
                  <p:cNvPr id="60480" name="Rectangle 214"/>
                  <p:cNvSpPr>
                    <a:spLocks noChangeArrowheads="1"/>
                  </p:cNvSpPr>
                  <p:nvPr/>
                </p:nvSpPr>
                <p:spPr bwMode="auto">
                  <a:xfrm>
                    <a:off x="599" y="1920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81" name="Rectangle 215"/>
                  <p:cNvSpPr>
                    <a:spLocks noChangeArrowheads="1"/>
                  </p:cNvSpPr>
                  <p:nvPr/>
                </p:nvSpPr>
                <p:spPr bwMode="auto">
                  <a:xfrm>
                    <a:off x="556" y="1920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71" name="Group 216"/>
                <p:cNvGrpSpPr/>
                <p:nvPr/>
              </p:nvGrpSpPr>
              <p:grpSpPr bwMode="auto">
                <a:xfrm>
                  <a:off x="834" y="1920"/>
                  <a:ext cx="278" cy="384"/>
                  <a:chOff x="834" y="1920"/>
                  <a:chExt cx="278" cy="384"/>
                </a:xfrm>
              </p:grpSpPr>
              <p:sp>
                <p:nvSpPr>
                  <p:cNvPr id="60478" name="Rectangle 217"/>
                  <p:cNvSpPr>
                    <a:spLocks noChangeArrowheads="1"/>
                  </p:cNvSpPr>
                  <p:nvPr/>
                </p:nvSpPr>
                <p:spPr bwMode="auto">
                  <a:xfrm>
                    <a:off x="877" y="1920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79" name="Rectangle 218"/>
                  <p:cNvSpPr>
                    <a:spLocks noChangeArrowheads="1"/>
                  </p:cNvSpPr>
                  <p:nvPr/>
                </p:nvSpPr>
                <p:spPr bwMode="auto">
                  <a:xfrm>
                    <a:off x="834" y="1920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72" name="Group 219"/>
                <p:cNvGrpSpPr/>
                <p:nvPr/>
              </p:nvGrpSpPr>
              <p:grpSpPr bwMode="auto">
                <a:xfrm>
                  <a:off x="1112" y="1920"/>
                  <a:ext cx="278" cy="384"/>
                  <a:chOff x="1112" y="1920"/>
                  <a:chExt cx="278" cy="384"/>
                </a:xfrm>
              </p:grpSpPr>
              <p:sp>
                <p:nvSpPr>
                  <p:cNvPr id="60476" name="Rectangle 220"/>
                  <p:cNvSpPr>
                    <a:spLocks noChangeArrowheads="1"/>
                  </p:cNvSpPr>
                  <p:nvPr/>
                </p:nvSpPr>
                <p:spPr bwMode="auto">
                  <a:xfrm>
                    <a:off x="1155" y="1920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77" name="Rectangle 221"/>
                  <p:cNvSpPr>
                    <a:spLocks noChangeArrowheads="1"/>
                  </p:cNvSpPr>
                  <p:nvPr/>
                </p:nvSpPr>
                <p:spPr bwMode="auto">
                  <a:xfrm>
                    <a:off x="1112" y="1920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73" name="Group 222"/>
                <p:cNvGrpSpPr/>
                <p:nvPr/>
              </p:nvGrpSpPr>
              <p:grpSpPr bwMode="auto">
                <a:xfrm>
                  <a:off x="1390" y="1920"/>
                  <a:ext cx="278" cy="384"/>
                  <a:chOff x="1390" y="1920"/>
                  <a:chExt cx="278" cy="384"/>
                </a:xfrm>
              </p:grpSpPr>
              <p:sp>
                <p:nvSpPr>
                  <p:cNvPr id="60474" name="Rectangle 223"/>
                  <p:cNvSpPr>
                    <a:spLocks noChangeArrowheads="1"/>
                  </p:cNvSpPr>
                  <p:nvPr/>
                </p:nvSpPr>
                <p:spPr bwMode="auto">
                  <a:xfrm>
                    <a:off x="1433" y="1920"/>
                    <a:ext cx="19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rIns="0"/>
                  <a:lstStyle/>
                  <a:p>
                    <a:pPr algn="just"/>
                    <a:r>
                      <a:rPr kumimoji="1" lang="en-US" altLang="zh-CN" sz="2000">
                        <a:latin typeface="Times New Roman" panose="02020603050405020304" pitchFamily="18" charset="0"/>
                      </a:rPr>
                      <a:t> </a:t>
                    </a:r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kumimoji="1" lang="en-US" altLang="zh-CN" sz="20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75" name="Rectangle 224"/>
                  <p:cNvSpPr>
                    <a:spLocks noChangeArrowheads="1"/>
                  </p:cNvSpPr>
                  <p:nvPr/>
                </p:nvSpPr>
                <p:spPr bwMode="auto">
                  <a:xfrm>
                    <a:off x="1390" y="1920"/>
                    <a:ext cx="27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8000" rIns="0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60437" name="Rectangle 225"/>
              <p:cNvSpPr>
                <a:spLocks noChangeArrowheads="1"/>
              </p:cNvSpPr>
              <p:nvPr/>
            </p:nvSpPr>
            <p:spPr bwMode="auto">
              <a:xfrm>
                <a:off x="-2" y="-2"/>
                <a:ext cx="1672" cy="2308"/>
              </a:xfrm>
              <a:prstGeom prst="rect">
                <a:avLst/>
              </a:prstGeom>
              <a:noFill/>
              <a:ln w="6350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rIns="0"/>
              <a:lstStyle/>
              <a:p>
                <a:endParaRPr lang="zh-CN" altLang="en-US"/>
              </a:p>
            </p:txBody>
          </p:sp>
        </p:grpSp>
        <p:sp>
          <p:nvSpPr>
            <p:cNvPr id="60423" name="Text Box 226"/>
            <p:cNvSpPr txBox="1">
              <a:spLocks noChangeArrowheads="1"/>
            </p:cNvSpPr>
            <p:nvPr/>
          </p:nvSpPr>
          <p:spPr bwMode="auto">
            <a:xfrm>
              <a:off x="1194" y="2491"/>
              <a:ext cx="3485" cy="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marL="457200" indent="-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buFontTx/>
                <a:buAutoNum type="alphaLcParenBoth"/>
              </a:pPr>
              <a:r>
                <a:rPr lang="zh-CN" altLang="en-US" sz="2000" b="1">
                  <a:latin typeface="Times New Roman" panose="02020603050405020304" pitchFamily="18" charset="0"/>
                </a:rPr>
                <a:t>二维表</a:t>
              </a:r>
              <a:r>
                <a:rPr lang="en-US" altLang="zh-CN" sz="2000" b="1">
                  <a:latin typeface="Times New Roman" panose="02020603050405020304" pitchFamily="18" charset="0"/>
                </a:rPr>
                <a:t>C                                      (b) </a:t>
              </a:r>
              <a:r>
                <a:rPr lang="zh-CN" altLang="en-US" sz="2000" b="1">
                  <a:latin typeface="Times New Roman" panose="02020603050405020304" pitchFamily="18" charset="0"/>
                </a:rPr>
                <a:t>二维表</a:t>
              </a:r>
              <a:r>
                <a:rPr lang="en-US" altLang="zh-CN" sz="2000" b="1">
                  <a:latin typeface="Times New Roman" panose="02020603050405020304" pitchFamily="18" charset="0"/>
                </a:rPr>
                <a:t>R</a:t>
              </a:r>
              <a:endParaRPr lang="en-US" altLang="zh-CN" sz="2000" b="1">
                <a:latin typeface="Times New Roman" panose="02020603050405020304" pitchFamily="18" charset="0"/>
              </a:endParaRPr>
            </a:p>
            <a:p>
              <a:pPr algn="just"/>
              <a:endParaRPr lang="en-US" altLang="zh-CN" sz="2000" b="1">
                <a:latin typeface="Times New Roman" panose="02020603050405020304" pitchFamily="18" charset="0"/>
              </a:endParaRPr>
            </a:p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                                 </a:t>
              </a:r>
              <a:r>
                <a:rPr lang="zh-CN" altLang="en-US" sz="2000" b="1">
                  <a:latin typeface="Times New Roman" panose="02020603050405020304" pitchFamily="18" charset="0"/>
                </a:rPr>
                <a:t>最终表的状态</a:t>
              </a:r>
              <a:endParaRPr lang="zh-CN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60424" name="Line 227"/>
            <p:cNvSpPr>
              <a:spLocks noChangeShapeType="1"/>
            </p:cNvSpPr>
            <p:nvPr/>
          </p:nvSpPr>
          <p:spPr bwMode="auto">
            <a:xfrm>
              <a:off x="1459" y="1120"/>
              <a:ext cx="1019" cy="7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5" name="Line 228"/>
            <p:cNvSpPr>
              <a:spLocks noChangeShapeType="1"/>
            </p:cNvSpPr>
            <p:nvPr/>
          </p:nvSpPr>
          <p:spPr bwMode="auto">
            <a:xfrm>
              <a:off x="1810" y="1117"/>
              <a:ext cx="678" cy="4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6" name="Line 229"/>
            <p:cNvSpPr>
              <a:spLocks noChangeShapeType="1"/>
            </p:cNvSpPr>
            <p:nvPr/>
          </p:nvSpPr>
          <p:spPr bwMode="auto">
            <a:xfrm>
              <a:off x="2161" y="1122"/>
              <a:ext cx="337" cy="2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7" name="Text Box 230"/>
            <p:cNvSpPr txBox="1">
              <a:spLocks noChangeArrowheads="1"/>
            </p:cNvSpPr>
            <p:nvPr/>
          </p:nvSpPr>
          <p:spPr bwMode="auto">
            <a:xfrm>
              <a:off x="2528" y="1826"/>
              <a:ext cx="221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80000"/>
                </a:lnSpc>
              </a:pPr>
              <a:r>
                <a:rPr lang="en-US" altLang="zh-CN" sz="16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1600" b="1">
                  <a:latin typeface="Times New Roman" panose="02020603050405020304" pitchFamily="18" charset="0"/>
                </a:rPr>
                <a:t>=1</a:t>
              </a:r>
              <a:endParaRPr lang="en-US" altLang="zh-CN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60428" name="Text Box 231"/>
            <p:cNvSpPr txBox="1">
              <a:spLocks noChangeArrowheads="1"/>
            </p:cNvSpPr>
            <p:nvPr/>
          </p:nvSpPr>
          <p:spPr bwMode="auto">
            <a:xfrm>
              <a:off x="2526" y="1541"/>
              <a:ext cx="221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80000"/>
                </a:lnSpc>
              </a:pPr>
              <a:r>
                <a:rPr lang="en-US" altLang="zh-CN" sz="16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1600" b="1">
                  <a:latin typeface="Times New Roman" panose="02020603050405020304" pitchFamily="18" charset="0"/>
                </a:rPr>
                <a:t>=2</a:t>
              </a:r>
              <a:endParaRPr lang="en-US" altLang="zh-CN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60429" name="Text Box 232"/>
            <p:cNvSpPr txBox="1">
              <a:spLocks noChangeArrowheads="1"/>
            </p:cNvSpPr>
            <p:nvPr/>
          </p:nvSpPr>
          <p:spPr bwMode="auto">
            <a:xfrm>
              <a:off x="2526" y="1276"/>
              <a:ext cx="221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80000"/>
                </a:lnSpc>
              </a:pPr>
              <a:r>
                <a:rPr lang="en-US" altLang="zh-CN" sz="16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1600" b="1">
                  <a:latin typeface="Times New Roman" panose="02020603050405020304" pitchFamily="18" charset="0"/>
                </a:rPr>
                <a:t>=3</a:t>
              </a:r>
              <a:endParaRPr lang="en-US" altLang="zh-CN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60430" name="Line 233"/>
            <p:cNvSpPr>
              <a:spLocks noChangeShapeType="1"/>
            </p:cNvSpPr>
            <p:nvPr/>
          </p:nvSpPr>
          <p:spPr bwMode="auto">
            <a:xfrm>
              <a:off x="3984" y="1127"/>
              <a:ext cx="1019" cy="7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1" name="Line 234"/>
            <p:cNvSpPr>
              <a:spLocks noChangeShapeType="1"/>
            </p:cNvSpPr>
            <p:nvPr/>
          </p:nvSpPr>
          <p:spPr bwMode="auto">
            <a:xfrm>
              <a:off x="4335" y="1124"/>
              <a:ext cx="678" cy="4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2" name="Line 235"/>
            <p:cNvSpPr>
              <a:spLocks noChangeShapeType="1"/>
            </p:cNvSpPr>
            <p:nvPr/>
          </p:nvSpPr>
          <p:spPr bwMode="auto">
            <a:xfrm>
              <a:off x="4686" y="1130"/>
              <a:ext cx="337" cy="2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3" name="Text Box 236"/>
            <p:cNvSpPr txBox="1">
              <a:spLocks noChangeArrowheads="1"/>
            </p:cNvSpPr>
            <p:nvPr/>
          </p:nvSpPr>
          <p:spPr bwMode="auto">
            <a:xfrm>
              <a:off x="5053" y="1834"/>
              <a:ext cx="221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80000"/>
                </a:lnSpc>
              </a:pPr>
              <a:r>
                <a:rPr lang="en-US" altLang="zh-CN" sz="16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1600" b="1">
                  <a:latin typeface="Times New Roman" panose="02020603050405020304" pitchFamily="18" charset="0"/>
                </a:rPr>
                <a:t>=1</a:t>
              </a:r>
              <a:endParaRPr lang="en-US" altLang="zh-CN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60434" name="Text Box 237"/>
            <p:cNvSpPr txBox="1">
              <a:spLocks noChangeArrowheads="1"/>
            </p:cNvSpPr>
            <p:nvPr/>
          </p:nvSpPr>
          <p:spPr bwMode="auto">
            <a:xfrm>
              <a:off x="5052" y="1548"/>
              <a:ext cx="221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80000"/>
                </a:lnSpc>
              </a:pPr>
              <a:r>
                <a:rPr lang="en-US" altLang="zh-CN" sz="16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1600" b="1">
                  <a:latin typeface="Times New Roman" panose="02020603050405020304" pitchFamily="18" charset="0"/>
                </a:rPr>
                <a:t>=2</a:t>
              </a:r>
              <a:endParaRPr lang="en-US" altLang="zh-CN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60435" name="Text Box 238"/>
            <p:cNvSpPr txBox="1">
              <a:spLocks noChangeArrowheads="1"/>
            </p:cNvSpPr>
            <p:nvPr/>
          </p:nvSpPr>
          <p:spPr bwMode="auto">
            <a:xfrm>
              <a:off x="5052" y="1283"/>
              <a:ext cx="221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80000"/>
                </a:lnSpc>
              </a:pPr>
              <a:r>
                <a:rPr lang="en-US" altLang="zh-CN" sz="16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1600" b="1">
                  <a:latin typeface="Times New Roman" panose="02020603050405020304" pitchFamily="18" charset="0"/>
                </a:rPr>
                <a:t>=3</a:t>
              </a:r>
              <a:endParaRPr lang="en-US" altLang="zh-CN" sz="16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162031" name="Rectangle 239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最优二叉查找树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677863" y="950913"/>
            <a:ext cx="78549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设</a:t>
            </a:r>
            <a:r>
              <a:rPr kumimoji="1" lang="en-US" altLang="zh-CN" sz="2400" b="1">
                <a:latin typeface="Times New Roman" panose="02020603050405020304" pitchFamily="18" charset="0"/>
              </a:rPr>
              <a:t>n</a:t>
            </a:r>
            <a:r>
              <a:rPr kumimoji="1" lang="zh-CN" altLang="en-US" sz="2400" b="1">
                <a:latin typeface="Times New Roman" panose="02020603050405020304" pitchFamily="18" charset="0"/>
              </a:rPr>
              <a:t>个字符的查找概率存储在数组</a:t>
            </a:r>
            <a:r>
              <a:rPr kumimoji="1" lang="en-US" altLang="zh-CN" sz="2400" b="1">
                <a:latin typeface="Times New Roman" panose="02020603050405020304" pitchFamily="18" charset="0"/>
              </a:rPr>
              <a:t>p[n]</a:t>
            </a:r>
            <a:r>
              <a:rPr kumimoji="1" lang="zh-CN" altLang="en-US" sz="2400" b="1">
                <a:latin typeface="Times New Roman" panose="02020603050405020304" pitchFamily="18" charset="0"/>
              </a:rPr>
              <a:t>中，动态规划法求解最优二叉查找树的算法如下：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684213" y="2133600"/>
            <a:ext cx="7848600" cy="3527425"/>
          </a:xfrm>
          <a:prstGeom prst="rect">
            <a:avLst/>
          </a:prstGeom>
          <a:noFill/>
          <a:ln w="9525">
            <a:solidFill>
              <a:srgbClr val="000000"/>
            </a:solidFill>
            <a:prstDash val="lgDash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6000"/>
              </a:lnSpc>
              <a:spcAft>
                <a:spcPts val="775"/>
              </a:spcAft>
            </a:pPr>
            <a:r>
              <a:rPr lang="en-US" altLang="zh-CN" sz="2000" b="1">
                <a:latin typeface="Times New Roman" panose="02020603050405020304" pitchFamily="18" charset="0"/>
              </a:rPr>
              <a:t>// </a:t>
            </a:r>
            <a:r>
              <a:rPr lang="zh-CN" altLang="en-US" sz="2000" b="1">
                <a:latin typeface="Times New Roman" panose="02020603050405020304" pitchFamily="18" charset="0"/>
              </a:rPr>
              <a:t>最优二叉查找树算法</a:t>
            </a:r>
            <a:endParaRPr lang="zh-CN" altLang="en-US" sz="2000" b="1">
              <a:latin typeface="Times New Roman" panose="02020603050405020304" pitchFamily="18" charset="0"/>
            </a:endParaRPr>
          </a:p>
          <a:p>
            <a:pPr>
              <a:lnSpc>
                <a:spcPct val="96000"/>
              </a:lnSpc>
              <a:spcAft>
                <a:spcPts val="775"/>
              </a:spcAft>
            </a:pPr>
            <a:r>
              <a:rPr lang="en-US" altLang="zh-CN" sz="2000" b="1">
                <a:latin typeface="Times New Roman" panose="02020603050405020304" pitchFamily="18" charset="0"/>
              </a:rPr>
              <a:t>double OptimalBST(int n, double p[ ], double C[ ][ ], int R[ ][ ] )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algn="just">
              <a:lnSpc>
                <a:spcPct val="104000"/>
              </a:lnSpc>
            </a:pPr>
            <a:r>
              <a:rPr lang="en-US" altLang="zh-CN" sz="2000" b="1">
                <a:latin typeface="Times New Roman" panose="02020603050405020304" pitchFamily="18" charset="0"/>
              </a:rPr>
              <a:t>{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algn="just">
              <a:lnSpc>
                <a:spcPct val="104000"/>
              </a:lnSpc>
            </a:pPr>
            <a:r>
              <a:rPr lang="en-US" altLang="zh-CN" sz="2000" b="1">
                <a:latin typeface="Times New Roman" panose="02020603050405020304" pitchFamily="18" charset="0"/>
              </a:rPr>
              <a:t>       for (i=1; i&lt;=n; i++)  //</a:t>
            </a:r>
            <a:r>
              <a:rPr lang="zh-CN" altLang="en-US" sz="2000" b="1">
                <a:latin typeface="Times New Roman" panose="02020603050405020304" pitchFamily="18" charset="0"/>
              </a:rPr>
              <a:t>初始化</a:t>
            </a:r>
            <a:endParaRPr lang="zh-CN" altLang="en-US" sz="2000" b="1">
              <a:latin typeface="Times New Roman" panose="02020603050405020304" pitchFamily="18" charset="0"/>
            </a:endParaRPr>
          </a:p>
          <a:p>
            <a:pPr algn="just">
              <a:lnSpc>
                <a:spcPct val="104000"/>
              </a:lnSpc>
            </a:pPr>
            <a:r>
              <a:rPr lang="zh-CN" altLang="en-US" sz="2000" b="1">
                <a:latin typeface="Times New Roman" panose="02020603050405020304" pitchFamily="18" charset="0"/>
              </a:rPr>
              <a:t>       </a:t>
            </a:r>
            <a:r>
              <a:rPr lang="en-US" altLang="zh-CN" sz="2000" b="1">
                <a:latin typeface="Times New Roman" panose="02020603050405020304" pitchFamily="18" charset="0"/>
              </a:rPr>
              <a:t>{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algn="just">
              <a:lnSpc>
                <a:spcPct val="104000"/>
              </a:lnSpc>
            </a:pPr>
            <a:r>
              <a:rPr lang="en-US" altLang="zh-CN" sz="2000" b="1">
                <a:latin typeface="Times New Roman" panose="02020603050405020304" pitchFamily="18" charset="0"/>
              </a:rPr>
              <a:t>          C[i][i-1]=0;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algn="just">
              <a:lnSpc>
                <a:spcPct val="104000"/>
              </a:lnSpc>
            </a:pPr>
            <a:r>
              <a:rPr lang="en-US" altLang="zh-CN" sz="2000" b="1">
                <a:latin typeface="Times New Roman" panose="02020603050405020304" pitchFamily="18" charset="0"/>
              </a:rPr>
              <a:t>          C[i][i]=p[i];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</a:rPr>
              <a:t>          R[i][i]=i;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</a:rPr>
              <a:t>       }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000" b="1">
                <a:latin typeface="Times New Roman" panose="02020603050405020304" pitchFamily="18" charset="0"/>
              </a:rPr>
              <a:t>       C[n+1][n]=0;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62820" name="Rectangle 4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最优二叉查找树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/>
          <p:cNvSpPr txBox="1">
            <a:spLocks noChangeArrowheads="1"/>
          </p:cNvSpPr>
          <p:nvPr/>
        </p:nvSpPr>
        <p:spPr bwMode="auto">
          <a:xfrm>
            <a:off x="611188" y="908050"/>
            <a:ext cx="7777162" cy="5256213"/>
          </a:xfrm>
          <a:prstGeom prst="rect">
            <a:avLst/>
          </a:prstGeom>
          <a:noFill/>
          <a:ln w="9525">
            <a:solidFill>
              <a:srgbClr val="000000"/>
            </a:solidFill>
            <a:prstDash val="lgDash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       for (d=1; d&lt;n; d++)     //</a:t>
            </a:r>
            <a:r>
              <a:rPr lang="zh-CN" altLang="en-US" sz="2000" b="1">
                <a:latin typeface="Times New Roman" panose="02020603050405020304" pitchFamily="18" charset="0"/>
              </a:rPr>
              <a:t>按对角线逐条计算</a:t>
            </a:r>
            <a:endParaRPr lang="zh-CN" altLang="en-US" sz="2000" b="1">
              <a:latin typeface="Times New Roman" panose="02020603050405020304" pitchFamily="18" charset="0"/>
            </a:endParaRPr>
          </a:p>
          <a:p>
            <a:pPr algn="just"/>
            <a:r>
              <a:rPr lang="zh-CN" altLang="en-US" sz="2000" b="1">
                <a:latin typeface="Times New Roman" panose="02020603050405020304" pitchFamily="18" charset="0"/>
              </a:rPr>
              <a:t>	</a:t>
            </a:r>
            <a:r>
              <a:rPr lang="en-US" altLang="zh-CN" sz="2000" b="1">
                <a:latin typeface="Times New Roman" panose="02020603050405020304" pitchFamily="18" charset="0"/>
              </a:rPr>
              <a:t>for (i=1; i&lt;=n-d; i++)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	{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		j=i+d; min=∞; mink=i; sum=0;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		 for (k=i; k&lt;=j; k++)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		{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			sum=sum+p[k];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			if (C[i][k-1]+C[k+1][j]&lt;min) {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				min=C[i][k-1]+C[k+1][j];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				mink=k;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			}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		}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		C[i][j]=min+sum;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		R[i][j]=mink;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	}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	return C[1][n];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}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63843" name="Rectangle 3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最优二叉查找树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205038"/>
            <a:ext cx="7543800" cy="1295400"/>
          </a:xfrm>
        </p:spPr>
        <p:txBody>
          <a:bodyPr/>
          <a:lstStyle/>
          <a:p>
            <a:r>
              <a:rPr lang="en-US" altLang="zh-CN" sz="590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0-1</a:t>
            </a:r>
            <a:r>
              <a:rPr lang="zh-CN" altLang="en-US" sz="590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背包问题</a:t>
            </a:r>
            <a:endParaRPr lang="zh-CN" altLang="en-US" sz="5900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0-1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背包问题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pic>
        <p:nvPicPr>
          <p:cNvPr id="16589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2" t="23354" r="8002" b="14134"/>
          <a:stretch>
            <a:fillRect/>
          </a:stretch>
        </p:blipFill>
        <p:spPr bwMode="auto">
          <a:xfrm>
            <a:off x="827088" y="1341438"/>
            <a:ext cx="7488237" cy="431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0-1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背包问题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pic>
        <p:nvPicPr>
          <p:cNvPr id="16691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2" t="20277" r="7062" b="15363"/>
          <a:stretch>
            <a:fillRect/>
          </a:stretch>
        </p:blipFill>
        <p:spPr bwMode="auto">
          <a:xfrm>
            <a:off x="639763" y="1217613"/>
            <a:ext cx="7748587" cy="458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0-1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背包问题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67939" name="Text Box 3"/>
          <p:cNvSpPr txBox="1">
            <a:spLocks noChangeArrowheads="1"/>
          </p:cNvSpPr>
          <p:nvPr/>
        </p:nvSpPr>
        <p:spPr bwMode="auto">
          <a:xfrm>
            <a:off x="755650" y="1196975"/>
            <a:ext cx="7632700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/>
              <a:t>int Knapsack(int n, int T) {</a:t>
            </a:r>
            <a:endParaRPr lang="en-US" altLang="zh-CN" sz="2400" b="1"/>
          </a:p>
          <a:p>
            <a:r>
              <a:rPr lang="en-US" altLang="zh-CN" sz="2400" b="1"/>
              <a:t>	if (T==0) return 1;</a:t>
            </a:r>
            <a:endParaRPr lang="en-US" altLang="zh-CN" sz="2400" b="1"/>
          </a:p>
          <a:p>
            <a:r>
              <a:rPr lang="en-US" altLang="zh-CN" sz="2400" b="1"/>
              <a:t>	else {</a:t>
            </a:r>
            <a:endParaRPr lang="en-US" altLang="zh-CN" sz="2400" b="1"/>
          </a:p>
          <a:p>
            <a:r>
              <a:rPr lang="en-US" altLang="zh-CN" sz="2400" b="1"/>
              <a:t>		if (T&lt;0 || n&lt;1) return 0;</a:t>
            </a:r>
            <a:endParaRPr lang="en-US" altLang="zh-CN" sz="2400" b="1"/>
          </a:p>
          <a:p>
            <a:r>
              <a:rPr lang="en-US" altLang="zh-CN" sz="2400" b="1"/>
              <a:t>		else {</a:t>
            </a:r>
            <a:endParaRPr lang="en-US" altLang="zh-CN" sz="2400" b="1"/>
          </a:p>
          <a:p>
            <a:r>
              <a:rPr lang="en-US" altLang="zh-CN" sz="2400" b="1"/>
              <a:t>			if (Knapsack(n-1,T-W[n-1])==1) {</a:t>
            </a:r>
            <a:endParaRPr lang="en-US" altLang="zh-CN" sz="2400" b="1"/>
          </a:p>
          <a:p>
            <a:r>
              <a:rPr lang="en-US" altLang="zh-CN" sz="2400" b="1"/>
              <a:t>				printf(n,W[n-1]);</a:t>
            </a:r>
            <a:endParaRPr lang="en-US" altLang="zh-CN" sz="2400" b="1"/>
          </a:p>
          <a:p>
            <a:r>
              <a:rPr lang="en-US" altLang="zh-CN" sz="2400" b="1"/>
              <a:t>				return 1;</a:t>
            </a:r>
            <a:endParaRPr lang="en-US" altLang="zh-CN" sz="2400" b="1"/>
          </a:p>
          <a:p>
            <a:r>
              <a:rPr lang="en-US" altLang="zh-CN" sz="2400" b="1"/>
              <a:t>			}</a:t>
            </a:r>
            <a:endParaRPr lang="en-US" altLang="zh-CN" sz="2400" b="1"/>
          </a:p>
          <a:p>
            <a:r>
              <a:rPr lang="en-US" altLang="zh-CN" sz="2400" b="1"/>
              <a:t>			else return Knapsack(n-1,T);</a:t>
            </a:r>
            <a:endParaRPr lang="en-US" altLang="zh-CN" sz="2400" b="1"/>
          </a:p>
          <a:p>
            <a:r>
              <a:rPr lang="en-US" altLang="zh-CN" sz="2400" b="1"/>
              <a:t>		}</a:t>
            </a:r>
            <a:endParaRPr lang="en-US" altLang="zh-CN" sz="2400" b="1"/>
          </a:p>
          <a:p>
            <a:r>
              <a:rPr lang="en-US" altLang="zh-CN" sz="2400" b="1"/>
              <a:t>	}</a:t>
            </a:r>
            <a:endParaRPr lang="en-US" altLang="zh-CN" sz="2400" b="1"/>
          </a:p>
          <a:p>
            <a:r>
              <a:rPr lang="en-US" altLang="zh-CN" sz="2400" b="1"/>
              <a:t>} </a:t>
            </a:r>
            <a:r>
              <a:rPr lang="en-US" altLang="zh-CN" sz="2400" b="1">
                <a:solidFill>
                  <a:srgbClr val="008000"/>
                </a:solidFill>
              </a:rPr>
              <a:t>//Knapsack</a:t>
            </a:r>
            <a:r>
              <a:rPr lang="zh-CN" altLang="en-US" sz="2400" b="1">
                <a:solidFill>
                  <a:srgbClr val="008000"/>
                </a:solidFill>
              </a:rPr>
              <a:t>递归算法</a:t>
            </a:r>
            <a:endParaRPr lang="zh-CN" altLang="en-US" sz="2400" b="1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0-1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背包问题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pic>
        <p:nvPicPr>
          <p:cNvPr id="16896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0" t="14764" r="17126" b="10826"/>
          <a:stretch>
            <a:fillRect/>
          </a:stretch>
        </p:blipFill>
        <p:spPr bwMode="auto">
          <a:xfrm>
            <a:off x="755650" y="981075"/>
            <a:ext cx="7704138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0-1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背包问题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69987" name="Rectangle 3"/>
          <p:cNvSpPr>
            <a:spLocks noChangeArrowheads="1"/>
          </p:cNvSpPr>
          <p:nvPr/>
        </p:nvSpPr>
        <p:spPr bwMode="auto">
          <a:xfrm>
            <a:off x="0" y="3109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6998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0" t="14764" r="16240" b="12303"/>
          <a:stretch>
            <a:fillRect/>
          </a:stretch>
        </p:blipFill>
        <p:spPr bwMode="auto">
          <a:xfrm>
            <a:off x="684213" y="908050"/>
            <a:ext cx="7735887" cy="504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0-1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背包问题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71011" name="Rectangle 3"/>
          <p:cNvSpPr>
            <a:spLocks noChangeArrowheads="1"/>
          </p:cNvSpPr>
          <p:nvPr/>
        </p:nvSpPr>
        <p:spPr bwMode="auto">
          <a:xfrm>
            <a:off x="0" y="3109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7101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0" t="14764" r="17126" b="17224"/>
          <a:stretch>
            <a:fillRect/>
          </a:stretch>
        </p:blipFill>
        <p:spPr bwMode="auto">
          <a:xfrm>
            <a:off x="611188" y="1144588"/>
            <a:ext cx="7848600" cy="480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0-1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背包问题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72035" name="Rectangle 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36" name="Rectangle 4"/>
          <p:cNvSpPr>
            <a:spLocks noChangeArrowheads="1"/>
          </p:cNvSpPr>
          <p:nvPr/>
        </p:nvSpPr>
        <p:spPr bwMode="auto">
          <a:xfrm>
            <a:off x="0" y="3109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37" name="Rectangle 5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38" name="Rectangle 6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72039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0" t="14764" r="17126" b="14764"/>
          <a:stretch>
            <a:fillRect/>
          </a:stretch>
        </p:blipFill>
        <p:spPr bwMode="auto">
          <a:xfrm>
            <a:off x="900113" y="1196975"/>
            <a:ext cx="7632700" cy="483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0-1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背包问题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73059" name="Rectangle 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3060" name="Rectangle 4"/>
          <p:cNvSpPr>
            <a:spLocks noChangeArrowheads="1"/>
          </p:cNvSpPr>
          <p:nvPr/>
        </p:nvSpPr>
        <p:spPr bwMode="auto">
          <a:xfrm>
            <a:off x="0" y="3109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3061" name="Text Box 5"/>
          <p:cNvSpPr txBox="1">
            <a:spLocks noChangeArrowheads="1"/>
          </p:cNvSpPr>
          <p:nvPr/>
        </p:nvSpPr>
        <p:spPr bwMode="auto">
          <a:xfrm>
            <a:off x="828675" y="836613"/>
            <a:ext cx="7704138" cy="5313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b="1">
                <a:solidFill>
                  <a:srgbClr val="800000"/>
                </a:solidFill>
                <a:ea typeface="新宋体" panose="02010609030101010101" charset="-122"/>
              </a:rPr>
              <a:t>3. </a:t>
            </a:r>
            <a:r>
              <a:rPr lang="zh-CN" altLang="en-US" sz="2400" b="1">
                <a:solidFill>
                  <a:srgbClr val="800000"/>
                </a:solidFill>
                <a:ea typeface="新宋体" panose="02010609030101010101" charset="-122"/>
              </a:rPr>
              <a:t>算法描述：</a:t>
            </a:r>
            <a:endParaRPr lang="zh-CN" altLang="en-US" sz="2400" b="1">
              <a:solidFill>
                <a:srgbClr val="800000"/>
              </a:solidFill>
              <a:ea typeface="新宋体" panose="02010609030101010101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400" b="1"/>
              <a:t>void Knapsack(Type v, int w, int c, int n, Type **m) {</a:t>
            </a:r>
            <a:endParaRPr lang="en-US" altLang="zh-CN" sz="2400" b="1"/>
          </a:p>
          <a:p>
            <a:pPr>
              <a:lnSpc>
                <a:spcPct val="110000"/>
              </a:lnSpc>
            </a:pPr>
            <a:r>
              <a:rPr lang="en-US" altLang="zh-CN" sz="2400" b="1"/>
              <a:t>	int jMax=min(w[n]-1,c);</a:t>
            </a:r>
            <a:endParaRPr lang="en-US" altLang="zh-CN" sz="2400" b="1"/>
          </a:p>
          <a:p>
            <a:pPr>
              <a:lnSpc>
                <a:spcPct val="110000"/>
              </a:lnSpc>
            </a:pPr>
            <a:r>
              <a:rPr lang="en-US" altLang="zh-CN" sz="2400" b="1"/>
              <a:t>	for(j=w[n]; j&lt;=c; j++) m[n][j]=v[n];</a:t>
            </a:r>
            <a:endParaRPr lang="en-US" altLang="zh-CN" sz="2400" b="1"/>
          </a:p>
          <a:p>
            <a:pPr>
              <a:lnSpc>
                <a:spcPct val="110000"/>
              </a:lnSpc>
            </a:pPr>
            <a:r>
              <a:rPr lang="en-US" altLang="zh-CN" sz="2400" b="1"/>
              <a:t>	for(int i=n-1; i&gt;1; i--) {</a:t>
            </a:r>
            <a:endParaRPr lang="en-US" altLang="zh-CN" sz="2400" b="1"/>
          </a:p>
          <a:p>
            <a:pPr>
              <a:lnSpc>
                <a:spcPct val="110000"/>
              </a:lnSpc>
            </a:pPr>
            <a:r>
              <a:rPr lang="en-US" altLang="zh-CN" sz="2400" b="1"/>
              <a:t>		jMax=min(w[i]-1,c);</a:t>
            </a:r>
            <a:endParaRPr lang="en-US" altLang="zh-CN" sz="2400" b="1"/>
          </a:p>
          <a:p>
            <a:pPr>
              <a:lnSpc>
                <a:spcPct val="110000"/>
              </a:lnSpc>
            </a:pPr>
            <a:r>
              <a:rPr lang="en-US" altLang="zh-CN" sz="2400" b="1"/>
              <a:t>		for(j=0; j&lt;=jMax; j++) m[i][j]=m[i+1][j];</a:t>
            </a:r>
            <a:endParaRPr lang="en-US" altLang="zh-CN" sz="2400" b="1"/>
          </a:p>
          <a:p>
            <a:pPr>
              <a:lnSpc>
                <a:spcPct val="110000"/>
              </a:lnSpc>
            </a:pPr>
            <a:r>
              <a:rPr lang="en-US" altLang="zh-CN" sz="2400" b="1"/>
              <a:t>		for(j=w[i]; j&lt;=c; j++)</a:t>
            </a:r>
            <a:endParaRPr lang="en-US" altLang="zh-CN" sz="2400" b="1"/>
          </a:p>
          <a:p>
            <a:pPr>
              <a:lnSpc>
                <a:spcPct val="110000"/>
              </a:lnSpc>
            </a:pPr>
            <a:r>
              <a:rPr lang="en-US" altLang="zh-CN" sz="2400" b="1"/>
              <a:t>		     </a:t>
            </a:r>
            <a:r>
              <a:rPr lang="en-US" altLang="zh-CN" sz="2200" b="1"/>
              <a:t>m[i][j]=max(m[i+1][j],m[i+1][j-w[i]]+v[i]);</a:t>
            </a:r>
            <a:endParaRPr lang="en-US" altLang="zh-CN" sz="2200" b="1"/>
          </a:p>
          <a:p>
            <a:pPr>
              <a:lnSpc>
                <a:spcPct val="110000"/>
              </a:lnSpc>
            </a:pPr>
            <a:r>
              <a:rPr lang="en-US" altLang="zh-CN" sz="2400" b="1"/>
              <a:t>	}</a:t>
            </a:r>
            <a:endParaRPr lang="en-US" altLang="zh-CN" sz="2400" b="1"/>
          </a:p>
          <a:p>
            <a:pPr>
              <a:lnSpc>
                <a:spcPct val="110000"/>
              </a:lnSpc>
            </a:pPr>
            <a:r>
              <a:rPr lang="en-US" altLang="zh-CN" sz="2400" b="1"/>
              <a:t>	m[1][c]=m[2][c];</a:t>
            </a:r>
            <a:endParaRPr lang="en-US" altLang="zh-CN" sz="2400" b="1"/>
          </a:p>
          <a:p>
            <a:pPr>
              <a:lnSpc>
                <a:spcPct val="110000"/>
              </a:lnSpc>
            </a:pPr>
            <a:r>
              <a:rPr lang="en-US" altLang="zh-CN" sz="2400" b="1"/>
              <a:t>	if(c&gt;=w[1]) </a:t>
            </a:r>
            <a:r>
              <a:rPr lang="en-US" altLang="zh-CN" sz="2000" b="1"/>
              <a:t>m[1][c]=max(m[1][c],m[2][c-w[1]]+v[1]);</a:t>
            </a:r>
            <a:endParaRPr lang="en-US" altLang="zh-CN" sz="2000" b="1"/>
          </a:p>
          <a:p>
            <a:pPr>
              <a:lnSpc>
                <a:spcPct val="110000"/>
              </a:lnSpc>
            </a:pPr>
            <a:r>
              <a:rPr lang="en-US" altLang="zh-CN" sz="2400" b="1"/>
              <a:t>} </a:t>
            </a:r>
            <a:r>
              <a:rPr lang="en-US" altLang="zh-CN" sz="2400" b="1">
                <a:solidFill>
                  <a:srgbClr val="008000"/>
                </a:solidFill>
              </a:rPr>
              <a:t>// </a:t>
            </a:r>
            <a:r>
              <a:rPr lang="zh-CN" altLang="en-US" sz="2400" b="1">
                <a:solidFill>
                  <a:srgbClr val="008000"/>
                </a:solidFill>
                <a:ea typeface="新宋体" panose="02010609030101010101" charset="-122"/>
              </a:rPr>
              <a:t>算法的时间复杂度为</a:t>
            </a:r>
            <a:r>
              <a:rPr lang="en-US" altLang="zh-CN" sz="2400" b="1">
                <a:solidFill>
                  <a:srgbClr val="008000"/>
                </a:solidFill>
                <a:ea typeface="新宋体" panose="02010609030101010101" charset="-122"/>
              </a:rPr>
              <a:t>O(nc)</a:t>
            </a:r>
            <a:endParaRPr lang="en-US" altLang="zh-CN" sz="2400" b="1">
              <a:solidFill>
                <a:srgbClr val="008000"/>
              </a:solidFill>
              <a:ea typeface="新宋体" panose="02010609030101010101" charset="-122"/>
            </a:endParaRPr>
          </a:p>
        </p:txBody>
      </p:sp>
      <p:sp>
        <p:nvSpPr>
          <p:cNvPr id="173062" name="Rectangle 6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zh-CN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0-1</a:t>
            </a:r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背包问题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74083" name="Rectangle 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084" name="Rectangle 4"/>
          <p:cNvSpPr>
            <a:spLocks noChangeArrowheads="1"/>
          </p:cNvSpPr>
          <p:nvPr/>
        </p:nvSpPr>
        <p:spPr bwMode="auto">
          <a:xfrm>
            <a:off x="0" y="3109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085" name="Text Box 5"/>
          <p:cNvSpPr txBox="1">
            <a:spLocks noChangeArrowheads="1"/>
          </p:cNvSpPr>
          <p:nvPr/>
        </p:nvSpPr>
        <p:spPr bwMode="auto">
          <a:xfrm>
            <a:off x="828675" y="836613"/>
            <a:ext cx="7704138" cy="512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1">
                <a:solidFill>
                  <a:srgbClr val="800000"/>
                </a:solidFill>
                <a:ea typeface="新宋体" panose="02010609030101010101" charset="-122"/>
              </a:rPr>
              <a:t>4. </a:t>
            </a:r>
            <a:r>
              <a:rPr lang="zh-CN" altLang="en-US" sz="2400" b="1">
                <a:solidFill>
                  <a:srgbClr val="800000"/>
                </a:solidFill>
                <a:ea typeface="新宋体" panose="02010609030101010101" charset="-122"/>
              </a:rPr>
              <a:t>构造最优解：</a:t>
            </a:r>
            <a:endParaRPr lang="zh-CN" altLang="en-US" sz="2400" b="1">
              <a:solidFill>
                <a:srgbClr val="800000"/>
              </a:solidFill>
              <a:ea typeface="新宋体" panose="02010609030101010101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400" b="1"/>
              <a:t>void Traceback(int c, int n, int x[ ]) {</a:t>
            </a:r>
            <a:endParaRPr lang="en-US" altLang="zh-CN" sz="2400" b="1"/>
          </a:p>
          <a:p>
            <a:pPr>
              <a:lnSpc>
                <a:spcPct val="125000"/>
              </a:lnSpc>
            </a:pPr>
            <a:r>
              <a:rPr lang="en-US" altLang="zh-CN" sz="2400" b="1"/>
              <a:t>	for (int i=1; i&lt;n; i++)</a:t>
            </a:r>
            <a:endParaRPr lang="en-US" altLang="zh-CN" sz="2400" b="1"/>
          </a:p>
          <a:p>
            <a:pPr>
              <a:lnSpc>
                <a:spcPct val="125000"/>
              </a:lnSpc>
            </a:pPr>
            <a:r>
              <a:rPr lang="en-US" altLang="zh-CN" sz="2400" b="1"/>
              <a:t>		if (m[i][c]==m[i+1][c]) x[i]=0;</a:t>
            </a:r>
            <a:endParaRPr lang="en-US" altLang="zh-CN" sz="2400" b="1"/>
          </a:p>
          <a:p>
            <a:pPr>
              <a:lnSpc>
                <a:spcPct val="125000"/>
              </a:lnSpc>
            </a:pPr>
            <a:r>
              <a:rPr lang="en-US" altLang="zh-CN" sz="2400" b="1"/>
              <a:t>		else</a:t>
            </a:r>
            <a:endParaRPr lang="en-US" altLang="zh-CN" sz="2400" b="1"/>
          </a:p>
          <a:p>
            <a:pPr>
              <a:lnSpc>
                <a:spcPct val="125000"/>
              </a:lnSpc>
            </a:pPr>
            <a:r>
              <a:rPr lang="en-US" altLang="zh-CN" sz="2400" b="1"/>
              <a:t>		{</a:t>
            </a:r>
            <a:endParaRPr lang="en-US" altLang="zh-CN" sz="2400" b="1"/>
          </a:p>
          <a:p>
            <a:pPr>
              <a:lnSpc>
                <a:spcPct val="125000"/>
              </a:lnSpc>
            </a:pPr>
            <a:r>
              <a:rPr lang="en-US" altLang="zh-CN" sz="2400" b="1"/>
              <a:t>			x[i]=1;</a:t>
            </a:r>
            <a:endParaRPr lang="en-US" altLang="zh-CN" sz="2400" b="1"/>
          </a:p>
          <a:p>
            <a:pPr>
              <a:lnSpc>
                <a:spcPct val="125000"/>
              </a:lnSpc>
            </a:pPr>
            <a:r>
              <a:rPr lang="en-US" altLang="zh-CN" sz="2400" b="1"/>
              <a:t>			c-=w[i];</a:t>
            </a:r>
            <a:endParaRPr lang="en-US" altLang="zh-CN" sz="2400" b="1"/>
          </a:p>
          <a:p>
            <a:pPr>
              <a:lnSpc>
                <a:spcPct val="125000"/>
              </a:lnSpc>
            </a:pPr>
            <a:r>
              <a:rPr lang="en-US" altLang="zh-CN" sz="2400" b="1"/>
              <a:t>		}</a:t>
            </a:r>
            <a:endParaRPr lang="en-US" altLang="zh-CN" sz="2400" b="1"/>
          </a:p>
          <a:p>
            <a:pPr>
              <a:lnSpc>
                <a:spcPct val="125000"/>
              </a:lnSpc>
            </a:pPr>
            <a:r>
              <a:rPr lang="en-US" altLang="zh-CN" sz="2400" b="1"/>
              <a:t>		x[n]=m[n][c]&gt;0 ? 1 : 0;</a:t>
            </a:r>
            <a:endParaRPr lang="en-US" altLang="zh-CN" sz="2400" b="1"/>
          </a:p>
          <a:p>
            <a:pPr>
              <a:lnSpc>
                <a:spcPct val="125000"/>
              </a:lnSpc>
            </a:pPr>
            <a:r>
              <a:rPr lang="en-US" altLang="zh-CN" sz="2400" b="1"/>
              <a:t>}</a:t>
            </a:r>
            <a:endParaRPr lang="en-US" altLang="zh-CN" sz="2400" b="1">
              <a:solidFill>
                <a:srgbClr val="008000"/>
              </a:solidFill>
              <a:ea typeface="新宋体" panose="02010609030101010101" charset="-122"/>
            </a:endParaRPr>
          </a:p>
        </p:txBody>
      </p:sp>
      <p:sp>
        <p:nvSpPr>
          <p:cNvPr id="174086" name="Rectangle 6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087" name="Rectangle 7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205038"/>
            <a:ext cx="7543800" cy="1295400"/>
          </a:xfrm>
        </p:spPr>
        <p:txBody>
          <a:bodyPr/>
          <a:lstStyle/>
          <a:p>
            <a:r>
              <a:rPr lang="zh-CN" altLang="en-US" sz="590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流水作业调度</a:t>
            </a:r>
            <a:endParaRPr lang="zh-CN" altLang="en-US" sz="5900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流水作业调度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77155" name="Text Box 3"/>
          <p:cNvSpPr txBox="1">
            <a:spLocks noChangeArrowheads="1"/>
          </p:cNvSpPr>
          <p:nvPr/>
        </p:nvSpPr>
        <p:spPr bwMode="auto">
          <a:xfrm>
            <a:off x="755650" y="908050"/>
            <a:ext cx="7488238" cy="487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800" b="1">
                <a:ea typeface="新宋体" panose="02010609030101010101" charset="-122"/>
              </a:rPr>
              <a:t>n</a:t>
            </a:r>
            <a:r>
              <a:rPr lang="zh-CN" altLang="en-US" sz="2800" b="1">
                <a:ea typeface="新宋体" panose="02010609030101010101" charset="-122"/>
              </a:rPr>
              <a:t>个作业</a:t>
            </a:r>
            <a:r>
              <a:rPr lang="en-US" altLang="zh-CN" sz="2800" b="1">
                <a:ea typeface="新宋体" panose="02010609030101010101" charset="-122"/>
              </a:rPr>
              <a:t>{1</a:t>
            </a:r>
            <a:r>
              <a:rPr lang="zh-CN" altLang="en-US" sz="2800" b="1">
                <a:ea typeface="新宋体" panose="02010609030101010101" charset="-122"/>
              </a:rPr>
              <a:t>，</a:t>
            </a:r>
            <a:r>
              <a:rPr lang="en-US" altLang="zh-CN" sz="2800" b="1">
                <a:ea typeface="新宋体" panose="02010609030101010101" charset="-122"/>
              </a:rPr>
              <a:t>2</a:t>
            </a:r>
            <a:r>
              <a:rPr lang="zh-CN" altLang="en-US" sz="2800" b="1">
                <a:ea typeface="新宋体" panose="02010609030101010101" charset="-122"/>
              </a:rPr>
              <a:t>，</a:t>
            </a:r>
            <a:r>
              <a:rPr lang="en-US" altLang="zh-CN" sz="2800" b="1">
                <a:ea typeface="新宋体" panose="02010609030101010101" charset="-122"/>
              </a:rPr>
              <a:t>…</a:t>
            </a:r>
            <a:r>
              <a:rPr lang="zh-CN" altLang="en-US" sz="2800" b="1">
                <a:ea typeface="新宋体" panose="02010609030101010101" charset="-122"/>
              </a:rPr>
              <a:t>，</a:t>
            </a:r>
            <a:r>
              <a:rPr lang="en-US" altLang="zh-CN" sz="2800" b="1">
                <a:ea typeface="新宋体" panose="02010609030101010101" charset="-122"/>
              </a:rPr>
              <a:t>n}</a:t>
            </a:r>
            <a:r>
              <a:rPr lang="zh-CN" altLang="en-US" sz="2800" b="1">
                <a:ea typeface="新宋体" panose="02010609030101010101" charset="-122"/>
              </a:rPr>
              <a:t>要在由</a:t>
            </a:r>
            <a:r>
              <a:rPr lang="en-US" altLang="zh-CN" sz="2800" b="1">
                <a:ea typeface="新宋体" panose="02010609030101010101" charset="-122"/>
              </a:rPr>
              <a:t>2</a:t>
            </a:r>
            <a:r>
              <a:rPr lang="zh-CN" altLang="en-US" sz="2800" b="1">
                <a:ea typeface="新宋体" panose="02010609030101010101" charset="-122"/>
              </a:rPr>
              <a:t>台机器</a:t>
            </a:r>
            <a:r>
              <a:rPr lang="en-US" altLang="zh-CN" sz="2800" b="1">
                <a:ea typeface="新宋体" panose="02010609030101010101" charset="-122"/>
              </a:rPr>
              <a:t>M1</a:t>
            </a:r>
            <a:r>
              <a:rPr lang="zh-CN" altLang="en-US" sz="2800" b="1">
                <a:ea typeface="新宋体" panose="02010609030101010101" charset="-122"/>
              </a:rPr>
              <a:t>和</a:t>
            </a:r>
            <a:r>
              <a:rPr lang="en-US" altLang="zh-CN" sz="2800" b="1">
                <a:ea typeface="新宋体" panose="02010609030101010101" charset="-122"/>
              </a:rPr>
              <a:t>M2</a:t>
            </a:r>
            <a:r>
              <a:rPr lang="zh-CN" altLang="en-US" sz="2800" b="1">
                <a:ea typeface="新宋体" panose="02010609030101010101" charset="-122"/>
              </a:rPr>
              <a:t>组成的流水线上完成加工。每个作业加工的顺序都是先在</a:t>
            </a:r>
            <a:r>
              <a:rPr lang="en-US" altLang="zh-CN" sz="2800" b="1">
                <a:ea typeface="新宋体" panose="02010609030101010101" charset="-122"/>
              </a:rPr>
              <a:t>M1</a:t>
            </a:r>
            <a:r>
              <a:rPr lang="zh-CN" altLang="en-US" sz="2800" b="1">
                <a:ea typeface="新宋体" panose="02010609030101010101" charset="-122"/>
              </a:rPr>
              <a:t>上加工，然后在</a:t>
            </a:r>
            <a:r>
              <a:rPr lang="en-US" altLang="zh-CN" sz="2800" b="1">
                <a:ea typeface="新宋体" panose="02010609030101010101" charset="-122"/>
              </a:rPr>
              <a:t>M2</a:t>
            </a:r>
            <a:r>
              <a:rPr lang="zh-CN" altLang="en-US" sz="2800" b="1">
                <a:ea typeface="新宋体" panose="02010609030101010101" charset="-122"/>
              </a:rPr>
              <a:t>上加工。</a:t>
            </a:r>
            <a:r>
              <a:rPr lang="en-US" altLang="zh-CN" sz="2800" b="1">
                <a:ea typeface="新宋体" panose="02010609030101010101" charset="-122"/>
              </a:rPr>
              <a:t>M1</a:t>
            </a:r>
            <a:r>
              <a:rPr lang="zh-CN" altLang="en-US" sz="2800" b="1">
                <a:ea typeface="新宋体" panose="02010609030101010101" charset="-122"/>
              </a:rPr>
              <a:t>和</a:t>
            </a:r>
            <a:r>
              <a:rPr lang="en-US" altLang="zh-CN" sz="2800" b="1">
                <a:ea typeface="新宋体" panose="02010609030101010101" charset="-122"/>
              </a:rPr>
              <a:t>M2</a:t>
            </a:r>
            <a:r>
              <a:rPr lang="zh-CN" altLang="en-US" sz="2800" b="1">
                <a:ea typeface="新宋体" panose="02010609030101010101" charset="-122"/>
              </a:rPr>
              <a:t>加工作业</a:t>
            </a:r>
            <a:r>
              <a:rPr lang="en-US" altLang="zh-CN" sz="2800" b="1">
                <a:ea typeface="新宋体" panose="02010609030101010101" charset="-122"/>
              </a:rPr>
              <a:t>i </a:t>
            </a:r>
            <a:r>
              <a:rPr lang="zh-CN" altLang="en-US" sz="2800" b="1">
                <a:ea typeface="新宋体" panose="02010609030101010101" charset="-122"/>
              </a:rPr>
              <a:t>所需的时间分别为</a:t>
            </a:r>
            <a:r>
              <a:rPr lang="en-US" altLang="zh-CN" sz="2800" b="1">
                <a:ea typeface="新宋体" panose="02010609030101010101" charset="-122"/>
              </a:rPr>
              <a:t>a</a:t>
            </a:r>
            <a:r>
              <a:rPr lang="en-US" altLang="zh-CN" sz="2800" b="1" baseline="-25000">
                <a:ea typeface="新宋体" panose="02010609030101010101" charset="-122"/>
              </a:rPr>
              <a:t>i</a:t>
            </a:r>
            <a:r>
              <a:rPr lang="zh-CN" altLang="en-US" sz="2800" b="1">
                <a:ea typeface="新宋体" panose="02010609030101010101" charset="-122"/>
              </a:rPr>
              <a:t>和</a:t>
            </a:r>
            <a:r>
              <a:rPr lang="en-US" altLang="zh-CN" sz="2800" b="1">
                <a:ea typeface="新宋体" panose="02010609030101010101" charset="-122"/>
              </a:rPr>
              <a:t>b</a:t>
            </a:r>
            <a:r>
              <a:rPr lang="en-US" altLang="zh-CN" sz="2800" b="1" baseline="-25000">
                <a:ea typeface="新宋体" panose="02010609030101010101" charset="-122"/>
              </a:rPr>
              <a:t>i</a:t>
            </a:r>
            <a:r>
              <a:rPr lang="zh-CN" altLang="en-US" sz="2800" b="1">
                <a:ea typeface="新宋体" panose="02010609030101010101" charset="-122"/>
              </a:rPr>
              <a:t>。</a:t>
            </a:r>
            <a:endParaRPr lang="zh-CN" altLang="en-US" sz="2800" b="1">
              <a:ea typeface="新宋体" panose="02010609030101010101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800" b="1">
                <a:solidFill>
                  <a:srgbClr val="8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流水作业调度问题描述：</a:t>
            </a:r>
            <a:r>
              <a:rPr lang="zh-CN" altLang="en-US" sz="2800" b="1">
                <a:latin typeface="黑体" panose="02010609060101010101" pitchFamily="2" charset="-122"/>
                <a:ea typeface="黑体" panose="02010609060101010101" pitchFamily="2" charset="-122"/>
              </a:rPr>
              <a:t>要求确定这</a:t>
            </a:r>
            <a:r>
              <a:rPr lang="en-US" altLang="zh-CN" sz="2800" b="1">
                <a:latin typeface="黑体" panose="02010609060101010101" pitchFamily="2" charset="-122"/>
                <a:ea typeface="黑体" panose="02010609060101010101" pitchFamily="2" charset="-122"/>
              </a:rPr>
              <a:t>n</a:t>
            </a:r>
            <a:r>
              <a:rPr lang="zh-CN" altLang="en-US" sz="2800" b="1">
                <a:latin typeface="黑体" panose="02010609060101010101" pitchFamily="2" charset="-122"/>
                <a:ea typeface="黑体" panose="02010609060101010101" pitchFamily="2" charset="-122"/>
              </a:rPr>
              <a:t>个作业的最优加工顺序，使得从第一个作业在机器</a:t>
            </a:r>
            <a:r>
              <a:rPr lang="en-US" altLang="zh-CN" sz="2800" b="1">
                <a:latin typeface="黑体" panose="02010609060101010101" pitchFamily="2" charset="-122"/>
                <a:ea typeface="黑体" panose="02010609060101010101" pitchFamily="2" charset="-122"/>
              </a:rPr>
              <a:t>M1</a:t>
            </a:r>
            <a:r>
              <a:rPr lang="zh-CN" altLang="en-US" sz="2800" b="1">
                <a:latin typeface="黑体" panose="02010609060101010101" pitchFamily="2" charset="-122"/>
                <a:ea typeface="黑体" panose="02010609060101010101" pitchFamily="2" charset="-122"/>
              </a:rPr>
              <a:t>上开始加工，到最后一个作业在机器</a:t>
            </a:r>
            <a:r>
              <a:rPr lang="en-US" altLang="zh-CN" sz="2800" b="1">
                <a:latin typeface="黑体" panose="02010609060101010101" pitchFamily="2" charset="-122"/>
                <a:ea typeface="黑体" panose="02010609060101010101" pitchFamily="2" charset="-122"/>
              </a:rPr>
              <a:t>M2</a:t>
            </a:r>
            <a:r>
              <a:rPr lang="zh-CN" altLang="en-US" sz="2800" b="1">
                <a:latin typeface="黑体" panose="02010609060101010101" pitchFamily="2" charset="-122"/>
                <a:ea typeface="黑体" panose="02010609060101010101" pitchFamily="2" charset="-122"/>
              </a:rPr>
              <a:t>上加工完成所需的时间最少。</a:t>
            </a:r>
            <a:endParaRPr lang="zh-CN" altLang="en-US" sz="2800" b="1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zh-CN" altLang="en-US" sz="35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流水作业调度</a:t>
            </a:r>
            <a:endParaRPr lang="ja-JP" altLang="en-US" sz="35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78179" name="Text Box 3"/>
          <p:cNvSpPr txBox="1">
            <a:spLocks noChangeArrowheads="1"/>
          </p:cNvSpPr>
          <p:nvPr/>
        </p:nvSpPr>
        <p:spPr bwMode="auto">
          <a:xfrm>
            <a:off x="900113" y="981075"/>
            <a:ext cx="7488237" cy="504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zh-CN" altLang="en-US" sz="2800" b="1">
                <a:solidFill>
                  <a:srgbClr val="800000"/>
                </a:solidFill>
                <a:latin typeface="Verdana" panose="020B0604030504040204" pitchFamily="34" charset="0"/>
                <a:ea typeface="黑体" panose="02010609060101010101" pitchFamily="2" charset="-122"/>
              </a:rPr>
              <a:t>分析：</a:t>
            </a:r>
            <a:endParaRPr lang="zh-CN" altLang="en-US" sz="2800" b="1">
              <a:solidFill>
                <a:srgbClr val="800000"/>
              </a:solidFill>
              <a:latin typeface="Verdana" panose="020B0604030504040204" pitchFamily="34" charset="0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  <a:spcBef>
                <a:spcPct val="30000"/>
              </a:spcBef>
              <a:buFontTx/>
              <a:buChar char="•"/>
            </a:pPr>
            <a:r>
              <a:rPr lang="zh-CN" altLang="en-US" sz="2800" b="1">
                <a:ea typeface="新宋体" panose="02010609030101010101" charset="-122"/>
              </a:rPr>
              <a:t>  直观上，最优调度应使机器</a:t>
            </a:r>
            <a:r>
              <a:rPr lang="en-US" altLang="zh-CN" sz="2800" b="1">
                <a:ea typeface="新宋体" panose="02010609030101010101" charset="-122"/>
              </a:rPr>
              <a:t>M1</a:t>
            </a:r>
            <a:r>
              <a:rPr lang="zh-CN" altLang="en-US" sz="2800" b="1">
                <a:ea typeface="新宋体" panose="02010609030101010101" charset="-122"/>
              </a:rPr>
              <a:t>没有空闲时间</a:t>
            </a:r>
            <a:r>
              <a:rPr lang="en-US" altLang="zh-CN" sz="2800" b="1">
                <a:ea typeface="新宋体" panose="02010609030101010101" charset="-122"/>
              </a:rPr>
              <a:t>,</a:t>
            </a:r>
            <a:r>
              <a:rPr lang="zh-CN" altLang="en-US" sz="2800" b="1">
                <a:ea typeface="新宋体" panose="02010609030101010101" charset="-122"/>
              </a:rPr>
              <a:t>且机器</a:t>
            </a:r>
            <a:r>
              <a:rPr lang="en-US" altLang="zh-CN" sz="2800" b="1">
                <a:ea typeface="新宋体" panose="02010609030101010101" charset="-122"/>
              </a:rPr>
              <a:t>M2</a:t>
            </a:r>
            <a:r>
              <a:rPr lang="zh-CN" altLang="en-US" sz="2800" b="1">
                <a:ea typeface="新宋体" panose="02010609030101010101" charset="-122"/>
              </a:rPr>
              <a:t>的空闲时间最少。在一般情况下，机器</a:t>
            </a:r>
            <a:r>
              <a:rPr lang="en-US" altLang="zh-CN" sz="2800" b="1">
                <a:ea typeface="新宋体" panose="02010609030101010101" charset="-122"/>
              </a:rPr>
              <a:t>M2</a:t>
            </a:r>
            <a:r>
              <a:rPr lang="zh-CN" altLang="en-US" sz="2800" b="1">
                <a:ea typeface="新宋体" panose="02010609030101010101" charset="-122"/>
              </a:rPr>
              <a:t>上会有机器空闲和作业积压</a:t>
            </a:r>
            <a:r>
              <a:rPr lang="en-US" altLang="zh-CN" sz="2800" b="1">
                <a:ea typeface="新宋体" panose="02010609030101010101" charset="-122"/>
              </a:rPr>
              <a:t>2</a:t>
            </a:r>
            <a:r>
              <a:rPr lang="zh-CN" altLang="en-US" sz="2800" b="1">
                <a:ea typeface="新宋体" panose="02010609030101010101" charset="-122"/>
              </a:rPr>
              <a:t>种情况。</a:t>
            </a:r>
            <a:endParaRPr lang="zh-CN" altLang="en-US" sz="2800" b="1">
              <a:ea typeface="新宋体" panose="02010609030101010101" charset="-122"/>
            </a:endParaRPr>
          </a:p>
          <a:p>
            <a:pPr>
              <a:lnSpc>
                <a:spcPct val="110000"/>
              </a:lnSpc>
              <a:spcBef>
                <a:spcPct val="30000"/>
              </a:spcBef>
              <a:buFontTx/>
              <a:buChar char="•"/>
            </a:pPr>
            <a:r>
              <a:rPr lang="zh-CN" altLang="en-US" sz="2800" b="1">
                <a:ea typeface="新宋体" panose="02010609030101010101" charset="-122"/>
              </a:rPr>
              <a:t>  设全部作业的集合为</a:t>
            </a:r>
            <a:r>
              <a:rPr lang="en-US" altLang="zh-CN" sz="2800" b="1">
                <a:ea typeface="新宋体" panose="02010609030101010101" charset="-122"/>
              </a:rPr>
              <a:t>N={1</a:t>
            </a:r>
            <a:r>
              <a:rPr lang="zh-CN" altLang="en-US" sz="2800" b="1">
                <a:ea typeface="新宋体" panose="02010609030101010101" charset="-122"/>
              </a:rPr>
              <a:t>，</a:t>
            </a:r>
            <a:r>
              <a:rPr lang="en-US" altLang="zh-CN" sz="2800" b="1">
                <a:ea typeface="新宋体" panose="02010609030101010101" charset="-122"/>
              </a:rPr>
              <a:t>2</a:t>
            </a:r>
            <a:r>
              <a:rPr lang="zh-CN" altLang="en-US" sz="2800" b="1">
                <a:ea typeface="新宋体" panose="02010609030101010101" charset="-122"/>
              </a:rPr>
              <a:t>，</a:t>
            </a:r>
            <a:r>
              <a:rPr lang="en-US" altLang="zh-CN" sz="2800" b="1">
                <a:ea typeface="新宋体" panose="02010609030101010101" charset="-122"/>
              </a:rPr>
              <a:t>…</a:t>
            </a:r>
            <a:r>
              <a:rPr lang="zh-CN" altLang="en-US" sz="2800" b="1">
                <a:ea typeface="新宋体" panose="02010609030101010101" charset="-122"/>
              </a:rPr>
              <a:t>，</a:t>
            </a:r>
            <a:r>
              <a:rPr lang="en-US" altLang="zh-CN" sz="2800" b="1">
                <a:ea typeface="新宋体" panose="02010609030101010101" charset="-122"/>
              </a:rPr>
              <a:t>n}</a:t>
            </a:r>
            <a:r>
              <a:rPr lang="zh-CN" altLang="en-US" sz="2800" b="1">
                <a:ea typeface="新宋体" panose="02010609030101010101" charset="-122"/>
              </a:rPr>
              <a:t>。</a:t>
            </a:r>
            <a:r>
              <a:rPr lang="en-US" altLang="zh-CN" sz="2800" b="1">
                <a:ea typeface="新宋体" panose="02010609030101010101" charset="-122"/>
              </a:rPr>
              <a:t>S</a:t>
            </a:r>
            <a:r>
              <a:rPr lang="en-US" altLang="zh-CN" sz="2800" b="1">
                <a:ea typeface="新宋体" panose="02010609030101010101" charset="-122"/>
                <a:sym typeface="Symbol" panose="05050102010706020507" pitchFamily="18" charset="2"/>
              </a:rPr>
              <a:t></a:t>
            </a:r>
            <a:r>
              <a:rPr lang="en-US" altLang="zh-CN" sz="2800" b="1">
                <a:ea typeface="新宋体" panose="02010609030101010101" charset="-122"/>
              </a:rPr>
              <a:t>N</a:t>
            </a:r>
            <a:r>
              <a:rPr lang="zh-CN" altLang="en-US" sz="2800" b="1">
                <a:ea typeface="新宋体" panose="02010609030101010101" charset="-122"/>
              </a:rPr>
              <a:t>是</a:t>
            </a:r>
            <a:r>
              <a:rPr lang="en-US" altLang="zh-CN" sz="2800" b="1">
                <a:ea typeface="新宋体" panose="02010609030101010101" charset="-122"/>
              </a:rPr>
              <a:t>N</a:t>
            </a:r>
            <a:r>
              <a:rPr lang="zh-CN" altLang="en-US" sz="2800" b="1">
                <a:ea typeface="新宋体" panose="02010609030101010101" charset="-122"/>
              </a:rPr>
              <a:t>的作业子集。在一般情况下，机器</a:t>
            </a:r>
            <a:r>
              <a:rPr lang="en-US" altLang="zh-CN" sz="2800" b="1">
                <a:ea typeface="新宋体" panose="02010609030101010101" charset="-122"/>
              </a:rPr>
              <a:t>M1</a:t>
            </a:r>
            <a:r>
              <a:rPr lang="zh-CN" altLang="en-US" sz="2800" b="1">
                <a:ea typeface="新宋体" panose="02010609030101010101" charset="-122"/>
              </a:rPr>
              <a:t>开始加工</a:t>
            </a:r>
            <a:r>
              <a:rPr lang="en-US" altLang="zh-CN" sz="2800" b="1">
                <a:ea typeface="新宋体" panose="02010609030101010101" charset="-122"/>
              </a:rPr>
              <a:t>S</a:t>
            </a:r>
            <a:r>
              <a:rPr lang="zh-CN" altLang="en-US" sz="2800" b="1">
                <a:ea typeface="新宋体" panose="02010609030101010101" charset="-122"/>
              </a:rPr>
              <a:t>中作业时，机器</a:t>
            </a:r>
            <a:r>
              <a:rPr lang="en-US" altLang="zh-CN" sz="2800" b="1">
                <a:ea typeface="新宋体" panose="02010609030101010101" charset="-122"/>
              </a:rPr>
              <a:t>M2</a:t>
            </a:r>
            <a:r>
              <a:rPr lang="zh-CN" altLang="en-US" sz="2800" b="1">
                <a:ea typeface="新宋体" panose="02010609030101010101" charset="-122"/>
              </a:rPr>
              <a:t>还在加工其它作业，要等时间</a:t>
            </a:r>
            <a:r>
              <a:rPr lang="en-US" altLang="zh-CN" sz="2800" b="1">
                <a:ea typeface="新宋体" panose="02010609030101010101" charset="-122"/>
              </a:rPr>
              <a:t>t</a:t>
            </a:r>
            <a:r>
              <a:rPr lang="zh-CN" altLang="en-US" sz="2800" b="1">
                <a:ea typeface="新宋体" panose="02010609030101010101" charset="-122"/>
              </a:rPr>
              <a:t>后才可利用。将这种情况下完成</a:t>
            </a:r>
            <a:r>
              <a:rPr lang="en-US" altLang="zh-CN" sz="2800" b="1">
                <a:ea typeface="新宋体" panose="02010609030101010101" charset="-122"/>
              </a:rPr>
              <a:t>S</a:t>
            </a:r>
            <a:r>
              <a:rPr lang="zh-CN" altLang="en-US" sz="2800" b="1">
                <a:ea typeface="新宋体" panose="02010609030101010101" charset="-122"/>
              </a:rPr>
              <a:t>中作业所需的最短时间记为</a:t>
            </a:r>
            <a:r>
              <a:rPr lang="en-US" altLang="zh-CN" sz="2800" b="1">
                <a:ea typeface="新宋体" panose="02010609030101010101" charset="-122"/>
              </a:rPr>
              <a:t>T(S, t)</a:t>
            </a:r>
            <a:r>
              <a:rPr lang="zh-CN" altLang="en-US" sz="2800" b="1">
                <a:ea typeface="新宋体" panose="02010609030101010101" charset="-122"/>
              </a:rPr>
              <a:t>。流水作业调度问题的最优值为</a:t>
            </a:r>
            <a:r>
              <a:rPr lang="en-US" altLang="zh-CN" sz="2800" b="1">
                <a:ea typeface="新宋体" panose="02010609030101010101" charset="-122"/>
              </a:rPr>
              <a:t>T(N, 0)</a:t>
            </a:r>
            <a:r>
              <a:rPr lang="zh-CN" altLang="en-US" sz="2800" b="1">
                <a:ea typeface="新宋体" panose="02010609030101010101" charset="-122"/>
              </a:rPr>
              <a:t>。</a:t>
            </a:r>
            <a:endParaRPr lang="zh-CN" altLang="en-US" sz="2800" b="1"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zh-CN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1. </a:t>
            </a:r>
            <a:r>
              <a:rPr lang="zh-CN" altLang="en-US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最优子结构性质</a:t>
            </a:r>
            <a:endParaRPr lang="ja-JP" altLang="en-US" sz="31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79203" name="Text Box 3"/>
          <p:cNvSpPr txBox="1">
            <a:spLocks noChangeArrowheads="1"/>
          </p:cNvSpPr>
          <p:nvPr/>
        </p:nvSpPr>
        <p:spPr bwMode="auto">
          <a:xfrm>
            <a:off x="755650" y="908050"/>
            <a:ext cx="7561263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>
                <a:ea typeface="新宋体" panose="02010609030101010101" charset="-122"/>
              </a:rPr>
              <a:t>设</a:t>
            </a:r>
            <a:r>
              <a:rPr lang="zh-CN" altLang="en-US" sz="2400" b="1">
                <a:ea typeface="新宋体" panose="02010609030101010101" charset="-122"/>
                <a:sym typeface="Symbol" panose="05050102010706020507" pitchFamily="18" charset="2"/>
              </a:rPr>
              <a:t></a:t>
            </a:r>
            <a:r>
              <a:rPr lang="zh-CN" altLang="en-US" sz="2400" b="1">
                <a:ea typeface="新宋体" panose="02010609030101010101" charset="-122"/>
              </a:rPr>
              <a:t>是所给</a:t>
            </a:r>
            <a:r>
              <a:rPr lang="en-US" altLang="zh-CN" sz="2400" b="1">
                <a:ea typeface="新宋体" panose="02010609030101010101" charset="-122"/>
              </a:rPr>
              <a:t>n</a:t>
            </a:r>
            <a:r>
              <a:rPr lang="zh-CN" altLang="en-US" sz="2400" b="1">
                <a:ea typeface="新宋体" panose="02010609030101010101" charset="-122"/>
              </a:rPr>
              <a:t>个流水作业的一个最优调度，它所需的加工时间为 </a:t>
            </a:r>
            <a:r>
              <a:rPr lang="en-US" altLang="zh-CN" sz="2400" b="1">
                <a:ea typeface="新宋体" panose="02010609030101010101" charset="-122"/>
              </a:rPr>
              <a:t>a</a:t>
            </a:r>
            <a:r>
              <a:rPr lang="en-US" altLang="zh-CN" sz="2400" b="1" baseline="-25000">
                <a:ea typeface="新宋体" panose="02010609030101010101" charset="-122"/>
                <a:sym typeface="Symbol" panose="05050102010706020507" pitchFamily="18" charset="2"/>
              </a:rPr>
              <a:t>(1)</a:t>
            </a:r>
            <a:r>
              <a:rPr lang="en-US" altLang="zh-CN" sz="2400" b="1">
                <a:ea typeface="新宋体" panose="02010609030101010101" charset="-122"/>
                <a:sym typeface="Symbol" panose="05050102010706020507" pitchFamily="18" charset="2"/>
              </a:rPr>
              <a:t>+T’</a:t>
            </a:r>
            <a:r>
              <a:rPr lang="zh-CN" altLang="en-US" sz="2400" b="1">
                <a:ea typeface="新宋体" panose="02010609030101010101" charset="-122"/>
              </a:rPr>
              <a:t>。其中</a:t>
            </a:r>
            <a:r>
              <a:rPr lang="en-US" altLang="zh-CN" sz="2400" b="1">
                <a:ea typeface="新宋体" panose="02010609030101010101" charset="-122"/>
              </a:rPr>
              <a:t>T’</a:t>
            </a:r>
            <a:r>
              <a:rPr lang="zh-CN" altLang="en-US" sz="2400" b="1">
                <a:ea typeface="新宋体" panose="02010609030101010101" charset="-122"/>
              </a:rPr>
              <a:t>是在机器</a:t>
            </a:r>
            <a:r>
              <a:rPr lang="en-US" altLang="zh-CN" sz="2400" b="1">
                <a:ea typeface="新宋体" panose="02010609030101010101" charset="-122"/>
              </a:rPr>
              <a:t>M2</a:t>
            </a:r>
            <a:r>
              <a:rPr lang="zh-CN" altLang="en-US" sz="2400" b="1">
                <a:ea typeface="新宋体" panose="02010609030101010101" charset="-122"/>
              </a:rPr>
              <a:t>的等待时间为</a:t>
            </a:r>
            <a:r>
              <a:rPr lang="en-US" altLang="zh-CN" sz="2400" b="1">
                <a:ea typeface="新宋体" panose="02010609030101010101" charset="-122"/>
              </a:rPr>
              <a:t>b</a:t>
            </a:r>
            <a:r>
              <a:rPr lang="en-US" altLang="zh-CN" sz="2400" b="1" baseline="-25000">
                <a:ea typeface="新宋体" panose="02010609030101010101" charset="-122"/>
                <a:sym typeface="Symbol" panose="05050102010706020507" pitchFamily="18" charset="2"/>
              </a:rPr>
              <a:t>(1)</a:t>
            </a:r>
            <a:r>
              <a:rPr lang="zh-CN" altLang="en-US" sz="2400" b="1">
                <a:ea typeface="新宋体" panose="02010609030101010101" charset="-122"/>
              </a:rPr>
              <a:t>时，安排作业</a:t>
            </a:r>
            <a:r>
              <a:rPr lang="zh-CN" altLang="en-US" sz="2400" b="1">
                <a:ea typeface="新宋体" panose="02010609030101010101" charset="-122"/>
                <a:sym typeface="Symbol" panose="05050102010706020507" pitchFamily="18" charset="2"/>
              </a:rPr>
              <a:t></a:t>
            </a:r>
            <a:r>
              <a:rPr lang="en-US" altLang="zh-CN" sz="2400" b="1">
                <a:ea typeface="新宋体" panose="02010609030101010101" charset="-122"/>
              </a:rPr>
              <a:t>(2)</a:t>
            </a:r>
            <a:r>
              <a:rPr lang="zh-CN" altLang="en-US" sz="2400" b="1">
                <a:ea typeface="新宋体" panose="02010609030101010101" charset="-122"/>
              </a:rPr>
              <a:t>，</a:t>
            </a:r>
            <a:r>
              <a:rPr lang="en-US" altLang="zh-CN" sz="2400" b="1">
                <a:ea typeface="新宋体" panose="02010609030101010101" charset="-122"/>
              </a:rPr>
              <a:t>…</a:t>
            </a:r>
            <a:r>
              <a:rPr lang="zh-CN" altLang="en-US" sz="2400" b="1">
                <a:ea typeface="新宋体" panose="02010609030101010101" charset="-122"/>
              </a:rPr>
              <a:t>，</a:t>
            </a:r>
            <a:r>
              <a:rPr lang="zh-CN" altLang="en-US" sz="2400" b="1">
                <a:ea typeface="新宋体" panose="02010609030101010101" charset="-122"/>
                <a:sym typeface="Symbol" panose="05050102010706020507" pitchFamily="18" charset="2"/>
              </a:rPr>
              <a:t></a:t>
            </a:r>
            <a:r>
              <a:rPr lang="en-US" altLang="zh-CN" sz="2400" b="1">
                <a:ea typeface="新宋体" panose="02010609030101010101" charset="-122"/>
              </a:rPr>
              <a:t>(n)</a:t>
            </a:r>
            <a:r>
              <a:rPr lang="zh-CN" altLang="en-US" sz="2400" b="1">
                <a:ea typeface="新宋体" panose="02010609030101010101" charset="-122"/>
              </a:rPr>
              <a:t>所需的时间。</a:t>
            </a:r>
            <a:endParaRPr lang="zh-CN" altLang="en-US" sz="2400" b="1">
              <a:ea typeface="新宋体" panose="0201060903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>
                <a:ea typeface="新宋体" panose="02010609030101010101" charset="-122"/>
              </a:rPr>
              <a:t>记</a:t>
            </a:r>
            <a:r>
              <a:rPr lang="en-US" altLang="zh-CN" sz="2400" b="1">
                <a:ea typeface="新宋体" panose="02010609030101010101" charset="-122"/>
              </a:rPr>
              <a:t>S=N-{</a:t>
            </a:r>
            <a:r>
              <a:rPr lang="en-US" altLang="zh-CN" sz="2400" b="1">
                <a:ea typeface="新宋体" panose="02010609030101010101" charset="-122"/>
                <a:sym typeface="Symbol" panose="05050102010706020507" pitchFamily="18" charset="2"/>
              </a:rPr>
              <a:t></a:t>
            </a:r>
            <a:r>
              <a:rPr lang="en-US" altLang="zh-CN" sz="2400" b="1">
                <a:ea typeface="新宋体" panose="02010609030101010101" charset="-122"/>
              </a:rPr>
              <a:t>(1)}</a:t>
            </a:r>
            <a:r>
              <a:rPr lang="zh-CN" altLang="en-US" sz="2400" b="1">
                <a:ea typeface="新宋体" panose="02010609030101010101" charset="-122"/>
              </a:rPr>
              <a:t>，则有</a:t>
            </a:r>
            <a:r>
              <a:rPr lang="en-US" altLang="zh-CN" sz="2400" b="1">
                <a:ea typeface="新宋体" panose="02010609030101010101" charset="-122"/>
              </a:rPr>
              <a:t>T’=T(S, b</a:t>
            </a:r>
            <a:r>
              <a:rPr lang="en-US" altLang="zh-CN" sz="2400" b="1" baseline="-25000">
                <a:ea typeface="新宋体" panose="02010609030101010101" charset="-122"/>
                <a:sym typeface="Symbol" panose="05050102010706020507" pitchFamily="18" charset="2"/>
              </a:rPr>
              <a:t>(1)</a:t>
            </a:r>
            <a:r>
              <a:rPr lang="en-US" altLang="zh-CN" sz="2400" b="1">
                <a:ea typeface="新宋体" panose="02010609030101010101" charset="-122"/>
              </a:rPr>
              <a:t>)</a:t>
            </a:r>
            <a:r>
              <a:rPr lang="zh-CN" altLang="en-US" sz="2400" b="1">
                <a:ea typeface="新宋体" panose="02010609030101010101" charset="-122"/>
              </a:rPr>
              <a:t>。</a:t>
            </a:r>
            <a:endParaRPr lang="zh-CN" altLang="en-US" sz="2400" b="1">
              <a:ea typeface="新宋体" panose="02010609030101010101" charset="-122"/>
            </a:endParaRPr>
          </a:p>
        </p:txBody>
      </p:sp>
      <p:sp>
        <p:nvSpPr>
          <p:cNvPr id="179204" name="Text Box 4"/>
          <p:cNvSpPr txBox="1">
            <a:spLocks noChangeArrowheads="1"/>
          </p:cNvSpPr>
          <p:nvPr/>
        </p:nvSpPr>
        <p:spPr bwMode="auto">
          <a:xfrm>
            <a:off x="755650" y="3068638"/>
            <a:ext cx="7704138" cy="2949575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008000"/>
                </a:solidFill>
                <a:latin typeface="Verdana" panose="020B0604030504040204" pitchFamily="34" charset="0"/>
                <a:ea typeface="黑体" panose="02010609060101010101" pitchFamily="2" charset="-122"/>
              </a:rPr>
              <a:t>证明：</a:t>
            </a:r>
            <a:r>
              <a:rPr lang="zh-CN" altLang="en-US" sz="2400" b="1" dirty="0">
                <a:ea typeface="新宋体" panose="02010609030101010101" charset="-122"/>
              </a:rPr>
              <a:t>由</a:t>
            </a:r>
            <a:r>
              <a:rPr lang="en-US" altLang="zh-CN" sz="2400" b="1" dirty="0">
                <a:ea typeface="新宋体" panose="02010609030101010101" charset="-122"/>
              </a:rPr>
              <a:t>T</a:t>
            </a:r>
            <a:r>
              <a:rPr lang="zh-CN" altLang="en-US" sz="2400" b="1" dirty="0">
                <a:ea typeface="新宋体" panose="02010609030101010101" charset="-122"/>
              </a:rPr>
              <a:t>的定义知</a:t>
            </a:r>
            <a:r>
              <a:rPr lang="en-US" altLang="zh-CN" sz="2400" b="1" dirty="0">
                <a:ea typeface="新宋体" panose="02010609030101010101" charset="-122"/>
              </a:rPr>
              <a:t>T’</a:t>
            </a:r>
            <a:r>
              <a:rPr lang="en-US" altLang="zh-CN" sz="2400" b="1" dirty="0">
                <a:ea typeface="新宋体" panose="02010609030101010101" charset="-122"/>
                <a:sym typeface="Symbol" panose="05050102010706020507" pitchFamily="18" charset="2"/>
              </a:rPr>
              <a:t></a:t>
            </a:r>
            <a:r>
              <a:rPr lang="en-US" altLang="zh-CN" sz="2400" b="1" dirty="0">
                <a:ea typeface="新宋体" panose="02010609030101010101" charset="-122"/>
              </a:rPr>
              <a:t>T(</a:t>
            </a:r>
            <a:r>
              <a:rPr lang="en-US" altLang="zh-CN" sz="2400" b="1" dirty="0" err="1">
                <a:ea typeface="新宋体" panose="02010609030101010101" charset="-122"/>
              </a:rPr>
              <a:t>S,b</a:t>
            </a:r>
            <a:r>
              <a:rPr lang="en-US" altLang="zh-CN" sz="2400" b="1" baseline="-25000" dirty="0">
                <a:ea typeface="新宋体" panose="02010609030101010101" charset="-122"/>
                <a:sym typeface="Symbol" panose="05050102010706020507" pitchFamily="18" charset="2"/>
              </a:rPr>
              <a:t>(1)</a:t>
            </a:r>
            <a:r>
              <a:rPr lang="en-US" altLang="zh-CN" sz="2400" b="1" dirty="0">
                <a:ea typeface="新宋体" panose="02010609030101010101" charset="-122"/>
              </a:rPr>
              <a:t>)</a:t>
            </a:r>
            <a:r>
              <a:rPr lang="zh-CN" altLang="en-US" sz="2400" b="1" dirty="0">
                <a:ea typeface="新宋体" panose="02010609030101010101" charset="-122"/>
              </a:rPr>
              <a:t>。若</a:t>
            </a:r>
            <a:r>
              <a:rPr lang="en-US" altLang="zh-CN" sz="2400" b="1" dirty="0">
                <a:ea typeface="新宋体" panose="02010609030101010101" charset="-122"/>
              </a:rPr>
              <a:t>T’&gt;T(</a:t>
            </a:r>
            <a:r>
              <a:rPr lang="en-US" altLang="zh-CN" sz="2400" b="1" dirty="0" err="1">
                <a:ea typeface="新宋体" panose="02010609030101010101" charset="-122"/>
              </a:rPr>
              <a:t>S,b</a:t>
            </a:r>
            <a:r>
              <a:rPr lang="en-US" altLang="zh-CN" sz="2400" b="1" baseline="-25000" dirty="0">
                <a:ea typeface="新宋体" panose="02010609030101010101" charset="-122"/>
                <a:sym typeface="Symbol" panose="05050102010706020507" pitchFamily="18" charset="2"/>
              </a:rPr>
              <a:t>(1)</a:t>
            </a:r>
            <a:r>
              <a:rPr lang="en-US" altLang="zh-CN" sz="2400" b="1" dirty="0">
                <a:ea typeface="新宋体" panose="02010609030101010101" charset="-122"/>
              </a:rPr>
              <a:t>)</a:t>
            </a:r>
            <a:r>
              <a:rPr lang="zh-CN" altLang="en-US" sz="2400" b="1" dirty="0">
                <a:ea typeface="新宋体" panose="02010609030101010101" charset="-122"/>
              </a:rPr>
              <a:t>，设</a:t>
            </a:r>
            <a:r>
              <a:rPr lang="zh-CN" altLang="en-US" sz="2400" b="1" dirty="0">
                <a:ea typeface="新宋体" panose="02010609030101010101" charset="-122"/>
                <a:sym typeface="Symbol" panose="05050102010706020507" pitchFamily="18" charset="2"/>
              </a:rPr>
              <a:t>’</a:t>
            </a:r>
            <a:r>
              <a:rPr lang="zh-CN" altLang="en-US" sz="2400" b="1" dirty="0">
                <a:ea typeface="新宋体" panose="02010609030101010101" charset="-122"/>
              </a:rPr>
              <a:t>是作业集</a:t>
            </a:r>
            <a:r>
              <a:rPr lang="en-US" altLang="zh-CN" sz="2400" b="1" dirty="0">
                <a:ea typeface="新宋体" panose="02010609030101010101" charset="-122"/>
              </a:rPr>
              <a:t>S</a:t>
            </a:r>
            <a:r>
              <a:rPr lang="zh-CN" altLang="en-US" sz="2400" b="1" dirty="0">
                <a:ea typeface="新宋体" panose="02010609030101010101" charset="-122"/>
              </a:rPr>
              <a:t>在机器</a:t>
            </a:r>
            <a:r>
              <a:rPr lang="en-US" altLang="zh-CN" sz="2400" b="1" dirty="0">
                <a:ea typeface="新宋体" panose="02010609030101010101" charset="-122"/>
              </a:rPr>
              <a:t>M2</a:t>
            </a:r>
            <a:r>
              <a:rPr lang="zh-CN" altLang="en-US" sz="2400" b="1" dirty="0">
                <a:ea typeface="新宋体" panose="02010609030101010101" charset="-122"/>
              </a:rPr>
              <a:t>的等待时间为</a:t>
            </a:r>
            <a:r>
              <a:rPr lang="en-US" altLang="zh-CN" sz="2400" b="1" dirty="0">
                <a:ea typeface="新宋体" panose="02010609030101010101" charset="-122"/>
              </a:rPr>
              <a:t>b</a:t>
            </a:r>
            <a:r>
              <a:rPr lang="en-US" altLang="zh-CN" sz="2400" b="1" baseline="-25000" dirty="0">
                <a:ea typeface="新宋体" panose="02010609030101010101" charset="-122"/>
                <a:sym typeface="Symbol" panose="05050102010706020507" pitchFamily="18" charset="2"/>
              </a:rPr>
              <a:t>(1)</a:t>
            </a:r>
            <a:r>
              <a:rPr lang="zh-CN" altLang="en-US" sz="2400" b="1" dirty="0">
                <a:ea typeface="新宋体" panose="02010609030101010101" charset="-122"/>
              </a:rPr>
              <a:t>情况下的一个最优调度。则</a:t>
            </a:r>
            <a:r>
              <a:rPr lang="zh-CN" altLang="en-US" sz="2400" b="1" dirty="0">
                <a:ea typeface="新宋体" panose="02010609030101010101" charset="-122"/>
                <a:sym typeface="Symbol" panose="05050102010706020507" pitchFamily="18" charset="2"/>
              </a:rPr>
              <a:t></a:t>
            </a:r>
            <a:r>
              <a:rPr lang="en-US" altLang="zh-CN" sz="2400" b="1" dirty="0">
                <a:ea typeface="新宋体" panose="02010609030101010101" charset="-122"/>
              </a:rPr>
              <a:t>(1)</a:t>
            </a:r>
            <a:r>
              <a:rPr lang="zh-CN" altLang="en-US" sz="2400" b="1" dirty="0">
                <a:ea typeface="新宋体" panose="02010609030101010101" charset="-122"/>
              </a:rPr>
              <a:t>， </a:t>
            </a:r>
            <a:r>
              <a:rPr lang="zh-CN" altLang="en-US" sz="2400" b="1" dirty="0">
                <a:ea typeface="新宋体" panose="02010609030101010101" charset="-122"/>
                <a:sym typeface="Symbol" panose="05050102010706020507" pitchFamily="18" charset="2"/>
              </a:rPr>
              <a:t>’</a:t>
            </a:r>
            <a:r>
              <a:rPr lang="en-US" altLang="zh-CN" sz="2400" b="1" dirty="0">
                <a:ea typeface="新宋体" panose="02010609030101010101" charset="-122"/>
              </a:rPr>
              <a:t>(2)</a:t>
            </a:r>
            <a:r>
              <a:rPr lang="zh-CN" altLang="en-US" sz="2400" b="1" dirty="0">
                <a:ea typeface="新宋体" panose="02010609030101010101" charset="-122"/>
              </a:rPr>
              <a:t>，</a:t>
            </a:r>
            <a:r>
              <a:rPr lang="en-US" altLang="zh-CN" sz="2400" b="1" dirty="0">
                <a:ea typeface="新宋体" panose="02010609030101010101" charset="-122"/>
              </a:rPr>
              <a:t>…</a:t>
            </a:r>
            <a:r>
              <a:rPr lang="zh-CN" altLang="en-US" sz="2400" b="1" dirty="0">
                <a:ea typeface="新宋体" panose="02010609030101010101" charset="-122"/>
              </a:rPr>
              <a:t>， </a:t>
            </a:r>
            <a:r>
              <a:rPr lang="zh-CN" altLang="en-US" sz="2400" b="1" dirty="0">
                <a:ea typeface="新宋体" panose="02010609030101010101" charset="-122"/>
                <a:sym typeface="Symbol" panose="05050102010706020507" pitchFamily="18" charset="2"/>
              </a:rPr>
              <a:t>’</a:t>
            </a:r>
            <a:r>
              <a:rPr lang="en-US" altLang="zh-CN" sz="2400" b="1" dirty="0">
                <a:ea typeface="新宋体" panose="02010609030101010101" charset="-122"/>
              </a:rPr>
              <a:t>(n)</a:t>
            </a:r>
            <a:r>
              <a:rPr lang="zh-CN" altLang="en-US" sz="2400" b="1" dirty="0">
                <a:ea typeface="新宋体" panose="02010609030101010101" charset="-122"/>
              </a:rPr>
              <a:t>是</a:t>
            </a:r>
            <a:r>
              <a:rPr lang="en-US" altLang="zh-CN" sz="2400" b="1" dirty="0">
                <a:ea typeface="新宋体" panose="02010609030101010101" charset="-122"/>
              </a:rPr>
              <a:t>N</a:t>
            </a:r>
            <a:r>
              <a:rPr lang="zh-CN" altLang="en-US" sz="2400" b="1" dirty="0">
                <a:ea typeface="新宋体" panose="02010609030101010101" charset="-122"/>
              </a:rPr>
              <a:t>的一个调度，且该调度所需的时间为</a:t>
            </a:r>
            <a:r>
              <a:rPr lang="en-US" altLang="zh-CN" sz="2400" b="1" dirty="0">
                <a:ea typeface="新宋体" panose="02010609030101010101" charset="-122"/>
              </a:rPr>
              <a:t>a</a:t>
            </a:r>
            <a:r>
              <a:rPr lang="en-US" altLang="zh-CN" sz="2400" b="1" baseline="-25000" dirty="0">
                <a:ea typeface="新宋体" panose="02010609030101010101" charset="-122"/>
                <a:sym typeface="Symbol" panose="05050102010706020507" pitchFamily="18" charset="2"/>
              </a:rPr>
              <a:t>(1)</a:t>
            </a:r>
            <a:r>
              <a:rPr lang="en-US" altLang="zh-CN" sz="2400" b="1" dirty="0">
                <a:ea typeface="新宋体" panose="02010609030101010101" charset="-122"/>
              </a:rPr>
              <a:t>+T(</a:t>
            </a:r>
            <a:r>
              <a:rPr lang="en-US" altLang="zh-CN" sz="2400" b="1" dirty="0" err="1">
                <a:ea typeface="新宋体" panose="02010609030101010101" charset="-122"/>
              </a:rPr>
              <a:t>S,b</a:t>
            </a:r>
            <a:r>
              <a:rPr lang="en-US" altLang="zh-CN" sz="2400" b="1" baseline="-25000" dirty="0">
                <a:ea typeface="新宋体" panose="02010609030101010101" charset="-122"/>
                <a:sym typeface="Symbol" panose="05050102010706020507" pitchFamily="18" charset="2"/>
              </a:rPr>
              <a:t>(1)</a:t>
            </a:r>
            <a:r>
              <a:rPr lang="en-US" altLang="zh-CN" sz="2400" b="1" dirty="0">
                <a:ea typeface="新宋体" panose="02010609030101010101" charset="-122"/>
              </a:rPr>
              <a:t>)&lt;a</a:t>
            </a:r>
            <a:r>
              <a:rPr lang="en-US" altLang="zh-CN" sz="2400" b="1" baseline="-25000" dirty="0">
                <a:ea typeface="新宋体" panose="02010609030101010101" charset="-122"/>
                <a:sym typeface="Symbol" panose="05050102010706020507" pitchFamily="18" charset="2"/>
              </a:rPr>
              <a:t>(1)</a:t>
            </a:r>
            <a:r>
              <a:rPr lang="en-US" altLang="zh-CN" sz="2400" b="1" dirty="0">
                <a:ea typeface="新宋体" panose="02010609030101010101" charset="-122"/>
              </a:rPr>
              <a:t>+T’</a:t>
            </a:r>
            <a:r>
              <a:rPr lang="zh-CN" altLang="en-US" sz="2400" b="1" dirty="0">
                <a:ea typeface="新宋体" panose="02010609030101010101" charset="-122"/>
              </a:rPr>
              <a:t>。这与</a:t>
            </a:r>
            <a:r>
              <a:rPr lang="zh-CN" altLang="en-US" sz="2400" b="1" dirty="0">
                <a:ea typeface="新宋体" panose="02010609030101010101" charset="-122"/>
                <a:sym typeface="Symbol" panose="05050102010706020507" pitchFamily="18" charset="2"/>
              </a:rPr>
              <a:t></a:t>
            </a:r>
            <a:r>
              <a:rPr lang="zh-CN" altLang="en-US" sz="2400" b="1" dirty="0">
                <a:ea typeface="新宋体" panose="02010609030101010101" charset="-122"/>
              </a:rPr>
              <a:t>是</a:t>
            </a:r>
            <a:r>
              <a:rPr lang="en-US" altLang="zh-CN" sz="2400" b="1" dirty="0">
                <a:ea typeface="新宋体" panose="02010609030101010101" charset="-122"/>
              </a:rPr>
              <a:t>N</a:t>
            </a:r>
            <a:r>
              <a:rPr lang="zh-CN" altLang="en-US" sz="2400" b="1" dirty="0">
                <a:ea typeface="新宋体" panose="02010609030101010101" charset="-122"/>
              </a:rPr>
              <a:t>的最优调度矛盾。故</a:t>
            </a:r>
            <a:r>
              <a:rPr lang="en-US" altLang="zh-CN" sz="2400" b="1" dirty="0">
                <a:ea typeface="新宋体" panose="02010609030101010101" charset="-122"/>
              </a:rPr>
              <a:t>T’</a:t>
            </a:r>
            <a:r>
              <a:rPr lang="en-US" altLang="zh-CN" sz="2400" b="1" dirty="0">
                <a:ea typeface="新宋体" panose="02010609030101010101" charset="-122"/>
                <a:sym typeface="Symbol" panose="05050102010706020507" pitchFamily="18" charset="2"/>
              </a:rPr>
              <a:t></a:t>
            </a:r>
            <a:r>
              <a:rPr lang="en-US" altLang="zh-CN" sz="2400" b="1" dirty="0">
                <a:ea typeface="新宋体" panose="02010609030101010101" charset="-122"/>
              </a:rPr>
              <a:t>T(</a:t>
            </a:r>
            <a:r>
              <a:rPr lang="en-US" altLang="zh-CN" sz="2400" b="1" dirty="0" err="1">
                <a:ea typeface="新宋体" panose="02010609030101010101" charset="-122"/>
              </a:rPr>
              <a:t>S,b</a:t>
            </a:r>
            <a:r>
              <a:rPr lang="en-US" altLang="zh-CN" sz="2400" b="1" baseline="-25000" dirty="0">
                <a:ea typeface="新宋体" panose="02010609030101010101" charset="-122"/>
                <a:sym typeface="Symbol" panose="05050102010706020507" pitchFamily="18" charset="2"/>
              </a:rPr>
              <a:t>(1)</a:t>
            </a:r>
            <a:r>
              <a:rPr lang="en-US" altLang="zh-CN" sz="2400" b="1" dirty="0">
                <a:ea typeface="新宋体" panose="02010609030101010101" charset="-122"/>
              </a:rPr>
              <a:t>)</a:t>
            </a:r>
            <a:r>
              <a:rPr lang="zh-CN" altLang="en-US" sz="2400" b="1" dirty="0">
                <a:ea typeface="新宋体" panose="02010609030101010101" charset="-122"/>
              </a:rPr>
              <a:t>。从而</a:t>
            </a:r>
            <a:r>
              <a:rPr lang="en-US" altLang="zh-CN" sz="2400" b="1" dirty="0">
                <a:ea typeface="新宋体" panose="02010609030101010101" charset="-122"/>
              </a:rPr>
              <a:t>T’=T(</a:t>
            </a:r>
            <a:r>
              <a:rPr lang="en-US" altLang="zh-CN" sz="2400" b="1" dirty="0" err="1">
                <a:ea typeface="新宋体" panose="02010609030101010101" charset="-122"/>
              </a:rPr>
              <a:t>S,b</a:t>
            </a:r>
            <a:r>
              <a:rPr lang="en-US" altLang="zh-CN" sz="2400" b="1" baseline="-25000" dirty="0">
                <a:ea typeface="新宋体" panose="02010609030101010101" charset="-122"/>
                <a:sym typeface="Symbol" panose="05050102010706020507" pitchFamily="18" charset="2"/>
              </a:rPr>
              <a:t>(1)</a:t>
            </a:r>
            <a:r>
              <a:rPr lang="en-US" altLang="zh-CN" sz="2400" b="1" dirty="0">
                <a:ea typeface="新宋体" panose="02010609030101010101" charset="-122"/>
              </a:rPr>
              <a:t>)</a:t>
            </a:r>
            <a:r>
              <a:rPr lang="zh-CN" altLang="en-US" sz="2400" b="1" dirty="0">
                <a:ea typeface="新宋体" panose="02010609030101010101" charset="-122"/>
              </a:rPr>
              <a:t>。这就证明了流水作业调度问题具有最优子结构的性质。</a:t>
            </a:r>
            <a:endParaRPr lang="zh-CN" altLang="en-US" sz="2400" b="1" dirty="0"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zh-CN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2. </a:t>
            </a:r>
            <a:r>
              <a:rPr lang="zh-CN" altLang="en-US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流水作业调度的递归结构</a:t>
            </a:r>
            <a:endParaRPr lang="ja-JP" altLang="en-US" sz="31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80227" name="Text Box 3"/>
          <p:cNvSpPr txBox="1">
            <a:spLocks noChangeArrowheads="1"/>
          </p:cNvSpPr>
          <p:nvPr/>
        </p:nvSpPr>
        <p:spPr bwMode="auto">
          <a:xfrm>
            <a:off x="952500" y="1196975"/>
            <a:ext cx="7219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ea typeface="新宋体" panose="02010609030101010101" charset="-122"/>
              </a:rPr>
              <a:t>由流水作业调度问题的最优子结构性质可知</a:t>
            </a:r>
            <a:endParaRPr lang="zh-CN" altLang="en-US" sz="2800" b="1">
              <a:ea typeface="新宋体" panose="02010609030101010101" charset="-122"/>
            </a:endParaRPr>
          </a:p>
        </p:txBody>
      </p:sp>
      <p:graphicFrame>
        <p:nvGraphicFramePr>
          <p:cNvPr id="180228" name="Object 4"/>
          <p:cNvGraphicFramePr>
            <a:graphicFrameLocks noChangeAspect="1"/>
          </p:cNvGraphicFramePr>
          <p:nvPr/>
        </p:nvGraphicFramePr>
        <p:xfrm>
          <a:off x="1042988" y="1946275"/>
          <a:ext cx="4113212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公式" r:id="rId1" imgW="2095500" imgH="279400" progId="Equation.3">
                  <p:embed/>
                </p:oleObj>
              </mc:Choice>
              <mc:Fallback>
                <p:oleObj name="公式" r:id="rId1" imgW="2095500" imgH="279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946275"/>
                        <a:ext cx="4113212" cy="54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29" name="Object 5"/>
          <p:cNvGraphicFramePr>
            <a:graphicFrameLocks noChangeAspect="1"/>
          </p:cNvGraphicFramePr>
          <p:nvPr/>
        </p:nvGraphicFramePr>
        <p:xfrm>
          <a:off x="1054100" y="2562225"/>
          <a:ext cx="682942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公式" r:id="rId3" imgW="2908300" imgH="279400" progId="Equation.3">
                  <p:embed/>
                </p:oleObj>
              </mc:Choice>
              <mc:Fallback>
                <p:oleObj name="公式" r:id="rId3" imgW="2908300" imgH="279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100" y="2562225"/>
                        <a:ext cx="6829425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30" name="Text Box 6"/>
          <p:cNvSpPr txBox="1">
            <a:spLocks noChangeArrowheads="1"/>
          </p:cNvSpPr>
          <p:nvPr/>
        </p:nvSpPr>
        <p:spPr bwMode="auto">
          <a:xfrm>
            <a:off x="971550" y="3213100"/>
            <a:ext cx="6840538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>
                <a:ea typeface="新宋体" panose="02010609030101010101" charset="-122"/>
              </a:rPr>
              <a:t>式中， </a:t>
            </a:r>
            <a:r>
              <a:rPr lang="en-US" altLang="zh-CN" sz="2800" b="1"/>
              <a:t>max{t-ai, 0} </a:t>
            </a:r>
            <a:r>
              <a:rPr lang="en-US" altLang="zh-CN" sz="2800" b="1">
                <a:solidFill>
                  <a:srgbClr val="008000"/>
                </a:solidFill>
              </a:rPr>
              <a:t>=max{t, ai}-ai</a:t>
            </a:r>
            <a:r>
              <a:rPr lang="en-US" altLang="zh-CN" sz="2800" b="1"/>
              <a:t> </a:t>
            </a:r>
            <a:r>
              <a:rPr lang="zh-CN" altLang="en-US" sz="2800" b="1">
                <a:ea typeface="新宋体" panose="02010609030101010101" charset="-122"/>
              </a:rPr>
              <a:t>表示，作业</a:t>
            </a:r>
            <a:r>
              <a:rPr lang="en-US" altLang="zh-CN" sz="2800" b="1">
                <a:ea typeface="新宋体" panose="02010609030101010101" charset="-122"/>
              </a:rPr>
              <a:t>i</a:t>
            </a:r>
            <a:r>
              <a:rPr lang="zh-CN" altLang="en-US" sz="2800" b="1">
                <a:ea typeface="新宋体" panose="02010609030101010101" charset="-122"/>
              </a:rPr>
              <a:t>必须在</a:t>
            </a:r>
            <a:r>
              <a:rPr lang="en-US" altLang="zh-CN" sz="2800" b="1">
                <a:ea typeface="新宋体" panose="02010609030101010101" charset="-122"/>
              </a:rPr>
              <a:t>max{t, ai}</a:t>
            </a:r>
            <a:r>
              <a:rPr lang="zh-CN" altLang="en-US" sz="2800" b="1">
                <a:ea typeface="新宋体" panose="02010609030101010101" charset="-122"/>
              </a:rPr>
              <a:t>时间之后才能在机器</a:t>
            </a:r>
            <a:r>
              <a:rPr lang="en-US" altLang="zh-CN" sz="2800" b="1">
                <a:ea typeface="新宋体" panose="02010609030101010101" charset="-122"/>
              </a:rPr>
              <a:t>M2</a:t>
            </a:r>
            <a:r>
              <a:rPr lang="zh-CN" altLang="en-US" sz="2800" b="1">
                <a:ea typeface="新宋体" panose="02010609030101010101" charset="-122"/>
              </a:rPr>
              <a:t>上开工。</a:t>
            </a:r>
            <a:endParaRPr lang="zh-CN" altLang="en-US" sz="2800" b="1"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zh-CN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3. Johnson</a:t>
            </a:r>
            <a:r>
              <a:rPr lang="zh-CN" altLang="en-US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不等式</a:t>
            </a:r>
            <a:endParaRPr lang="zh-CN" altLang="en-US" sz="31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82275" name="Text Box 3"/>
          <p:cNvSpPr txBox="1">
            <a:spLocks noChangeArrowheads="1"/>
          </p:cNvSpPr>
          <p:nvPr/>
        </p:nvSpPr>
        <p:spPr bwMode="auto">
          <a:xfrm>
            <a:off x="684213" y="908050"/>
            <a:ext cx="7704137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>
                <a:ea typeface="新宋体" panose="02010609030101010101" charset="-122"/>
              </a:rPr>
              <a:t>对递归式的分析表明，算法可进一步得到简化。</a:t>
            </a:r>
            <a:endParaRPr lang="zh-CN" altLang="en-US" sz="2400">
              <a:ea typeface="新宋体" panose="0201060903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ea typeface="新宋体" panose="02010609030101010101" charset="-122"/>
              </a:rPr>
              <a:t>设</a:t>
            </a:r>
            <a:r>
              <a:rPr lang="zh-CN" altLang="en-US" sz="2400" b="1">
                <a:ea typeface="新宋体" panose="02010609030101010101" charset="-122"/>
                <a:sym typeface="Symbol" panose="05050102010706020507" pitchFamily="18" charset="2"/>
              </a:rPr>
              <a:t></a:t>
            </a:r>
            <a:r>
              <a:rPr lang="zh-CN" altLang="en-US" sz="2400" b="1">
                <a:ea typeface="新宋体" panose="02010609030101010101" charset="-122"/>
              </a:rPr>
              <a:t>是作业集</a:t>
            </a:r>
            <a:r>
              <a:rPr lang="en-US" altLang="zh-CN" sz="2400" b="1">
                <a:ea typeface="新宋体" panose="02010609030101010101" charset="-122"/>
              </a:rPr>
              <a:t>S</a:t>
            </a:r>
            <a:r>
              <a:rPr lang="zh-CN" altLang="en-US" sz="2400" b="1">
                <a:ea typeface="新宋体" panose="02010609030101010101" charset="-122"/>
              </a:rPr>
              <a:t>在机器</a:t>
            </a:r>
            <a:r>
              <a:rPr lang="en-US" altLang="zh-CN" sz="2400" b="1">
                <a:ea typeface="新宋体" panose="02010609030101010101" charset="-122"/>
              </a:rPr>
              <a:t>M2</a:t>
            </a:r>
            <a:r>
              <a:rPr lang="zh-CN" altLang="en-US" sz="2400" b="1">
                <a:ea typeface="新宋体" panose="02010609030101010101" charset="-122"/>
              </a:rPr>
              <a:t>的等待时间为</a:t>
            </a:r>
            <a:r>
              <a:rPr lang="en-US" altLang="zh-CN" sz="2400" b="1">
                <a:ea typeface="新宋体" panose="02010609030101010101" charset="-122"/>
              </a:rPr>
              <a:t>t</a:t>
            </a:r>
            <a:r>
              <a:rPr lang="zh-CN" altLang="en-US" sz="2400" b="1">
                <a:ea typeface="新宋体" panose="02010609030101010101" charset="-122"/>
              </a:rPr>
              <a:t>时的任一最优调度。若</a:t>
            </a:r>
            <a:r>
              <a:rPr lang="zh-CN" altLang="en-US" sz="2400" b="1">
                <a:ea typeface="新宋体" panose="02010609030101010101" charset="-122"/>
                <a:sym typeface="Symbol" panose="05050102010706020507" pitchFamily="18" charset="2"/>
              </a:rPr>
              <a:t></a:t>
            </a:r>
            <a:r>
              <a:rPr lang="en-US" altLang="zh-CN" sz="2400" b="1">
                <a:ea typeface="新宋体" panose="02010609030101010101" charset="-122"/>
              </a:rPr>
              <a:t>(1)=i, </a:t>
            </a:r>
            <a:r>
              <a:rPr lang="en-US" altLang="zh-CN" sz="2400" b="1">
                <a:ea typeface="新宋体" panose="02010609030101010101" charset="-122"/>
                <a:sym typeface="Symbol" panose="05050102010706020507" pitchFamily="18" charset="2"/>
              </a:rPr>
              <a:t></a:t>
            </a:r>
            <a:r>
              <a:rPr lang="en-US" altLang="zh-CN" sz="2400" b="1">
                <a:ea typeface="新宋体" panose="02010609030101010101" charset="-122"/>
              </a:rPr>
              <a:t>(2)=j</a:t>
            </a:r>
            <a:r>
              <a:rPr lang="zh-CN" altLang="en-US" sz="2400" b="1">
                <a:ea typeface="新宋体" panose="02010609030101010101" charset="-122"/>
              </a:rPr>
              <a:t>。则由动态规划递归式可得</a:t>
            </a:r>
            <a:r>
              <a:rPr lang="en-US" altLang="zh-CN" sz="2400" b="1">
                <a:ea typeface="新宋体" panose="02010609030101010101" charset="-122"/>
              </a:rPr>
              <a:t>:</a:t>
            </a:r>
            <a:endParaRPr lang="en-US" altLang="zh-CN" sz="2400" b="1">
              <a:ea typeface="新宋体" panose="0201060903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ea typeface="新宋体" panose="02010609030101010101" charset="-122"/>
              </a:rPr>
              <a:t>T(S,t)=a</a:t>
            </a:r>
            <a:r>
              <a:rPr lang="en-US" altLang="zh-CN" sz="2400" b="1" baseline="-25000">
                <a:ea typeface="新宋体" panose="02010609030101010101" charset="-122"/>
              </a:rPr>
              <a:t>i</a:t>
            </a:r>
            <a:r>
              <a:rPr lang="en-US" altLang="zh-CN" sz="2400" b="1">
                <a:ea typeface="新宋体" panose="02010609030101010101" charset="-122"/>
              </a:rPr>
              <a:t>+T(S-{i},b</a:t>
            </a:r>
            <a:r>
              <a:rPr lang="en-US" altLang="zh-CN" sz="2400" b="1" baseline="-25000">
                <a:ea typeface="新宋体" panose="02010609030101010101" charset="-122"/>
              </a:rPr>
              <a:t>i</a:t>
            </a:r>
            <a:r>
              <a:rPr lang="en-US" altLang="zh-CN" sz="2400" b="1">
                <a:ea typeface="新宋体" panose="02010609030101010101" charset="-122"/>
              </a:rPr>
              <a:t>+max{t-a</a:t>
            </a:r>
            <a:r>
              <a:rPr lang="en-US" altLang="zh-CN" sz="2400" b="1" baseline="-25000">
                <a:ea typeface="新宋体" panose="02010609030101010101" charset="-122"/>
              </a:rPr>
              <a:t>i</a:t>
            </a:r>
            <a:r>
              <a:rPr lang="en-US" altLang="zh-CN" sz="2400" b="1">
                <a:ea typeface="新宋体" panose="02010609030101010101" charset="-122"/>
              </a:rPr>
              <a:t>,0})=a</a:t>
            </a:r>
            <a:r>
              <a:rPr lang="en-US" altLang="zh-CN" sz="2400" b="1" baseline="-25000">
                <a:ea typeface="新宋体" panose="02010609030101010101" charset="-122"/>
              </a:rPr>
              <a:t>i</a:t>
            </a:r>
            <a:r>
              <a:rPr lang="en-US" altLang="zh-CN" sz="2400" b="1">
                <a:ea typeface="新宋体" panose="02010609030101010101" charset="-122"/>
              </a:rPr>
              <a:t>+a</a:t>
            </a:r>
            <a:r>
              <a:rPr lang="en-US" altLang="zh-CN" sz="2400" b="1" baseline="-25000">
                <a:ea typeface="新宋体" panose="02010609030101010101" charset="-122"/>
              </a:rPr>
              <a:t>j</a:t>
            </a:r>
            <a:r>
              <a:rPr lang="en-US" altLang="zh-CN" sz="2400" b="1">
                <a:ea typeface="新宋体" panose="02010609030101010101" charset="-122"/>
              </a:rPr>
              <a:t>+T(S-{i,j},t</a:t>
            </a:r>
            <a:r>
              <a:rPr lang="en-US" altLang="zh-CN" sz="2400" b="1" baseline="-25000">
                <a:ea typeface="新宋体" panose="02010609030101010101" charset="-122"/>
              </a:rPr>
              <a:t>ij</a:t>
            </a:r>
            <a:r>
              <a:rPr lang="en-US" altLang="zh-CN" sz="2400" b="1">
                <a:ea typeface="新宋体" panose="02010609030101010101" charset="-122"/>
              </a:rPr>
              <a:t>)</a:t>
            </a:r>
            <a:endParaRPr lang="en-US" altLang="zh-CN" sz="2400" b="1">
              <a:ea typeface="新宋体" panose="0201060903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ea typeface="新宋体" panose="02010609030101010101" charset="-122"/>
              </a:rPr>
              <a:t>其中，</a:t>
            </a:r>
            <a:endParaRPr lang="zh-CN" altLang="en-US" sz="2400" b="1">
              <a:ea typeface="新宋体" panose="02010609030101010101" charset="-122"/>
            </a:endParaRPr>
          </a:p>
        </p:txBody>
      </p:sp>
      <p:graphicFrame>
        <p:nvGraphicFramePr>
          <p:cNvPr id="182276" name="Object 4"/>
          <p:cNvGraphicFramePr>
            <a:graphicFrameLocks noChangeAspect="1"/>
          </p:cNvGraphicFramePr>
          <p:nvPr/>
        </p:nvGraphicFramePr>
        <p:xfrm>
          <a:off x="1692275" y="2989263"/>
          <a:ext cx="5688013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公式" r:id="rId1" imgW="2730500" imgH="914400" progId="Equation.3">
                  <p:embed/>
                </p:oleObj>
              </mc:Choice>
              <mc:Fallback>
                <p:oleObj name="公式" r:id="rId1" imgW="273050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989263"/>
                        <a:ext cx="5688013" cy="187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77" name="Text Box 5"/>
          <p:cNvSpPr txBox="1">
            <a:spLocks noChangeArrowheads="1"/>
          </p:cNvSpPr>
          <p:nvPr/>
        </p:nvSpPr>
        <p:spPr bwMode="auto">
          <a:xfrm>
            <a:off x="684213" y="5054600"/>
            <a:ext cx="7632700" cy="968375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如果作业</a:t>
            </a:r>
            <a:r>
              <a:rPr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和</a:t>
            </a:r>
            <a:r>
              <a:rPr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j</a:t>
            </a:r>
            <a:r>
              <a:rPr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满足</a:t>
            </a:r>
            <a:r>
              <a:rPr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min{b</a:t>
            </a:r>
            <a:r>
              <a:rPr lang="en-US" altLang="zh-CN" sz="2400" b="1" baseline="-25000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,a</a:t>
            </a:r>
            <a:r>
              <a:rPr lang="en-US" altLang="zh-CN" sz="2400" b="1" baseline="-25000">
                <a:latin typeface="黑体" panose="02010609060101010101" pitchFamily="2" charset="-122"/>
                <a:ea typeface="黑体" panose="02010609060101010101" pitchFamily="2" charset="-122"/>
              </a:rPr>
              <a:t>j</a:t>
            </a:r>
            <a:r>
              <a:rPr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}</a:t>
            </a:r>
            <a:r>
              <a:rPr lang="en-US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≥</a:t>
            </a:r>
            <a:r>
              <a:rPr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min{b</a:t>
            </a:r>
            <a:r>
              <a:rPr lang="en-US" altLang="zh-CN" sz="2400" b="1" baseline="-25000">
                <a:latin typeface="黑体" panose="02010609060101010101" pitchFamily="2" charset="-122"/>
                <a:ea typeface="黑体" panose="02010609060101010101" pitchFamily="2" charset="-122"/>
              </a:rPr>
              <a:t>j</a:t>
            </a:r>
            <a:r>
              <a:rPr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,a</a:t>
            </a:r>
            <a:r>
              <a:rPr lang="en-US" altLang="zh-CN" sz="2400" b="1" baseline="-25000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en-US" altLang="zh-CN" sz="2400" b="1">
                <a:latin typeface="黑体" panose="02010609060101010101" pitchFamily="2" charset="-122"/>
                <a:ea typeface="黑体" panose="02010609060101010101" pitchFamily="2" charset="-122"/>
              </a:rPr>
              <a:t>}</a:t>
            </a:r>
            <a:r>
              <a:rPr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，则</a:t>
            </a:r>
            <a:r>
              <a:rPr lang="zh-CN" altLang="en-US" sz="2400" b="1">
                <a:solidFill>
                  <a:srgbClr val="8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称作业</a:t>
            </a:r>
            <a:r>
              <a:rPr lang="en-US" altLang="zh-CN" sz="2400" b="1">
                <a:solidFill>
                  <a:srgbClr val="8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zh-CN" altLang="en-US" sz="2400" b="1">
                <a:solidFill>
                  <a:srgbClr val="8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和</a:t>
            </a:r>
            <a:r>
              <a:rPr lang="en-US" altLang="zh-CN" sz="2400" b="1">
                <a:solidFill>
                  <a:srgbClr val="8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j</a:t>
            </a:r>
            <a:r>
              <a:rPr lang="zh-CN" altLang="en-US" sz="2400" b="1">
                <a:solidFill>
                  <a:srgbClr val="8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满足</a:t>
            </a:r>
            <a:r>
              <a:rPr lang="en-US" altLang="zh-CN" sz="2400" b="1">
                <a:solidFill>
                  <a:srgbClr val="8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Johnson</a:t>
            </a:r>
            <a:r>
              <a:rPr lang="zh-CN" altLang="en-US" sz="2400" b="1">
                <a:solidFill>
                  <a:srgbClr val="8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不等式</a:t>
            </a:r>
            <a:r>
              <a:rPr lang="zh-CN" altLang="en-US" sz="2400" b="1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endParaRPr lang="zh-CN" altLang="en-US" sz="2400" b="1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zh-CN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3. Johnson</a:t>
            </a:r>
            <a:r>
              <a:rPr lang="zh-CN" altLang="en-US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不等式</a:t>
            </a:r>
            <a:endParaRPr lang="ja-JP" altLang="en-US" sz="31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83299" name="Text Box 3"/>
          <p:cNvSpPr txBox="1">
            <a:spLocks noChangeArrowheads="1"/>
          </p:cNvSpPr>
          <p:nvPr/>
        </p:nvSpPr>
        <p:spPr bwMode="auto">
          <a:xfrm>
            <a:off x="682625" y="981075"/>
            <a:ext cx="7921625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>
                <a:ea typeface="新宋体" panose="02010609030101010101" charset="-122"/>
              </a:rPr>
              <a:t>交换作业</a:t>
            </a:r>
            <a:r>
              <a:rPr lang="en-US" altLang="zh-CN" sz="2400" b="1">
                <a:ea typeface="新宋体" panose="02010609030101010101" charset="-122"/>
              </a:rPr>
              <a:t>i</a:t>
            </a:r>
            <a:r>
              <a:rPr lang="zh-CN" altLang="en-US" sz="2400" b="1">
                <a:ea typeface="新宋体" panose="02010609030101010101" charset="-122"/>
              </a:rPr>
              <a:t>和作业</a:t>
            </a:r>
            <a:r>
              <a:rPr lang="en-US" altLang="zh-CN" sz="2400" b="1">
                <a:ea typeface="新宋体" panose="02010609030101010101" charset="-122"/>
              </a:rPr>
              <a:t>j</a:t>
            </a:r>
            <a:r>
              <a:rPr lang="zh-CN" altLang="en-US" sz="2400" b="1">
                <a:ea typeface="新宋体" panose="02010609030101010101" charset="-122"/>
              </a:rPr>
              <a:t>的加工顺序，得到作业集</a:t>
            </a:r>
            <a:r>
              <a:rPr lang="en-US" altLang="zh-CN" sz="2400" b="1">
                <a:ea typeface="新宋体" panose="02010609030101010101" charset="-122"/>
              </a:rPr>
              <a:t>S</a:t>
            </a:r>
            <a:r>
              <a:rPr lang="zh-CN" altLang="en-US" sz="2400" b="1">
                <a:ea typeface="新宋体" panose="02010609030101010101" charset="-122"/>
              </a:rPr>
              <a:t>的另一调度，它所需的加工时间为</a:t>
            </a:r>
            <a:r>
              <a:rPr lang="en-US" altLang="zh-CN" sz="2400" b="1">
                <a:ea typeface="新宋体" panose="02010609030101010101" charset="-122"/>
              </a:rPr>
              <a:t>T’(S, t)=a</a:t>
            </a:r>
            <a:r>
              <a:rPr lang="en-US" altLang="zh-CN" sz="2400" b="1" baseline="-25000">
                <a:ea typeface="新宋体" panose="02010609030101010101" charset="-122"/>
              </a:rPr>
              <a:t>i</a:t>
            </a:r>
            <a:r>
              <a:rPr lang="en-US" altLang="zh-CN" sz="2400" b="1">
                <a:ea typeface="新宋体" panose="02010609030101010101" charset="-122"/>
              </a:rPr>
              <a:t>+a</a:t>
            </a:r>
            <a:r>
              <a:rPr lang="en-US" altLang="zh-CN" sz="2400" b="1" baseline="-25000">
                <a:ea typeface="新宋体" panose="02010609030101010101" charset="-122"/>
              </a:rPr>
              <a:t>j</a:t>
            </a:r>
            <a:r>
              <a:rPr lang="en-US" altLang="zh-CN" sz="2400" b="1">
                <a:ea typeface="新宋体" panose="02010609030101010101" charset="-122"/>
              </a:rPr>
              <a:t>+T(S-{i, j}, t</a:t>
            </a:r>
            <a:r>
              <a:rPr lang="en-US" altLang="zh-CN" sz="2400" b="1" baseline="-25000">
                <a:ea typeface="新宋体" panose="02010609030101010101" charset="-122"/>
              </a:rPr>
              <a:t>ji</a:t>
            </a:r>
            <a:r>
              <a:rPr lang="en-US" altLang="zh-CN" sz="2400" b="1">
                <a:ea typeface="新宋体" panose="02010609030101010101" charset="-122"/>
              </a:rPr>
              <a:t>)</a:t>
            </a:r>
            <a:endParaRPr lang="en-US" altLang="zh-CN" sz="2400" b="1">
              <a:ea typeface="新宋体" panose="0201060903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>
                <a:solidFill>
                  <a:srgbClr val="008000"/>
                </a:solidFill>
                <a:ea typeface="新宋体" panose="02010609030101010101" charset="-122"/>
              </a:rPr>
              <a:t>其中</a:t>
            </a:r>
            <a:r>
              <a:rPr lang="zh-CN" altLang="en-US" sz="2400" b="1">
                <a:ea typeface="新宋体" panose="02010609030101010101" charset="-122"/>
              </a:rPr>
              <a:t>，</a:t>
            </a:r>
            <a:endParaRPr lang="zh-CN" altLang="en-US" sz="2400" b="1">
              <a:ea typeface="新宋体" panose="0201060903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>
                <a:ea typeface="新宋体" panose="02010609030101010101" charset="-122"/>
              </a:rPr>
              <a:t>当作业</a:t>
            </a:r>
            <a:r>
              <a:rPr lang="en-US" altLang="zh-CN" sz="2400" b="1">
                <a:ea typeface="新宋体" panose="02010609030101010101" charset="-122"/>
              </a:rPr>
              <a:t>i</a:t>
            </a:r>
            <a:r>
              <a:rPr lang="zh-CN" altLang="en-US" sz="2400" b="1">
                <a:ea typeface="新宋体" panose="02010609030101010101" charset="-122"/>
              </a:rPr>
              <a:t>和</a:t>
            </a:r>
            <a:r>
              <a:rPr lang="en-US" altLang="zh-CN" sz="2400" b="1">
                <a:ea typeface="新宋体" panose="02010609030101010101" charset="-122"/>
              </a:rPr>
              <a:t>j</a:t>
            </a:r>
            <a:r>
              <a:rPr lang="zh-CN" altLang="en-US" sz="2400" b="1">
                <a:ea typeface="新宋体" panose="02010609030101010101" charset="-122"/>
              </a:rPr>
              <a:t>满足</a:t>
            </a:r>
            <a:r>
              <a:rPr lang="en-US" altLang="zh-CN" sz="2400" b="1">
                <a:ea typeface="新宋体" panose="02010609030101010101" charset="-122"/>
              </a:rPr>
              <a:t>Johnson</a:t>
            </a:r>
            <a:r>
              <a:rPr lang="zh-CN" altLang="en-US" sz="2400" b="1">
                <a:ea typeface="新宋体" panose="02010609030101010101" charset="-122"/>
              </a:rPr>
              <a:t>不等式时，有</a:t>
            </a:r>
            <a:endParaRPr lang="zh-CN" altLang="en-US" sz="2400" b="1">
              <a:ea typeface="新宋体" panose="02010609030101010101" charset="-122"/>
            </a:endParaRPr>
          </a:p>
        </p:txBody>
      </p:sp>
      <p:graphicFrame>
        <p:nvGraphicFramePr>
          <p:cNvPr id="183300" name="Object 4"/>
          <p:cNvGraphicFramePr>
            <a:graphicFrameLocks noChangeAspect="1"/>
          </p:cNvGraphicFramePr>
          <p:nvPr/>
        </p:nvGraphicFramePr>
        <p:xfrm>
          <a:off x="1619250" y="2024063"/>
          <a:ext cx="561657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公式" r:id="rId1" imgW="2857500" imgH="241300" progId="Equation.3">
                  <p:embed/>
                </p:oleObj>
              </mc:Choice>
              <mc:Fallback>
                <p:oleObj name="公式" r:id="rId1" imgW="28575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024063"/>
                        <a:ext cx="5616575" cy="468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1" name="Object 5"/>
          <p:cNvGraphicFramePr>
            <a:graphicFrameLocks noChangeAspect="1"/>
          </p:cNvGraphicFramePr>
          <p:nvPr/>
        </p:nvGraphicFramePr>
        <p:xfrm>
          <a:off x="1333500" y="3141663"/>
          <a:ext cx="6767513" cy="223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公式" r:id="rId3" imgW="2959100" imgH="990600" progId="Equation.3">
                  <p:embed/>
                </p:oleObj>
              </mc:Choice>
              <mc:Fallback>
                <p:oleObj name="公式" r:id="rId3" imgW="2959100" imgH="990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500" y="3141663"/>
                        <a:ext cx="6767513" cy="2233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02" name="Text Box 6"/>
          <p:cNvSpPr txBox="1">
            <a:spLocks noChangeArrowheads="1"/>
          </p:cNvSpPr>
          <p:nvPr/>
        </p:nvSpPr>
        <p:spPr bwMode="auto">
          <a:xfrm>
            <a:off x="755650" y="3789363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8000"/>
                </a:solidFill>
                <a:sym typeface="Wingdings" panose="05000000000000000000" pitchFamily="2" charset="2"/>
              </a:rPr>
              <a:t></a:t>
            </a:r>
            <a:endParaRPr lang="en-US" altLang="zh-CN">
              <a:solidFill>
                <a:srgbClr val="008000"/>
              </a:solidFill>
            </a:endParaRPr>
          </a:p>
        </p:txBody>
      </p:sp>
      <p:sp>
        <p:nvSpPr>
          <p:cNvPr id="183303" name="Text Box 7"/>
          <p:cNvSpPr txBox="1">
            <a:spLocks noChangeArrowheads="1"/>
          </p:cNvSpPr>
          <p:nvPr/>
        </p:nvSpPr>
        <p:spPr bwMode="auto">
          <a:xfrm>
            <a:off x="755650" y="4357688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8000"/>
                </a:solidFill>
                <a:sym typeface="Wingdings" panose="05000000000000000000" pitchFamily="2" charset="2"/>
              </a:rPr>
              <a:t></a:t>
            </a:r>
            <a:endParaRPr lang="en-US" altLang="zh-CN">
              <a:solidFill>
                <a:srgbClr val="008000"/>
              </a:solidFill>
            </a:endParaRPr>
          </a:p>
        </p:txBody>
      </p:sp>
      <p:sp>
        <p:nvSpPr>
          <p:cNvPr id="183304" name="Text Box 8"/>
          <p:cNvSpPr txBox="1">
            <a:spLocks noChangeArrowheads="1"/>
          </p:cNvSpPr>
          <p:nvPr/>
        </p:nvSpPr>
        <p:spPr bwMode="auto">
          <a:xfrm>
            <a:off x="755650" y="4908550"/>
            <a:ext cx="43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8000"/>
                </a:solidFill>
                <a:sym typeface="Wingdings" panose="05000000000000000000" pitchFamily="2" charset="2"/>
              </a:rPr>
              <a:t></a:t>
            </a:r>
            <a:endParaRPr lang="en-US" altLang="zh-CN">
              <a:solidFill>
                <a:srgbClr val="008000"/>
              </a:solidFill>
            </a:endParaRPr>
          </a:p>
        </p:txBody>
      </p:sp>
      <p:sp>
        <p:nvSpPr>
          <p:cNvPr id="183305" name="Text Box 9"/>
          <p:cNvSpPr txBox="1">
            <a:spLocks noChangeArrowheads="1"/>
          </p:cNvSpPr>
          <p:nvPr/>
        </p:nvSpPr>
        <p:spPr bwMode="auto">
          <a:xfrm>
            <a:off x="755650" y="5661025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8000"/>
                </a:solidFill>
                <a:sym typeface="Wingdings" panose="05000000000000000000" pitchFamily="2" charset="2"/>
              </a:rPr>
              <a:t>   </a:t>
            </a:r>
            <a:r>
              <a:rPr lang="en-US" altLang="zh-CN" sz="2400" b="1">
                <a:sym typeface="Wingdings" panose="05000000000000000000" pitchFamily="2" charset="2"/>
              </a:rPr>
              <a:t>tij≤tji</a:t>
            </a:r>
            <a:r>
              <a:rPr lang="en-US" altLang="zh-CN" sz="2400" b="1">
                <a:solidFill>
                  <a:srgbClr val="008000"/>
                </a:solidFill>
                <a:sym typeface="Wingdings" panose="05000000000000000000" pitchFamily="2" charset="2"/>
              </a:rPr>
              <a:t>  </a:t>
            </a:r>
            <a:r>
              <a:rPr lang="en-US" altLang="zh-CN">
                <a:solidFill>
                  <a:srgbClr val="008000"/>
                </a:solidFill>
                <a:sym typeface="Wingdings" panose="05000000000000000000" pitchFamily="2" charset="2"/>
              </a:rPr>
              <a:t></a:t>
            </a:r>
            <a:r>
              <a:rPr lang="en-US" altLang="zh-CN" sz="2400" b="1">
                <a:solidFill>
                  <a:srgbClr val="008000"/>
                </a:solidFill>
                <a:sym typeface="Wingdings" panose="05000000000000000000" pitchFamily="2" charset="2"/>
              </a:rPr>
              <a:t>  </a:t>
            </a:r>
            <a:r>
              <a:rPr lang="en-US" altLang="zh-CN" sz="2400" b="1">
                <a:sym typeface="Wingdings" panose="05000000000000000000" pitchFamily="2" charset="2"/>
              </a:rPr>
              <a:t>T(S, t) ≤ T’(S, t)</a:t>
            </a:r>
            <a:r>
              <a:rPr lang="en-US" altLang="zh-CN" sz="2400" b="1">
                <a:solidFill>
                  <a:srgbClr val="008000"/>
                </a:solidFill>
                <a:sym typeface="Wingdings" panose="05000000000000000000" pitchFamily="2" charset="2"/>
              </a:rPr>
              <a:t> </a:t>
            </a:r>
            <a:endParaRPr lang="en-US" altLang="zh-CN" sz="2400" b="1">
              <a:solidFill>
                <a:srgbClr val="008000"/>
              </a:solidFill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zh-CN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3. Johnson</a:t>
            </a:r>
            <a:r>
              <a:rPr lang="zh-CN" altLang="en-US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不等式</a:t>
            </a:r>
            <a:endParaRPr lang="ja-JP" altLang="en-US" sz="31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84323" name="Text Box 3"/>
          <p:cNvSpPr txBox="1">
            <a:spLocks noChangeArrowheads="1"/>
          </p:cNvSpPr>
          <p:nvPr/>
        </p:nvSpPr>
        <p:spPr bwMode="auto">
          <a:xfrm>
            <a:off x="827088" y="1196975"/>
            <a:ext cx="7705725" cy="420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>
                <a:ea typeface="新宋体" panose="02010609030101010101" charset="-122"/>
              </a:rPr>
              <a:t>由此可见，当作业</a:t>
            </a:r>
            <a:r>
              <a:rPr lang="en-US" altLang="zh-CN" sz="2400" b="1">
                <a:ea typeface="新宋体" panose="02010609030101010101" charset="-122"/>
              </a:rPr>
              <a:t>i</a:t>
            </a:r>
            <a:r>
              <a:rPr lang="zh-CN" altLang="en-US" sz="2400" b="1">
                <a:ea typeface="新宋体" panose="02010609030101010101" charset="-122"/>
              </a:rPr>
              <a:t>和作业</a:t>
            </a:r>
            <a:r>
              <a:rPr lang="en-US" altLang="zh-CN" sz="2400" b="1">
                <a:ea typeface="新宋体" panose="02010609030101010101" charset="-122"/>
              </a:rPr>
              <a:t>j</a:t>
            </a:r>
            <a:r>
              <a:rPr lang="zh-CN" altLang="en-US" sz="2400" b="1">
                <a:ea typeface="新宋体" panose="02010609030101010101" charset="-122"/>
              </a:rPr>
              <a:t>不满足</a:t>
            </a:r>
            <a:r>
              <a:rPr lang="en-US" altLang="zh-CN" sz="2400" b="1">
                <a:ea typeface="新宋体" panose="02010609030101010101" charset="-122"/>
              </a:rPr>
              <a:t>Johnson</a:t>
            </a:r>
            <a:r>
              <a:rPr lang="zh-CN" altLang="en-US" sz="2400" b="1">
                <a:ea typeface="新宋体" panose="02010609030101010101" charset="-122"/>
              </a:rPr>
              <a:t>不等式时，交换它们的加工顺序后，不增加加工时间。</a:t>
            </a:r>
            <a:endParaRPr lang="zh-CN" altLang="en-US" sz="2400" b="1">
              <a:ea typeface="新宋体" panose="02010609030101010101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400" b="1">
                <a:ea typeface="新宋体" panose="02010609030101010101" charset="-122"/>
              </a:rPr>
              <a:t>对于流水作业调度问题，必存在最优调度</a:t>
            </a:r>
            <a:r>
              <a:rPr lang="zh-CN" altLang="en-US" sz="2400" b="1">
                <a:ea typeface="新宋体" panose="02010609030101010101" charset="-122"/>
                <a:sym typeface="Symbol" panose="05050102010706020507" pitchFamily="18" charset="2"/>
              </a:rPr>
              <a:t></a:t>
            </a:r>
            <a:r>
              <a:rPr lang="zh-CN" altLang="en-US" sz="2400" b="1">
                <a:ea typeface="新宋体" panose="02010609030101010101" charset="-122"/>
              </a:rPr>
              <a:t> ，使得作业</a:t>
            </a:r>
            <a:r>
              <a:rPr lang="zh-CN" altLang="en-US" sz="2400" b="1">
                <a:ea typeface="新宋体" panose="02010609030101010101" charset="-122"/>
                <a:sym typeface="Symbol" panose="05050102010706020507" pitchFamily="18" charset="2"/>
              </a:rPr>
              <a:t></a:t>
            </a:r>
            <a:r>
              <a:rPr lang="en-US" altLang="zh-CN" sz="2400" b="1">
                <a:ea typeface="新宋体" panose="02010609030101010101" charset="-122"/>
              </a:rPr>
              <a:t>(i)</a:t>
            </a:r>
            <a:r>
              <a:rPr lang="zh-CN" altLang="en-US" sz="2400" b="1">
                <a:ea typeface="新宋体" panose="02010609030101010101" charset="-122"/>
              </a:rPr>
              <a:t>和</a:t>
            </a:r>
            <a:r>
              <a:rPr lang="zh-CN" altLang="en-US" sz="2400" b="1">
                <a:ea typeface="新宋体" panose="02010609030101010101" charset="-122"/>
                <a:sym typeface="Symbol" panose="05050102010706020507" pitchFamily="18" charset="2"/>
              </a:rPr>
              <a:t></a:t>
            </a:r>
            <a:r>
              <a:rPr lang="en-US" altLang="zh-CN" sz="2400" b="1">
                <a:ea typeface="新宋体" panose="02010609030101010101" charset="-122"/>
              </a:rPr>
              <a:t>(i+1)</a:t>
            </a:r>
            <a:r>
              <a:rPr lang="zh-CN" altLang="en-US" sz="2400" b="1">
                <a:ea typeface="新宋体" panose="02010609030101010101" charset="-122"/>
              </a:rPr>
              <a:t>满足</a:t>
            </a:r>
            <a:r>
              <a:rPr lang="en-US" altLang="zh-CN" sz="2400" b="1">
                <a:ea typeface="新宋体" panose="02010609030101010101" charset="-122"/>
              </a:rPr>
              <a:t>Johnson</a:t>
            </a:r>
            <a:r>
              <a:rPr lang="zh-CN" altLang="en-US" sz="2400" b="1">
                <a:ea typeface="新宋体" panose="02010609030101010101" charset="-122"/>
              </a:rPr>
              <a:t>不等式。</a:t>
            </a:r>
            <a:endParaRPr lang="zh-CN" altLang="en-US" sz="2400" b="1">
              <a:ea typeface="新宋体" panose="02010609030101010101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400" b="1">
                <a:ea typeface="新宋体" panose="02010609030101010101" charset="-122"/>
              </a:rPr>
              <a:t>进一步还可以证明，调度满足</a:t>
            </a:r>
            <a:r>
              <a:rPr lang="en-US" altLang="zh-CN" sz="2400" b="1">
                <a:ea typeface="新宋体" panose="02010609030101010101" charset="-122"/>
              </a:rPr>
              <a:t>Johnson</a:t>
            </a:r>
            <a:r>
              <a:rPr lang="zh-CN" altLang="en-US" sz="2400" b="1">
                <a:ea typeface="新宋体" panose="02010609030101010101" charset="-122"/>
              </a:rPr>
              <a:t>法则当且仅当对任意</a:t>
            </a:r>
            <a:r>
              <a:rPr lang="en-US" altLang="zh-CN" sz="2400" b="1">
                <a:ea typeface="新宋体" panose="02010609030101010101" charset="-122"/>
              </a:rPr>
              <a:t>i&lt;j</a:t>
            </a:r>
            <a:r>
              <a:rPr lang="zh-CN" altLang="en-US" sz="2400" b="1">
                <a:ea typeface="新宋体" panose="02010609030101010101" charset="-122"/>
              </a:rPr>
              <a:t>有</a:t>
            </a:r>
            <a:endParaRPr lang="zh-CN" altLang="en-US" sz="2400" b="1">
              <a:ea typeface="新宋体" panose="02010609030101010101" charset="-122"/>
            </a:endParaRPr>
          </a:p>
          <a:p>
            <a:pPr>
              <a:lnSpc>
                <a:spcPct val="125000"/>
              </a:lnSpc>
            </a:pPr>
            <a:endParaRPr lang="zh-CN" altLang="en-US" sz="2400" b="1">
              <a:ea typeface="新宋体" panose="02010609030101010101" charset="-122"/>
            </a:endParaRPr>
          </a:p>
          <a:p>
            <a:pPr>
              <a:lnSpc>
                <a:spcPct val="125000"/>
              </a:lnSpc>
            </a:pPr>
            <a:endParaRPr lang="zh-CN" altLang="en-US" sz="2400" b="1">
              <a:ea typeface="新宋体" panose="02010609030101010101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400" b="1">
                <a:ea typeface="新宋体" panose="02010609030101010101" charset="-122"/>
              </a:rPr>
              <a:t>由此可知，</a:t>
            </a:r>
            <a:r>
              <a:rPr lang="zh-CN" altLang="en-US" sz="2400" b="1">
                <a:solidFill>
                  <a:srgbClr val="8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所有满足</a:t>
            </a:r>
            <a:r>
              <a:rPr lang="en-US" altLang="zh-CN" sz="2400" b="1">
                <a:solidFill>
                  <a:srgbClr val="8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Johnson</a:t>
            </a:r>
            <a:r>
              <a:rPr lang="zh-CN" altLang="en-US" sz="2400" b="1">
                <a:solidFill>
                  <a:srgbClr val="8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法则的调度均为最优调度。</a:t>
            </a:r>
            <a:r>
              <a:rPr lang="zh-CN" altLang="en-US" sz="2400" b="1">
                <a:ea typeface="新宋体" panose="02010609030101010101" charset="-122"/>
              </a:rPr>
              <a:t> </a:t>
            </a:r>
            <a:endParaRPr lang="zh-CN" altLang="en-US" sz="2400" b="1">
              <a:ea typeface="新宋体" panose="02010609030101010101" charset="-122"/>
            </a:endParaRPr>
          </a:p>
        </p:txBody>
      </p:sp>
      <p:sp>
        <p:nvSpPr>
          <p:cNvPr id="184324" name="Rectangle 4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4325" name="Rectangle 5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4326" name="Rectangle 6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4327" name="Rectangle 7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4328" name="Rectangle 8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84329" name="Object 9"/>
          <p:cNvGraphicFramePr>
            <a:graphicFrameLocks noChangeAspect="1"/>
          </p:cNvGraphicFramePr>
          <p:nvPr/>
        </p:nvGraphicFramePr>
        <p:xfrm>
          <a:off x="2484438" y="4005263"/>
          <a:ext cx="518477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公式" r:id="rId1" imgW="2108200" imgH="241300" progId="Equation.3">
                  <p:embed/>
                </p:oleObj>
              </mc:Choice>
              <mc:Fallback>
                <p:oleObj name="公式" r:id="rId1" imgW="2108200" imgH="241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005263"/>
                        <a:ext cx="5184775" cy="58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ChangeArrowheads="1"/>
          </p:cNvSpPr>
          <p:nvPr/>
        </p:nvSpPr>
        <p:spPr bwMode="auto">
          <a:xfrm>
            <a:off x="611188" y="188913"/>
            <a:ext cx="7345362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zh-CN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4. </a:t>
            </a:r>
            <a:r>
              <a:rPr lang="zh-CN" altLang="en-US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算法描述</a:t>
            </a:r>
            <a:endParaRPr lang="ja-JP" altLang="en-US" sz="31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85347" name="Text Box 3"/>
          <p:cNvSpPr txBox="1">
            <a:spLocks noChangeArrowheads="1"/>
          </p:cNvSpPr>
          <p:nvPr/>
        </p:nvSpPr>
        <p:spPr bwMode="auto">
          <a:xfrm>
            <a:off x="900113" y="908050"/>
            <a:ext cx="7416800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>
                <a:ea typeface="黑体" panose="02010609060101010101" pitchFamily="2" charset="-122"/>
              </a:rPr>
              <a:t>流水作业调度问题的</a:t>
            </a:r>
            <a:r>
              <a:rPr lang="en-US" altLang="zh-CN" sz="2800" b="1">
                <a:ea typeface="黑体" panose="02010609060101010101" pitchFamily="2" charset="-122"/>
              </a:rPr>
              <a:t>Johnson</a:t>
            </a:r>
            <a:r>
              <a:rPr lang="zh-CN" altLang="en-US" sz="2800" b="1">
                <a:ea typeface="黑体" panose="02010609060101010101" pitchFamily="2" charset="-122"/>
              </a:rPr>
              <a:t>算法</a:t>
            </a:r>
            <a:endParaRPr lang="zh-CN" altLang="en-US" sz="2800" b="1">
              <a:ea typeface="黑体" panose="0201060906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800" b="1">
                <a:ea typeface="新宋体" panose="02010609030101010101" charset="-122"/>
              </a:rPr>
              <a:t>(1)</a:t>
            </a:r>
            <a:r>
              <a:rPr lang="zh-CN" altLang="en-US" sz="2800" b="1">
                <a:ea typeface="新宋体" panose="02010609030101010101" charset="-122"/>
              </a:rPr>
              <a:t>令</a:t>
            </a:r>
            <a:endParaRPr lang="zh-CN" altLang="en-US" sz="2800" b="1">
              <a:ea typeface="新宋体" panose="02010609030101010101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800" b="1">
                <a:ea typeface="新宋体" panose="02010609030101010101" charset="-122"/>
              </a:rPr>
              <a:t>(2)</a:t>
            </a:r>
            <a:r>
              <a:rPr lang="zh-CN" altLang="en-US" sz="2800" b="1">
                <a:ea typeface="新宋体" panose="02010609030101010101" charset="-122"/>
              </a:rPr>
              <a:t>将</a:t>
            </a:r>
            <a:r>
              <a:rPr lang="en-US" altLang="zh-CN" sz="2800" b="1">
                <a:ea typeface="新宋体" panose="02010609030101010101" charset="-122"/>
              </a:rPr>
              <a:t>N</a:t>
            </a:r>
            <a:r>
              <a:rPr lang="en-US" altLang="zh-CN" sz="2800" b="1" baseline="-25000">
                <a:ea typeface="新宋体" panose="02010609030101010101" charset="-122"/>
              </a:rPr>
              <a:t>1</a:t>
            </a:r>
            <a:r>
              <a:rPr lang="zh-CN" altLang="en-US" sz="2800" b="1">
                <a:ea typeface="新宋体" panose="02010609030101010101" charset="-122"/>
              </a:rPr>
              <a:t>中作业依</a:t>
            </a:r>
            <a:r>
              <a:rPr lang="en-US" altLang="zh-CN" sz="2800" b="1">
                <a:ea typeface="新宋体" panose="02010609030101010101" charset="-122"/>
              </a:rPr>
              <a:t>a</a:t>
            </a:r>
            <a:r>
              <a:rPr lang="en-US" altLang="zh-CN" sz="2800" b="1" baseline="-25000">
                <a:ea typeface="新宋体" panose="02010609030101010101" charset="-122"/>
              </a:rPr>
              <a:t>i</a:t>
            </a:r>
            <a:r>
              <a:rPr lang="zh-CN" altLang="en-US" sz="2800" b="1">
                <a:ea typeface="新宋体" panose="02010609030101010101" charset="-122"/>
              </a:rPr>
              <a:t>的非减序排序；</a:t>
            </a:r>
            <a:endParaRPr lang="zh-CN" altLang="en-US" sz="2800" b="1">
              <a:ea typeface="新宋体" panose="02010609030101010101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800" b="1">
                <a:ea typeface="新宋体" panose="02010609030101010101" charset="-122"/>
              </a:rPr>
              <a:t>    将</a:t>
            </a:r>
            <a:r>
              <a:rPr lang="en-US" altLang="zh-CN" sz="2800" b="1">
                <a:ea typeface="新宋体" panose="02010609030101010101" charset="-122"/>
              </a:rPr>
              <a:t>N</a:t>
            </a:r>
            <a:r>
              <a:rPr lang="en-US" altLang="zh-CN" sz="2800" b="1" baseline="-25000">
                <a:ea typeface="新宋体" panose="02010609030101010101" charset="-122"/>
              </a:rPr>
              <a:t>2</a:t>
            </a:r>
            <a:r>
              <a:rPr lang="zh-CN" altLang="en-US" sz="2800" b="1">
                <a:ea typeface="新宋体" panose="02010609030101010101" charset="-122"/>
              </a:rPr>
              <a:t>中作业依</a:t>
            </a:r>
            <a:r>
              <a:rPr lang="en-US" altLang="zh-CN" sz="2800" b="1">
                <a:ea typeface="新宋体" panose="02010609030101010101" charset="-122"/>
              </a:rPr>
              <a:t>b</a:t>
            </a:r>
            <a:r>
              <a:rPr lang="en-US" altLang="zh-CN" sz="2800" b="1" baseline="-25000">
                <a:ea typeface="新宋体" panose="02010609030101010101" charset="-122"/>
              </a:rPr>
              <a:t>i</a:t>
            </a:r>
            <a:r>
              <a:rPr lang="zh-CN" altLang="en-US" sz="2800" b="1">
                <a:ea typeface="新宋体" panose="02010609030101010101" charset="-122"/>
              </a:rPr>
              <a:t>的非增序排序；</a:t>
            </a:r>
            <a:endParaRPr lang="zh-CN" altLang="en-US" sz="2800" b="1">
              <a:ea typeface="新宋体" panose="02010609030101010101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800" b="1">
                <a:ea typeface="新宋体" panose="02010609030101010101" charset="-122"/>
              </a:rPr>
              <a:t>(3)N</a:t>
            </a:r>
            <a:r>
              <a:rPr lang="en-US" altLang="zh-CN" sz="2800" b="1" baseline="-25000">
                <a:ea typeface="新宋体" panose="02010609030101010101" charset="-122"/>
              </a:rPr>
              <a:t>1</a:t>
            </a:r>
            <a:r>
              <a:rPr lang="zh-CN" altLang="en-US" sz="2800" b="1">
                <a:ea typeface="新宋体" panose="02010609030101010101" charset="-122"/>
              </a:rPr>
              <a:t>中作业接</a:t>
            </a:r>
            <a:r>
              <a:rPr lang="en-US" altLang="zh-CN" sz="2800" b="1">
                <a:ea typeface="新宋体" panose="02010609030101010101" charset="-122"/>
              </a:rPr>
              <a:t>N</a:t>
            </a:r>
            <a:r>
              <a:rPr lang="en-US" altLang="zh-CN" sz="2800" b="1" baseline="-25000">
                <a:ea typeface="新宋体" panose="02010609030101010101" charset="-122"/>
              </a:rPr>
              <a:t>2</a:t>
            </a:r>
            <a:r>
              <a:rPr lang="zh-CN" altLang="en-US" sz="2800" b="1">
                <a:ea typeface="新宋体" panose="02010609030101010101" charset="-122"/>
              </a:rPr>
              <a:t>中作业构成满足</a:t>
            </a:r>
            <a:r>
              <a:rPr lang="en-US" altLang="zh-CN" sz="2800" b="1">
                <a:ea typeface="新宋体" panose="02010609030101010101" charset="-122"/>
              </a:rPr>
              <a:t>Johnson</a:t>
            </a:r>
            <a:r>
              <a:rPr lang="zh-CN" altLang="en-US" sz="2800" b="1">
                <a:ea typeface="新宋体" panose="02010609030101010101" charset="-122"/>
              </a:rPr>
              <a:t>法</a:t>
            </a:r>
            <a:endParaRPr lang="zh-CN" altLang="en-US" sz="2800" b="1">
              <a:ea typeface="新宋体" panose="02010609030101010101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800" b="1">
                <a:ea typeface="新宋体" panose="02010609030101010101" charset="-122"/>
              </a:rPr>
              <a:t>    则的最优调度。</a:t>
            </a:r>
            <a:endParaRPr lang="zh-CN" altLang="en-US" sz="2800" b="1">
              <a:ea typeface="新宋体" panose="02010609030101010101" charset="-122"/>
            </a:endParaRPr>
          </a:p>
        </p:txBody>
      </p:sp>
      <p:graphicFrame>
        <p:nvGraphicFramePr>
          <p:cNvPr id="185348" name="Object 4"/>
          <p:cNvGraphicFramePr>
            <a:graphicFrameLocks noChangeAspect="1"/>
          </p:cNvGraphicFramePr>
          <p:nvPr/>
        </p:nvGraphicFramePr>
        <p:xfrm>
          <a:off x="1835150" y="1557338"/>
          <a:ext cx="4392613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公式" r:id="rId1" imgW="2044700" imgH="228600" progId="Equation.3">
                  <p:embed/>
                </p:oleObj>
              </mc:Choice>
              <mc:Fallback>
                <p:oleObj name="公式" r:id="rId1" imgW="20447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557338"/>
                        <a:ext cx="4392613" cy="490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49" name="Text Box 5"/>
          <p:cNvSpPr txBox="1">
            <a:spLocks noChangeArrowheads="1"/>
          </p:cNvSpPr>
          <p:nvPr/>
        </p:nvSpPr>
        <p:spPr bwMode="auto">
          <a:xfrm>
            <a:off x="973138" y="4508500"/>
            <a:ext cx="7343775" cy="1514475"/>
          </a:xfrm>
          <a:prstGeom prst="rect">
            <a:avLst/>
          </a:prstGeom>
          <a:noFill/>
          <a:ln w="50800">
            <a:solidFill>
              <a:srgbClr val="FF66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>
                <a:solidFill>
                  <a:srgbClr val="008000"/>
                </a:solidFill>
                <a:latin typeface="Verdana" panose="020B0604030504040204" pitchFamily="34" charset="0"/>
                <a:ea typeface="黑体" panose="02010609060101010101" pitchFamily="2" charset="-122"/>
              </a:rPr>
              <a:t>算法复杂度分析：</a:t>
            </a:r>
            <a:r>
              <a:rPr lang="zh-CN" altLang="en-US" sz="2400" b="1">
                <a:ea typeface="新宋体" panose="02010609030101010101" charset="-122"/>
              </a:rPr>
              <a:t>算法的主要计算时间花在对作业集的排序。因此，在最坏情况下算法所需的计算时间为</a:t>
            </a:r>
            <a:r>
              <a:rPr lang="en-US" altLang="zh-CN" sz="2400" b="1">
                <a:ea typeface="新宋体" panose="02010609030101010101" charset="-122"/>
              </a:rPr>
              <a:t>O(nlogn)</a:t>
            </a:r>
            <a:r>
              <a:rPr lang="zh-CN" altLang="en-US" sz="2400" b="1">
                <a:ea typeface="新宋体" panose="02010609030101010101" charset="-122"/>
              </a:rPr>
              <a:t>，所需的空间为</a:t>
            </a:r>
            <a:r>
              <a:rPr lang="en-US" altLang="zh-CN" sz="2400" b="1">
                <a:ea typeface="新宋体" panose="02010609030101010101" charset="-122"/>
              </a:rPr>
              <a:t>O(n)</a:t>
            </a:r>
            <a:r>
              <a:rPr lang="zh-CN" altLang="en-US" sz="2400" b="1">
                <a:ea typeface="新宋体" panose="02010609030101010101" charset="-122"/>
              </a:rPr>
              <a:t>。</a:t>
            </a:r>
            <a:endParaRPr lang="zh-CN" altLang="en-US" sz="2400" b="1"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19A0-7177-4058-B426-647A19476A14}" type="slidenum">
              <a:rPr lang="en-US" altLang="zh-CN"/>
            </a:fld>
            <a:endParaRPr lang="en-US" altLang="zh-CN"/>
          </a:p>
        </p:txBody>
      </p:sp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30275"/>
          </a:xfrm>
        </p:spPr>
        <p:txBody>
          <a:bodyPr/>
          <a:lstStyle/>
          <a:p>
            <a:r>
              <a:rPr lang="zh-CN" altLang="en-US"/>
              <a:t>本周任务</a:t>
            </a:r>
            <a:endParaRPr lang="zh-CN" altLang="en-US"/>
          </a:p>
        </p:txBody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507413" cy="4105275"/>
          </a:xfrm>
        </p:spPr>
        <p:txBody>
          <a:bodyPr/>
          <a:lstStyle/>
          <a:p>
            <a:pPr marL="495300" indent="-495300">
              <a:buFont typeface="Wingdings" panose="05000000000000000000" pitchFamily="2" charset="2"/>
              <a:buAutoNum type="arabicPeriod"/>
            </a:pPr>
            <a:r>
              <a:rPr lang="zh-CN" altLang="en-US" dirty="0"/>
              <a:t>习题</a:t>
            </a:r>
            <a:r>
              <a:rPr lang="en-US" altLang="zh-CN" dirty="0"/>
              <a:t>3-14</a:t>
            </a:r>
            <a:endParaRPr lang="en-US" altLang="zh-CN" dirty="0"/>
          </a:p>
          <a:p>
            <a:pPr marL="495300" indent="-495300">
              <a:buFont typeface="Wingdings" panose="05000000000000000000" pitchFamily="2" charset="2"/>
              <a:buAutoNum type="arabicPeriod"/>
            </a:pPr>
            <a:r>
              <a:rPr lang="zh-CN" altLang="en-US" dirty="0"/>
              <a:t>对维数为序列</a:t>
            </a:r>
            <a:r>
              <a:rPr lang="en-US" altLang="zh-CN" dirty="0"/>
              <a:t>5, 10, 3, 12, 5, 50, 6</a:t>
            </a:r>
            <a:r>
              <a:rPr lang="zh-CN" altLang="en-US"/>
              <a:t>的</a:t>
            </a:r>
            <a:r>
              <a:rPr lang="zh-CN" altLang="en-US" smtClean="0"/>
              <a:t>各</a:t>
            </a:r>
            <a:r>
              <a:rPr lang="zh-CN" altLang="en-US"/>
              <a:t>矩阵</a:t>
            </a:r>
            <a:r>
              <a:rPr lang="zh-CN" altLang="en-US" smtClean="0"/>
              <a:t>，</a:t>
            </a:r>
            <a:r>
              <a:rPr lang="zh-CN" altLang="en-US" dirty="0"/>
              <a:t>找出其矩阵链乘积的一个最优加全部括号。 </a:t>
            </a:r>
            <a:endParaRPr lang="zh-CN" altLang="en-US" dirty="0"/>
          </a:p>
          <a:p>
            <a:pPr marL="495300" indent="-495300">
              <a:buFont typeface="Wingdings" panose="05000000000000000000" pitchFamily="2" charset="2"/>
              <a:buAutoNum type="arabicPeriod"/>
            </a:pPr>
            <a:r>
              <a:rPr lang="zh-CN" altLang="en-US" dirty="0"/>
              <a:t>说明如何在不用表</a:t>
            </a:r>
            <a:r>
              <a:rPr lang="en-US" altLang="zh-CN" dirty="0"/>
              <a:t>b</a:t>
            </a:r>
            <a:r>
              <a:rPr lang="zh-CN" altLang="en-US" dirty="0"/>
              <a:t>的情况下，通过已计算出的表</a:t>
            </a:r>
            <a:r>
              <a:rPr lang="en-US" altLang="zh-CN" dirty="0"/>
              <a:t>c</a:t>
            </a:r>
            <a:r>
              <a:rPr lang="zh-CN" altLang="en-US" dirty="0"/>
              <a:t>和原始序列</a:t>
            </a:r>
            <a:r>
              <a:rPr lang="en-US" altLang="zh-CN" i="1" dirty="0" err="1"/>
              <a:t>Xm</a:t>
            </a:r>
            <a:r>
              <a:rPr lang="en-US" altLang="zh-CN" i="1" dirty="0"/>
              <a:t> </a:t>
            </a:r>
            <a:r>
              <a:rPr lang="en-US" altLang="zh-CN" dirty="0"/>
              <a:t>=&lt; </a:t>
            </a:r>
            <a:r>
              <a:rPr lang="en-US" altLang="zh-CN" i="1" dirty="0"/>
              <a:t>x</a:t>
            </a:r>
            <a:r>
              <a:rPr lang="en-US" altLang="zh-CN" dirty="0"/>
              <a:t>1, </a:t>
            </a:r>
            <a:r>
              <a:rPr lang="en-US" altLang="zh-CN" i="1" dirty="0"/>
              <a:t>x</a:t>
            </a:r>
            <a:r>
              <a:rPr lang="en-US" altLang="zh-CN" dirty="0"/>
              <a:t>2, ...,</a:t>
            </a:r>
            <a:r>
              <a:rPr lang="en-US" altLang="zh-CN" i="1" dirty="0"/>
              <a:t> </a:t>
            </a:r>
            <a:r>
              <a:rPr lang="en-US" altLang="zh-CN" i="1" dirty="0" err="1"/>
              <a:t>xm</a:t>
            </a:r>
            <a:r>
              <a:rPr lang="en-US" altLang="zh-CN" dirty="0"/>
              <a:t>&gt;</a:t>
            </a:r>
            <a:r>
              <a:rPr lang="zh-CN" altLang="en-US" dirty="0"/>
              <a:t>和 </a:t>
            </a:r>
            <a:r>
              <a:rPr lang="en-US" altLang="zh-CN" i="1" dirty="0" err="1"/>
              <a:t>Yn</a:t>
            </a:r>
            <a:r>
              <a:rPr lang="en-US" altLang="zh-CN" i="1" dirty="0"/>
              <a:t> </a:t>
            </a:r>
            <a:r>
              <a:rPr lang="en-US" altLang="zh-CN" dirty="0"/>
              <a:t>= &lt;</a:t>
            </a:r>
            <a:r>
              <a:rPr lang="en-US" altLang="zh-CN" i="1" dirty="0"/>
              <a:t>y</a:t>
            </a:r>
            <a:r>
              <a:rPr lang="en-US" altLang="zh-CN" dirty="0"/>
              <a:t>1, </a:t>
            </a:r>
            <a:r>
              <a:rPr lang="en-US" altLang="zh-CN" i="1" dirty="0"/>
              <a:t>y</a:t>
            </a:r>
            <a:r>
              <a:rPr lang="en-US" altLang="zh-CN" dirty="0"/>
              <a:t>2, ..., </a:t>
            </a:r>
            <a:r>
              <a:rPr lang="en-US" altLang="zh-CN" i="1" dirty="0" err="1"/>
              <a:t>yn</a:t>
            </a:r>
            <a:r>
              <a:rPr lang="en-US" altLang="zh-CN" dirty="0"/>
              <a:t>&gt;</a:t>
            </a:r>
            <a:r>
              <a:rPr lang="zh-CN" altLang="en-US" dirty="0"/>
              <a:t>，在</a:t>
            </a:r>
            <a:r>
              <a:rPr lang="en-US" altLang="zh-CN" i="1" dirty="0"/>
              <a:t>O</a:t>
            </a:r>
            <a:r>
              <a:rPr lang="en-US" altLang="zh-CN" dirty="0"/>
              <a:t>(</a:t>
            </a:r>
            <a:r>
              <a:rPr lang="en-US" altLang="zh-CN" i="1" dirty="0"/>
              <a:t>m </a:t>
            </a:r>
            <a:r>
              <a:rPr lang="en-US" altLang="zh-CN" dirty="0"/>
              <a:t>+</a:t>
            </a:r>
            <a:r>
              <a:rPr lang="en-US" altLang="zh-CN" i="1" dirty="0"/>
              <a:t>n</a:t>
            </a:r>
            <a:r>
              <a:rPr lang="en-US" altLang="zh-CN" dirty="0"/>
              <a:t>) </a:t>
            </a:r>
            <a:r>
              <a:rPr lang="zh-CN" altLang="en-US" dirty="0"/>
              <a:t>时间内重构一个</a:t>
            </a:r>
            <a:r>
              <a:rPr lang="en-US" altLang="zh-CN" dirty="0"/>
              <a:t>LCS. </a:t>
            </a:r>
            <a:endParaRPr lang="en-US" altLang="zh-CN" dirty="0"/>
          </a:p>
          <a:p>
            <a:pPr marL="495300" indent="-495300">
              <a:buFont typeface="Wingdings" panose="05000000000000000000" pitchFamily="2" charset="2"/>
              <a:buAutoNum type="arabicPeriod"/>
            </a:pPr>
            <a:r>
              <a:rPr lang="zh-CN" altLang="en-US" dirty="0"/>
              <a:t>使用替换法证明</a:t>
            </a:r>
            <a:r>
              <a:rPr lang="en-US" altLang="zh-CN" dirty="0"/>
              <a:t>P63</a:t>
            </a:r>
            <a:r>
              <a:rPr lang="zh-CN" altLang="en-US" dirty="0"/>
              <a:t>递归公式的解为</a:t>
            </a:r>
            <a:r>
              <a:rPr lang="en-US" altLang="zh-CN" dirty="0"/>
              <a:t>Ω(2</a:t>
            </a:r>
            <a:r>
              <a:rPr lang="en-US" altLang="zh-CN" baseline="30000" dirty="0"/>
              <a:t>n</a:t>
            </a:r>
            <a:r>
              <a:rPr lang="en-US" altLang="zh-CN" dirty="0"/>
              <a:t>) </a:t>
            </a:r>
            <a:endParaRPr lang="en-US" altLang="zh-CN" dirty="0"/>
          </a:p>
        </p:txBody>
      </p:sp>
      <p:graphicFrame>
        <p:nvGraphicFramePr>
          <p:cNvPr id="517124" name="Object 4"/>
          <p:cNvGraphicFramePr>
            <a:graphicFrameLocks noChangeAspect="1"/>
          </p:cNvGraphicFramePr>
          <p:nvPr/>
        </p:nvGraphicFramePr>
        <p:xfrm>
          <a:off x="1908175" y="5281613"/>
          <a:ext cx="4608513" cy="131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公式" r:id="rId1" imgW="2133600" imgH="609600" progId="Equation.3">
                  <p:embed/>
                </p:oleObj>
              </mc:Choice>
              <mc:Fallback>
                <p:oleObj name="公式" r:id="rId1" imgW="2133600" imgH="609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281613"/>
                        <a:ext cx="4608513" cy="131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0</TotalTime>
  <Words>13832</Words>
  <Application>WPS 演示</Application>
  <PresentationFormat>全屏显示(4:3)</PresentationFormat>
  <Paragraphs>1166</Paragraphs>
  <Slides>86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19</vt:i4>
      </vt:variant>
      <vt:variant>
        <vt:lpstr>幻灯片标题</vt:lpstr>
      </vt:variant>
      <vt:variant>
        <vt:i4>86</vt:i4>
      </vt:variant>
    </vt:vector>
  </HeadingPairs>
  <TitlesOfParts>
    <vt:vector size="122" baseType="lpstr">
      <vt:lpstr>Arial</vt:lpstr>
      <vt:lpstr>宋体</vt:lpstr>
      <vt:lpstr>Wingdings</vt:lpstr>
      <vt:lpstr>Comic Sans MS</vt:lpstr>
      <vt:lpstr>黑体</vt:lpstr>
      <vt:lpstr>微软雅黑</vt:lpstr>
      <vt:lpstr>Arial Unicode MS</vt:lpstr>
      <vt:lpstr>Times New Roman</vt:lpstr>
      <vt:lpstr>楷体_GB2312</vt:lpstr>
      <vt:lpstr>新宋体</vt:lpstr>
      <vt:lpstr>Symbol</vt:lpstr>
      <vt:lpstr>Verdana</vt:lpstr>
      <vt:lpstr>Tahoma</vt:lpstr>
      <vt:lpstr>Symbol</vt:lpstr>
      <vt:lpstr>Wingdings</vt:lpstr>
      <vt:lpstr>楷体_GB2312</vt:lpstr>
      <vt:lpstr>Network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第3章  动态规划</vt:lpstr>
      <vt:lpstr>最大子段和问题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最长公共子序列问题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凸多边形最优三角剖分问题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多边形游戏问题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图像压缩问题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电路布线</vt:lpstr>
      <vt:lpstr>电路布线问题</vt:lpstr>
      <vt:lpstr>电路布线问题</vt:lpstr>
      <vt:lpstr>1.最优子结构性质</vt:lpstr>
      <vt:lpstr>PowerPoint 演示文稿</vt:lpstr>
      <vt:lpstr>PowerPoint 演示文稿</vt:lpstr>
      <vt:lpstr>PowerPoint 演示文稿</vt:lpstr>
      <vt:lpstr>最优二叉查找树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0-1背包问题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流水作业调度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本周任务</vt:lpstr>
    </vt:vector>
  </TitlesOfParts>
  <Company>mac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ee</dc:creator>
  <cp:lastModifiedBy>Administrator</cp:lastModifiedBy>
  <cp:revision>32</cp:revision>
  <dcterms:created xsi:type="dcterms:W3CDTF">2009-10-15T18:45:00Z</dcterms:created>
  <dcterms:modified xsi:type="dcterms:W3CDTF">2019-11-12T14:57:31Z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