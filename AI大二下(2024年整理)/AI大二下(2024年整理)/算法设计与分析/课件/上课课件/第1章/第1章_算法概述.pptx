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66"/>
  </p:handoutMasterIdLst>
  <p:sldIdLst>
    <p:sldId id="316" r:id="rId3"/>
    <p:sldId id="450" r:id="rId4"/>
    <p:sldId id="451" r:id="rId5"/>
    <p:sldId id="452" r:id="rId6"/>
    <p:sldId id="453" r:id="rId7"/>
    <p:sldId id="454" r:id="rId8"/>
    <p:sldId id="455" r:id="rId9"/>
    <p:sldId id="456" r:id="rId10"/>
    <p:sldId id="457" r:id="rId12"/>
    <p:sldId id="458" r:id="rId13"/>
    <p:sldId id="459" r:id="rId14"/>
    <p:sldId id="460" r:id="rId15"/>
    <p:sldId id="258" r:id="rId16"/>
    <p:sldId id="387" r:id="rId17"/>
    <p:sldId id="399" r:id="rId18"/>
    <p:sldId id="383" r:id="rId19"/>
    <p:sldId id="321" r:id="rId20"/>
    <p:sldId id="323" r:id="rId21"/>
    <p:sldId id="384" r:id="rId22"/>
    <p:sldId id="385" r:id="rId23"/>
    <p:sldId id="386" r:id="rId24"/>
    <p:sldId id="322" r:id="rId25"/>
    <p:sldId id="326" r:id="rId26"/>
    <p:sldId id="325" r:id="rId27"/>
    <p:sldId id="327" r:id="rId28"/>
    <p:sldId id="397" r:id="rId29"/>
    <p:sldId id="262" r:id="rId30"/>
    <p:sldId id="263" r:id="rId31"/>
    <p:sldId id="328" r:id="rId32"/>
    <p:sldId id="307" r:id="rId33"/>
    <p:sldId id="388" r:id="rId34"/>
    <p:sldId id="335" r:id="rId35"/>
    <p:sldId id="330" r:id="rId36"/>
    <p:sldId id="331" r:id="rId37"/>
    <p:sldId id="332" r:id="rId38"/>
    <p:sldId id="333" r:id="rId39"/>
    <p:sldId id="334" r:id="rId40"/>
    <p:sldId id="336" r:id="rId41"/>
    <p:sldId id="337" r:id="rId42"/>
    <p:sldId id="338" r:id="rId43"/>
    <p:sldId id="339" r:id="rId44"/>
    <p:sldId id="340" r:id="rId45"/>
    <p:sldId id="341" r:id="rId46"/>
    <p:sldId id="342" r:id="rId47"/>
    <p:sldId id="400" r:id="rId48"/>
    <p:sldId id="343" r:id="rId49"/>
    <p:sldId id="344" r:id="rId50"/>
    <p:sldId id="345" r:id="rId51"/>
    <p:sldId id="364" r:id="rId52"/>
    <p:sldId id="389" r:id="rId53"/>
    <p:sldId id="390" r:id="rId54"/>
    <p:sldId id="372" r:id="rId55"/>
    <p:sldId id="393" r:id="rId56"/>
    <p:sldId id="394" r:id="rId57"/>
    <p:sldId id="373" r:id="rId58"/>
    <p:sldId id="391" r:id="rId59"/>
    <p:sldId id="392" r:id="rId60"/>
    <p:sldId id="395" r:id="rId61"/>
    <p:sldId id="370" r:id="rId62"/>
    <p:sldId id="377" r:id="rId63"/>
    <p:sldId id="380" r:id="rId64"/>
    <p:sldId id="381" r:id="rId6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CC"/>
    <a:srgbClr val="FFFF99"/>
    <a:srgbClr val="FF0000"/>
    <a:srgbClr val="FF3300"/>
    <a:srgbClr val="FFCC00"/>
    <a:srgbClr val="FF9966"/>
    <a:srgbClr val="FF7C8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56" autoAdjust="0"/>
    <p:restoredTop sz="93199" autoAdjust="0"/>
  </p:normalViewPr>
  <p:slideViewPr>
    <p:cSldViewPr>
      <p:cViewPr varScale="1">
        <p:scale>
          <a:sx n="101" d="100"/>
          <a:sy n="101" d="100"/>
        </p:scale>
        <p:origin x="1878"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handoutMaster" Target="handoutMasters/handoutMaster1.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39.wmf"/><Relationship Id="rId8" Type="http://schemas.openxmlformats.org/officeDocument/2006/relationships/image" Target="../media/image38.wmf"/><Relationship Id="rId7" Type="http://schemas.openxmlformats.org/officeDocument/2006/relationships/image" Target="../media/image37.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 Id="rId3" Type="http://schemas.openxmlformats.org/officeDocument/2006/relationships/image" Target="../media/image33.wmf"/><Relationship Id="rId2" Type="http://schemas.openxmlformats.org/officeDocument/2006/relationships/image" Target="../media/image32.wmf"/><Relationship Id="rId15" Type="http://schemas.openxmlformats.org/officeDocument/2006/relationships/image" Target="../media/image45.wmf"/><Relationship Id="rId14" Type="http://schemas.openxmlformats.org/officeDocument/2006/relationships/image" Target="../media/image44.wmf"/><Relationship Id="rId13" Type="http://schemas.openxmlformats.org/officeDocument/2006/relationships/image" Target="../media/image43.wmf"/><Relationship Id="rId12" Type="http://schemas.openxmlformats.org/officeDocument/2006/relationships/image" Target="../media/image42.wmf"/><Relationship Id="rId11" Type="http://schemas.openxmlformats.org/officeDocument/2006/relationships/image" Target="../media/image41.wmf"/><Relationship Id="rId10" Type="http://schemas.openxmlformats.org/officeDocument/2006/relationships/image" Target="../media/image40.wmf"/><Relationship Id="rId1" Type="http://schemas.openxmlformats.org/officeDocument/2006/relationships/image" Target="../media/image3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16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en-US" altLang="zh-CN"/>
          </a:p>
        </p:txBody>
      </p:sp>
      <p:sp>
        <p:nvSpPr>
          <p:cNvPr id="28160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28160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28160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AB04E8B5-A15C-472B-BBF1-0DA08138E05E}"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en-US" altLang="zh-CN"/>
          </a:p>
        </p:txBody>
      </p:sp>
      <p:sp>
        <p:nvSpPr>
          <p:cNvPr id="16179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1617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179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6179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16179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6716196A-E156-4136-A40C-A43502EC54F6}"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1)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注意方法论，算法与其他课程不同，不仅讲授知识，更重要的是讲授方法，因此需要通过例子学习方法，学习每种算法设计或分析方法的思维方式和思考步骤。</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(2)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注意例子，在课程中会以讲授例子为主，这些例子都是相关方法的一些典型的问题，因而需要牢记问题并掌握例子中的解决方法，只有这样，才能在未来的算法设计与分析中举一反三，设计并分析合适的算法。</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(3)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有选择的学习数学知识，算法设计与分析中涉及到了大量的数学知识，有一些可能超出当前的知识范围，因而需要有选择地对这些数学知识进行补充学习。</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(4)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多做习题勤思考，课程中的内容，如果没有做足够的习题，其实还不是自己的，因此必须做一定数量的习题，</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MOOC</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中的作业其实远远不够，推荐做做</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算法导论</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中的习题。</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(5)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理论联系实际，仅仅学习了算法设计与分析的知识，还只是纸上谈兵，掌握算法还需要做一定的实现，</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online judge</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是一种好方法，网上有分门别类的</a:t>
            </a:r>
            <a:r>
              <a:rPr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oj</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问题整理，可以参考。</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fld id="{6716196A-E156-4136-A40C-A43502EC54F6}"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D5B9E3E-099A-49A4-A085-E110ACC875F5}" type="slidenum">
              <a:rPr lang="en-US" altLang="zh-CN"/>
            </a:fld>
            <a:endParaRPr lang="en-US" altLang="zh-CN"/>
          </a:p>
        </p:txBody>
      </p:sp>
      <p:sp>
        <p:nvSpPr>
          <p:cNvPr id="267266" name="Rectangle 2"/>
          <p:cNvSpPr>
            <a:spLocks noGrp="1" noRot="1" noChangeAspect="1" noChangeArrowheads="1" noTextEdit="1"/>
          </p:cNvSpPr>
          <p:nvPr>
            <p:ph type="sldImg"/>
          </p:nvPr>
        </p:nvSpPr>
        <p:spPr/>
      </p:sp>
      <p:sp>
        <p:nvSpPr>
          <p:cNvPr id="267267" name="Rectangle 3"/>
          <p:cNvSpPr>
            <a:spLocks noGrp="1" noChangeArrowheads="1"/>
          </p:cNvSpPr>
          <p:nvPr>
            <p:ph type="body" idx="1"/>
          </p:nvPr>
        </p:nvSpPr>
        <p:spPr>
          <a:xfrm>
            <a:off x="914400" y="4343400"/>
            <a:ext cx="5029200" cy="4114800"/>
          </a:xfrm>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a:t>单击此处编辑母版标题样式</a:t>
            </a:r>
            <a:endParaRPr kumimoji="0"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30" name="日期占位符 29"/>
          <p:cNvSpPr>
            <a:spLocks noGrp="1"/>
          </p:cNvSpPr>
          <p:nvPr>
            <p:ph type="dt" sz="half" idx="10"/>
          </p:nvPr>
        </p:nvSpPr>
        <p:spPr/>
        <p:txBody>
          <a:bodyPr/>
          <a:lstStyle/>
          <a:p>
            <a:endParaRPr lang="en-US" altLang="zh-CN"/>
          </a:p>
        </p:txBody>
      </p:sp>
      <p:sp>
        <p:nvSpPr>
          <p:cNvPr id="19" name="页脚占位符 18"/>
          <p:cNvSpPr>
            <a:spLocks noGrp="1"/>
          </p:cNvSpPr>
          <p:nvPr>
            <p:ph type="ftr" sz="quarter" idx="11"/>
          </p:nvPr>
        </p:nvSpPr>
        <p:spPr/>
        <p:txBody>
          <a:bodyPr/>
          <a:lstStyle/>
          <a:p>
            <a:endParaRPr lang="en-US" altLang="zh-CN"/>
          </a:p>
        </p:txBody>
      </p:sp>
      <p:sp>
        <p:nvSpPr>
          <p:cNvPr id="27" name="灯片编号占位符 26"/>
          <p:cNvSpPr>
            <a:spLocks noGrp="1"/>
          </p:cNvSpPr>
          <p:nvPr>
            <p:ph type="sldNum" sz="quarter" idx="12"/>
          </p:nvPr>
        </p:nvSpPr>
        <p:spPr/>
        <p:txBody>
          <a:bodyPr/>
          <a:lstStyle/>
          <a:p>
            <a:fld id="{B3528FEB-0B71-465B-B541-18935F4AF00D}" type="slidenum">
              <a:rPr lang="en-US" altLang="zh-CN" smtClean="0"/>
            </a:fld>
            <a:endParaRPr lang="en-US" altLang="zh-CN"/>
          </a:p>
        </p:txBody>
      </p:sp>
    </p:spTree>
  </p:cSld>
  <p:clrMapOvr>
    <a:overrideClrMapping bg1="dk1" tx1="lt1" bg2="dk2" tx2="lt2" accent1="accent1" accent2="accent2" accent3="accent3" accent4="accent4" accent5="accent5" accent6="accent6" hlink="hlink" folHlink="folHlink"/>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stCondLst>
                                            <p:cond delay="0"/>
                                          </p:stCondLst>
                                        </p:cTn>
                                        <p:tgtEl>
                                          <p:spTgt spid="9"/>
                                        </p:tgtEl>
                                        <p:attrNameLst>
                                          <p:attrName>ppt_x</p:attrName>
                                        </p:attrNameLst>
                                      </p:cBhvr>
                                      <p:tavLst>
                                        <p:tav tm="0">
                                          <p:val>
                                            <p:strVal val="#ppt_x"/>
                                          </p:val>
                                        </p:tav>
                                        <p:tav tm="100000">
                                          <p:val>
                                            <p:strVal val="#ppt_x"/>
                                          </p:val>
                                        </p:tav>
                                      </p:tavLst>
                                    </p:anim>
                                    <p:anim calcmode="lin" valueType="num">
                                      <p:cBhvr additive="base">
                                        <p:cTn id="8" dur="500" fill="hold">
                                          <p:stCondLst>
                                            <p:cond delay="0"/>
                                          </p:stCondLst>
                                        </p:cTn>
                                        <p:tgtEl>
                                          <p:spTgt spid="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7">
                                            <p:txEl>
                                              <p:pRg st="0" end="0"/>
                                            </p:txEl>
                                          </p:spTgt>
                                        </p:tgtEl>
                                        <p:attrNameLst>
                                          <p:attrName>style.visibility</p:attrName>
                                        </p:attrNameLst>
                                      </p:cBhvr>
                                      <p:to>
                                        <p:strVal val="visible"/>
                                      </p:to>
                                    </p:set>
                                    <p:animEffect transition="in" filter="dissolve">
                                      <p:cBhvr>
                                        <p:cTn id="13" dur="500">
                                          <p:stCondLst>
                                            <p:cond delay="0"/>
                                          </p:stCondLst>
                                        </p:cTn>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bui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81F3BADF-6F3C-4B21-954D-47302A7E52E3}" type="slidenum">
              <a:rPr lang="en-US" altLang="zh-CN" smtClean="0"/>
            </a:fld>
            <a:endParaRPr lang="en-US" altLang="zh-CN"/>
          </a:p>
        </p:txBody>
      </p:sp>
    </p:spTree>
  </p:cSld>
  <p:clrMapOvr>
    <a:masterClrMapping/>
  </p:clrMapOvr>
  <p:transition spd="slow">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endParaRPr kumimoji="0" lang="zh-CN" alt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D8D1075C-32B6-4B5F-9BEC-E1A32592F664}" type="slidenum">
              <a:rPr lang="en-US" altLang="zh-CN" smtClean="0"/>
            </a:fld>
            <a:endParaRPr lang="en-US" altLang="zh-CN"/>
          </a:p>
        </p:txBody>
      </p:sp>
    </p:spTree>
  </p:cSld>
  <p:clrMapOvr>
    <a:overrideClrMapping bg1="dk1" tx1="lt1" bg2="dk2" tx2="lt2" accent1="accent1" accent2="accent2" accent3="accent3" accent4="accent4" accent5="accent5" accent6="accent6" hlink="hlink" folHlink="folHlink"/>
  </p:clrMapOvr>
  <p:transition spd="slow">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C7AB6B74-E659-4F28-8408-3B77BB82766D}" type="slidenum">
              <a:rPr lang="en-US" altLang="zh-CN" smtClean="0"/>
            </a:fld>
            <a:endParaRPr lang="en-US" altLang="zh-CN"/>
          </a:p>
        </p:txBody>
      </p:sp>
    </p:spTree>
  </p:cSld>
  <p:clrMapOvr>
    <a:masterClrMapping/>
  </p:clrMapOvr>
  <p:transition spd="slow">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tIns="45720" anchor="b"/>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endParaRPr lang="en-US" altLang="zh-CN"/>
          </a:p>
        </p:txBody>
      </p:sp>
      <p:sp>
        <p:nvSpPr>
          <p:cNvPr id="8" name="页脚占位符 7"/>
          <p:cNvSpPr>
            <a:spLocks noGrp="1"/>
          </p:cNvSpPr>
          <p:nvPr>
            <p:ph type="ftr" sz="quarter" idx="11"/>
          </p:nvPr>
        </p:nvSpPr>
        <p:spPr/>
        <p:txBody>
          <a:bodyPr/>
          <a:lstStyle/>
          <a:p>
            <a:endParaRPr lang="en-US" altLang="zh-CN"/>
          </a:p>
        </p:txBody>
      </p:sp>
      <p:sp>
        <p:nvSpPr>
          <p:cNvPr id="9" name="灯片编号占位符 8"/>
          <p:cNvSpPr>
            <a:spLocks noGrp="1"/>
          </p:cNvSpPr>
          <p:nvPr>
            <p:ph type="sldNum" sz="quarter" idx="12"/>
          </p:nvPr>
        </p:nvSpPr>
        <p:spPr/>
        <p:txBody>
          <a:bodyPr/>
          <a:lstStyle/>
          <a:p>
            <a:fld id="{CCE2429A-1C4F-4760-93C0-78C14BDFEDEE}" type="slidenum">
              <a:rPr lang="en-US" altLang="zh-CN" smtClean="0"/>
            </a:fld>
            <a:endParaRPr lang="en-US" altLang="zh-CN"/>
          </a:p>
        </p:txBody>
      </p:sp>
    </p:spTree>
  </p:cSld>
  <p:clrMapOvr>
    <a:masterClrMapping/>
  </p:clrMapOvr>
  <p:transition spd="slow">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endParaRPr lang="en-US" altLang="zh-CN"/>
          </a:p>
        </p:txBody>
      </p:sp>
      <p:sp>
        <p:nvSpPr>
          <p:cNvPr id="4" name="页脚占位符 3"/>
          <p:cNvSpPr>
            <a:spLocks noGrp="1"/>
          </p:cNvSpPr>
          <p:nvPr>
            <p:ph type="ftr" sz="quarter" idx="11"/>
          </p:nvPr>
        </p:nvSpPr>
        <p:spPr/>
        <p:txBody>
          <a:bodyPr/>
          <a:lstStyle/>
          <a:p>
            <a:endParaRPr lang="en-US" altLang="zh-CN"/>
          </a:p>
        </p:txBody>
      </p:sp>
      <p:sp>
        <p:nvSpPr>
          <p:cNvPr id="5" name="灯片编号占位符 4"/>
          <p:cNvSpPr>
            <a:spLocks noGrp="1"/>
          </p:cNvSpPr>
          <p:nvPr>
            <p:ph type="sldNum" sz="quarter" idx="12"/>
          </p:nvPr>
        </p:nvSpPr>
        <p:spPr/>
        <p:txBody>
          <a:bodyPr/>
          <a:lstStyle/>
          <a:p>
            <a:fld id="{4B3FE44C-B615-4C44-8535-36BBE47625BE}" type="slidenum">
              <a:rPr lang="en-US" altLang="zh-CN" smtClean="0"/>
            </a:fld>
            <a:endParaRPr lang="en-US" altLang="zh-CN"/>
          </a:p>
        </p:txBody>
      </p:sp>
    </p:spTree>
  </p:cSld>
  <p:clrMapOvr>
    <a:masterClrMapping/>
  </p:clrMapOvr>
  <p:transition spd="slow">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p>
            <a:fld id="{511E013E-1CAD-4D35-9C25-DE43D9C2CF0A}" type="slidenum">
              <a:rPr lang="en-US" altLang="zh-CN" smtClean="0"/>
            </a:fld>
            <a:endParaRPr lang="en-US" altLang="zh-CN"/>
          </a:p>
        </p:txBody>
      </p:sp>
    </p:spTree>
  </p:cSld>
  <p:clrMapOvr>
    <a:masterClrMapping/>
  </p:clrMapOvr>
  <p:transition spd="slow">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B3BCC550-556B-4445-98F0-B9A3BFC6D137}" type="slidenum">
              <a:rPr lang="en-US" altLang="zh-CN" smtClean="0"/>
            </a:fld>
            <a:endParaRPr lang="en-US" altLang="zh-CN"/>
          </a:p>
        </p:txBody>
      </p:sp>
    </p:spTree>
  </p:cSld>
  <p:clrMapOvr>
    <a:masterClrMapping/>
  </p:clrMapOvr>
  <p:transition spd="slow">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9" name="单圆角矩形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直角三角形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endParaRPr kumimoji="0" lang="zh-CN" altLang="en-US"/>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a:xfrm>
            <a:off x="8077200" y="6356350"/>
            <a:ext cx="609600" cy="365125"/>
          </a:xfrm>
        </p:spPr>
        <p:txBody>
          <a:bodyPr/>
          <a:lstStyle/>
          <a:p>
            <a:fld id="{073FA388-E4E3-4DE3-8DF2-F73AEF5769A5}" type="slidenum">
              <a:rPr lang="en-US" altLang="zh-CN" smtClean="0"/>
            </a:fld>
            <a:endParaRPr lang="en-US" altLang="zh-CN"/>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zh-CN" altLang="en-US"/>
              <a:t>单击图标添加图片</a:t>
            </a:r>
            <a:endParaRPr kumimoji="0" lang="en-US" dirty="0"/>
          </a:p>
        </p:txBody>
      </p:sp>
      <p:sp>
        <p:nvSpPr>
          <p:cNvPr id="10" name="任意多边形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任意多边形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transition spd="slow">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C1AF02CF-A790-4B63-9DEB-449FD4B45531}" type="slidenum">
              <a:rPr lang="en-US" altLang="zh-CN" smtClean="0"/>
            </a:fld>
            <a:endParaRPr lang="en-US" altLang="zh-CN"/>
          </a:p>
        </p:txBody>
      </p:sp>
    </p:spTree>
  </p:cSld>
  <p:clrMapOvr>
    <a:masterClrMapping/>
  </p:clrMapOvr>
  <p:transition spd="slow">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914401"/>
            <a:ext cx="6019800" cy="5211763"/>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E6249999-E5ED-4EB1-BCE9-7BFCC6F675C8}" type="slidenum">
              <a:rPr lang="en-US" altLang="zh-CN" smtClean="0"/>
            </a:fld>
            <a:endParaRPr lang="en-US" altLang="zh-CN"/>
          </a:p>
        </p:txBody>
      </p:sp>
    </p:spTree>
  </p:cSld>
  <p:clrMapOvr>
    <a:masterClrMapping/>
  </p:clrMapOvr>
  <p:transition spd="slow">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457200" y="6243638"/>
            <a:ext cx="21336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3638"/>
            <a:ext cx="2133600" cy="457200"/>
          </a:xfrm>
        </p:spPr>
        <p:txBody>
          <a:bodyPr/>
          <a:lstStyle>
            <a:lvl1pPr>
              <a:defRPr/>
            </a:lvl1pPr>
          </a:lstStyle>
          <a:p>
            <a:fld id="{54E037F4-F0F2-4D8F-BEBB-02CF2397C2F0}" type="slidenum">
              <a:rPr lang="en-US" altLang="zh-CN"/>
            </a:fld>
            <a:endParaRPr lang="en-US" altLang="zh-CN"/>
          </a:p>
        </p:txBody>
      </p:sp>
    </p:spTree>
  </p:cSld>
  <p:clrMapOvr>
    <a:masterClrMapping/>
  </p:clrMapOvr>
  <p:transition spd="slow">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SmartArt 占位符 2"/>
          <p:cNvSpPr>
            <a:spLocks noGrp="1"/>
          </p:cNvSpPr>
          <p:nvPr>
            <p:ph type="pic" idx="1"/>
          </p:nvPr>
        </p:nvSpPr>
        <p:spPr>
          <a:xfrm>
            <a:off x="457200" y="1600200"/>
            <a:ext cx="8229600" cy="4530725"/>
          </a:xfrm>
        </p:spPr>
        <p:txBody>
          <a:bodyPr/>
          <a:lstStyle/>
          <a:p>
            <a:endParaRPr lang="zh-CN" altLang="en-US"/>
          </a:p>
        </p:txBody>
      </p:sp>
      <p:sp>
        <p:nvSpPr>
          <p:cNvPr id="4" name="日期占位符 3"/>
          <p:cNvSpPr>
            <a:spLocks noGrp="1"/>
          </p:cNvSpPr>
          <p:nvPr>
            <p:ph type="dt" sz="half" idx="10"/>
          </p:nvPr>
        </p:nvSpPr>
        <p:spPr>
          <a:xfrm>
            <a:off x="457200" y="6243638"/>
            <a:ext cx="2133600" cy="457200"/>
          </a:xfrm>
        </p:spPr>
        <p:txBody>
          <a:bodyPr/>
          <a:lstStyle>
            <a:lvl1pPr>
              <a:defRPr/>
            </a:lvl1pPr>
          </a:lstStyle>
          <a:p>
            <a:endParaRPr lang="en-US" altLang="zh-CN"/>
          </a:p>
        </p:txBody>
      </p:sp>
      <p:sp>
        <p:nvSpPr>
          <p:cNvPr id="5" name="页脚占位符 4"/>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3638"/>
            <a:ext cx="2133600" cy="457200"/>
          </a:xfrm>
        </p:spPr>
        <p:txBody>
          <a:bodyPr/>
          <a:lstStyle>
            <a:lvl1pPr>
              <a:defRPr/>
            </a:lvl1pPr>
          </a:lstStyle>
          <a:p>
            <a:fld id="{18BC85F3-5FDE-43E7-B3F2-5C77F6C62FC2}" type="slidenum">
              <a:rPr lang="en-US" altLang="zh-CN"/>
            </a:fld>
            <a:endParaRPr lang="en-US" altLang="zh-CN"/>
          </a:p>
        </p:txBody>
      </p:sp>
    </p:spTree>
  </p:cSld>
  <p:clrMapOvr>
    <a:masterClrMapping/>
  </p:clrMapOvr>
  <p:transition spd="slow">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a:xfrm>
            <a:off x="457200" y="6243638"/>
            <a:ext cx="21336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243638"/>
            <a:ext cx="2133600" cy="457200"/>
          </a:xfrm>
        </p:spPr>
        <p:txBody>
          <a:bodyPr/>
          <a:lstStyle>
            <a:lvl1pPr>
              <a:defRPr/>
            </a:lvl1pPr>
          </a:lstStyle>
          <a:p>
            <a:fld id="{AC09FE02-81DF-4756-B25E-F3F971AB9424}" type="slidenum">
              <a:rPr lang="en-US" altLang="zh-CN"/>
            </a:fld>
            <a:endParaRPr lang="en-US" altLang="zh-CN"/>
          </a:p>
        </p:txBody>
      </p:sp>
    </p:spTree>
  </p:cSld>
  <p:clrMapOvr>
    <a:masterClrMapping/>
  </p:clrMapOvr>
  <p:transition spd="slow">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91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3941763"/>
            <a:ext cx="4038600" cy="2189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a:xfrm>
            <a:off x="457200" y="6243638"/>
            <a:ext cx="21336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243638"/>
            <a:ext cx="2133600" cy="457200"/>
          </a:xfrm>
        </p:spPr>
        <p:txBody>
          <a:bodyPr/>
          <a:lstStyle>
            <a:lvl1pPr>
              <a:defRPr/>
            </a:lvl1pPr>
          </a:lstStyle>
          <a:p>
            <a:fld id="{420E11DA-1E17-4BF0-9CFC-9BA19CAC5C9F}" type="slidenum">
              <a:rPr lang="en-US" altLang="zh-CN"/>
            </a:fld>
            <a:endParaRPr lang="en-US" altLang="zh-CN"/>
          </a:p>
        </p:txBody>
      </p:sp>
    </p:spTree>
  </p:cSld>
  <p:clrMapOvr>
    <a:masterClrMapping/>
  </p:clrMapOvr>
  <p:transition spd="slow">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任意多边形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标题占位符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zh-CN" altLang="en-US"/>
              <a:t>单击此处编辑母版标题样式</a:t>
            </a:r>
            <a:endParaRPr kumimoji="0" lang="en-US"/>
          </a:p>
        </p:txBody>
      </p:sp>
      <p:sp>
        <p:nvSpPr>
          <p:cNvPr id="30" name="文本占位符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F83E99AE-FD8D-4B04-8CA4-28C22160E418}" type="slidenum">
              <a:rPr lang="en-US" altLang="zh-CN" smtClean="0"/>
            </a:fld>
            <a:endParaRPr lang="en-US" altLang="zh-CN"/>
          </a:p>
        </p:txBody>
      </p:sp>
      <p:grpSp>
        <p:nvGrpSpPr>
          <p:cNvPr id="2" name="组合 1"/>
          <p:cNvGrpSpPr/>
          <p:nvPr/>
        </p:nvGrpSpPr>
        <p:grpSpPr>
          <a:xfrm>
            <a:off x="-19017" y="202408"/>
            <a:ext cx="9180548" cy="649224"/>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slow">
    <p:zoom/>
  </p:transition>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hyperlink" Target="https://www.icourse163.org/spoc/course/XMU-1206553808" TargetMode="External"/><Relationship Id="rId1" Type="http://schemas.openxmlformats.org/officeDocument/2006/relationships/hyperlink" Target="mailto:hlzeng@xmu.edu.c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wmf"/></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wmf"/></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34.wmf"/><Relationship Id="rId7" Type="http://schemas.openxmlformats.org/officeDocument/2006/relationships/oleObject" Target="../embeddings/oleObject5.bin"/><Relationship Id="rId6" Type="http://schemas.openxmlformats.org/officeDocument/2006/relationships/image" Target="../media/image33.wmf"/><Relationship Id="rId5" Type="http://schemas.openxmlformats.org/officeDocument/2006/relationships/oleObject" Target="../embeddings/oleObject4.bin"/><Relationship Id="rId4" Type="http://schemas.openxmlformats.org/officeDocument/2006/relationships/image" Target="../media/image32.wmf"/><Relationship Id="rId34" Type="http://schemas.openxmlformats.org/officeDocument/2006/relationships/vmlDrawing" Target="../drawings/vmlDrawing2.vml"/><Relationship Id="rId33" Type="http://schemas.openxmlformats.org/officeDocument/2006/relationships/slideLayout" Target="../slideLayouts/slideLayout15.xml"/><Relationship Id="rId32" Type="http://schemas.openxmlformats.org/officeDocument/2006/relationships/oleObject" Target="../embeddings/oleObject18.bin"/><Relationship Id="rId31" Type="http://schemas.openxmlformats.org/officeDocument/2006/relationships/image" Target="../media/image45.wmf"/><Relationship Id="rId30" Type="http://schemas.openxmlformats.org/officeDocument/2006/relationships/oleObject" Target="../embeddings/oleObject17.bin"/><Relationship Id="rId3" Type="http://schemas.openxmlformats.org/officeDocument/2006/relationships/oleObject" Target="../embeddings/oleObject3.bin"/><Relationship Id="rId29" Type="http://schemas.openxmlformats.org/officeDocument/2006/relationships/oleObject" Target="../embeddings/oleObject16.bin"/><Relationship Id="rId28" Type="http://schemas.openxmlformats.org/officeDocument/2006/relationships/image" Target="../media/image44.wmf"/><Relationship Id="rId27" Type="http://schemas.openxmlformats.org/officeDocument/2006/relationships/oleObject" Target="../embeddings/oleObject15.bin"/><Relationship Id="rId26" Type="http://schemas.openxmlformats.org/officeDocument/2006/relationships/image" Target="../media/image43.wmf"/><Relationship Id="rId25" Type="http://schemas.openxmlformats.org/officeDocument/2006/relationships/oleObject" Target="../embeddings/oleObject14.bin"/><Relationship Id="rId24" Type="http://schemas.openxmlformats.org/officeDocument/2006/relationships/image" Target="../media/image42.wmf"/><Relationship Id="rId23" Type="http://schemas.openxmlformats.org/officeDocument/2006/relationships/oleObject" Target="../embeddings/oleObject13.bin"/><Relationship Id="rId22" Type="http://schemas.openxmlformats.org/officeDocument/2006/relationships/image" Target="../media/image41.wmf"/><Relationship Id="rId21" Type="http://schemas.openxmlformats.org/officeDocument/2006/relationships/oleObject" Target="../embeddings/oleObject12.bin"/><Relationship Id="rId20" Type="http://schemas.openxmlformats.org/officeDocument/2006/relationships/image" Target="../media/image40.wmf"/><Relationship Id="rId2" Type="http://schemas.openxmlformats.org/officeDocument/2006/relationships/image" Target="../media/image31.wmf"/><Relationship Id="rId19" Type="http://schemas.openxmlformats.org/officeDocument/2006/relationships/oleObject" Target="../embeddings/oleObject11.bin"/><Relationship Id="rId18" Type="http://schemas.openxmlformats.org/officeDocument/2006/relationships/image" Target="../media/image39.wmf"/><Relationship Id="rId17" Type="http://schemas.openxmlformats.org/officeDocument/2006/relationships/oleObject" Target="../embeddings/oleObject10.bin"/><Relationship Id="rId16" Type="http://schemas.openxmlformats.org/officeDocument/2006/relationships/image" Target="../media/image38.wmf"/><Relationship Id="rId15" Type="http://schemas.openxmlformats.org/officeDocument/2006/relationships/oleObject" Target="../embeddings/oleObject9.bin"/><Relationship Id="rId14" Type="http://schemas.openxmlformats.org/officeDocument/2006/relationships/image" Target="../media/image37.wmf"/><Relationship Id="rId13" Type="http://schemas.openxmlformats.org/officeDocument/2006/relationships/oleObject" Target="../embeddings/oleObject8.bin"/><Relationship Id="rId12" Type="http://schemas.openxmlformats.org/officeDocument/2006/relationships/image" Target="../media/image36.wmf"/><Relationship Id="rId11" Type="http://schemas.openxmlformats.org/officeDocument/2006/relationships/oleObject" Target="../embeddings/oleObject7.bin"/><Relationship Id="rId10" Type="http://schemas.openxmlformats.org/officeDocument/2006/relationships/image" Target="../media/image35.wmf"/><Relationship Id="rId1" Type="http://schemas.openxmlformats.org/officeDocument/2006/relationships/oleObject" Target="../embeddings/oleObject2.bin"/></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2.xml"/><Relationship Id="rId2" Type="http://schemas.openxmlformats.org/officeDocument/2006/relationships/image" Target="../media/image46.wmf"/><Relationship Id="rId1" Type="http://schemas.openxmlformats.org/officeDocument/2006/relationships/oleObject" Target="../embeddings/oleObject19.bin"/></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wmf"/></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wmf"/></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49.png"/></Relationships>
</file>

<file path=ppt/slides/_rels/slide60.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4.xml"/><Relationship Id="rId4" Type="http://schemas.openxmlformats.org/officeDocument/2006/relationships/image" Target="../media/image51.wmf"/><Relationship Id="rId3" Type="http://schemas.openxmlformats.org/officeDocument/2006/relationships/oleObject" Target="../embeddings/oleObject21.bin"/><Relationship Id="rId2" Type="http://schemas.openxmlformats.org/officeDocument/2006/relationships/image" Target="../media/image50.wmf"/><Relationship Id="rId1" Type="http://schemas.openxmlformats.org/officeDocument/2006/relationships/oleObject" Target="../embeddings/oleObject20.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1492" name="Rectangle 4"/>
          <p:cNvSpPr>
            <a:spLocks noGrp="1" noChangeArrowheads="1"/>
          </p:cNvSpPr>
          <p:nvPr>
            <p:ph type="ctrTitle"/>
          </p:nvPr>
        </p:nvSpPr>
        <p:spPr/>
        <p:txBody>
          <a:bodyPr/>
          <a:lstStyle/>
          <a:p>
            <a:r>
              <a:rPr lang="zh-CN" altLang="en-US"/>
              <a:t>算法设计与分析</a:t>
            </a:r>
            <a:endParaRPr lang="zh-CN" altLang="en-US"/>
          </a:p>
        </p:txBody>
      </p:sp>
      <p:sp>
        <p:nvSpPr>
          <p:cNvPr id="191493" name="Rectangle 5"/>
          <p:cNvSpPr>
            <a:spLocks noGrp="1" noChangeArrowheads="1"/>
          </p:cNvSpPr>
          <p:nvPr>
            <p:ph type="subTitle" idx="1"/>
          </p:nvPr>
        </p:nvSpPr>
        <p:spPr>
          <a:xfrm>
            <a:off x="1979613" y="3933825"/>
            <a:ext cx="6553200" cy="1752600"/>
          </a:xfrm>
        </p:spPr>
        <p:txBody>
          <a:bodyPr/>
          <a:lstStyle/>
          <a:p>
            <a:pPr>
              <a:lnSpc>
                <a:spcPct val="90000"/>
              </a:lnSpc>
            </a:pPr>
            <a:r>
              <a:rPr lang="zh-CN" altLang="en-US" sz="2400" dirty="0"/>
              <a:t>曾华琳</a:t>
            </a:r>
            <a:endParaRPr lang="zh-CN" altLang="en-US" sz="2400" dirty="0"/>
          </a:p>
          <a:p>
            <a:pPr>
              <a:lnSpc>
                <a:spcPct val="90000"/>
              </a:lnSpc>
            </a:pPr>
            <a:r>
              <a:rPr lang="en-US" altLang="zh-CN" sz="2400" dirty="0"/>
              <a:t>hlzeng@xmu.edu.cn</a:t>
            </a:r>
            <a:endParaRPr lang="en-US" altLang="zh-CN" sz="2400" dirty="0"/>
          </a:p>
          <a:p>
            <a:pPr>
              <a:lnSpc>
                <a:spcPct val="90000"/>
              </a:lnSpc>
            </a:pPr>
            <a:endParaRPr lang="en-US" altLang="zh-CN" sz="2400" dirty="0"/>
          </a:p>
          <a:p>
            <a:pPr>
              <a:lnSpc>
                <a:spcPct val="90000"/>
              </a:lnSpc>
            </a:pPr>
            <a:r>
              <a:rPr lang="en-US" altLang="zh-CN" sz="2400" dirty="0"/>
              <a:t>2019.</a:t>
            </a:r>
            <a:r>
              <a:rPr lang="zh-CN" altLang="en-US" sz="2400" dirty="0"/>
              <a:t>秋</a:t>
            </a:r>
            <a:endParaRPr lang="zh-CN" altLang="en-US" sz="24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p:txBody>
          <a:bodyPr/>
          <a:lstStyle/>
          <a:p>
            <a:r>
              <a:rPr lang="zh-CN" altLang="en-US"/>
              <a:t>算法是计算机科学的灵魂</a:t>
            </a:r>
            <a:endParaRPr lang="zh-CN" altLang="en-US"/>
          </a:p>
        </p:txBody>
      </p:sp>
      <p:sp>
        <p:nvSpPr>
          <p:cNvPr id="284675" name="Rectangle 3"/>
          <p:cNvSpPr>
            <a:spLocks noGrp="1" noChangeArrowheads="1"/>
          </p:cNvSpPr>
          <p:nvPr>
            <p:ph idx="1"/>
          </p:nvPr>
        </p:nvSpPr>
        <p:spPr/>
        <p:txBody>
          <a:bodyPr/>
          <a:lstStyle/>
          <a:p>
            <a:r>
              <a:rPr lang="en-US" altLang="zh-CN"/>
              <a:t>“</a:t>
            </a:r>
            <a:r>
              <a:rPr lang="zh-CN" altLang="en-US"/>
              <a:t>计算机科学的研究就是算法的研究”</a:t>
            </a:r>
            <a:endParaRPr lang="zh-CN" altLang="en-US"/>
          </a:p>
          <a:p>
            <a:pPr lvl="1"/>
            <a:r>
              <a:rPr lang="en-US" altLang="zh-CN"/>
              <a:t>Turing</a:t>
            </a:r>
            <a:r>
              <a:rPr lang="zh-CN" altLang="en-US"/>
              <a:t>奖获得者，算法大师</a:t>
            </a:r>
            <a:r>
              <a:rPr lang="en-US" altLang="zh-CN"/>
              <a:t>Donald E.Knuth</a:t>
            </a:r>
            <a:endParaRPr lang="en-US" altLang="zh-CN"/>
          </a:p>
          <a:p>
            <a:r>
              <a:rPr lang="zh-CN" altLang="en-US"/>
              <a:t>到</a:t>
            </a:r>
            <a:r>
              <a:rPr lang="en-US" altLang="zh-CN"/>
              <a:t>2008</a:t>
            </a:r>
            <a:r>
              <a:rPr lang="zh-CN" altLang="en-US"/>
              <a:t>年底为止，</a:t>
            </a:r>
            <a:r>
              <a:rPr lang="en-US" altLang="zh-CN"/>
              <a:t>55</a:t>
            </a:r>
            <a:r>
              <a:rPr lang="zh-CN" altLang="en-US"/>
              <a:t>名图灵奖获得者中，因算法方面的贡献而获奖的有</a:t>
            </a:r>
            <a:r>
              <a:rPr lang="en-US" altLang="zh-CN"/>
              <a:t>30</a:t>
            </a:r>
            <a:r>
              <a:rPr lang="zh-CN" altLang="en-US"/>
              <a:t>多个。</a:t>
            </a:r>
            <a:endParaRPr lang="zh-CN" altLang="en-US"/>
          </a:p>
          <a:p>
            <a:r>
              <a:rPr lang="zh-CN" altLang="en-US"/>
              <a:t>算法的研究对推动计算机科学发展起着至关重要的作用。</a:t>
            </a:r>
            <a:endParaRPr lang="zh-CN" altLang="en-US"/>
          </a:p>
          <a:p>
            <a:endParaRPr lang="en-US" altLang="zh-CN"/>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zh-CN" altLang="en-US"/>
              <a:t>课程性质、目的与任务 </a:t>
            </a:r>
            <a:endParaRPr lang="zh-CN" altLang="en-US"/>
          </a:p>
        </p:txBody>
      </p:sp>
      <p:sp>
        <p:nvSpPr>
          <p:cNvPr id="211971" name="Rectangle 3"/>
          <p:cNvSpPr>
            <a:spLocks noGrp="1" noChangeArrowheads="1"/>
          </p:cNvSpPr>
          <p:nvPr>
            <p:ph idx="1"/>
          </p:nvPr>
        </p:nvSpPr>
        <p:spPr/>
        <p:txBody>
          <a:bodyPr/>
          <a:lstStyle/>
          <a:p>
            <a:pPr>
              <a:lnSpc>
                <a:spcPct val="90000"/>
              </a:lnSpc>
            </a:pPr>
            <a:r>
              <a:rPr lang="en-US" altLang="zh-CN"/>
              <a:t>“</a:t>
            </a:r>
            <a:r>
              <a:rPr lang="zh-CN" altLang="en-US"/>
              <a:t>算法设计与分析”是智能科学与技术专业一门重点专业基础课程，也是学科核心专业基础课程。</a:t>
            </a:r>
            <a:endParaRPr lang="zh-CN" altLang="en-US"/>
          </a:p>
          <a:p>
            <a:pPr>
              <a:lnSpc>
                <a:spcPct val="90000"/>
              </a:lnSpc>
            </a:pPr>
            <a:r>
              <a:rPr lang="zh-CN" altLang="en-US"/>
              <a:t>本课程主要介绍算法设计与分析的基本方法以及算法复杂性理论基础。通过本课程的学习，要求学生理解并熟练掌握递归与分治法、贪心法、动态规划方法、回溯法、分支定界法，以及高级图论算法、线性规划算法等，理解并掌握算法复杂性的分析方法、</a:t>
            </a:r>
            <a:r>
              <a:rPr lang="en-US" altLang="zh-CN"/>
              <a:t>NP</a:t>
            </a:r>
            <a:r>
              <a:rPr lang="zh-CN" altLang="en-US"/>
              <a:t>完全性理论基础等计算复杂性的基本知识及完备性证明概要。</a:t>
            </a:r>
            <a:endParaRPr lang="zh-CN" altLang="en-US"/>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张德富</a:t>
            </a:r>
            <a:r>
              <a:rPr lang="en-US" altLang="zh-CN" dirty="0"/>
              <a:t>《 </a:t>
            </a:r>
            <a:r>
              <a:rPr lang="zh-CN" altLang="en-US" dirty="0"/>
              <a:t>算法设计与分析</a:t>
            </a:r>
            <a:r>
              <a:rPr lang="en-US" altLang="zh-CN" dirty="0"/>
              <a:t>》</a:t>
            </a:r>
            <a:br>
              <a:rPr lang="en-US" altLang="zh-CN" dirty="0"/>
            </a:br>
            <a:r>
              <a:rPr lang="zh-CN" altLang="en-US" dirty="0"/>
              <a:t>国防工业出版社</a:t>
            </a:r>
            <a:r>
              <a:rPr lang="en-US" altLang="zh-CN" dirty="0"/>
              <a:t>,2009</a:t>
            </a:r>
            <a:endParaRPr lang="zh-CN" altLang="en-US" dirty="0"/>
          </a:p>
        </p:txBody>
      </p:sp>
      <p:sp>
        <p:nvSpPr>
          <p:cNvPr id="4" name="灯片编号占位符 3"/>
          <p:cNvSpPr>
            <a:spLocks noGrp="1"/>
          </p:cNvSpPr>
          <p:nvPr>
            <p:ph type="sldNum" sz="quarter" idx="12"/>
          </p:nvPr>
        </p:nvSpPr>
        <p:spPr/>
        <p:txBody>
          <a:bodyPr/>
          <a:lstStyle/>
          <a:p>
            <a:fld id="{341907A0-AB51-41A5-AB79-579227B6949B}" type="slidenum">
              <a:rPr lang="en-US" altLang="zh-CN" smtClean="0"/>
            </a:fld>
            <a:endParaRPr lang="en-US" altLang="zh-CN"/>
          </a:p>
        </p:txBody>
      </p:sp>
      <p:pic>
        <p:nvPicPr>
          <p:cNvPr id="95234" name="Picture 2" descr="https://gss0.bdstatic.com/-4o3dSag_xI4khGkpoWK1HF6hhy/baike/c0%3Dbaike80%2C5%2C5%2C80%2C26/sign=74ec426ea44bd11310c0bf603bc6cf6a/023b5bb5c9ea15ce8aaa4614bf003af33a87b263.jp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971043" y="1935163"/>
            <a:ext cx="3201913" cy="43894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457994" y="908720"/>
            <a:ext cx="8229600" cy="1139825"/>
          </a:xfrm>
        </p:spPr>
        <p:txBody>
          <a:bodyPr>
            <a:normAutofit fontScale="90000"/>
          </a:bodyPr>
          <a:lstStyle/>
          <a:p>
            <a:r>
              <a:rPr lang="zh-CN" altLang="en-US" dirty="0"/>
              <a:t>计算机算法设计与分析</a:t>
            </a:r>
            <a:br>
              <a:rPr lang="en-US" altLang="zh-CN" dirty="0"/>
            </a:br>
            <a:r>
              <a:rPr lang="zh-CN" altLang="en-US" dirty="0"/>
              <a:t>（第</a:t>
            </a:r>
            <a:r>
              <a:rPr lang="en-US" altLang="zh-CN" dirty="0"/>
              <a:t>2</a:t>
            </a:r>
            <a:r>
              <a:rPr lang="zh-CN" altLang="en-US" dirty="0"/>
              <a:t>、</a:t>
            </a:r>
            <a:r>
              <a:rPr lang="en-US" altLang="zh-CN" dirty="0"/>
              <a:t>3</a:t>
            </a:r>
            <a:r>
              <a:rPr lang="zh-CN" altLang="en-US" dirty="0"/>
              <a:t>版）</a:t>
            </a:r>
            <a:endParaRPr lang="zh-CN" altLang="en-US" dirty="0"/>
          </a:p>
        </p:txBody>
      </p:sp>
      <p:sp>
        <p:nvSpPr>
          <p:cNvPr id="150531" name="Rectangle 3"/>
          <p:cNvSpPr>
            <a:spLocks noGrp="1" noChangeArrowheads="1"/>
          </p:cNvSpPr>
          <p:nvPr>
            <p:ph type="body" sz="half" idx="1"/>
          </p:nvPr>
        </p:nvSpPr>
        <p:spPr>
          <a:xfrm>
            <a:off x="684213" y="5991943"/>
            <a:ext cx="7560195" cy="533401"/>
          </a:xfrm>
        </p:spPr>
        <p:txBody>
          <a:bodyPr/>
          <a:lstStyle/>
          <a:p>
            <a:pPr algn="ctr">
              <a:buFont typeface="Wingdings" panose="05000000000000000000" pitchFamily="2" charset="2"/>
              <a:buNone/>
            </a:pPr>
            <a:r>
              <a:rPr lang="zh-CN" altLang="en-US" sz="2600" b="1" dirty="0">
                <a:solidFill>
                  <a:srgbClr val="0000FF"/>
                </a:solidFill>
                <a:ea typeface="新宋体" panose="02010609030101010101" charset="-122"/>
              </a:rPr>
              <a:t>王晓东   编著</a:t>
            </a:r>
            <a:endParaRPr lang="zh-CN" altLang="en-US" sz="2600" b="1" dirty="0">
              <a:solidFill>
                <a:srgbClr val="0000FF"/>
              </a:solidFill>
              <a:ea typeface="新宋体" panose="02010609030101010101" charset="-122"/>
            </a:endParaRPr>
          </a:p>
        </p:txBody>
      </p:sp>
      <p:pic>
        <p:nvPicPr>
          <p:cNvPr id="3" name="内容占位符 2"/>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3131840" y="2348880"/>
            <a:ext cx="2629267" cy="3429124"/>
          </a:xfrm>
        </p:spPr>
      </p:pic>
    </p:spTree>
  </p:cSld>
  <p:clrMapOvr>
    <a:masterClrMapping/>
  </p:clrMapOvr>
  <p:transition spd="slow">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414338" y="260648"/>
            <a:ext cx="8229600" cy="1143000"/>
          </a:xfrm>
        </p:spPr>
        <p:txBody>
          <a:bodyPr/>
          <a:lstStyle/>
          <a:p>
            <a:r>
              <a:rPr lang="zh-CN" altLang="en-US" dirty="0"/>
              <a:t>参考教材</a:t>
            </a:r>
            <a:endParaRPr lang="zh-CN" altLang="en-US" dirty="0"/>
          </a:p>
        </p:txBody>
      </p:sp>
      <p:sp>
        <p:nvSpPr>
          <p:cNvPr id="208899" name="Rectangle 3"/>
          <p:cNvSpPr>
            <a:spLocks noGrp="1" noChangeArrowheads="1"/>
          </p:cNvSpPr>
          <p:nvPr>
            <p:ph idx="1"/>
          </p:nvPr>
        </p:nvSpPr>
        <p:spPr>
          <a:xfrm>
            <a:off x="414338" y="1412776"/>
            <a:ext cx="8229600" cy="4897437"/>
          </a:xfrm>
        </p:spPr>
        <p:txBody>
          <a:bodyPr/>
          <a:lstStyle/>
          <a:p>
            <a:r>
              <a:rPr lang="zh-CN" altLang="en-US" sz="2600" dirty="0"/>
              <a:t>书名：</a:t>
            </a:r>
            <a:r>
              <a:rPr lang="en-US" altLang="zh-CN" sz="2600" dirty="0"/>
              <a:t>《</a:t>
            </a:r>
            <a:r>
              <a:rPr lang="zh-CN" altLang="en-US" sz="2600" dirty="0"/>
              <a:t>算法导论</a:t>
            </a:r>
            <a:r>
              <a:rPr lang="en-US" altLang="zh-CN" sz="2600" dirty="0"/>
              <a:t>》(</a:t>
            </a:r>
            <a:r>
              <a:rPr lang="zh-CN" altLang="en-US" sz="2600" dirty="0"/>
              <a:t>第</a:t>
            </a:r>
            <a:r>
              <a:rPr lang="en-US" altLang="zh-CN" sz="2600" dirty="0"/>
              <a:t>2</a:t>
            </a:r>
            <a:r>
              <a:rPr lang="zh-CN" altLang="en-US" sz="2600" dirty="0"/>
              <a:t>版</a:t>
            </a:r>
            <a:r>
              <a:rPr lang="en-US" altLang="zh-CN" sz="2600" dirty="0"/>
              <a:t>)</a:t>
            </a:r>
            <a:endParaRPr lang="en-US" altLang="zh-CN" sz="2600" dirty="0"/>
          </a:p>
          <a:p>
            <a:r>
              <a:rPr lang="zh-CN" altLang="en-US" sz="2600" dirty="0"/>
              <a:t>著者： </a:t>
            </a:r>
            <a:r>
              <a:rPr lang="en-US" altLang="zh-CN" sz="2600" dirty="0"/>
              <a:t>Thomas H. </a:t>
            </a:r>
            <a:r>
              <a:rPr lang="en-US" altLang="zh-CN" sz="2600" dirty="0" err="1"/>
              <a:t>Cormen</a:t>
            </a:r>
            <a:r>
              <a:rPr lang="en-US" altLang="zh-CN" sz="2600" dirty="0"/>
              <a:t>,</a:t>
            </a:r>
            <a:endParaRPr lang="en-US" altLang="zh-CN" sz="2600" dirty="0"/>
          </a:p>
          <a:p>
            <a:r>
              <a:rPr lang="en-US" altLang="zh-CN" sz="2600" dirty="0"/>
              <a:t>Charles E. </a:t>
            </a:r>
            <a:r>
              <a:rPr lang="en-US" altLang="zh-CN" sz="2600" dirty="0" err="1"/>
              <a:t>Leiserson</a:t>
            </a:r>
            <a:r>
              <a:rPr lang="en-US" altLang="zh-CN" sz="2600" dirty="0"/>
              <a:t>,</a:t>
            </a:r>
            <a:endParaRPr lang="en-US" altLang="zh-CN" sz="2600" dirty="0"/>
          </a:p>
          <a:p>
            <a:r>
              <a:rPr lang="en-US" altLang="zh-CN" sz="2600" dirty="0"/>
              <a:t>Ronald L. </a:t>
            </a:r>
            <a:r>
              <a:rPr lang="en-US" altLang="zh-CN" sz="2600" dirty="0" err="1"/>
              <a:t>Rivest</a:t>
            </a:r>
            <a:r>
              <a:rPr lang="en-US" altLang="zh-CN" sz="2600" dirty="0"/>
              <a:t>,</a:t>
            </a:r>
            <a:endParaRPr lang="en-US" altLang="zh-CN" sz="2600" dirty="0"/>
          </a:p>
          <a:p>
            <a:r>
              <a:rPr lang="en-US" altLang="zh-CN" sz="2600" dirty="0"/>
              <a:t>Clifford Stein</a:t>
            </a:r>
            <a:endParaRPr lang="en-US" altLang="zh-CN" sz="2600" dirty="0"/>
          </a:p>
          <a:p>
            <a:r>
              <a:rPr lang="zh-CN" altLang="en-US" sz="2600" dirty="0"/>
              <a:t>译者：潘金贵</a:t>
            </a:r>
            <a:r>
              <a:rPr lang="en-US" altLang="zh-CN" sz="2600" dirty="0"/>
              <a:t>,</a:t>
            </a:r>
            <a:r>
              <a:rPr lang="zh-CN" altLang="en-US" sz="2600" dirty="0"/>
              <a:t>顾铁成等</a:t>
            </a:r>
            <a:endParaRPr lang="zh-CN" altLang="en-US" sz="2600" dirty="0"/>
          </a:p>
          <a:p>
            <a:r>
              <a:rPr lang="zh-CN" altLang="en-US" sz="2600" dirty="0"/>
              <a:t>出版社：机械工业出版社</a:t>
            </a:r>
            <a:endParaRPr lang="zh-CN" altLang="en-US" sz="2600" dirty="0"/>
          </a:p>
          <a:p>
            <a:r>
              <a:rPr lang="zh-CN" altLang="en-US" sz="2600" dirty="0"/>
              <a:t>出版时间：</a:t>
            </a:r>
            <a:r>
              <a:rPr lang="en-US" altLang="zh-CN" sz="2600" dirty="0"/>
              <a:t>2006</a:t>
            </a:r>
            <a:r>
              <a:rPr lang="zh-CN" altLang="en-US" sz="2600" dirty="0"/>
              <a:t>年</a:t>
            </a:r>
            <a:r>
              <a:rPr lang="en-US" altLang="zh-CN" sz="2600" dirty="0"/>
              <a:t>9</a:t>
            </a:r>
            <a:r>
              <a:rPr lang="zh-CN" altLang="en-US" sz="2600" dirty="0"/>
              <a:t>月</a:t>
            </a:r>
            <a:endParaRPr lang="zh-CN" altLang="en-US" sz="2600" dirty="0"/>
          </a:p>
          <a:p>
            <a:r>
              <a:rPr lang="zh-CN" altLang="en-US" sz="2600" dirty="0"/>
              <a:t>定价：</a:t>
            </a:r>
            <a:r>
              <a:rPr lang="en-US" altLang="zh-CN" sz="2600" dirty="0"/>
              <a:t>85</a:t>
            </a:r>
            <a:r>
              <a:rPr lang="zh-CN" altLang="en-US" sz="2600" dirty="0"/>
              <a:t>元</a:t>
            </a:r>
            <a:endParaRPr lang="zh-CN" altLang="en-US" sz="2600" dirty="0"/>
          </a:p>
          <a:p>
            <a:r>
              <a:rPr lang="zh-CN" altLang="en-US" sz="2600" b="1" dirty="0">
                <a:solidFill>
                  <a:srgbClr val="F72401"/>
                </a:solidFill>
              </a:rPr>
              <a:t>“计算机算法的圣经”</a:t>
            </a:r>
            <a:endParaRPr lang="zh-CN" altLang="en-US" sz="2600" b="1" dirty="0">
              <a:solidFill>
                <a:srgbClr val="F72401"/>
              </a:solidFill>
            </a:endParaRPr>
          </a:p>
        </p:txBody>
      </p:sp>
      <p:pic>
        <p:nvPicPr>
          <p:cNvPr id="208901" name="Picture 5" descr="1Y@R87(YKMSW]W2XQLQ@V$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24525" y="1557338"/>
            <a:ext cx="2919413" cy="4103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r>
              <a:rPr lang="zh-CN" altLang="en-US"/>
              <a:t>延伸教材：</a:t>
            </a:r>
            <a:endParaRPr lang="zh-CN" altLang="en-US"/>
          </a:p>
        </p:txBody>
      </p:sp>
      <p:sp>
        <p:nvSpPr>
          <p:cNvPr id="209923" name="Rectangle 3"/>
          <p:cNvSpPr>
            <a:spLocks noGrp="1" noChangeArrowheads="1"/>
          </p:cNvSpPr>
          <p:nvPr>
            <p:ph idx="1"/>
          </p:nvPr>
        </p:nvSpPr>
        <p:spPr/>
        <p:txBody>
          <a:bodyPr/>
          <a:lstStyle/>
          <a:p>
            <a:r>
              <a:rPr lang="en-US" altLang="zh-CN" sz="2600"/>
              <a:t>《The Art of Computer Programming》, Donald E, Knuth</a:t>
            </a:r>
            <a:r>
              <a:rPr lang="zh-CN" altLang="en-US" sz="2600"/>
              <a:t>，</a:t>
            </a:r>
            <a:r>
              <a:rPr lang="en-US" altLang="zh-CN" sz="2600"/>
              <a:t>1974,</a:t>
            </a:r>
            <a:endParaRPr lang="en-US" altLang="zh-CN" sz="2600"/>
          </a:p>
          <a:p>
            <a:r>
              <a:rPr lang="en-US" altLang="zh-CN" sz="2600"/>
              <a:t>Turing Prize</a:t>
            </a:r>
            <a:endParaRPr lang="en-US" altLang="zh-CN" sz="2600"/>
          </a:p>
          <a:p>
            <a:endParaRPr lang="en-US" altLang="zh-CN" sz="2600"/>
          </a:p>
          <a:p>
            <a:r>
              <a:rPr lang="en-US" altLang="zh-CN" sz="2600"/>
              <a:t>Bill Gates</a:t>
            </a:r>
            <a:r>
              <a:rPr lang="zh-CN" altLang="en-US" sz="2600"/>
              <a:t>：“如果你认为你是一名真正优秀的程序员请读</a:t>
            </a:r>
            <a:r>
              <a:rPr lang="en-US" altLang="zh-CN" sz="2600"/>
              <a:t>Knuth</a:t>
            </a:r>
            <a:r>
              <a:rPr lang="zh-CN" altLang="en-US" sz="2600"/>
              <a:t>的</a:t>
            </a:r>
            <a:r>
              <a:rPr lang="en-US" altLang="zh-CN" sz="2600"/>
              <a:t>《</a:t>
            </a:r>
            <a:r>
              <a:rPr lang="zh-CN" altLang="en-US" sz="2600"/>
              <a:t>计算机程序设计艺术</a:t>
            </a:r>
            <a:r>
              <a:rPr lang="en-US" altLang="zh-CN" sz="2600"/>
              <a:t>》</a:t>
            </a:r>
            <a:r>
              <a:rPr lang="zh-CN" altLang="en-US" sz="2600"/>
              <a:t>，如果你能读懂整套书的话请给我发一份你的简历。”</a:t>
            </a:r>
            <a:endParaRPr lang="zh-CN" altLang="en-US" sz="2600"/>
          </a:p>
          <a:p>
            <a:r>
              <a:rPr lang="zh-CN" altLang="en-US" sz="2600"/>
              <a:t>李开复：“不妨试试</a:t>
            </a:r>
            <a:r>
              <a:rPr lang="en-US" altLang="zh-CN" sz="2600"/>
              <a:t>Donald Knuth</a:t>
            </a:r>
            <a:r>
              <a:rPr lang="zh-CN" altLang="en-US" sz="2600"/>
              <a:t>的</a:t>
            </a:r>
            <a:r>
              <a:rPr lang="en-US" altLang="zh-CN" sz="2600"/>
              <a:t>Art of Computer Programming</a:t>
            </a:r>
            <a:r>
              <a:rPr lang="zh-CN" altLang="en-US" sz="2600"/>
              <a:t>里的题目，如果你能够解决其中的大部分题目，就说明你在算法方面的功力不错了。”</a:t>
            </a:r>
            <a:endParaRPr lang="zh-CN" altLang="en-US" sz="2600"/>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p:txBody>
          <a:bodyPr/>
          <a:lstStyle/>
          <a:p>
            <a:r>
              <a:rPr lang="zh-CN" altLang="en-US" dirty="0"/>
              <a:t>几点建议</a:t>
            </a:r>
            <a:endParaRPr lang="zh-CN" altLang="zh-CN" dirty="0"/>
          </a:p>
        </p:txBody>
      </p:sp>
      <p:sp>
        <p:nvSpPr>
          <p:cNvPr id="322563" name="Rectangle 3"/>
          <p:cNvSpPr>
            <a:spLocks noGrp="1" noChangeArrowheads="1"/>
          </p:cNvSpPr>
          <p:nvPr>
            <p:ph idx="1"/>
          </p:nvPr>
        </p:nvSpPr>
        <p:spPr/>
        <p:txBody>
          <a:bodyPr>
            <a:normAutofit/>
          </a:bodyPr>
          <a:lstStyle/>
          <a:p>
            <a:pPr marL="514350" indent="-514350">
              <a:buFont typeface="+mj-lt"/>
              <a:buAutoNum type="arabicPeriod"/>
            </a:pPr>
            <a:r>
              <a:rPr lang="zh-CN" altLang="en-US" dirty="0"/>
              <a:t>注意方法论</a:t>
            </a:r>
            <a:endParaRPr lang="en-US" altLang="zh-CN" dirty="0"/>
          </a:p>
          <a:p>
            <a:pPr marL="514350" indent="-514350">
              <a:buFont typeface="+mj-lt"/>
              <a:buAutoNum type="arabicPeriod"/>
            </a:pPr>
            <a:r>
              <a:rPr lang="zh-CN" altLang="en-US" dirty="0"/>
              <a:t>注意例子，在课程中会以讲授例子为主，这些例子都是相关方法的一些典型的问题，因而需要牢记问题并掌握例子中的解决方法</a:t>
            </a:r>
            <a:endParaRPr lang="zh-CN" altLang="en-US" dirty="0"/>
          </a:p>
          <a:p>
            <a:pPr marL="514350" indent="-514350">
              <a:buFont typeface="+mj-lt"/>
              <a:buAutoNum type="arabicPeriod"/>
            </a:pPr>
            <a:r>
              <a:rPr lang="zh-CN" altLang="en-US" dirty="0"/>
              <a:t>有选择的学习数学知识</a:t>
            </a:r>
            <a:endParaRPr lang="en-US" altLang="zh-CN" dirty="0"/>
          </a:p>
          <a:p>
            <a:pPr marL="514350" indent="-514350">
              <a:buFont typeface="+mj-lt"/>
              <a:buAutoNum type="arabicPeriod"/>
            </a:pPr>
            <a:r>
              <a:rPr lang="zh-CN" altLang="en-US" dirty="0"/>
              <a:t>多做习题勤思考，推荐</a:t>
            </a:r>
            <a:r>
              <a:rPr lang="en-US" altLang="zh-CN" dirty="0"/>
              <a:t>《</a:t>
            </a:r>
            <a:r>
              <a:rPr lang="zh-CN" altLang="en-US" dirty="0"/>
              <a:t>算法导论</a:t>
            </a:r>
            <a:r>
              <a:rPr lang="en-US" altLang="zh-CN" dirty="0"/>
              <a:t>》</a:t>
            </a:r>
            <a:r>
              <a:rPr lang="zh-CN" altLang="en-US" dirty="0"/>
              <a:t>中的习题。</a:t>
            </a:r>
            <a:endParaRPr lang="zh-CN" altLang="en-US" dirty="0"/>
          </a:p>
          <a:p>
            <a:pPr marL="514350" indent="-514350">
              <a:buFont typeface="+mj-lt"/>
              <a:buAutoNum type="arabicPeriod"/>
            </a:pPr>
            <a:r>
              <a:rPr lang="zh-CN" altLang="en-US" dirty="0"/>
              <a:t>理论联系实际，</a:t>
            </a:r>
            <a:r>
              <a:rPr lang="en-US" altLang="zh-CN" dirty="0"/>
              <a:t>online judge</a:t>
            </a:r>
            <a:endParaRPr lang="en-US" altLang="zh-CN" dirty="0"/>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r>
              <a:rPr lang="zh-CN" altLang="en-US"/>
              <a:t>考核形式</a:t>
            </a:r>
            <a:endParaRPr lang="zh-CN" altLang="en-US"/>
          </a:p>
        </p:txBody>
      </p:sp>
      <p:sp>
        <p:nvSpPr>
          <p:cNvPr id="210947" name="Rectangle 3"/>
          <p:cNvSpPr>
            <a:spLocks noGrp="1" noChangeArrowheads="1"/>
          </p:cNvSpPr>
          <p:nvPr>
            <p:ph idx="1"/>
          </p:nvPr>
        </p:nvSpPr>
        <p:spPr/>
        <p:txBody>
          <a:bodyPr/>
          <a:lstStyle/>
          <a:p>
            <a:r>
              <a:rPr lang="zh-CN" altLang="en-US"/>
              <a:t>期末</a:t>
            </a:r>
            <a:r>
              <a:rPr lang="en-US" altLang="zh-CN"/>
              <a:t>(</a:t>
            </a:r>
            <a:r>
              <a:rPr lang="zh-CN" altLang="en-US"/>
              <a:t>期中</a:t>
            </a:r>
            <a:r>
              <a:rPr lang="en-US" altLang="zh-CN"/>
              <a:t>)</a:t>
            </a:r>
            <a:r>
              <a:rPr lang="zh-CN" altLang="en-US"/>
              <a:t>考试</a:t>
            </a:r>
            <a:r>
              <a:rPr lang="en-US" altLang="zh-CN"/>
              <a:t>(</a:t>
            </a:r>
            <a:r>
              <a:rPr lang="zh-CN" altLang="en-US"/>
              <a:t>闭卷</a:t>
            </a:r>
            <a:r>
              <a:rPr lang="en-US" altLang="zh-CN"/>
              <a:t>)</a:t>
            </a:r>
            <a:r>
              <a:rPr lang="zh-CN" altLang="en-US"/>
              <a:t>：</a:t>
            </a:r>
            <a:r>
              <a:rPr lang="en-US" altLang="zh-CN"/>
              <a:t>60%</a:t>
            </a:r>
            <a:endParaRPr lang="en-US" altLang="zh-CN"/>
          </a:p>
          <a:p>
            <a:r>
              <a:rPr lang="zh-CN" altLang="en-US"/>
              <a:t>课堂作业</a:t>
            </a:r>
            <a:r>
              <a:rPr lang="en-US" altLang="zh-CN"/>
              <a:t>+</a:t>
            </a:r>
            <a:r>
              <a:rPr lang="zh-CN" altLang="en-US"/>
              <a:t>上机作业：</a:t>
            </a:r>
            <a:r>
              <a:rPr lang="en-US" altLang="zh-CN"/>
              <a:t>30%</a:t>
            </a:r>
            <a:endParaRPr lang="en-US" altLang="zh-CN"/>
          </a:p>
          <a:p>
            <a:r>
              <a:rPr lang="zh-CN" altLang="en-US"/>
              <a:t>出勤</a:t>
            </a:r>
            <a:r>
              <a:rPr lang="en-US" altLang="zh-CN"/>
              <a:t>+</a:t>
            </a:r>
            <a:r>
              <a:rPr lang="zh-CN" altLang="en-US"/>
              <a:t>课堂纪律：</a:t>
            </a:r>
            <a:r>
              <a:rPr lang="en-US" altLang="zh-CN"/>
              <a:t>10%</a:t>
            </a:r>
            <a:endParaRPr lang="en-US" altLang="zh-CN"/>
          </a:p>
        </p:txBody>
      </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r>
              <a:rPr lang="zh-CN" altLang="en-US"/>
              <a:t>课程要求</a:t>
            </a:r>
            <a:endParaRPr lang="zh-CN" altLang="en-US"/>
          </a:p>
        </p:txBody>
      </p:sp>
      <p:sp>
        <p:nvSpPr>
          <p:cNvPr id="221187" name="Rectangle 3"/>
          <p:cNvSpPr>
            <a:spLocks noGrp="1" noChangeArrowheads="1"/>
          </p:cNvSpPr>
          <p:nvPr>
            <p:ph idx="1"/>
          </p:nvPr>
        </p:nvSpPr>
        <p:spPr/>
        <p:txBody>
          <a:bodyPr/>
          <a:lstStyle/>
          <a:p>
            <a:r>
              <a:rPr lang="zh-CN" altLang="en-US" dirty="0"/>
              <a:t>布置的作业一定要完成</a:t>
            </a:r>
            <a:endParaRPr lang="zh-CN" altLang="en-US" dirty="0"/>
          </a:p>
          <a:p>
            <a:r>
              <a:rPr lang="zh-CN" altLang="en-US" dirty="0"/>
              <a:t>必须独立完成，尽你的能力，需要思考</a:t>
            </a:r>
            <a:endParaRPr lang="zh-CN" altLang="en-US" dirty="0"/>
          </a:p>
          <a:p>
            <a:r>
              <a:rPr lang="zh-CN" altLang="en-US" dirty="0"/>
              <a:t>有能力的同学可以完成附加的，或者课后的所有作业</a:t>
            </a:r>
            <a:endParaRPr lang="zh-CN" altLang="en-US" dirty="0"/>
          </a:p>
          <a:p>
            <a:r>
              <a:rPr lang="zh-CN" altLang="en-US" dirty="0"/>
              <a:t>希望能自觉组织一些讨论小组</a:t>
            </a:r>
            <a:endParaRPr lang="en-US" altLang="zh-CN" dirty="0"/>
          </a:p>
          <a:p>
            <a:r>
              <a:rPr lang="zh-CN" altLang="en-US" dirty="0"/>
              <a:t>每周三上午收发作业</a:t>
            </a:r>
            <a:endParaRPr lang="zh-CN" altLang="en-US" dirty="0"/>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课件下载地址</a:t>
            </a:r>
            <a:endParaRPr lang="zh-CN" altLang="en-US" dirty="0"/>
          </a:p>
        </p:txBody>
      </p:sp>
      <p:sp>
        <p:nvSpPr>
          <p:cNvPr id="3" name="内容占位符 2"/>
          <p:cNvSpPr>
            <a:spLocks noGrp="1"/>
          </p:cNvSpPr>
          <p:nvPr>
            <p:ph idx="1"/>
          </p:nvPr>
        </p:nvSpPr>
        <p:spPr>
          <a:xfrm>
            <a:off x="457200" y="1935480"/>
            <a:ext cx="8229600" cy="4805888"/>
          </a:xfrm>
        </p:spPr>
        <p:txBody>
          <a:bodyPr>
            <a:normAutofit/>
          </a:bodyPr>
          <a:lstStyle/>
          <a:p>
            <a:r>
              <a:rPr lang="en-US" altLang="zh-CN" dirty="0"/>
              <a:t>course.xmu.edu.cn</a:t>
            </a:r>
            <a:endParaRPr lang="en-US" altLang="zh-CN" dirty="0"/>
          </a:p>
          <a:p>
            <a:r>
              <a:rPr lang="en-US" altLang="zh-CN" dirty="0"/>
              <a:t>Email</a:t>
            </a:r>
            <a:r>
              <a:rPr lang="zh-CN" altLang="en-US" dirty="0"/>
              <a:t>：</a:t>
            </a:r>
            <a:r>
              <a:rPr lang="en-US" altLang="zh-CN" dirty="0">
                <a:hlinkClick r:id="rId1"/>
              </a:rPr>
              <a:t>hlzeng@xmu.edu.cn</a:t>
            </a:r>
            <a:endParaRPr lang="en-US" altLang="zh-CN" dirty="0"/>
          </a:p>
          <a:p>
            <a:r>
              <a:rPr lang="en-US" altLang="zh-CN" dirty="0"/>
              <a:t>QQ</a:t>
            </a:r>
            <a:r>
              <a:rPr lang="zh-CN" altLang="en-US" dirty="0"/>
              <a:t>群：</a:t>
            </a:r>
            <a:r>
              <a:rPr dirty="0"/>
              <a:t>算法设计与分析课程201</a:t>
            </a:r>
            <a:endParaRPr dirty="0"/>
          </a:p>
          <a:p>
            <a:r>
              <a:rPr lang="en-US" altLang="zh-CN" dirty="0"/>
              <a:t>Spoc</a:t>
            </a:r>
            <a:r>
              <a:rPr lang="zh-CN" altLang="en-US" dirty="0"/>
              <a:t>：</a:t>
            </a:r>
            <a:r>
              <a:rPr lang="en-US" altLang="zh-CN" dirty="0">
                <a:hlinkClick r:id="rId2"/>
              </a:rPr>
              <a:t>https://www.icourse163.org/spoc/course/XMU-1206553808</a:t>
            </a:r>
            <a:endParaRPr lang="en-US" altLang="zh-CN" dirty="0"/>
          </a:p>
          <a:p>
            <a:r>
              <a:rPr lang="zh-CN" altLang="en-US" dirty="0"/>
              <a:t>助教：王毅</a:t>
            </a:r>
            <a:endParaRPr lang="zh-CN" altLang="en-US" dirty="0"/>
          </a:p>
          <a:p>
            <a:r>
              <a:rPr lang="zh-CN" altLang="en-US" dirty="0"/>
              <a:t>联系方式：</a:t>
            </a:r>
            <a:endParaRPr lang="zh-CN" altLang="en-US" dirty="0"/>
          </a:p>
          <a:p>
            <a:pPr lvl="1"/>
            <a:r>
              <a:rPr lang="zh-CN" altLang="en-US" dirty="0"/>
              <a:t>手机：</a:t>
            </a:r>
            <a:r>
              <a:rPr lang="en-US" altLang="zh-CN" dirty="0"/>
              <a:t>13666095292</a:t>
            </a:r>
            <a:endParaRPr lang="zh-CN" altLang="en-US" dirty="0"/>
          </a:p>
        </p:txBody>
      </p:sp>
      <p:pic>
        <p:nvPicPr>
          <p:cNvPr id="5" name="图片 4"/>
          <p:cNvPicPr>
            <a:picLocks noChangeAspect="1"/>
          </p:cNvPicPr>
          <p:nvPr/>
        </p:nvPicPr>
        <p:blipFill>
          <a:blip r:embed="rId3"/>
          <a:stretch>
            <a:fillRect/>
          </a:stretch>
        </p:blipFill>
        <p:spPr>
          <a:xfrm>
            <a:off x="6015990" y="1033780"/>
            <a:ext cx="2406015" cy="3297555"/>
          </a:xfrm>
          <a:prstGeom prst="rect">
            <a:avLst/>
          </a:prstGeom>
        </p:spPr>
      </p:pic>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上课模式</a:t>
            </a:r>
            <a:endParaRPr lang="zh-CN" altLang="en-US" dirty="0"/>
          </a:p>
        </p:txBody>
      </p:sp>
      <p:sp>
        <p:nvSpPr>
          <p:cNvPr id="3" name="内容占位符 2"/>
          <p:cNvSpPr>
            <a:spLocks noGrp="1"/>
          </p:cNvSpPr>
          <p:nvPr>
            <p:ph idx="1"/>
          </p:nvPr>
        </p:nvSpPr>
        <p:spPr/>
        <p:txBody>
          <a:bodyPr/>
          <a:lstStyle/>
          <a:p>
            <a:r>
              <a:rPr lang="zh-CN" altLang="en-US" dirty="0"/>
              <a:t>每周三上午</a:t>
            </a:r>
            <a:r>
              <a:rPr lang="en-US" altLang="zh-CN" dirty="0"/>
              <a:t>34</a:t>
            </a:r>
            <a:r>
              <a:rPr lang="zh-CN" altLang="en-US" dirty="0"/>
              <a:t>节，海韵教学楼</a:t>
            </a:r>
            <a:r>
              <a:rPr lang="en-US" altLang="zh-CN" dirty="0"/>
              <a:t>207</a:t>
            </a:r>
            <a:endParaRPr lang="en-US" altLang="zh-CN" dirty="0"/>
          </a:p>
          <a:p>
            <a:r>
              <a:rPr lang="zh-CN" altLang="en-US" dirty="0"/>
              <a:t>单周一下午</a:t>
            </a:r>
            <a:r>
              <a:rPr lang="en-US" altLang="zh-CN" dirty="0"/>
              <a:t>56</a:t>
            </a:r>
            <a:r>
              <a:rPr lang="zh-CN" altLang="en-US" dirty="0"/>
              <a:t>节，海韵实验楼</a:t>
            </a:r>
            <a:r>
              <a:rPr lang="en-US" altLang="zh-CN" dirty="0"/>
              <a:t>404</a:t>
            </a:r>
            <a:endParaRPr lang="en-US" altLang="zh-CN" dirty="0"/>
          </a:p>
          <a:p>
            <a:pPr lvl="1"/>
            <a:r>
              <a:rPr lang="zh-CN" altLang="en-US" dirty="0"/>
              <a:t>理论</a:t>
            </a:r>
            <a:r>
              <a:rPr lang="en-US" altLang="zh-CN" dirty="0"/>
              <a:t>+</a:t>
            </a:r>
            <a:r>
              <a:rPr lang="zh-CN" altLang="en-US" dirty="0"/>
              <a:t>实验课</a:t>
            </a:r>
            <a:endParaRPr lang="zh-CN" altLang="en-US" dirty="0"/>
          </a:p>
        </p:txBody>
      </p:sp>
      <p:sp>
        <p:nvSpPr>
          <p:cNvPr id="4" name="灯片编号占位符 3"/>
          <p:cNvSpPr>
            <a:spLocks noGrp="1"/>
          </p:cNvSpPr>
          <p:nvPr>
            <p:ph type="sldNum" sz="quarter" idx="12"/>
          </p:nvPr>
        </p:nvSpPr>
        <p:spPr/>
        <p:txBody>
          <a:bodyPr/>
          <a:lstStyle/>
          <a:p>
            <a:fld id="{341907A0-AB51-41A5-AB79-579227B6949B}" type="slidenum">
              <a:rPr lang="en-US" altLang="zh-CN" smtClean="0"/>
            </a:fld>
            <a:endParaRPr lang="en-US" altLang="zh-CN"/>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zh-CN" altLang="en-US"/>
              <a:t>第</a:t>
            </a:r>
            <a:r>
              <a:rPr lang="en-US" altLang="zh-CN"/>
              <a:t>1</a:t>
            </a:r>
            <a:r>
              <a:rPr lang="zh-CN" altLang="en-US"/>
              <a:t>章  算法概述</a:t>
            </a:r>
            <a:endParaRPr lang="zh-CN" altLang="en-US"/>
          </a:p>
        </p:txBody>
      </p:sp>
      <p:sp>
        <p:nvSpPr>
          <p:cNvPr id="6147" name="Rectangle 3"/>
          <p:cNvSpPr>
            <a:spLocks noGrp="1" noChangeArrowheads="1"/>
          </p:cNvSpPr>
          <p:nvPr>
            <p:ph idx="1"/>
          </p:nvPr>
        </p:nvSpPr>
        <p:spPr>
          <a:xfrm>
            <a:off x="611188" y="1845518"/>
            <a:ext cx="7772400" cy="4895850"/>
          </a:xfrm>
        </p:spPr>
        <p:txBody>
          <a:bodyPr/>
          <a:lstStyle/>
          <a:p>
            <a:pPr eaLnBrk="0">
              <a:lnSpc>
                <a:spcPct val="150000"/>
              </a:lnSpc>
              <a:buFont typeface="Wingdings" panose="05000000000000000000" pitchFamily="2" charset="2"/>
              <a:buNone/>
            </a:pPr>
            <a:r>
              <a:rPr lang="zh-CN" altLang="en-US" sz="2500" dirty="0">
                <a:solidFill>
                  <a:schemeClr val="tx2"/>
                </a:solidFill>
              </a:rPr>
              <a:t>学习要点</a:t>
            </a:r>
            <a:r>
              <a:rPr lang="en-US" altLang="zh-CN" sz="2500" dirty="0">
                <a:solidFill>
                  <a:schemeClr val="tx2"/>
                </a:solidFill>
              </a:rPr>
              <a:t>:</a:t>
            </a:r>
            <a:r>
              <a:rPr lang="en-US" altLang="zh-CN" sz="2500" dirty="0">
                <a:solidFill>
                  <a:srgbClr val="3907F1"/>
                </a:solidFill>
              </a:rPr>
              <a:t> </a:t>
            </a:r>
            <a:endParaRPr lang="en-US" altLang="zh-CN" sz="2500" dirty="0">
              <a:solidFill>
                <a:srgbClr val="3907F1"/>
              </a:solidFill>
            </a:endParaRPr>
          </a:p>
          <a:p>
            <a:pPr eaLnBrk="0">
              <a:lnSpc>
                <a:spcPct val="150000"/>
              </a:lnSpc>
              <a:buFont typeface="Symbol" panose="05050102010706020507" pitchFamily="18" charset="2"/>
              <a:buChar char="·"/>
            </a:pPr>
            <a:r>
              <a:rPr lang="zh-CN" altLang="en-US" sz="2500" dirty="0"/>
              <a:t>理解算法的概念。</a:t>
            </a:r>
            <a:endParaRPr lang="zh-CN" altLang="en-US" sz="2500" dirty="0"/>
          </a:p>
          <a:p>
            <a:pPr eaLnBrk="0">
              <a:lnSpc>
                <a:spcPct val="150000"/>
              </a:lnSpc>
              <a:buFont typeface="Symbol" panose="05050102010706020507" pitchFamily="18" charset="2"/>
              <a:buChar char="·"/>
            </a:pPr>
            <a:r>
              <a:rPr lang="zh-CN" altLang="en-US" sz="2500" dirty="0"/>
              <a:t>理解什么是程序，程序与算法的区别和内在联系。</a:t>
            </a:r>
            <a:endParaRPr lang="zh-CN" altLang="en-US" sz="2500" dirty="0"/>
          </a:p>
          <a:p>
            <a:pPr eaLnBrk="0">
              <a:lnSpc>
                <a:spcPct val="150000"/>
              </a:lnSpc>
              <a:buFont typeface="Symbol" panose="05050102010706020507" pitchFamily="18" charset="2"/>
              <a:buChar char="·"/>
            </a:pPr>
            <a:r>
              <a:rPr lang="zh-CN" altLang="en-US" sz="2500" dirty="0"/>
              <a:t>掌握算法的计算复杂性概念。</a:t>
            </a:r>
            <a:endParaRPr lang="zh-CN" altLang="en-US" sz="2500" dirty="0"/>
          </a:p>
          <a:p>
            <a:pPr eaLnBrk="0">
              <a:lnSpc>
                <a:spcPct val="150000"/>
              </a:lnSpc>
              <a:buFont typeface="Symbol" panose="05050102010706020507" pitchFamily="18" charset="2"/>
              <a:buChar char="·"/>
            </a:pPr>
            <a:r>
              <a:rPr lang="zh-CN" altLang="en-US" sz="2500" dirty="0"/>
              <a:t>掌握算法渐近复杂性的数学表述。</a:t>
            </a:r>
            <a:endParaRPr lang="zh-CN" altLang="en-US" sz="2500" dirty="0"/>
          </a:p>
          <a:p>
            <a:pPr eaLnBrk="0">
              <a:lnSpc>
                <a:spcPct val="150000"/>
              </a:lnSpc>
              <a:buFont typeface="Symbol" panose="05050102010706020507" pitchFamily="18" charset="2"/>
              <a:buChar char="·"/>
            </a:pPr>
            <a:r>
              <a:rPr lang="en-US" altLang="zh-CN" sz="2500" dirty="0"/>
              <a:t>*</a:t>
            </a:r>
            <a:r>
              <a:rPr lang="zh-CN" altLang="en-US" sz="2500" dirty="0"/>
              <a:t>掌握用</a:t>
            </a:r>
            <a:r>
              <a:rPr lang="en-US" altLang="zh-CN" sz="2500" dirty="0"/>
              <a:t>C++</a:t>
            </a:r>
            <a:r>
              <a:rPr lang="zh-CN" altLang="en-US" sz="2500" dirty="0"/>
              <a:t>语言描述算法的方法。</a:t>
            </a:r>
            <a:endParaRPr lang="zh-CN" altLang="en-US" sz="2500" dirty="0"/>
          </a:p>
        </p:txBody>
      </p:sp>
    </p:spTree>
  </p:cSld>
  <p:clrMapOvr>
    <a:masterClrMapping/>
  </p:clrMapOvr>
  <p:transition spd="slow">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9" name="Rectangle 3"/>
          <p:cNvSpPr>
            <a:spLocks noGrp="1" noChangeArrowheads="1"/>
          </p:cNvSpPr>
          <p:nvPr>
            <p:ph idx="1"/>
          </p:nvPr>
        </p:nvSpPr>
        <p:spPr/>
        <p:txBody>
          <a:bodyPr/>
          <a:lstStyle/>
          <a:p>
            <a:pPr algn="ctr">
              <a:buFont typeface="Wingdings" panose="05000000000000000000" pitchFamily="2" charset="2"/>
              <a:buNone/>
            </a:pPr>
            <a:r>
              <a:rPr lang="zh-CN" altLang="en-US" sz="6000" b="1" dirty="0">
                <a:solidFill>
                  <a:schemeClr val="accent1"/>
                </a:solidFill>
              </a:rPr>
              <a:t>程序</a:t>
            </a:r>
            <a:r>
              <a:rPr lang="en-US" altLang="zh-CN" sz="6000" b="1" dirty="0">
                <a:solidFill>
                  <a:schemeClr val="accent1"/>
                </a:solidFill>
              </a:rPr>
              <a:t>=</a:t>
            </a:r>
            <a:r>
              <a:rPr lang="zh-CN" altLang="en-US" sz="6000" b="1" dirty="0">
                <a:solidFill>
                  <a:schemeClr val="accent1"/>
                </a:solidFill>
              </a:rPr>
              <a:t>数据结构</a:t>
            </a:r>
            <a:r>
              <a:rPr lang="en-US" altLang="zh-CN" sz="6000" b="1" dirty="0">
                <a:solidFill>
                  <a:schemeClr val="accent1"/>
                </a:solidFill>
              </a:rPr>
              <a:t>+</a:t>
            </a:r>
            <a:r>
              <a:rPr lang="zh-CN" altLang="en-US" sz="6000" b="1" dirty="0">
                <a:solidFill>
                  <a:schemeClr val="accent1"/>
                </a:solidFill>
              </a:rPr>
              <a:t>算法</a:t>
            </a:r>
            <a:endParaRPr lang="zh-CN" altLang="en-US" sz="6000" b="1" dirty="0">
              <a:solidFill>
                <a:schemeClr val="accent1"/>
              </a:solidFill>
            </a:endParaRPr>
          </a:p>
          <a:p>
            <a:pPr lvl="1" algn="ctr"/>
            <a:endParaRPr lang="zh-CN" altLang="en-US" b="1" dirty="0">
              <a:solidFill>
                <a:schemeClr val="accent1"/>
              </a:solidFill>
            </a:endParaRPr>
          </a:p>
          <a:p>
            <a:pPr lvl="1" algn="r">
              <a:buFont typeface="Wingdings" panose="05000000000000000000" pitchFamily="2" charset="2"/>
              <a:buNone/>
            </a:pPr>
            <a:r>
              <a:rPr lang="en-US" altLang="zh-CN" dirty="0"/>
              <a:t>Turing</a:t>
            </a:r>
            <a:r>
              <a:rPr lang="zh-CN" altLang="en-US" dirty="0"/>
              <a:t>奖获得者，</a:t>
            </a:r>
            <a:r>
              <a:rPr lang="en-US" altLang="zh-CN" dirty="0"/>
              <a:t>Pascal</a:t>
            </a:r>
            <a:r>
              <a:rPr lang="zh-CN" altLang="en-US" dirty="0"/>
              <a:t>之父</a:t>
            </a:r>
            <a:r>
              <a:rPr lang="en-US" altLang="zh-CN" dirty="0" err="1"/>
              <a:t>Niklaus</a:t>
            </a:r>
            <a:r>
              <a:rPr lang="en-US" altLang="zh-CN" dirty="0"/>
              <a:t> Wirth</a:t>
            </a:r>
            <a:endParaRPr lang="en-US" altLang="zh-CN" dirty="0"/>
          </a:p>
        </p:txBody>
      </p:sp>
    </p:spTree>
  </p:cSld>
  <p:clrMapOvr>
    <a:masterClrMapping/>
  </p:clrMapOvr>
  <p:transition spd="slow">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132856"/>
            <a:ext cx="8229600" cy="4191744"/>
          </a:xfrm>
        </p:spPr>
        <p:txBody>
          <a:bodyPr>
            <a:normAutofit/>
          </a:bodyPr>
          <a:lstStyle/>
          <a:p>
            <a:pPr marL="0" indent="0" algn="ctr">
              <a:buNone/>
            </a:pPr>
            <a:r>
              <a:rPr lang="zh-CN" altLang="en-US" sz="8000" dirty="0">
                <a:solidFill>
                  <a:srgbClr val="C00000"/>
                </a:solidFill>
                <a:latin typeface="+mj-ea"/>
                <a:ea typeface="+mj-ea"/>
              </a:rPr>
              <a:t>问题</a:t>
            </a:r>
            <a:r>
              <a:rPr lang="en-US" altLang="zh-CN" sz="8000" dirty="0">
                <a:solidFill>
                  <a:srgbClr val="C00000"/>
                </a:solidFill>
                <a:latin typeface="+mj-ea"/>
              </a:rPr>
              <a:t>……</a:t>
            </a:r>
            <a:r>
              <a:rPr lang="zh-CN" altLang="en-US" sz="8000" dirty="0">
                <a:solidFill>
                  <a:srgbClr val="C00000"/>
                </a:solidFill>
                <a:latin typeface="+mj-ea"/>
                <a:ea typeface="+mj-ea"/>
              </a:rPr>
              <a:t>解题</a:t>
            </a:r>
            <a:endParaRPr lang="zh-CN" altLang="en-US" sz="8000" dirty="0">
              <a:solidFill>
                <a:srgbClr val="C00000"/>
              </a:solidFill>
              <a:latin typeface="+mj-ea"/>
              <a:ea typeface="+mj-ea"/>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p:txBody>
          <a:bodyPr/>
          <a:lstStyle/>
          <a:p>
            <a:r>
              <a:rPr lang="zh-CN" altLang="en-US" dirty="0"/>
              <a:t>问题</a:t>
            </a:r>
            <a:r>
              <a:rPr lang="en-US" altLang="zh-CN" dirty="0">
                <a:latin typeface="Arial" panose="020B0604020202020204"/>
              </a:rPr>
              <a:t>…</a:t>
            </a:r>
            <a:r>
              <a:rPr lang="zh-CN" altLang="en-US" dirty="0"/>
              <a:t>解题</a:t>
            </a:r>
            <a:endParaRPr lang="zh-CN" altLang="en-US" dirty="0"/>
          </a:p>
        </p:txBody>
      </p:sp>
      <p:sp>
        <p:nvSpPr>
          <p:cNvPr id="285699" name="Rectangle 3"/>
          <p:cNvSpPr>
            <a:spLocks noGrp="1" noChangeArrowheads="1"/>
          </p:cNvSpPr>
          <p:nvPr>
            <p:ph type="body" sz="half" idx="1"/>
          </p:nvPr>
        </p:nvSpPr>
        <p:spPr>
          <a:xfrm>
            <a:off x="457200" y="1600200"/>
            <a:ext cx="8218488" cy="4781550"/>
          </a:xfrm>
        </p:spPr>
        <p:txBody>
          <a:bodyPr/>
          <a:lstStyle/>
          <a:p>
            <a:pPr>
              <a:lnSpc>
                <a:spcPct val="90000"/>
              </a:lnSpc>
            </a:pPr>
            <a:r>
              <a:rPr lang="zh-CN" altLang="en-US" sz="2600"/>
              <a:t>在</a:t>
            </a:r>
            <a:r>
              <a:rPr lang="en-US" altLang="zh-CN" sz="2600"/>
              <a:t>n×n </a:t>
            </a:r>
            <a:r>
              <a:rPr lang="zh-CN" altLang="en-US" sz="2600"/>
              <a:t>格的棋盘上放置彼此不受攻击的</a:t>
            </a:r>
            <a:r>
              <a:rPr lang="en-US" altLang="zh-CN" sz="2600"/>
              <a:t>n </a:t>
            </a:r>
            <a:r>
              <a:rPr lang="zh-CN" altLang="en-US" sz="2600"/>
              <a:t>个皇后。按照国际象棋的规则，皇后可以攻击与之处在同一行或同一列或同一斜线上的棋子。</a:t>
            </a:r>
            <a:r>
              <a:rPr lang="en-US" altLang="zh-CN" sz="2600"/>
              <a:t>n</a:t>
            </a:r>
            <a:r>
              <a:rPr lang="zh-CN" altLang="en-US" sz="2600"/>
              <a:t>后问题等价于在</a:t>
            </a:r>
            <a:r>
              <a:rPr lang="en-US" altLang="zh-CN" sz="2600"/>
              <a:t>n×n</a:t>
            </a:r>
            <a:r>
              <a:rPr lang="zh-CN" altLang="en-US" sz="2600"/>
              <a:t>格的棋盘上放置</a:t>
            </a:r>
            <a:r>
              <a:rPr lang="en-US" altLang="zh-CN" sz="2600"/>
              <a:t>n</a:t>
            </a:r>
            <a:r>
              <a:rPr lang="zh-CN" altLang="en-US" sz="2600"/>
              <a:t>个皇后，任何</a:t>
            </a:r>
            <a:r>
              <a:rPr lang="en-US" altLang="zh-CN" sz="2600"/>
              <a:t>2 </a:t>
            </a:r>
            <a:r>
              <a:rPr lang="zh-CN" altLang="en-US" sz="2600"/>
              <a:t>个皇后不放在同一行或同一列或同一斜线上。</a:t>
            </a:r>
            <a:endParaRPr lang="zh-CN" altLang="en-US" sz="2600"/>
          </a:p>
          <a:p>
            <a:pPr>
              <a:lnSpc>
                <a:spcPct val="90000"/>
              </a:lnSpc>
            </a:pPr>
            <a:endParaRPr lang="zh-CN" altLang="en-US" sz="2600"/>
          </a:p>
          <a:p>
            <a:pPr>
              <a:lnSpc>
                <a:spcPct val="90000"/>
              </a:lnSpc>
            </a:pPr>
            <a:endParaRPr lang="zh-CN" altLang="en-US" sz="2600"/>
          </a:p>
          <a:p>
            <a:pPr>
              <a:lnSpc>
                <a:spcPct val="90000"/>
              </a:lnSpc>
            </a:pPr>
            <a:endParaRPr lang="zh-CN" altLang="en-US" sz="2600"/>
          </a:p>
          <a:p>
            <a:pPr>
              <a:lnSpc>
                <a:spcPct val="90000"/>
              </a:lnSpc>
            </a:pPr>
            <a:r>
              <a:rPr lang="en-US" altLang="zh-CN" sz="2600"/>
              <a:t>f(x)</a:t>
            </a:r>
            <a:r>
              <a:rPr lang="zh-CN" altLang="en-US" sz="2600"/>
              <a:t>目标函数</a:t>
            </a:r>
            <a:endParaRPr lang="zh-CN" altLang="en-US" sz="2600"/>
          </a:p>
          <a:p>
            <a:pPr>
              <a:lnSpc>
                <a:spcPct val="90000"/>
              </a:lnSpc>
            </a:pPr>
            <a:r>
              <a:rPr lang="en-US" altLang="zh-CN" sz="2600"/>
              <a:t>S</a:t>
            </a:r>
            <a:r>
              <a:rPr lang="zh-CN" altLang="en-US" sz="2600"/>
              <a:t>解空间</a:t>
            </a:r>
            <a:endParaRPr lang="zh-CN" altLang="en-US" sz="2600"/>
          </a:p>
          <a:p>
            <a:pPr>
              <a:lnSpc>
                <a:spcPct val="90000"/>
              </a:lnSpc>
            </a:pPr>
            <a:r>
              <a:rPr lang="en-US" altLang="zh-CN" sz="2600"/>
              <a:t>x∈S</a:t>
            </a:r>
            <a:r>
              <a:rPr lang="zh-CN" altLang="en-US" sz="2600"/>
              <a:t>约束条件</a:t>
            </a:r>
            <a:endParaRPr lang="zh-CN" altLang="en-US" sz="2600"/>
          </a:p>
        </p:txBody>
      </p:sp>
      <p:graphicFrame>
        <p:nvGraphicFramePr>
          <p:cNvPr id="285700" name="Object 4"/>
          <p:cNvGraphicFramePr>
            <a:graphicFrameLocks noGrp="1" noChangeAspect="1"/>
          </p:cNvGraphicFramePr>
          <p:nvPr>
            <p:ph sz="half" idx="2"/>
          </p:nvPr>
        </p:nvGraphicFramePr>
        <p:xfrm>
          <a:off x="685800" y="3717925"/>
          <a:ext cx="3817938" cy="927100"/>
        </p:xfrm>
        <a:graphic>
          <a:graphicData uri="http://schemas.openxmlformats.org/presentationml/2006/ole">
            <mc:AlternateContent xmlns:mc="http://schemas.openxmlformats.org/markup-compatibility/2006">
              <mc:Choice xmlns:v="urn:schemas-microsoft-com:vml" Requires="v">
                <p:oleObj spid="_x0000_s285732" name="公式" r:id="rId1" imgW="888365" imgH="215900" progId="Equation.3">
                  <p:embed/>
                </p:oleObj>
              </mc:Choice>
              <mc:Fallback>
                <p:oleObj name="公式" r:id="rId1" imgW="888365" imgH="215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717925"/>
                        <a:ext cx="3817938"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5702" name="Text Box 6"/>
          <p:cNvSpPr txBox="1">
            <a:spLocks noChangeArrowheads="1"/>
          </p:cNvSpPr>
          <p:nvPr/>
        </p:nvSpPr>
        <p:spPr bwMode="auto">
          <a:xfrm>
            <a:off x="4859338" y="3573463"/>
            <a:ext cx="3673475" cy="1676400"/>
          </a:xfrm>
          <a:prstGeom prst="rect">
            <a:avLst/>
          </a:prstGeom>
          <a:solidFill>
            <a:schemeClr val="folHlink"/>
          </a:solidFill>
          <a:ln w="28575">
            <a:solidFill>
              <a:srgbClr val="F7240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3200" b="1">
                <a:solidFill>
                  <a:srgbClr val="2605A1"/>
                </a:solidFill>
                <a:latin typeface="Verdana" panose="020B0604030504040204" pitchFamily="34" charset="0"/>
              </a:rPr>
              <a:t>具体到抽象的映射</a:t>
            </a:r>
            <a:endParaRPr lang="zh-CN" altLang="en-US" sz="3200" b="1">
              <a:solidFill>
                <a:srgbClr val="2605A1"/>
              </a:solidFill>
              <a:latin typeface="Verdana" panose="020B0604030504040204" pitchFamily="34" charset="0"/>
            </a:endParaRPr>
          </a:p>
          <a:p>
            <a:pPr algn="ctr">
              <a:spcBef>
                <a:spcPct val="50000"/>
              </a:spcBef>
            </a:pPr>
            <a:r>
              <a:rPr lang="zh-CN" altLang="en-US" sz="2800" b="1">
                <a:solidFill>
                  <a:srgbClr val="2605A1"/>
                </a:solidFill>
                <a:latin typeface="Verdana" panose="020B0604030504040204" pitchFamily="34" charset="0"/>
              </a:rPr>
              <a:t>为一个实际问题建立数学模型以方便求解</a:t>
            </a:r>
            <a:endParaRPr lang="zh-CN" altLang="en-US" sz="2800" b="1">
              <a:solidFill>
                <a:srgbClr val="2605A1"/>
              </a:solidFill>
              <a:latin typeface="Verdana" panose="020B0604030504040204" pitchFamily="34"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85699">
                                            <p:txEl>
                                              <p:pRg st="0" end="0"/>
                                            </p:txEl>
                                          </p:spTgt>
                                        </p:tgtEl>
                                        <p:attrNameLst>
                                          <p:attrName>style.visibility</p:attrName>
                                        </p:attrNameLst>
                                      </p:cBhvr>
                                      <p:to>
                                        <p:strVal val="visible"/>
                                      </p:to>
                                    </p:set>
                                    <p:animEffect transition="in" filter="slide(fromBottom)">
                                      <p:cBhvr>
                                        <p:cTn id="7" dur="500"/>
                                        <p:tgtEl>
                                          <p:spTgt spid="285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85700"/>
                                        </p:tgtEl>
                                        <p:attrNameLst>
                                          <p:attrName>style.visibility</p:attrName>
                                        </p:attrNameLst>
                                      </p:cBhvr>
                                      <p:to>
                                        <p:strVal val="visible"/>
                                      </p:to>
                                    </p:set>
                                    <p:animEffect transition="in" filter="slide(fromBottom)">
                                      <p:cBhvr>
                                        <p:cTn id="12" dur="500"/>
                                        <p:tgtEl>
                                          <p:spTgt spid="285700"/>
                                        </p:tgtEl>
                                      </p:cBhvr>
                                    </p:animEffect>
                                  </p:childTnLst>
                                </p:cTn>
                              </p:par>
                            </p:childTnLst>
                          </p:cTn>
                        </p:par>
                        <p:par>
                          <p:cTn id="13" fill="hold">
                            <p:stCondLst>
                              <p:cond delay="500"/>
                            </p:stCondLst>
                            <p:childTnLst>
                              <p:par>
                                <p:cTn id="14" presetID="12" presetClass="entr" presetSubtype="4" fill="hold" grpId="0" nodeType="afterEffect">
                                  <p:stCondLst>
                                    <p:cond delay="0"/>
                                  </p:stCondLst>
                                  <p:childTnLst>
                                    <p:set>
                                      <p:cBhvr>
                                        <p:cTn id="15" dur="1" fill="hold">
                                          <p:stCondLst>
                                            <p:cond delay="0"/>
                                          </p:stCondLst>
                                        </p:cTn>
                                        <p:tgtEl>
                                          <p:spTgt spid="285699">
                                            <p:txEl>
                                              <p:pRg st="4" end="4"/>
                                            </p:txEl>
                                          </p:spTgt>
                                        </p:tgtEl>
                                        <p:attrNameLst>
                                          <p:attrName>style.visibility</p:attrName>
                                        </p:attrNameLst>
                                      </p:cBhvr>
                                      <p:to>
                                        <p:strVal val="visible"/>
                                      </p:to>
                                    </p:set>
                                    <p:animEffect transition="in" filter="slide(fromBottom)">
                                      <p:cBhvr>
                                        <p:cTn id="16" dur="500"/>
                                        <p:tgtEl>
                                          <p:spTgt spid="285699">
                                            <p:txEl>
                                              <p:pRg st="4" end="4"/>
                                            </p:txEl>
                                          </p:spTgt>
                                        </p:tgtEl>
                                      </p:cBhvr>
                                    </p:animEffect>
                                  </p:childTnLst>
                                </p:cTn>
                              </p:par>
                            </p:childTnLst>
                          </p:cTn>
                        </p:par>
                        <p:par>
                          <p:cTn id="17" fill="hold">
                            <p:stCondLst>
                              <p:cond delay="1000"/>
                            </p:stCondLst>
                            <p:childTnLst>
                              <p:par>
                                <p:cTn id="18" presetID="12" presetClass="entr" presetSubtype="4" fill="hold" grpId="0" nodeType="afterEffect">
                                  <p:stCondLst>
                                    <p:cond delay="0"/>
                                  </p:stCondLst>
                                  <p:childTnLst>
                                    <p:set>
                                      <p:cBhvr>
                                        <p:cTn id="19" dur="1" fill="hold">
                                          <p:stCondLst>
                                            <p:cond delay="0"/>
                                          </p:stCondLst>
                                        </p:cTn>
                                        <p:tgtEl>
                                          <p:spTgt spid="285699">
                                            <p:txEl>
                                              <p:pRg st="5" end="5"/>
                                            </p:txEl>
                                          </p:spTgt>
                                        </p:tgtEl>
                                        <p:attrNameLst>
                                          <p:attrName>style.visibility</p:attrName>
                                        </p:attrNameLst>
                                      </p:cBhvr>
                                      <p:to>
                                        <p:strVal val="visible"/>
                                      </p:to>
                                    </p:set>
                                    <p:animEffect transition="in" filter="slide(fromBottom)">
                                      <p:cBhvr>
                                        <p:cTn id="20" dur="500"/>
                                        <p:tgtEl>
                                          <p:spTgt spid="285699">
                                            <p:txEl>
                                              <p:pRg st="5" end="5"/>
                                            </p:txEl>
                                          </p:spTgt>
                                        </p:tgtEl>
                                      </p:cBhvr>
                                    </p:animEffect>
                                  </p:childTnLst>
                                </p:cTn>
                              </p:par>
                            </p:childTnLst>
                          </p:cTn>
                        </p:par>
                        <p:par>
                          <p:cTn id="21" fill="hold">
                            <p:stCondLst>
                              <p:cond delay="1500"/>
                            </p:stCondLst>
                            <p:childTnLst>
                              <p:par>
                                <p:cTn id="22" presetID="12" presetClass="entr" presetSubtype="4" fill="hold" grpId="0" nodeType="afterEffect">
                                  <p:stCondLst>
                                    <p:cond delay="0"/>
                                  </p:stCondLst>
                                  <p:childTnLst>
                                    <p:set>
                                      <p:cBhvr>
                                        <p:cTn id="23" dur="1" fill="hold">
                                          <p:stCondLst>
                                            <p:cond delay="0"/>
                                          </p:stCondLst>
                                        </p:cTn>
                                        <p:tgtEl>
                                          <p:spTgt spid="285699">
                                            <p:txEl>
                                              <p:pRg st="6" end="6"/>
                                            </p:txEl>
                                          </p:spTgt>
                                        </p:tgtEl>
                                        <p:attrNameLst>
                                          <p:attrName>style.visibility</p:attrName>
                                        </p:attrNameLst>
                                      </p:cBhvr>
                                      <p:to>
                                        <p:strVal val="visible"/>
                                      </p:to>
                                    </p:set>
                                    <p:animEffect transition="in" filter="slide(fromBottom)">
                                      <p:cBhvr>
                                        <p:cTn id="24" dur="500"/>
                                        <p:tgtEl>
                                          <p:spTgt spid="285699">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6" fill="hold" grpId="0" nodeType="clickEffect">
                                  <p:stCondLst>
                                    <p:cond delay="0"/>
                                  </p:stCondLst>
                                  <p:childTnLst>
                                    <p:set>
                                      <p:cBhvr>
                                        <p:cTn id="28" dur="1" fill="hold">
                                          <p:stCondLst>
                                            <p:cond delay="0"/>
                                          </p:stCondLst>
                                        </p:cTn>
                                        <p:tgtEl>
                                          <p:spTgt spid="285702"/>
                                        </p:tgtEl>
                                        <p:attrNameLst>
                                          <p:attrName>style.visibility</p:attrName>
                                        </p:attrNameLst>
                                      </p:cBhvr>
                                      <p:to>
                                        <p:strVal val="visible"/>
                                      </p:to>
                                    </p:set>
                                    <p:animEffect transition="in" filter="barn(inHorizontal)">
                                      <p:cBhvr>
                                        <p:cTn id="29" dur="500"/>
                                        <p:tgtEl>
                                          <p:spTgt spid="285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9" grpId="0" uiExpand="1" build="p"/>
      <p:bldP spid="28570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299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313" y="333375"/>
            <a:ext cx="8496300" cy="60563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4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476250"/>
            <a:ext cx="8353425" cy="5473700"/>
          </a:xfrm>
          <a:prstGeom prst="rect">
            <a:avLst/>
          </a:prstGeom>
          <a:noFill/>
          <a:extLst>
            <a:ext uri="{909E8E84-426E-40DD-AFC4-6F175D3DCCD1}">
              <a14:hiddenFill xmlns:a14="http://schemas.microsoft.com/office/drawing/2010/main">
                <a:solidFill>
                  <a:srgbClr val="FFFFFF"/>
                </a:solidFill>
              </a14:hiddenFill>
            </a:ext>
          </a:extLst>
        </p:spPr>
      </p:pic>
      <p:sp>
        <p:nvSpPr>
          <p:cNvPr id="215045" name="Rectangle 5"/>
          <p:cNvSpPr>
            <a:spLocks noChangeArrowheads="1"/>
          </p:cNvSpPr>
          <p:nvPr/>
        </p:nvSpPr>
        <p:spPr bwMode="auto">
          <a:xfrm>
            <a:off x="900113" y="3500438"/>
            <a:ext cx="7488237" cy="2233612"/>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46" name="Text Box 6"/>
          <p:cNvSpPr txBox="1">
            <a:spLocks noChangeArrowheads="1"/>
          </p:cNvSpPr>
          <p:nvPr/>
        </p:nvSpPr>
        <p:spPr bwMode="auto">
          <a:xfrm>
            <a:off x="2987675" y="2701925"/>
            <a:ext cx="5113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F72401"/>
                </a:solidFill>
                <a:latin typeface="Verdana" panose="020B0604030504040204" pitchFamily="34" charset="0"/>
              </a:rPr>
              <a:t>计算机程序性能以及资源使用情况的理论性分析</a:t>
            </a:r>
            <a:endParaRPr lang="zh-CN" altLang="en-US">
              <a:solidFill>
                <a:srgbClr val="F72401"/>
              </a:solidFill>
              <a:latin typeface="Verdana" panose="020B0604030504040204" pitchFamily="34"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215045"/>
                                        </p:tgtEl>
                                      </p:cBhvr>
                                    </p:animEffect>
                                    <p:set>
                                      <p:cBhvr>
                                        <p:cTn id="7" dur="1" fill="hold">
                                          <p:stCondLst>
                                            <p:cond delay="499"/>
                                          </p:stCondLst>
                                        </p:cTn>
                                        <p:tgtEl>
                                          <p:spTgt spid="2150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p:txBody>
          <a:bodyPr/>
          <a:lstStyle/>
          <a:p>
            <a:r>
              <a:rPr lang="zh-CN" altLang="en-US"/>
              <a:t>为什么要研究算法和性能？</a:t>
            </a:r>
            <a:endParaRPr lang="zh-CN" altLang="en-US"/>
          </a:p>
        </p:txBody>
      </p:sp>
      <p:sp>
        <p:nvSpPr>
          <p:cNvPr id="289795" name="Rectangle 3"/>
          <p:cNvSpPr>
            <a:spLocks noGrp="1" noChangeArrowheads="1"/>
          </p:cNvSpPr>
          <p:nvPr>
            <p:ph idx="1"/>
          </p:nvPr>
        </p:nvSpPr>
        <p:spPr/>
        <p:txBody>
          <a:bodyPr/>
          <a:lstStyle/>
          <a:p>
            <a:pPr>
              <a:lnSpc>
                <a:spcPct val="90000"/>
              </a:lnSpc>
            </a:pPr>
            <a:r>
              <a:rPr lang="zh-CN" altLang="en-US"/>
              <a:t>算法帮助我们理解</a:t>
            </a:r>
            <a:r>
              <a:rPr lang="zh-CN" altLang="en-US" b="1">
                <a:solidFill>
                  <a:srgbClr val="F72401"/>
                </a:solidFill>
              </a:rPr>
              <a:t> “可测量性” （</a:t>
            </a:r>
            <a:r>
              <a:rPr lang="en-US" altLang="zh-CN" b="1">
                <a:solidFill>
                  <a:srgbClr val="F72401"/>
                </a:solidFill>
              </a:rPr>
              <a:t>scalability</a:t>
            </a:r>
            <a:r>
              <a:rPr lang="zh-CN" altLang="en-US" b="1">
                <a:solidFill>
                  <a:srgbClr val="F72401"/>
                </a:solidFill>
              </a:rPr>
              <a:t>）</a:t>
            </a:r>
            <a:endParaRPr lang="zh-CN" altLang="en-US" b="1">
              <a:solidFill>
                <a:srgbClr val="F72401"/>
              </a:solidFill>
            </a:endParaRPr>
          </a:p>
          <a:p>
            <a:pPr>
              <a:lnSpc>
                <a:spcPct val="90000"/>
              </a:lnSpc>
            </a:pPr>
            <a:r>
              <a:rPr lang="zh-CN" altLang="en-US"/>
              <a:t>性能，总能在</a:t>
            </a:r>
            <a:r>
              <a:rPr lang="zh-CN" altLang="en-US" b="1">
                <a:solidFill>
                  <a:srgbClr val="F72401"/>
                </a:solidFill>
              </a:rPr>
              <a:t>“可行”（</a:t>
            </a:r>
            <a:r>
              <a:rPr lang="en-US" altLang="zh-CN" b="1">
                <a:solidFill>
                  <a:srgbClr val="F72401"/>
                </a:solidFill>
              </a:rPr>
              <a:t>feasible</a:t>
            </a:r>
            <a:r>
              <a:rPr lang="zh-CN" altLang="en-US" b="1">
                <a:solidFill>
                  <a:srgbClr val="F72401"/>
                </a:solidFill>
              </a:rPr>
              <a:t>）</a:t>
            </a:r>
            <a:r>
              <a:rPr lang="zh-CN" altLang="en-US"/>
              <a:t>与</a:t>
            </a:r>
            <a:r>
              <a:rPr lang="zh-CN" altLang="en-US" b="1">
                <a:solidFill>
                  <a:srgbClr val="F72401"/>
                </a:solidFill>
              </a:rPr>
              <a:t>“不可行”（</a:t>
            </a:r>
            <a:r>
              <a:rPr lang="en-US" altLang="zh-CN" b="1">
                <a:solidFill>
                  <a:srgbClr val="F72401"/>
                </a:solidFill>
              </a:rPr>
              <a:t>impossible</a:t>
            </a:r>
            <a:r>
              <a:rPr lang="zh-CN" altLang="en-US" b="1">
                <a:solidFill>
                  <a:srgbClr val="F72401"/>
                </a:solidFill>
              </a:rPr>
              <a:t>）</a:t>
            </a:r>
            <a:r>
              <a:rPr lang="zh-CN" altLang="en-US"/>
              <a:t>之间为我们划分标准。</a:t>
            </a:r>
            <a:endParaRPr lang="zh-CN" altLang="en-US"/>
          </a:p>
          <a:p>
            <a:pPr>
              <a:lnSpc>
                <a:spcPct val="90000"/>
              </a:lnSpc>
            </a:pPr>
            <a:endParaRPr lang="zh-CN" altLang="en-US"/>
          </a:p>
          <a:p>
            <a:pPr>
              <a:lnSpc>
                <a:spcPct val="90000"/>
              </a:lnSpc>
            </a:pPr>
            <a:r>
              <a:rPr lang="zh-CN" altLang="en-US"/>
              <a:t>数学化的算法，提供给我们一种方式，去说明和衡量一个程序的行为。</a:t>
            </a:r>
            <a:endParaRPr lang="zh-CN" altLang="en-US"/>
          </a:p>
          <a:p>
            <a:pPr>
              <a:lnSpc>
                <a:spcPct val="90000"/>
              </a:lnSpc>
            </a:pPr>
            <a:r>
              <a:rPr lang="zh-CN" altLang="en-US"/>
              <a:t>性能，总能归结于其他资源的利用</a:t>
            </a:r>
            <a:endParaRPr lang="zh-CN" altLang="en-US"/>
          </a:p>
          <a:p>
            <a:pPr>
              <a:lnSpc>
                <a:spcPct val="90000"/>
              </a:lnSpc>
            </a:pPr>
            <a:endParaRPr lang="zh-CN" altLang="en-US"/>
          </a:p>
          <a:p>
            <a:pPr>
              <a:lnSpc>
                <a:spcPct val="90000"/>
              </a:lnSpc>
            </a:pPr>
            <a:r>
              <a:rPr lang="en-US" altLang="zh-CN"/>
              <a:t>Speed is fun</a:t>
            </a:r>
            <a:r>
              <a:rPr lang="zh-CN" altLang="en-US"/>
              <a:t>！</a:t>
            </a:r>
            <a:endParaRPr lang="zh-CN" altLang="en-US"/>
          </a:p>
        </p:txBody>
      </p:sp>
    </p:spTree>
  </p:cSld>
  <p:clrMapOvr>
    <a:masterClrMapping/>
  </p:clrMapOvr>
  <p:transition spd="slow">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p:txBody>
          <a:bodyPr/>
          <a:lstStyle/>
          <a:p>
            <a:r>
              <a:rPr lang="zh-CN" altLang="en-US" dirty="0"/>
              <a:t>作为一种技术的算法</a:t>
            </a:r>
            <a:endParaRPr lang="zh-CN" altLang="en-US" dirty="0"/>
          </a:p>
        </p:txBody>
      </p:sp>
      <p:sp>
        <p:nvSpPr>
          <p:cNvPr id="290819" name="Rectangle 3"/>
          <p:cNvSpPr>
            <a:spLocks noGrp="1" noChangeArrowheads="1"/>
          </p:cNvSpPr>
          <p:nvPr>
            <p:ph idx="1"/>
          </p:nvPr>
        </p:nvSpPr>
        <p:spPr>
          <a:xfrm>
            <a:off x="468313" y="1916832"/>
            <a:ext cx="8229600" cy="4285307"/>
          </a:xfrm>
        </p:spPr>
        <p:txBody>
          <a:bodyPr/>
          <a:lstStyle/>
          <a:p>
            <a:r>
              <a:rPr lang="zh-CN" altLang="en-US" dirty="0"/>
              <a:t>如果计算无限快、存储器都是免费的，那算法研究是否还需要？</a:t>
            </a:r>
            <a:endParaRPr lang="zh-CN" altLang="en-US" dirty="0"/>
          </a:p>
          <a:p>
            <a:pPr lvl="1"/>
            <a:r>
              <a:rPr lang="en-US" altLang="zh-CN" dirty="0"/>
              <a:t>Yes</a:t>
            </a:r>
            <a:r>
              <a:rPr lang="zh-CN" altLang="en-US" dirty="0"/>
              <a:t>！证明方案是正确的，可以给出正确的结果！</a:t>
            </a:r>
            <a:endParaRPr lang="zh-CN" altLang="en-US" dirty="0"/>
          </a:p>
          <a:p>
            <a:pPr lvl="1"/>
            <a:r>
              <a:rPr lang="en-US" altLang="zh-CN" dirty="0"/>
              <a:t>Yes</a:t>
            </a:r>
            <a:r>
              <a:rPr lang="zh-CN" altLang="en-US" dirty="0"/>
              <a:t>！希望自己的实现符合良好的软件工程实际要求，采用最容易的实现方法！</a:t>
            </a:r>
            <a:endParaRPr lang="zh-CN" altLang="en-US" dirty="0"/>
          </a:p>
          <a:p>
            <a:pPr lvl="1"/>
            <a:endParaRPr lang="zh-CN" altLang="en-US" dirty="0"/>
          </a:p>
          <a:p>
            <a:r>
              <a:rPr lang="zh-CN" altLang="en-US" dirty="0"/>
              <a:t>算法对计算机非常重要，类比硬件与软件的不同，算法的迥异带来的意义可能更为明显！</a:t>
            </a:r>
            <a:endParaRPr lang="zh-CN" altLang="en-US" dirty="0"/>
          </a:p>
          <a:p>
            <a:endParaRPr lang="zh-CN" altLang="en-US" dirty="0"/>
          </a:p>
          <a:p>
            <a:pPr lvl="1"/>
            <a:endParaRPr lang="en-US" altLang="zh-CN"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90819">
                                            <p:txEl>
                                              <p:pRg st="0" end="0"/>
                                            </p:txEl>
                                          </p:spTgt>
                                        </p:tgtEl>
                                        <p:attrNameLst>
                                          <p:attrName>style.visibility</p:attrName>
                                        </p:attrNameLst>
                                      </p:cBhvr>
                                      <p:to>
                                        <p:strVal val="visible"/>
                                      </p:to>
                                    </p:set>
                                    <p:animEffect transition="in" filter="slide(fromBottom)">
                                      <p:cBhvr>
                                        <p:cTn id="7" dur="500"/>
                                        <p:tgtEl>
                                          <p:spTgt spid="290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90819">
                                            <p:txEl>
                                              <p:pRg st="1" end="1"/>
                                            </p:txEl>
                                          </p:spTgt>
                                        </p:tgtEl>
                                        <p:attrNameLst>
                                          <p:attrName>style.visibility</p:attrName>
                                        </p:attrNameLst>
                                      </p:cBhvr>
                                      <p:to>
                                        <p:strVal val="visible"/>
                                      </p:to>
                                    </p:set>
                                    <p:animEffect transition="in" filter="slide(fromBottom)">
                                      <p:cBhvr>
                                        <p:cTn id="12" dur="500"/>
                                        <p:tgtEl>
                                          <p:spTgt spid="290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90819">
                                            <p:txEl>
                                              <p:pRg st="2" end="2"/>
                                            </p:txEl>
                                          </p:spTgt>
                                        </p:tgtEl>
                                        <p:attrNameLst>
                                          <p:attrName>style.visibility</p:attrName>
                                        </p:attrNameLst>
                                      </p:cBhvr>
                                      <p:to>
                                        <p:strVal val="visible"/>
                                      </p:to>
                                    </p:set>
                                    <p:animEffect transition="in" filter="slide(fromBottom)">
                                      <p:cBhvr>
                                        <p:cTn id="17" dur="500"/>
                                        <p:tgtEl>
                                          <p:spTgt spid="290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90819">
                                            <p:txEl>
                                              <p:pRg st="4" end="4"/>
                                            </p:txEl>
                                          </p:spTgt>
                                        </p:tgtEl>
                                        <p:attrNameLst>
                                          <p:attrName>style.visibility</p:attrName>
                                        </p:attrNameLst>
                                      </p:cBhvr>
                                      <p:to>
                                        <p:strVal val="visible"/>
                                      </p:to>
                                    </p:set>
                                    <p:animEffect transition="in" filter="slide(fromBottom)">
                                      <p:cBhvr>
                                        <p:cTn id="22" dur="500"/>
                                        <p:tgtEl>
                                          <p:spTgt spid="290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027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1276" y="1412875"/>
            <a:ext cx="8859837" cy="388778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221276" y="1927722"/>
            <a:ext cx="4710763" cy="33838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4932040" y="2073690"/>
            <a:ext cx="4177036" cy="33838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4"/>
                                        </p:tgtEl>
                                        <p:attrNameLst>
                                          <p:attrName>ppt_x</p:attrName>
                                        </p:attrNameLst>
                                      </p:cBhvr>
                                      <p:tavLst>
                                        <p:tav tm="0">
                                          <p:val>
                                            <p:strVal val="ppt_x"/>
                                          </p:val>
                                        </p:tav>
                                        <p:tav tm="100000">
                                          <p:val>
                                            <p:strVal val="ppt_x"/>
                                          </p:val>
                                        </p:tav>
                                      </p:tavLst>
                                    </p:anim>
                                    <p:anim calcmode="lin" valueType="num">
                                      <p:cBhvr additive="base">
                                        <p:cTn id="13" dur="500"/>
                                        <p:tgtEl>
                                          <p:spTgt spid="4"/>
                                        </p:tgtEl>
                                        <p:attrNameLst>
                                          <p:attrName>ppt_y</p:attrName>
                                        </p:attrNameLst>
                                      </p:cBhvr>
                                      <p:tavLst>
                                        <p:tav tm="0">
                                          <p:val>
                                            <p:strVal val="ppt_y"/>
                                          </p:val>
                                        </p:tav>
                                        <p:tav tm="100000">
                                          <p:val>
                                            <p:strVal val="1+ppt_h/2"/>
                                          </p:val>
                                        </p:tav>
                                      </p:tavLst>
                                    </p:anim>
                                    <p:set>
                                      <p:cBhvr>
                                        <p:cTn id="14"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402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225425"/>
            <a:ext cx="8820150" cy="62277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1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188913"/>
            <a:ext cx="8893175" cy="6413500"/>
          </a:xfrm>
          <a:prstGeom prst="rect">
            <a:avLst/>
          </a:prstGeom>
          <a:noFill/>
          <a:extLst>
            <a:ext uri="{909E8E84-426E-40DD-AFC4-6F175D3DCCD1}">
              <a14:hiddenFill xmlns:a14="http://schemas.microsoft.com/office/drawing/2010/main">
                <a:solidFill>
                  <a:srgbClr val="FFFFFF"/>
                </a:solidFill>
              </a14:hiddenFill>
            </a:ext>
          </a:extLst>
        </p:spPr>
      </p:pic>
      <p:sp>
        <p:nvSpPr>
          <p:cNvPr id="218115" name="Rectangle 3"/>
          <p:cNvSpPr>
            <a:spLocks noChangeArrowheads="1"/>
          </p:cNvSpPr>
          <p:nvPr/>
        </p:nvSpPr>
        <p:spPr bwMode="auto">
          <a:xfrm>
            <a:off x="0" y="3716338"/>
            <a:ext cx="9144000" cy="31416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218115"/>
                                        </p:tgtEl>
                                        <p:attrNameLst>
                                          <p:attrName>ppt_x</p:attrName>
                                        </p:attrNameLst>
                                      </p:cBhvr>
                                      <p:tavLst>
                                        <p:tav tm="0">
                                          <p:val>
                                            <p:strVal val="ppt_x"/>
                                          </p:val>
                                        </p:tav>
                                        <p:tav tm="100000">
                                          <p:val>
                                            <p:strVal val="ppt_x"/>
                                          </p:val>
                                        </p:tav>
                                      </p:tavLst>
                                    </p:anim>
                                    <p:anim calcmode="lin" valueType="num">
                                      <p:cBhvr additive="base">
                                        <p:cTn id="7" dur="500"/>
                                        <p:tgtEl>
                                          <p:spTgt spid="218115"/>
                                        </p:tgtEl>
                                        <p:attrNameLst>
                                          <p:attrName>ppt_y</p:attrName>
                                        </p:attrNameLst>
                                      </p:cBhvr>
                                      <p:tavLst>
                                        <p:tav tm="0">
                                          <p:val>
                                            <p:strVal val="ppt_y"/>
                                          </p:val>
                                        </p:tav>
                                        <p:tav tm="100000">
                                          <p:val>
                                            <p:strVal val="1+ppt_h/2"/>
                                          </p:val>
                                        </p:tav>
                                      </p:tavLst>
                                    </p:anim>
                                    <p:set>
                                      <p:cBhvr>
                                        <p:cTn id="8" dur="1" fill="hold">
                                          <p:stCondLst>
                                            <p:cond delay="499"/>
                                          </p:stCondLst>
                                        </p:cTn>
                                        <p:tgtEl>
                                          <p:spTgt spid="2181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09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115888"/>
            <a:ext cx="8893175" cy="66182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14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260350"/>
            <a:ext cx="8569325" cy="63785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6" name="Rectangle 8"/>
          <p:cNvSpPr>
            <a:spLocks noGrp="1" noChangeArrowheads="1"/>
          </p:cNvSpPr>
          <p:nvPr>
            <p:ph idx="1"/>
          </p:nvPr>
        </p:nvSpPr>
        <p:spPr>
          <a:xfrm>
            <a:off x="457200" y="2060575"/>
            <a:ext cx="8229600" cy="4070350"/>
          </a:xfrm>
        </p:spPr>
        <p:txBody>
          <a:bodyPr>
            <a:normAutofit/>
          </a:bodyPr>
          <a:lstStyle/>
          <a:p>
            <a:pPr algn="ctr">
              <a:buFont typeface="Wingdings" panose="05000000000000000000" pitchFamily="2" charset="2"/>
              <a:buNone/>
            </a:pPr>
            <a:r>
              <a:rPr lang="zh-CN" altLang="en-US" sz="8000" dirty="0">
                <a:solidFill>
                  <a:schemeClr val="tx2"/>
                </a:solidFill>
                <a:latin typeface="+mj-ea"/>
                <a:ea typeface="+mj-ea"/>
              </a:rPr>
              <a:t>算法与程序</a:t>
            </a:r>
            <a:endParaRPr lang="zh-CN" altLang="en-US" sz="8000" dirty="0">
              <a:solidFill>
                <a:schemeClr val="tx2"/>
              </a:solidFill>
              <a:latin typeface="+mj-ea"/>
              <a:ea typeface="+mj-ea"/>
            </a:endParaRPr>
          </a:p>
        </p:txBody>
      </p:sp>
    </p:spTree>
  </p:cSld>
  <p:clrMapOvr>
    <a:masterClrMapping/>
  </p:clrMapOvr>
  <p:transition spd="slow">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620688"/>
            <a:ext cx="8229600" cy="1143000"/>
          </a:xfrm>
        </p:spPr>
        <p:txBody>
          <a:bodyPr/>
          <a:lstStyle/>
          <a:p>
            <a:r>
              <a:rPr lang="zh-CN" altLang="en-US" dirty="0"/>
              <a:t>算法</a:t>
            </a:r>
            <a:r>
              <a:rPr lang="en-US" altLang="zh-CN" dirty="0"/>
              <a:t>(Algorithm)</a:t>
            </a:r>
            <a:endParaRPr lang="en-US" altLang="zh-CN" dirty="0"/>
          </a:p>
        </p:txBody>
      </p:sp>
      <p:sp>
        <p:nvSpPr>
          <p:cNvPr id="10243" name="Rectangle 3"/>
          <p:cNvSpPr>
            <a:spLocks noGrp="1" noChangeArrowheads="1"/>
          </p:cNvSpPr>
          <p:nvPr>
            <p:ph idx="1"/>
          </p:nvPr>
        </p:nvSpPr>
        <p:spPr>
          <a:xfrm>
            <a:off x="539750" y="1772940"/>
            <a:ext cx="7772400" cy="4824412"/>
          </a:xfrm>
        </p:spPr>
        <p:txBody>
          <a:bodyPr/>
          <a:lstStyle/>
          <a:p>
            <a:pPr>
              <a:lnSpc>
                <a:spcPct val="150000"/>
              </a:lnSpc>
            </a:pPr>
            <a:r>
              <a:rPr lang="zh-CN" altLang="en-US" sz="2500" dirty="0">
                <a:latin typeface="宋体" panose="02010600030101010101" pitchFamily="2" charset="-122"/>
              </a:rPr>
              <a:t>算法是指解决问题的一种方法或一个过程。</a:t>
            </a:r>
            <a:endParaRPr lang="zh-CN" altLang="en-US" sz="2500" dirty="0">
              <a:latin typeface="宋体" panose="02010600030101010101" pitchFamily="2" charset="-122"/>
            </a:endParaRPr>
          </a:p>
          <a:p>
            <a:pPr>
              <a:lnSpc>
                <a:spcPct val="150000"/>
              </a:lnSpc>
            </a:pPr>
            <a:r>
              <a:rPr lang="zh-CN" altLang="en-US" sz="2500" dirty="0">
                <a:latin typeface="宋体" panose="02010600030101010101" pitchFamily="2" charset="-122"/>
              </a:rPr>
              <a:t>算法是若干指令的有穷序列，满足性质：</a:t>
            </a:r>
            <a:endParaRPr lang="zh-CN" altLang="en-US" sz="2500" dirty="0">
              <a:latin typeface="宋体" panose="02010600030101010101" pitchFamily="2" charset="-122"/>
            </a:endParaRPr>
          </a:p>
          <a:p>
            <a:pPr>
              <a:lnSpc>
                <a:spcPct val="150000"/>
              </a:lnSpc>
              <a:buFont typeface="Wingdings" panose="05000000000000000000" pitchFamily="2" charset="2"/>
              <a:buNone/>
            </a:pPr>
            <a:r>
              <a:rPr lang="en-US" altLang="zh-CN" sz="2500" dirty="0">
                <a:latin typeface="宋体" panose="02010600030101010101" pitchFamily="2" charset="-122"/>
              </a:rPr>
              <a:t>(1)</a:t>
            </a:r>
            <a:r>
              <a:rPr lang="zh-CN" altLang="en-US" sz="2500" b="1" dirty="0">
                <a:solidFill>
                  <a:srgbClr val="3907F1"/>
                </a:solidFill>
                <a:latin typeface="宋体" panose="02010600030101010101" pitchFamily="2" charset="-122"/>
              </a:rPr>
              <a:t>输入</a:t>
            </a:r>
            <a:r>
              <a:rPr lang="zh-CN" altLang="en-US" sz="2500" dirty="0">
                <a:latin typeface="宋体" panose="02010600030101010101" pitchFamily="2" charset="-122"/>
              </a:rPr>
              <a:t>：有外部提供的量作为算法的输入。</a:t>
            </a:r>
            <a:endParaRPr lang="zh-CN" altLang="en-US" sz="2500" dirty="0">
              <a:latin typeface="宋体" panose="02010600030101010101" pitchFamily="2" charset="-122"/>
            </a:endParaRPr>
          </a:p>
          <a:p>
            <a:pPr>
              <a:lnSpc>
                <a:spcPct val="150000"/>
              </a:lnSpc>
              <a:buFont typeface="Wingdings" panose="05000000000000000000" pitchFamily="2" charset="2"/>
              <a:buNone/>
            </a:pPr>
            <a:r>
              <a:rPr lang="en-US" altLang="zh-CN" sz="2500" dirty="0">
                <a:latin typeface="宋体" panose="02010600030101010101" pitchFamily="2" charset="-122"/>
              </a:rPr>
              <a:t>(2)</a:t>
            </a:r>
            <a:r>
              <a:rPr lang="zh-CN" altLang="en-US" sz="2500" b="1" dirty="0">
                <a:solidFill>
                  <a:srgbClr val="3907F1"/>
                </a:solidFill>
                <a:latin typeface="宋体" panose="02010600030101010101" pitchFamily="2" charset="-122"/>
              </a:rPr>
              <a:t>输出</a:t>
            </a:r>
            <a:r>
              <a:rPr lang="zh-CN" altLang="en-US" sz="2500" dirty="0">
                <a:latin typeface="宋体" panose="02010600030101010101" pitchFamily="2" charset="-122"/>
              </a:rPr>
              <a:t>：算法产生至少一个量作为输出。</a:t>
            </a:r>
            <a:endParaRPr lang="zh-CN" altLang="en-US" sz="2500" dirty="0">
              <a:latin typeface="宋体" panose="02010600030101010101" pitchFamily="2" charset="-122"/>
            </a:endParaRPr>
          </a:p>
          <a:p>
            <a:pPr>
              <a:lnSpc>
                <a:spcPct val="150000"/>
              </a:lnSpc>
              <a:buFont typeface="Wingdings" panose="05000000000000000000" pitchFamily="2" charset="2"/>
              <a:buNone/>
            </a:pPr>
            <a:r>
              <a:rPr lang="en-US" altLang="zh-CN" sz="2500" dirty="0">
                <a:latin typeface="宋体" panose="02010600030101010101" pitchFamily="2" charset="-122"/>
              </a:rPr>
              <a:t>(3)</a:t>
            </a:r>
            <a:r>
              <a:rPr lang="zh-CN" altLang="en-US" sz="2500" b="1" dirty="0">
                <a:solidFill>
                  <a:srgbClr val="3907F1"/>
                </a:solidFill>
                <a:latin typeface="宋体" panose="02010600030101010101" pitchFamily="2" charset="-122"/>
              </a:rPr>
              <a:t>确定性</a:t>
            </a:r>
            <a:r>
              <a:rPr lang="zh-CN" altLang="en-US" sz="2500" dirty="0">
                <a:latin typeface="宋体" panose="02010600030101010101" pitchFamily="2" charset="-122"/>
              </a:rPr>
              <a:t>：组成算法的每条指令是清晰，无歧义的。</a:t>
            </a:r>
            <a:endParaRPr lang="zh-CN" altLang="en-US" sz="2500" dirty="0">
              <a:latin typeface="宋体" panose="02010600030101010101" pitchFamily="2" charset="-122"/>
            </a:endParaRPr>
          </a:p>
          <a:p>
            <a:pPr>
              <a:lnSpc>
                <a:spcPct val="150000"/>
              </a:lnSpc>
              <a:buFont typeface="Wingdings" panose="05000000000000000000" pitchFamily="2" charset="2"/>
              <a:buNone/>
            </a:pPr>
            <a:r>
              <a:rPr lang="en-US" altLang="zh-CN" sz="2500" dirty="0">
                <a:latin typeface="宋体" panose="02010600030101010101" pitchFamily="2" charset="-122"/>
              </a:rPr>
              <a:t>(4)</a:t>
            </a:r>
            <a:r>
              <a:rPr lang="zh-CN" altLang="en-US" sz="2500" b="1" dirty="0">
                <a:solidFill>
                  <a:srgbClr val="3907F1"/>
                </a:solidFill>
                <a:latin typeface="宋体" panose="02010600030101010101" pitchFamily="2" charset="-122"/>
              </a:rPr>
              <a:t>有限性</a:t>
            </a:r>
            <a:r>
              <a:rPr lang="zh-CN" altLang="en-US" sz="2500" dirty="0">
                <a:latin typeface="宋体" panose="02010600030101010101" pitchFamily="2" charset="-122"/>
              </a:rPr>
              <a:t>：算法中每条指令的执行次数是有限的，执行每条指令的时间也是有限的。</a:t>
            </a:r>
            <a:endParaRPr lang="zh-CN" altLang="en-US" sz="2500" dirty="0">
              <a:latin typeface="宋体" panose="02010600030101010101" pitchFamily="2" charset="-122"/>
            </a:endParaRPr>
          </a:p>
        </p:txBody>
      </p:sp>
    </p:spTree>
  </p:cSld>
  <p:clrMapOvr>
    <a:masterClrMapping/>
  </p:clrMapOvr>
  <p:transition spd="slow">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a:t>程序</a:t>
            </a:r>
            <a:r>
              <a:rPr lang="en-US" altLang="zh-CN"/>
              <a:t>(Program)</a:t>
            </a:r>
            <a:endParaRPr lang="en-US" altLang="zh-CN"/>
          </a:p>
        </p:txBody>
      </p:sp>
      <p:sp>
        <p:nvSpPr>
          <p:cNvPr id="83971" name="Rectangle 3"/>
          <p:cNvSpPr>
            <a:spLocks noGrp="1" noChangeArrowheads="1"/>
          </p:cNvSpPr>
          <p:nvPr>
            <p:ph idx="1"/>
          </p:nvPr>
        </p:nvSpPr>
        <p:spPr>
          <a:xfrm>
            <a:off x="684213" y="1772369"/>
            <a:ext cx="7772400" cy="4752975"/>
          </a:xfrm>
        </p:spPr>
        <p:txBody>
          <a:bodyPr/>
          <a:lstStyle/>
          <a:p>
            <a:pPr>
              <a:lnSpc>
                <a:spcPct val="150000"/>
              </a:lnSpc>
            </a:pPr>
            <a:r>
              <a:rPr lang="zh-CN" altLang="en-US" sz="2500" dirty="0">
                <a:latin typeface="宋体" panose="02010600030101010101" pitchFamily="2" charset="-122"/>
              </a:rPr>
              <a:t>程序是算法用某种程序设计语言的具体实现。</a:t>
            </a:r>
            <a:endParaRPr lang="zh-CN" altLang="en-US" sz="2500" dirty="0">
              <a:latin typeface="宋体" panose="02010600030101010101" pitchFamily="2" charset="-122"/>
            </a:endParaRPr>
          </a:p>
          <a:p>
            <a:pPr>
              <a:lnSpc>
                <a:spcPct val="150000"/>
              </a:lnSpc>
            </a:pPr>
            <a:r>
              <a:rPr lang="zh-CN" altLang="en-US" sz="2500" dirty="0">
                <a:latin typeface="宋体" panose="02010600030101010101" pitchFamily="2" charset="-122"/>
              </a:rPr>
              <a:t>程序可以不满足算法的性质</a:t>
            </a:r>
            <a:r>
              <a:rPr lang="en-US" altLang="zh-CN" sz="2500" dirty="0">
                <a:latin typeface="宋体" panose="02010600030101010101" pitchFamily="2" charset="-122"/>
              </a:rPr>
              <a:t>(4)</a:t>
            </a:r>
            <a:r>
              <a:rPr lang="zh-CN" altLang="en-US" sz="2500" dirty="0">
                <a:latin typeface="宋体" panose="02010600030101010101" pitchFamily="2" charset="-122"/>
              </a:rPr>
              <a:t>。</a:t>
            </a:r>
            <a:endParaRPr lang="zh-CN" altLang="en-US" sz="2500" dirty="0">
              <a:latin typeface="宋体" panose="02010600030101010101" pitchFamily="2" charset="-122"/>
            </a:endParaRPr>
          </a:p>
          <a:p>
            <a:pPr>
              <a:lnSpc>
                <a:spcPct val="150000"/>
              </a:lnSpc>
            </a:pPr>
            <a:r>
              <a:rPr lang="zh-CN" altLang="en-US" sz="2500" dirty="0">
                <a:latin typeface="宋体" panose="02010600030101010101" pitchFamily="2" charset="-122"/>
              </a:rPr>
              <a:t>例如操作系统，是一个在无限循环中执行的程序，因而不是一个算法。</a:t>
            </a:r>
            <a:endParaRPr lang="zh-CN" altLang="en-US" sz="2500" dirty="0">
              <a:latin typeface="宋体" panose="02010600030101010101" pitchFamily="2" charset="-122"/>
            </a:endParaRPr>
          </a:p>
          <a:p>
            <a:pPr>
              <a:lnSpc>
                <a:spcPct val="150000"/>
              </a:lnSpc>
            </a:pPr>
            <a:r>
              <a:rPr lang="zh-CN" altLang="en-US" sz="2500" dirty="0">
                <a:latin typeface="宋体" panose="02010600030101010101" pitchFamily="2" charset="-122"/>
              </a:rPr>
              <a:t>操作系统的各种任务可看成是单独的问题，每一个问题由操作系统中的一个子程序通过特定的算法来实现。该子程序得到输出结果后便终止。</a:t>
            </a:r>
            <a:endParaRPr lang="zh-CN" altLang="en-US" sz="2500" dirty="0">
              <a:latin typeface="宋体" panose="02010600030101010101" pitchFamily="2" charset="-122"/>
            </a:endParaRPr>
          </a:p>
        </p:txBody>
      </p:sp>
    </p:spTree>
  </p:cSld>
  <p:clrMapOvr>
    <a:masterClrMapping/>
  </p:clrMapOvr>
  <p:transition spd="slow">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16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333375"/>
            <a:ext cx="8893175" cy="5524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zh-CN" altLang="en-US" dirty="0"/>
              <a:t>问题求解</a:t>
            </a:r>
            <a:r>
              <a:rPr lang="en-US" altLang="zh-CN" dirty="0"/>
              <a:t>(Problem Solving)</a:t>
            </a:r>
            <a:endParaRPr lang="en-US" altLang="zh-CN" dirty="0"/>
          </a:p>
        </p:txBody>
      </p:sp>
      <p:grpSp>
        <p:nvGrpSpPr>
          <p:cNvPr id="132193" name="Group 97"/>
          <p:cNvGrpSpPr/>
          <p:nvPr/>
        </p:nvGrpSpPr>
        <p:grpSpPr bwMode="auto">
          <a:xfrm>
            <a:off x="2124075" y="1698773"/>
            <a:ext cx="4032250" cy="4754563"/>
            <a:chOff x="1655" y="1070"/>
            <a:chExt cx="2540" cy="2995"/>
          </a:xfrm>
        </p:grpSpPr>
        <p:grpSp>
          <p:nvGrpSpPr>
            <p:cNvPr id="132192" name="Group 96"/>
            <p:cNvGrpSpPr/>
            <p:nvPr/>
          </p:nvGrpSpPr>
          <p:grpSpPr bwMode="auto">
            <a:xfrm>
              <a:off x="1655" y="1070"/>
              <a:ext cx="2540" cy="2995"/>
              <a:chOff x="1655" y="1071"/>
              <a:chExt cx="2540" cy="2995"/>
            </a:xfrm>
          </p:grpSpPr>
          <p:grpSp>
            <p:nvGrpSpPr>
              <p:cNvPr id="2" name="Organization Chart 9"/>
              <p:cNvGrpSpPr/>
              <p:nvPr/>
            </p:nvGrpSpPr>
            <p:grpSpPr bwMode="auto">
              <a:xfrm>
                <a:off x="2426" y="2886"/>
                <a:ext cx="1134" cy="1180"/>
                <a:chOff x="2469" y="4038"/>
                <a:chExt cx="1134" cy="1712"/>
              </a:xfrm>
            </p:grpSpPr>
            <p:sp>
              <p:nvSpPr>
                <p:cNvPr id="3" name="Rectangle 72"/>
                <p:cNvSpPr>
                  <a:spLocks noChangeArrowheads="1"/>
                </p:cNvSpPr>
                <p:nvPr/>
              </p:nvSpPr>
              <p:spPr bwMode="auto">
                <a:xfrm>
                  <a:off x="2469" y="4038"/>
                  <a:ext cx="1134" cy="396"/>
                </a:xfrm>
                <a:prstGeom prst="rect">
                  <a:avLst/>
                </a:prstGeom>
                <a:solidFill>
                  <a:schemeClr val="bg1"/>
                </a:solidFill>
                <a:ln w="25400">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3907F1"/>
                      </a:solidFill>
                      <a:effectLst/>
                      <a:latin typeface="Arial" panose="020B0604020202020204" pitchFamily="34" charset="0"/>
                      <a:ea typeface="宋体" panose="02010600030101010101" pitchFamily="2" charset="-122"/>
                    </a:rPr>
                    <a:t>证明正确性</a:t>
                  </a:r>
                  <a:endParaRPr kumimoji="1" lang="zh-CN" altLang="en-US" sz="2000" b="0" i="0" u="none" strike="noStrike" cap="none" normalizeH="0" baseline="0">
                    <a:ln>
                      <a:noFill/>
                    </a:ln>
                    <a:solidFill>
                      <a:srgbClr val="3907F1"/>
                    </a:solidFill>
                    <a:effectLst/>
                    <a:latin typeface="Arial" panose="020B0604020202020204" pitchFamily="34" charset="0"/>
                    <a:ea typeface="宋体" panose="02010600030101010101" pitchFamily="2" charset="-122"/>
                  </a:endParaRPr>
                </a:p>
              </p:txBody>
            </p:sp>
            <p:sp>
              <p:nvSpPr>
                <p:cNvPr id="4" name="Rectangle 73"/>
                <p:cNvSpPr>
                  <a:spLocks noChangeArrowheads="1"/>
                </p:cNvSpPr>
                <p:nvPr/>
              </p:nvSpPr>
              <p:spPr bwMode="auto">
                <a:xfrm>
                  <a:off x="2469" y="4696"/>
                  <a:ext cx="1134" cy="396"/>
                </a:xfrm>
                <a:prstGeom prst="rect">
                  <a:avLst/>
                </a:prstGeom>
                <a:solidFill>
                  <a:schemeClr val="bg1"/>
                </a:solidFill>
                <a:ln w="25400">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3907F1"/>
                      </a:solidFill>
                      <a:effectLst/>
                      <a:latin typeface="Arial" panose="020B0604020202020204" pitchFamily="34" charset="0"/>
                      <a:ea typeface="宋体" panose="02010600030101010101" pitchFamily="2" charset="-122"/>
                    </a:rPr>
                    <a:t>分析算法</a:t>
                  </a:r>
                  <a:endParaRPr kumimoji="1" lang="zh-CN" altLang="en-US" sz="2000" b="0" i="0" u="none" strike="noStrike" cap="none" normalizeH="0" baseline="0">
                    <a:ln>
                      <a:noFill/>
                    </a:ln>
                    <a:solidFill>
                      <a:srgbClr val="3907F1"/>
                    </a:solidFill>
                    <a:effectLst/>
                    <a:latin typeface="Arial" panose="020B0604020202020204" pitchFamily="34" charset="0"/>
                    <a:ea typeface="宋体" panose="02010600030101010101" pitchFamily="2" charset="-122"/>
                  </a:endParaRPr>
                </a:p>
              </p:txBody>
            </p:sp>
            <p:sp>
              <p:nvSpPr>
                <p:cNvPr id="5" name="Rectangle 74"/>
                <p:cNvSpPr>
                  <a:spLocks noChangeArrowheads="1"/>
                </p:cNvSpPr>
                <p:nvPr/>
              </p:nvSpPr>
              <p:spPr bwMode="auto">
                <a:xfrm>
                  <a:off x="2469" y="5354"/>
                  <a:ext cx="1134" cy="396"/>
                </a:xfrm>
                <a:prstGeom prst="rect">
                  <a:avLst/>
                </a:prstGeom>
                <a:solidFill>
                  <a:schemeClr val="bg1"/>
                </a:solidFill>
                <a:ln w="25400">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a:ln>
                        <a:noFill/>
                      </a:ln>
                      <a:solidFill>
                        <a:srgbClr val="3907F1"/>
                      </a:solidFill>
                      <a:effectLst/>
                      <a:latin typeface="Arial" panose="020B0604020202020204" pitchFamily="34" charset="0"/>
                      <a:ea typeface="宋体" panose="02010600030101010101" pitchFamily="2" charset="-122"/>
                    </a:rPr>
                    <a:t>设计程序</a:t>
                  </a:r>
                  <a:endParaRPr kumimoji="1" lang="zh-CN" altLang="en-US" sz="2000" b="0" i="0" u="none" strike="noStrike" cap="none" normalizeH="0" baseline="0">
                    <a:ln>
                      <a:noFill/>
                    </a:ln>
                    <a:solidFill>
                      <a:srgbClr val="3907F1"/>
                    </a:solidFill>
                    <a:effectLst/>
                    <a:latin typeface="Arial" panose="020B0604020202020204" pitchFamily="34" charset="0"/>
                    <a:ea typeface="宋体" panose="02010600030101010101" pitchFamily="2" charset="-122"/>
                  </a:endParaRPr>
                </a:p>
              </p:txBody>
            </p:sp>
          </p:grpSp>
          <p:sp>
            <p:nvSpPr>
              <p:cNvPr id="132164" name="Oval 68"/>
              <p:cNvSpPr>
                <a:spLocks noChangeArrowheads="1"/>
              </p:cNvSpPr>
              <p:nvPr/>
            </p:nvSpPr>
            <p:spPr bwMode="auto">
              <a:xfrm>
                <a:off x="2336" y="1071"/>
                <a:ext cx="1270" cy="272"/>
              </a:xfrm>
              <a:prstGeom prst="ellipse">
                <a:avLst/>
              </a:prstGeom>
              <a:solidFill>
                <a:schemeClr val="bg1"/>
              </a:solidFill>
              <a:ln w="25400">
                <a:solidFill>
                  <a:srgbClr val="008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907F1"/>
                    </a:solidFill>
                  </a:rPr>
                  <a:t>理解问题</a:t>
                </a:r>
                <a:endParaRPr kumimoji="1" lang="zh-CN" altLang="en-US" sz="2000">
                  <a:solidFill>
                    <a:srgbClr val="3907F1"/>
                  </a:solidFill>
                </a:endParaRPr>
              </a:p>
            </p:txBody>
          </p:sp>
          <p:sp>
            <p:nvSpPr>
              <p:cNvPr id="132166" name="Oval 70"/>
              <p:cNvSpPr>
                <a:spLocks noChangeArrowheads="1"/>
              </p:cNvSpPr>
              <p:nvPr/>
            </p:nvSpPr>
            <p:spPr bwMode="auto">
              <a:xfrm>
                <a:off x="1973" y="1480"/>
                <a:ext cx="1950" cy="771"/>
              </a:xfrm>
              <a:prstGeom prst="ellipse">
                <a:avLst/>
              </a:prstGeom>
              <a:solidFill>
                <a:schemeClr val="bg1"/>
              </a:solidFill>
              <a:ln w="25400">
                <a:solidFill>
                  <a:srgbClr val="008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907F1"/>
                    </a:solidFill>
                  </a:rPr>
                  <a:t>精确解或近似解</a:t>
                </a:r>
                <a:endParaRPr kumimoji="1" lang="zh-CN" altLang="en-US" sz="2000">
                  <a:solidFill>
                    <a:srgbClr val="3907F1"/>
                  </a:solidFill>
                </a:endParaRPr>
              </a:p>
              <a:p>
                <a:pPr algn="ctr"/>
                <a:r>
                  <a:rPr kumimoji="1" lang="zh-CN" altLang="en-US" sz="2000">
                    <a:solidFill>
                      <a:srgbClr val="3907F1"/>
                    </a:solidFill>
                  </a:rPr>
                  <a:t>选择数据结构</a:t>
                </a:r>
                <a:endParaRPr kumimoji="1" lang="zh-CN" altLang="en-US" sz="2000">
                  <a:solidFill>
                    <a:srgbClr val="3907F1"/>
                  </a:solidFill>
                </a:endParaRPr>
              </a:p>
              <a:p>
                <a:pPr algn="ctr"/>
                <a:r>
                  <a:rPr kumimoji="1" lang="zh-CN" altLang="en-US" sz="2000">
                    <a:solidFill>
                      <a:srgbClr val="3907F1"/>
                    </a:solidFill>
                  </a:rPr>
                  <a:t>算法设计策略</a:t>
                </a:r>
                <a:endParaRPr kumimoji="1" lang="zh-CN" altLang="en-US" sz="2000"/>
              </a:p>
            </p:txBody>
          </p:sp>
          <p:sp>
            <p:nvSpPr>
              <p:cNvPr id="132172" name="Line 76"/>
              <p:cNvSpPr>
                <a:spLocks noChangeShapeType="1"/>
              </p:cNvSpPr>
              <p:nvPr/>
            </p:nvSpPr>
            <p:spPr bwMode="auto">
              <a:xfrm>
                <a:off x="2971" y="1344"/>
                <a:ext cx="0" cy="136"/>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74" name="Line 78"/>
              <p:cNvSpPr>
                <a:spLocks noChangeShapeType="1"/>
              </p:cNvSpPr>
              <p:nvPr/>
            </p:nvSpPr>
            <p:spPr bwMode="auto">
              <a:xfrm>
                <a:off x="2971" y="2704"/>
                <a:ext cx="0" cy="18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77" name="Line 81"/>
              <p:cNvSpPr>
                <a:spLocks noChangeShapeType="1"/>
              </p:cNvSpPr>
              <p:nvPr/>
            </p:nvSpPr>
            <p:spPr bwMode="auto">
              <a:xfrm>
                <a:off x="2971" y="2251"/>
                <a:ext cx="0" cy="181"/>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78" name="Line 82"/>
              <p:cNvSpPr>
                <a:spLocks noChangeShapeType="1"/>
              </p:cNvSpPr>
              <p:nvPr/>
            </p:nvSpPr>
            <p:spPr bwMode="auto">
              <a:xfrm>
                <a:off x="2971" y="3158"/>
                <a:ext cx="0" cy="181"/>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1" name="Line 85"/>
              <p:cNvSpPr>
                <a:spLocks noChangeShapeType="1"/>
              </p:cNvSpPr>
              <p:nvPr/>
            </p:nvSpPr>
            <p:spPr bwMode="auto">
              <a:xfrm>
                <a:off x="2971" y="3612"/>
                <a:ext cx="0" cy="181"/>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2" name="Line 86"/>
              <p:cNvSpPr>
                <a:spLocks noChangeShapeType="1"/>
              </p:cNvSpPr>
              <p:nvPr/>
            </p:nvSpPr>
            <p:spPr bwMode="auto">
              <a:xfrm flipH="1">
                <a:off x="1655" y="1888"/>
                <a:ext cx="318" cy="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3" name="Line 87"/>
              <p:cNvSpPr>
                <a:spLocks noChangeShapeType="1"/>
              </p:cNvSpPr>
              <p:nvPr/>
            </p:nvSpPr>
            <p:spPr bwMode="auto">
              <a:xfrm>
                <a:off x="3923" y="1842"/>
                <a:ext cx="272" cy="0"/>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4" name="Line 88"/>
              <p:cNvSpPr>
                <a:spLocks noChangeShapeType="1"/>
              </p:cNvSpPr>
              <p:nvPr/>
            </p:nvSpPr>
            <p:spPr bwMode="auto">
              <a:xfrm>
                <a:off x="1655" y="1888"/>
                <a:ext cx="0" cy="63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5" name="Line 89"/>
              <p:cNvSpPr>
                <a:spLocks noChangeShapeType="1"/>
              </p:cNvSpPr>
              <p:nvPr/>
            </p:nvSpPr>
            <p:spPr bwMode="auto">
              <a:xfrm>
                <a:off x="1655" y="2523"/>
                <a:ext cx="77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6" name="Line 90"/>
              <p:cNvSpPr>
                <a:spLocks noChangeShapeType="1"/>
              </p:cNvSpPr>
              <p:nvPr/>
            </p:nvSpPr>
            <p:spPr bwMode="auto">
              <a:xfrm>
                <a:off x="4195" y="1842"/>
                <a:ext cx="0" cy="68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7" name="Line 91"/>
              <p:cNvSpPr>
                <a:spLocks noChangeShapeType="1"/>
              </p:cNvSpPr>
              <p:nvPr/>
            </p:nvSpPr>
            <p:spPr bwMode="auto">
              <a:xfrm flipH="1">
                <a:off x="3560" y="2523"/>
                <a:ext cx="63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8" name="Line 92"/>
              <p:cNvSpPr>
                <a:spLocks noChangeShapeType="1"/>
              </p:cNvSpPr>
              <p:nvPr/>
            </p:nvSpPr>
            <p:spPr bwMode="auto">
              <a:xfrm>
                <a:off x="3560" y="3475"/>
                <a:ext cx="31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89" name="Line 93"/>
              <p:cNvSpPr>
                <a:spLocks noChangeShapeType="1"/>
              </p:cNvSpPr>
              <p:nvPr/>
            </p:nvSpPr>
            <p:spPr bwMode="auto">
              <a:xfrm flipV="1">
                <a:off x="3878" y="2523"/>
                <a:ext cx="0" cy="95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2190" name="Line 94"/>
              <p:cNvSpPr>
                <a:spLocks noChangeShapeType="1"/>
              </p:cNvSpPr>
              <p:nvPr/>
            </p:nvSpPr>
            <p:spPr bwMode="auto">
              <a:xfrm>
                <a:off x="1973" y="2523"/>
                <a:ext cx="0" cy="499"/>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32171" name="Rectangle 75"/>
            <p:cNvSpPr>
              <a:spLocks noChangeArrowheads="1"/>
            </p:cNvSpPr>
            <p:nvPr/>
          </p:nvSpPr>
          <p:spPr bwMode="auto">
            <a:xfrm>
              <a:off x="2426" y="2432"/>
              <a:ext cx="1134" cy="273"/>
            </a:xfrm>
            <a:prstGeom prst="rect">
              <a:avLst/>
            </a:prstGeom>
            <a:solidFill>
              <a:schemeClr val="bg1"/>
            </a:solidFill>
            <a:ln w="25400">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a:solidFill>
                    <a:srgbClr val="3907F1"/>
                  </a:solidFill>
                </a:rPr>
                <a:t>设计算法</a:t>
              </a:r>
              <a:endParaRPr kumimoji="1" lang="zh-CN" altLang="en-US" sz="2000">
                <a:solidFill>
                  <a:srgbClr val="3907F1"/>
                </a:solidFill>
              </a:endParaRPr>
            </a:p>
          </p:txBody>
        </p:sp>
        <p:sp>
          <p:nvSpPr>
            <p:cNvPr id="132191" name="Line 95"/>
            <p:cNvSpPr>
              <a:spLocks noChangeShapeType="1"/>
            </p:cNvSpPr>
            <p:nvPr/>
          </p:nvSpPr>
          <p:spPr bwMode="auto">
            <a:xfrm>
              <a:off x="1973" y="3022"/>
              <a:ext cx="45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Sld>
  <p:clrMapOvr>
    <a:masterClrMapping/>
  </p:clrMapOvr>
  <p:transition spd="slow">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232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5696" y="1892622"/>
            <a:ext cx="4824413" cy="3900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899592" y="836712"/>
            <a:ext cx="3888432" cy="861774"/>
          </a:xfrm>
          <a:prstGeom prst="rect">
            <a:avLst/>
          </a:prstGeom>
          <a:noFill/>
        </p:spPr>
        <p:txBody>
          <a:bodyPr wrap="square" rtlCol="0">
            <a:spAutoFit/>
          </a:bodyPr>
          <a:lstStyle/>
          <a:p>
            <a:r>
              <a:rPr lang="zh-CN" altLang="en-US" sz="5000" dirty="0">
                <a:solidFill>
                  <a:schemeClr val="tx2"/>
                </a:solidFill>
                <a:latin typeface="+mj-lt"/>
                <a:ea typeface="+mj-ea"/>
                <a:cs typeface="+mj-cs"/>
              </a:rPr>
              <a:t>一个例子</a:t>
            </a:r>
            <a:endParaRPr lang="zh-CN" altLang="en-US" sz="5000" dirty="0">
              <a:solidFill>
                <a:schemeClr val="tx2"/>
              </a:solidFill>
              <a:latin typeface="+mj-lt"/>
              <a:ea typeface="+mj-ea"/>
              <a:cs typeface="+mj-cs"/>
            </a:endParaRPr>
          </a:p>
        </p:txBody>
      </p:sp>
    </p:spTree>
  </p:cSld>
  <p:clrMapOvr>
    <a:masterClrMapping/>
  </p:clrMapOvr>
  <p:transition spd="slow">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lstStyle/>
          <a:p>
            <a:endParaRPr lang="zh-CN" altLang="zh-CN"/>
          </a:p>
        </p:txBody>
      </p:sp>
      <p:sp>
        <p:nvSpPr>
          <p:cNvPr id="227331" name="Rectangle 3"/>
          <p:cNvSpPr>
            <a:spLocks noGrp="1" noChangeArrowheads="1"/>
          </p:cNvSpPr>
          <p:nvPr>
            <p:ph idx="1"/>
          </p:nvPr>
        </p:nvSpPr>
        <p:spPr/>
        <p:txBody>
          <a:bodyPr/>
          <a:lstStyle/>
          <a:p>
            <a:endParaRPr lang="zh-CN" altLang="zh-CN"/>
          </a:p>
        </p:txBody>
      </p:sp>
      <p:pic>
        <p:nvPicPr>
          <p:cNvPr id="227333" name="Picture 5" descr="6W$4~Q{JBE0@S$54M8VRZZX"/>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250825"/>
            <a:ext cx="8569325" cy="6562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1" name="Rectangle 3"/>
          <p:cNvSpPr>
            <a:spLocks noGrp="1" noChangeArrowheads="1"/>
          </p:cNvSpPr>
          <p:nvPr>
            <p:ph idx="1"/>
          </p:nvPr>
        </p:nvSpPr>
        <p:spPr/>
        <p:txBody>
          <a:bodyPr/>
          <a:lstStyle/>
          <a:p>
            <a:endParaRPr lang="zh-CN" altLang="zh-CN"/>
          </a:p>
        </p:txBody>
      </p:sp>
      <p:pic>
        <p:nvPicPr>
          <p:cNvPr id="222213" name="Picture 5" descr="%J9WKZ]BF3UOFKULG1A4CX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288925"/>
            <a:ext cx="8569325" cy="6308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endParaRPr lang="zh-CN" altLang="zh-CN"/>
          </a:p>
        </p:txBody>
      </p:sp>
      <p:pic>
        <p:nvPicPr>
          <p:cNvPr id="223237" name="Picture 5" descr="MCFD%~WXRO67V5IY16MFA`B"/>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1800" y="260350"/>
            <a:ext cx="8712200" cy="28559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4261" name="Picture 5" descr="1I%F978Y5`H@@NVHG(I$M}W"/>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327025"/>
            <a:ext cx="8353425" cy="2381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endParaRPr lang="zh-CN" altLang="zh-CN"/>
          </a:p>
        </p:txBody>
      </p:sp>
      <p:pic>
        <p:nvPicPr>
          <p:cNvPr id="225285" name="Picture 5" descr="~7U3JJH`4~3L)ADOYWO$Q6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280988"/>
            <a:ext cx="8497887" cy="3292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p:txBody>
          <a:bodyPr/>
          <a:lstStyle/>
          <a:p>
            <a:endParaRPr lang="zh-CN" altLang="zh-CN"/>
          </a:p>
        </p:txBody>
      </p:sp>
      <p:pic>
        <p:nvPicPr>
          <p:cNvPr id="226309" name="Picture 5" descr="[@4)J43G0J7ZBI9N(EQLBL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268288"/>
            <a:ext cx="8640762" cy="3521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endParaRPr lang="zh-CN" altLang="zh-CN"/>
          </a:p>
        </p:txBody>
      </p:sp>
      <p:pic>
        <p:nvPicPr>
          <p:cNvPr id="228357" name="Picture 5" descr="_F22K])%ORFXK(((PLE51F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260350"/>
            <a:ext cx="8640762" cy="41163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endParaRPr lang="zh-CN" altLang="zh-CN"/>
          </a:p>
        </p:txBody>
      </p:sp>
      <p:pic>
        <p:nvPicPr>
          <p:cNvPr id="229381" name="Picture 5" descr="SUQAG_%{%FB]Q8K_7H`3G]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260350"/>
            <a:ext cx="8569325" cy="4441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endParaRPr lang="zh-CN" altLang="zh-CN"/>
          </a:p>
        </p:txBody>
      </p:sp>
      <p:pic>
        <p:nvPicPr>
          <p:cNvPr id="230405" name="Picture 5" descr="3IPZJKY_}W2M8FTC$CC_Y5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290513"/>
            <a:ext cx="8569325" cy="51546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endParaRPr lang="zh-CN" altLang="zh-CN"/>
          </a:p>
        </p:txBody>
      </p:sp>
      <p:pic>
        <p:nvPicPr>
          <p:cNvPr id="231429" name="Picture 5" descr="~[G``IE_(JD2AKL9QO`A2W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231775"/>
            <a:ext cx="8497887" cy="5502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endParaRPr lang="zh-CN" altLang="zh-CN"/>
          </a:p>
        </p:txBody>
      </p:sp>
      <p:sp>
        <p:nvSpPr>
          <p:cNvPr id="232451" name="Rectangle 3"/>
          <p:cNvSpPr>
            <a:spLocks noGrp="1" noChangeArrowheads="1"/>
          </p:cNvSpPr>
          <p:nvPr>
            <p:ph idx="1"/>
          </p:nvPr>
        </p:nvSpPr>
        <p:spPr/>
        <p:txBody>
          <a:bodyPr/>
          <a:lstStyle/>
          <a:p>
            <a:endParaRPr lang="zh-CN" altLang="zh-CN"/>
          </a:p>
        </p:txBody>
      </p:sp>
      <p:sp>
        <p:nvSpPr>
          <p:cNvPr id="232453" name="AutoShape 5" descr="O0WD4%]ATGRQJ54NGNCT6"/>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2455" name="AutoShape 7" descr="O0WD4%]ATGRQJ54NGNCT6"/>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2457" name="AutoShape 9" descr="O0WD4%]ATGRQJ54NGNCT6"/>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232459" name="Picture 11" descr="[WKEF41DE285[4)T@[ELOI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304800"/>
            <a:ext cx="8497887" cy="60039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endParaRPr lang="zh-CN" altLang="zh-CN"/>
          </a:p>
        </p:txBody>
      </p:sp>
      <p:sp>
        <p:nvSpPr>
          <p:cNvPr id="233475" name="Rectangle 3"/>
          <p:cNvSpPr>
            <a:spLocks noGrp="1" noChangeArrowheads="1"/>
          </p:cNvSpPr>
          <p:nvPr>
            <p:ph idx="1"/>
          </p:nvPr>
        </p:nvSpPr>
        <p:spPr/>
        <p:txBody>
          <a:bodyPr/>
          <a:lstStyle/>
          <a:p>
            <a:endParaRPr lang="zh-CN" altLang="zh-CN"/>
          </a:p>
        </p:txBody>
      </p:sp>
      <p:pic>
        <p:nvPicPr>
          <p:cNvPr id="233477" name="Picture 5" descr="U)K8T)}64PXY$3~2C63X4CP"/>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246063"/>
            <a:ext cx="8497887" cy="65674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endParaRPr lang="zh-CN" altLang="zh-CN"/>
          </a:p>
        </p:txBody>
      </p:sp>
      <p:sp>
        <p:nvSpPr>
          <p:cNvPr id="234499" name="Rectangle 3"/>
          <p:cNvSpPr>
            <a:spLocks noGrp="1" noChangeArrowheads="1"/>
          </p:cNvSpPr>
          <p:nvPr>
            <p:ph idx="1"/>
          </p:nvPr>
        </p:nvSpPr>
        <p:spPr/>
        <p:txBody>
          <a:bodyPr/>
          <a:lstStyle/>
          <a:p>
            <a:endParaRPr lang="zh-CN" altLang="zh-CN"/>
          </a:p>
        </p:txBody>
      </p:sp>
      <p:pic>
        <p:nvPicPr>
          <p:cNvPr id="234501" name="Picture 5" descr="KSO%A0TLC`FGT$}KC[957XX"/>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284163"/>
            <a:ext cx="8424862" cy="6673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idx="1"/>
          </p:nvPr>
        </p:nvSpPr>
        <p:spPr/>
        <p:txBody>
          <a:bodyPr>
            <a:normAutofit/>
          </a:bodyPr>
          <a:lstStyle/>
          <a:p>
            <a:pPr marL="0" indent="0" algn="ctr">
              <a:buNone/>
            </a:pPr>
            <a:r>
              <a:rPr lang="zh-CN" altLang="en-US" sz="6600" dirty="0">
                <a:solidFill>
                  <a:schemeClr val="tx2"/>
                </a:solidFill>
                <a:latin typeface="+mj-ea"/>
                <a:ea typeface="+mj-ea"/>
              </a:rPr>
              <a:t>分析算法 </a:t>
            </a:r>
            <a:endParaRPr lang="zh-CN" altLang="en-US" sz="6600" dirty="0">
              <a:solidFill>
                <a:schemeClr val="tx2"/>
              </a:solidFill>
              <a:latin typeface="+mj-ea"/>
              <a:ea typeface="+mj-ea"/>
            </a:endParaRPr>
          </a:p>
        </p:txBody>
      </p:sp>
    </p:spTree>
  </p:cSld>
  <p:clrMapOvr>
    <a:masterClrMapping/>
  </p:clrMapOvr>
  <p:transition spd="slow">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r>
              <a:rPr lang="zh-CN" altLang="en-US" dirty="0"/>
              <a:t>运行时间</a:t>
            </a:r>
            <a:r>
              <a:rPr lang="en-US" altLang="zh-CN" dirty="0"/>
              <a:t>Running time</a:t>
            </a:r>
            <a:endParaRPr lang="en-US" altLang="zh-CN" dirty="0"/>
          </a:p>
        </p:txBody>
      </p:sp>
      <p:sp>
        <p:nvSpPr>
          <p:cNvPr id="235523" name="Rectangle 3"/>
          <p:cNvSpPr>
            <a:spLocks noGrp="1" noChangeArrowheads="1"/>
          </p:cNvSpPr>
          <p:nvPr>
            <p:ph idx="1"/>
          </p:nvPr>
        </p:nvSpPr>
        <p:spPr/>
        <p:txBody>
          <a:bodyPr/>
          <a:lstStyle/>
          <a:p>
            <a:r>
              <a:rPr lang="zh-CN" altLang="en-US" dirty="0"/>
              <a:t>运行时间取决于输入，一个已经有序的序列更容易排序</a:t>
            </a:r>
            <a:endParaRPr lang="zh-CN" altLang="en-US" dirty="0"/>
          </a:p>
          <a:p>
            <a:r>
              <a:rPr lang="zh-CN" altLang="en-US" dirty="0"/>
              <a:t>输入数据规模影响着运行时间，因为短序列数据比长序列数据运行得快。</a:t>
            </a:r>
            <a:endParaRPr lang="zh-CN" altLang="en-US" dirty="0"/>
          </a:p>
          <a:p>
            <a:r>
              <a:rPr lang="zh-CN" altLang="en-US" dirty="0"/>
              <a:t>我们追求的是运行时间的上界，因为我们需要一个保证时间。</a:t>
            </a:r>
            <a:endParaRPr lang="zh-CN" altLang="en-US"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23">
                                            <p:txEl>
                                              <p:pRg st="0" end="0"/>
                                            </p:txEl>
                                          </p:spTgt>
                                        </p:tgtEl>
                                        <p:attrNameLst>
                                          <p:attrName>style.visibility</p:attrName>
                                        </p:attrNameLst>
                                      </p:cBhvr>
                                      <p:to>
                                        <p:strVal val="visible"/>
                                      </p:to>
                                    </p:set>
                                    <p:anim calcmode="lin" valueType="num">
                                      <p:cBhvr additive="base">
                                        <p:cTn id="7" dur="500" fill="hold"/>
                                        <p:tgtEl>
                                          <p:spTgt spid="2355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23">
                                            <p:txEl>
                                              <p:pRg st="1" end="1"/>
                                            </p:txEl>
                                          </p:spTgt>
                                        </p:tgtEl>
                                        <p:attrNameLst>
                                          <p:attrName>style.visibility</p:attrName>
                                        </p:attrNameLst>
                                      </p:cBhvr>
                                      <p:to>
                                        <p:strVal val="visible"/>
                                      </p:to>
                                    </p:set>
                                    <p:anim calcmode="lin" valueType="num">
                                      <p:cBhvr additive="base">
                                        <p:cTn id="13" dur="500" fill="hold"/>
                                        <p:tgtEl>
                                          <p:spTgt spid="2355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5523">
                                            <p:txEl>
                                              <p:pRg st="2" end="2"/>
                                            </p:txEl>
                                          </p:spTgt>
                                        </p:tgtEl>
                                        <p:attrNameLst>
                                          <p:attrName>style.visibility</p:attrName>
                                        </p:attrNameLst>
                                      </p:cBhvr>
                                      <p:to>
                                        <p:strVal val="visible"/>
                                      </p:to>
                                    </p:set>
                                    <p:anim calcmode="lin" valueType="num">
                                      <p:cBhvr additive="base">
                                        <p:cTn id="19" dur="500" fill="hold"/>
                                        <p:tgtEl>
                                          <p:spTgt spid="2355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lstStyle/>
          <a:p>
            <a:r>
              <a:rPr lang="zh-CN" altLang="en-US" dirty="0"/>
              <a:t>几种分析方法</a:t>
            </a:r>
            <a:endParaRPr lang="zh-CN" altLang="en-US" dirty="0"/>
          </a:p>
        </p:txBody>
      </p:sp>
      <p:sp>
        <p:nvSpPr>
          <p:cNvPr id="237571" name="Rectangle 3"/>
          <p:cNvSpPr>
            <a:spLocks noGrp="1" noChangeArrowheads="1"/>
          </p:cNvSpPr>
          <p:nvPr>
            <p:ph idx="1"/>
          </p:nvPr>
        </p:nvSpPr>
        <p:spPr/>
        <p:txBody>
          <a:bodyPr/>
          <a:lstStyle/>
          <a:p>
            <a:pPr>
              <a:lnSpc>
                <a:spcPct val="90000"/>
              </a:lnSpc>
              <a:buFont typeface="Wingdings" panose="05000000000000000000" pitchFamily="2" charset="2"/>
              <a:buNone/>
            </a:pPr>
            <a:r>
              <a:rPr lang="zh-CN" altLang="en-US" sz="2600" b="1"/>
              <a:t>最差情况</a:t>
            </a:r>
            <a:r>
              <a:rPr lang="en-US" altLang="zh-CN" sz="2600" b="1"/>
              <a:t>: </a:t>
            </a:r>
            <a:r>
              <a:rPr lang="en-US" altLang="zh-CN" sz="2600"/>
              <a:t>(</a:t>
            </a:r>
            <a:r>
              <a:rPr lang="zh-CN" altLang="en-US" sz="2600"/>
              <a:t>通常发生</a:t>
            </a:r>
            <a:r>
              <a:rPr lang="en-US" altLang="zh-CN" sz="2600"/>
              <a:t>)</a:t>
            </a:r>
            <a:endParaRPr lang="en-US" altLang="zh-CN" sz="2600"/>
          </a:p>
          <a:p>
            <a:pPr>
              <a:lnSpc>
                <a:spcPct val="90000"/>
              </a:lnSpc>
              <a:buFont typeface="Wingdings" panose="05000000000000000000" pitchFamily="2" charset="2"/>
              <a:buNone/>
            </a:pPr>
            <a:r>
              <a:rPr lang="en-US" altLang="zh-CN" sz="2600"/>
              <a:t>• </a:t>
            </a:r>
            <a:r>
              <a:rPr lang="en-US" altLang="zh-CN" sz="2600" i="1"/>
              <a:t>T</a:t>
            </a:r>
            <a:r>
              <a:rPr lang="en-US" altLang="zh-CN" sz="2600"/>
              <a:t>(</a:t>
            </a:r>
            <a:r>
              <a:rPr lang="en-US" altLang="zh-CN" sz="2600" i="1"/>
              <a:t>n</a:t>
            </a:r>
            <a:r>
              <a:rPr lang="en-US" altLang="zh-CN" sz="2600"/>
              <a:t>) = maximum time of algorithm on any input of size </a:t>
            </a:r>
            <a:r>
              <a:rPr lang="en-US" altLang="zh-CN" sz="2600" i="1"/>
              <a:t>n</a:t>
            </a:r>
            <a:r>
              <a:rPr lang="en-US" altLang="zh-CN" sz="2600"/>
              <a:t>.</a:t>
            </a:r>
            <a:endParaRPr lang="en-US" altLang="zh-CN" sz="2600"/>
          </a:p>
          <a:p>
            <a:pPr>
              <a:lnSpc>
                <a:spcPct val="90000"/>
              </a:lnSpc>
              <a:buFont typeface="Wingdings" panose="05000000000000000000" pitchFamily="2" charset="2"/>
              <a:buNone/>
            </a:pPr>
            <a:r>
              <a:rPr lang="zh-CN" altLang="en-US" sz="2600" b="1"/>
              <a:t>平均情况</a:t>
            </a:r>
            <a:r>
              <a:rPr lang="en-US" altLang="zh-CN" sz="2600" b="1"/>
              <a:t>: </a:t>
            </a:r>
            <a:r>
              <a:rPr lang="en-US" altLang="zh-CN" sz="2600"/>
              <a:t>(</a:t>
            </a:r>
            <a:r>
              <a:rPr lang="zh-CN" altLang="en-US" sz="2600"/>
              <a:t>有时发生</a:t>
            </a:r>
            <a:r>
              <a:rPr lang="en-US" altLang="zh-CN" sz="2600"/>
              <a:t>)</a:t>
            </a:r>
            <a:endParaRPr lang="en-US" altLang="zh-CN" sz="2600"/>
          </a:p>
          <a:p>
            <a:pPr>
              <a:lnSpc>
                <a:spcPct val="90000"/>
              </a:lnSpc>
              <a:buFont typeface="Wingdings" panose="05000000000000000000" pitchFamily="2" charset="2"/>
              <a:buNone/>
            </a:pPr>
            <a:r>
              <a:rPr lang="en-US" altLang="zh-CN" sz="2600"/>
              <a:t>• </a:t>
            </a:r>
            <a:r>
              <a:rPr lang="en-US" altLang="zh-CN" sz="2600" i="1"/>
              <a:t>T</a:t>
            </a:r>
            <a:r>
              <a:rPr lang="en-US" altLang="zh-CN" sz="2600"/>
              <a:t>(</a:t>
            </a:r>
            <a:r>
              <a:rPr lang="en-US" altLang="zh-CN" sz="2600" i="1"/>
              <a:t>n</a:t>
            </a:r>
            <a:r>
              <a:rPr lang="en-US" altLang="zh-CN" sz="2600"/>
              <a:t>) = expected time of algorithm over all inputs of size </a:t>
            </a:r>
            <a:r>
              <a:rPr lang="en-US" altLang="zh-CN" sz="2600" i="1"/>
              <a:t>n</a:t>
            </a:r>
            <a:r>
              <a:rPr lang="en-US" altLang="zh-CN" sz="2600"/>
              <a:t>.</a:t>
            </a:r>
            <a:endParaRPr lang="en-US" altLang="zh-CN" sz="2600"/>
          </a:p>
          <a:p>
            <a:pPr>
              <a:lnSpc>
                <a:spcPct val="90000"/>
              </a:lnSpc>
              <a:buFont typeface="Wingdings" panose="05000000000000000000" pitchFamily="2" charset="2"/>
              <a:buNone/>
            </a:pPr>
            <a:r>
              <a:rPr lang="en-US" altLang="zh-CN" sz="2600"/>
              <a:t>• Need assumption of statistical distribution of inputs.</a:t>
            </a:r>
            <a:endParaRPr lang="en-US" altLang="zh-CN" sz="2600"/>
          </a:p>
          <a:p>
            <a:pPr>
              <a:lnSpc>
                <a:spcPct val="90000"/>
              </a:lnSpc>
              <a:buFont typeface="Wingdings" panose="05000000000000000000" pitchFamily="2" charset="2"/>
              <a:buNone/>
            </a:pPr>
            <a:r>
              <a:rPr lang="zh-CN" altLang="en-US" sz="2600" b="1"/>
              <a:t>最优情况</a:t>
            </a:r>
            <a:r>
              <a:rPr lang="en-US" altLang="zh-CN" sz="2600" b="1"/>
              <a:t>: </a:t>
            </a:r>
            <a:r>
              <a:rPr lang="en-US" altLang="zh-CN" sz="2600"/>
              <a:t>(</a:t>
            </a:r>
            <a:r>
              <a:rPr lang="zh-CN" altLang="en-US" sz="2600"/>
              <a:t>伪造的</a:t>
            </a:r>
            <a:r>
              <a:rPr lang="en-US" altLang="zh-CN" sz="2600"/>
              <a:t>)</a:t>
            </a:r>
            <a:endParaRPr lang="en-US" altLang="zh-CN" sz="2600"/>
          </a:p>
          <a:p>
            <a:pPr>
              <a:lnSpc>
                <a:spcPct val="90000"/>
              </a:lnSpc>
              <a:buFont typeface="Wingdings" panose="05000000000000000000" pitchFamily="2" charset="2"/>
              <a:buNone/>
            </a:pPr>
            <a:r>
              <a:rPr lang="en-US" altLang="zh-CN" sz="2600"/>
              <a:t>• Cheat with a slow algorithm that works fast on </a:t>
            </a:r>
            <a:r>
              <a:rPr lang="en-US" altLang="zh-CN" sz="2600" i="1"/>
              <a:t>some </a:t>
            </a:r>
            <a:r>
              <a:rPr lang="en-US" altLang="zh-CN" sz="2600"/>
              <a:t>input.</a:t>
            </a:r>
            <a:endParaRPr lang="en-US" altLang="zh-CN" sz="260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37571">
                                            <p:txEl>
                                              <p:pRg st="0" end="0"/>
                                            </p:txEl>
                                          </p:spTgt>
                                        </p:tgtEl>
                                        <p:attrNameLst>
                                          <p:attrName>style.visibility</p:attrName>
                                        </p:attrNameLst>
                                      </p:cBhvr>
                                      <p:to>
                                        <p:strVal val="visible"/>
                                      </p:to>
                                    </p:set>
                                    <p:anim calcmode="lin" valueType="num">
                                      <p:cBhvr additive="base">
                                        <p:cTn id="7" dur="500" fill="hold"/>
                                        <p:tgtEl>
                                          <p:spTgt spid="2375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7571">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37571">
                                            <p:txEl>
                                              <p:pRg st="1" end="1"/>
                                            </p:txEl>
                                          </p:spTgt>
                                        </p:tgtEl>
                                        <p:attrNameLst>
                                          <p:attrName>style.visibility</p:attrName>
                                        </p:attrNameLst>
                                      </p:cBhvr>
                                      <p:to>
                                        <p:strVal val="visible"/>
                                      </p:to>
                                    </p:set>
                                    <p:anim calcmode="lin" valueType="num">
                                      <p:cBhvr additive="base">
                                        <p:cTn id="12" dur="500" fill="hold"/>
                                        <p:tgtEl>
                                          <p:spTgt spid="23757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375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37571">
                                            <p:txEl>
                                              <p:pRg st="2" end="2"/>
                                            </p:txEl>
                                          </p:spTgt>
                                        </p:tgtEl>
                                        <p:attrNameLst>
                                          <p:attrName>style.visibility</p:attrName>
                                        </p:attrNameLst>
                                      </p:cBhvr>
                                      <p:to>
                                        <p:strVal val="visible"/>
                                      </p:to>
                                    </p:set>
                                    <p:anim calcmode="lin" valueType="num">
                                      <p:cBhvr additive="base">
                                        <p:cTn id="18" dur="500" fill="hold"/>
                                        <p:tgtEl>
                                          <p:spTgt spid="237571">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37571">
                                            <p:txEl>
                                              <p:pRg st="2" end="2"/>
                                            </p:txEl>
                                          </p:spTgt>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237571">
                                            <p:txEl>
                                              <p:pRg st="3" end="3"/>
                                            </p:txEl>
                                          </p:spTgt>
                                        </p:tgtEl>
                                        <p:attrNameLst>
                                          <p:attrName>style.visibility</p:attrName>
                                        </p:attrNameLst>
                                      </p:cBhvr>
                                      <p:to>
                                        <p:strVal val="visible"/>
                                      </p:to>
                                    </p:set>
                                    <p:anim calcmode="lin" valueType="num">
                                      <p:cBhvr additive="base">
                                        <p:cTn id="23" dur="500" fill="hold"/>
                                        <p:tgtEl>
                                          <p:spTgt spid="237571">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37571">
                                            <p:txEl>
                                              <p:pRg st="3" end="3"/>
                                            </p:txEl>
                                          </p:spTgt>
                                        </p:tgtEl>
                                        <p:attrNameLst>
                                          <p:attrName>ppt_y</p:attrName>
                                        </p:attrNameLst>
                                      </p:cBhvr>
                                      <p:tavLst>
                                        <p:tav tm="0">
                                          <p:val>
                                            <p:strVal val="1+#ppt_h/2"/>
                                          </p:val>
                                        </p:tav>
                                        <p:tav tm="100000">
                                          <p:val>
                                            <p:strVal val="#ppt_y"/>
                                          </p:val>
                                        </p:tav>
                                      </p:tavLst>
                                    </p:anim>
                                  </p:childTnLst>
                                </p:cTn>
                              </p:par>
                            </p:childTnLst>
                          </p:cTn>
                        </p:par>
                        <p:par>
                          <p:cTn id="25" fill="hold">
                            <p:stCondLst>
                              <p:cond delay="1000"/>
                            </p:stCondLst>
                            <p:childTnLst>
                              <p:par>
                                <p:cTn id="26" presetID="2" presetClass="entr" presetSubtype="4" fill="hold" grpId="0" nodeType="afterEffect">
                                  <p:stCondLst>
                                    <p:cond delay="0"/>
                                  </p:stCondLst>
                                  <p:childTnLst>
                                    <p:set>
                                      <p:cBhvr>
                                        <p:cTn id="27" dur="1" fill="hold">
                                          <p:stCondLst>
                                            <p:cond delay="0"/>
                                          </p:stCondLst>
                                        </p:cTn>
                                        <p:tgtEl>
                                          <p:spTgt spid="237571">
                                            <p:txEl>
                                              <p:pRg st="4" end="4"/>
                                            </p:txEl>
                                          </p:spTgt>
                                        </p:tgtEl>
                                        <p:attrNameLst>
                                          <p:attrName>style.visibility</p:attrName>
                                        </p:attrNameLst>
                                      </p:cBhvr>
                                      <p:to>
                                        <p:strVal val="visible"/>
                                      </p:to>
                                    </p:set>
                                    <p:anim calcmode="lin" valueType="num">
                                      <p:cBhvr additive="base">
                                        <p:cTn id="28" dur="500" fill="hold"/>
                                        <p:tgtEl>
                                          <p:spTgt spid="237571">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375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37571">
                                            <p:txEl>
                                              <p:pRg st="5" end="5"/>
                                            </p:txEl>
                                          </p:spTgt>
                                        </p:tgtEl>
                                        <p:attrNameLst>
                                          <p:attrName>style.visibility</p:attrName>
                                        </p:attrNameLst>
                                      </p:cBhvr>
                                      <p:to>
                                        <p:strVal val="visible"/>
                                      </p:to>
                                    </p:set>
                                    <p:anim calcmode="lin" valueType="num">
                                      <p:cBhvr additive="base">
                                        <p:cTn id="34" dur="500" fill="hold"/>
                                        <p:tgtEl>
                                          <p:spTgt spid="237571">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37571">
                                            <p:txEl>
                                              <p:pRg st="5" end="5"/>
                                            </p:txEl>
                                          </p:spTgt>
                                        </p:tgtEl>
                                        <p:attrNameLst>
                                          <p:attrName>ppt_y</p:attrName>
                                        </p:attrNameLst>
                                      </p:cBhvr>
                                      <p:tavLst>
                                        <p:tav tm="0">
                                          <p:val>
                                            <p:strVal val="1+#ppt_h/2"/>
                                          </p:val>
                                        </p:tav>
                                        <p:tav tm="100000">
                                          <p:val>
                                            <p:strVal val="#ppt_y"/>
                                          </p:val>
                                        </p:tav>
                                      </p:tavLst>
                                    </p:anim>
                                  </p:childTnLst>
                                </p:cTn>
                              </p:par>
                            </p:childTnLst>
                          </p:cTn>
                        </p:par>
                        <p:par>
                          <p:cTn id="36" fill="hold">
                            <p:stCondLst>
                              <p:cond delay="500"/>
                            </p:stCondLst>
                            <p:childTnLst>
                              <p:par>
                                <p:cTn id="37" presetID="2" presetClass="entr" presetSubtype="4" fill="hold" grpId="0" nodeType="afterEffect">
                                  <p:stCondLst>
                                    <p:cond delay="0"/>
                                  </p:stCondLst>
                                  <p:childTnLst>
                                    <p:set>
                                      <p:cBhvr>
                                        <p:cTn id="38" dur="1" fill="hold">
                                          <p:stCondLst>
                                            <p:cond delay="0"/>
                                          </p:stCondLst>
                                        </p:cTn>
                                        <p:tgtEl>
                                          <p:spTgt spid="237571">
                                            <p:txEl>
                                              <p:pRg st="6" end="6"/>
                                            </p:txEl>
                                          </p:spTgt>
                                        </p:tgtEl>
                                        <p:attrNameLst>
                                          <p:attrName>style.visibility</p:attrName>
                                        </p:attrNameLst>
                                      </p:cBhvr>
                                      <p:to>
                                        <p:strVal val="visible"/>
                                      </p:to>
                                    </p:set>
                                    <p:anim calcmode="lin" valueType="num">
                                      <p:cBhvr additive="base">
                                        <p:cTn id="39" dur="500" fill="hold"/>
                                        <p:tgtEl>
                                          <p:spTgt spid="237571">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3757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1"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a:xfrm>
            <a:off x="457200" y="548680"/>
            <a:ext cx="8229600" cy="1143000"/>
          </a:xfrm>
        </p:spPr>
        <p:txBody>
          <a:bodyPr/>
          <a:lstStyle/>
          <a:p>
            <a:r>
              <a:rPr lang="zh-CN" altLang="en-US" dirty="0"/>
              <a:t>与机器无关的运行时间</a:t>
            </a:r>
            <a:endParaRPr lang="zh-CN" altLang="en-US" dirty="0"/>
          </a:p>
        </p:txBody>
      </p:sp>
      <p:sp>
        <p:nvSpPr>
          <p:cNvPr id="238595" name="Rectangle 3"/>
          <p:cNvSpPr>
            <a:spLocks noGrp="1" noChangeArrowheads="1"/>
          </p:cNvSpPr>
          <p:nvPr>
            <p:ph idx="1"/>
          </p:nvPr>
        </p:nvSpPr>
        <p:spPr>
          <a:xfrm>
            <a:off x="395288" y="1700808"/>
            <a:ext cx="8302625" cy="4895850"/>
          </a:xfrm>
        </p:spPr>
        <p:txBody>
          <a:bodyPr/>
          <a:lstStyle/>
          <a:p>
            <a:pPr>
              <a:buFont typeface="Wingdings" panose="05000000000000000000" pitchFamily="2" charset="2"/>
              <a:buNone/>
            </a:pPr>
            <a:r>
              <a:rPr lang="zh-CN" altLang="en-US" b="1" dirty="0"/>
              <a:t>插入排序的最差时间是多少</a:t>
            </a:r>
            <a:r>
              <a:rPr lang="en-US" altLang="zh-CN" b="1" dirty="0"/>
              <a:t>?</a:t>
            </a:r>
            <a:endParaRPr lang="en-US" altLang="zh-CN" b="1" dirty="0"/>
          </a:p>
          <a:p>
            <a:pPr>
              <a:buFont typeface="Wingdings" panose="05000000000000000000" pitchFamily="2" charset="2"/>
              <a:buNone/>
            </a:pPr>
            <a:r>
              <a:rPr lang="en-US" altLang="zh-CN" dirty="0"/>
              <a:t>• </a:t>
            </a:r>
            <a:r>
              <a:rPr lang="zh-CN" altLang="en-US" dirty="0"/>
              <a:t>取决于计算机的运行速度</a:t>
            </a:r>
            <a:r>
              <a:rPr lang="en-US" altLang="zh-CN" dirty="0"/>
              <a:t>:</a:t>
            </a:r>
            <a:endParaRPr lang="en-US" altLang="zh-CN" dirty="0"/>
          </a:p>
          <a:p>
            <a:pPr lvl="1">
              <a:buFont typeface="Wingdings" panose="05000000000000000000" pitchFamily="2" charset="2"/>
              <a:buNone/>
            </a:pPr>
            <a:r>
              <a:rPr lang="en-US" altLang="zh-CN" dirty="0"/>
              <a:t>• </a:t>
            </a:r>
            <a:r>
              <a:rPr lang="zh-CN" altLang="en-US" dirty="0"/>
              <a:t>相对速度 </a:t>
            </a:r>
            <a:r>
              <a:rPr lang="en-US" altLang="zh-CN" dirty="0"/>
              <a:t>(on the same machine),</a:t>
            </a:r>
            <a:endParaRPr lang="en-US" altLang="zh-CN" dirty="0"/>
          </a:p>
          <a:p>
            <a:pPr lvl="1">
              <a:buFont typeface="Wingdings" panose="05000000000000000000" pitchFamily="2" charset="2"/>
              <a:buNone/>
            </a:pPr>
            <a:r>
              <a:rPr lang="en-US" altLang="zh-CN" dirty="0"/>
              <a:t>• </a:t>
            </a:r>
            <a:r>
              <a:rPr lang="zh-CN" altLang="en-US" dirty="0"/>
              <a:t>绝对速度 </a:t>
            </a:r>
            <a:r>
              <a:rPr lang="en-US" altLang="zh-CN" dirty="0"/>
              <a:t>(on different machines).</a:t>
            </a:r>
            <a:endParaRPr lang="en-US" altLang="zh-CN" dirty="0"/>
          </a:p>
          <a:p>
            <a:pPr>
              <a:buFont typeface="Wingdings" panose="05000000000000000000" pitchFamily="2" charset="2"/>
              <a:buNone/>
            </a:pPr>
            <a:r>
              <a:rPr lang="zh-CN" altLang="en-US" b="1" dirty="0"/>
              <a:t>假设</a:t>
            </a:r>
            <a:r>
              <a:rPr lang="en-US" altLang="zh-CN" b="1" dirty="0"/>
              <a:t>:</a:t>
            </a:r>
            <a:endParaRPr lang="en-US" altLang="zh-CN" b="1" dirty="0"/>
          </a:p>
          <a:p>
            <a:pPr>
              <a:buFont typeface="Wingdings" panose="05000000000000000000" pitchFamily="2" charset="2"/>
              <a:buNone/>
            </a:pPr>
            <a:r>
              <a:rPr lang="en-US" altLang="zh-CN" dirty="0"/>
              <a:t>• </a:t>
            </a:r>
            <a:r>
              <a:rPr lang="zh-CN" altLang="en-US" dirty="0"/>
              <a:t>忽略与机器相关的所有限制</a:t>
            </a:r>
            <a:endParaRPr lang="zh-CN" altLang="en-US" dirty="0"/>
          </a:p>
          <a:p>
            <a:pPr>
              <a:buFont typeface="Wingdings" panose="05000000000000000000" pitchFamily="2" charset="2"/>
              <a:buNone/>
            </a:pPr>
            <a:r>
              <a:rPr lang="en-US" altLang="zh-CN" dirty="0"/>
              <a:t>• </a:t>
            </a:r>
            <a:r>
              <a:rPr lang="zh-CN" altLang="en-US" dirty="0"/>
              <a:t>只关注增长率：</a:t>
            </a:r>
            <a:r>
              <a:rPr lang="en-US" altLang="zh-CN" b="1" i="1" dirty="0"/>
              <a:t>growth </a:t>
            </a:r>
            <a:r>
              <a:rPr lang="en-US" altLang="zh-CN" dirty="0"/>
              <a:t>of </a:t>
            </a:r>
            <a:r>
              <a:rPr lang="en-US" altLang="zh-CN" i="1" dirty="0"/>
              <a:t>T</a:t>
            </a:r>
            <a:r>
              <a:rPr lang="en-US" altLang="zh-CN" dirty="0"/>
              <a:t>(</a:t>
            </a:r>
            <a:r>
              <a:rPr lang="en-US" altLang="zh-CN" i="1" dirty="0"/>
              <a:t>n</a:t>
            </a:r>
            <a:r>
              <a:rPr lang="en-US" altLang="zh-CN" dirty="0"/>
              <a:t>) as </a:t>
            </a:r>
            <a:r>
              <a:rPr lang="en-US" altLang="zh-CN" i="1" dirty="0"/>
              <a:t>n </a:t>
            </a:r>
            <a:r>
              <a:rPr lang="en-US" altLang="zh-CN" dirty="0"/>
              <a:t>→ ∞ .</a:t>
            </a:r>
            <a:endParaRPr lang="en-US" altLang="zh-CN" dirty="0"/>
          </a:p>
          <a:p>
            <a:pPr>
              <a:buFont typeface="Wingdings" panose="05000000000000000000" pitchFamily="2" charset="2"/>
              <a:buNone/>
            </a:pPr>
            <a:endParaRPr lang="en-US" altLang="zh-CN" b="1" dirty="0"/>
          </a:p>
          <a:p>
            <a:pPr algn="ctr">
              <a:buFont typeface="Wingdings" panose="05000000000000000000" pitchFamily="2" charset="2"/>
              <a:buNone/>
            </a:pPr>
            <a:r>
              <a:rPr lang="en-US" altLang="zh-CN" b="1" dirty="0"/>
              <a:t>“Asymptotic</a:t>
            </a:r>
            <a:r>
              <a:rPr lang="zh-CN" altLang="en-US" b="1" dirty="0"/>
              <a:t>渐近 </a:t>
            </a:r>
            <a:r>
              <a:rPr lang="en-US" altLang="zh-CN" b="1" dirty="0"/>
              <a:t>Analysis”</a:t>
            </a:r>
            <a:endParaRPr lang="en-US" altLang="zh-CN" b="1" dirty="0"/>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8595">
                                            <p:txEl>
                                              <p:pRg st="0" end="0"/>
                                            </p:txEl>
                                          </p:spTgt>
                                        </p:tgtEl>
                                        <p:attrNameLst>
                                          <p:attrName>style.visibility</p:attrName>
                                        </p:attrNameLst>
                                      </p:cBhvr>
                                      <p:to>
                                        <p:strVal val="visible"/>
                                      </p:to>
                                    </p:set>
                                    <p:anim calcmode="lin" valueType="num">
                                      <p:cBhvr additive="base">
                                        <p:cTn id="7" dur="500" fill="hold"/>
                                        <p:tgtEl>
                                          <p:spTgt spid="2385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85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8595">
                                            <p:txEl>
                                              <p:pRg st="1" end="1"/>
                                            </p:txEl>
                                          </p:spTgt>
                                        </p:tgtEl>
                                        <p:attrNameLst>
                                          <p:attrName>style.visibility</p:attrName>
                                        </p:attrNameLst>
                                      </p:cBhvr>
                                      <p:to>
                                        <p:strVal val="visible"/>
                                      </p:to>
                                    </p:set>
                                    <p:anim calcmode="lin" valueType="num">
                                      <p:cBhvr additive="base">
                                        <p:cTn id="13" dur="500" fill="hold"/>
                                        <p:tgtEl>
                                          <p:spTgt spid="2385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859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38595">
                                            <p:txEl>
                                              <p:pRg st="2" end="2"/>
                                            </p:txEl>
                                          </p:spTgt>
                                        </p:tgtEl>
                                        <p:attrNameLst>
                                          <p:attrName>style.visibility</p:attrName>
                                        </p:attrNameLst>
                                      </p:cBhvr>
                                      <p:to>
                                        <p:strVal val="visible"/>
                                      </p:to>
                                    </p:set>
                                    <p:anim calcmode="lin" valueType="num">
                                      <p:cBhvr additive="base">
                                        <p:cTn id="17" dur="500" fill="hold"/>
                                        <p:tgtEl>
                                          <p:spTgt spid="23859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3859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38595">
                                            <p:txEl>
                                              <p:pRg st="3" end="3"/>
                                            </p:txEl>
                                          </p:spTgt>
                                        </p:tgtEl>
                                        <p:attrNameLst>
                                          <p:attrName>style.visibility</p:attrName>
                                        </p:attrNameLst>
                                      </p:cBhvr>
                                      <p:to>
                                        <p:strVal val="visible"/>
                                      </p:to>
                                    </p:set>
                                    <p:anim calcmode="lin" valueType="num">
                                      <p:cBhvr additive="base">
                                        <p:cTn id="21" dur="500" fill="hold"/>
                                        <p:tgtEl>
                                          <p:spTgt spid="23859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385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38595">
                                            <p:txEl>
                                              <p:pRg st="4" end="4"/>
                                            </p:txEl>
                                          </p:spTgt>
                                        </p:tgtEl>
                                        <p:attrNameLst>
                                          <p:attrName>style.visibility</p:attrName>
                                        </p:attrNameLst>
                                      </p:cBhvr>
                                      <p:to>
                                        <p:strVal val="visible"/>
                                      </p:to>
                                    </p:set>
                                    <p:anim calcmode="lin" valueType="num">
                                      <p:cBhvr additive="base">
                                        <p:cTn id="27" dur="500" fill="hold"/>
                                        <p:tgtEl>
                                          <p:spTgt spid="23859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385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38595">
                                            <p:txEl>
                                              <p:pRg st="5" end="5"/>
                                            </p:txEl>
                                          </p:spTgt>
                                        </p:tgtEl>
                                        <p:attrNameLst>
                                          <p:attrName>style.visibility</p:attrName>
                                        </p:attrNameLst>
                                      </p:cBhvr>
                                      <p:to>
                                        <p:strVal val="visible"/>
                                      </p:to>
                                    </p:set>
                                    <p:anim calcmode="lin" valueType="num">
                                      <p:cBhvr additive="base">
                                        <p:cTn id="33" dur="500" fill="hold"/>
                                        <p:tgtEl>
                                          <p:spTgt spid="238595">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3859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38595">
                                            <p:txEl>
                                              <p:pRg st="6" end="6"/>
                                            </p:txEl>
                                          </p:spTgt>
                                        </p:tgtEl>
                                        <p:attrNameLst>
                                          <p:attrName>style.visibility</p:attrName>
                                        </p:attrNameLst>
                                      </p:cBhvr>
                                      <p:to>
                                        <p:strVal val="visible"/>
                                      </p:to>
                                    </p:set>
                                    <p:anim calcmode="lin" valueType="num">
                                      <p:cBhvr additive="base">
                                        <p:cTn id="39" dur="500" fill="hold"/>
                                        <p:tgtEl>
                                          <p:spTgt spid="238595">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3859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38595">
                                            <p:txEl>
                                              <p:pRg st="8" end="8"/>
                                            </p:txEl>
                                          </p:spTgt>
                                        </p:tgtEl>
                                        <p:attrNameLst>
                                          <p:attrName>style.visibility</p:attrName>
                                        </p:attrNameLst>
                                      </p:cBhvr>
                                      <p:to>
                                        <p:strVal val="visible"/>
                                      </p:to>
                                    </p:set>
                                    <p:anim calcmode="lin" valueType="num">
                                      <p:cBhvr additive="base">
                                        <p:cTn id="45" dur="500" fill="hold"/>
                                        <p:tgtEl>
                                          <p:spTgt spid="238595">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3859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uild="p"/>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a:xfrm>
            <a:off x="457200" y="548680"/>
            <a:ext cx="8229600" cy="1143000"/>
          </a:xfrm>
        </p:spPr>
        <p:txBody>
          <a:bodyPr/>
          <a:lstStyle/>
          <a:p>
            <a:r>
              <a:rPr lang="zh-CN" altLang="en-US" dirty="0"/>
              <a:t>分析算法 </a:t>
            </a:r>
            <a:endParaRPr lang="zh-CN" altLang="en-US" dirty="0"/>
          </a:p>
        </p:txBody>
      </p:sp>
      <p:sp>
        <p:nvSpPr>
          <p:cNvPr id="259075" name="Rectangle 3"/>
          <p:cNvSpPr>
            <a:spLocks noGrp="1" noChangeArrowheads="1"/>
          </p:cNvSpPr>
          <p:nvPr>
            <p:ph idx="1"/>
          </p:nvPr>
        </p:nvSpPr>
        <p:spPr>
          <a:xfrm>
            <a:off x="323850" y="1701824"/>
            <a:ext cx="8574088" cy="4535488"/>
          </a:xfrm>
        </p:spPr>
        <p:txBody>
          <a:bodyPr/>
          <a:lstStyle/>
          <a:p>
            <a:pPr marL="571500" indent="-571500">
              <a:lnSpc>
                <a:spcPct val="90000"/>
              </a:lnSpc>
              <a:buFont typeface="Wingdings" panose="05000000000000000000" pitchFamily="2" charset="2"/>
              <a:buNone/>
            </a:pPr>
            <a:r>
              <a:rPr lang="en-US" altLang="zh-CN" sz="2600" dirty="0">
                <a:latin typeface="华文新魏" panose="02010800040101010101" pitchFamily="2" charset="-122"/>
                <a:ea typeface="华文新魏" panose="02010800040101010101" pitchFamily="2" charset="-122"/>
              </a:rPr>
              <a:t>1. </a:t>
            </a:r>
            <a:r>
              <a:rPr lang="zh-CN" altLang="en-US" sz="2600" dirty="0">
                <a:latin typeface="华文新魏" panose="02010800040101010101" pitchFamily="2" charset="-122"/>
                <a:ea typeface="华文新魏" panose="02010800040101010101" pitchFamily="2" charset="-122"/>
              </a:rPr>
              <a:t>算法分析是指对一个算法所需要的资源进行预测；</a:t>
            </a:r>
            <a:endParaRPr lang="zh-CN" altLang="en-US" sz="2600" dirty="0">
              <a:latin typeface="华文新魏" panose="02010800040101010101" pitchFamily="2" charset="-122"/>
              <a:ea typeface="华文新魏" panose="02010800040101010101" pitchFamily="2" charset="-122"/>
            </a:endParaRPr>
          </a:p>
          <a:p>
            <a:pPr marL="571500" indent="-571500">
              <a:lnSpc>
                <a:spcPct val="90000"/>
              </a:lnSpc>
            </a:pPr>
            <a:r>
              <a:rPr lang="zh-CN" altLang="en-US" sz="2600" dirty="0">
                <a:latin typeface="华文新魏" panose="02010800040101010101" pitchFamily="2" charset="-122"/>
                <a:ea typeface="华文新魏" panose="02010800040101010101" pitchFamily="2" charset="-122"/>
              </a:rPr>
              <a:t>资源包括：</a:t>
            </a:r>
            <a:endParaRPr lang="zh-CN" altLang="en-US" sz="2600" dirty="0">
              <a:latin typeface="华文新魏" panose="02010800040101010101" pitchFamily="2" charset="-122"/>
              <a:ea typeface="华文新魏" panose="02010800040101010101" pitchFamily="2" charset="-122"/>
            </a:endParaRPr>
          </a:p>
          <a:p>
            <a:pPr marL="840105" lvl="1" indent="-495300">
              <a:lnSpc>
                <a:spcPct val="90000"/>
              </a:lnSpc>
            </a:pPr>
            <a:r>
              <a:rPr lang="zh-CN" altLang="en-US" sz="2200" b="1" dirty="0">
                <a:solidFill>
                  <a:schemeClr val="accent1"/>
                </a:solidFill>
                <a:latin typeface="华文新魏" panose="02010800040101010101" pitchFamily="2" charset="-122"/>
                <a:ea typeface="华文新魏" panose="02010800040101010101" pitchFamily="2" charset="-122"/>
              </a:rPr>
              <a:t>时间 和 空间</a:t>
            </a:r>
            <a:endParaRPr lang="zh-CN" altLang="en-US" sz="2200" b="1" dirty="0">
              <a:solidFill>
                <a:schemeClr val="accent1"/>
              </a:solidFill>
              <a:latin typeface="华文新魏" panose="02010800040101010101" pitchFamily="2" charset="-122"/>
              <a:ea typeface="华文新魏" panose="02010800040101010101" pitchFamily="2" charset="-122"/>
            </a:endParaRPr>
          </a:p>
          <a:p>
            <a:pPr marL="840105" lvl="1" indent="-495300">
              <a:lnSpc>
                <a:spcPct val="90000"/>
              </a:lnSpc>
            </a:pPr>
            <a:r>
              <a:rPr lang="zh-CN" altLang="en-US" sz="2200" b="1" dirty="0">
                <a:solidFill>
                  <a:schemeClr val="accent1"/>
                </a:solidFill>
                <a:latin typeface="华文新魏" panose="02010800040101010101" pitchFamily="2" charset="-122"/>
                <a:ea typeface="华文新魏" panose="02010800040101010101" pitchFamily="2" charset="-122"/>
              </a:rPr>
              <a:t>软件 和 硬件</a:t>
            </a:r>
            <a:endParaRPr lang="zh-CN" altLang="en-US" sz="2200" b="1" dirty="0">
              <a:solidFill>
                <a:schemeClr val="accent1"/>
              </a:solidFill>
              <a:latin typeface="华文新魏" panose="02010800040101010101" pitchFamily="2" charset="-122"/>
              <a:ea typeface="华文新魏" panose="02010800040101010101" pitchFamily="2" charset="-122"/>
            </a:endParaRPr>
          </a:p>
          <a:p>
            <a:pPr marL="840105" lvl="1" indent="-495300">
              <a:lnSpc>
                <a:spcPct val="90000"/>
              </a:lnSpc>
            </a:pPr>
            <a:r>
              <a:rPr lang="zh-CN" altLang="en-US" sz="2200" b="1" dirty="0">
                <a:solidFill>
                  <a:schemeClr val="accent1"/>
                </a:solidFill>
                <a:latin typeface="华文新魏" panose="02010800040101010101" pitchFamily="2" charset="-122"/>
                <a:ea typeface="华文新魏" panose="02010800040101010101" pitchFamily="2" charset="-122"/>
              </a:rPr>
              <a:t>输入数据规模 和 运行时间</a:t>
            </a:r>
            <a:endParaRPr lang="zh-CN" altLang="en-US" sz="2200" b="1" dirty="0">
              <a:solidFill>
                <a:schemeClr val="accent1"/>
              </a:solidFill>
              <a:latin typeface="华文新魏" panose="02010800040101010101" pitchFamily="2" charset="-122"/>
              <a:ea typeface="华文新魏" panose="02010800040101010101" pitchFamily="2" charset="-122"/>
            </a:endParaRPr>
          </a:p>
          <a:p>
            <a:pPr marL="571500" indent="-571500">
              <a:lnSpc>
                <a:spcPct val="90000"/>
              </a:lnSpc>
            </a:pPr>
            <a:r>
              <a:rPr lang="zh-CN" altLang="en-US" sz="2600" dirty="0">
                <a:latin typeface="华文新魏" panose="02010800040101010101" pitchFamily="2" charset="-122"/>
                <a:ea typeface="华文新魏" panose="02010800040101010101" pitchFamily="2" charset="-122"/>
              </a:rPr>
              <a:t>两种分析算法的方法：</a:t>
            </a:r>
            <a:r>
              <a:rPr lang="en-US" altLang="zh-CN" sz="2600" dirty="0">
                <a:latin typeface="华文新魏" panose="02010800040101010101" pitchFamily="2" charset="-122"/>
                <a:ea typeface="华文新魏" panose="02010800040101010101" pitchFamily="2" charset="-122"/>
              </a:rPr>
              <a:t>:</a:t>
            </a:r>
            <a:endParaRPr lang="en-US" altLang="zh-CN" sz="2600" dirty="0">
              <a:latin typeface="华文新魏" panose="02010800040101010101" pitchFamily="2" charset="-122"/>
              <a:ea typeface="华文新魏" panose="02010800040101010101" pitchFamily="2" charset="-122"/>
            </a:endParaRPr>
          </a:p>
          <a:p>
            <a:pPr marL="571500" indent="-571500">
              <a:lnSpc>
                <a:spcPct val="90000"/>
              </a:lnSpc>
              <a:buFont typeface="Wingdings" panose="05000000000000000000" pitchFamily="2" charset="2"/>
              <a:buNone/>
            </a:pPr>
            <a:r>
              <a:rPr lang="en-US" altLang="zh-CN" sz="2600" dirty="0">
                <a:solidFill>
                  <a:schemeClr val="accent1"/>
                </a:solidFill>
                <a:latin typeface="华文新魏" panose="02010800040101010101" pitchFamily="2" charset="-122"/>
                <a:ea typeface="华文新魏" panose="02010800040101010101" pitchFamily="2" charset="-122"/>
              </a:rPr>
              <a:t>	</a:t>
            </a:r>
            <a:r>
              <a:rPr lang="zh-CN" altLang="en-US" sz="2600" b="1" dirty="0">
                <a:solidFill>
                  <a:schemeClr val="accent1"/>
                </a:solidFill>
                <a:latin typeface="华文新魏" panose="02010800040101010101" pitchFamily="2" charset="-122"/>
                <a:ea typeface="华文新魏" panose="02010800040101010101" pitchFamily="2" charset="-122"/>
              </a:rPr>
              <a:t>直接分析 与 实验比较</a:t>
            </a:r>
            <a:endParaRPr lang="zh-CN" altLang="en-US" sz="2600" b="1" dirty="0">
              <a:solidFill>
                <a:schemeClr val="accent1"/>
              </a:solidFill>
              <a:latin typeface="华文新魏" panose="02010800040101010101" pitchFamily="2" charset="-122"/>
              <a:ea typeface="华文新魏" panose="02010800040101010101" pitchFamily="2" charset="-122"/>
            </a:endParaRPr>
          </a:p>
          <a:p>
            <a:pPr marL="571500" indent="-571500">
              <a:lnSpc>
                <a:spcPct val="90000"/>
              </a:lnSpc>
            </a:pPr>
            <a:r>
              <a:rPr lang="zh-CN" altLang="en-US" sz="2600" dirty="0">
                <a:latin typeface="华文新魏" panose="02010800040101010101" pitchFamily="2" charset="-122"/>
                <a:ea typeface="华文新魏" panose="02010800040101010101" pitchFamily="2" charset="-122"/>
              </a:rPr>
              <a:t>对于一个问题，分析几个候选的算法，选择一个最有效的算法。找出不止一个候选算法，通常都要去掉几个较差的算法。</a:t>
            </a:r>
            <a:endParaRPr lang="zh-CN" altLang="en-US" sz="2600" dirty="0">
              <a:latin typeface="华文新魏" panose="02010800040101010101" pitchFamily="2" charset="-122"/>
              <a:ea typeface="华文新魏" panose="02010800040101010101" pitchFamily="2" charset="-122"/>
            </a:endParaRPr>
          </a:p>
        </p:txBody>
      </p:sp>
    </p:spTree>
  </p:cSld>
  <p:clrMapOvr>
    <a:masterClrMapping/>
  </p:clrMapOvr>
  <p:transition>
    <p:cover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90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5907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25907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25907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25907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59075">
                                            <p:txEl>
                                              <p:pRg st="5" end="5"/>
                                            </p:txEl>
                                          </p:spTgt>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259075">
                                            <p:txEl>
                                              <p:pRg st="6" end="6"/>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2590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5" grpId="0" autoUpdateAnimBg="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p:txBody>
          <a:bodyPr/>
          <a:lstStyle/>
          <a:p>
            <a:r>
              <a:rPr lang="zh-CN" altLang="en-US" dirty="0"/>
              <a:t>分析算法</a:t>
            </a:r>
            <a:endParaRPr lang="zh-CN" altLang="en-US" dirty="0"/>
          </a:p>
        </p:txBody>
      </p:sp>
      <p:sp>
        <p:nvSpPr>
          <p:cNvPr id="313347" name="Rectangle 3"/>
          <p:cNvSpPr>
            <a:spLocks noGrp="1" noChangeArrowheads="1"/>
          </p:cNvSpPr>
          <p:nvPr>
            <p:ph idx="1"/>
          </p:nvPr>
        </p:nvSpPr>
        <p:spPr/>
        <p:txBody>
          <a:bodyPr/>
          <a:lstStyle/>
          <a:p>
            <a:endParaRPr lang="zh-CN" altLang="zh-CN"/>
          </a:p>
        </p:txBody>
      </p:sp>
      <p:pic>
        <p:nvPicPr>
          <p:cNvPr id="31334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4475" y="1916832"/>
            <a:ext cx="8899525" cy="454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a:xfrm>
            <a:off x="457200" y="260648"/>
            <a:ext cx="8229600" cy="1143000"/>
          </a:xfrm>
        </p:spPr>
        <p:txBody>
          <a:bodyPr/>
          <a:lstStyle/>
          <a:p>
            <a:r>
              <a:rPr lang="zh-CN" altLang="en-US" dirty="0"/>
              <a:t>分析算法</a:t>
            </a:r>
            <a:endParaRPr lang="zh-CN" altLang="en-US" dirty="0"/>
          </a:p>
        </p:txBody>
      </p:sp>
      <p:sp>
        <p:nvSpPr>
          <p:cNvPr id="314371" name="Rectangle 3"/>
          <p:cNvSpPr>
            <a:spLocks noGrp="1" noChangeArrowheads="1"/>
          </p:cNvSpPr>
          <p:nvPr>
            <p:ph idx="1"/>
          </p:nvPr>
        </p:nvSpPr>
        <p:spPr/>
        <p:txBody>
          <a:bodyPr/>
          <a:lstStyle/>
          <a:p>
            <a:endParaRPr lang="en-US" altLang="zh-CN">
              <a:latin typeface="华文新魏" panose="02010800040101010101" pitchFamily="2" charset="-122"/>
              <a:ea typeface="华文新魏" panose="02010800040101010101" pitchFamily="2" charset="-122"/>
            </a:endParaRPr>
          </a:p>
          <a:p>
            <a:endParaRPr lang="en-US" altLang="zh-CN">
              <a:latin typeface="华文新魏" panose="02010800040101010101" pitchFamily="2" charset="-122"/>
              <a:ea typeface="华文新魏" panose="02010800040101010101" pitchFamily="2" charset="-122"/>
            </a:endParaRPr>
          </a:p>
          <a:p>
            <a:endParaRPr lang="en-US" altLang="zh-CN">
              <a:latin typeface="华文新魏" panose="02010800040101010101" pitchFamily="2" charset="-122"/>
              <a:ea typeface="华文新魏" panose="02010800040101010101" pitchFamily="2" charset="-122"/>
            </a:endParaRPr>
          </a:p>
          <a:p>
            <a:endParaRPr lang="en-US" altLang="zh-CN">
              <a:latin typeface="华文新魏" panose="02010800040101010101" pitchFamily="2" charset="-122"/>
              <a:ea typeface="华文新魏" panose="02010800040101010101" pitchFamily="2" charset="-122"/>
            </a:endParaRPr>
          </a:p>
          <a:p>
            <a:endParaRPr lang="en-US" altLang="zh-CN">
              <a:latin typeface="华文新魏" panose="02010800040101010101" pitchFamily="2" charset="-122"/>
              <a:ea typeface="华文新魏" panose="02010800040101010101" pitchFamily="2" charset="-122"/>
            </a:endParaRPr>
          </a:p>
          <a:p>
            <a:endParaRPr lang="en-US" altLang="zh-CN">
              <a:latin typeface="华文新魏" panose="02010800040101010101" pitchFamily="2" charset="-122"/>
              <a:ea typeface="华文新魏" panose="02010800040101010101" pitchFamily="2" charset="-122"/>
            </a:endParaRPr>
          </a:p>
          <a:p>
            <a:pPr>
              <a:buFont typeface="Wingdings" panose="05000000000000000000" pitchFamily="2" charset="2"/>
              <a:buNone/>
            </a:pPr>
            <a:r>
              <a:rPr lang="en-US" altLang="zh-CN">
                <a:solidFill>
                  <a:srgbClr val="3907F1"/>
                </a:solidFill>
                <a:latin typeface="华文新魏" panose="02010800040101010101" pitchFamily="2" charset="-122"/>
                <a:ea typeface="华文新魏" panose="02010800040101010101" pitchFamily="2" charset="-122"/>
              </a:rPr>
              <a:t>   </a:t>
            </a:r>
            <a:r>
              <a:rPr lang="zh-CN" altLang="en-US">
                <a:solidFill>
                  <a:srgbClr val="3907F1"/>
                </a:solidFill>
                <a:latin typeface="华文新魏" panose="02010800040101010101" pitchFamily="2" charset="-122"/>
                <a:ea typeface="华文新魏" panose="02010800040101010101" pitchFamily="2" charset="-122"/>
              </a:rPr>
              <a:t>空间资源已经不是问题，分析一个算法，主要考虑算法的计算时间。</a:t>
            </a:r>
            <a:endParaRPr lang="zh-CN" altLang="en-US">
              <a:solidFill>
                <a:srgbClr val="3907F1"/>
              </a:solidFill>
              <a:latin typeface="华文新魏" panose="02010800040101010101" pitchFamily="2" charset="-122"/>
              <a:ea typeface="华文新魏" panose="02010800040101010101" pitchFamily="2" charset="-122"/>
            </a:endParaRPr>
          </a:p>
        </p:txBody>
      </p:sp>
      <p:pic>
        <p:nvPicPr>
          <p:cNvPr id="31437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4963" y="1341438"/>
            <a:ext cx="8809037" cy="353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zh-CN" altLang="en-US" dirty="0"/>
              <a:t>插入排序算法分析</a:t>
            </a:r>
            <a:endParaRPr lang="zh-CN" altLang="en-US" dirty="0"/>
          </a:p>
        </p:txBody>
      </p:sp>
      <p:sp>
        <p:nvSpPr>
          <p:cNvPr id="270356" name="Rectangle 20"/>
          <p:cNvSpPr>
            <a:spLocks noChangeArrowheads="1"/>
          </p:cNvSpPr>
          <p:nvPr/>
        </p:nvSpPr>
        <p:spPr bwMode="auto">
          <a:xfrm>
            <a:off x="1187450" y="1412875"/>
            <a:ext cx="6480175" cy="44783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3200">
                <a:latin typeface="Times New Roman" panose="02020603050405020304" pitchFamily="18" charset="0"/>
              </a:rPr>
              <a:t>InsertSort(</a:t>
            </a:r>
            <a:r>
              <a:rPr lang="en-US" altLang="zh-CN" sz="3200" i="1">
                <a:latin typeface="Times New Roman" panose="02020603050405020304" pitchFamily="18" charset="0"/>
              </a:rPr>
              <a:t>A</a:t>
            </a:r>
            <a:r>
              <a:rPr lang="en-US" altLang="zh-CN" sz="3200">
                <a:latin typeface="Times New Roman" panose="02020603050405020304" pitchFamily="18" charset="0"/>
              </a:rPr>
              <a:t>)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1  </a:t>
            </a:r>
            <a:r>
              <a:rPr lang="en-US" altLang="zh-CN" sz="3200" b="1">
                <a:latin typeface="Times New Roman" panose="02020603050405020304" pitchFamily="18" charset="0"/>
              </a:rPr>
              <a:t>for </a:t>
            </a:r>
            <a:r>
              <a:rPr lang="en-US" altLang="zh-CN" sz="3200">
                <a:latin typeface="Times New Roman" panose="02020603050405020304" pitchFamily="18" charset="0"/>
              </a:rPr>
              <a:t> </a:t>
            </a:r>
            <a:r>
              <a:rPr lang="en-US" altLang="zh-CN" sz="3200" i="1">
                <a:latin typeface="Times New Roman" panose="02020603050405020304" pitchFamily="18" charset="0"/>
              </a:rPr>
              <a:t>j</a:t>
            </a:r>
            <a:r>
              <a:rPr lang="en-US" altLang="zh-CN" sz="3200">
                <a:latin typeface="Times New Roman" panose="02020603050405020304" pitchFamily="18" charset="0"/>
              </a:rPr>
              <a:t>←2 </a:t>
            </a:r>
            <a:r>
              <a:rPr lang="en-US" altLang="zh-CN" sz="3200" b="1">
                <a:latin typeface="Times New Roman" panose="02020603050405020304" pitchFamily="18" charset="0"/>
              </a:rPr>
              <a:t>to</a:t>
            </a:r>
            <a:r>
              <a:rPr lang="en-US" altLang="zh-CN" sz="3200">
                <a:latin typeface="Times New Roman" panose="02020603050405020304" pitchFamily="18" charset="0"/>
              </a:rPr>
              <a:t> </a:t>
            </a:r>
            <a:r>
              <a:rPr lang="en-US" altLang="zh-CN" sz="3200" i="1">
                <a:latin typeface="Times New Roman" panose="02020603050405020304" pitchFamily="18" charset="0"/>
              </a:rPr>
              <a:t>length</a:t>
            </a:r>
            <a:r>
              <a:rPr lang="en-US" altLang="zh-CN" sz="3200">
                <a:latin typeface="Times New Roman" panose="02020603050405020304" pitchFamily="18" charset="0"/>
              </a:rPr>
              <a:t>[</a:t>
            </a:r>
            <a:r>
              <a:rPr lang="en-US" altLang="zh-CN" sz="3200" i="1">
                <a:latin typeface="Times New Roman" panose="02020603050405020304" pitchFamily="18" charset="0"/>
              </a:rPr>
              <a:t>A</a:t>
            </a:r>
            <a:r>
              <a:rPr lang="en-US" altLang="zh-CN" sz="3200">
                <a:latin typeface="Times New Roman" panose="02020603050405020304" pitchFamily="18" charset="0"/>
              </a:rPr>
              <a:t>]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2      </a:t>
            </a:r>
            <a:r>
              <a:rPr lang="en-US" altLang="zh-CN" sz="3200" b="1">
                <a:latin typeface="Times New Roman" panose="02020603050405020304" pitchFamily="18" charset="0"/>
              </a:rPr>
              <a:t>do</a:t>
            </a:r>
            <a:r>
              <a:rPr lang="en-US" altLang="zh-CN" sz="3200">
                <a:latin typeface="Times New Roman" panose="02020603050405020304" pitchFamily="18" charset="0"/>
              </a:rPr>
              <a:t> </a:t>
            </a:r>
            <a:r>
              <a:rPr lang="en-US" altLang="zh-CN" sz="3200" i="1">
                <a:latin typeface="Times New Roman" panose="02020603050405020304" pitchFamily="18" charset="0"/>
              </a:rPr>
              <a:t>key</a:t>
            </a:r>
            <a:r>
              <a:rPr lang="en-US" altLang="zh-CN" sz="3200">
                <a:latin typeface="Times New Roman" panose="02020603050405020304" pitchFamily="18" charset="0"/>
              </a:rPr>
              <a:t> ←</a:t>
            </a:r>
            <a:r>
              <a:rPr lang="en-US" altLang="zh-CN" sz="3200" i="1">
                <a:latin typeface="Times New Roman" panose="02020603050405020304" pitchFamily="18" charset="0"/>
              </a:rPr>
              <a:t> A</a:t>
            </a:r>
            <a:r>
              <a:rPr lang="en-US" altLang="zh-CN" sz="3200">
                <a:latin typeface="Times New Roman" panose="02020603050405020304" pitchFamily="18" charset="0"/>
              </a:rPr>
              <a:t>[</a:t>
            </a:r>
            <a:r>
              <a:rPr lang="en-US" altLang="zh-CN" sz="3200" i="1">
                <a:latin typeface="Times New Roman" panose="02020603050405020304" pitchFamily="18" charset="0"/>
              </a:rPr>
              <a:t>j</a:t>
            </a:r>
            <a:r>
              <a:rPr lang="en-US" altLang="zh-CN" sz="3200">
                <a:latin typeface="Times New Roman" panose="02020603050405020304" pitchFamily="18" charset="0"/>
              </a:rPr>
              <a:t>]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3 //Insert </a:t>
            </a:r>
            <a:r>
              <a:rPr lang="en-US" altLang="zh-CN" sz="3200" i="1">
                <a:latin typeface="Times New Roman" panose="02020603050405020304" pitchFamily="18" charset="0"/>
              </a:rPr>
              <a:t>A</a:t>
            </a:r>
            <a:r>
              <a:rPr lang="en-US" altLang="zh-CN" sz="3200">
                <a:latin typeface="Times New Roman" panose="02020603050405020304" pitchFamily="18" charset="0"/>
              </a:rPr>
              <a:t>[</a:t>
            </a:r>
            <a:r>
              <a:rPr lang="en-US" altLang="zh-CN" sz="3200" i="1">
                <a:latin typeface="Times New Roman" panose="02020603050405020304" pitchFamily="18" charset="0"/>
              </a:rPr>
              <a:t>j</a:t>
            </a:r>
            <a:r>
              <a:rPr lang="en-US" altLang="zh-CN" sz="3200">
                <a:latin typeface="Times New Roman" panose="02020603050405020304" pitchFamily="18" charset="0"/>
              </a:rPr>
              <a:t>] into the sorted  </a:t>
            </a:r>
            <a:r>
              <a:rPr lang="en-US" altLang="zh-CN" sz="3200" i="1">
                <a:latin typeface="Times New Roman" panose="02020603050405020304" pitchFamily="18" charset="0"/>
              </a:rPr>
              <a:t>A</a:t>
            </a:r>
            <a:r>
              <a:rPr lang="en-US" altLang="zh-CN" sz="3200">
                <a:latin typeface="Times New Roman" panose="02020603050405020304" pitchFamily="18" charset="0"/>
              </a:rPr>
              <a:t>[1.. </a:t>
            </a:r>
            <a:r>
              <a:rPr lang="en-US" altLang="zh-CN" sz="3200" i="1">
                <a:latin typeface="Times New Roman" panose="02020603050405020304" pitchFamily="18" charset="0"/>
              </a:rPr>
              <a:t>j</a:t>
            </a:r>
            <a:r>
              <a:rPr lang="en-US" altLang="zh-CN" sz="3200">
                <a:latin typeface="Times New Roman" panose="02020603050405020304" pitchFamily="18" charset="0"/>
              </a:rPr>
              <a:t>-1]</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4           </a:t>
            </a:r>
            <a:r>
              <a:rPr lang="en-US" altLang="zh-CN" sz="3200" i="1">
                <a:latin typeface="Times New Roman" panose="02020603050405020304" pitchFamily="18" charset="0"/>
              </a:rPr>
              <a:t>i</a:t>
            </a:r>
            <a:r>
              <a:rPr lang="en-US" altLang="zh-CN" sz="3200">
                <a:latin typeface="Times New Roman" panose="02020603050405020304" pitchFamily="18" charset="0"/>
              </a:rPr>
              <a:t>← </a:t>
            </a:r>
            <a:r>
              <a:rPr lang="en-US" altLang="zh-CN" sz="3200" i="1">
                <a:latin typeface="Times New Roman" panose="02020603050405020304" pitchFamily="18" charset="0"/>
              </a:rPr>
              <a:t>j</a:t>
            </a:r>
            <a:r>
              <a:rPr lang="en-US" altLang="zh-CN" sz="3200">
                <a:latin typeface="Times New Roman" panose="02020603050405020304" pitchFamily="18" charset="0"/>
              </a:rPr>
              <a:t> - 1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5   </a:t>
            </a:r>
            <a:r>
              <a:rPr lang="en-US" altLang="zh-CN" sz="3200" b="1">
                <a:latin typeface="Times New Roman" panose="02020603050405020304" pitchFamily="18" charset="0"/>
              </a:rPr>
              <a:t>       while</a:t>
            </a:r>
            <a:r>
              <a:rPr lang="en-US" altLang="zh-CN" sz="3200">
                <a:latin typeface="Times New Roman" panose="02020603050405020304" pitchFamily="18" charset="0"/>
              </a:rPr>
              <a:t> </a:t>
            </a:r>
            <a:r>
              <a:rPr lang="en-US" altLang="zh-CN" sz="3200" i="1">
                <a:latin typeface="Times New Roman" panose="02020603050405020304" pitchFamily="18" charset="0"/>
              </a:rPr>
              <a:t>i &gt; </a:t>
            </a:r>
            <a:r>
              <a:rPr lang="en-US" altLang="zh-CN" sz="3200">
                <a:latin typeface="Times New Roman" panose="02020603050405020304" pitchFamily="18" charset="0"/>
              </a:rPr>
              <a:t>0 and</a:t>
            </a:r>
            <a:r>
              <a:rPr lang="en-US" altLang="zh-CN" sz="3200" i="1">
                <a:latin typeface="Times New Roman" panose="02020603050405020304" pitchFamily="18" charset="0"/>
              </a:rPr>
              <a:t> A</a:t>
            </a:r>
            <a:r>
              <a:rPr lang="en-US" altLang="zh-CN" sz="3200">
                <a:latin typeface="Times New Roman" panose="02020603050405020304" pitchFamily="18" charset="0"/>
              </a:rPr>
              <a:t>[</a:t>
            </a:r>
            <a:r>
              <a:rPr lang="en-US" altLang="zh-CN" sz="3200" i="1">
                <a:latin typeface="Times New Roman" panose="02020603050405020304" pitchFamily="18" charset="0"/>
              </a:rPr>
              <a:t>i</a:t>
            </a:r>
            <a:r>
              <a:rPr lang="en-US" altLang="zh-CN" sz="3200">
                <a:latin typeface="Times New Roman" panose="02020603050405020304" pitchFamily="18" charset="0"/>
              </a:rPr>
              <a:t>]</a:t>
            </a:r>
            <a:r>
              <a:rPr lang="en-US" altLang="zh-CN" sz="3200" i="1">
                <a:latin typeface="Times New Roman" panose="02020603050405020304" pitchFamily="18" charset="0"/>
              </a:rPr>
              <a:t> </a:t>
            </a:r>
            <a:r>
              <a:rPr lang="en-US" altLang="zh-CN" sz="3200">
                <a:latin typeface="Times New Roman" panose="02020603050405020304" pitchFamily="18" charset="0"/>
              </a:rPr>
              <a:t>&gt;</a:t>
            </a:r>
            <a:r>
              <a:rPr lang="en-US" altLang="zh-CN" sz="3200" i="1">
                <a:latin typeface="Times New Roman" panose="02020603050405020304" pitchFamily="18" charset="0"/>
              </a:rPr>
              <a:t> key</a:t>
            </a:r>
            <a:r>
              <a:rPr lang="en-US" altLang="zh-CN" sz="3200">
                <a:latin typeface="Times New Roman" panose="02020603050405020304" pitchFamily="18" charset="0"/>
              </a:rPr>
              <a:t> </a:t>
            </a:r>
            <a:r>
              <a:rPr lang="en-US" altLang="zh-CN" sz="3200" b="1">
                <a:latin typeface="Times New Roman" panose="02020603050405020304" pitchFamily="18" charset="0"/>
              </a:rPr>
              <a:t>do</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6                 </a:t>
            </a:r>
            <a:r>
              <a:rPr lang="en-US" altLang="zh-CN" sz="3200" i="1">
                <a:latin typeface="Times New Roman" panose="02020603050405020304" pitchFamily="18" charset="0"/>
              </a:rPr>
              <a:t>A</a:t>
            </a:r>
            <a:r>
              <a:rPr lang="en-US" altLang="zh-CN" sz="3200">
                <a:latin typeface="Times New Roman" panose="02020603050405020304" pitchFamily="18" charset="0"/>
              </a:rPr>
              <a:t>[</a:t>
            </a:r>
            <a:r>
              <a:rPr lang="en-US" altLang="zh-CN" sz="3200" i="1">
                <a:latin typeface="Times New Roman" panose="02020603050405020304" pitchFamily="18" charset="0"/>
              </a:rPr>
              <a:t>i</a:t>
            </a:r>
            <a:r>
              <a:rPr lang="en-US" altLang="zh-CN" sz="3200">
                <a:latin typeface="Times New Roman" panose="02020603050405020304" pitchFamily="18" charset="0"/>
              </a:rPr>
              <a:t> + 1]← </a:t>
            </a:r>
            <a:r>
              <a:rPr lang="en-US" altLang="zh-CN" sz="3200" i="1">
                <a:latin typeface="Times New Roman" panose="02020603050405020304" pitchFamily="18" charset="0"/>
              </a:rPr>
              <a:t>A</a:t>
            </a:r>
            <a:r>
              <a:rPr lang="en-US" altLang="zh-CN" sz="3200">
                <a:latin typeface="Times New Roman" panose="02020603050405020304" pitchFamily="18" charset="0"/>
              </a:rPr>
              <a:t>[</a:t>
            </a:r>
            <a:r>
              <a:rPr lang="en-US" altLang="zh-CN" sz="3200" i="1">
                <a:latin typeface="Times New Roman" panose="02020603050405020304" pitchFamily="18" charset="0"/>
              </a:rPr>
              <a:t>i</a:t>
            </a:r>
            <a:r>
              <a:rPr lang="en-US" altLang="zh-CN" sz="3200">
                <a:latin typeface="Times New Roman" panose="02020603050405020304" pitchFamily="18" charset="0"/>
              </a:rPr>
              <a:t>]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7                 </a:t>
            </a:r>
            <a:r>
              <a:rPr lang="en-US" altLang="zh-CN" sz="3200" i="1">
                <a:latin typeface="Times New Roman" panose="02020603050405020304" pitchFamily="18" charset="0"/>
              </a:rPr>
              <a:t>i </a:t>
            </a:r>
            <a:r>
              <a:rPr lang="en-US" altLang="zh-CN" sz="3200">
                <a:latin typeface="Times New Roman" panose="02020603050405020304" pitchFamily="18" charset="0"/>
              </a:rPr>
              <a:t>← </a:t>
            </a:r>
            <a:r>
              <a:rPr lang="en-US" altLang="zh-CN" sz="3200" i="1">
                <a:latin typeface="Times New Roman" panose="02020603050405020304" pitchFamily="18" charset="0"/>
              </a:rPr>
              <a:t>i</a:t>
            </a:r>
            <a:r>
              <a:rPr lang="en-US" altLang="zh-CN" sz="3200">
                <a:latin typeface="Times New Roman" panose="02020603050405020304" pitchFamily="18" charset="0"/>
              </a:rPr>
              <a:t> - 1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8          </a:t>
            </a:r>
            <a:r>
              <a:rPr lang="en-US" altLang="zh-CN" sz="3200" i="1">
                <a:latin typeface="Times New Roman" panose="02020603050405020304" pitchFamily="18" charset="0"/>
              </a:rPr>
              <a:t>A</a:t>
            </a:r>
            <a:r>
              <a:rPr lang="en-US" altLang="zh-CN" sz="3200">
                <a:latin typeface="Times New Roman" panose="02020603050405020304" pitchFamily="18" charset="0"/>
              </a:rPr>
              <a:t>[</a:t>
            </a:r>
            <a:r>
              <a:rPr lang="en-US" altLang="zh-CN" sz="3200" i="1">
                <a:latin typeface="Times New Roman" panose="02020603050405020304" pitchFamily="18" charset="0"/>
              </a:rPr>
              <a:t>i</a:t>
            </a:r>
            <a:r>
              <a:rPr lang="en-US" altLang="zh-CN" sz="3200">
                <a:latin typeface="Times New Roman" panose="02020603050405020304" pitchFamily="18" charset="0"/>
              </a:rPr>
              <a:t> + 1] ← key</a:t>
            </a:r>
            <a:r>
              <a:rPr lang="en-US" altLang="zh-CN" sz="3200" b="1">
                <a:latin typeface="Times New Roman" panose="02020603050405020304" pitchFamily="18" charset="0"/>
              </a:rPr>
              <a:t> </a:t>
            </a:r>
            <a:endParaRPr lang="en-US" altLang="zh-CN" sz="3200" b="1">
              <a:latin typeface="Times New Roman" panose="02020603050405020304" pitchFamily="18" charset="0"/>
            </a:endParaRPr>
          </a:p>
        </p:txBody>
      </p:sp>
    </p:spTree>
  </p:cSld>
  <p:clrMapOvr>
    <a:masterClrMapping/>
  </p:clrMapOvr>
  <p:transition spd="slow">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p:txBody>
          <a:bodyPr/>
          <a:lstStyle/>
          <a:p>
            <a:r>
              <a:rPr lang="zh-CN" altLang="en-US" dirty="0"/>
              <a:t>正确性分析</a:t>
            </a:r>
            <a:endParaRPr lang="zh-CN" altLang="en-US" dirty="0"/>
          </a:p>
        </p:txBody>
      </p:sp>
      <p:sp>
        <p:nvSpPr>
          <p:cNvPr id="318467" name="Rectangle 3"/>
          <p:cNvSpPr>
            <a:spLocks noGrp="1" noChangeArrowheads="1"/>
          </p:cNvSpPr>
          <p:nvPr>
            <p:ph idx="1"/>
          </p:nvPr>
        </p:nvSpPr>
        <p:spPr/>
        <p:txBody>
          <a:bodyPr/>
          <a:lstStyle/>
          <a:p>
            <a:r>
              <a:rPr lang="zh-CN" altLang="en-US"/>
              <a:t>利用归纳法证明</a:t>
            </a:r>
            <a:endParaRPr lang="zh-CN" altLang="en-US"/>
          </a:p>
          <a:p>
            <a:pPr lvl="1"/>
            <a:r>
              <a:rPr lang="zh-CN" altLang="en-US"/>
              <a:t>初始步</a:t>
            </a:r>
            <a:endParaRPr lang="zh-CN" altLang="en-US"/>
          </a:p>
          <a:p>
            <a:pPr lvl="1"/>
            <a:r>
              <a:rPr lang="zh-CN" altLang="en-US"/>
              <a:t>归纳步</a:t>
            </a:r>
            <a:endParaRPr lang="zh-CN" altLang="en-US"/>
          </a:p>
          <a:p>
            <a:pPr lvl="1"/>
            <a:r>
              <a:rPr lang="zh-CN" altLang="en-US"/>
              <a:t>终止步</a:t>
            </a:r>
            <a:endParaRPr lang="zh-CN" altLang="en-US"/>
          </a:p>
        </p:txBody>
      </p:sp>
      <p:sp>
        <p:nvSpPr>
          <p:cNvPr id="318468" name="Rectangle 4"/>
          <p:cNvSpPr>
            <a:spLocks noChangeArrowheads="1"/>
          </p:cNvSpPr>
          <p:nvPr/>
        </p:nvSpPr>
        <p:spPr bwMode="auto">
          <a:xfrm>
            <a:off x="3708400" y="692150"/>
            <a:ext cx="5256213" cy="54530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3200">
                <a:latin typeface="Times New Roman" panose="02020603050405020304" pitchFamily="18" charset="0"/>
              </a:rPr>
              <a:t>InsertSort(</a:t>
            </a:r>
            <a:r>
              <a:rPr lang="en-US" altLang="zh-CN" sz="3200" i="1">
                <a:latin typeface="Times New Roman" panose="02020603050405020304" pitchFamily="18" charset="0"/>
              </a:rPr>
              <a:t>A</a:t>
            </a:r>
            <a:r>
              <a:rPr lang="en-US" altLang="zh-CN" sz="3200">
                <a:latin typeface="Times New Roman" panose="02020603050405020304" pitchFamily="18" charset="0"/>
              </a:rPr>
              <a:t>)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1  </a:t>
            </a:r>
            <a:r>
              <a:rPr lang="en-US" altLang="zh-CN" sz="3200" b="1">
                <a:latin typeface="Times New Roman" panose="02020603050405020304" pitchFamily="18" charset="0"/>
              </a:rPr>
              <a:t>for </a:t>
            </a:r>
            <a:r>
              <a:rPr lang="en-US" altLang="zh-CN" sz="3200">
                <a:latin typeface="Times New Roman" panose="02020603050405020304" pitchFamily="18" charset="0"/>
              </a:rPr>
              <a:t> </a:t>
            </a:r>
            <a:r>
              <a:rPr lang="en-US" altLang="zh-CN" sz="3200" i="1">
                <a:latin typeface="Times New Roman" panose="02020603050405020304" pitchFamily="18" charset="0"/>
              </a:rPr>
              <a:t>j</a:t>
            </a:r>
            <a:r>
              <a:rPr lang="en-US" altLang="zh-CN" sz="3200">
                <a:latin typeface="Times New Roman" panose="02020603050405020304" pitchFamily="18" charset="0"/>
              </a:rPr>
              <a:t>←2 </a:t>
            </a:r>
            <a:r>
              <a:rPr lang="en-US" altLang="zh-CN" sz="3200" b="1">
                <a:latin typeface="Times New Roman" panose="02020603050405020304" pitchFamily="18" charset="0"/>
              </a:rPr>
              <a:t>to</a:t>
            </a:r>
            <a:r>
              <a:rPr lang="en-US" altLang="zh-CN" sz="3200">
                <a:latin typeface="Times New Roman" panose="02020603050405020304" pitchFamily="18" charset="0"/>
              </a:rPr>
              <a:t> </a:t>
            </a:r>
            <a:r>
              <a:rPr lang="en-US" altLang="zh-CN" sz="3200" i="1">
                <a:latin typeface="Times New Roman" panose="02020603050405020304" pitchFamily="18" charset="0"/>
              </a:rPr>
              <a:t>length</a:t>
            </a:r>
            <a:r>
              <a:rPr lang="en-US" altLang="zh-CN" sz="3200">
                <a:latin typeface="Times New Roman" panose="02020603050405020304" pitchFamily="18" charset="0"/>
              </a:rPr>
              <a:t>[</a:t>
            </a:r>
            <a:r>
              <a:rPr lang="en-US" altLang="zh-CN" sz="3200" i="1">
                <a:latin typeface="Times New Roman" panose="02020603050405020304" pitchFamily="18" charset="0"/>
              </a:rPr>
              <a:t>A</a:t>
            </a:r>
            <a:r>
              <a:rPr lang="en-US" altLang="zh-CN" sz="3200">
                <a:latin typeface="Times New Roman" panose="02020603050405020304" pitchFamily="18" charset="0"/>
              </a:rPr>
              <a:t>]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2      </a:t>
            </a:r>
            <a:r>
              <a:rPr lang="en-US" altLang="zh-CN" sz="3200" b="1">
                <a:latin typeface="Times New Roman" panose="02020603050405020304" pitchFamily="18" charset="0"/>
              </a:rPr>
              <a:t>do</a:t>
            </a:r>
            <a:r>
              <a:rPr lang="en-US" altLang="zh-CN" sz="3200">
                <a:latin typeface="Times New Roman" panose="02020603050405020304" pitchFamily="18" charset="0"/>
              </a:rPr>
              <a:t> </a:t>
            </a:r>
            <a:r>
              <a:rPr lang="en-US" altLang="zh-CN" sz="3200" i="1">
                <a:latin typeface="Times New Roman" panose="02020603050405020304" pitchFamily="18" charset="0"/>
              </a:rPr>
              <a:t>key</a:t>
            </a:r>
            <a:r>
              <a:rPr lang="en-US" altLang="zh-CN" sz="3200">
                <a:latin typeface="Times New Roman" panose="02020603050405020304" pitchFamily="18" charset="0"/>
              </a:rPr>
              <a:t> ←</a:t>
            </a:r>
            <a:r>
              <a:rPr lang="en-US" altLang="zh-CN" sz="3200" i="1">
                <a:latin typeface="Times New Roman" panose="02020603050405020304" pitchFamily="18" charset="0"/>
              </a:rPr>
              <a:t> A</a:t>
            </a:r>
            <a:r>
              <a:rPr lang="en-US" altLang="zh-CN" sz="3200">
                <a:latin typeface="Times New Roman" panose="02020603050405020304" pitchFamily="18" charset="0"/>
              </a:rPr>
              <a:t>[</a:t>
            </a:r>
            <a:r>
              <a:rPr lang="en-US" altLang="zh-CN" sz="3200" i="1">
                <a:latin typeface="Times New Roman" panose="02020603050405020304" pitchFamily="18" charset="0"/>
              </a:rPr>
              <a:t>j</a:t>
            </a:r>
            <a:r>
              <a:rPr lang="en-US" altLang="zh-CN" sz="3200">
                <a:latin typeface="Times New Roman" panose="02020603050405020304" pitchFamily="18" charset="0"/>
              </a:rPr>
              <a:t>]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3 //Insert </a:t>
            </a:r>
            <a:r>
              <a:rPr lang="en-US" altLang="zh-CN" sz="3200" i="1">
                <a:latin typeface="Times New Roman" panose="02020603050405020304" pitchFamily="18" charset="0"/>
              </a:rPr>
              <a:t>A</a:t>
            </a:r>
            <a:r>
              <a:rPr lang="en-US" altLang="zh-CN" sz="3200">
                <a:latin typeface="Times New Roman" panose="02020603050405020304" pitchFamily="18" charset="0"/>
              </a:rPr>
              <a:t>[</a:t>
            </a:r>
            <a:r>
              <a:rPr lang="en-US" altLang="zh-CN" sz="3200" i="1">
                <a:latin typeface="Times New Roman" panose="02020603050405020304" pitchFamily="18" charset="0"/>
              </a:rPr>
              <a:t>j</a:t>
            </a:r>
            <a:r>
              <a:rPr lang="en-US" altLang="zh-CN" sz="3200">
                <a:latin typeface="Times New Roman" panose="02020603050405020304" pitchFamily="18" charset="0"/>
              </a:rPr>
              <a:t>] into the sorted  </a:t>
            </a:r>
            <a:r>
              <a:rPr lang="en-US" altLang="zh-CN" sz="3200" i="1">
                <a:latin typeface="Times New Roman" panose="02020603050405020304" pitchFamily="18" charset="0"/>
              </a:rPr>
              <a:t>A</a:t>
            </a:r>
            <a:r>
              <a:rPr lang="en-US" altLang="zh-CN" sz="3200">
                <a:latin typeface="Times New Roman" panose="02020603050405020304" pitchFamily="18" charset="0"/>
              </a:rPr>
              <a:t>[1.. </a:t>
            </a:r>
            <a:r>
              <a:rPr lang="en-US" altLang="zh-CN" sz="3200" i="1">
                <a:latin typeface="Times New Roman" panose="02020603050405020304" pitchFamily="18" charset="0"/>
              </a:rPr>
              <a:t>j</a:t>
            </a:r>
            <a:r>
              <a:rPr lang="en-US" altLang="zh-CN" sz="3200">
                <a:latin typeface="Times New Roman" panose="02020603050405020304" pitchFamily="18" charset="0"/>
              </a:rPr>
              <a:t>-1]</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4           </a:t>
            </a:r>
            <a:r>
              <a:rPr lang="en-US" altLang="zh-CN" sz="3200" i="1">
                <a:latin typeface="Times New Roman" panose="02020603050405020304" pitchFamily="18" charset="0"/>
              </a:rPr>
              <a:t>i</a:t>
            </a:r>
            <a:r>
              <a:rPr lang="en-US" altLang="zh-CN" sz="3200">
                <a:latin typeface="Times New Roman" panose="02020603050405020304" pitchFamily="18" charset="0"/>
              </a:rPr>
              <a:t>← </a:t>
            </a:r>
            <a:r>
              <a:rPr lang="en-US" altLang="zh-CN" sz="3200" i="1">
                <a:latin typeface="Times New Roman" panose="02020603050405020304" pitchFamily="18" charset="0"/>
              </a:rPr>
              <a:t>j</a:t>
            </a:r>
            <a:r>
              <a:rPr lang="en-US" altLang="zh-CN" sz="3200">
                <a:latin typeface="Times New Roman" panose="02020603050405020304" pitchFamily="18" charset="0"/>
              </a:rPr>
              <a:t> - 1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5   </a:t>
            </a:r>
            <a:r>
              <a:rPr lang="en-US" altLang="zh-CN" sz="3200" b="1">
                <a:latin typeface="Times New Roman" panose="02020603050405020304" pitchFamily="18" charset="0"/>
              </a:rPr>
              <a:t>       while</a:t>
            </a:r>
            <a:r>
              <a:rPr lang="en-US" altLang="zh-CN" sz="3200">
                <a:latin typeface="Times New Roman" panose="02020603050405020304" pitchFamily="18" charset="0"/>
              </a:rPr>
              <a:t> </a:t>
            </a:r>
            <a:r>
              <a:rPr lang="en-US" altLang="zh-CN" sz="3200" i="1">
                <a:latin typeface="Times New Roman" panose="02020603050405020304" pitchFamily="18" charset="0"/>
              </a:rPr>
              <a:t>i &gt; </a:t>
            </a:r>
            <a:r>
              <a:rPr lang="en-US" altLang="zh-CN" sz="3200">
                <a:latin typeface="Times New Roman" panose="02020603050405020304" pitchFamily="18" charset="0"/>
              </a:rPr>
              <a:t>0 and</a:t>
            </a:r>
            <a:r>
              <a:rPr lang="en-US" altLang="zh-CN" sz="3200" i="1">
                <a:latin typeface="Times New Roman" panose="02020603050405020304" pitchFamily="18" charset="0"/>
              </a:rPr>
              <a:t> A</a:t>
            </a:r>
            <a:r>
              <a:rPr lang="en-US" altLang="zh-CN" sz="3200">
                <a:latin typeface="Times New Roman" panose="02020603050405020304" pitchFamily="18" charset="0"/>
              </a:rPr>
              <a:t>[</a:t>
            </a:r>
            <a:r>
              <a:rPr lang="en-US" altLang="zh-CN" sz="3200" i="1">
                <a:latin typeface="Times New Roman" panose="02020603050405020304" pitchFamily="18" charset="0"/>
              </a:rPr>
              <a:t>i</a:t>
            </a:r>
            <a:r>
              <a:rPr lang="en-US" altLang="zh-CN" sz="3200">
                <a:latin typeface="Times New Roman" panose="02020603050405020304" pitchFamily="18" charset="0"/>
              </a:rPr>
              <a:t>]</a:t>
            </a:r>
            <a:r>
              <a:rPr lang="en-US" altLang="zh-CN" sz="3200" i="1">
                <a:latin typeface="Times New Roman" panose="02020603050405020304" pitchFamily="18" charset="0"/>
              </a:rPr>
              <a:t> </a:t>
            </a:r>
            <a:r>
              <a:rPr lang="en-US" altLang="zh-CN" sz="3200">
                <a:latin typeface="Times New Roman" panose="02020603050405020304" pitchFamily="18" charset="0"/>
              </a:rPr>
              <a:t>&gt;</a:t>
            </a:r>
            <a:r>
              <a:rPr lang="en-US" altLang="zh-CN" sz="3200" i="1">
                <a:latin typeface="Times New Roman" panose="02020603050405020304" pitchFamily="18" charset="0"/>
              </a:rPr>
              <a:t> key</a:t>
            </a:r>
            <a:r>
              <a:rPr lang="en-US" altLang="zh-CN" sz="3200">
                <a:latin typeface="Times New Roman" panose="02020603050405020304" pitchFamily="18" charset="0"/>
              </a:rPr>
              <a:t> </a:t>
            </a:r>
            <a:r>
              <a:rPr lang="en-US" altLang="zh-CN" sz="3200" b="1">
                <a:latin typeface="Times New Roman" panose="02020603050405020304" pitchFamily="18" charset="0"/>
              </a:rPr>
              <a:t>do</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6                 </a:t>
            </a:r>
            <a:r>
              <a:rPr lang="en-US" altLang="zh-CN" sz="3200" i="1">
                <a:latin typeface="Times New Roman" panose="02020603050405020304" pitchFamily="18" charset="0"/>
              </a:rPr>
              <a:t>A</a:t>
            </a:r>
            <a:r>
              <a:rPr lang="en-US" altLang="zh-CN" sz="3200">
                <a:latin typeface="Times New Roman" panose="02020603050405020304" pitchFamily="18" charset="0"/>
              </a:rPr>
              <a:t>[</a:t>
            </a:r>
            <a:r>
              <a:rPr lang="en-US" altLang="zh-CN" sz="3200" i="1">
                <a:latin typeface="Times New Roman" panose="02020603050405020304" pitchFamily="18" charset="0"/>
              </a:rPr>
              <a:t>i</a:t>
            </a:r>
            <a:r>
              <a:rPr lang="en-US" altLang="zh-CN" sz="3200">
                <a:latin typeface="Times New Roman" panose="02020603050405020304" pitchFamily="18" charset="0"/>
              </a:rPr>
              <a:t> + 1]← </a:t>
            </a:r>
            <a:r>
              <a:rPr lang="en-US" altLang="zh-CN" sz="3200" i="1">
                <a:latin typeface="Times New Roman" panose="02020603050405020304" pitchFamily="18" charset="0"/>
              </a:rPr>
              <a:t>A</a:t>
            </a:r>
            <a:r>
              <a:rPr lang="en-US" altLang="zh-CN" sz="3200">
                <a:latin typeface="Times New Roman" panose="02020603050405020304" pitchFamily="18" charset="0"/>
              </a:rPr>
              <a:t>[</a:t>
            </a:r>
            <a:r>
              <a:rPr lang="en-US" altLang="zh-CN" sz="3200" i="1">
                <a:latin typeface="Times New Roman" panose="02020603050405020304" pitchFamily="18" charset="0"/>
              </a:rPr>
              <a:t>i</a:t>
            </a:r>
            <a:r>
              <a:rPr lang="en-US" altLang="zh-CN" sz="3200">
                <a:latin typeface="Times New Roman" panose="02020603050405020304" pitchFamily="18" charset="0"/>
              </a:rPr>
              <a:t>]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7                 </a:t>
            </a:r>
            <a:r>
              <a:rPr lang="en-US" altLang="zh-CN" sz="3200" i="1">
                <a:latin typeface="Times New Roman" panose="02020603050405020304" pitchFamily="18" charset="0"/>
              </a:rPr>
              <a:t>i </a:t>
            </a:r>
            <a:r>
              <a:rPr lang="en-US" altLang="zh-CN" sz="3200">
                <a:latin typeface="Times New Roman" panose="02020603050405020304" pitchFamily="18" charset="0"/>
              </a:rPr>
              <a:t>← </a:t>
            </a:r>
            <a:r>
              <a:rPr lang="en-US" altLang="zh-CN" sz="3200" i="1">
                <a:latin typeface="Times New Roman" panose="02020603050405020304" pitchFamily="18" charset="0"/>
              </a:rPr>
              <a:t>i</a:t>
            </a:r>
            <a:r>
              <a:rPr lang="en-US" altLang="zh-CN" sz="3200">
                <a:latin typeface="Times New Roman" panose="02020603050405020304" pitchFamily="18" charset="0"/>
              </a:rPr>
              <a:t> - 1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8          </a:t>
            </a:r>
            <a:r>
              <a:rPr lang="en-US" altLang="zh-CN" sz="3200" i="1">
                <a:latin typeface="Times New Roman" panose="02020603050405020304" pitchFamily="18" charset="0"/>
              </a:rPr>
              <a:t>A</a:t>
            </a:r>
            <a:r>
              <a:rPr lang="en-US" altLang="zh-CN" sz="3200">
                <a:latin typeface="Times New Roman" panose="02020603050405020304" pitchFamily="18" charset="0"/>
              </a:rPr>
              <a:t>[</a:t>
            </a:r>
            <a:r>
              <a:rPr lang="en-US" altLang="zh-CN" sz="3200" i="1">
                <a:latin typeface="Times New Roman" panose="02020603050405020304" pitchFamily="18" charset="0"/>
              </a:rPr>
              <a:t>i</a:t>
            </a:r>
            <a:r>
              <a:rPr lang="en-US" altLang="zh-CN" sz="3200">
                <a:latin typeface="Times New Roman" panose="02020603050405020304" pitchFamily="18" charset="0"/>
              </a:rPr>
              <a:t> + 1] ← key</a:t>
            </a:r>
            <a:r>
              <a:rPr lang="en-US" altLang="zh-CN" sz="3200" b="1">
                <a:latin typeface="Times New Roman" panose="02020603050405020304" pitchFamily="18" charset="0"/>
              </a:rPr>
              <a:t> </a:t>
            </a:r>
            <a:endParaRPr lang="en-US" altLang="zh-CN" sz="3200" b="1">
              <a:latin typeface="Times New Roman" panose="02020603050405020304" pitchFamily="18" charset="0"/>
            </a:endParaRPr>
          </a:p>
        </p:txBody>
      </p:sp>
    </p:spTree>
  </p:cSld>
  <p:clrMapOvr>
    <a:masterClrMapping/>
  </p:clrMapOvr>
  <p:transition spd="slow">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508" name="Rectangle 20"/>
          <p:cNvSpPr>
            <a:spLocks noChangeArrowheads="1"/>
          </p:cNvSpPr>
          <p:nvPr/>
        </p:nvSpPr>
        <p:spPr bwMode="auto">
          <a:xfrm>
            <a:off x="468313" y="1484313"/>
            <a:ext cx="6480175" cy="44783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3200">
                <a:latin typeface="Times New Roman" panose="02020603050405020304" pitchFamily="18" charset="0"/>
              </a:rPr>
              <a:t>InsertSort(</a:t>
            </a:r>
            <a:r>
              <a:rPr lang="en-US" altLang="zh-CN" sz="3200" i="1">
                <a:latin typeface="Times New Roman" panose="02020603050405020304" pitchFamily="18" charset="0"/>
              </a:rPr>
              <a:t>A</a:t>
            </a:r>
            <a:r>
              <a:rPr lang="en-US" altLang="zh-CN" sz="3200">
                <a:latin typeface="Times New Roman" panose="02020603050405020304" pitchFamily="18" charset="0"/>
              </a:rPr>
              <a:t>)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1  </a:t>
            </a:r>
            <a:r>
              <a:rPr lang="en-US" altLang="zh-CN" sz="3200" b="1">
                <a:latin typeface="Times New Roman" panose="02020603050405020304" pitchFamily="18" charset="0"/>
              </a:rPr>
              <a:t>for </a:t>
            </a:r>
            <a:r>
              <a:rPr lang="en-US" altLang="zh-CN" sz="3200">
                <a:latin typeface="Times New Roman" panose="02020603050405020304" pitchFamily="18" charset="0"/>
              </a:rPr>
              <a:t> </a:t>
            </a:r>
            <a:r>
              <a:rPr lang="en-US" altLang="zh-CN" sz="3200" i="1">
                <a:latin typeface="Times New Roman" panose="02020603050405020304" pitchFamily="18" charset="0"/>
              </a:rPr>
              <a:t>j</a:t>
            </a:r>
            <a:r>
              <a:rPr lang="en-US" altLang="zh-CN" sz="3200">
                <a:latin typeface="Times New Roman" panose="02020603050405020304" pitchFamily="18" charset="0"/>
              </a:rPr>
              <a:t>←2 </a:t>
            </a:r>
            <a:r>
              <a:rPr lang="en-US" altLang="zh-CN" sz="3200" b="1">
                <a:latin typeface="Times New Roman" panose="02020603050405020304" pitchFamily="18" charset="0"/>
              </a:rPr>
              <a:t>to</a:t>
            </a:r>
            <a:r>
              <a:rPr lang="en-US" altLang="zh-CN" sz="3200">
                <a:latin typeface="Times New Roman" panose="02020603050405020304" pitchFamily="18" charset="0"/>
              </a:rPr>
              <a:t> </a:t>
            </a:r>
            <a:r>
              <a:rPr lang="en-US" altLang="zh-CN" sz="3200" i="1">
                <a:latin typeface="Times New Roman" panose="02020603050405020304" pitchFamily="18" charset="0"/>
              </a:rPr>
              <a:t>length</a:t>
            </a:r>
            <a:r>
              <a:rPr lang="en-US" altLang="zh-CN" sz="3200">
                <a:latin typeface="Times New Roman" panose="02020603050405020304" pitchFamily="18" charset="0"/>
              </a:rPr>
              <a:t>[</a:t>
            </a:r>
            <a:r>
              <a:rPr lang="en-US" altLang="zh-CN" sz="3200" i="1">
                <a:latin typeface="Times New Roman" panose="02020603050405020304" pitchFamily="18" charset="0"/>
              </a:rPr>
              <a:t>A</a:t>
            </a:r>
            <a:r>
              <a:rPr lang="en-US" altLang="zh-CN" sz="3200">
                <a:latin typeface="Times New Roman" panose="02020603050405020304" pitchFamily="18" charset="0"/>
              </a:rPr>
              <a:t>]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2      </a:t>
            </a:r>
            <a:r>
              <a:rPr lang="en-US" altLang="zh-CN" sz="3200" b="1">
                <a:latin typeface="Times New Roman" panose="02020603050405020304" pitchFamily="18" charset="0"/>
              </a:rPr>
              <a:t>do</a:t>
            </a:r>
            <a:r>
              <a:rPr lang="en-US" altLang="zh-CN" sz="3200">
                <a:latin typeface="Times New Roman" panose="02020603050405020304" pitchFamily="18" charset="0"/>
              </a:rPr>
              <a:t> </a:t>
            </a:r>
            <a:r>
              <a:rPr lang="en-US" altLang="zh-CN" sz="3200" i="1">
                <a:latin typeface="Times New Roman" panose="02020603050405020304" pitchFamily="18" charset="0"/>
              </a:rPr>
              <a:t>key</a:t>
            </a:r>
            <a:r>
              <a:rPr lang="en-US" altLang="zh-CN" sz="3200">
                <a:latin typeface="Times New Roman" panose="02020603050405020304" pitchFamily="18" charset="0"/>
              </a:rPr>
              <a:t> ←</a:t>
            </a:r>
            <a:r>
              <a:rPr lang="en-US" altLang="zh-CN" sz="3200" i="1">
                <a:latin typeface="Times New Roman" panose="02020603050405020304" pitchFamily="18" charset="0"/>
              </a:rPr>
              <a:t> A</a:t>
            </a:r>
            <a:r>
              <a:rPr lang="en-US" altLang="zh-CN" sz="3200">
                <a:latin typeface="Times New Roman" panose="02020603050405020304" pitchFamily="18" charset="0"/>
              </a:rPr>
              <a:t>[</a:t>
            </a:r>
            <a:r>
              <a:rPr lang="en-US" altLang="zh-CN" sz="3200" i="1">
                <a:latin typeface="Times New Roman" panose="02020603050405020304" pitchFamily="18" charset="0"/>
              </a:rPr>
              <a:t>j</a:t>
            </a:r>
            <a:r>
              <a:rPr lang="en-US" altLang="zh-CN" sz="3200">
                <a:latin typeface="Times New Roman" panose="02020603050405020304" pitchFamily="18" charset="0"/>
              </a:rPr>
              <a:t>]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3 //Insert </a:t>
            </a:r>
            <a:r>
              <a:rPr lang="en-US" altLang="zh-CN" sz="3200" i="1">
                <a:latin typeface="Times New Roman" panose="02020603050405020304" pitchFamily="18" charset="0"/>
              </a:rPr>
              <a:t>A</a:t>
            </a:r>
            <a:r>
              <a:rPr lang="en-US" altLang="zh-CN" sz="3200">
                <a:latin typeface="Times New Roman" panose="02020603050405020304" pitchFamily="18" charset="0"/>
              </a:rPr>
              <a:t>[</a:t>
            </a:r>
            <a:r>
              <a:rPr lang="en-US" altLang="zh-CN" sz="3200" i="1">
                <a:latin typeface="Times New Roman" panose="02020603050405020304" pitchFamily="18" charset="0"/>
              </a:rPr>
              <a:t>j</a:t>
            </a:r>
            <a:r>
              <a:rPr lang="en-US" altLang="zh-CN" sz="3200">
                <a:latin typeface="Times New Roman" panose="02020603050405020304" pitchFamily="18" charset="0"/>
              </a:rPr>
              <a:t>] into the sorted  </a:t>
            </a:r>
            <a:r>
              <a:rPr lang="en-US" altLang="zh-CN" sz="3200" i="1">
                <a:latin typeface="Times New Roman" panose="02020603050405020304" pitchFamily="18" charset="0"/>
              </a:rPr>
              <a:t>A</a:t>
            </a:r>
            <a:r>
              <a:rPr lang="en-US" altLang="zh-CN" sz="3200">
                <a:latin typeface="Times New Roman" panose="02020603050405020304" pitchFamily="18" charset="0"/>
              </a:rPr>
              <a:t>[1.. </a:t>
            </a:r>
            <a:r>
              <a:rPr lang="en-US" altLang="zh-CN" sz="3200" i="1">
                <a:latin typeface="Times New Roman" panose="02020603050405020304" pitchFamily="18" charset="0"/>
              </a:rPr>
              <a:t>j</a:t>
            </a:r>
            <a:r>
              <a:rPr lang="en-US" altLang="zh-CN" sz="3200">
                <a:latin typeface="Times New Roman" panose="02020603050405020304" pitchFamily="18" charset="0"/>
              </a:rPr>
              <a:t>-1]</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4           </a:t>
            </a:r>
            <a:r>
              <a:rPr lang="en-US" altLang="zh-CN" sz="3200" i="1">
                <a:latin typeface="Times New Roman" panose="02020603050405020304" pitchFamily="18" charset="0"/>
              </a:rPr>
              <a:t>i</a:t>
            </a:r>
            <a:r>
              <a:rPr lang="en-US" altLang="zh-CN" sz="3200">
                <a:latin typeface="Times New Roman" panose="02020603050405020304" pitchFamily="18" charset="0"/>
              </a:rPr>
              <a:t>← </a:t>
            </a:r>
            <a:r>
              <a:rPr lang="en-US" altLang="zh-CN" sz="3200" i="1">
                <a:latin typeface="Times New Roman" panose="02020603050405020304" pitchFamily="18" charset="0"/>
              </a:rPr>
              <a:t>j</a:t>
            </a:r>
            <a:r>
              <a:rPr lang="en-US" altLang="zh-CN" sz="3200">
                <a:latin typeface="Times New Roman" panose="02020603050405020304" pitchFamily="18" charset="0"/>
              </a:rPr>
              <a:t> - 1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5   </a:t>
            </a:r>
            <a:r>
              <a:rPr lang="en-US" altLang="zh-CN" sz="3200" b="1">
                <a:latin typeface="Times New Roman" panose="02020603050405020304" pitchFamily="18" charset="0"/>
              </a:rPr>
              <a:t>       while</a:t>
            </a:r>
            <a:r>
              <a:rPr lang="en-US" altLang="zh-CN" sz="3200">
                <a:latin typeface="Times New Roman" panose="02020603050405020304" pitchFamily="18" charset="0"/>
              </a:rPr>
              <a:t> </a:t>
            </a:r>
            <a:r>
              <a:rPr lang="en-US" altLang="zh-CN" sz="3200" i="1">
                <a:latin typeface="Times New Roman" panose="02020603050405020304" pitchFamily="18" charset="0"/>
              </a:rPr>
              <a:t>i &gt; </a:t>
            </a:r>
            <a:r>
              <a:rPr lang="en-US" altLang="zh-CN" sz="3200">
                <a:latin typeface="Times New Roman" panose="02020603050405020304" pitchFamily="18" charset="0"/>
              </a:rPr>
              <a:t>0 and</a:t>
            </a:r>
            <a:r>
              <a:rPr lang="en-US" altLang="zh-CN" sz="3200" i="1">
                <a:latin typeface="Times New Roman" panose="02020603050405020304" pitchFamily="18" charset="0"/>
              </a:rPr>
              <a:t> A</a:t>
            </a:r>
            <a:r>
              <a:rPr lang="en-US" altLang="zh-CN" sz="3200">
                <a:latin typeface="Times New Roman" panose="02020603050405020304" pitchFamily="18" charset="0"/>
              </a:rPr>
              <a:t>[</a:t>
            </a:r>
            <a:r>
              <a:rPr lang="en-US" altLang="zh-CN" sz="3200" i="1">
                <a:latin typeface="Times New Roman" panose="02020603050405020304" pitchFamily="18" charset="0"/>
              </a:rPr>
              <a:t>i</a:t>
            </a:r>
            <a:r>
              <a:rPr lang="en-US" altLang="zh-CN" sz="3200">
                <a:latin typeface="Times New Roman" panose="02020603050405020304" pitchFamily="18" charset="0"/>
              </a:rPr>
              <a:t>]</a:t>
            </a:r>
            <a:r>
              <a:rPr lang="en-US" altLang="zh-CN" sz="3200" i="1">
                <a:latin typeface="Times New Roman" panose="02020603050405020304" pitchFamily="18" charset="0"/>
              </a:rPr>
              <a:t> </a:t>
            </a:r>
            <a:r>
              <a:rPr lang="en-US" altLang="zh-CN" sz="3200">
                <a:latin typeface="Times New Roman" panose="02020603050405020304" pitchFamily="18" charset="0"/>
              </a:rPr>
              <a:t>&gt;</a:t>
            </a:r>
            <a:r>
              <a:rPr lang="en-US" altLang="zh-CN" sz="3200" i="1">
                <a:latin typeface="Times New Roman" panose="02020603050405020304" pitchFamily="18" charset="0"/>
              </a:rPr>
              <a:t> key</a:t>
            </a:r>
            <a:r>
              <a:rPr lang="en-US" altLang="zh-CN" sz="3200">
                <a:latin typeface="Times New Roman" panose="02020603050405020304" pitchFamily="18" charset="0"/>
              </a:rPr>
              <a:t> </a:t>
            </a:r>
            <a:r>
              <a:rPr lang="en-US" altLang="zh-CN" sz="3200" b="1">
                <a:latin typeface="Times New Roman" panose="02020603050405020304" pitchFamily="18" charset="0"/>
              </a:rPr>
              <a:t>do</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6                 </a:t>
            </a:r>
            <a:r>
              <a:rPr lang="en-US" altLang="zh-CN" sz="3200" i="1">
                <a:latin typeface="Times New Roman" panose="02020603050405020304" pitchFamily="18" charset="0"/>
              </a:rPr>
              <a:t>A</a:t>
            </a:r>
            <a:r>
              <a:rPr lang="en-US" altLang="zh-CN" sz="3200">
                <a:latin typeface="Times New Roman" panose="02020603050405020304" pitchFamily="18" charset="0"/>
              </a:rPr>
              <a:t>[</a:t>
            </a:r>
            <a:r>
              <a:rPr lang="en-US" altLang="zh-CN" sz="3200" i="1">
                <a:latin typeface="Times New Roman" panose="02020603050405020304" pitchFamily="18" charset="0"/>
              </a:rPr>
              <a:t>i</a:t>
            </a:r>
            <a:r>
              <a:rPr lang="en-US" altLang="zh-CN" sz="3200">
                <a:latin typeface="Times New Roman" panose="02020603050405020304" pitchFamily="18" charset="0"/>
              </a:rPr>
              <a:t> + 1]← </a:t>
            </a:r>
            <a:r>
              <a:rPr lang="en-US" altLang="zh-CN" sz="3200" i="1">
                <a:latin typeface="Times New Roman" panose="02020603050405020304" pitchFamily="18" charset="0"/>
              </a:rPr>
              <a:t>A</a:t>
            </a:r>
            <a:r>
              <a:rPr lang="en-US" altLang="zh-CN" sz="3200">
                <a:latin typeface="Times New Roman" panose="02020603050405020304" pitchFamily="18" charset="0"/>
              </a:rPr>
              <a:t>[</a:t>
            </a:r>
            <a:r>
              <a:rPr lang="en-US" altLang="zh-CN" sz="3200" i="1">
                <a:latin typeface="Times New Roman" panose="02020603050405020304" pitchFamily="18" charset="0"/>
              </a:rPr>
              <a:t>i</a:t>
            </a:r>
            <a:r>
              <a:rPr lang="en-US" altLang="zh-CN" sz="3200">
                <a:latin typeface="Times New Roman" panose="02020603050405020304" pitchFamily="18" charset="0"/>
              </a:rPr>
              <a:t>]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7                 </a:t>
            </a:r>
            <a:r>
              <a:rPr lang="en-US" altLang="zh-CN" sz="3200" i="1">
                <a:latin typeface="Times New Roman" panose="02020603050405020304" pitchFamily="18" charset="0"/>
              </a:rPr>
              <a:t>i </a:t>
            </a:r>
            <a:r>
              <a:rPr lang="en-US" altLang="zh-CN" sz="3200">
                <a:latin typeface="Times New Roman" panose="02020603050405020304" pitchFamily="18" charset="0"/>
              </a:rPr>
              <a:t>← </a:t>
            </a:r>
            <a:r>
              <a:rPr lang="en-US" altLang="zh-CN" sz="3200" i="1">
                <a:latin typeface="Times New Roman" panose="02020603050405020304" pitchFamily="18" charset="0"/>
              </a:rPr>
              <a:t>i</a:t>
            </a:r>
            <a:r>
              <a:rPr lang="en-US" altLang="zh-CN" sz="3200">
                <a:latin typeface="Times New Roman" panose="02020603050405020304" pitchFamily="18" charset="0"/>
              </a:rPr>
              <a:t> - 1 </a:t>
            </a:r>
            <a:endParaRPr lang="en-US" altLang="zh-CN" sz="3200">
              <a:latin typeface="Times New Roman" panose="02020603050405020304" pitchFamily="18" charset="0"/>
            </a:endParaRPr>
          </a:p>
          <a:p>
            <a:pPr eaLnBrk="0" hangingPunct="0"/>
            <a:r>
              <a:rPr lang="en-US" altLang="zh-CN" sz="3200">
                <a:latin typeface="Times New Roman" panose="02020603050405020304" pitchFamily="18" charset="0"/>
              </a:rPr>
              <a:t>8          </a:t>
            </a:r>
            <a:r>
              <a:rPr lang="en-US" altLang="zh-CN" sz="3200" i="1">
                <a:latin typeface="Times New Roman" panose="02020603050405020304" pitchFamily="18" charset="0"/>
              </a:rPr>
              <a:t>A</a:t>
            </a:r>
            <a:r>
              <a:rPr lang="en-US" altLang="zh-CN" sz="3200">
                <a:latin typeface="Times New Roman" panose="02020603050405020304" pitchFamily="18" charset="0"/>
              </a:rPr>
              <a:t>[</a:t>
            </a:r>
            <a:r>
              <a:rPr lang="en-US" altLang="zh-CN" sz="3200" i="1">
                <a:latin typeface="Times New Roman" panose="02020603050405020304" pitchFamily="18" charset="0"/>
              </a:rPr>
              <a:t>i</a:t>
            </a:r>
            <a:r>
              <a:rPr lang="en-US" altLang="zh-CN" sz="3200">
                <a:latin typeface="Times New Roman" panose="02020603050405020304" pitchFamily="18" charset="0"/>
              </a:rPr>
              <a:t> + 1] ← key</a:t>
            </a:r>
            <a:r>
              <a:rPr lang="en-US" altLang="zh-CN" sz="3200" b="1">
                <a:latin typeface="Times New Roman" panose="02020603050405020304" pitchFamily="18" charset="0"/>
              </a:rPr>
              <a:t> </a:t>
            </a:r>
            <a:endParaRPr lang="en-US" altLang="zh-CN" sz="3200" b="1">
              <a:latin typeface="Times New Roman" panose="02020603050405020304" pitchFamily="18" charset="0"/>
            </a:endParaRPr>
          </a:p>
        </p:txBody>
      </p:sp>
      <p:sp>
        <p:nvSpPr>
          <p:cNvPr id="319490" name="Rectangle 2"/>
          <p:cNvSpPr>
            <a:spLocks noGrp="1" noChangeArrowheads="1"/>
          </p:cNvSpPr>
          <p:nvPr>
            <p:ph type="title"/>
          </p:nvPr>
        </p:nvSpPr>
        <p:spPr/>
        <p:txBody>
          <a:bodyPr/>
          <a:lstStyle/>
          <a:p>
            <a:r>
              <a:rPr lang="zh-CN" altLang="en-US" dirty="0"/>
              <a:t>算法效率分析</a:t>
            </a:r>
            <a:endParaRPr lang="zh-CN" altLang="en-US" dirty="0"/>
          </a:p>
        </p:txBody>
      </p:sp>
      <p:graphicFrame>
        <p:nvGraphicFramePr>
          <p:cNvPr id="319491" name="Object 3"/>
          <p:cNvGraphicFramePr>
            <a:graphicFrameLocks noGrp="1" noChangeAspect="1"/>
          </p:cNvGraphicFramePr>
          <p:nvPr>
            <p:ph sz="half" idx="1"/>
          </p:nvPr>
        </p:nvGraphicFramePr>
        <p:xfrm>
          <a:off x="7032625" y="1773238"/>
          <a:ext cx="419100" cy="647700"/>
        </p:xfrm>
        <a:graphic>
          <a:graphicData uri="http://schemas.openxmlformats.org/presentationml/2006/ole">
            <mc:AlternateContent xmlns:mc="http://schemas.openxmlformats.org/markup-compatibility/2006">
              <mc:Choice xmlns:v="urn:schemas-microsoft-com:vml" Requires="v">
                <p:oleObj spid="_x0000_s319943" name="公式" r:id="rId1" imgW="139700" imgH="215900" progId="Equation.3">
                  <p:embed/>
                </p:oleObj>
              </mc:Choice>
              <mc:Fallback>
                <p:oleObj name="公式" r:id="rId1" imgW="139700"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2625" y="1773238"/>
                        <a:ext cx="4191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493" name="Object 5"/>
          <p:cNvGraphicFramePr>
            <a:graphicFrameLocks noGrp="1" noChangeAspect="1"/>
          </p:cNvGraphicFramePr>
          <p:nvPr>
            <p:ph sz="quarter" idx="2"/>
          </p:nvPr>
        </p:nvGraphicFramePr>
        <p:xfrm>
          <a:off x="8061325" y="1989138"/>
          <a:ext cx="327025" cy="360362"/>
        </p:xfrm>
        <a:graphic>
          <a:graphicData uri="http://schemas.openxmlformats.org/presentationml/2006/ole">
            <mc:AlternateContent xmlns:mc="http://schemas.openxmlformats.org/markup-compatibility/2006">
              <mc:Choice xmlns:v="urn:schemas-microsoft-com:vml" Requires="v">
                <p:oleObj spid="_x0000_s319944" name="公式" r:id="rId3" imgW="127000" imgH="139700" progId="Equation.3">
                  <p:embed/>
                </p:oleObj>
              </mc:Choice>
              <mc:Fallback>
                <p:oleObj name="公式" r:id="rId3" imgW="127000" imgH="1397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1325" y="1989138"/>
                        <a:ext cx="327025"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9492" name="Rectangle 4"/>
          <p:cNvSpPr>
            <a:spLocks noChangeArrowheads="1"/>
          </p:cNvSpPr>
          <p:nvPr/>
        </p:nvSpPr>
        <p:spPr bwMode="auto">
          <a:xfrm>
            <a:off x="6084888" y="1341438"/>
            <a:ext cx="2879725" cy="579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zh-CN" sz="3200">
                <a:latin typeface="Times New Roman" panose="02020603050405020304" pitchFamily="18" charset="0"/>
              </a:rPr>
              <a:t>Cost   times </a:t>
            </a:r>
            <a:endParaRPr lang="en-US" altLang="zh-CN" sz="3200">
              <a:latin typeface="Times New Roman" panose="02020603050405020304" pitchFamily="18" charset="0"/>
            </a:endParaRPr>
          </a:p>
        </p:txBody>
      </p:sp>
      <p:graphicFrame>
        <p:nvGraphicFramePr>
          <p:cNvPr id="319494" name="Object 6"/>
          <p:cNvGraphicFramePr>
            <a:graphicFrameLocks noChangeAspect="1"/>
          </p:cNvGraphicFramePr>
          <p:nvPr/>
        </p:nvGraphicFramePr>
        <p:xfrm>
          <a:off x="7019925" y="2276475"/>
          <a:ext cx="495300" cy="647700"/>
        </p:xfrm>
        <a:graphic>
          <a:graphicData uri="http://schemas.openxmlformats.org/presentationml/2006/ole">
            <mc:AlternateContent xmlns:mc="http://schemas.openxmlformats.org/markup-compatibility/2006">
              <mc:Choice xmlns:v="urn:schemas-microsoft-com:vml" Requires="v">
                <p:oleObj spid="_x0000_s319945" name="公式" r:id="rId5" imgW="165100" imgH="215900" progId="Equation.3">
                  <p:embed/>
                </p:oleObj>
              </mc:Choice>
              <mc:Fallback>
                <p:oleObj name="公式" r:id="rId5" imgW="165100" imgH="2159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9925" y="2276475"/>
                        <a:ext cx="4953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495" name="Object 7"/>
          <p:cNvGraphicFramePr>
            <a:graphicFrameLocks noChangeAspect="1"/>
          </p:cNvGraphicFramePr>
          <p:nvPr/>
        </p:nvGraphicFramePr>
        <p:xfrm>
          <a:off x="8027988" y="2420938"/>
          <a:ext cx="504825" cy="433387"/>
        </p:xfrm>
        <a:graphic>
          <a:graphicData uri="http://schemas.openxmlformats.org/presentationml/2006/ole">
            <mc:AlternateContent xmlns:mc="http://schemas.openxmlformats.org/markup-compatibility/2006">
              <mc:Choice xmlns:v="urn:schemas-microsoft-com:vml" Requires="v">
                <p:oleObj spid="_x0000_s319946" name="公式" r:id="rId7" imgW="304165" imgH="177800" progId="Equation.3">
                  <p:embed/>
                </p:oleObj>
              </mc:Choice>
              <mc:Fallback>
                <p:oleObj name="公式" r:id="rId7" imgW="304165" imgH="1778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27988" y="2420938"/>
                        <a:ext cx="504825"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496" name="Object 8"/>
          <p:cNvGraphicFramePr>
            <a:graphicFrameLocks noChangeAspect="1"/>
          </p:cNvGraphicFramePr>
          <p:nvPr/>
        </p:nvGraphicFramePr>
        <p:xfrm>
          <a:off x="7112000" y="2997200"/>
          <a:ext cx="381000" cy="374650"/>
        </p:xfrm>
        <a:graphic>
          <a:graphicData uri="http://schemas.openxmlformats.org/presentationml/2006/ole">
            <mc:AlternateContent xmlns:mc="http://schemas.openxmlformats.org/markup-compatibility/2006">
              <mc:Choice xmlns:v="urn:schemas-microsoft-com:vml" Requires="v">
                <p:oleObj spid="_x0000_s319947" name="公式" r:id="rId9" imgW="127000" imgH="177165" progId="Equation.3">
                  <p:embed/>
                </p:oleObj>
              </mc:Choice>
              <mc:Fallback>
                <p:oleObj name="公式" r:id="rId9" imgW="127000" imgH="177165"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12000" y="2997200"/>
                        <a:ext cx="381000"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497" name="Object 9"/>
          <p:cNvGraphicFramePr>
            <a:graphicFrameLocks noChangeAspect="1"/>
          </p:cNvGraphicFramePr>
          <p:nvPr/>
        </p:nvGraphicFramePr>
        <p:xfrm>
          <a:off x="7956550" y="2924175"/>
          <a:ext cx="647700" cy="438150"/>
        </p:xfrm>
        <a:graphic>
          <a:graphicData uri="http://schemas.openxmlformats.org/presentationml/2006/ole">
            <mc:AlternateContent xmlns:mc="http://schemas.openxmlformats.org/markup-compatibility/2006">
              <mc:Choice xmlns:v="urn:schemas-microsoft-com:vml" Requires="v">
                <p:oleObj spid="_x0000_s319948" name="公式" r:id="rId11" imgW="304165" imgH="177800" progId="Equation.3">
                  <p:embed/>
                </p:oleObj>
              </mc:Choice>
              <mc:Fallback>
                <p:oleObj name="公式" r:id="rId11" imgW="304165" imgH="1778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56550" y="2924175"/>
                        <a:ext cx="64770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498" name="Object 10"/>
          <p:cNvGraphicFramePr>
            <a:graphicFrameLocks noChangeAspect="1"/>
          </p:cNvGraphicFramePr>
          <p:nvPr/>
        </p:nvGraphicFramePr>
        <p:xfrm>
          <a:off x="7019925" y="3213100"/>
          <a:ext cx="495300" cy="647700"/>
        </p:xfrm>
        <a:graphic>
          <a:graphicData uri="http://schemas.openxmlformats.org/presentationml/2006/ole">
            <mc:AlternateContent xmlns:mc="http://schemas.openxmlformats.org/markup-compatibility/2006">
              <mc:Choice xmlns:v="urn:schemas-microsoft-com:vml" Requires="v">
                <p:oleObj spid="_x0000_s319949" name="公式" r:id="rId13" imgW="165100" imgH="215900" progId="Equation.3">
                  <p:embed/>
                </p:oleObj>
              </mc:Choice>
              <mc:Fallback>
                <p:oleObj name="公式" r:id="rId13" imgW="165100" imgH="215900"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19925" y="3213100"/>
                        <a:ext cx="4953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499" name="Object 11"/>
          <p:cNvGraphicFramePr>
            <a:graphicFrameLocks noChangeAspect="1"/>
          </p:cNvGraphicFramePr>
          <p:nvPr/>
        </p:nvGraphicFramePr>
        <p:xfrm>
          <a:off x="7956550" y="3357563"/>
          <a:ext cx="576263" cy="444500"/>
        </p:xfrm>
        <a:graphic>
          <a:graphicData uri="http://schemas.openxmlformats.org/presentationml/2006/ole">
            <mc:AlternateContent xmlns:mc="http://schemas.openxmlformats.org/markup-compatibility/2006">
              <mc:Choice xmlns:v="urn:schemas-microsoft-com:vml" Requires="v">
                <p:oleObj spid="_x0000_s319950" name="公式" r:id="rId15" imgW="304165" imgH="177800" progId="Equation.3">
                  <p:embed/>
                </p:oleObj>
              </mc:Choice>
              <mc:Fallback>
                <p:oleObj name="公式" r:id="rId15" imgW="304165" imgH="177800" progId="Equation.3">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956550" y="3357563"/>
                        <a:ext cx="57626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500" name="Object 12"/>
          <p:cNvGraphicFramePr>
            <a:graphicFrameLocks noChangeAspect="1"/>
          </p:cNvGraphicFramePr>
          <p:nvPr/>
        </p:nvGraphicFramePr>
        <p:xfrm>
          <a:off x="7019925" y="3770313"/>
          <a:ext cx="550863" cy="685800"/>
        </p:xfrm>
        <a:graphic>
          <a:graphicData uri="http://schemas.openxmlformats.org/presentationml/2006/ole">
            <mc:AlternateContent xmlns:mc="http://schemas.openxmlformats.org/markup-compatibility/2006">
              <mc:Choice xmlns:v="urn:schemas-microsoft-com:vml" Requires="v">
                <p:oleObj spid="_x0000_s319951" name="公式" r:id="rId17" imgW="152400" imgH="228600" progId="Equation.3">
                  <p:embed/>
                </p:oleObj>
              </mc:Choice>
              <mc:Fallback>
                <p:oleObj name="公式" r:id="rId17" imgW="152400" imgH="228600" progId="Equation.3">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19925" y="3770313"/>
                        <a:ext cx="550863"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501" name="Object 13"/>
          <p:cNvGraphicFramePr>
            <a:graphicFrameLocks noChangeAspect="1"/>
          </p:cNvGraphicFramePr>
          <p:nvPr/>
        </p:nvGraphicFramePr>
        <p:xfrm>
          <a:off x="7885113" y="3844925"/>
          <a:ext cx="935037" cy="633413"/>
        </p:xfrm>
        <a:graphic>
          <a:graphicData uri="http://schemas.openxmlformats.org/presentationml/2006/ole">
            <mc:AlternateContent xmlns:mc="http://schemas.openxmlformats.org/markup-compatibility/2006">
              <mc:Choice xmlns:v="urn:schemas-microsoft-com:vml" Requires="v">
                <p:oleObj spid="_x0000_s319952" name="公式" r:id="rId19" imgW="482600" imgH="304800" progId="Equation.3">
                  <p:embed/>
                </p:oleObj>
              </mc:Choice>
              <mc:Fallback>
                <p:oleObj name="公式" r:id="rId19" imgW="482600" imgH="304800" progId="Equation.3">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885113" y="3844925"/>
                        <a:ext cx="935037"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502" name="Object 14"/>
          <p:cNvGraphicFramePr>
            <a:graphicFrameLocks noChangeAspect="1"/>
          </p:cNvGraphicFramePr>
          <p:nvPr/>
        </p:nvGraphicFramePr>
        <p:xfrm>
          <a:off x="7054850" y="4273550"/>
          <a:ext cx="495300" cy="685800"/>
        </p:xfrm>
        <a:graphic>
          <a:graphicData uri="http://schemas.openxmlformats.org/presentationml/2006/ole">
            <mc:AlternateContent xmlns:mc="http://schemas.openxmlformats.org/markup-compatibility/2006">
              <mc:Choice xmlns:v="urn:schemas-microsoft-com:vml" Requires="v">
                <p:oleObj spid="_x0000_s319953" name="公式" r:id="rId21" imgW="165100" imgH="228600" progId="Equation.3">
                  <p:embed/>
                </p:oleObj>
              </mc:Choice>
              <mc:Fallback>
                <p:oleObj name="公式" r:id="rId21" imgW="165100" imgH="228600" progId="Equation.3">
                  <p:embed/>
                  <p:pic>
                    <p:nvPicPr>
                      <p:cNvPr id="0" name="Object 1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54850" y="4273550"/>
                        <a:ext cx="4953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503" name="Object 15"/>
          <p:cNvGraphicFramePr>
            <a:graphicFrameLocks noChangeAspect="1"/>
          </p:cNvGraphicFramePr>
          <p:nvPr/>
        </p:nvGraphicFramePr>
        <p:xfrm>
          <a:off x="7054850" y="4778375"/>
          <a:ext cx="495300" cy="685800"/>
        </p:xfrm>
        <a:graphic>
          <a:graphicData uri="http://schemas.openxmlformats.org/presentationml/2006/ole">
            <mc:AlternateContent xmlns:mc="http://schemas.openxmlformats.org/markup-compatibility/2006">
              <mc:Choice xmlns:v="urn:schemas-microsoft-com:vml" Requires="v">
                <p:oleObj spid="_x0000_s319954" name="公式" r:id="rId23" imgW="165100" imgH="228600" progId="Equation.3">
                  <p:embed/>
                </p:oleObj>
              </mc:Choice>
              <mc:Fallback>
                <p:oleObj name="公式" r:id="rId23" imgW="165100" imgH="228600" progId="Equation.3">
                  <p:embed/>
                  <p:pic>
                    <p:nvPicPr>
                      <p:cNvPr id="0" name="Object 1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054850" y="4778375"/>
                        <a:ext cx="4953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504" name="Object 16"/>
          <p:cNvGraphicFramePr>
            <a:graphicFrameLocks noChangeAspect="1"/>
          </p:cNvGraphicFramePr>
          <p:nvPr/>
        </p:nvGraphicFramePr>
        <p:xfrm>
          <a:off x="7073900" y="5281613"/>
          <a:ext cx="457200" cy="685800"/>
        </p:xfrm>
        <a:graphic>
          <a:graphicData uri="http://schemas.openxmlformats.org/presentationml/2006/ole">
            <mc:AlternateContent xmlns:mc="http://schemas.openxmlformats.org/markup-compatibility/2006">
              <mc:Choice xmlns:v="urn:schemas-microsoft-com:vml" Requires="v">
                <p:oleObj spid="_x0000_s319955" name="公式" r:id="rId25" imgW="152400" imgH="228600" progId="Equation.3">
                  <p:embed/>
                </p:oleObj>
              </mc:Choice>
              <mc:Fallback>
                <p:oleObj name="公式" r:id="rId25" imgW="152400" imgH="228600" progId="Equation.3">
                  <p:embed/>
                  <p:pic>
                    <p:nvPicPr>
                      <p:cNvPr id="0" name="Object 1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073900" y="5281613"/>
                        <a:ext cx="4572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505" name="Object 17"/>
          <p:cNvGraphicFramePr>
            <a:graphicFrameLocks noChangeAspect="1"/>
          </p:cNvGraphicFramePr>
          <p:nvPr/>
        </p:nvGraphicFramePr>
        <p:xfrm>
          <a:off x="7643813" y="4365625"/>
          <a:ext cx="1500187" cy="633413"/>
        </p:xfrm>
        <a:graphic>
          <a:graphicData uri="http://schemas.openxmlformats.org/presentationml/2006/ole">
            <mc:AlternateContent xmlns:mc="http://schemas.openxmlformats.org/markup-compatibility/2006">
              <mc:Choice xmlns:v="urn:schemas-microsoft-com:vml" Requires="v">
                <p:oleObj spid="_x0000_s319956" name="公式" r:id="rId27" imgW="774065" imgH="304800" progId="Equation.3">
                  <p:embed/>
                </p:oleObj>
              </mc:Choice>
              <mc:Fallback>
                <p:oleObj name="公式" r:id="rId27" imgW="774065" imgH="304800" progId="Equation.3">
                  <p:embed/>
                  <p:pic>
                    <p:nvPicPr>
                      <p:cNvPr id="0" name="Object 1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643813" y="4365625"/>
                        <a:ext cx="1500187"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506" name="Object 18"/>
          <p:cNvGraphicFramePr>
            <a:graphicFrameLocks noChangeAspect="1"/>
          </p:cNvGraphicFramePr>
          <p:nvPr/>
        </p:nvGraphicFramePr>
        <p:xfrm>
          <a:off x="7643813" y="4868863"/>
          <a:ext cx="1500187" cy="633412"/>
        </p:xfrm>
        <a:graphic>
          <a:graphicData uri="http://schemas.openxmlformats.org/presentationml/2006/ole">
            <mc:AlternateContent xmlns:mc="http://schemas.openxmlformats.org/markup-compatibility/2006">
              <mc:Choice xmlns:v="urn:schemas-microsoft-com:vml" Requires="v">
                <p:oleObj spid="_x0000_s319957" name="公式" r:id="rId29" imgW="774065" imgH="304800" progId="Equation.3">
                  <p:embed/>
                </p:oleObj>
              </mc:Choice>
              <mc:Fallback>
                <p:oleObj name="公式" r:id="rId29" imgW="774065" imgH="304800" progId="Equation.3">
                  <p:embed/>
                  <p:pic>
                    <p:nvPicPr>
                      <p:cNvPr id="0" name="Object 1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643813" y="4868863"/>
                        <a:ext cx="1500187"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507" name="Object 19"/>
          <p:cNvGraphicFramePr>
            <a:graphicFrameLocks noChangeAspect="1"/>
          </p:cNvGraphicFramePr>
          <p:nvPr/>
        </p:nvGraphicFramePr>
        <p:xfrm>
          <a:off x="7956550" y="5445125"/>
          <a:ext cx="647700" cy="438150"/>
        </p:xfrm>
        <a:graphic>
          <a:graphicData uri="http://schemas.openxmlformats.org/presentationml/2006/ole">
            <mc:AlternateContent xmlns:mc="http://schemas.openxmlformats.org/markup-compatibility/2006">
              <mc:Choice xmlns:v="urn:schemas-microsoft-com:vml" Requires="v">
                <p:oleObj spid="_x0000_s319958" name="公式" r:id="rId30" imgW="304165" imgH="177800" progId="Equation.3">
                  <p:embed/>
                </p:oleObj>
              </mc:Choice>
              <mc:Fallback>
                <p:oleObj name="公式" r:id="rId30" imgW="304165" imgH="177800" progId="Equation.3">
                  <p:embed/>
                  <p:pic>
                    <p:nvPicPr>
                      <p:cNvPr id="0" name="Object 1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956550" y="5445125"/>
                        <a:ext cx="64770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9512" name="Group 24"/>
          <p:cNvGrpSpPr/>
          <p:nvPr/>
        </p:nvGrpSpPr>
        <p:grpSpPr bwMode="auto">
          <a:xfrm>
            <a:off x="4643438" y="333375"/>
            <a:ext cx="3673475" cy="1079500"/>
            <a:chOff x="2653" y="391"/>
            <a:chExt cx="2314" cy="680"/>
          </a:xfrm>
        </p:grpSpPr>
        <p:sp>
          <p:nvSpPr>
            <p:cNvPr id="319509" name="Text Box 21"/>
            <p:cNvSpPr txBox="1">
              <a:spLocks noChangeArrowheads="1"/>
            </p:cNvSpPr>
            <p:nvPr/>
          </p:nvSpPr>
          <p:spPr bwMode="auto">
            <a:xfrm>
              <a:off x="2653" y="391"/>
              <a:ext cx="2314" cy="658"/>
            </a:xfrm>
            <a:prstGeom prst="rect">
              <a:avLst/>
            </a:prstGeom>
            <a:solidFill>
              <a:srgbClr val="FFFF00"/>
            </a:solidFill>
            <a:ln w="38100">
              <a:solidFill>
                <a:srgbClr val="F7240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solidFill>
                    <a:srgbClr val="3907F1"/>
                  </a:solidFill>
                  <a:latin typeface="宋体" panose="02010600030101010101" pitchFamily="2" charset="-122"/>
                </a:rPr>
                <a:t>约定：在算法伪代码中，执行一行代码仅花常数时间。第</a:t>
              </a:r>
              <a:r>
                <a:rPr lang="en-US" altLang="zh-CN" sz="2000" b="1">
                  <a:solidFill>
                    <a:srgbClr val="3907F1"/>
                  </a:solidFill>
                  <a:latin typeface="宋体" panose="02010600030101010101" pitchFamily="2" charset="-122"/>
                </a:rPr>
                <a:t>2</a:t>
              </a:r>
              <a:r>
                <a:rPr lang="zh-CN" altLang="en-US" sz="2000" b="1">
                  <a:solidFill>
                    <a:srgbClr val="3907F1"/>
                  </a:solidFill>
                  <a:latin typeface="宋体" panose="02010600030101010101" pitchFamily="2" charset="-122"/>
                </a:rPr>
                <a:t>行</a:t>
              </a:r>
              <a:r>
                <a:rPr lang="zh-CN" altLang="en-US" sz="2000" b="1" dirty="0">
                  <a:solidFill>
                    <a:srgbClr val="3907F1"/>
                  </a:solidFill>
                  <a:latin typeface="宋体" panose="02010600030101010101" pitchFamily="2" charset="-122"/>
                </a:rPr>
                <a:t>花费常数时间</a:t>
              </a:r>
              <a:endParaRPr lang="zh-CN" altLang="en-US" sz="2000" b="1" dirty="0">
                <a:solidFill>
                  <a:srgbClr val="3907F1"/>
                </a:solidFill>
                <a:latin typeface="宋体" panose="02010600030101010101" pitchFamily="2" charset="-122"/>
              </a:endParaRPr>
            </a:p>
          </p:txBody>
        </p:sp>
        <p:graphicFrame>
          <p:nvGraphicFramePr>
            <p:cNvPr id="319510" name="Object 22"/>
            <p:cNvGraphicFramePr>
              <a:graphicFrameLocks noChangeAspect="1"/>
            </p:cNvGraphicFramePr>
            <p:nvPr/>
          </p:nvGraphicFramePr>
          <p:xfrm>
            <a:off x="3726" y="753"/>
            <a:ext cx="243" cy="318"/>
          </p:xfrm>
          <a:graphic>
            <a:graphicData uri="http://schemas.openxmlformats.org/presentationml/2006/ole">
              <mc:AlternateContent xmlns:mc="http://schemas.openxmlformats.org/markup-compatibility/2006">
                <mc:Choice xmlns:v="urn:schemas-microsoft-com:vml" Requires="v">
                  <p:oleObj spid="_x0000_s319959" name="公式" r:id="rId32" imgW="165100" imgH="215900" progId="Equation.3">
                    <p:embed/>
                  </p:oleObj>
                </mc:Choice>
                <mc:Fallback>
                  <p:oleObj name="公式" r:id="rId32" imgW="165100" imgH="215900" progId="Equation.3">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26" y="753"/>
                          <a:ext cx="243" cy="3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19513" name="Rectangle 25"/>
          <p:cNvSpPr>
            <a:spLocks noChangeArrowheads="1"/>
          </p:cNvSpPr>
          <p:nvPr/>
        </p:nvSpPr>
        <p:spPr bwMode="auto">
          <a:xfrm>
            <a:off x="3924300" y="6237288"/>
            <a:ext cx="5038725" cy="395287"/>
          </a:xfrm>
          <a:prstGeom prst="rect">
            <a:avLst/>
          </a:prstGeom>
          <a:solidFill>
            <a:srgbClr val="FFFF00"/>
          </a:solidFill>
          <a:ln w="28575">
            <a:solidFill>
              <a:srgbClr val="F7240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i="1"/>
              <a:t>tj </a:t>
            </a:r>
            <a:r>
              <a:rPr lang="zh-CN" altLang="en-US" b="1"/>
              <a:t>表示在</a:t>
            </a:r>
            <a:r>
              <a:rPr lang="en-US" altLang="zh-CN" b="1"/>
              <a:t>for</a:t>
            </a:r>
            <a:r>
              <a:rPr lang="zh-CN" altLang="en-US" b="1"/>
              <a:t>循环的迭代</a:t>
            </a:r>
            <a:r>
              <a:rPr lang="en-US" altLang="zh-CN" b="1"/>
              <a:t>j</a:t>
            </a:r>
            <a:r>
              <a:rPr lang="zh-CN" altLang="en-US" b="1"/>
              <a:t>中，</a:t>
            </a:r>
            <a:r>
              <a:rPr lang="en-US" altLang="zh-CN" b="1"/>
              <a:t>while</a:t>
            </a:r>
            <a:r>
              <a:rPr lang="zh-CN" altLang="en-US" b="1"/>
              <a:t>循环的次数。</a:t>
            </a:r>
            <a:endParaRPr lang="zh-CN" altLang="en-US" b="1"/>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19512"/>
                                        </p:tgtEl>
                                        <p:attrNameLst>
                                          <p:attrName>style.visibility</p:attrName>
                                        </p:attrNameLst>
                                      </p:cBhvr>
                                      <p:to>
                                        <p:strVal val="visible"/>
                                      </p:to>
                                    </p:set>
                                    <p:anim calcmode="lin" valueType="num">
                                      <p:cBhvr additive="base">
                                        <p:cTn id="7" dur="500" fill="hold"/>
                                        <p:tgtEl>
                                          <p:spTgt spid="319512"/>
                                        </p:tgtEl>
                                        <p:attrNameLst>
                                          <p:attrName>ppt_x</p:attrName>
                                        </p:attrNameLst>
                                      </p:cBhvr>
                                      <p:tavLst>
                                        <p:tav tm="0">
                                          <p:val>
                                            <p:strVal val="1+#ppt_w/2"/>
                                          </p:val>
                                        </p:tav>
                                        <p:tav tm="100000">
                                          <p:val>
                                            <p:strVal val="#ppt_x"/>
                                          </p:val>
                                        </p:tav>
                                      </p:tavLst>
                                    </p:anim>
                                    <p:anim calcmode="lin" valueType="num">
                                      <p:cBhvr additive="base">
                                        <p:cTn id="8" dur="500" fill="hold"/>
                                        <p:tgtEl>
                                          <p:spTgt spid="3195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9513"/>
                                        </p:tgtEl>
                                        <p:attrNameLst>
                                          <p:attrName>style.visibility</p:attrName>
                                        </p:attrNameLst>
                                      </p:cBhvr>
                                      <p:to>
                                        <p:strVal val="visible"/>
                                      </p:to>
                                    </p:set>
                                    <p:animEffect transition="in" filter="slide(fromBottom)">
                                      <p:cBhvr>
                                        <p:cTn id="13" dur="500"/>
                                        <p:tgtEl>
                                          <p:spTgt spid="319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51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3" name="Rectangle 3"/>
          <p:cNvSpPr>
            <a:spLocks noGrp="1" noChangeArrowheads="1"/>
          </p:cNvSpPr>
          <p:nvPr>
            <p:ph type="body" sz="half" idx="1"/>
          </p:nvPr>
        </p:nvSpPr>
        <p:spPr>
          <a:xfrm>
            <a:off x="381000" y="1371600"/>
            <a:ext cx="8583613" cy="4760913"/>
          </a:xfrm>
        </p:spPr>
        <p:txBody>
          <a:bodyPr/>
          <a:lstStyle/>
          <a:p>
            <a:r>
              <a:rPr lang="zh-CN" altLang="en-US" sz="3500"/>
              <a:t>把算法执行每行的次数与执行每行所需要的时间相乘，然后把所有的时间求和：</a:t>
            </a:r>
            <a:endParaRPr lang="zh-CN" altLang="en-US" sz="3500"/>
          </a:p>
          <a:p>
            <a:pPr>
              <a:buFont typeface="Wingdings" panose="05000000000000000000" pitchFamily="2" charset="2"/>
              <a:buNone/>
            </a:pPr>
            <a:endParaRPr lang="zh-CN" altLang="en-US" sz="3500"/>
          </a:p>
          <a:p>
            <a:pPr>
              <a:buFont typeface="Wingdings" panose="05000000000000000000" pitchFamily="2" charset="2"/>
              <a:buNone/>
            </a:pPr>
            <a:endParaRPr lang="zh-CN" altLang="en-US" sz="3500"/>
          </a:p>
          <a:p>
            <a:pPr>
              <a:buFont typeface="Wingdings" panose="05000000000000000000" pitchFamily="2" charset="2"/>
              <a:buNone/>
            </a:pPr>
            <a:endParaRPr lang="zh-CN" altLang="en-US" sz="3500"/>
          </a:p>
          <a:p>
            <a:pPr>
              <a:buFont typeface="Wingdings" panose="05000000000000000000" pitchFamily="2" charset="2"/>
              <a:buNone/>
            </a:pPr>
            <a:endParaRPr lang="zh-CN" altLang="en-US" sz="3500"/>
          </a:p>
          <a:p>
            <a:pPr>
              <a:buFont typeface="Wingdings" panose="05000000000000000000" pitchFamily="2" charset="2"/>
              <a:buNone/>
            </a:pPr>
            <a:r>
              <a:rPr lang="zh-CN" altLang="en-US" sz="3500"/>
              <a:t>   </a:t>
            </a:r>
            <a:endParaRPr lang="zh-CN" altLang="en-US" sz="3500"/>
          </a:p>
        </p:txBody>
      </p:sp>
      <p:graphicFrame>
        <p:nvGraphicFramePr>
          <p:cNvPr id="271364" name="Object 4"/>
          <p:cNvGraphicFramePr>
            <a:graphicFrameLocks noGrp="1" noChangeAspect="1"/>
          </p:cNvGraphicFramePr>
          <p:nvPr>
            <p:ph sz="half" idx="2"/>
          </p:nvPr>
        </p:nvGraphicFramePr>
        <p:xfrm>
          <a:off x="923925" y="2924175"/>
          <a:ext cx="7205663" cy="1987550"/>
        </p:xfrm>
        <a:graphic>
          <a:graphicData uri="http://schemas.openxmlformats.org/presentationml/2006/ole">
            <mc:AlternateContent xmlns:mc="http://schemas.openxmlformats.org/markup-compatibility/2006">
              <mc:Choice xmlns:v="urn:schemas-microsoft-com:vml" Requires="v">
                <p:oleObj spid="_x0000_s271394" name="公式" r:id="rId1" imgW="3314700" imgH="914400" progId="Equation.3">
                  <p:embed/>
                </p:oleObj>
              </mc:Choice>
              <mc:Fallback>
                <p:oleObj name="公式" r:id="rId1" imgW="3314700" imgH="9144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925" y="2924175"/>
                        <a:ext cx="7205663" cy="1987550"/>
                      </a:xfrm>
                      <a:prstGeom prst="rect">
                        <a:avLst/>
                      </a:prstGeom>
                      <a:solidFill>
                        <a:srgbClr val="FFCC00"/>
                      </a:solidFill>
                      <a:ln w="38100" cmpd="sng">
                        <a:solidFill>
                          <a:srgbClr val="2605A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5" name="Rectangle 3"/>
          <p:cNvSpPr>
            <a:spLocks noGrp="1" noChangeArrowheads="1"/>
          </p:cNvSpPr>
          <p:nvPr>
            <p:ph idx="1"/>
          </p:nvPr>
        </p:nvSpPr>
        <p:spPr/>
        <p:txBody>
          <a:bodyPr/>
          <a:lstStyle/>
          <a:p>
            <a:endParaRPr lang="zh-CN" altLang="zh-CN"/>
          </a:p>
        </p:txBody>
      </p:sp>
      <p:pic>
        <p:nvPicPr>
          <p:cNvPr id="31539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1316038"/>
            <a:ext cx="8674100" cy="520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5397" name="Rectangle 5"/>
          <p:cNvSpPr>
            <a:spLocks noChangeArrowheads="1"/>
          </p:cNvSpPr>
          <p:nvPr/>
        </p:nvSpPr>
        <p:spPr bwMode="auto">
          <a:xfrm>
            <a:off x="827088" y="333375"/>
            <a:ext cx="4572000" cy="954088"/>
          </a:xfrm>
          <a:prstGeom prst="rect">
            <a:avLst/>
          </a:prstGeom>
          <a:solidFill>
            <a:srgbClr val="FFCC00"/>
          </a:solidFill>
          <a:ln w="381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3907F1"/>
                </a:solidFill>
              </a:rPr>
              <a:t>5          while </a:t>
            </a:r>
            <a:r>
              <a:rPr lang="en-US" altLang="zh-CN" b="1" i="1">
                <a:solidFill>
                  <a:srgbClr val="3907F1"/>
                </a:solidFill>
              </a:rPr>
              <a:t>i &gt; </a:t>
            </a:r>
            <a:r>
              <a:rPr lang="en-US" altLang="zh-CN" b="1">
                <a:solidFill>
                  <a:srgbClr val="3907F1"/>
                </a:solidFill>
              </a:rPr>
              <a:t>0 and</a:t>
            </a:r>
            <a:r>
              <a:rPr lang="en-US" altLang="zh-CN" b="1" i="1">
                <a:solidFill>
                  <a:srgbClr val="3907F1"/>
                </a:solidFill>
              </a:rPr>
              <a:t> A</a:t>
            </a:r>
            <a:r>
              <a:rPr lang="en-US" altLang="zh-CN" b="1">
                <a:solidFill>
                  <a:srgbClr val="3907F1"/>
                </a:solidFill>
              </a:rPr>
              <a:t>[</a:t>
            </a:r>
            <a:r>
              <a:rPr lang="en-US" altLang="zh-CN" b="1" i="1">
                <a:solidFill>
                  <a:srgbClr val="3907F1"/>
                </a:solidFill>
              </a:rPr>
              <a:t>i</a:t>
            </a:r>
            <a:r>
              <a:rPr lang="en-US" altLang="zh-CN" b="1">
                <a:solidFill>
                  <a:srgbClr val="3907F1"/>
                </a:solidFill>
              </a:rPr>
              <a:t>]</a:t>
            </a:r>
            <a:r>
              <a:rPr lang="en-US" altLang="zh-CN" b="1" i="1">
                <a:solidFill>
                  <a:srgbClr val="3907F1"/>
                </a:solidFill>
              </a:rPr>
              <a:t> </a:t>
            </a:r>
            <a:r>
              <a:rPr lang="en-US" altLang="zh-CN" b="1">
                <a:solidFill>
                  <a:srgbClr val="3907F1"/>
                </a:solidFill>
              </a:rPr>
              <a:t>&gt;</a:t>
            </a:r>
            <a:r>
              <a:rPr lang="en-US" altLang="zh-CN" b="1" i="1">
                <a:solidFill>
                  <a:srgbClr val="3907F1"/>
                </a:solidFill>
              </a:rPr>
              <a:t> key</a:t>
            </a:r>
            <a:r>
              <a:rPr lang="en-US" altLang="zh-CN" b="1">
                <a:solidFill>
                  <a:srgbClr val="3907F1"/>
                </a:solidFill>
              </a:rPr>
              <a:t> do</a:t>
            </a:r>
            <a:endParaRPr lang="en-US" altLang="zh-CN" b="1">
              <a:solidFill>
                <a:srgbClr val="3907F1"/>
              </a:solidFill>
            </a:endParaRPr>
          </a:p>
          <a:p>
            <a:r>
              <a:rPr lang="en-US" altLang="zh-CN" b="1">
                <a:solidFill>
                  <a:srgbClr val="3907F1"/>
                </a:solidFill>
              </a:rPr>
              <a:t>6                 </a:t>
            </a:r>
            <a:r>
              <a:rPr lang="en-US" altLang="zh-CN" b="1" i="1">
                <a:solidFill>
                  <a:srgbClr val="3907F1"/>
                </a:solidFill>
              </a:rPr>
              <a:t>A</a:t>
            </a:r>
            <a:r>
              <a:rPr lang="en-US" altLang="zh-CN" b="1">
                <a:solidFill>
                  <a:srgbClr val="3907F1"/>
                </a:solidFill>
              </a:rPr>
              <a:t>[</a:t>
            </a:r>
            <a:r>
              <a:rPr lang="en-US" altLang="zh-CN" b="1" i="1">
                <a:solidFill>
                  <a:srgbClr val="3907F1"/>
                </a:solidFill>
              </a:rPr>
              <a:t>i</a:t>
            </a:r>
            <a:r>
              <a:rPr lang="en-US" altLang="zh-CN" b="1">
                <a:solidFill>
                  <a:srgbClr val="3907F1"/>
                </a:solidFill>
              </a:rPr>
              <a:t> + 1]← </a:t>
            </a:r>
            <a:r>
              <a:rPr lang="en-US" altLang="zh-CN" b="1" i="1">
                <a:solidFill>
                  <a:srgbClr val="3907F1"/>
                </a:solidFill>
              </a:rPr>
              <a:t>A</a:t>
            </a:r>
            <a:r>
              <a:rPr lang="en-US" altLang="zh-CN" b="1">
                <a:solidFill>
                  <a:srgbClr val="3907F1"/>
                </a:solidFill>
              </a:rPr>
              <a:t>[</a:t>
            </a:r>
            <a:r>
              <a:rPr lang="en-US" altLang="zh-CN" b="1" i="1">
                <a:solidFill>
                  <a:srgbClr val="3907F1"/>
                </a:solidFill>
              </a:rPr>
              <a:t>i</a:t>
            </a:r>
            <a:r>
              <a:rPr lang="en-US" altLang="zh-CN" b="1">
                <a:solidFill>
                  <a:srgbClr val="3907F1"/>
                </a:solidFill>
              </a:rPr>
              <a:t>] </a:t>
            </a:r>
            <a:endParaRPr lang="en-US" altLang="zh-CN" b="1">
              <a:solidFill>
                <a:srgbClr val="3907F1"/>
              </a:solidFill>
            </a:endParaRPr>
          </a:p>
          <a:p>
            <a:r>
              <a:rPr lang="en-US" altLang="zh-CN" b="1">
                <a:solidFill>
                  <a:srgbClr val="3907F1"/>
                </a:solidFill>
              </a:rPr>
              <a:t>7                 </a:t>
            </a:r>
            <a:r>
              <a:rPr lang="en-US" altLang="zh-CN" b="1" i="1">
                <a:solidFill>
                  <a:srgbClr val="3907F1"/>
                </a:solidFill>
              </a:rPr>
              <a:t>i </a:t>
            </a:r>
            <a:r>
              <a:rPr lang="en-US" altLang="zh-CN" b="1">
                <a:solidFill>
                  <a:srgbClr val="3907F1"/>
                </a:solidFill>
              </a:rPr>
              <a:t>← </a:t>
            </a:r>
            <a:r>
              <a:rPr lang="en-US" altLang="zh-CN" b="1" i="1">
                <a:solidFill>
                  <a:srgbClr val="3907F1"/>
                </a:solidFill>
              </a:rPr>
              <a:t>i</a:t>
            </a:r>
            <a:r>
              <a:rPr lang="en-US" altLang="zh-CN" b="1">
                <a:solidFill>
                  <a:srgbClr val="3907F1"/>
                </a:solidFill>
              </a:rPr>
              <a:t> - 1 </a:t>
            </a:r>
            <a:endParaRPr lang="en-US" altLang="zh-CN" b="1">
              <a:solidFill>
                <a:srgbClr val="3907F1"/>
              </a:solidFill>
            </a:endParaRPr>
          </a:p>
        </p:txBody>
      </p:sp>
      <p:sp>
        <p:nvSpPr>
          <p:cNvPr id="315398" name="Rectangle 6"/>
          <p:cNvSpPr>
            <a:spLocks noChangeArrowheads="1"/>
          </p:cNvSpPr>
          <p:nvPr/>
        </p:nvSpPr>
        <p:spPr bwMode="auto">
          <a:xfrm>
            <a:off x="0" y="3644900"/>
            <a:ext cx="9144000" cy="29527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5399" name="Rectangle 7"/>
          <p:cNvSpPr>
            <a:spLocks noChangeArrowheads="1"/>
          </p:cNvSpPr>
          <p:nvPr/>
        </p:nvSpPr>
        <p:spPr bwMode="auto">
          <a:xfrm>
            <a:off x="0" y="2133600"/>
            <a:ext cx="9144000" cy="15113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xit" presetSubtype="4" fill="hold" grpId="0" nodeType="clickEffect">
                                  <p:stCondLst>
                                    <p:cond delay="0"/>
                                  </p:stCondLst>
                                  <p:childTnLst>
                                    <p:animEffect transition="out" filter="slide(fromBottom)">
                                      <p:cBhvr>
                                        <p:cTn id="6" dur="500"/>
                                        <p:tgtEl>
                                          <p:spTgt spid="315399"/>
                                        </p:tgtEl>
                                      </p:cBhvr>
                                    </p:animEffect>
                                    <p:set>
                                      <p:cBhvr>
                                        <p:cTn id="7" dur="1" fill="hold">
                                          <p:stCondLst>
                                            <p:cond delay="499"/>
                                          </p:stCondLst>
                                        </p:cTn>
                                        <p:tgtEl>
                                          <p:spTgt spid="31539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2" presetClass="exit" presetSubtype="4" fill="hold" grpId="0" nodeType="clickEffect">
                                  <p:stCondLst>
                                    <p:cond delay="0"/>
                                  </p:stCondLst>
                                  <p:childTnLst>
                                    <p:animEffect transition="out" filter="slide(fromBottom)">
                                      <p:cBhvr>
                                        <p:cTn id="11" dur="500"/>
                                        <p:tgtEl>
                                          <p:spTgt spid="315398"/>
                                        </p:tgtEl>
                                      </p:cBhvr>
                                    </p:animEffect>
                                    <p:set>
                                      <p:cBhvr>
                                        <p:cTn id="12" dur="1" fill="hold">
                                          <p:stCondLst>
                                            <p:cond delay="499"/>
                                          </p:stCondLst>
                                        </p:cTn>
                                        <p:tgtEl>
                                          <p:spTgt spid="3153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8" grpId="0" animBg="1"/>
      <p:bldP spid="31539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642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1188" y="545554"/>
            <a:ext cx="7993062" cy="561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15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9238" y="1412875"/>
            <a:ext cx="8859837" cy="38877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457200" y="548680"/>
            <a:ext cx="8305800" cy="1143000"/>
          </a:xfrm>
        </p:spPr>
        <p:txBody>
          <a:bodyPr/>
          <a:lstStyle/>
          <a:p>
            <a:r>
              <a:rPr lang="zh-CN" altLang="en-US" dirty="0"/>
              <a:t>最好、最差与平均情况</a:t>
            </a:r>
            <a:endParaRPr lang="zh-CN" altLang="en-US" dirty="0"/>
          </a:p>
        </p:txBody>
      </p:sp>
      <p:pic>
        <p:nvPicPr>
          <p:cNvPr id="266243" name="Picture 3" descr="CASES_G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913" y="1844824"/>
            <a:ext cx="6248400" cy="47323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5472" name="Group 16"/>
          <p:cNvGrpSpPr/>
          <p:nvPr/>
        </p:nvGrpSpPr>
        <p:grpSpPr bwMode="auto">
          <a:xfrm>
            <a:off x="784225" y="765175"/>
            <a:ext cx="7459663" cy="5353050"/>
            <a:chOff x="375" y="799"/>
            <a:chExt cx="4699" cy="3372"/>
          </a:xfrm>
        </p:grpSpPr>
        <p:graphicFrame>
          <p:nvGraphicFramePr>
            <p:cNvPr id="275459" name="Object 3"/>
            <p:cNvGraphicFramePr>
              <a:graphicFrameLocks noChangeAspect="1"/>
            </p:cNvGraphicFramePr>
            <p:nvPr/>
          </p:nvGraphicFramePr>
          <p:xfrm>
            <a:off x="1864" y="1033"/>
            <a:ext cx="292" cy="301"/>
          </p:xfrm>
          <a:graphic>
            <a:graphicData uri="http://schemas.openxmlformats.org/presentationml/2006/ole">
              <mc:AlternateContent xmlns:mc="http://schemas.openxmlformats.org/markup-compatibility/2006">
                <mc:Choice xmlns:v="urn:schemas-microsoft-com:vml" Requires="v">
                  <p:oleObj spid="_x0000_s275527" name="公式" r:id="rId1" imgW="304800" imgH="317500" progId="Equation.3">
                    <p:embed/>
                  </p:oleObj>
                </mc:Choice>
                <mc:Fallback>
                  <p:oleObj name="公式" r:id="rId1" imgW="304800" imgH="3175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4" y="1033"/>
                          <a:ext cx="292"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5460" name="Line 4"/>
            <p:cNvSpPr>
              <a:spLocks noChangeShapeType="1"/>
            </p:cNvSpPr>
            <p:nvPr/>
          </p:nvSpPr>
          <p:spPr bwMode="auto">
            <a:xfrm flipV="1">
              <a:off x="865" y="1207"/>
              <a:ext cx="0" cy="2631"/>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5461" name="Line 5"/>
            <p:cNvSpPr>
              <a:spLocks noChangeShapeType="1"/>
            </p:cNvSpPr>
            <p:nvPr/>
          </p:nvSpPr>
          <p:spPr bwMode="auto">
            <a:xfrm>
              <a:off x="865" y="3838"/>
              <a:ext cx="4173"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5462" name="Rectangle 6"/>
            <p:cNvSpPr>
              <a:spLocks noChangeArrowheads="1"/>
            </p:cNvSpPr>
            <p:nvPr/>
          </p:nvSpPr>
          <p:spPr bwMode="auto">
            <a:xfrm>
              <a:off x="4851" y="3883"/>
              <a:ext cx="223"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i="1">
                  <a:latin typeface="Times New Roman" panose="02020603050405020304" pitchFamily="18" charset="0"/>
                </a:rPr>
                <a:t>n</a:t>
              </a:r>
              <a:endParaRPr lang="en-US" altLang="zh-CN" sz="2400" i="1">
                <a:latin typeface="Times New Roman" panose="02020603050405020304" pitchFamily="18" charset="0"/>
              </a:endParaRPr>
            </a:p>
          </p:txBody>
        </p:sp>
        <p:sp>
          <p:nvSpPr>
            <p:cNvPr id="275463" name="Rectangle 7"/>
            <p:cNvSpPr>
              <a:spLocks noChangeArrowheads="1"/>
            </p:cNvSpPr>
            <p:nvPr/>
          </p:nvSpPr>
          <p:spPr bwMode="auto">
            <a:xfrm>
              <a:off x="375" y="1207"/>
              <a:ext cx="468"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i="1">
                  <a:latin typeface="Times New Roman" panose="02020603050405020304" pitchFamily="18" charset="0"/>
                </a:rPr>
                <a:t>T</a:t>
              </a:r>
              <a:r>
                <a:rPr lang="en-US" altLang="zh-CN" sz="2400">
                  <a:latin typeface="Times New Roman" panose="02020603050405020304" pitchFamily="18" charset="0"/>
                </a:rPr>
                <a:t>(</a:t>
              </a:r>
              <a:r>
                <a:rPr lang="en-US" altLang="zh-CN" sz="2400" i="1">
                  <a:latin typeface="Times New Roman" panose="02020603050405020304" pitchFamily="18" charset="0"/>
                </a:rPr>
                <a:t>n</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275464" name="Rectangle 8"/>
            <p:cNvSpPr>
              <a:spLocks noChangeArrowheads="1"/>
            </p:cNvSpPr>
            <p:nvPr/>
          </p:nvSpPr>
          <p:spPr bwMode="auto">
            <a:xfrm>
              <a:off x="2946" y="1751"/>
              <a:ext cx="223"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i="1">
                  <a:latin typeface="Times New Roman" panose="02020603050405020304" pitchFamily="18" charset="0"/>
                </a:rPr>
                <a:t>n</a:t>
              </a:r>
              <a:endParaRPr lang="en-US" altLang="zh-CN" sz="2400" i="1">
                <a:latin typeface="Times New Roman" panose="02020603050405020304" pitchFamily="18" charset="0"/>
              </a:endParaRPr>
            </a:p>
          </p:txBody>
        </p:sp>
        <p:sp>
          <p:nvSpPr>
            <p:cNvPr id="275465" name="Rectangle 9"/>
            <p:cNvSpPr>
              <a:spLocks noChangeArrowheads="1"/>
            </p:cNvSpPr>
            <p:nvPr/>
          </p:nvSpPr>
          <p:spPr bwMode="auto">
            <a:xfrm>
              <a:off x="3178" y="1796"/>
              <a:ext cx="998"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zh-CN" sz="2400">
                  <a:latin typeface="Times New Roman" panose="02020603050405020304" pitchFamily="18" charset="0"/>
                </a:rPr>
                <a:t>Best-case </a:t>
              </a:r>
              <a:endParaRPr lang="en-US" altLang="zh-CN" sz="2400">
                <a:latin typeface="Times New Roman" panose="02020603050405020304" pitchFamily="18" charset="0"/>
              </a:endParaRPr>
            </a:p>
          </p:txBody>
        </p:sp>
        <p:sp>
          <p:nvSpPr>
            <p:cNvPr id="275466" name="Rectangle 10"/>
            <p:cNvSpPr>
              <a:spLocks noChangeArrowheads="1"/>
            </p:cNvSpPr>
            <p:nvPr/>
          </p:nvSpPr>
          <p:spPr bwMode="auto">
            <a:xfrm>
              <a:off x="2608" y="1162"/>
              <a:ext cx="1724"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zh-CN" sz="2400">
                  <a:latin typeface="Times New Roman" panose="02020603050405020304" pitchFamily="18" charset="0"/>
                </a:rPr>
                <a:t>Average-case </a:t>
              </a:r>
              <a:endParaRPr lang="en-US" altLang="zh-CN" sz="2400">
                <a:latin typeface="Times New Roman" panose="02020603050405020304" pitchFamily="18" charset="0"/>
              </a:endParaRPr>
            </a:p>
          </p:txBody>
        </p:sp>
        <p:sp>
          <p:nvSpPr>
            <p:cNvPr id="275467" name="Rectangle 11"/>
            <p:cNvSpPr>
              <a:spLocks noChangeArrowheads="1"/>
            </p:cNvSpPr>
            <p:nvPr/>
          </p:nvSpPr>
          <p:spPr bwMode="auto">
            <a:xfrm>
              <a:off x="975" y="1253"/>
              <a:ext cx="1224"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zh-CN" sz="2400">
                  <a:latin typeface="Times New Roman" panose="02020603050405020304" pitchFamily="18" charset="0"/>
                </a:rPr>
                <a:t>Worst-case </a:t>
              </a:r>
              <a:endParaRPr lang="en-US" altLang="zh-CN" sz="2400">
                <a:latin typeface="Times New Roman" panose="02020603050405020304" pitchFamily="18" charset="0"/>
              </a:endParaRPr>
            </a:p>
          </p:txBody>
        </p:sp>
        <p:graphicFrame>
          <p:nvGraphicFramePr>
            <p:cNvPr id="275468" name="Object 12"/>
            <p:cNvGraphicFramePr>
              <a:graphicFrameLocks noChangeAspect="1"/>
            </p:cNvGraphicFramePr>
            <p:nvPr/>
          </p:nvGraphicFramePr>
          <p:xfrm>
            <a:off x="2835" y="935"/>
            <a:ext cx="261" cy="259"/>
          </p:xfrm>
          <a:graphic>
            <a:graphicData uri="http://schemas.openxmlformats.org/presentationml/2006/ole">
              <mc:AlternateContent xmlns:mc="http://schemas.openxmlformats.org/markup-compatibility/2006">
                <mc:Choice xmlns:v="urn:schemas-microsoft-com:vml" Requires="v">
                  <p:oleObj spid="_x0000_s275528" name="公式" r:id="rId3" imgW="304800" imgH="317500" progId="Equation.3">
                    <p:embed/>
                  </p:oleObj>
                </mc:Choice>
                <mc:Fallback>
                  <p:oleObj name="公式" r:id="rId3" imgW="304800" imgH="31750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5" y="935"/>
                          <a:ext cx="261"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5469" name="Line 13"/>
            <p:cNvSpPr>
              <a:spLocks noChangeShapeType="1"/>
            </p:cNvSpPr>
            <p:nvPr/>
          </p:nvSpPr>
          <p:spPr bwMode="auto">
            <a:xfrm flipV="1">
              <a:off x="865" y="1162"/>
              <a:ext cx="3149" cy="267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5470" name="Freeform 14"/>
            <p:cNvSpPr/>
            <p:nvPr/>
          </p:nvSpPr>
          <p:spPr bwMode="auto">
            <a:xfrm>
              <a:off x="839" y="799"/>
              <a:ext cx="1905" cy="3039"/>
            </a:xfrm>
            <a:custGeom>
              <a:avLst/>
              <a:gdLst>
                <a:gd name="T0" fmla="*/ 0 w 1905"/>
                <a:gd name="T1" fmla="*/ 3175 h 3175"/>
                <a:gd name="T2" fmla="*/ 816 w 1905"/>
                <a:gd name="T3" fmla="*/ 2858 h 3175"/>
                <a:gd name="T4" fmla="*/ 1633 w 1905"/>
                <a:gd name="T5" fmla="*/ 1815 h 3175"/>
                <a:gd name="T6" fmla="*/ 1905 w 1905"/>
                <a:gd name="T7" fmla="*/ 0 h 3175"/>
              </a:gdLst>
              <a:ahLst/>
              <a:cxnLst>
                <a:cxn ang="0">
                  <a:pos x="T0" y="T1"/>
                </a:cxn>
                <a:cxn ang="0">
                  <a:pos x="T2" y="T3"/>
                </a:cxn>
                <a:cxn ang="0">
                  <a:pos x="T4" y="T5"/>
                </a:cxn>
                <a:cxn ang="0">
                  <a:pos x="T6" y="T7"/>
                </a:cxn>
              </a:cxnLst>
              <a:rect l="0" t="0" r="r" b="b"/>
              <a:pathLst>
                <a:path w="1905" h="3175">
                  <a:moveTo>
                    <a:pt x="0" y="3175"/>
                  </a:moveTo>
                  <a:cubicBezTo>
                    <a:pt x="272" y="3130"/>
                    <a:pt x="544" y="3085"/>
                    <a:pt x="816" y="2858"/>
                  </a:cubicBezTo>
                  <a:cubicBezTo>
                    <a:pt x="1088" y="2631"/>
                    <a:pt x="1452" y="2291"/>
                    <a:pt x="1633" y="1815"/>
                  </a:cubicBezTo>
                  <a:cubicBezTo>
                    <a:pt x="1814" y="1339"/>
                    <a:pt x="1859" y="669"/>
                    <a:pt x="1905" y="0"/>
                  </a:cubicBezTo>
                </a:path>
              </a:pathLst>
            </a:custGeom>
            <a:noFill/>
            <a:ln w="12700" cap="flat" cmpd="sng">
              <a:solidFill>
                <a:schemeClr val="tx1"/>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5471" name="Freeform 15"/>
            <p:cNvSpPr/>
            <p:nvPr/>
          </p:nvSpPr>
          <p:spPr bwMode="auto">
            <a:xfrm>
              <a:off x="839" y="935"/>
              <a:ext cx="1451" cy="2903"/>
            </a:xfrm>
            <a:custGeom>
              <a:avLst/>
              <a:gdLst>
                <a:gd name="T0" fmla="*/ 0 w 1497"/>
                <a:gd name="T1" fmla="*/ 3129 h 3129"/>
                <a:gd name="T2" fmla="*/ 408 w 1497"/>
                <a:gd name="T3" fmla="*/ 2948 h 3129"/>
                <a:gd name="T4" fmla="*/ 816 w 1497"/>
                <a:gd name="T5" fmla="*/ 2449 h 3129"/>
                <a:gd name="T6" fmla="*/ 1225 w 1497"/>
                <a:gd name="T7" fmla="*/ 1496 h 3129"/>
                <a:gd name="T8" fmla="*/ 1497 w 1497"/>
                <a:gd name="T9" fmla="*/ 0 h 3129"/>
              </a:gdLst>
              <a:ahLst/>
              <a:cxnLst>
                <a:cxn ang="0">
                  <a:pos x="T0" y="T1"/>
                </a:cxn>
                <a:cxn ang="0">
                  <a:pos x="T2" y="T3"/>
                </a:cxn>
                <a:cxn ang="0">
                  <a:pos x="T4" y="T5"/>
                </a:cxn>
                <a:cxn ang="0">
                  <a:pos x="T6" y="T7"/>
                </a:cxn>
                <a:cxn ang="0">
                  <a:pos x="T8" y="T9"/>
                </a:cxn>
              </a:cxnLst>
              <a:rect l="0" t="0" r="r" b="b"/>
              <a:pathLst>
                <a:path w="1497" h="3129">
                  <a:moveTo>
                    <a:pt x="0" y="3129"/>
                  </a:moveTo>
                  <a:cubicBezTo>
                    <a:pt x="136" y="3095"/>
                    <a:pt x="272" y="3061"/>
                    <a:pt x="408" y="2948"/>
                  </a:cubicBezTo>
                  <a:cubicBezTo>
                    <a:pt x="544" y="2835"/>
                    <a:pt x="680" y="2691"/>
                    <a:pt x="816" y="2449"/>
                  </a:cubicBezTo>
                  <a:cubicBezTo>
                    <a:pt x="952" y="2207"/>
                    <a:pt x="1112" y="1904"/>
                    <a:pt x="1225" y="1496"/>
                  </a:cubicBezTo>
                  <a:cubicBezTo>
                    <a:pt x="1338" y="1088"/>
                    <a:pt x="1417" y="544"/>
                    <a:pt x="1497" y="0"/>
                  </a:cubicBezTo>
                </a:path>
              </a:pathLst>
            </a:custGeom>
            <a:noFill/>
            <a:ln w="12700" cap="flat" cmpd="sng">
              <a:solidFill>
                <a:schemeClr val="tx1"/>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slow">
    <p:zoom/>
  </p:transition>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a:xfrm>
            <a:off x="457200" y="260648"/>
            <a:ext cx="8229600" cy="1143000"/>
          </a:xfrm>
        </p:spPr>
        <p:txBody>
          <a:bodyPr/>
          <a:lstStyle/>
          <a:p>
            <a:r>
              <a:rPr lang="en-US" altLang="zh-CN" sz="3400" dirty="0" err="1"/>
              <a:t>Pseudocode</a:t>
            </a:r>
            <a:r>
              <a:rPr lang="en-US" altLang="zh-CN" sz="3400" dirty="0"/>
              <a:t>(</a:t>
            </a:r>
            <a:r>
              <a:rPr lang="zh-CN" altLang="en-US" sz="3400" dirty="0"/>
              <a:t>伪代码</a:t>
            </a:r>
            <a:r>
              <a:rPr lang="en-US" altLang="zh-CN" sz="3400" dirty="0"/>
              <a:t>) conventions(</a:t>
            </a:r>
            <a:r>
              <a:rPr lang="zh-CN" altLang="en-US" sz="3400" dirty="0"/>
              <a:t>约定）</a:t>
            </a:r>
            <a:endParaRPr lang="zh-CN" altLang="en-US" sz="3400" dirty="0"/>
          </a:p>
        </p:txBody>
      </p:sp>
      <p:sp>
        <p:nvSpPr>
          <p:cNvPr id="279555" name="Rectangle 3"/>
          <p:cNvSpPr>
            <a:spLocks noGrp="1" noChangeArrowheads="1"/>
          </p:cNvSpPr>
          <p:nvPr>
            <p:ph idx="1"/>
          </p:nvPr>
        </p:nvSpPr>
        <p:spPr>
          <a:xfrm>
            <a:off x="381000" y="1731342"/>
            <a:ext cx="8574088" cy="4505970"/>
          </a:xfrm>
        </p:spPr>
        <p:txBody>
          <a:bodyPr/>
          <a:lstStyle/>
          <a:p>
            <a:pPr>
              <a:lnSpc>
                <a:spcPct val="90000"/>
              </a:lnSpc>
            </a:pPr>
            <a:r>
              <a:rPr lang="zh-CN" altLang="en-US" b="1" dirty="0">
                <a:solidFill>
                  <a:srgbClr val="FF0000"/>
                </a:solidFill>
              </a:rPr>
              <a:t>程序</a:t>
            </a:r>
            <a:r>
              <a:rPr lang="en-US" altLang="zh-CN" b="1" dirty="0">
                <a:solidFill>
                  <a:srgbClr val="FF0000"/>
                </a:solidFill>
              </a:rPr>
              <a:t>=</a:t>
            </a:r>
            <a:r>
              <a:rPr lang="zh-CN" altLang="en-US" b="1" dirty="0">
                <a:solidFill>
                  <a:srgbClr val="FF0000"/>
                </a:solidFill>
              </a:rPr>
              <a:t>数据结构</a:t>
            </a:r>
            <a:r>
              <a:rPr lang="en-US" altLang="zh-CN" b="1" dirty="0">
                <a:solidFill>
                  <a:srgbClr val="FF0000"/>
                </a:solidFill>
              </a:rPr>
              <a:t>+</a:t>
            </a:r>
            <a:r>
              <a:rPr lang="zh-CN" altLang="en-US" b="1" dirty="0">
                <a:solidFill>
                  <a:srgbClr val="FF0000"/>
                </a:solidFill>
              </a:rPr>
              <a:t>算法</a:t>
            </a:r>
            <a:endParaRPr lang="zh-CN" altLang="en-US" b="1" dirty="0">
              <a:solidFill>
                <a:srgbClr val="FF0000"/>
              </a:solidFill>
            </a:endParaRPr>
          </a:p>
          <a:p>
            <a:pPr>
              <a:lnSpc>
                <a:spcPct val="90000"/>
              </a:lnSpc>
            </a:pPr>
            <a:r>
              <a:rPr lang="zh-CN" altLang="en-US" dirty="0"/>
              <a:t>算法是程序背后的思想，是程序的核心</a:t>
            </a:r>
            <a:endParaRPr lang="zh-CN" altLang="en-US" dirty="0"/>
          </a:p>
          <a:p>
            <a:pPr>
              <a:lnSpc>
                <a:spcPct val="90000"/>
              </a:lnSpc>
            </a:pPr>
            <a:r>
              <a:rPr lang="zh-CN" altLang="en-US" dirty="0"/>
              <a:t>程序的本质是算法，是算法的具体体现。</a:t>
            </a:r>
            <a:endParaRPr lang="zh-CN" altLang="en-US" dirty="0"/>
          </a:p>
          <a:p>
            <a:pPr>
              <a:lnSpc>
                <a:spcPct val="90000"/>
              </a:lnSpc>
            </a:pPr>
            <a:r>
              <a:rPr lang="zh-CN" altLang="en-US" dirty="0"/>
              <a:t>描述一个算法，不用具体的程序，而用伪代码。</a:t>
            </a:r>
            <a:endParaRPr lang="zh-CN" altLang="en-US" dirty="0"/>
          </a:p>
          <a:p>
            <a:pPr>
              <a:lnSpc>
                <a:spcPct val="90000"/>
              </a:lnSpc>
            </a:pPr>
            <a:endParaRPr lang="zh-CN" altLang="en-US" dirty="0"/>
          </a:p>
          <a:p>
            <a:pPr>
              <a:lnSpc>
                <a:spcPct val="90000"/>
              </a:lnSpc>
            </a:pPr>
            <a:r>
              <a:rPr lang="zh-CN" altLang="en-US" dirty="0"/>
              <a:t>分析一个算法的运行时间应该主要关注与问题规模有关的主要项，其他低阶项，甚至主要项的常数系数都可以忽略，因此，必须引入新的记号来表示时间函数，以及时间函数随问题规模增长的快慢程度。</a:t>
            </a:r>
            <a:endParaRPr lang="zh-CN" altLang="en-US" dirty="0"/>
          </a:p>
        </p:txBody>
      </p:sp>
    </p:spTree>
  </p:cSld>
  <p:clrMapOvr>
    <a:masterClrMapping/>
  </p:clrMapOvr>
  <p:transition>
    <p:cover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79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79555">
                                            <p:txEl>
                                              <p:pRg st="1" end="1"/>
                                            </p:txEl>
                                          </p:spTgt>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279555">
                                            <p:txEl>
                                              <p:pRg st="2" end="2"/>
                                            </p:txEl>
                                          </p:spTgt>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499"/>
                                          </p:stCondLst>
                                        </p:cTn>
                                        <p:tgtEl>
                                          <p:spTgt spid="27955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7955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5" grpId="0" autoUpdateAnimBg="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r>
              <a:rPr lang="zh-CN" altLang="en-US" dirty="0"/>
              <a:t>今日任务</a:t>
            </a:r>
            <a:endParaRPr lang="zh-CN" altLang="en-US" dirty="0"/>
          </a:p>
        </p:txBody>
      </p:sp>
      <p:sp>
        <p:nvSpPr>
          <p:cNvPr id="280579" name="Rectangle 3"/>
          <p:cNvSpPr>
            <a:spLocks noGrp="1" noChangeArrowheads="1"/>
          </p:cNvSpPr>
          <p:nvPr>
            <p:ph idx="1"/>
          </p:nvPr>
        </p:nvSpPr>
        <p:spPr/>
        <p:txBody>
          <a:bodyPr/>
          <a:lstStyle/>
          <a:p>
            <a:r>
              <a:rPr lang="en-US" altLang="zh-CN"/>
              <a:t>1-3 </a:t>
            </a:r>
            <a:r>
              <a:rPr lang="zh-CN" altLang="en-US"/>
              <a:t>写一个通用方法用于判定给定数组是否已排好序，并且参照课件里按行标记的算法复杂度计算方法，简单分析一下设计的算法的时间复杂度。</a:t>
            </a:r>
            <a:endParaRPr lang="zh-CN" altLang="en-US"/>
          </a:p>
          <a:p>
            <a:endParaRPr lang="zh-CN" altLang="en-US"/>
          </a:p>
          <a:p>
            <a:r>
              <a:rPr lang="zh-CN" altLang="en-US"/>
              <a:t>给出一个算法，使之能输出数组</a:t>
            </a:r>
            <a:r>
              <a:rPr lang="en-US" altLang="zh-CN"/>
              <a:t>A[1]</a:t>
            </a:r>
            <a:r>
              <a:rPr lang="zh-CN" altLang="en-US"/>
              <a:t>，</a:t>
            </a:r>
            <a:r>
              <a:rPr lang="en-US" altLang="zh-CN"/>
              <a:t>A[2]</a:t>
            </a:r>
            <a:r>
              <a:rPr lang="zh-CN" altLang="en-US"/>
              <a:t>，</a:t>
            </a:r>
            <a:r>
              <a:rPr lang="en-US" altLang="zh-CN"/>
              <a:t>…A[n]</a:t>
            </a:r>
            <a:r>
              <a:rPr lang="zh-CN" altLang="en-US"/>
              <a:t>中最后出现的最大元素的下标。</a:t>
            </a:r>
            <a:endParaRPr lang="zh-CN" altLang="en-US"/>
          </a:p>
        </p:txBody>
      </p:sp>
    </p:spTree>
  </p:cSld>
  <p:clrMapOvr>
    <a:masterClrMapping/>
  </p:clrMapOvr>
  <p:transition spd="slow">
    <p:zoom/>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4247</Words>
  <Application>WPS 演示</Application>
  <PresentationFormat>全屏显示(4:3)</PresentationFormat>
  <Paragraphs>314</Paragraphs>
  <Slides>62</Slides>
  <Notes>2</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21</vt:i4>
      </vt:variant>
      <vt:variant>
        <vt:lpstr>幻灯片标题</vt:lpstr>
      </vt:variant>
      <vt:variant>
        <vt:i4>62</vt:i4>
      </vt:variant>
    </vt:vector>
  </HeadingPairs>
  <TitlesOfParts>
    <vt:vector size="103" baseType="lpstr">
      <vt:lpstr>Arial</vt:lpstr>
      <vt:lpstr>宋体</vt:lpstr>
      <vt:lpstr>Wingdings</vt:lpstr>
      <vt:lpstr>Wingdings 2</vt:lpstr>
      <vt:lpstr>Times New Roman</vt:lpstr>
      <vt:lpstr>楷体_GB2312</vt:lpstr>
      <vt:lpstr>新宋体</vt:lpstr>
      <vt:lpstr>Constantia</vt:lpstr>
      <vt:lpstr>隶书</vt:lpstr>
      <vt:lpstr>Calibri</vt:lpstr>
      <vt:lpstr>微软雅黑</vt:lpstr>
      <vt:lpstr>Arial Unicode MS</vt:lpstr>
      <vt:lpstr>Symbol</vt:lpstr>
      <vt:lpstr>Arial</vt:lpstr>
      <vt:lpstr>Verdana</vt:lpstr>
      <vt:lpstr>华文新魏</vt:lpstr>
      <vt:lpstr>Times</vt:lpstr>
      <vt:lpstr>Times</vt:lpstr>
      <vt:lpstr>楷体_GB2312</vt:lpstr>
      <vt:lpstr>流畅</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算法设计与分析</vt:lpstr>
      <vt:lpstr>算法是计算机科学的灵魂</vt:lpstr>
      <vt:lpstr>课程性质、目的与任务 </vt:lpstr>
      <vt:lpstr>张德富《 算法设计与分析》 国防工业出版社,2009</vt:lpstr>
      <vt:lpstr>计算机算法设计与分析 （第2、3版）</vt:lpstr>
      <vt:lpstr>参考教材</vt:lpstr>
      <vt:lpstr>延伸教材：</vt:lpstr>
      <vt:lpstr>几点建议</vt:lpstr>
      <vt:lpstr>考核形式</vt:lpstr>
      <vt:lpstr>课程要求</vt:lpstr>
      <vt:lpstr>课件下载地址</vt:lpstr>
      <vt:lpstr>上课模式</vt:lpstr>
      <vt:lpstr>第1章  算法概述</vt:lpstr>
      <vt:lpstr>PowerPoint 演示文稿</vt:lpstr>
      <vt:lpstr>PowerPoint 演示文稿</vt:lpstr>
      <vt:lpstr>问题…解题</vt:lpstr>
      <vt:lpstr>PowerPoint 演示文稿</vt:lpstr>
      <vt:lpstr>PowerPoint 演示文稿</vt:lpstr>
      <vt:lpstr>为什么要研究算法和性能？</vt:lpstr>
      <vt:lpstr>作为一种技术的算法</vt:lpstr>
      <vt:lpstr>PowerPoint 演示文稿</vt:lpstr>
      <vt:lpstr>PowerPoint 演示文稿</vt:lpstr>
      <vt:lpstr>PowerPoint 演示文稿</vt:lpstr>
      <vt:lpstr>PowerPoint 演示文稿</vt:lpstr>
      <vt:lpstr>PowerPoint 演示文稿</vt:lpstr>
      <vt:lpstr>PowerPoint 演示文稿</vt:lpstr>
      <vt:lpstr>算法(Algorithm)</vt:lpstr>
      <vt:lpstr>程序(Program)</vt:lpstr>
      <vt:lpstr>PowerPoint 演示文稿</vt:lpstr>
      <vt:lpstr>问题求解(Problem Solving)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运行时间Running time</vt:lpstr>
      <vt:lpstr>几种分析方法</vt:lpstr>
      <vt:lpstr>与机器无关的运行时间</vt:lpstr>
      <vt:lpstr>分析算法 </vt:lpstr>
      <vt:lpstr>分析算法</vt:lpstr>
      <vt:lpstr>分析算法</vt:lpstr>
      <vt:lpstr>插入排序算法分析</vt:lpstr>
      <vt:lpstr>正确性分析</vt:lpstr>
      <vt:lpstr>算法效率分析</vt:lpstr>
      <vt:lpstr>PowerPoint 演示文稿</vt:lpstr>
      <vt:lpstr>PowerPoint 演示文稿</vt:lpstr>
      <vt:lpstr>PowerPoint 演示文稿</vt:lpstr>
      <vt:lpstr>PowerPoint 演示文稿</vt:lpstr>
      <vt:lpstr>最好、最差与平均情况</vt:lpstr>
      <vt:lpstr>PowerPoint 演示文稿</vt:lpstr>
      <vt:lpstr>Pseudocode(伪代码) conventions(约定）</vt:lpstr>
      <vt:lpstr>今日任务</vt:lpstr>
    </vt:vector>
  </TitlesOfParts>
  <Company>Computer Science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算法设计与分析</dc:title>
  <dc:creator>wangxd</dc:creator>
  <cp:lastModifiedBy>Administrator</cp:lastModifiedBy>
  <cp:revision>270</cp:revision>
  <dcterms:created xsi:type="dcterms:W3CDTF">2003-12-16T08:40:00Z</dcterms:created>
  <dcterms:modified xsi:type="dcterms:W3CDTF">2019-11-10T14:06:04Z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