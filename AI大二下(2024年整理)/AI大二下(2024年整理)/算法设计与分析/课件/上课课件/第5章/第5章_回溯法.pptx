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71"/>
  </p:handoutMasterIdLst>
  <p:sldIdLst>
    <p:sldId id="256" r:id="rId3"/>
    <p:sldId id="285" r:id="rId5"/>
    <p:sldId id="286" r:id="rId6"/>
    <p:sldId id="290" r:id="rId7"/>
    <p:sldId id="291" r:id="rId8"/>
    <p:sldId id="269" r:id="rId9"/>
    <p:sldId id="257" r:id="rId10"/>
    <p:sldId id="292" r:id="rId11"/>
    <p:sldId id="293" r:id="rId12"/>
    <p:sldId id="270" r:id="rId13"/>
    <p:sldId id="258" r:id="rId14"/>
    <p:sldId id="259" r:id="rId15"/>
    <p:sldId id="260" r:id="rId16"/>
    <p:sldId id="299" r:id="rId17"/>
    <p:sldId id="300" r:id="rId18"/>
    <p:sldId id="301" r:id="rId19"/>
    <p:sldId id="302" r:id="rId20"/>
    <p:sldId id="309" r:id="rId21"/>
    <p:sldId id="294" r:id="rId22"/>
    <p:sldId id="261" r:id="rId23"/>
    <p:sldId id="303" r:id="rId24"/>
    <p:sldId id="262" r:id="rId25"/>
    <p:sldId id="312" r:id="rId26"/>
    <p:sldId id="313" r:id="rId27"/>
    <p:sldId id="314" r:id="rId28"/>
    <p:sldId id="315" r:id="rId29"/>
    <p:sldId id="263" r:id="rId30"/>
    <p:sldId id="316" r:id="rId31"/>
    <p:sldId id="317" r:id="rId32"/>
    <p:sldId id="318" r:id="rId33"/>
    <p:sldId id="319" r:id="rId34"/>
    <p:sldId id="320" r:id="rId35"/>
    <p:sldId id="321" r:id="rId36"/>
    <p:sldId id="322" r:id="rId37"/>
    <p:sldId id="323" r:id="rId38"/>
    <p:sldId id="324" r:id="rId39"/>
    <p:sldId id="325" r:id="rId40"/>
    <p:sldId id="326" r:id="rId41"/>
    <p:sldId id="327" r:id="rId42"/>
    <p:sldId id="328" r:id="rId43"/>
    <p:sldId id="329" r:id="rId44"/>
    <p:sldId id="330" r:id="rId45"/>
    <p:sldId id="331" r:id="rId46"/>
    <p:sldId id="332" r:id="rId47"/>
    <p:sldId id="333" r:id="rId48"/>
    <p:sldId id="334" r:id="rId49"/>
    <p:sldId id="335" r:id="rId50"/>
    <p:sldId id="336" r:id="rId51"/>
    <p:sldId id="337" r:id="rId52"/>
    <p:sldId id="338" r:id="rId53"/>
    <p:sldId id="339" r:id="rId54"/>
    <p:sldId id="340" r:id="rId55"/>
    <p:sldId id="341" r:id="rId56"/>
    <p:sldId id="342" r:id="rId57"/>
    <p:sldId id="343" r:id="rId58"/>
    <p:sldId id="344" r:id="rId59"/>
    <p:sldId id="345" r:id="rId60"/>
    <p:sldId id="346" r:id="rId61"/>
    <p:sldId id="347" r:id="rId62"/>
    <p:sldId id="348" r:id="rId63"/>
    <p:sldId id="349" r:id="rId64"/>
    <p:sldId id="350" r:id="rId65"/>
    <p:sldId id="351" r:id="rId66"/>
    <p:sldId id="352" r:id="rId67"/>
    <p:sldId id="353" r:id="rId68"/>
    <p:sldId id="354" r:id="rId69"/>
    <p:sldId id="311" r:id="rId70"/>
  </p:sldIdLst>
  <p:sldSz cx="9144000" cy="6858000" type="screen4x3"/>
  <p:notesSz cx="7099300" cy="10234295"/>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FF"/>
    <a:srgbClr val="DDDDDD"/>
    <a:srgbClr val="663300"/>
    <a:srgbClr val="000066"/>
    <a:srgbClr val="CC0000"/>
    <a:srgbClr val="800000"/>
    <a:srgbClr val="FF3300"/>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6" autoAdjust="0"/>
    <p:restoredTop sz="99339" autoAdjust="0"/>
  </p:normalViewPr>
  <p:slideViewPr>
    <p:cSldViewPr>
      <p:cViewPr varScale="1">
        <p:scale>
          <a:sx n="72" d="100"/>
          <a:sy n="72" d="100"/>
        </p:scale>
        <p:origin x="1314"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4" Type="http://schemas.openxmlformats.org/officeDocument/2006/relationships/tableStyles" Target="tableStyles.xml"/><Relationship Id="rId73" Type="http://schemas.openxmlformats.org/officeDocument/2006/relationships/viewProps" Target="viewProps.xml"/><Relationship Id="rId72" Type="http://schemas.openxmlformats.org/officeDocument/2006/relationships/presProps" Target="presProps.xml"/><Relationship Id="rId71" Type="http://schemas.openxmlformats.org/officeDocument/2006/relationships/handoutMaster" Target="handoutMasters/handoutMaster1.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7.png"/></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8546"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defTabSz="990600">
              <a:defRPr kumimoji="1" sz="1300">
                <a:latin typeface="Times New Roman" panose="02020603050405020304" pitchFamily="18" charset="0"/>
              </a:defRPr>
            </a:lvl1pPr>
          </a:lstStyle>
          <a:p>
            <a:endParaRPr lang="zh-CN" altLang="en-US"/>
          </a:p>
        </p:txBody>
      </p:sp>
      <p:sp>
        <p:nvSpPr>
          <p:cNvPr id="108547" name="Rectangle 3"/>
          <p:cNvSpPr>
            <a:spLocks noGrp="1" noChangeArrowheads="1"/>
          </p:cNvSpPr>
          <p:nvPr>
            <p:ph type="dt" sz="quarter" idx="1"/>
          </p:nvPr>
        </p:nvSpPr>
        <p:spPr bwMode="auto">
          <a:xfrm>
            <a:off x="4022725"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defTabSz="990600">
              <a:defRPr kumimoji="1" sz="1300">
                <a:latin typeface="Times New Roman" panose="02020603050405020304" pitchFamily="18" charset="0"/>
              </a:defRPr>
            </a:lvl1pPr>
          </a:lstStyle>
          <a:p>
            <a:endParaRPr lang="en-US" altLang="zh-CN"/>
          </a:p>
        </p:txBody>
      </p:sp>
      <p:sp>
        <p:nvSpPr>
          <p:cNvPr id="108548" name="Rectangle 4"/>
          <p:cNvSpPr>
            <a:spLocks noGrp="1" noChangeArrowheads="1"/>
          </p:cNvSpPr>
          <p:nvPr>
            <p:ph type="ftr" sz="quarter" idx="2"/>
          </p:nvPr>
        </p:nvSpPr>
        <p:spPr bwMode="auto">
          <a:xfrm>
            <a:off x="0" y="9723438"/>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defTabSz="990600">
              <a:defRPr kumimoji="1" sz="1300">
                <a:latin typeface="Times New Roman" panose="02020603050405020304" pitchFamily="18" charset="0"/>
              </a:defRPr>
            </a:lvl1pPr>
          </a:lstStyle>
          <a:p>
            <a:endParaRPr lang="en-US" altLang="zh-CN"/>
          </a:p>
        </p:txBody>
      </p:sp>
      <p:sp>
        <p:nvSpPr>
          <p:cNvPr id="108549" name="Rectangle 5"/>
          <p:cNvSpPr>
            <a:spLocks noGrp="1" noChangeArrowheads="1"/>
          </p:cNvSpPr>
          <p:nvPr>
            <p:ph type="sldNum" sz="quarter" idx="3"/>
          </p:nvPr>
        </p:nvSpPr>
        <p:spPr bwMode="auto">
          <a:xfrm>
            <a:off x="4022725" y="9723438"/>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defTabSz="990600">
              <a:defRPr kumimoji="1" sz="1300">
                <a:latin typeface="Times New Roman" panose="02020603050405020304" pitchFamily="18" charset="0"/>
              </a:defRPr>
            </a:lvl1pPr>
          </a:lstStyle>
          <a:p>
            <a:fld id="{307711A0-76C2-4480-A336-F7F854866BB2}"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defTabSz="990600">
              <a:defRPr kumimoji="1" sz="1300">
                <a:latin typeface="Times New Roman" panose="02020603050405020304" pitchFamily="18" charset="0"/>
              </a:defRPr>
            </a:lvl1pPr>
          </a:lstStyle>
          <a:p>
            <a:endParaRPr lang="zh-CN" altLang="en-US"/>
          </a:p>
        </p:txBody>
      </p:sp>
      <p:sp>
        <p:nvSpPr>
          <p:cNvPr id="26627" name="Rectangle 3"/>
          <p:cNvSpPr>
            <a:spLocks noGrp="1" noChangeArrowheads="1"/>
          </p:cNvSpPr>
          <p:nvPr>
            <p:ph type="dt" idx="1"/>
          </p:nvPr>
        </p:nvSpPr>
        <p:spPr bwMode="auto">
          <a:xfrm>
            <a:off x="4022725"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defTabSz="990600">
              <a:defRPr kumimoji="1" sz="1300">
                <a:latin typeface="Times New Roman" panose="02020603050405020304" pitchFamily="18" charset="0"/>
              </a:defRPr>
            </a:lvl1pPr>
          </a:lstStyle>
          <a:p>
            <a:endParaRPr lang="en-US" altLang="zh-CN"/>
          </a:p>
        </p:txBody>
      </p:sp>
      <p:sp>
        <p:nvSpPr>
          <p:cNvPr id="26628" name="Rectangle 4"/>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6629" name="Rectangle 5"/>
          <p:cNvSpPr>
            <a:spLocks noGrp="1" noChangeArrowheads="1"/>
          </p:cNvSpPr>
          <p:nvPr>
            <p:ph type="body" sz="quarter" idx="3"/>
          </p:nvPr>
        </p:nvSpPr>
        <p:spPr bwMode="auto">
          <a:xfrm>
            <a:off x="946150" y="4860925"/>
            <a:ext cx="5207000"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26630" name="Rectangle 6"/>
          <p:cNvSpPr>
            <a:spLocks noGrp="1" noChangeArrowheads="1"/>
          </p:cNvSpPr>
          <p:nvPr>
            <p:ph type="ftr" sz="quarter" idx="4"/>
          </p:nvPr>
        </p:nvSpPr>
        <p:spPr bwMode="auto">
          <a:xfrm>
            <a:off x="0" y="9723438"/>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defTabSz="990600">
              <a:defRPr kumimoji="1" sz="1300">
                <a:latin typeface="Times New Roman" panose="02020603050405020304" pitchFamily="18" charset="0"/>
              </a:defRPr>
            </a:lvl1pPr>
          </a:lstStyle>
          <a:p>
            <a:endParaRPr lang="en-US" altLang="zh-CN"/>
          </a:p>
        </p:txBody>
      </p:sp>
      <p:sp>
        <p:nvSpPr>
          <p:cNvPr id="26631" name="Rectangle 7"/>
          <p:cNvSpPr>
            <a:spLocks noGrp="1" noChangeArrowheads="1"/>
          </p:cNvSpPr>
          <p:nvPr>
            <p:ph type="sldNum" sz="quarter" idx="5"/>
          </p:nvPr>
        </p:nvSpPr>
        <p:spPr bwMode="auto">
          <a:xfrm>
            <a:off x="4022725" y="9723438"/>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defTabSz="990600">
              <a:defRPr kumimoji="1" sz="1300">
                <a:latin typeface="Times New Roman" panose="02020603050405020304" pitchFamily="18" charset="0"/>
              </a:defRPr>
            </a:lvl1pPr>
          </a:lstStyle>
          <a:p>
            <a:fld id="{09A37A9E-6B0F-4DCF-B955-2CE14A3802CC}"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CFCE2ED9-227A-4547-ACC0-0245E1636948}" type="slidenum">
              <a:rPr lang="zh-CN" altLang="en-US"/>
            </a:fld>
            <a:endParaRPr lang="en-US" altLang="zh-CN"/>
          </a:p>
        </p:txBody>
      </p:sp>
      <p:sp>
        <p:nvSpPr>
          <p:cNvPr id="27650" name="Rectangle 2"/>
          <p:cNvSpPr>
            <a:spLocks noGrp="1" noRot="1" noChangeAspect="1" noChangeArrowheads="1" noTextEdit="1"/>
          </p:cNvSpPr>
          <p:nvPr>
            <p:ph type="sldImg"/>
          </p:nvPr>
        </p:nvSpPr>
        <p:spPr>
          <a:xfrm>
            <a:off x="992188" y="768350"/>
            <a:ext cx="5114925" cy="3836988"/>
          </a:xfrm>
        </p:spPr>
      </p:sp>
      <p:sp>
        <p:nvSpPr>
          <p:cNvPr id="27651" name="Rectangle 3"/>
          <p:cNvSpPr>
            <a:spLocks noGrp="1" noChangeArrowheads="1"/>
          </p:cNvSpPr>
          <p:nvPr>
            <p:ph type="body" idx="1"/>
          </p:nvPr>
        </p:nvSpPr>
        <p:spPr/>
        <p:txBody>
          <a:bodyPr/>
          <a:lstStyle/>
          <a:p>
            <a:r>
              <a:rPr lang="zh-CN" altLang="en-US"/>
              <a:t>欢迎辞</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329730" name="Line 2"/>
          <p:cNvSpPr>
            <a:spLocks noChangeShapeType="1"/>
          </p:cNvSpPr>
          <p:nvPr/>
        </p:nvSpPr>
        <p:spPr bwMode="auto">
          <a:xfrm>
            <a:off x="7315200" y="1066800"/>
            <a:ext cx="0" cy="4495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9731" name="Rectangle 3"/>
          <p:cNvSpPr>
            <a:spLocks noGrp="1" noChangeArrowheads="1"/>
          </p:cNvSpPr>
          <p:nvPr>
            <p:ph type="ctrTitle"/>
          </p:nvPr>
        </p:nvSpPr>
        <p:spPr>
          <a:xfrm>
            <a:off x="315913" y="466725"/>
            <a:ext cx="6781800" cy="2133600"/>
          </a:xfrm>
        </p:spPr>
        <p:txBody>
          <a:bodyPr/>
          <a:lstStyle>
            <a:lvl1pPr algn="r">
              <a:defRPr sz="4800"/>
            </a:lvl1pPr>
          </a:lstStyle>
          <a:p>
            <a:pPr lvl="0"/>
            <a:r>
              <a:rPr lang="en-US" altLang="zh-CN" noProof="0" smtClean="0"/>
              <a:t>单击此处编辑母版标题样式</a:t>
            </a:r>
            <a:endParaRPr lang="en-US" altLang="zh-CN" noProof="0" smtClean="0"/>
          </a:p>
        </p:txBody>
      </p:sp>
      <p:sp>
        <p:nvSpPr>
          <p:cNvPr id="329732" name="Rectangle 4"/>
          <p:cNvSpPr>
            <a:spLocks noGrp="1" noChangeArrowheads="1"/>
          </p:cNvSpPr>
          <p:nvPr>
            <p:ph type="subTitle" idx="1"/>
          </p:nvPr>
        </p:nvSpPr>
        <p:spPr>
          <a:xfrm>
            <a:off x="849313" y="3049588"/>
            <a:ext cx="6248400" cy="2362200"/>
          </a:xfrm>
        </p:spPr>
        <p:txBody>
          <a:bodyPr/>
          <a:lstStyle>
            <a:lvl1pPr marL="0" indent="0" algn="r">
              <a:buFont typeface="Wingdings" panose="05000000000000000000" pitchFamily="2" charset="2"/>
              <a:buNone/>
              <a:defRPr sz="3200"/>
            </a:lvl1pPr>
          </a:lstStyle>
          <a:p>
            <a:pPr lvl="0"/>
            <a:r>
              <a:rPr lang="en-US" altLang="zh-CN" noProof="0" smtClean="0"/>
              <a:t>单击此处编辑母版副标题样式</a:t>
            </a:r>
            <a:endParaRPr lang="en-US" altLang="zh-CN" noProof="0" smtClean="0"/>
          </a:p>
        </p:txBody>
      </p:sp>
      <p:sp>
        <p:nvSpPr>
          <p:cNvPr id="329733" name="Rectangle 5"/>
          <p:cNvSpPr>
            <a:spLocks noGrp="1" noChangeArrowheads="1"/>
          </p:cNvSpPr>
          <p:nvPr>
            <p:ph type="dt" sz="half" idx="2"/>
          </p:nvPr>
        </p:nvSpPr>
        <p:spPr/>
        <p:txBody>
          <a:bodyPr/>
          <a:lstStyle>
            <a:lvl1pPr>
              <a:defRPr/>
            </a:lvl1pPr>
          </a:lstStyle>
          <a:p>
            <a:endParaRPr lang="en-US" altLang="zh-CN"/>
          </a:p>
        </p:txBody>
      </p:sp>
      <p:sp>
        <p:nvSpPr>
          <p:cNvPr id="329734" name="Rectangle 6"/>
          <p:cNvSpPr>
            <a:spLocks noGrp="1" noChangeArrowheads="1"/>
          </p:cNvSpPr>
          <p:nvPr>
            <p:ph type="ftr" sz="quarter" idx="3"/>
          </p:nvPr>
        </p:nvSpPr>
        <p:spPr/>
        <p:txBody>
          <a:bodyPr/>
          <a:lstStyle>
            <a:lvl1pPr>
              <a:defRPr/>
            </a:lvl1pPr>
          </a:lstStyle>
          <a:p>
            <a:endParaRPr lang="en-US" altLang="zh-CN"/>
          </a:p>
        </p:txBody>
      </p:sp>
      <p:sp>
        <p:nvSpPr>
          <p:cNvPr id="329735" name="Rectangle 7"/>
          <p:cNvSpPr>
            <a:spLocks noGrp="1" noChangeArrowheads="1"/>
          </p:cNvSpPr>
          <p:nvPr>
            <p:ph type="sldNum" sz="quarter" idx="4"/>
          </p:nvPr>
        </p:nvSpPr>
        <p:spPr/>
        <p:txBody>
          <a:bodyPr/>
          <a:lstStyle>
            <a:lvl1pPr>
              <a:defRPr/>
            </a:lvl1pPr>
          </a:lstStyle>
          <a:p>
            <a:fld id="{0280C21B-6B51-4FAC-8A40-A2E71940F017}" type="slidenum">
              <a:rPr lang="en-US" altLang="zh-CN"/>
            </a:fld>
            <a:endParaRPr lang="en-US" altLang="zh-CN"/>
          </a:p>
        </p:txBody>
      </p:sp>
      <p:grpSp>
        <p:nvGrpSpPr>
          <p:cNvPr id="329736" name="Group 8"/>
          <p:cNvGrpSpPr/>
          <p:nvPr/>
        </p:nvGrpSpPr>
        <p:grpSpPr bwMode="auto">
          <a:xfrm>
            <a:off x="7493000" y="2992438"/>
            <a:ext cx="1338263" cy="2189162"/>
            <a:chOff x="4704" y="1885"/>
            <a:chExt cx="843" cy="1379"/>
          </a:xfrm>
        </p:grpSpPr>
        <p:sp>
          <p:nvSpPr>
            <p:cNvPr id="329737" name="Oval 9"/>
            <p:cNvSpPr>
              <a:spLocks noChangeArrowheads="1"/>
            </p:cNvSpPr>
            <p:nvPr/>
          </p:nvSpPr>
          <p:spPr bwMode="auto">
            <a:xfrm>
              <a:off x="4704"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9738" name="Oval 10"/>
            <p:cNvSpPr>
              <a:spLocks noChangeArrowheads="1"/>
            </p:cNvSpPr>
            <p:nvPr/>
          </p:nvSpPr>
          <p:spPr bwMode="auto">
            <a:xfrm>
              <a:off x="4883"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9739" name="Oval 11"/>
            <p:cNvSpPr>
              <a:spLocks noChangeArrowheads="1"/>
            </p:cNvSpPr>
            <p:nvPr/>
          </p:nvSpPr>
          <p:spPr bwMode="auto">
            <a:xfrm>
              <a:off x="5062"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9740" name="Oval 12"/>
            <p:cNvSpPr>
              <a:spLocks noChangeArrowheads="1"/>
            </p:cNvSpPr>
            <p:nvPr/>
          </p:nvSpPr>
          <p:spPr bwMode="auto">
            <a:xfrm>
              <a:off x="4704"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9741" name="Oval 13"/>
            <p:cNvSpPr>
              <a:spLocks noChangeArrowheads="1"/>
            </p:cNvSpPr>
            <p:nvPr/>
          </p:nvSpPr>
          <p:spPr bwMode="auto">
            <a:xfrm>
              <a:off x="4883"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9742" name="Oval 14"/>
            <p:cNvSpPr>
              <a:spLocks noChangeArrowheads="1"/>
            </p:cNvSpPr>
            <p:nvPr/>
          </p:nvSpPr>
          <p:spPr bwMode="auto">
            <a:xfrm>
              <a:off x="5062"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9743" name="Oval 15"/>
            <p:cNvSpPr>
              <a:spLocks noChangeArrowheads="1"/>
            </p:cNvSpPr>
            <p:nvPr/>
          </p:nvSpPr>
          <p:spPr bwMode="auto">
            <a:xfrm>
              <a:off x="5241" y="2064"/>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9744" name="Oval 16"/>
            <p:cNvSpPr>
              <a:spLocks noChangeArrowheads="1"/>
            </p:cNvSpPr>
            <p:nvPr/>
          </p:nvSpPr>
          <p:spPr bwMode="auto">
            <a:xfrm>
              <a:off x="4704"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9745" name="Oval 17"/>
            <p:cNvSpPr>
              <a:spLocks noChangeArrowheads="1"/>
            </p:cNvSpPr>
            <p:nvPr/>
          </p:nvSpPr>
          <p:spPr bwMode="auto">
            <a:xfrm>
              <a:off x="4883"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9746" name="Oval 18"/>
            <p:cNvSpPr>
              <a:spLocks noChangeArrowheads="1"/>
            </p:cNvSpPr>
            <p:nvPr/>
          </p:nvSpPr>
          <p:spPr bwMode="auto">
            <a:xfrm>
              <a:off x="5062"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9747" name="Oval 19"/>
            <p:cNvSpPr>
              <a:spLocks noChangeArrowheads="1"/>
            </p:cNvSpPr>
            <p:nvPr/>
          </p:nvSpPr>
          <p:spPr bwMode="auto">
            <a:xfrm>
              <a:off x="5241"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9748" name="Oval 20"/>
            <p:cNvSpPr>
              <a:spLocks noChangeArrowheads="1"/>
            </p:cNvSpPr>
            <p:nvPr/>
          </p:nvSpPr>
          <p:spPr bwMode="auto">
            <a:xfrm>
              <a:off x="5420" y="2243"/>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9749" name="Oval 21"/>
            <p:cNvSpPr>
              <a:spLocks noChangeArrowheads="1"/>
            </p:cNvSpPr>
            <p:nvPr/>
          </p:nvSpPr>
          <p:spPr bwMode="auto">
            <a:xfrm>
              <a:off x="4704" y="2421"/>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9750" name="Oval 22"/>
            <p:cNvSpPr>
              <a:spLocks noChangeArrowheads="1"/>
            </p:cNvSpPr>
            <p:nvPr/>
          </p:nvSpPr>
          <p:spPr bwMode="auto">
            <a:xfrm>
              <a:off x="4883"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9751" name="Oval 23"/>
            <p:cNvSpPr>
              <a:spLocks noChangeArrowheads="1"/>
            </p:cNvSpPr>
            <p:nvPr/>
          </p:nvSpPr>
          <p:spPr bwMode="auto">
            <a:xfrm>
              <a:off x="5062"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9752" name="Oval 24"/>
            <p:cNvSpPr>
              <a:spLocks noChangeArrowheads="1"/>
            </p:cNvSpPr>
            <p:nvPr/>
          </p:nvSpPr>
          <p:spPr bwMode="auto">
            <a:xfrm>
              <a:off x="5241" y="2421"/>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9753" name="Oval 25"/>
            <p:cNvSpPr>
              <a:spLocks noChangeArrowheads="1"/>
            </p:cNvSpPr>
            <p:nvPr/>
          </p:nvSpPr>
          <p:spPr bwMode="auto">
            <a:xfrm>
              <a:off x="4704"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9754" name="Oval 26"/>
            <p:cNvSpPr>
              <a:spLocks noChangeArrowheads="1"/>
            </p:cNvSpPr>
            <p:nvPr/>
          </p:nvSpPr>
          <p:spPr bwMode="auto">
            <a:xfrm>
              <a:off x="4883"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9755" name="Oval 27"/>
            <p:cNvSpPr>
              <a:spLocks noChangeArrowheads="1"/>
            </p:cNvSpPr>
            <p:nvPr/>
          </p:nvSpPr>
          <p:spPr bwMode="auto">
            <a:xfrm>
              <a:off x="5062"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9756" name="Oval 28"/>
            <p:cNvSpPr>
              <a:spLocks noChangeArrowheads="1"/>
            </p:cNvSpPr>
            <p:nvPr/>
          </p:nvSpPr>
          <p:spPr bwMode="auto">
            <a:xfrm>
              <a:off x="5241"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9757" name="Oval 29"/>
            <p:cNvSpPr>
              <a:spLocks noChangeArrowheads="1"/>
            </p:cNvSpPr>
            <p:nvPr/>
          </p:nvSpPr>
          <p:spPr bwMode="auto">
            <a:xfrm>
              <a:off x="5420" y="2600"/>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9758" name="Oval 30"/>
            <p:cNvSpPr>
              <a:spLocks noChangeArrowheads="1"/>
            </p:cNvSpPr>
            <p:nvPr/>
          </p:nvSpPr>
          <p:spPr bwMode="auto">
            <a:xfrm>
              <a:off x="4704" y="2779"/>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9759" name="Oval 31"/>
            <p:cNvSpPr>
              <a:spLocks noChangeArrowheads="1"/>
            </p:cNvSpPr>
            <p:nvPr/>
          </p:nvSpPr>
          <p:spPr bwMode="auto">
            <a:xfrm>
              <a:off x="4883"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9760" name="Oval 32"/>
            <p:cNvSpPr>
              <a:spLocks noChangeArrowheads="1"/>
            </p:cNvSpPr>
            <p:nvPr/>
          </p:nvSpPr>
          <p:spPr bwMode="auto">
            <a:xfrm>
              <a:off x="5062"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9761" name="Oval 33"/>
            <p:cNvSpPr>
              <a:spLocks noChangeArrowheads="1"/>
            </p:cNvSpPr>
            <p:nvPr/>
          </p:nvSpPr>
          <p:spPr bwMode="auto">
            <a:xfrm>
              <a:off x="5241" y="2779"/>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9762" name="Oval 34"/>
            <p:cNvSpPr>
              <a:spLocks noChangeArrowheads="1"/>
            </p:cNvSpPr>
            <p:nvPr/>
          </p:nvSpPr>
          <p:spPr bwMode="auto">
            <a:xfrm>
              <a:off x="4704"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9763" name="Oval 35"/>
            <p:cNvSpPr>
              <a:spLocks noChangeArrowheads="1"/>
            </p:cNvSpPr>
            <p:nvPr/>
          </p:nvSpPr>
          <p:spPr bwMode="auto">
            <a:xfrm>
              <a:off x="4883"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9764" name="Oval 36"/>
            <p:cNvSpPr>
              <a:spLocks noChangeArrowheads="1"/>
            </p:cNvSpPr>
            <p:nvPr/>
          </p:nvSpPr>
          <p:spPr bwMode="auto">
            <a:xfrm>
              <a:off x="5062"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9765" name="Oval 37"/>
            <p:cNvSpPr>
              <a:spLocks noChangeArrowheads="1"/>
            </p:cNvSpPr>
            <p:nvPr/>
          </p:nvSpPr>
          <p:spPr bwMode="auto">
            <a:xfrm>
              <a:off x="5241"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9766" name="Oval 38"/>
            <p:cNvSpPr>
              <a:spLocks noChangeArrowheads="1"/>
            </p:cNvSpPr>
            <p:nvPr/>
          </p:nvSpPr>
          <p:spPr bwMode="auto">
            <a:xfrm>
              <a:off x="4883"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9767" name="Oval 39"/>
            <p:cNvSpPr>
              <a:spLocks noChangeArrowheads="1"/>
            </p:cNvSpPr>
            <p:nvPr/>
          </p:nvSpPr>
          <p:spPr bwMode="auto">
            <a:xfrm>
              <a:off x="5241"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29768" name="Line 40"/>
          <p:cNvSpPr>
            <a:spLocks noChangeShapeType="1"/>
          </p:cNvSpPr>
          <p:nvPr/>
        </p:nvSpPr>
        <p:spPr bwMode="auto">
          <a:xfrm>
            <a:off x="304800" y="2819400"/>
            <a:ext cx="8229600" cy="0"/>
          </a:xfrm>
          <a:prstGeom prst="line">
            <a:avLst/>
          </a:prstGeom>
          <a:noFill/>
          <a:ln w="63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99263AA1-7F56-4EEE-AA14-E7D168FA681B}"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88E11C9F-EC7B-4319-97DE-F4058B0594DA}"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DD3F3F63-4AD2-419E-BF7F-81A3414332BE}"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BF84859A-AFFE-4B72-8D3D-247B8A117D5A}"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E8AFA882-BCA6-48AA-9108-E69D769225B0}"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F1828F51-97CE-40F5-979A-1FC786EE2135}"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121D1870-E45C-464D-9152-B5B4E47AB8B3}"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5717823C-D2D1-4630-A070-3CB0861C9448}"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05FA872A-1A09-4E42-BCFE-EC8F00CDFD52}"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22238"/>
            <a:ext cx="2057400" cy="600868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2238"/>
            <a:ext cx="6019800" cy="6008687"/>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EE9B71B9-6837-4586-A629-51AE93BD001A}"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8706" name="Line 2"/>
          <p:cNvSpPr>
            <a:spLocks noChangeShapeType="1"/>
          </p:cNvSpPr>
          <p:nvPr/>
        </p:nvSpPr>
        <p:spPr bwMode="auto">
          <a:xfrm>
            <a:off x="7962900" y="152400"/>
            <a:ext cx="0" cy="1524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707" name="Rectangle 3"/>
          <p:cNvSpPr>
            <a:spLocks noGrp="1" noChangeArrowheads="1"/>
          </p:cNvSpPr>
          <p:nvPr>
            <p:ph type="title"/>
          </p:nvPr>
        </p:nvSpPr>
        <p:spPr bwMode="auto">
          <a:xfrm>
            <a:off x="457200" y="122238"/>
            <a:ext cx="75438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en-US" altLang="zh-CN" smtClean="0"/>
              <a:t>单击此处编辑母版标题样式</a:t>
            </a:r>
            <a:endParaRPr lang="en-US" altLang="zh-CN" smtClean="0"/>
          </a:p>
        </p:txBody>
      </p:sp>
      <p:sp>
        <p:nvSpPr>
          <p:cNvPr id="328708" name="Rectangle 4"/>
          <p:cNvSpPr>
            <a:spLocks noGrp="1" noChangeArrowheads="1"/>
          </p:cNvSpPr>
          <p:nvPr>
            <p:ph type="body" idx="1"/>
          </p:nvPr>
        </p:nvSpPr>
        <p:spPr bwMode="auto">
          <a:xfrm>
            <a:off x="457200" y="1719263"/>
            <a:ext cx="8229600" cy="441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zh-CN" smtClean="0"/>
              <a:t>单击此处编辑母版文本样式</a:t>
            </a:r>
            <a:endParaRPr lang="en-US" altLang="zh-CN" smtClean="0"/>
          </a:p>
          <a:p>
            <a:pPr lvl="1"/>
            <a:r>
              <a:rPr lang="en-US" altLang="zh-CN" smtClean="0"/>
              <a:t>第二级</a:t>
            </a:r>
            <a:endParaRPr lang="en-US" altLang="zh-CN" smtClean="0"/>
          </a:p>
          <a:p>
            <a:pPr lvl="2"/>
            <a:r>
              <a:rPr lang="en-US" altLang="zh-CN" smtClean="0"/>
              <a:t>第三级</a:t>
            </a:r>
            <a:endParaRPr lang="en-US" altLang="zh-CN" smtClean="0"/>
          </a:p>
          <a:p>
            <a:pPr lvl="3"/>
            <a:r>
              <a:rPr lang="en-US" altLang="zh-CN" smtClean="0"/>
              <a:t>第四级</a:t>
            </a:r>
            <a:endParaRPr lang="en-US" altLang="zh-CN" smtClean="0"/>
          </a:p>
          <a:p>
            <a:pPr lvl="4"/>
            <a:r>
              <a:rPr lang="en-US" altLang="zh-CN" smtClean="0"/>
              <a:t>第五级</a:t>
            </a:r>
            <a:endParaRPr lang="en-US" altLang="zh-CN" smtClean="0"/>
          </a:p>
        </p:txBody>
      </p:sp>
      <p:sp>
        <p:nvSpPr>
          <p:cNvPr id="328709" name="Rectangle 5"/>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000"/>
            </a:lvl1pPr>
          </a:lstStyle>
          <a:p>
            <a:endParaRPr lang="en-US" altLang="zh-CN"/>
          </a:p>
        </p:txBody>
      </p:sp>
      <p:sp>
        <p:nvSpPr>
          <p:cNvPr id="328710" name="Rectangle 6"/>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000"/>
            </a:lvl1pPr>
          </a:lstStyle>
          <a:p>
            <a:endParaRPr lang="en-US" altLang="zh-CN"/>
          </a:p>
        </p:txBody>
      </p:sp>
      <p:sp>
        <p:nvSpPr>
          <p:cNvPr id="328711" name="Rectangle 7"/>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000"/>
            </a:lvl1pPr>
          </a:lstStyle>
          <a:p>
            <a:fld id="{B2D439EE-77C1-4C44-BF71-A1D53E610E81}" type="slidenum">
              <a:rPr lang="en-US" altLang="zh-CN"/>
            </a:fld>
            <a:endParaRPr lang="en-US" altLang="zh-CN"/>
          </a:p>
        </p:txBody>
      </p:sp>
      <p:grpSp>
        <p:nvGrpSpPr>
          <p:cNvPr id="328712" name="Group 8"/>
          <p:cNvGrpSpPr/>
          <p:nvPr/>
        </p:nvGrpSpPr>
        <p:grpSpPr bwMode="auto">
          <a:xfrm>
            <a:off x="8153400" y="152400"/>
            <a:ext cx="792163" cy="1295400"/>
            <a:chOff x="5136" y="960"/>
            <a:chExt cx="528" cy="864"/>
          </a:xfrm>
        </p:grpSpPr>
        <p:sp>
          <p:nvSpPr>
            <p:cNvPr id="328713"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14"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15"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16"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17"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18"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19"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20"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21"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22"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23"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24"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25"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26"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27"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28"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29"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30"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31"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32"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33"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34"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35"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36"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37"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38"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39"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40"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41"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42"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43"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hdr="0" ftr="0" dt="0"/>
  <p:txStyles>
    <p:titleStyle>
      <a:lvl1pPr algn="l" rtl="0" fontAlgn="base">
        <a:spcBef>
          <a:spcPct val="0"/>
        </a:spcBef>
        <a:spcAft>
          <a:spcPct val="0"/>
        </a:spcAft>
        <a:defRPr sz="3900" b="1">
          <a:solidFill>
            <a:schemeClr val="tx2"/>
          </a:solidFill>
          <a:latin typeface="+mj-lt"/>
          <a:ea typeface="+mj-ea"/>
          <a:cs typeface="+mj-cs"/>
        </a:defRPr>
      </a:lvl1pPr>
      <a:lvl2pPr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fontAlgn="base">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fontAlgn="base">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fontAlgn="base">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wmf"/></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wmf"/></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wmf"/></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wmf"/></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wmf"/></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1.png"/><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7.xml"/><Relationship Id="rId4" Type="http://schemas.openxmlformats.org/officeDocument/2006/relationships/image" Target="../media/image13.wmf"/><Relationship Id="rId3" Type="http://schemas.openxmlformats.org/officeDocument/2006/relationships/oleObject" Target="../embeddings/oleObject2.bin"/><Relationship Id="rId2" Type="http://schemas.openxmlformats.org/officeDocument/2006/relationships/image" Target="../media/image12.wmf"/><Relationship Id="rId1" Type="http://schemas.openxmlformats.org/officeDocument/2006/relationships/oleObject" Target="../embeddings/oleObject1.bin"/></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16.wmf"/><Relationship Id="rId3" Type="http://schemas.openxmlformats.org/officeDocument/2006/relationships/oleObject" Target="../embeddings/oleObject4.bin"/><Relationship Id="rId2" Type="http://schemas.openxmlformats.org/officeDocument/2006/relationships/image" Target="../media/image15.wmf"/><Relationship Id="rId1" Type="http://schemas.openxmlformats.org/officeDocument/2006/relationships/oleObject" Target="../embeddings/oleObject3.bin"/></Relationships>
</file>

<file path=ppt/slides/_rels/slide27.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17.wmf"/><Relationship Id="rId1" Type="http://schemas.openxmlformats.org/officeDocument/2006/relationships/oleObject" Target="../embeddings/oleObject5.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18.wmf"/><Relationship Id="rId1" Type="http://schemas.openxmlformats.org/officeDocument/2006/relationships/oleObject" Target="../embeddings/oleObject6.bin"/></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w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w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wmf"/></Relationships>
</file>

<file path=ppt/slides/_rels/slide43.xml.rels><?xml version="1.0" encoding="UTF-8" standalone="yes"?>
<Relationships xmlns="http://schemas.openxmlformats.org/package/2006/relationships"><Relationship Id="rId8" Type="http://schemas.openxmlformats.org/officeDocument/2006/relationships/vmlDrawing" Target="../drawings/vmlDrawing5.vml"/><Relationship Id="rId7" Type="http://schemas.openxmlformats.org/officeDocument/2006/relationships/slideLayout" Target="../slideLayouts/slideLayout2.xml"/><Relationship Id="rId6" Type="http://schemas.openxmlformats.org/officeDocument/2006/relationships/image" Target="../media/image26.wmf"/><Relationship Id="rId5" Type="http://schemas.openxmlformats.org/officeDocument/2006/relationships/oleObject" Target="../embeddings/oleObject9.bin"/><Relationship Id="rId4" Type="http://schemas.openxmlformats.org/officeDocument/2006/relationships/image" Target="../media/image25.wmf"/><Relationship Id="rId3" Type="http://schemas.openxmlformats.org/officeDocument/2006/relationships/oleObject" Target="../embeddings/oleObject8.bin"/><Relationship Id="rId2" Type="http://schemas.openxmlformats.org/officeDocument/2006/relationships/image" Target="../media/image24.wmf"/><Relationship Id="rId1" Type="http://schemas.openxmlformats.org/officeDocument/2006/relationships/oleObject" Target="../embeddings/oleObject7.bin"/></Relationships>
</file>

<file path=ppt/slides/_rels/slide44.xml.rels><?xml version="1.0" encoding="UTF-8" standalone="yes"?>
<Relationships xmlns="http://schemas.openxmlformats.org/package/2006/relationships"><Relationship Id="rId5" Type="http://schemas.openxmlformats.org/officeDocument/2006/relationships/vmlDrawing" Target="../drawings/vmlDrawing6.vml"/><Relationship Id="rId4" Type="http://schemas.openxmlformats.org/officeDocument/2006/relationships/slideLayout" Target="../slideLayouts/slideLayout7.xml"/><Relationship Id="rId3" Type="http://schemas.openxmlformats.org/officeDocument/2006/relationships/image" Target="../media/image17.wmf"/><Relationship Id="rId2" Type="http://schemas.openxmlformats.org/officeDocument/2006/relationships/oleObject" Target="../embeddings/oleObject10.bin"/><Relationship Id="rId1" Type="http://schemas.openxmlformats.org/officeDocument/2006/relationships/image" Target="../media/image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27.png"/><Relationship Id="rId1" Type="http://schemas.openxmlformats.org/officeDocument/2006/relationships/oleObject" Target="../embeddings/oleObject11.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7" Type="http://schemas.openxmlformats.org/officeDocument/2006/relationships/vmlDrawing" Target="../drawings/vmlDrawing8.vml"/><Relationship Id="rId6" Type="http://schemas.openxmlformats.org/officeDocument/2006/relationships/slideLayout" Target="../slideLayouts/slideLayout7.xml"/><Relationship Id="rId5" Type="http://schemas.openxmlformats.org/officeDocument/2006/relationships/image" Target="../media/image30.wmf"/><Relationship Id="rId4" Type="http://schemas.openxmlformats.org/officeDocument/2006/relationships/oleObject" Target="../embeddings/oleObject13.bin"/><Relationship Id="rId3" Type="http://schemas.openxmlformats.org/officeDocument/2006/relationships/image" Target="../media/image29.wmf"/><Relationship Id="rId2" Type="http://schemas.openxmlformats.org/officeDocument/2006/relationships/oleObject" Target="../embeddings/oleObject12.bin"/><Relationship Id="rId1" Type="http://schemas.openxmlformats.org/officeDocument/2006/relationships/image" Target="../media/image2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5" Type="http://schemas.openxmlformats.org/officeDocument/2006/relationships/vmlDrawing" Target="../drawings/vmlDrawing9.vml"/><Relationship Id="rId4" Type="http://schemas.openxmlformats.org/officeDocument/2006/relationships/slideLayout" Target="../slideLayouts/slideLayout7.xml"/><Relationship Id="rId3" Type="http://schemas.openxmlformats.org/officeDocument/2006/relationships/image" Target="../media/image33.png"/><Relationship Id="rId2" Type="http://schemas.openxmlformats.org/officeDocument/2006/relationships/image" Target="../media/image32.wmf"/><Relationship Id="rId1" Type="http://schemas.openxmlformats.org/officeDocument/2006/relationships/oleObject" Target="../embeddings/oleObject14.bin"/></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5.png"/><Relationship Id="rId1" Type="http://schemas.openxmlformats.org/officeDocument/2006/relationships/image" Target="../media/image3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7"/>
          <p:cNvSpPr>
            <a:spLocks noGrp="1" noChangeArrowheads="1"/>
          </p:cNvSpPr>
          <p:nvPr>
            <p:ph type="sldNum" sz="quarter" idx="4"/>
          </p:nvPr>
        </p:nvSpPr>
        <p:spPr/>
        <p:txBody>
          <a:bodyPr/>
          <a:lstStyle/>
          <a:p>
            <a:fld id="{38B92135-B709-460A-879D-6C8B4E9AEB83}" type="slidenum">
              <a:rPr lang="en-US" altLang="zh-CN"/>
            </a:fld>
            <a:endParaRPr lang="en-US" altLang="zh-CN"/>
          </a:p>
        </p:txBody>
      </p:sp>
      <p:sp>
        <p:nvSpPr>
          <p:cNvPr id="21506" name="Rectangle 2"/>
          <p:cNvSpPr>
            <a:spLocks noGrp="1" noChangeArrowheads="1"/>
          </p:cNvSpPr>
          <p:nvPr>
            <p:ph type="ctrTitle"/>
          </p:nvPr>
        </p:nvSpPr>
        <p:spPr>
          <a:xfrm>
            <a:off x="971550" y="1627188"/>
            <a:ext cx="6264275" cy="1081087"/>
          </a:xfrm>
        </p:spPr>
        <p:txBody>
          <a:bodyPr/>
          <a:lstStyle/>
          <a:p>
            <a:r>
              <a:rPr lang="zh-CN" altLang="en-US">
                <a:solidFill>
                  <a:srgbClr val="800000"/>
                </a:solidFill>
                <a:effectLst>
                  <a:outerShdw blurRad="38100" dist="38100" dir="2700000" algn="tl">
                    <a:srgbClr val="C0C0C0"/>
                  </a:outerShdw>
                </a:effectLst>
                <a:ea typeface="黑体" panose="02010609060101010101" pitchFamily="49" charset="-122"/>
              </a:rPr>
              <a:t>第</a:t>
            </a:r>
            <a:r>
              <a:rPr lang="en-US" altLang="zh-CN">
                <a:solidFill>
                  <a:srgbClr val="800000"/>
                </a:solidFill>
                <a:effectLst>
                  <a:outerShdw blurRad="38100" dist="38100" dir="2700000" algn="tl">
                    <a:srgbClr val="C0C0C0"/>
                  </a:outerShdw>
                </a:effectLst>
                <a:ea typeface="黑体" panose="02010609060101010101" pitchFamily="49" charset="-122"/>
              </a:rPr>
              <a:t>5</a:t>
            </a:r>
            <a:r>
              <a:rPr lang="zh-CN" altLang="en-US">
                <a:solidFill>
                  <a:srgbClr val="800000"/>
                </a:solidFill>
                <a:effectLst>
                  <a:outerShdw blurRad="38100" dist="38100" dir="2700000" algn="tl">
                    <a:srgbClr val="C0C0C0"/>
                  </a:outerShdw>
                </a:effectLst>
                <a:ea typeface="黑体" panose="02010609060101010101" pitchFamily="49" charset="-122"/>
              </a:rPr>
              <a:t>章  回溯法</a:t>
            </a:r>
            <a:endParaRPr lang="zh-CN" altLang="en-US">
              <a:solidFill>
                <a:srgbClr val="800000"/>
              </a:solidFill>
              <a:effectLst>
                <a:outerShdw blurRad="38100" dist="38100" dir="2700000" algn="tl">
                  <a:srgbClr val="C0C0C0"/>
                </a:outerShdw>
              </a:effectLst>
              <a:ea typeface="黑体" panose="02010609060101010101" pitchFamily="49"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0CB36732-93F6-4B44-97E1-F2EA1053D0F2}" type="slidenum">
              <a:rPr lang="en-US" altLang="zh-CN"/>
            </a:fld>
            <a:endParaRPr lang="en-US" altLang="zh-CN"/>
          </a:p>
        </p:txBody>
      </p:sp>
      <p:sp>
        <p:nvSpPr>
          <p:cNvPr id="322563" name="Rectangle 3"/>
          <p:cNvSpPr>
            <a:spLocks noGrp="1" noChangeArrowheads="1"/>
          </p:cNvSpPr>
          <p:nvPr>
            <p:ph type="body" idx="1"/>
          </p:nvPr>
        </p:nvSpPr>
        <p:spPr>
          <a:xfrm>
            <a:off x="468313" y="333375"/>
            <a:ext cx="7848600" cy="6048375"/>
          </a:xfrm>
        </p:spPr>
        <p:txBody>
          <a:bodyPr/>
          <a:lstStyle/>
          <a:p>
            <a:pPr>
              <a:lnSpc>
                <a:spcPct val="200000"/>
              </a:lnSpc>
              <a:spcBef>
                <a:spcPct val="0"/>
              </a:spcBef>
              <a:buFont typeface="Symbol" panose="05050102010706020507" pitchFamily="18" charset="2"/>
              <a:buChar char="·"/>
            </a:pPr>
            <a:r>
              <a:rPr lang="zh-CN" altLang="en-US" sz="2800" b="1">
                <a:solidFill>
                  <a:srgbClr val="3907F1"/>
                </a:solidFill>
                <a:latin typeface="华文新魏" panose="02010800040101010101" pitchFamily="2" charset="-122"/>
                <a:ea typeface="华文新魏" panose="02010800040101010101" pitchFamily="2" charset="-122"/>
              </a:rPr>
              <a:t>学习要点</a:t>
            </a:r>
            <a:endParaRPr lang="zh-CN" altLang="en-US" sz="2800" b="1">
              <a:solidFill>
                <a:srgbClr val="3907F1"/>
              </a:solidFill>
              <a:latin typeface="华文新魏" panose="02010800040101010101" pitchFamily="2" charset="-122"/>
              <a:ea typeface="华文新魏" panose="02010800040101010101" pitchFamily="2" charset="-122"/>
            </a:endParaRPr>
          </a:p>
          <a:p>
            <a:pPr>
              <a:lnSpc>
                <a:spcPct val="200000"/>
              </a:lnSpc>
              <a:spcBef>
                <a:spcPct val="0"/>
              </a:spcBef>
              <a:buFont typeface="Symbol" panose="05050102010706020507" pitchFamily="18" charset="2"/>
              <a:buChar char="·"/>
            </a:pPr>
            <a:r>
              <a:rPr lang="zh-CN" altLang="en-US" sz="2800">
                <a:latin typeface="华文新魏" panose="02010800040101010101" pitchFamily="2" charset="-122"/>
                <a:ea typeface="华文新魏" panose="02010800040101010101" pitchFamily="2" charset="-122"/>
              </a:rPr>
              <a:t>理解回溯法的深度优先搜索策略。</a:t>
            </a:r>
            <a:endParaRPr lang="zh-CN" altLang="en-US" sz="2800">
              <a:latin typeface="华文新魏" panose="02010800040101010101" pitchFamily="2" charset="-122"/>
              <a:ea typeface="华文新魏" panose="02010800040101010101" pitchFamily="2" charset="-122"/>
            </a:endParaRPr>
          </a:p>
          <a:p>
            <a:pPr>
              <a:lnSpc>
                <a:spcPct val="200000"/>
              </a:lnSpc>
              <a:spcBef>
                <a:spcPct val="0"/>
              </a:spcBef>
              <a:buFont typeface="Symbol" panose="05050102010706020507" pitchFamily="18" charset="2"/>
              <a:buChar char="·"/>
            </a:pPr>
            <a:r>
              <a:rPr lang="zh-CN" altLang="en-US" sz="2800">
                <a:latin typeface="华文新魏" panose="02010800040101010101" pitchFamily="2" charset="-122"/>
                <a:ea typeface="华文新魏" panose="02010800040101010101" pitchFamily="2" charset="-122"/>
              </a:rPr>
              <a:t>掌握用回溯法解题的算法框架</a:t>
            </a:r>
            <a:endParaRPr lang="zh-CN" altLang="en-US" sz="2800">
              <a:latin typeface="华文新魏" panose="02010800040101010101" pitchFamily="2" charset="-122"/>
              <a:ea typeface="华文新魏" panose="02010800040101010101" pitchFamily="2" charset="-122"/>
            </a:endParaRPr>
          </a:p>
          <a:p>
            <a:pPr>
              <a:lnSpc>
                <a:spcPct val="200000"/>
              </a:lnSpc>
              <a:spcBef>
                <a:spcPct val="0"/>
              </a:spcBef>
              <a:buFont typeface="Symbol" panose="05050102010706020507" pitchFamily="18" charset="2"/>
              <a:buChar char="·"/>
            </a:pPr>
            <a:r>
              <a:rPr lang="zh-CN" altLang="en-US" sz="2800">
                <a:latin typeface="华文新魏" panose="02010800040101010101" pitchFamily="2" charset="-122"/>
                <a:ea typeface="华文新魏" panose="02010800040101010101" pitchFamily="2" charset="-122"/>
              </a:rPr>
              <a:t>（</a:t>
            </a:r>
            <a:r>
              <a:rPr lang="en-US" altLang="zh-CN" sz="2800">
                <a:latin typeface="华文新魏" panose="02010800040101010101" pitchFamily="2" charset="-122"/>
                <a:ea typeface="华文新魏" panose="02010800040101010101" pitchFamily="2" charset="-122"/>
              </a:rPr>
              <a:t>1</a:t>
            </a:r>
            <a:r>
              <a:rPr lang="zh-CN" altLang="en-US" sz="2800">
                <a:latin typeface="华文新魏" panose="02010800040101010101" pitchFamily="2" charset="-122"/>
                <a:ea typeface="华文新魏" panose="02010800040101010101" pitchFamily="2" charset="-122"/>
              </a:rPr>
              <a:t>）递归回溯</a:t>
            </a:r>
            <a:endParaRPr lang="zh-CN" altLang="en-US" sz="2800">
              <a:latin typeface="华文新魏" panose="02010800040101010101" pitchFamily="2" charset="-122"/>
              <a:ea typeface="华文新魏" panose="02010800040101010101" pitchFamily="2" charset="-122"/>
            </a:endParaRPr>
          </a:p>
          <a:p>
            <a:pPr>
              <a:lnSpc>
                <a:spcPct val="200000"/>
              </a:lnSpc>
              <a:spcBef>
                <a:spcPct val="0"/>
              </a:spcBef>
              <a:buFont typeface="Symbol" panose="05050102010706020507" pitchFamily="18" charset="2"/>
              <a:buChar char="·"/>
            </a:pPr>
            <a:r>
              <a:rPr lang="zh-CN" altLang="en-US" sz="2800">
                <a:latin typeface="华文新魏" panose="02010800040101010101" pitchFamily="2" charset="-122"/>
                <a:ea typeface="华文新魏" panose="02010800040101010101" pitchFamily="2" charset="-122"/>
              </a:rPr>
              <a:t>（</a:t>
            </a:r>
            <a:r>
              <a:rPr lang="en-US" altLang="zh-CN" sz="2800">
                <a:latin typeface="华文新魏" panose="02010800040101010101" pitchFamily="2" charset="-122"/>
                <a:ea typeface="华文新魏" panose="02010800040101010101" pitchFamily="2" charset="-122"/>
              </a:rPr>
              <a:t>2</a:t>
            </a:r>
            <a:r>
              <a:rPr lang="zh-CN" altLang="en-US" sz="2800">
                <a:latin typeface="华文新魏" panose="02010800040101010101" pitchFamily="2" charset="-122"/>
                <a:ea typeface="华文新魏" panose="02010800040101010101" pitchFamily="2" charset="-122"/>
              </a:rPr>
              <a:t>）迭代回溯</a:t>
            </a:r>
            <a:endParaRPr lang="zh-CN" altLang="en-US" sz="2800">
              <a:latin typeface="华文新魏" panose="02010800040101010101" pitchFamily="2" charset="-122"/>
              <a:ea typeface="华文新魏" panose="02010800040101010101" pitchFamily="2" charset="-122"/>
            </a:endParaRPr>
          </a:p>
          <a:p>
            <a:pPr>
              <a:lnSpc>
                <a:spcPct val="200000"/>
              </a:lnSpc>
              <a:spcBef>
                <a:spcPct val="0"/>
              </a:spcBef>
              <a:buFont typeface="Symbol" panose="05050102010706020507" pitchFamily="18" charset="2"/>
              <a:buChar char="·"/>
            </a:pPr>
            <a:r>
              <a:rPr lang="zh-CN" altLang="en-US" sz="2800">
                <a:latin typeface="华文新魏" panose="02010800040101010101" pitchFamily="2" charset="-122"/>
                <a:ea typeface="华文新魏" panose="02010800040101010101" pitchFamily="2" charset="-122"/>
              </a:rPr>
              <a:t>（</a:t>
            </a:r>
            <a:r>
              <a:rPr lang="en-US" altLang="zh-CN" sz="2800">
                <a:latin typeface="华文新魏" panose="02010800040101010101" pitchFamily="2" charset="-122"/>
                <a:ea typeface="华文新魏" panose="02010800040101010101" pitchFamily="2" charset="-122"/>
              </a:rPr>
              <a:t>3</a:t>
            </a:r>
            <a:r>
              <a:rPr lang="zh-CN" altLang="en-US" sz="2800">
                <a:latin typeface="华文新魏" panose="02010800040101010101" pitchFamily="2" charset="-122"/>
                <a:ea typeface="华文新魏" panose="02010800040101010101" pitchFamily="2" charset="-122"/>
              </a:rPr>
              <a:t>）子集树算法框架</a:t>
            </a:r>
            <a:endParaRPr lang="zh-CN" altLang="en-US" sz="2800">
              <a:latin typeface="华文新魏" panose="02010800040101010101" pitchFamily="2" charset="-122"/>
              <a:ea typeface="华文新魏" panose="02010800040101010101" pitchFamily="2" charset="-122"/>
            </a:endParaRPr>
          </a:p>
          <a:p>
            <a:pPr>
              <a:lnSpc>
                <a:spcPct val="200000"/>
              </a:lnSpc>
              <a:spcBef>
                <a:spcPct val="0"/>
              </a:spcBef>
              <a:buFont typeface="Symbol" panose="05050102010706020507" pitchFamily="18" charset="2"/>
              <a:buChar char="·"/>
            </a:pPr>
            <a:r>
              <a:rPr lang="zh-CN" altLang="en-US" sz="2800">
                <a:latin typeface="华文新魏" panose="02010800040101010101" pitchFamily="2" charset="-122"/>
                <a:ea typeface="华文新魏" panose="02010800040101010101" pitchFamily="2" charset="-122"/>
              </a:rPr>
              <a:t>（</a:t>
            </a:r>
            <a:r>
              <a:rPr lang="en-US" altLang="zh-CN" sz="2800">
                <a:latin typeface="华文新魏" panose="02010800040101010101" pitchFamily="2" charset="-122"/>
                <a:ea typeface="华文新魏" panose="02010800040101010101" pitchFamily="2" charset="-122"/>
              </a:rPr>
              <a:t>4</a:t>
            </a:r>
            <a:r>
              <a:rPr lang="zh-CN" altLang="en-US" sz="2800">
                <a:latin typeface="华文新魏" panose="02010800040101010101" pitchFamily="2" charset="-122"/>
                <a:ea typeface="华文新魏" panose="02010800040101010101" pitchFamily="2" charset="-122"/>
              </a:rPr>
              <a:t>）排列树算法框架</a:t>
            </a:r>
            <a:endParaRPr lang="zh-CN" altLang="en-US" sz="2800" b="1">
              <a:latin typeface="华文新魏" panose="02010800040101010101" pitchFamily="2" charset="-122"/>
              <a:ea typeface="华文新魏" panose="02010800040101010101" pitchFamily="2" charset="-122"/>
              <a:sym typeface="Symbol" panose="05050102010706020507" pitchFamily="18" charset="2"/>
            </a:endParaRPr>
          </a:p>
          <a:p>
            <a:pPr>
              <a:spcBef>
                <a:spcPct val="0"/>
              </a:spcBef>
            </a:pPr>
            <a:endParaRPr lang="zh-CN" altLang="en-US" sz="280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F6550FF6-B816-4D29-87DA-FBA2B15C43CA}" type="slidenum">
              <a:rPr lang="en-US" altLang="zh-CN"/>
            </a:fld>
            <a:endParaRPr lang="en-US" altLang="zh-CN"/>
          </a:p>
        </p:txBody>
      </p:sp>
      <p:sp>
        <p:nvSpPr>
          <p:cNvPr id="323587" name="Rectangle 3"/>
          <p:cNvSpPr>
            <a:spLocks noGrp="1" noChangeArrowheads="1"/>
          </p:cNvSpPr>
          <p:nvPr>
            <p:ph type="body" idx="1"/>
          </p:nvPr>
        </p:nvSpPr>
        <p:spPr>
          <a:xfrm>
            <a:off x="457200" y="476250"/>
            <a:ext cx="8229600" cy="5391150"/>
          </a:xfrm>
        </p:spPr>
        <p:txBody>
          <a:bodyPr/>
          <a:lstStyle/>
          <a:p>
            <a:pPr>
              <a:lnSpc>
                <a:spcPct val="150000"/>
              </a:lnSpc>
              <a:buFont typeface="Symbol" panose="05050102010706020507" pitchFamily="18" charset="2"/>
              <a:buChar char="·"/>
            </a:pPr>
            <a:r>
              <a:rPr lang="zh-CN" altLang="en-US" sz="1800" b="1"/>
              <a:t>通过应用范例学习回溯法的设计策略。</a:t>
            </a:r>
            <a:endParaRPr lang="zh-CN" altLang="en-US" sz="1800" b="1"/>
          </a:p>
          <a:p>
            <a:pPr>
              <a:lnSpc>
                <a:spcPct val="150000"/>
              </a:lnSpc>
              <a:buFont typeface="Symbol" panose="05050102010706020507" pitchFamily="18" charset="2"/>
              <a:buChar char="·"/>
            </a:pPr>
            <a:r>
              <a:rPr lang="zh-CN" altLang="en-US" sz="1800" b="1"/>
              <a:t>（</a:t>
            </a:r>
            <a:r>
              <a:rPr lang="en-US" altLang="zh-CN" sz="1800" b="1"/>
              <a:t>1</a:t>
            </a:r>
            <a:r>
              <a:rPr lang="zh-CN" altLang="en-US" sz="1800" b="1"/>
              <a:t>）装载问题；</a:t>
            </a:r>
            <a:endParaRPr lang="zh-CN" altLang="en-US" sz="1800" b="1"/>
          </a:p>
          <a:p>
            <a:pPr>
              <a:lnSpc>
                <a:spcPct val="150000"/>
              </a:lnSpc>
              <a:buFont typeface="Symbol" panose="05050102010706020507" pitchFamily="18" charset="2"/>
              <a:buChar char="·"/>
            </a:pPr>
            <a:r>
              <a:rPr lang="zh-CN" altLang="en-US" sz="1800" b="1"/>
              <a:t>（</a:t>
            </a:r>
            <a:r>
              <a:rPr lang="en-US" altLang="zh-CN" sz="1800" b="1"/>
              <a:t>2</a:t>
            </a:r>
            <a:r>
              <a:rPr lang="zh-CN" altLang="en-US" sz="1800" b="1"/>
              <a:t>）批处理作业调度；</a:t>
            </a:r>
            <a:endParaRPr lang="zh-CN" altLang="en-US" sz="1800" b="1"/>
          </a:p>
          <a:p>
            <a:pPr>
              <a:lnSpc>
                <a:spcPct val="150000"/>
              </a:lnSpc>
              <a:buFont typeface="Symbol" panose="05050102010706020507" pitchFamily="18" charset="2"/>
              <a:buChar char="·"/>
            </a:pPr>
            <a:r>
              <a:rPr lang="zh-CN" altLang="en-US" sz="1800" b="1"/>
              <a:t>（</a:t>
            </a:r>
            <a:r>
              <a:rPr lang="en-US" altLang="zh-CN" sz="1800" b="1"/>
              <a:t>3</a:t>
            </a:r>
            <a:r>
              <a:rPr lang="zh-CN" altLang="en-US" sz="1800" b="1"/>
              <a:t>）符号三角形问题</a:t>
            </a:r>
            <a:endParaRPr lang="zh-CN" altLang="en-US" sz="1800" b="1"/>
          </a:p>
          <a:p>
            <a:pPr>
              <a:lnSpc>
                <a:spcPct val="150000"/>
              </a:lnSpc>
              <a:buFont typeface="Symbol" panose="05050102010706020507" pitchFamily="18" charset="2"/>
              <a:buChar char="·"/>
            </a:pPr>
            <a:r>
              <a:rPr lang="zh-CN" altLang="en-US" sz="1800" b="1"/>
              <a:t>（</a:t>
            </a:r>
            <a:r>
              <a:rPr lang="en-US" altLang="zh-CN" sz="1800" b="1"/>
              <a:t>4</a:t>
            </a:r>
            <a:r>
              <a:rPr lang="zh-CN" altLang="en-US" sz="1800" b="1"/>
              <a:t>）</a:t>
            </a:r>
            <a:r>
              <a:rPr lang="en-US" altLang="zh-CN" sz="1800" b="1"/>
              <a:t>n</a:t>
            </a:r>
            <a:r>
              <a:rPr lang="zh-CN" altLang="en-US" sz="1800" b="1"/>
              <a:t>后问题；</a:t>
            </a:r>
            <a:endParaRPr lang="zh-CN" altLang="en-US" sz="1800" b="1"/>
          </a:p>
          <a:p>
            <a:pPr>
              <a:lnSpc>
                <a:spcPct val="150000"/>
              </a:lnSpc>
              <a:buFont typeface="Symbol" panose="05050102010706020507" pitchFamily="18" charset="2"/>
              <a:buChar char="·"/>
            </a:pPr>
            <a:r>
              <a:rPr lang="zh-CN" altLang="en-US" sz="1800" b="1"/>
              <a:t>（</a:t>
            </a:r>
            <a:r>
              <a:rPr lang="en-US" altLang="zh-CN" sz="1800" b="1"/>
              <a:t>5</a:t>
            </a:r>
            <a:r>
              <a:rPr lang="zh-CN" altLang="en-US" sz="1800" b="1"/>
              <a:t>）</a:t>
            </a:r>
            <a:r>
              <a:rPr lang="en-US" altLang="zh-CN" sz="1800" b="1"/>
              <a:t>0-1</a:t>
            </a:r>
            <a:r>
              <a:rPr lang="zh-CN" altLang="en-US" sz="1800" b="1"/>
              <a:t>背包问题；</a:t>
            </a:r>
            <a:endParaRPr lang="zh-CN" altLang="en-US" sz="1800" b="1"/>
          </a:p>
          <a:p>
            <a:pPr>
              <a:lnSpc>
                <a:spcPct val="150000"/>
              </a:lnSpc>
              <a:buFont typeface="Symbol" panose="05050102010706020507" pitchFamily="18" charset="2"/>
              <a:buChar char="·"/>
            </a:pPr>
            <a:r>
              <a:rPr lang="zh-CN" altLang="en-US" sz="1800" b="1"/>
              <a:t>（</a:t>
            </a:r>
            <a:r>
              <a:rPr lang="en-US" altLang="zh-CN" sz="1800" b="1"/>
              <a:t>6</a:t>
            </a:r>
            <a:r>
              <a:rPr lang="zh-CN" altLang="en-US" sz="1800" b="1"/>
              <a:t>）最大团问题；</a:t>
            </a:r>
            <a:endParaRPr lang="zh-CN" altLang="en-US" sz="1800" b="1"/>
          </a:p>
          <a:p>
            <a:pPr>
              <a:lnSpc>
                <a:spcPct val="150000"/>
              </a:lnSpc>
              <a:buFont typeface="Symbol" panose="05050102010706020507" pitchFamily="18" charset="2"/>
              <a:buChar char="·"/>
            </a:pPr>
            <a:r>
              <a:rPr lang="zh-CN" altLang="en-US" sz="1800" b="1"/>
              <a:t>（</a:t>
            </a:r>
            <a:r>
              <a:rPr lang="en-US" altLang="zh-CN" sz="1800" b="1"/>
              <a:t>7</a:t>
            </a:r>
            <a:r>
              <a:rPr lang="zh-CN" altLang="en-US" sz="1800" b="1"/>
              <a:t>）图的</a:t>
            </a:r>
            <a:r>
              <a:rPr lang="en-US" altLang="zh-CN" sz="1800" b="1"/>
              <a:t>m</a:t>
            </a:r>
            <a:r>
              <a:rPr lang="zh-CN" altLang="en-US" sz="1800" b="1"/>
              <a:t>着色问题</a:t>
            </a:r>
            <a:endParaRPr lang="zh-CN" altLang="en-US" sz="1800" b="1"/>
          </a:p>
          <a:p>
            <a:pPr>
              <a:lnSpc>
                <a:spcPct val="150000"/>
              </a:lnSpc>
              <a:buFont typeface="Symbol" panose="05050102010706020507" pitchFamily="18" charset="2"/>
              <a:buChar char="·"/>
            </a:pPr>
            <a:r>
              <a:rPr lang="zh-CN" altLang="en-US" sz="1800" b="1"/>
              <a:t>（</a:t>
            </a:r>
            <a:r>
              <a:rPr lang="en-US" altLang="zh-CN" sz="1800" b="1"/>
              <a:t>8</a:t>
            </a:r>
            <a:r>
              <a:rPr lang="zh-CN" altLang="en-US" sz="1800" b="1"/>
              <a:t>）旅行售货员问题</a:t>
            </a:r>
            <a:endParaRPr lang="zh-CN" altLang="en-US" sz="1800" b="1"/>
          </a:p>
          <a:p>
            <a:pPr>
              <a:lnSpc>
                <a:spcPct val="150000"/>
              </a:lnSpc>
              <a:buFont typeface="Symbol" panose="05050102010706020507" pitchFamily="18" charset="2"/>
              <a:buChar char="·"/>
            </a:pPr>
            <a:r>
              <a:rPr lang="zh-CN" altLang="en-US" sz="1800" b="1"/>
              <a:t>（</a:t>
            </a:r>
            <a:r>
              <a:rPr lang="en-US" altLang="zh-CN" sz="1800" b="1"/>
              <a:t>9</a:t>
            </a:r>
            <a:r>
              <a:rPr lang="zh-CN" altLang="en-US" sz="1800" b="1"/>
              <a:t>）圆排列问题</a:t>
            </a:r>
            <a:endParaRPr lang="zh-CN" altLang="en-US" sz="1800" b="1"/>
          </a:p>
          <a:p>
            <a:pPr>
              <a:lnSpc>
                <a:spcPct val="150000"/>
              </a:lnSpc>
              <a:buFont typeface="Symbol" panose="05050102010706020507" pitchFamily="18" charset="2"/>
              <a:buChar char="·"/>
            </a:pPr>
            <a:r>
              <a:rPr lang="zh-CN" altLang="en-US" sz="1800" b="1"/>
              <a:t>（</a:t>
            </a:r>
            <a:r>
              <a:rPr lang="en-US" altLang="zh-CN" sz="1800" b="1"/>
              <a:t>10</a:t>
            </a:r>
            <a:r>
              <a:rPr lang="zh-CN" altLang="en-US" sz="1800" b="1"/>
              <a:t>）电路板排列问题</a:t>
            </a:r>
            <a:endParaRPr lang="zh-CN" altLang="en-US" sz="1800" b="1"/>
          </a:p>
          <a:p>
            <a:pPr>
              <a:lnSpc>
                <a:spcPct val="150000"/>
              </a:lnSpc>
              <a:buFont typeface="Symbol" panose="05050102010706020507" pitchFamily="18" charset="2"/>
              <a:buChar char="·"/>
            </a:pPr>
            <a:r>
              <a:rPr lang="zh-CN" altLang="en-US" sz="1800" b="1"/>
              <a:t>（</a:t>
            </a:r>
            <a:r>
              <a:rPr lang="en-US" altLang="zh-CN" sz="1800" b="1"/>
              <a:t>11</a:t>
            </a:r>
            <a:r>
              <a:rPr lang="zh-CN" altLang="en-US" sz="1800" b="1"/>
              <a:t>）连续邮资问题</a:t>
            </a:r>
            <a:endParaRPr lang="zh-CN" altLang="en-US" sz="1800" b="1"/>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C3EC58CC-D4E8-4490-AB4E-F967849E007C}" type="slidenum">
              <a:rPr lang="en-US" altLang="zh-CN"/>
            </a:fld>
            <a:endParaRPr lang="en-US" altLang="zh-CN"/>
          </a:p>
        </p:txBody>
      </p:sp>
      <p:pic>
        <p:nvPicPr>
          <p:cNvPr id="331780"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0825" y="293688"/>
            <a:ext cx="7812088" cy="656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07FF86E2-A1A2-445E-AF12-06AC0A7A66E8}" type="slidenum">
              <a:rPr lang="en-US" altLang="zh-CN"/>
            </a:fld>
            <a:endParaRPr lang="en-US" altLang="zh-CN"/>
          </a:p>
        </p:txBody>
      </p:sp>
      <p:sp>
        <p:nvSpPr>
          <p:cNvPr id="332803" name="Rectangle 3"/>
          <p:cNvSpPr>
            <a:spLocks noGrp="1" noChangeArrowheads="1"/>
          </p:cNvSpPr>
          <p:nvPr>
            <p:ph type="body" idx="1"/>
          </p:nvPr>
        </p:nvSpPr>
        <p:spPr/>
        <p:txBody>
          <a:bodyPr/>
          <a:lstStyle/>
          <a:p>
            <a:endParaRPr lang="zh-CN" altLang="en-US"/>
          </a:p>
        </p:txBody>
      </p:sp>
      <p:pic>
        <p:nvPicPr>
          <p:cNvPr id="33280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823913"/>
            <a:ext cx="9144000" cy="5567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2"/>
          </p:nvPr>
        </p:nvSpPr>
        <p:spPr/>
        <p:txBody>
          <a:bodyPr/>
          <a:lstStyle/>
          <a:p>
            <a:fld id="{0F4D53F5-FA76-47D0-A5AA-9EFFE06F838E}" type="slidenum">
              <a:rPr lang="en-US" altLang="zh-CN"/>
            </a:fld>
            <a:endParaRPr lang="en-US" altLang="zh-CN"/>
          </a:p>
        </p:txBody>
      </p:sp>
      <p:sp>
        <p:nvSpPr>
          <p:cNvPr id="299014" name="Rectangle 6"/>
          <p:cNvSpPr>
            <a:spLocks noChangeArrowheads="1"/>
          </p:cNvSpPr>
          <p:nvPr/>
        </p:nvSpPr>
        <p:spPr bwMode="auto">
          <a:xfrm>
            <a:off x="395288" y="404813"/>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3900" b="1">
                <a:solidFill>
                  <a:schemeClr val="tx2"/>
                </a:solidFill>
                <a:effectLst>
                  <a:outerShdw blurRad="38100" dist="38100" dir="2700000" algn="tl">
                    <a:srgbClr val="C0C0C0"/>
                  </a:outerShdw>
                </a:effectLst>
                <a:ea typeface="黑体" panose="02010609060101010101" pitchFamily="49" charset="-122"/>
              </a:rPr>
              <a:t>回溯法</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pic>
        <p:nvPicPr>
          <p:cNvPr id="299016" name="Pict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7150" y="1341438"/>
            <a:ext cx="9086850" cy="468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21345B45-1BA6-4C4C-A6EC-BBBBCCA0ED92}" type="slidenum">
              <a:rPr lang="en-US" altLang="zh-CN"/>
            </a:fld>
            <a:endParaRPr lang="en-US" altLang="zh-CN"/>
          </a:p>
        </p:txBody>
      </p:sp>
      <p:sp>
        <p:nvSpPr>
          <p:cNvPr id="282628" name="Rectangle 4"/>
          <p:cNvSpPr>
            <a:spLocks noGrp="1" noChangeArrowheads="1"/>
          </p:cNvSpPr>
          <p:nvPr>
            <p:ph type="title"/>
          </p:nvPr>
        </p:nvSpPr>
        <p:spPr>
          <a:xfrm>
            <a:off x="611188" y="0"/>
            <a:ext cx="7772400" cy="803275"/>
          </a:xfrm>
        </p:spPr>
        <p:txBody>
          <a:bodyPr/>
          <a:lstStyle/>
          <a:p>
            <a:r>
              <a:rPr lang="zh-CN" altLang="en-US">
                <a:effectLst>
                  <a:outerShdw blurRad="38100" dist="38100" dir="2700000" algn="tl">
                    <a:srgbClr val="C0C0C0"/>
                  </a:outerShdw>
                </a:effectLst>
                <a:ea typeface="黑体" panose="02010609060101010101" pitchFamily="49" charset="-122"/>
              </a:rPr>
              <a:t>问题的解空间</a:t>
            </a:r>
            <a:endParaRPr lang="zh-CN" altLang="en-US">
              <a:effectLst>
                <a:outerShdw blurRad="38100" dist="38100" dir="2700000" algn="tl">
                  <a:srgbClr val="C0C0C0"/>
                </a:outerShdw>
              </a:effectLst>
              <a:ea typeface="黑体" panose="02010609060101010101" pitchFamily="49" charset="-122"/>
            </a:endParaRPr>
          </a:p>
        </p:txBody>
      </p:sp>
      <p:sp>
        <p:nvSpPr>
          <p:cNvPr id="282629" name="Text Box 5"/>
          <p:cNvSpPr txBox="1">
            <a:spLocks noChangeArrowheads="1"/>
          </p:cNvSpPr>
          <p:nvPr/>
        </p:nvSpPr>
        <p:spPr bwMode="auto">
          <a:xfrm>
            <a:off x="395288" y="981075"/>
            <a:ext cx="82804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nSpc>
                <a:spcPct val="90000"/>
              </a:lnSpc>
              <a:spcBef>
                <a:spcPct val="20000"/>
              </a:spcBef>
              <a:buClr>
                <a:schemeClr val="accent2"/>
              </a:buClr>
              <a:buFont typeface="Wingdings" panose="05000000000000000000" pitchFamily="2" charset="2"/>
              <a:buChar char="Ø"/>
            </a:pPr>
            <a:r>
              <a:rPr kumimoji="1" lang="zh-CN" altLang="en-US" sz="2400">
                <a:latin typeface="华文新魏" panose="02010800040101010101" pitchFamily="2" charset="-122"/>
                <a:ea typeface="华文新魏" panose="02010800040101010101" pitchFamily="2" charset="-122"/>
              </a:rPr>
              <a:t>问题的解向量：回溯法希望一个问题的解能够表示成一个</a:t>
            </a:r>
            <a:r>
              <a:rPr kumimoji="1" lang="en-US" altLang="zh-CN" sz="2400">
                <a:latin typeface="华文新魏" panose="02010800040101010101" pitchFamily="2" charset="-122"/>
                <a:ea typeface="华文新魏" panose="02010800040101010101" pitchFamily="2" charset="-122"/>
              </a:rPr>
              <a:t>n		    </a:t>
            </a:r>
            <a:r>
              <a:rPr kumimoji="1" lang="zh-CN" altLang="en-US" sz="2400">
                <a:latin typeface="华文新魏" panose="02010800040101010101" pitchFamily="2" charset="-122"/>
                <a:ea typeface="华文新魏" panose="02010800040101010101" pitchFamily="2" charset="-122"/>
              </a:rPr>
              <a:t>元式</a:t>
            </a:r>
            <a:r>
              <a:rPr kumimoji="1" lang="en-US" altLang="zh-CN" sz="2400">
                <a:latin typeface="华文新魏" panose="02010800040101010101" pitchFamily="2" charset="-122"/>
                <a:ea typeface="华文新魏" panose="02010800040101010101" pitchFamily="2" charset="-122"/>
              </a:rPr>
              <a:t>(x1,x2,</a:t>
            </a:r>
            <a:r>
              <a:rPr kumimoji="1" lang="en-US" altLang="zh-CN" sz="2400">
                <a:latin typeface="Arial" panose="020B0604020202020204"/>
                <a:ea typeface="华文新魏" panose="02010800040101010101" pitchFamily="2" charset="-122"/>
              </a:rPr>
              <a:t>…</a:t>
            </a:r>
            <a:r>
              <a:rPr kumimoji="1" lang="en-US" altLang="zh-CN" sz="2400">
                <a:latin typeface="华文新魏" panose="02010800040101010101" pitchFamily="2" charset="-122"/>
                <a:ea typeface="华文新魏" panose="02010800040101010101" pitchFamily="2" charset="-122"/>
              </a:rPr>
              <a:t>,xn)</a:t>
            </a:r>
            <a:r>
              <a:rPr kumimoji="1" lang="zh-CN" altLang="en-US" sz="2400">
                <a:latin typeface="华文新魏" panose="02010800040101010101" pitchFamily="2" charset="-122"/>
                <a:ea typeface="华文新魏" panose="02010800040101010101" pitchFamily="2" charset="-122"/>
              </a:rPr>
              <a:t>的形式。</a:t>
            </a:r>
            <a:endParaRPr kumimoji="1" lang="zh-CN" altLang="en-US" sz="2400">
              <a:latin typeface="华文新魏" panose="02010800040101010101" pitchFamily="2" charset="-122"/>
              <a:ea typeface="华文新魏" panose="02010800040101010101" pitchFamily="2" charset="-122"/>
            </a:endParaRPr>
          </a:p>
          <a:p>
            <a:pPr>
              <a:lnSpc>
                <a:spcPct val="90000"/>
              </a:lnSpc>
              <a:spcBef>
                <a:spcPct val="20000"/>
              </a:spcBef>
              <a:buClr>
                <a:schemeClr val="accent2"/>
              </a:buClr>
              <a:buFont typeface="Wingdings" panose="05000000000000000000" pitchFamily="2" charset="2"/>
              <a:buChar char="Ø"/>
            </a:pPr>
            <a:r>
              <a:rPr kumimoji="1" lang="zh-CN" altLang="en-US" sz="2400">
                <a:latin typeface="华文新魏" panose="02010800040101010101" pitchFamily="2" charset="-122"/>
                <a:ea typeface="华文新魏" panose="02010800040101010101" pitchFamily="2" charset="-122"/>
              </a:rPr>
              <a:t>显约束：对分量</a:t>
            </a:r>
            <a:r>
              <a:rPr kumimoji="1" lang="en-US" altLang="zh-CN" sz="2400">
                <a:latin typeface="华文新魏" panose="02010800040101010101" pitchFamily="2" charset="-122"/>
                <a:ea typeface="华文新魏" panose="02010800040101010101" pitchFamily="2" charset="-122"/>
              </a:rPr>
              <a:t>xi</a:t>
            </a:r>
            <a:r>
              <a:rPr kumimoji="1" lang="zh-CN" altLang="en-US" sz="2400">
                <a:latin typeface="华文新魏" panose="02010800040101010101" pitchFamily="2" charset="-122"/>
                <a:ea typeface="华文新魏" panose="02010800040101010101" pitchFamily="2" charset="-122"/>
              </a:rPr>
              <a:t>的取值限定。</a:t>
            </a:r>
            <a:endParaRPr kumimoji="1" lang="zh-CN" altLang="en-US" sz="2400">
              <a:latin typeface="华文新魏" panose="02010800040101010101" pitchFamily="2" charset="-122"/>
              <a:ea typeface="华文新魏" panose="02010800040101010101" pitchFamily="2" charset="-122"/>
            </a:endParaRPr>
          </a:p>
          <a:p>
            <a:pPr>
              <a:lnSpc>
                <a:spcPct val="90000"/>
              </a:lnSpc>
              <a:spcBef>
                <a:spcPct val="20000"/>
              </a:spcBef>
              <a:buClr>
                <a:schemeClr val="accent2"/>
              </a:buClr>
              <a:buFont typeface="Wingdings" panose="05000000000000000000" pitchFamily="2" charset="2"/>
              <a:buChar char="Ø"/>
            </a:pPr>
            <a:r>
              <a:rPr kumimoji="1" lang="zh-CN" altLang="en-US" sz="2400">
                <a:latin typeface="华文新魏" panose="02010800040101010101" pitchFamily="2" charset="-122"/>
                <a:ea typeface="华文新魏" panose="02010800040101010101" pitchFamily="2" charset="-122"/>
              </a:rPr>
              <a:t>隐约束：为满足问题的解而对不同分量之间施加的约束。</a:t>
            </a:r>
            <a:endParaRPr kumimoji="1" lang="zh-CN" altLang="en-US" sz="2400">
              <a:latin typeface="华文新魏" panose="02010800040101010101" pitchFamily="2" charset="-122"/>
              <a:ea typeface="华文新魏" panose="02010800040101010101" pitchFamily="2" charset="-122"/>
            </a:endParaRPr>
          </a:p>
          <a:p>
            <a:pPr>
              <a:buClr>
                <a:schemeClr val="accent2"/>
              </a:buClr>
              <a:buFont typeface="Wingdings" panose="05000000000000000000" pitchFamily="2" charset="2"/>
              <a:buChar char="Ø"/>
            </a:pPr>
            <a:r>
              <a:rPr kumimoji="1" lang="zh-CN" altLang="en-US" sz="2400">
                <a:latin typeface="华文新魏" panose="02010800040101010101" pitchFamily="2" charset="-122"/>
                <a:ea typeface="华文新魏" panose="02010800040101010101" pitchFamily="2" charset="-122"/>
              </a:rPr>
              <a:t>解空间：对于问题的一个实例，解向量满足显式约束条件	    的所有多元组，构成了该实例的一个解空间。</a:t>
            </a:r>
            <a:endParaRPr kumimoji="1" lang="zh-CN" altLang="en-US" sz="2400">
              <a:latin typeface="华文新魏" panose="02010800040101010101" pitchFamily="2" charset="-122"/>
              <a:ea typeface="华文新魏" panose="02010800040101010101" pitchFamily="2" charset="-122"/>
            </a:endParaRPr>
          </a:p>
        </p:txBody>
      </p:sp>
      <p:sp>
        <p:nvSpPr>
          <p:cNvPr id="282630" name="Text Box 6"/>
          <p:cNvSpPr txBox="1">
            <a:spLocks noChangeArrowheads="1"/>
          </p:cNvSpPr>
          <p:nvPr/>
        </p:nvSpPr>
        <p:spPr bwMode="auto">
          <a:xfrm>
            <a:off x="395288" y="3429000"/>
            <a:ext cx="8229600" cy="822325"/>
          </a:xfrm>
          <a:prstGeom prst="rect">
            <a:avLst/>
          </a:prstGeom>
          <a:solidFill>
            <a:srgbClr val="FFCC00"/>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kumimoji="1" lang="zh-CN" altLang="en-US" sz="2400">
                <a:ea typeface="华文新魏" panose="02010800040101010101" pitchFamily="2" charset="-122"/>
              </a:rPr>
              <a:t>注意：同一个问题可以有多种表示，有些表示方法更简单，所需表示的状态空间更小（存储量少，搜索方法简单）。</a:t>
            </a:r>
            <a:endParaRPr lang="zh-CN" altLang="en-US" sz="2400">
              <a:ea typeface="华文新魏" panose="02010800040101010101" pitchFamily="2" charset="-122"/>
            </a:endParaRPr>
          </a:p>
        </p:txBody>
      </p:sp>
      <p:pic>
        <p:nvPicPr>
          <p:cNvPr id="282631" name="Picture 7" descr="t51"/>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2339975" y="4292600"/>
            <a:ext cx="4048125" cy="20478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82633" name="Text Box 9"/>
          <p:cNvSpPr txBox="1">
            <a:spLocks noChangeArrowheads="1"/>
          </p:cNvSpPr>
          <p:nvPr/>
        </p:nvSpPr>
        <p:spPr bwMode="auto">
          <a:xfrm>
            <a:off x="1042988" y="6415088"/>
            <a:ext cx="66627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r>
              <a:rPr lang="en-US" altLang="zh-CN" sz="2400">
                <a:latin typeface="华文新魏" panose="02010800040101010101" pitchFamily="2" charset="-122"/>
                <a:ea typeface="华文新魏" panose="02010800040101010101" pitchFamily="2" charset="-122"/>
              </a:rPr>
              <a:t>n=3</a:t>
            </a:r>
            <a:r>
              <a:rPr lang="zh-CN" altLang="en-US" sz="2400">
                <a:latin typeface="华文新魏" panose="02010800040101010101" pitchFamily="2" charset="-122"/>
                <a:ea typeface="华文新魏" panose="02010800040101010101" pitchFamily="2" charset="-122"/>
              </a:rPr>
              <a:t>时的</a:t>
            </a:r>
            <a:r>
              <a:rPr lang="en-US" altLang="zh-CN" sz="2400">
                <a:latin typeface="华文新魏" panose="02010800040101010101" pitchFamily="2" charset="-122"/>
                <a:ea typeface="华文新魏" panose="02010800040101010101" pitchFamily="2" charset="-122"/>
              </a:rPr>
              <a:t>0-1</a:t>
            </a:r>
            <a:r>
              <a:rPr lang="zh-CN" altLang="en-US" sz="2400">
                <a:latin typeface="华文新魏" panose="02010800040101010101" pitchFamily="2" charset="-122"/>
                <a:ea typeface="华文新魏" panose="02010800040101010101" pitchFamily="2" charset="-122"/>
              </a:rPr>
              <a:t>背包问题用完全二叉树表示的解空间</a:t>
            </a:r>
            <a:endParaRPr lang="zh-CN" altLang="en-US" sz="240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D5A2843F-DC9A-496E-A70A-FF10BFAA76A3}" type="slidenum">
              <a:rPr lang="en-US" altLang="zh-CN"/>
            </a:fld>
            <a:endParaRPr lang="en-US" altLang="zh-CN"/>
          </a:p>
        </p:txBody>
      </p:sp>
      <p:sp>
        <p:nvSpPr>
          <p:cNvPr id="333826" name="Rectangle 2"/>
          <p:cNvSpPr>
            <a:spLocks noGrp="1" noChangeArrowheads="1"/>
          </p:cNvSpPr>
          <p:nvPr>
            <p:ph type="title"/>
          </p:nvPr>
        </p:nvSpPr>
        <p:spPr>
          <a:xfrm>
            <a:off x="395288" y="333375"/>
            <a:ext cx="7715250" cy="714375"/>
          </a:xfrm>
        </p:spPr>
        <p:txBody>
          <a:bodyPr/>
          <a:lstStyle/>
          <a:p>
            <a:r>
              <a:rPr lang="zh-CN" altLang="en-US" sz="3200" b="0">
                <a:ea typeface="华文新魏" panose="02010800040101010101" pitchFamily="2" charset="-122"/>
              </a:rPr>
              <a:t>通常将解空间组织成树或图的形式</a:t>
            </a:r>
            <a:endParaRPr lang="zh-CN" altLang="en-US" sz="3200" b="0">
              <a:ea typeface="华文新魏" panose="02010800040101010101" pitchFamily="2" charset="-122"/>
            </a:endParaRPr>
          </a:p>
        </p:txBody>
      </p:sp>
      <p:pic>
        <p:nvPicPr>
          <p:cNvPr id="33382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9388" y="1125538"/>
            <a:ext cx="8628062" cy="5287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DC4E271D-0ADE-4FCC-8B2B-291861DF82D7}" type="slidenum">
              <a:rPr lang="en-US" altLang="zh-CN"/>
            </a:fld>
            <a:endParaRPr lang="en-US" altLang="zh-CN"/>
          </a:p>
        </p:txBody>
      </p:sp>
      <p:sp>
        <p:nvSpPr>
          <p:cNvPr id="334851" name="Rectangle 3"/>
          <p:cNvSpPr>
            <a:spLocks noGrp="1" noChangeArrowheads="1"/>
          </p:cNvSpPr>
          <p:nvPr>
            <p:ph type="body" idx="1"/>
          </p:nvPr>
        </p:nvSpPr>
        <p:spPr/>
        <p:txBody>
          <a:bodyPr/>
          <a:lstStyle/>
          <a:p>
            <a:endParaRPr lang="zh-CN" altLang="en-US"/>
          </a:p>
        </p:txBody>
      </p:sp>
      <p:pic>
        <p:nvPicPr>
          <p:cNvPr id="334854"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620713"/>
            <a:ext cx="9144000" cy="587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47AF0F5-D5A5-4413-918F-64CCB0A44DBA}" type="slidenum">
              <a:rPr lang="en-US" altLang="zh-CN"/>
            </a:fld>
            <a:endParaRPr lang="en-US" altLang="zh-CN"/>
          </a:p>
        </p:txBody>
      </p:sp>
      <p:sp>
        <p:nvSpPr>
          <p:cNvPr id="301060" name="Rectangle 4"/>
          <p:cNvSpPr>
            <a:spLocks noChangeArrowheads="1"/>
          </p:cNvSpPr>
          <p:nvPr/>
        </p:nvSpPr>
        <p:spPr bwMode="auto">
          <a:xfrm>
            <a:off x="611188"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3900" b="1">
                <a:solidFill>
                  <a:schemeClr val="tx2"/>
                </a:solidFill>
                <a:effectLst>
                  <a:outerShdw blurRad="38100" dist="38100" dir="2700000" algn="tl">
                    <a:srgbClr val="C0C0C0"/>
                  </a:outerShdw>
                </a:effectLst>
                <a:ea typeface="黑体" panose="02010609060101010101" pitchFamily="49" charset="-122"/>
              </a:rPr>
              <a:t>生成问题状态的基本方法</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sp>
        <p:nvSpPr>
          <p:cNvPr id="301061" name="Rectangle 5"/>
          <p:cNvSpPr>
            <a:spLocks noChangeArrowheads="1"/>
          </p:cNvSpPr>
          <p:nvPr/>
        </p:nvSpPr>
        <p:spPr bwMode="auto">
          <a:xfrm>
            <a:off x="250825" y="908050"/>
            <a:ext cx="8713788" cy="554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tx2"/>
              </a:buClr>
              <a:buSzPct val="70000"/>
              <a:buFont typeface="Wingdings" panose="05000000000000000000" pitchFamily="2" charset="2"/>
              <a:buChar char="l"/>
            </a:pPr>
            <a:r>
              <a:rPr lang="zh-CN" altLang="en-US" sz="2400">
                <a:latin typeface="华文新魏" panose="02010800040101010101" pitchFamily="2" charset="-122"/>
                <a:ea typeface="华文新魏" panose="02010800040101010101" pitchFamily="2" charset="-122"/>
              </a:rPr>
              <a:t>扩展结点</a:t>
            </a:r>
            <a:r>
              <a:rPr lang="en-US" altLang="zh-CN" sz="2400">
                <a:latin typeface="华文新魏" panose="02010800040101010101" pitchFamily="2" charset="-122"/>
                <a:ea typeface="华文新魏" panose="02010800040101010101" pitchFamily="2" charset="-122"/>
              </a:rPr>
              <a:t>:</a:t>
            </a:r>
            <a:r>
              <a:rPr lang="zh-CN" altLang="en-US" sz="2400">
                <a:latin typeface="华文新魏" panose="02010800040101010101" pitchFamily="2" charset="-122"/>
                <a:ea typeface="华文新魏" panose="02010800040101010101" pitchFamily="2" charset="-122"/>
              </a:rPr>
              <a:t>一个正在产生儿子的结点称为扩展结点</a:t>
            </a:r>
            <a:endParaRPr lang="zh-CN" altLang="en-US" sz="2400">
              <a:latin typeface="华文新魏" panose="02010800040101010101" pitchFamily="2" charset="-122"/>
              <a:ea typeface="华文新魏" panose="02010800040101010101" pitchFamily="2" charset="-122"/>
            </a:endParaRPr>
          </a:p>
          <a:p>
            <a:pPr marL="342900" indent="-342900">
              <a:spcBef>
                <a:spcPct val="20000"/>
              </a:spcBef>
              <a:buClr>
                <a:schemeClr val="tx2"/>
              </a:buClr>
              <a:buSzPct val="70000"/>
              <a:buFont typeface="Wingdings" panose="05000000000000000000" pitchFamily="2" charset="2"/>
              <a:buChar char="l"/>
            </a:pPr>
            <a:r>
              <a:rPr lang="zh-CN" altLang="en-US" sz="2400">
                <a:latin typeface="华文新魏" panose="02010800040101010101" pitchFamily="2" charset="-122"/>
                <a:ea typeface="华文新魏" panose="02010800040101010101" pitchFamily="2" charset="-122"/>
              </a:rPr>
              <a:t>活结点</a:t>
            </a:r>
            <a:r>
              <a:rPr lang="en-US" altLang="zh-CN" sz="2400">
                <a:latin typeface="华文新魏" panose="02010800040101010101" pitchFamily="2" charset="-122"/>
                <a:ea typeface="华文新魏" panose="02010800040101010101" pitchFamily="2" charset="-122"/>
              </a:rPr>
              <a:t>:</a:t>
            </a:r>
            <a:r>
              <a:rPr lang="zh-CN" altLang="en-US" sz="2400">
                <a:latin typeface="华文新魏" panose="02010800040101010101" pitchFamily="2" charset="-122"/>
                <a:ea typeface="华文新魏" panose="02010800040101010101" pitchFamily="2" charset="-122"/>
              </a:rPr>
              <a:t>一个自身已生成但其儿子还没有全部生成的节点称做活结点</a:t>
            </a:r>
            <a:endParaRPr lang="zh-CN" altLang="en-US" sz="2400">
              <a:latin typeface="华文新魏" panose="02010800040101010101" pitchFamily="2" charset="-122"/>
              <a:ea typeface="华文新魏" panose="02010800040101010101" pitchFamily="2" charset="-122"/>
            </a:endParaRPr>
          </a:p>
          <a:p>
            <a:pPr marL="342900" indent="-342900">
              <a:spcBef>
                <a:spcPct val="20000"/>
              </a:spcBef>
              <a:buClr>
                <a:schemeClr val="tx2"/>
              </a:buClr>
              <a:buSzPct val="70000"/>
              <a:buFont typeface="Wingdings" panose="05000000000000000000" pitchFamily="2" charset="2"/>
              <a:buChar char="l"/>
            </a:pPr>
            <a:r>
              <a:rPr lang="zh-CN" altLang="en-US" sz="2400">
                <a:latin typeface="华文新魏" panose="02010800040101010101" pitchFamily="2" charset="-122"/>
                <a:ea typeface="华文新魏" panose="02010800040101010101" pitchFamily="2" charset="-122"/>
              </a:rPr>
              <a:t>死结点</a:t>
            </a:r>
            <a:r>
              <a:rPr lang="en-US" altLang="zh-CN" sz="2400">
                <a:latin typeface="华文新魏" panose="02010800040101010101" pitchFamily="2" charset="-122"/>
                <a:ea typeface="华文新魏" panose="02010800040101010101" pitchFamily="2" charset="-122"/>
              </a:rPr>
              <a:t>:</a:t>
            </a:r>
            <a:r>
              <a:rPr lang="zh-CN" altLang="en-US" sz="2400">
                <a:latin typeface="华文新魏" panose="02010800040101010101" pitchFamily="2" charset="-122"/>
                <a:ea typeface="华文新魏" panose="02010800040101010101" pitchFamily="2" charset="-122"/>
              </a:rPr>
              <a:t>一个所有儿子已经产生的结点称做死结点</a:t>
            </a:r>
            <a:endParaRPr lang="zh-CN" altLang="en-US" sz="2400">
              <a:latin typeface="华文新魏" panose="02010800040101010101" pitchFamily="2" charset="-122"/>
              <a:ea typeface="华文新魏" panose="02010800040101010101" pitchFamily="2" charset="-122"/>
            </a:endParaRPr>
          </a:p>
          <a:p>
            <a:pPr marL="342900" indent="-342900">
              <a:spcBef>
                <a:spcPct val="20000"/>
              </a:spcBef>
              <a:buClr>
                <a:schemeClr val="tx2"/>
              </a:buClr>
              <a:buSzPct val="70000"/>
              <a:buFont typeface="Wingdings" panose="05000000000000000000" pitchFamily="2" charset="2"/>
              <a:buChar char="l"/>
            </a:pPr>
            <a:r>
              <a:rPr lang="zh-CN" altLang="en-US" sz="2400">
                <a:latin typeface="华文新魏" panose="02010800040101010101" pitchFamily="2" charset="-122"/>
                <a:ea typeface="华文新魏" panose="02010800040101010101" pitchFamily="2" charset="-122"/>
              </a:rPr>
              <a:t>深度优先的问题状态生成法：如果对一个扩展结点</a:t>
            </a:r>
            <a:r>
              <a:rPr lang="en-US" altLang="zh-CN" sz="2400">
                <a:latin typeface="华文新魏" panose="02010800040101010101" pitchFamily="2" charset="-122"/>
                <a:ea typeface="华文新魏" panose="02010800040101010101" pitchFamily="2" charset="-122"/>
              </a:rPr>
              <a:t>R</a:t>
            </a:r>
            <a:r>
              <a:rPr lang="zh-CN" altLang="en-US" sz="2400">
                <a:latin typeface="华文新魏" panose="02010800040101010101" pitchFamily="2" charset="-122"/>
                <a:ea typeface="华文新魏" panose="02010800040101010101" pitchFamily="2" charset="-122"/>
              </a:rPr>
              <a:t>，一旦产生了它的一个儿子</a:t>
            </a:r>
            <a:r>
              <a:rPr lang="en-US" altLang="zh-CN" sz="2400">
                <a:latin typeface="华文新魏" panose="02010800040101010101" pitchFamily="2" charset="-122"/>
                <a:ea typeface="华文新魏" panose="02010800040101010101" pitchFamily="2" charset="-122"/>
              </a:rPr>
              <a:t>C</a:t>
            </a:r>
            <a:r>
              <a:rPr lang="zh-CN" altLang="en-US" sz="2400">
                <a:latin typeface="华文新魏" panose="02010800040101010101" pitchFamily="2" charset="-122"/>
                <a:ea typeface="华文新魏" panose="02010800040101010101" pitchFamily="2" charset="-122"/>
              </a:rPr>
              <a:t>，就把</a:t>
            </a:r>
            <a:r>
              <a:rPr lang="en-US" altLang="zh-CN" sz="2400">
                <a:latin typeface="华文新魏" panose="02010800040101010101" pitchFamily="2" charset="-122"/>
                <a:ea typeface="华文新魏" panose="02010800040101010101" pitchFamily="2" charset="-122"/>
              </a:rPr>
              <a:t>C</a:t>
            </a:r>
            <a:r>
              <a:rPr lang="zh-CN" altLang="en-US" sz="2400">
                <a:latin typeface="华文新魏" panose="02010800040101010101" pitchFamily="2" charset="-122"/>
                <a:ea typeface="华文新魏" panose="02010800040101010101" pitchFamily="2" charset="-122"/>
              </a:rPr>
              <a:t>当做新的扩展结点。在完成对子树</a:t>
            </a:r>
            <a:r>
              <a:rPr lang="en-US" altLang="zh-CN" sz="2400">
                <a:latin typeface="华文新魏" panose="02010800040101010101" pitchFamily="2" charset="-122"/>
                <a:ea typeface="华文新魏" panose="02010800040101010101" pitchFamily="2" charset="-122"/>
              </a:rPr>
              <a:t>C</a:t>
            </a:r>
            <a:r>
              <a:rPr lang="zh-CN" altLang="en-US" sz="2400">
                <a:latin typeface="华文新魏" panose="02010800040101010101" pitchFamily="2" charset="-122"/>
                <a:ea typeface="华文新魏" panose="02010800040101010101" pitchFamily="2" charset="-122"/>
              </a:rPr>
              <a:t>（以</a:t>
            </a:r>
            <a:r>
              <a:rPr lang="en-US" altLang="zh-CN" sz="2400">
                <a:latin typeface="华文新魏" panose="02010800040101010101" pitchFamily="2" charset="-122"/>
                <a:ea typeface="华文新魏" panose="02010800040101010101" pitchFamily="2" charset="-122"/>
              </a:rPr>
              <a:t>C</a:t>
            </a:r>
            <a:r>
              <a:rPr lang="zh-CN" altLang="en-US" sz="2400">
                <a:latin typeface="华文新魏" panose="02010800040101010101" pitchFamily="2" charset="-122"/>
                <a:ea typeface="华文新魏" panose="02010800040101010101" pitchFamily="2" charset="-122"/>
              </a:rPr>
              <a:t>为根的子树）的穷尽搜索之后，将</a:t>
            </a:r>
            <a:r>
              <a:rPr lang="en-US" altLang="zh-CN" sz="2400">
                <a:latin typeface="华文新魏" panose="02010800040101010101" pitchFamily="2" charset="-122"/>
                <a:ea typeface="华文新魏" panose="02010800040101010101" pitchFamily="2" charset="-122"/>
              </a:rPr>
              <a:t>R</a:t>
            </a:r>
            <a:r>
              <a:rPr lang="zh-CN" altLang="en-US" sz="2400">
                <a:latin typeface="华文新魏" panose="02010800040101010101" pitchFamily="2" charset="-122"/>
                <a:ea typeface="华文新魏" panose="02010800040101010101" pitchFamily="2" charset="-122"/>
              </a:rPr>
              <a:t>重新变成扩展结点，继续生成</a:t>
            </a:r>
            <a:r>
              <a:rPr lang="en-US" altLang="zh-CN" sz="2400">
                <a:latin typeface="华文新魏" panose="02010800040101010101" pitchFamily="2" charset="-122"/>
                <a:ea typeface="华文新魏" panose="02010800040101010101" pitchFamily="2" charset="-122"/>
              </a:rPr>
              <a:t>R</a:t>
            </a:r>
            <a:r>
              <a:rPr lang="zh-CN" altLang="en-US" sz="2400">
                <a:latin typeface="华文新魏" panose="02010800040101010101" pitchFamily="2" charset="-122"/>
                <a:ea typeface="华文新魏" panose="02010800040101010101" pitchFamily="2" charset="-122"/>
              </a:rPr>
              <a:t>的下一个儿子（如果存在）</a:t>
            </a:r>
            <a:endParaRPr lang="zh-CN" altLang="en-US" sz="2400">
              <a:latin typeface="华文新魏" panose="02010800040101010101" pitchFamily="2" charset="-122"/>
              <a:ea typeface="华文新魏" panose="02010800040101010101" pitchFamily="2" charset="-122"/>
            </a:endParaRPr>
          </a:p>
          <a:p>
            <a:pPr marL="342900" indent="-342900">
              <a:spcBef>
                <a:spcPct val="20000"/>
              </a:spcBef>
              <a:buClr>
                <a:schemeClr val="tx2"/>
              </a:buClr>
              <a:buSzPct val="70000"/>
              <a:buFont typeface="Wingdings" panose="05000000000000000000" pitchFamily="2" charset="2"/>
              <a:buChar char="l"/>
            </a:pPr>
            <a:r>
              <a:rPr lang="zh-CN" altLang="en-US" sz="2400">
                <a:latin typeface="华文新魏" panose="02010800040101010101" pitchFamily="2" charset="-122"/>
                <a:ea typeface="华文新魏" panose="02010800040101010101" pitchFamily="2" charset="-122"/>
              </a:rPr>
              <a:t>宽度优先的问题状态生成法：在一个扩展结点变成死结点之前，它一直是扩展结点</a:t>
            </a:r>
            <a:endParaRPr lang="zh-CN" altLang="en-US" sz="2400">
              <a:latin typeface="华文新魏" panose="02010800040101010101" pitchFamily="2" charset="-122"/>
              <a:ea typeface="华文新魏" panose="02010800040101010101" pitchFamily="2" charset="-122"/>
            </a:endParaRPr>
          </a:p>
          <a:p>
            <a:pPr marL="342900" indent="-342900">
              <a:spcBef>
                <a:spcPct val="20000"/>
              </a:spcBef>
              <a:buClr>
                <a:schemeClr val="tx2"/>
              </a:buClr>
              <a:buSzPct val="70000"/>
              <a:buFont typeface="Wingdings" panose="05000000000000000000" pitchFamily="2" charset="2"/>
              <a:buChar char="l"/>
            </a:pPr>
            <a:r>
              <a:rPr lang="zh-CN" altLang="en-US" sz="2400">
                <a:latin typeface="华文新魏" panose="02010800040101010101" pitchFamily="2" charset="-122"/>
                <a:ea typeface="华文新魏" panose="02010800040101010101" pitchFamily="2" charset="-122"/>
              </a:rPr>
              <a:t>回溯法：为了避免生成那些不可能产生最佳解的问题状态，要不断地利用限界函数</a:t>
            </a:r>
            <a:r>
              <a:rPr lang="en-US" altLang="zh-CN" sz="2400">
                <a:latin typeface="华文新魏" panose="02010800040101010101" pitchFamily="2" charset="-122"/>
                <a:ea typeface="华文新魏" panose="02010800040101010101" pitchFamily="2" charset="-122"/>
              </a:rPr>
              <a:t>(bounding function)</a:t>
            </a:r>
            <a:r>
              <a:rPr lang="zh-CN" altLang="en-US" sz="2400">
                <a:latin typeface="华文新魏" panose="02010800040101010101" pitchFamily="2" charset="-122"/>
                <a:ea typeface="华文新魏" panose="02010800040101010101" pitchFamily="2" charset="-122"/>
              </a:rPr>
              <a:t>来处死那些实际上不可能产生所需解的活结点，以减少问题的计算量。</a:t>
            </a:r>
            <a:r>
              <a:rPr lang="zh-CN" altLang="en-US" sz="2400">
                <a:solidFill>
                  <a:srgbClr val="FF3300"/>
                </a:solidFill>
                <a:latin typeface="华文新魏" panose="02010800040101010101" pitchFamily="2" charset="-122"/>
                <a:ea typeface="华文新魏" panose="02010800040101010101" pitchFamily="2" charset="-122"/>
              </a:rPr>
              <a:t>具有限界函数的深度优先生成法称为回溯法</a:t>
            </a:r>
            <a:endParaRPr lang="ja-JP" altLang="en-US" sz="2400">
              <a:solidFill>
                <a:srgbClr val="FF3300"/>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fld id="{699DB001-1D4D-47E3-A1EA-E4F784022746}" type="slidenum">
              <a:rPr lang="en-US" altLang="zh-CN"/>
            </a:fld>
            <a:endParaRPr lang="en-US" altLang="zh-CN"/>
          </a:p>
        </p:txBody>
      </p:sp>
      <p:sp>
        <p:nvSpPr>
          <p:cNvPr id="285700" name="Rectangle 4"/>
          <p:cNvSpPr>
            <a:spLocks noChangeArrowheads="1"/>
          </p:cNvSpPr>
          <p:nvPr/>
        </p:nvSpPr>
        <p:spPr bwMode="auto">
          <a:xfrm>
            <a:off x="611188"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3900" b="1">
                <a:solidFill>
                  <a:schemeClr val="tx2"/>
                </a:solidFill>
                <a:effectLst>
                  <a:outerShdw blurRad="38100" dist="38100" dir="2700000" algn="tl">
                    <a:srgbClr val="C0C0C0"/>
                  </a:outerShdw>
                </a:effectLst>
                <a:ea typeface="黑体" panose="02010609060101010101" pitchFamily="49" charset="-122"/>
              </a:rPr>
              <a:t>回溯法的基本思想</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sp>
        <p:nvSpPr>
          <p:cNvPr id="285745" name="Text Box 49"/>
          <p:cNvSpPr txBox="1">
            <a:spLocks noChangeArrowheads="1"/>
          </p:cNvSpPr>
          <p:nvPr/>
        </p:nvSpPr>
        <p:spPr bwMode="auto">
          <a:xfrm>
            <a:off x="323850" y="1125538"/>
            <a:ext cx="8372475"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en-US" altLang="zh-CN" sz="2800">
                <a:latin typeface="华文新魏" panose="02010800040101010101" pitchFamily="2" charset="-122"/>
                <a:ea typeface="华文新魏" panose="02010800040101010101" pitchFamily="2" charset="-122"/>
              </a:rPr>
              <a:t>(1)</a:t>
            </a:r>
            <a:r>
              <a:rPr lang="zh-CN" altLang="en-US" sz="2800">
                <a:latin typeface="华文新魏" panose="02010800040101010101" pitchFamily="2" charset="-122"/>
                <a:ea typeface="华文新魏" panose="02010800040101010101" pitchFamily="2" charset="-122"/>
              </a:rPr>
              <a:t>针对所给问题，定义问题的解空间；</a:t>
            </a:r>
            <a:endParaRPr lang="zh-CN" altLang="en-US" sz="2800">
              <a:latin typeface="华文新魏" panose="02010800040101010101" pitchFamily="2" charset="-122"/>
              <a:ea typeface="华文新魏" panose="02010800040101010101" pitchFamily="2" charset="-122"/>
            </a:endParaRPr>
          </a:p>
          <a:p>
            <a:r>
              <a:rPr lang="en-US" altLang="zh-CN" sz="2800">
                <a:latin typeface="华文新魏" panose="02010800040101010101" pitchFamily="2" charset="-122"/>
                <a:ea typeface="华文新魏" panose="02010800040101010101" pitchFamily="2" charset="-122"/>
              </a:rPr>
              <a:t>(2)</a:t>
            </a:r>
            <a:r>
              <a:rPr lang="zh-CN" altLang="en-US" sz="2800">
                <a:latin typeface="华文新魏" panose="02010800040101010101" pitchFamily="2" charset="-122"/>
                <a:ea typeface="华文新魏" panose="02010800040101010101" pitchFamily="2" charset="-122"/>
              </a:rPr>
              <a:t>确定易于搜索的解空间结构；</a:t>
            </a:r>
            <a:endParaRPr lang="zh-CN" altLang="en-US" sz="2800">
              <a:latin typeface="华文新魏" panose="02010800040101010101" pitchFamily="2" charset="-122"/>
              <a:ea typeface="华文新魏" panose="02010800040101010101" pitchFamily="2" charset="-122"/>
            </a:endParaRPr>
          </a:p>
          <a:p>
            <a:r>
              <a:rPr lang="en-US" altLang="zh-CN" sz="2800">
                <a:latin typeface="华文新魏" panose="02010800040101010101" pitchFamily="2" charset="-122"/>
                <a:ea typeface="华文新魏" panose="02010800040101010101" pitchFamily="2" charset="-122"/>
              </a:rPr>
              <a:t>(3)</a:t>
            </a:r>
            <a:r>
              <a:rPr lang="zh-CN" altLang="en-US" sz="2800">
                <a:latin typeface="华文新魏" panose="02010800040101010101" pitchFamily="2" charset="-122"/>
                <a:ea typeface="华文新魏" panose="02010800040101010101" pitchFamily="2" charset="-122"/>
              </a:rPr>
              <a:t>以深度优先方式搜索解空间，并在搜索过程中用剪枝函数避免无效搜索。</a:t>
            </a:r>
            <a:endParaRPr lang="zh-CN" altLang="en-US" sz="2800">
              <a:latin typeface="华文新魏" panose="02010800040101010101" pitchFamily="2" charset="-122"/>
              <a:ea typeface="华文新魏" panose="02010800040101010101" pitchFamily="2" charset="-122"/>
            </a:endParaRPr>
          </a:p>
        </p:txBody>
      </p:sp>
      <p:sp>
        <p:nvSpPr>
          <p:cNvPr id="285746" name="Text Box 50"/>
          <p:cNvSpPr txBox="1">
            <a:spLocks noChangeArrowheads="1"/>
          </p:cNvSpPr>
          <p:nvPr/>
        </p:nvSpPr>
        <p:spPr bwMode="auto">
          <a:xfrm>
            <a:off x="468313" y="3068638"/>
            <a:ext cx="8228012" cy="1373187"/>
          </a:xfrm>
          <a:prstGeom prst="rect">
            <a:avLst/>
          </a:prstGeom>
          <a:solidFill>
            <a:srgbClr val="FFCC00"/>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800">
                <a:ea typeface="华文新魏" panose="02010800040101010101" pitchFamily="2" charset="-122"/>
              </a:rPr>
              <a:t>常用剪枝函数：</a:t>
            </a:r>
            <a:endParaRPr lang="zh-CN" altLang="en-US" sz="2800">
              <a:ea typeface="华文新魏" panose="02010800040101010101" pitchFamily="2" charset="-122"/>
            </a:endParaRPr>
          </a:p>
          <a:p>
            <a:r>
              <a:rPr lang="zh-CN" altLang="en-US" sz="2800">
                <a:ea typeface="华文新魏" panose="02010800040101010101" pitchFamily="2" charset="-122"/>
              </a:rPr>
              <a:t>用约束函数在扩展结点处剪去不满足约束的子树；</a:t>
            </a:r>
            <a:endParaRPr lang="zh-CN" altLang="en-US" sz="2800">
              <a:ea typeface="华文新魏" panose="02010800040101010101" pitchFamily="2" charset="-122"/>
            </a:endParaRPr>
          </a:p>
          <a:p>
            <a:r>
              <a:rPr lang="zh-CN" altLang="en-US" sz="2800">
                <a:ea typeface="华文新魏" panose="02010800040101010101" pitchFamily="2" charset="-122"/>
              </a:rPr>
              <a:t>用限界函数剪去得不到最优解的子树。</a:t>
            </a:r>
            <a:endParaRPr lang="zh-CN" altLang="en-US" sz="2400">
              <a:ea typeface="华文新魏" panose="02010800040101010101" pitchFamily="2"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fld id="{D31D464B-FE4D-4810-BEEA-FD413986B051}" type="slidenum">
              <a:rPr lang="en-US" altLang="zh-CN"/>
            </a:fld>
            <a:endParaRPr lang="en-US" altLang="zh-CN"/>
          </a:p>
        </p:txBody>
      </p:sp>
      <p:sp>
        <p:nvSpPr>
          <p:cNvPr id="286724" name="Rectangle 4"/>
          <p:cNvSpPr>
            <a:spLocks noChangeArrowheads="1"/>
          </p:cNvSpPr>
          <p:nvPr/>
        </p:nvSpPr>
        <p:spPr bwMode="auto">
          <a:xfrm>
            <a:off x="611188"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3900" b="1">
                <a:solidFill>
                  <a:schemeClr val="tx2"/>
                </a:solidFill>
                <a:effectLst>
                  <a:outerShdw blurRad="38100" dist="38100" dir="2700000" algn="tl">
                    <a:srgbClr val="C0C0C0"/>
                  </a:outerShdw>
                </a:effectLst>
                <a:ea typeface="黑体" panose="02010609060101010101" pitchFamily="49" charset="-122"/>
              </a:rPr>
              <a:t>递归回溯</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sp>
        <p:nvSpPr>
          <p:cNvPr id="286725" name="Text Box 5"/>
          <p:cNvSpPr txBox="1">
            <a:spLocks noChangeArrowheads="1"/>
          </p:cNvSpPr>
          <p:nvPr/>
        </p:nvSpPr>
        <p:spPr bwMode="auto">
          <a:xfrm>
            <a:off x="323850" y="836613"/>
            <a:ext cx="74882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华文新魏" panose="02010800040101010101" pitchFamily="2" charset="-122"/>
              </a:rPr>
              <a:t>回溯法对解空间作深度优先搜索，因此，在一般情况下用递归方法实现回溯法。</a:t>
            </a:r>
            <a:endParaRPr lang="zh-CN" altLang="en-US" sz="2400">
              <a:ea typeface="华文新魏" panose="02010800040101010101" pitchFamily="2" charset="-122"/>
            </a:endParaRPr>
          </a:p>
        </p:txBody>
      </p:sp>
      <p:sp>
        <p:nvSpPr>
          <p:cNvPr id="286728" name="Text Box 8"/>
          <p:cNvSpPr txBox="1">
            <a:spLocks noChangeArrowheads="1"/>
          </p:cNvSpPr>
          <p:nvPr/>
        </p:nvSpPr>
        <p:spPr bwMode="auto">
          <a:xfrm>
            <a:off x="611188" y="1989138"/>
            <a:ext cx="7762875" cy="3706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pPr>
              <a:lnSpc>
                <a:spcPct val="110000"/>
              </a:lnSpc>
            </a:pPr>
            <a:r>
              <a:rPr lang="en-US" altLang="zh-CN" sz="2400" b="1">
                <a:ea typeface="新宋体" panose="02010609030101010101" charset="-122"/>
              </a:rPr>
              <a:t>void Backtrack (int t)  </a:t>
            </a:r>
            <a:r>
              <a:rPr lang="en-US" altLang="zh-CN" sz="2200" b="1">
                <a:solidFill>
                  <a:srgbClr val="008000"/>
                </a:solidFill>
                <a:ea typeface="新宋体" panose="02010609030101010101" charset="-122"/>
              </a:rPr>
              <a:t>// t</a:t>
            </a:r>
            <a:r>
              <a:rPr lang="zh-CN" altLang="en-US" sz="2200" b="1">
                <a:solidFill>
                  <a:srgbClr val="008000"/>
                </a:solidFill>
                <a:ea typeface="新宋体" panose="02010609030101010101" charset="-122"/>
              </a:rPr>
              <a:t>表示递归深度</a:t>
            </a:r>
            <a:endParaRPr lang="en-US" altLang="zh-CN" sz="2200" b="1">
              <a:solidFill>
                <a:srgbClr val="008000"/>
              </a:solidFill>
              <a:ea typeface="新宋体" panose="02010609030101010101" charset="-122"/>
            </a:endParaRPr>
          </a:p>
          <a:p>
            <a:pPr>
              <a:lnSpc>
                <a:spcPct val="110000"/>
              </a:lnSpc>
            </a:pPr>
            <a:r>
              <a:rPr lang="en-US" altLang="zh-CN" sz="2400" b="1">
                <a:ea typeface="新宋体" panose="02010609030101010101" charset="-122"/>
              </a:rPr>
              <a:t>{</a:t>
            </a:r>
            <a:endParaRPr lang="en-US" altLang="zh-CN" sz="2400" b="1">
              <a:ea typeface="新宋体" panose="02010609030101010101" charset="-122"/>
            </a:endParaRPr>
          </a:p>
          <a:p>
            <a:pPr>
              <a:lnSpc>
                <a:spcPct val="110000"/>
              </a:lnSpc>
            </a:pPr>
            <a:r>
              <a:rPr lang="en-US" altLang="zh-CN" sz="2400" b="1">
                <a:ea typeface="新宋体" panose="02010609030101010101" charset="-122"/>
              </a:rPr>
              <a:t>	if (t&gt;n) Output(x);</a:t>
            </a:r>
            <a:endParaRPr lang="en-US" altLang="zh-CN" sz="2400" b="1">
              <a:ea typeface="新宋体" panose="02010609030101010101" charset="-122"/>
            </a:endParaRPr>
          </a:p>
          <a:p>
            <a:pPr>
              <a:lnSpc>
                <a:spcPct val="110000"/>
              </a:lnSpc>
            </a:pPr>
            <a:r>
              <a:rPr lang="en-US" altLang="zh-CN" sz="2400" b="1">
                <a:ea typeface="新宋体" panose="02010609030101010101" charset="-122"/>
              </a:rPr>
              <a:t>	else  </a:t>
            </a:r>
            <a:r>
              <a:rPr lang="en-US" altLang="zh-CN" sz="2200" b="1">
                <a:solidFill>
                  <a:srgbClr val="008000"/>
                </a:solidFill>
                <a:ea typeface="新宋体" panose="02010609030101010101" charset="-122"/>
              </a:rPr>
              <a:t>// f(n, t)</a:t>
            </a:r>
            <a:r>
              <a:rPr lang="zh-CN" altLang="en-US" sz="2200" b="1">
                <a:solidFill>
                  <a:srgbClr val="008000"/>
                </a:solidFill>
                <a:ea typeface="新宋体" panose="02010609030101010101" charset="-122"/>
              </a:rPr>
              <a:t>和</a:t>
            </a:r>
            <a:r>
              <a:rPr lang="en-US" altLang="zh-CN" sz="2200" b="1">
                <a:solidFill>
                  <a:srgbClr val="008000"/>
                </a:solidFill>
                <a:ea typeface="新宋体" panose="02010609030101010101" charset="-122"/>
              </a:rPr>
              <a:t>g(n, t)</a:t>
            </a:r>
            <a:r>
              <a:rPr lang="zh-CN" altLang="en-US" sz="2200" b="1">
                <a:solidFill>
                  <a:srgbClr val="008000"/>
                </a:solidFill>
                <a:ea typeface="新宋体" panose="02010609030101010101" charset="-122"/>
              </a:rPr>
              <a:t>表示未搜索子树的起止编号</a:t>
            </a:r>
            <a:endParaRPr lang="zh-CN" altLang="en-US" sz="2200" b="1">
              <a:solidFill>
                <a:srgbClr val="008000"/>
              </a:solidFill>
              <a:ea typeface="新宋体" panose="02010609030101010101" charset="-122"/>
            </a:endParaRPr>
          </a:p>
          <a:p>
            <a:pPr>
              <a:lnSpc>
                <a:spcPct val="110000"/>
              </a:lnSpc>
            </a:pPr>
            <a:r>
              <a:rPr lang="en-US" altLang="zh-CN" sz="2400" b="1">
                <a:ea typeface="新宋体" panose="02010609030101010101" charset="-122"/>
              </a:rPr>
              <a:t>	     for (i=f(n, t); i&lt;=g(n, t); i++) {</a:t>
            </a:r>
            <a:endParaRPr lang="en-US" altLang="zh-CN" sz="2400" b="1">
              <a:ea typeface="新宋体" panose="02010609030101010101" charset="-122"/>
            </a:endParaRPr>
          </a:p>
          <a:p>
            <a:pPr>
              <a:lnSpc>
                <a:spcPct val="110000"/>
              </a:lnSpc>
            </a:pPr>
            <a:r>
              <a:rPr lang="en-US" altLang="zh-CN" sz="2400" b="1">
                <a:ea typeface="新宋体" panose="02010609030101010101" charset="-122"/>
              </a:rPr>
              <a:t>		x[t]=h(i);  </a:t>
            </a:r>
            <a:r>
              <a:rPr lang="en-US" altLang="zh-CN" sz="2200" b="1">
                <a:solidFill>
                  <a:srgbClr val="008000"/>
                </a:solidFill>
                <a:ea typeface="新宋体" panose="02010609030101010101" charset="-122"/>
              </a:rPr>
              <a:t>// </a:t>
            </a:r>
            <a:r>
              <a:rPr lang="zh-CN" altLang="en-US" sz="2200" b="1">
                <a:solidFill>
                  <a:srgbClr val="008000"/>
                </a:solidFill>
                <a:ea typeface="新宋体" panose="02010609030101010101" charset="-122"/>
              </a:rPr>
              <a:t>当前扩展结点</a:t>
            </a:r>
            <a:r>
              <a:rPr lang="en-US" altLang="zh-CN" sz="2200" b="1">
                <a:solidFill>
                  <a:srgbClr val="008000"/>
                </a:solidFill>
                <a:ea typeface="新宋体" panose="02010609030101010101" charset="-122"/>
              </a:rPr>
              <a:t>x[t]</a:t>
            </a:r>
            <a:r>
              <a:rPr lang="zh-CN" altLang="en-US" sz="2200" b="1">
                <a:solidFill>
                  <a:srgbClr val="008000"/>
                </a:solidFill>
                <a:ea typeface="新宋体" panose="02010609030101010101" charset="-122"/>
              </a:rPr>
              <a:t>的第</a:t>
            </a:r>
            <a:r>
              <a:rPr lang="en-US" altLang="zh-CN" sz="2200" b="1">
                <a:solidFill>
                  <a:srgbClr val="008000"/>
                </a:solidFill>
                <a:ea typeface="新宋体" panose="02010609030101010101" charset="-122"/>
              </a:rPr>
              <a:t>i</a:t>
            </a:r>
            <a:r>
              <a:rPr lang="zh-CN" altLang="en-US" sz="2200" b="1">
                <a:solidFill>
                  <a:srgbClr val="008000"/>
                </a:solidFill>
                <a:ea typeface="新宋体" panose="02010609030101010101" charset="-122"/>
              </a:rPr>
              <a:t>个可选值</a:t>
            </a:r>
            <a:endParaRPr lang="en-US" altLang="zh-CN" sz="2200" b="1">
              <a:solidFill>
                <a:srgbClr val="008000"/>
              </a:solidFill>
              <a:ea typeface="新宋体" panose="02010609030101010101" charset="-122"/>
            </a:endParaRPr>
          </a:p>
          <a:p>
            <a:pPr>
              <a:lnSpc>
                <a:spcPct val="110000"/>
              </a:lnSpc>
            </a:pPr>
            <a:r>
              <a:rPr lang="en-US" altLang="zh-CN" sz="2400" b="1">
                <a:ea typeface="新宋体" panose="02010609030101010101" charset="-122"/>
              </a:rPr>
              <a:t>		if(</a:t>
            </a:r>
            <a:r>
              <a:rPr lang="en-US" altLang="zh-CN" sz="2200" b="1">
                <a:ea typeface="新宋体" panose="02010609030101010101" charset="-122"/>
              </a:rPr>
              <a:t>Constraint(t)&amp;&amp;Bound(t)) Backtrack(t+1)</a:t>
            </a:r>
            <a:r>
              <a:rPr lang="en-US" altLang="zh-CN" sz="2400" b="1">
                <a:ea typeface="新宋体" panose="02010609030101010101" charset="-122"/>
              </a:rPr>
              <a:t>;</a:t>
            </a:r>
            <a:endParaRPr lang="en-US" altLang="zh-CN" sz="2400" b="1">
              <a:ea typeface="新宋体" panose="02010609030101010101" charset="-122"/>
            </a:endParaRPr>
          </a:p>
          <a:p>
            <a:pPr>
              <a:lnSpc>
                <a:spcPct val="110000"/>
              </a:lnSpc>
            </a:pPr>
            <a:r>
              <a:rPr lang="en-US" altLang="zh-CN" sz="2400" b="1">
                <a:ea typeface="新宋体" panose="02010609030101010101" charset="-122"/>
              </a:rPr>
              <a:t>	} </a:t>
            </a:r>
            <a:r>
              <a:rPr lang="en-US" altLang="zh-CN" sz="2200" b="1">
                <a:solidFill>
                  <a:srgbClr val="008000"/>
                </a:solidFill>
                <a:ea typeface="新宋体" panose="02010609030101010101" charset="-122"/>
              </a:rPr>
              <a:t>// Constraint() </a:t>
            </a:r>
            <a:r>
              <a:rPr lang="zh-CN" altLang="en-US" sz="2200" b="1">
                <a:solidFill>
                  <a:srgbClr val="008000"/>
                </a:solidFill>
                <a:ea typeface="新宋体" panose="02010609030101010101" charset="-122"/>
              </a:rPr>
              <a:t>约束函数，</a:t>
            </a:r>
            <a:r>
              <a:rPr lang="en-US" altLang="zh-CN" sz="2200" b="1">
                <a:solidFill>
                  <a:srgbClr val="008000"/>
                </a:solidFill>
                <a:ea typeface="新宋体" panose="02010609030101010101" charset="-122"/>
              </a:rPr>
              <a:t>Bound() </a:t>
            </a:r>
            <a:r>
              <a:rPr lang="zh-CN" altLang="en-US" sz="2200" b="1">
                <a:solidFill>
                  <a:srgbClr val="008000"/>
                </a:solidFill>
                <a:ea typeface="新宋体" panose="02010609030101010101" charset="-122"/>
              </a:rPr>
              <a:t>界限函数</a:t>
            </a:r>
            <a:endParaRPr lang="en-US" altLang="zh-CN" sz="2400" b="1">
              <a:ea typeface="新宋体" panose="02010609030101010101" charset="-122"/>
            </a:endParaRPr>
          </a:p>
          <a:p>
            <a:pPr>
              <a:lnSpc>
                <a:spcPct val="110000"/>
              </a:lnSpc>
            </a:pPr>
            <a:r>
              <a:rPr lang="en-US" altLang="zh-CN" sz="2400" b="1">
                <a:ea typeface="新宋体" panose="02010609030101010101" charset="-122"/>
              </a:rPr>
              <a:t>} </a:t>
            </a:r>
            <a:r>
              <a:rPr lang="en-US" altLang="zh-CN" sz="2200" b="1">
                <a:solidFill>
                  <a:srgbClr val="008000"/>
                </a:solidFill>
                <a:ea typeface="新宋体" panose="02010609030101010101" charset="-122"/>
              </a:rPr>
              <a:t>// </a:t>
            </a:r>
            <a:r>
              <a:rPr lang="zh-CN" altLang="en-US" sz="2200" b="1">
                <a:solidFill>
                  <a:srgbClr val="008000"/>
                </a:solidFill>
                <a:ea typeface="新宋体" panose="02010609030101010101" charset="-122"/>
              </a:rPr>
              <a:t>算法结束</a:t>
            </a:r>
            <a:endParaRPr lang="en-US" altLang="zh-CN" sz="2200" b="1">
              <a:solidFill>
                <a:srgbClr val="008000"/>
              </a:solidFill>
              <a:ea typeface="新宋体" panose="02010609030101010101"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fld id="{B10B4A23-869B-4773-AF97-DF1386481E34}" type="slidenum">
              <a:rPr lang="en-US" altLang="zh-CN"/>
            </a:fld>
            <a:endParaRPr lang="en-US" altLang="zh-CN"/>
          </a:p>
        </p:txBody>
      </p:sp>
      <p:sp>
        <p:nvSpPr>
          <p:cNvPr id="287748" name="Rectangle 4"/>
          <p:cNvSpPr>
            <a:spLocks noChangeArrowheads="1"/>
          </p:cNvSpPr>
          <p:nvPr/>
        </p:nvSpPr>
        <p:spPr bwMode="auto">
          <a:xfrm>
            <a:off x="611188"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3900" b="1">
                <a:solidFill>
                  <a:schemeClr val="tx2"/>
                </a:solidFill>
                <a:effectLst>
                  <a:outerShdw blurRad="38100" dist="38100" dir="2700000" algn="tl">
                    <a:srgbClr val="C0C0C0"/>
                  </a:outerShdw>
                </a:effectLst>
                <a:ea typeface="黑体" panose="02010609060101010101" pitchFamily="49" charset="-122"/>
              </a:rPr>
              <a:t>迭代回溯</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sp>
        <p:nvSpPr>
          <p:cNvPr id="287749" name="Text Box 5"/>
          <p:cNvSpPr txBox="1">
            <a:spLocks noChangeArrowheads="1"/>
          </p:cNvSpPr>
          <p:nvPr/>
        </p:nvSpPr>
        <p:spPr bwMode="auto">
          <a:xfrm>
            <a:off x="395288" y="836613"/>
            <a:ext cx="74168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华文新魏" panose="02010800040101010101" pitchFamily="2" charset="-122"/>
              </a:rPr>
              <a:t>采用树的非递归深度优先遍历算法，可将回溯法表示为一个非递归迭代过程。</a:t>
            </a:r>
            <a:endParaRPr lang="zh-CN" altLang="en-US" sz="2400">
              <a:ea typeface="华文新魏" panose="02010800040101010101" pitchFamily="2" charset="-122"/>
            </a:endParaRPr>
          </a:p>
        </p:txBody>
      </p:sp>
      <p:sp>
        <p:nvSpPr>
          <p:cNvPr id="287750" name="Text Box 6"/>
          <p:cNvSpPr txBox="1">
            <a:spLocks noChangeArrowheads="1"/>
          </p:cNvSpPr>
          <p:nvPr/>
        </p:nvSpPr>
        <p:spPr bwMode="auto">
          <a:xfrm>
            <a:off x="539750" y="1654175"/>
            <a:ext cx="7993063" cy="520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en-US" altLang="zh-CN" sz="2400">
                <a:ea typeface="新宋体" panose="02010609030101010101" charset="-122"/>
              </a:rPr>
              <a:t>void </a:t>
            </a:r>
            <a:r>
              <a:rPr lang="en-US" altLang="zh-CN" sz="2400" b="1">
                <a:ea typeface="新宋体" panose="02010609030101010101" charset="-122"/>
              </a:rPr>
              <a:t>iterativeBacktrack</a:t>
            </a:r>
            <a:r>
              <a:rPr lang="en-US" altLang="zh-CN" sz="2400">
                <a:ea typeface="新宋体" panose="02010609030101010101" charset="-122"/>
              </a:rPr>
              <a:t> ()</a:t>
            </a:r>
            <a:endParaRPr lang="en-US" altLang="zh-CN" sz="2400">
              <a:ea typeface="新宋体" panose="02010609030101010101" charset="-122"/>
            </a:endParaRPr>
          </a:p>
          <a:p>
            <a:r>
              <a:rPr lang="en-US" altLang="zh-CN" sz="2400">
                <a:ea typeface="新宋体" panose="02010609030101010101" charset="-122"/>
              </a:rPr>
              <a:t>{</a:t>
            </a:r>
            <a:endParaRPr lang="en-US" altLang="zh-CN" sz="2400">
              <a:ea typeface="新宋体" panose="02010609030101010101" charset="-122"/>
            </a:endParaRPr>
          </a:p>
          <a:p>
            <a:r>
              <a:rPr lang="en-US" altLang="zh-CN" sz="2400">
                <a:ea typeface="新宋体" panose="02010609030101010101" charset="-122"/>
              </a:rPr>
              <a:t>  int t=1;</a:t>
            </a:r>
            <a:endParaRPr lang="en-US" altLang="zh-CN" sz="2400">
              <a:ea typeface="新宋体" panose="02010609030101010101" charset="-122"/>
            </a:endParaRPr>
          </a:p>
          <a:p>
            <a:r>
              <a:rPr lang="en-US" altLang="zh-CN" sz="2400">
                <a:ea typeface="新宋体" panose="02010609030101010101" charset="-122"/>
              </a:rPr>
              <a:t>  </a:t>
            </a:r>
            <a:r>
              <a:rPr lang="en-US" altLang="zh-CN" sz="2400" b="1">
                <a:ea typeface="新宋体" panose="02010609030101010101" charset="-122"/>
              </a:rPr>
              <a:t>while</a:t>
            </a:r>
            <a:r>
              <a:rPr lang="en-US" altLang="zh-CN" sz="2400">
                <a:ea typeface="新宋体" panose="02010609030101010101" charset="-122"/>
              </a:rPr>
              <a:t> (t&gt;0) {</a:t>
            </a:r>
            <a:endParaRPr lang="en-US" altLang="zh-CN" sz="2400">
              <a:ea typeface="新宋体" panose="02010609030101010101" charset="-122"/>
            </a:endParaRPr>
          </a:p>
          <a:p>
            <a:r>
              <a:rPr lang="en-US" altLang="zh-CN" sz="2400">
                <a:ea typeface="新宋体" panose="02010609030101010101" charset="-122"/>
              </a:rPr>
              <a:t>    </a:t>
            </a:r>
            <a:r>
              <a:rPr lang="en-US" altLang="zh-CN" sz="2400" b="1">
                <a:ea typeface="新宋体" panose="02010609030101010101" charset="-122"/>
              </a:rPr>
              <a:t>if</a:t>
            </a:r>
            <a:r>
              <a:rPr lang="en-US" altLang="zh-CN" sz="2400">
                <a:ea typeface="新宋体" panose="02010609030101010101" charset="-122"/>
              </a:rPr>
              <a:t> (</a:t>
            </a:r>
            <a:r>
              <a:rPr lang="en-US" altLang="zh-CN" sz="2400" b="1">
                <a:ea typeface="新宋体" panose="02010609030101010101" charset="-122"/>
              </a:rPr>
              <a:t>f</a:t>
            </a:r>
            <a:r>
              <a:rPr lang="en-US" altLang="zh-CN" sz="2400">
                <a:ea typeface="新宋体" panose="02010609030101010101" charset="-122"/>
              </a:rPr>
              <a:t>(n,t)&lt;=</a:t>
            </a:r>
            <a:r>
              <a:rPr lang="en-US" altLang="zh-CN" sz="2400" b="1">
                <a:ea typeface="新宋体" panose="02010609030101010101" charset="-122"/>
              </a:rPr>
              <a:t>g</a:t>
            </a:r>
            <a:r>
              <a:rPr lang="en-US" altLang="zh-CN" sz="2400">
                <a:ea typeface="新宋体" panose="02010609030101010101" charset="-122"/>
              </a:rPr>
              <a:t>(n,t)) </a:t>
            </a:r>
            <a:endParaRPr lang="en-US" altLang="zh-CN" sz="2400">
              <a:ea typeface="新宋体" panose="02010609030101010101" charset="-122"/>
            </a:endParaRPr>
          </a:p>
          <a:p>
            <a:r>
              <a:rPr lang="en-US" altLang="zh-CN" sz="2400">
                <a:ea typeface="新宋体" panose="02010609030101010101" charset="-122"/>
              </a:rPr>
              <a:t>      for (int i=</a:t>
            </a:r>
            <a:r>
              <a:rPr lang="en-US" altLang="zh-CN" sz="2400" b="1">
                <a:ea typeface="新宋体" panose="02010609030101010101" charset="-122"/>
              </a:rPr>
              <a:t>f</a:t>
            </a:r>
            <a:r>
              <a:rPr lang="en-US" altLang="zh-CN" sz="2400">
                <a:ea typeface="新宋体" panose="02010609030101010101" charset="-122"/>
              </a:rPr>
              <a:t>(n,t);i&lt;=</a:t>
            </a:r>
            <a:r>
              <a:rPr lang="en-US" altLang="zh-CN" sz="2400" b="1">
                <a:ea typeface="新宋体" panose="02010609030101010101" charset="-122"/>
              </a:rPr>
              <a:t>g</a:t>
            </a:r>
            <a:r>
              <a:rPr lang="en-US" altLang="zh-CN" sz="2400">
                <a:ea typeface="新宋体" panose="02010609030101010101" charset="-122"/>
              </a:rPr>
              <a:t>(n,t);i++) {</a:t>
            </a:r>
            <a:endParaRPr lang="en-US" altLang="zh-CN" sz="2400">
              <a:ea typeface="新宋体" panose="02010609030101010101" charset="-122"/>
            </a:endParaRPr>
          </a:p>
          <a:p>
            <a:r>
              <a:rPr lang="en-US" altLang="zh-CN" sz="2400">
                <a:ea typeface="新宋体" panose="02010609030101010101" charset="-122"/>
              </a:rPr>
              <a:t>        x[t]=</a:t>
            </a:r>
            <a:r>
              <a:rPr lang="en-US" altLang="zh-CN" sz="2400" b="1">
                <a:ea typeface="新宋体" panose="02010609030101010101" charset="-122"/>
              </a:rPr>
              <a:t>h</a:t>
            </a:r>
            <a:r>
              <a:rPr lang="en-US" altLang="zh-CN" sz="2400">
                <a:ea typeface="新宋体" panose="02010609030101010101" charset="-122"/>
              </a:rPr>
              <a:t>(i);</a:t>
            </a:r>
            <a:endParaRPr lang="en-US" altLang="zh-CN" sz="2400">
              <a:ea typeface="新宋体" panose="02010609030101010101" charset="-122"/>
            </a:endParaRPr>
          </a:p>
          <a:p>
            <a:r>
              <a:rPr lang="en-US" altLang="zh-CN" sz="2400">
                <a:ea typeface="新宋体" panose="02010609030101010101" charset="-122"/>
              </a:rPr>
              <a:t>        </a:t>
            </a:r>
            <a:r>
              <a:rPr lang="en-US" altLang="zh-CN" sz="2400" b="1">
                <a:ea typeface="新宋体" panose="02010609030101010101" charset="-122"/>
              </a:rPr>
              <a:t>if</a:t>
            </a:r>
            <a:r>
              <a:rPr lang="en-US" altLang="zh-CN" sz="2400">
                <a:ea typeface="新宋体" panose="02010609030101010101" charset="-122"/>
              </a:rPr>
              <a:t> (</a:t>
            </a:r>
            <a:r>
              <a:rPr lang="en-US" altLang="zh-CN" sz="2400" b="1">
                <a:ea typeface="新宋体" panose="02010609030101010101" charset="-122"/>
              </a:rPr>
              <a:t>constraint</a:t>
            </a:r>
            <a:r>
              <a:rPr lang="en-US" altLang="zh-CN" sz="2400">
                <a:ea typeface="新宋体" panose="02010609030101010101" charset="-122"/>
              </a:rPr>
              <a:t>(t)&amp;&amp;</a:t>
            </a:r>
            <a:r>
              <a:rPr lang="en-US" altLang="zh-CN" sz="2400" b="1">
                <a:ea typeface="新宋体" panose="02010609030101010101" charset="-122"/>
              </a:rPr>
              <a:t>bound</a:t>
            </a:r>
            <a:r>
              <a:rPr lang="en-US" altLang="zh-CN" sz="2400">
                <a:ea typeface="新宋体" panose="02010609030101010101" charset="-122"/>
              </a:rPr>
              <a:t>(t)) {</a:t>
            </a:r>
            <a:endParaRPr lang="en-US" altLang="zh-CN" sz="2400">
              <a:ea typeface="新宋体" panose="02010609030101010101" charset="-122"/>
            </a:endParaRPr>
          </a:p>
          <a:p>
            <a:r>
              <a:rPr lang="en-US" altLang="zh-CN" sz="2400">
                <a:ea typeface="新宋体" panose="02010609030101010101" charset="-122"/>
              </a:rPr>
              <a:t>          </a:t>
            </a:r>
            <a:r>
              <a:rPr lang="en-US" altLang="zh-CN" sz="2400" b="1">
                <a:ea typeface="新宋体" panose="02010609030101010101" charset="-122"/>
              </a:rPr>
              <a:t>if</a:t>
            </a:r>
            <a:r>
              <a:rPr lang="en-US" altLang="zh-CN" sz="2400">
                <a:ea typeface="新宋体" panose="02010609030101010101" charset="-122"/>
              </a:rPr>
              <a:t> (</a:t>
            </a:r>
            <a:r>
              <a:rPr lang="en-US" altLang="zh-CN" sz="2400" b="1">
                <a:ea typeface="新宋体" panose="02010609030101010101" charset="-122"/>
              </a:rPr>
              <a:t>solution</a:t>
            </a:r>
            <a:r>
              <a:rPr lang="en-US" altLang="zh-CN" sz="2400">
                <a:ea typeface="新宋体" panose="02010609030101010101" charset="-122"/>
              </a:rPr>
              <a:t>(t)) </a:t>
            </a:r>
            <a:r>
              <a:rPr lang="en-US" altLang="zh-CN" sz="2400" b="1">
                <a:ea typeface="新宋体" panose="02010609030101010101" charset="-122"/>
              </a:rPr>
              <a:t>output</a:t>
            </a:r>
            <a:r>
              <a:rPr lang="en-US" altLang="zh-CN" sz="2400">
                <a:ea typeface="新宋体" panose="02010609030101010101" charset="-122"/>
              </a:rPr>
              <a:t>(x);</a:t>
            </a:r>
            <a:endParaRPr lang="en-US" altLang="zh-CN" sz="2400">
              <a:ea typeface="新宋体" panose="02010609030101010101" charset="-122"/>
            </a:endParaRPr>
          </a:p>
          <a:p>
            <a:r>
              <a:rPr lang="en-US" altLang="zh-CN" sz="2400">
                <a:ea typeface="新宋体" panose="02010609030101010101" charset="-122"/>
              </a:rPr>
              <a:t>          </a:t>
            </a:r>
            <a:r>
              <a:rPr lang="en-US" altLang="zh-CN" sz="2400" b="1">
                <a:ea typeface="新宋体" panose="02010609030101010101" charset="-122"/>
              </a:rPr>
              <a:t>else</a:t>
            </a:r>
            <a:r>
              <a:rPr lang="en-US" altLang="zh-CN" sz="2400">
                <a:ea typeface="新宋体" panose="02010609030101010101" charset="-122"/>
              </a:rPr>
              <a:t> t++;} </a:t>
            </a:r>
            <a:r>
              <a:rPr lang="en-US" altLang="zh-CN" b="1">
                <a:solidFill>
                  <a:srgbClr val="008000"/>
                </a:solidFill>
              </a:rPr>
              <a:t>//Solution(t)</a:t>
            </a:r>
            <a:r>
              <a:rPr lang="zh-CN" altLang="en-US" b="1">
                <a:solidFill>
                  <a:srgbClr val="008000"/>
                </a:solidFill>
              </a:rPr>
              <a:t>判断在当前扩展结点处是否得到可行解</a:t>
            </a:r>
            <a:r>
              <a:rPr lang="en-US" altLang="zh-CN"/>
              <a:t> </a:t>
            </a:r>
            <a:endParaRPr lang="en-US" altLang="zh-CN" sz="2400">
              <a:ea typeface="新宋体" panose="02010609030101010101" charset="-122"/>
            </a:endParaRPr>
          </a:p>
          <a:p>
            <a:r>
              <a:rPr lang="en-US" altLang="zh-CN" sz="2400">
                <a:ea typeface="新宋体" panose="02010609030101010101" charset="-122"/>
              </a:rPr>
              <a:t>        }</a:t>
            </a:r>
            <a:endParaRPr lang="en-US" altLang="zh-CN" sz="2400">
              <a:ea typeface="新宋体" panose="02010609030101010101" charset="-122"/>
            </a:endParaRPr>
          </a:p>
          <a:p>
            <a:r>
              <a:rPr lang="en-US" altLang="zh-CN" sz="2400">
                <a:ea typeface="新宋体" panose="02010609030101010101" charset="-122"/>
              </a:rPr>
              <a:t>    </a:t>
            </a:r>
            <a:r>
              <a:rPr lang="en-US" altLang="zh-CN" sz="2400" b="1">
                <a:ea typeface="新宋体" panose="02010609030101010101" charset="-122"/>
              </a:rPr>
              <a:t>else</a:t>
            </a:r>
            <a:r>
              <a:rPr lang="en-US" altLang="zh-CN" sz="2400">
                <a:ea typeface="新宋体" panose="02010609030101010101" charset="-122"/>
              </a:rPr>
              <a:t> t--;</a:t>
            </a:r>
            <a:endParaRPr lang="en-US" altLang="zh-CN" sz="2400">
              <a:ea typeface="新宋体" panose="02010609030101010101" charset="-122"/>
            </a:endParaRPr>
          </a:p>
          <a:p>
            <a:r>
              <a:rPr lang="en-US" altLang="zh-CN" sz="2400">
                <a:ea typeface="新宋体" panose="02010609030101010101" charset="-122"/>
              </a:rPr>
              <a:t>    }</a:t>
            </a:r>
            <a:endParaRPr lang="en-US" altLang="zh-CN" sz="2400">
              <a:ea typeface="新宋体" panose="02010609030101010101" charset="-122"/>
            </a:endParaRPr>
          </a:p>
          <a:p>
            <a:r>
              <a:rPr lang="en-US" altLang="zh-CN" sz="2400">
                <a:ea typeface="新宋体" panose="02010609030101010101" charset="-122"/>
              </a:rPr>
              <a:t>}</a:t>
            </a:r>
            <a:endParaRPr lang="zh-CN" altLang="en-US" sz="2400">
              <a:ea typeface="新宋体" panose="02010609030101010101"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9FD63CED-6111-4AB1-955B-1B6CAF43E0C2}" type="slidenum">
              <a:rPr lang="en-US" altLang="zh-CN"/>
            </a:fld>
            <a:endParaRPr lang="en-US" altLang="zh-CN"/>
          </a:p>
        </p:txBody>
      </p:sp>
      <p:sp>
        <p:nvSpPr>
          <p:cNvPr id="340996" name="Text Box 4"/>
          <p:cNvSpPr txBox="1">
            <a:spLocks noChangeArrowheads="1"/>
          </p:cNvSpPr>
          <p:nvPr/>
        </p:nvSpPr>
        <p:spPr bwMode="auto">
          <a:xfrm>
            <a:off x="323850" y="1844675"/>
            <a:ext cx="8588375"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800">
                <a:latin typeface="华文新魏" panose="02010800040101010101" pitchFamily="2" charset="-122"/>
                <a:ea typeface="华文新魏" panose="02010800040101010101" pitchFamily="2" charset="-122"/>
              </a:rPr>
              <a:t>用回溯法解题的一个显著特征是在搜索过程中动态产生问题的解空间。在任何时刻，算法只保存从根结点到当前扩展结点的路径。如果解空间树中从根结点到叶结点的最长路径的长度为</a:t>
            </a:r>
            <a:r>
              <a:rPr lang="en-US" altLang="zh-CN" sz="2800">
                <a:latin typeface="华文新魏" panose="02010800040101010101" pitchFamily="2" charset="-122"/>
                <a:ea typeface="华文新魏" panose="02010800040101010101" pitchFamily="2" charset="-122"/>
              </a:rPr>
              <a:t>h(n)</a:t>
            </a:r>
            <a:r>
              <a:rPr lang="zh-CN" altLang="en-US" sz="2800">
                <a:latin typeface="华文新魏" panose="02010800040101010101" pitchFamily="2" charset="-122"/>
                <a:ea typeface="华文新魏" panose="02010800040101010101" pitchFamily="2" charset="-122"/>
              </a:rPr>
              <a:t>，则回溯法所需的计算空间通常为</a:t>
            </a:r>
            <a:r>
              <a:rPr lang="en-US" altLang="zh-CN" sz="2800">
                <a:latin typeface="华文新魏" panose="02010800040101010101" pitchFamily="2" charset="-122"/>
                <a:ea typeface="华文新魏" panose="02010800040101010101" pitchFamily="2" charset="-122"/>
              </a:rPr>
              <a:t>O(h(n))</a:t>
            </a:r>
            <a:r>
              <a:rPr lang="zh-CN" altLang="en-US" sz="2800">
                <a:latin typeface="华文新魏" panose="02010800040101010101" pitchFamily="2" charset="-122"/>
                <a:ea typeface="华文新魏" panose="02010800040101010101" pitchFamily="2" charset="-122"/>
              </a:rPr>
              <a:t>。而显式地存储整个解空间则需要</a:t>
            </a:r>
            <a:r>
              <a:rPr lang="en-US" altLang="zh-CN" sz="2800">
                <a:latin typeface="华文新魏" panose="02010800040101010101" pitchFamily="2" charset="-122"/>
                <a:ea typeface="华文新魏" panose="02010800040101010101" pitchFamily="2" charset="-122"/>
              </a:rPr>
              <a:t>O(2</a:t>
            </a:r>
            <a:r>
              <a:rPr lang="en-US" altLang="zh-CN" sz="2800" baseline="30000">
                <a:latin typeface="华文新魏" panose="02010800040101010101" pitchFamily="2" charset="-122"/>
                <a:ea typeface="华文新魏" panose="02010800040101010101" pitchFamily="2" charset="-122"/>
              </a:rPr>
              <a:t>h(n)</a:t>
            </a:r>
            <a:r>
              <a:rPr lang="en-US" altLang="zh-CN" sz="2800">
                <a:latin typeface="华文新魏" panose="02010800040101010101" pitchFamily="2" charset="-122"/>
                <a:ea typeface="华文新魏" panose="02010800040101010101" pitchFamily="2" charset="-122"/>
              </a:rPr>
              <a:t>)</a:t>
            </a:r>
            <a:r>
              <a:rPr lang="zh-CN" altLang="en-US" sz="2800">
                <a:latin typeface="华文新魏" panose="02010800040101010101" pitchFamily="2" charset="-122"/>
                <a:ea typeface="华文新魏" panose="02010800040101010101" pitchFamily="2" charset="-122"/>
              </a:rPr>
              <a:t>或</a:t>
            </a:r>
            <a:r>
              <a:rPr lang="en-US" altLang="zh-CN" sz="2800">
                <a:latin typeface="华文新魏" panose="02010800040101010101" pitchFamily="2" charset="-122"/>
                <a:ea typeface="华文新魏" panose="02010800040101010101" pitchFamily="2" charset="-122"/>
              </a:rPr>
              <a:t>O(h(n)!)</a:t>
            </a:r>
            <a:r>
              <a:rPr lang="zh-CN" altLang="en-US" sz="2800">
                <a:latin typeface="华文新魏" panose="02010800040101010101" pitchFamily="2" charset="-122"/>
                <a:ea typeface="华文新魏" panose="02010800040101010101" pitchFamily="2" charset="-122"/>
              </a:rPr>
              <a:t>内存空间。</a:t>
            </a:r>
            <a:endParaRPr lang="zh-CN" altLang="en-US" sz="280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A5D689FC-2E38-48C2-940F-34A9A4169B2E}" type="slidenum">
              <a:rPr lang="en-US" altLang="zh-CN"/>
            </a:fld>
            <a:endParaRPr lang="en-US" altLang="zh-CN"/>
          </a:p>
        </p:txBody>
      </p:sp>
      <p:sp>
        <p:nvSpPr>
          <p:cNvPr id="342018" name="Rectangle 2"/>
          <p:cNvSpPr>
            <a:spLocks noGrp="1" noChangeArrowheads="1"/>
          </p:cNvSpPr>
          <p:nvPr>
            <p:ph type="body" idx="1"/>
          </p:nvPr>
        </p:nvSpPr>
        <p:spPr/>
        <p:txBody>
          <a:bodyPr/>
          <a:lstStyle/>
          <a:p>
            <a:endParaRPr lang="zh-CN" altLang="en-US"/>
          </a:p>
        </p:txBody>
      </p:sp>
      <p:pic>
        <p:nvPicPr>
          <p:cNvPr id="342019"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485775"/>
            <a:ext cx="9144000" cy="578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F2818020-EECD-45B6-BA9C-850F54D69024}" type="slidenum">
              <a:rPr lang="en-US" altLang="zh-CN"/>
            </a:fld>
            <a:endParaRPr lang="en-US" altLang="zh-CN"/>
          </a:p>
        </p:txBody>
      </p:sp>
      <p:sp>
        <p:nvSpPr>
          <p:cNvPr id="343042" name="Rectangle 2"/>
          <p:cNvSpPr>
            <a:spLocks noGrp="1" noChangeArrowheads="1"/>
          </p:cNvSpPr>
          <p:nvPr>
            <p:ph type="body" idx="1"/>
          </p:nvPr>
        </p:nvSpPr>
        <p:spPr/>
        <p:txBody>
          <a:bodyPr/>
          <a:lstStyle/>
          <a:p>
            <a:endParaRPr lang="zh-CN" altLang="en-US"/>
          </a:p>
        </p:txBody>
      </p:sp>
      <p:pic>
        <p:nvPicPr>
          <p:cNvPr id="343043"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627063"/>
            <a:ext cx="9144000" cy="582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D87F7994-2E74-4972-81B4-46AD00C0FF15}" type="slidenum">
              <a:rPr lang="en-US" altLang="zh-CN"/>
            </a:fld>
            <a:endParaRPr lang="en-US" altLang="zh-CN"/>
          </a:p>
        </p:txBody>
      </p:sp>
      <p:sp>
        <p:nvSpPr>
          <p:cNvPr id="344066" name="Rectangle 2"/>
          <p:cNvSpPr>
            <a:spLocks noGrp="1" noChangeArrowheads="1"/>
          </p:cNvSpPr>
          <p:nvPr>
            <p:ph type="body" idx="1"/>
          </p:nvPr>
        </p:nvSpPr>
        <p:spPr/>
        <p:txBody>
          <a:bodyPr/>
          <a:lstStyle/>
          <a:p>
            <a:endParaRPr lang="zh-CN" altLang="en-US"/>
          </a:p>
        </p:txBody>
      </p:sp>
      <p:pic>
        <p:nvPicPr>
          <p:cNvPr id="344067"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285750"/>
            <a:ext cx="9144000" cy="6370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2651B1F4-D9E1-48DE-901B-C78BE94E1632}" type="slidenum">
              <a:rPr lang="en-US" altLang="zh-CN"/>
            </a:fld>
            <a:endParaRPr lang="en-US" altLang="zh-CN"/>
          </a:p>
        </p:txBody>
      </p:sp>
      <p:sp>
        <p:nvSpPr>
          <p:cNvPr id="359426" name="Rectangle 2"/>
          <p:cNvSpPr>
            <a:spLocks noGrp="1" noChangeArrowheads="1"/>
          </p:cNvSpPr>
          <p:nvPr>
            <p:ph type="title"/>
          </p:nvPr>
        </p:nvSpPr>
        <p:spPr/>
        <p:txBody>
          <a:bodyPr/>
          <a:lstStyle/>
          <a:p>
            <a:r>
              <a:rPr lang="zh-CN" altLang="en-US"/>
              <a:t>常用剪枝函数</a:t>
            </a:r>
            <a:endParaRPr lang="zh-CN" altLang="en-US"/>
          </a:p>
        </p:txBody>
      </p:sp>
      <p:sp>
        <p:nvSpPr>
          <p:cNvPr id="359428" name="Text Box 4"/>
          <p:cNvSpPr txBox="1">
            <a:spLocks noGrp="1" noChangeArrowheads="1"/>
          </p:cNvSpPr>
          <p:nvPr>
            <p:ph type="body" idx="1"/>
          </p:nvPr>
        </p:nvSpPr>
        <p:spPr>
          <a:xfrm>
            <a:off x="323850" y="1719263"/>
            <a:ext cx="8640763" cy="3005137"/>
          </a:xfrm>
          <a:noFill/>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p>
            <a:r>
              <a:rPr lang="zh-CN" altLang="en-US">
                <a:ea typeface="华文新魏" panose="02010800040101010101" pitchFamily="2" charset="-122"/>
              </a:rPr>
              <a:t>用约束函数在扩展结点处剪去不满足约束的子树</a:t>
            </a:r>
            <a:endParaRPr lang="zh-CN" altLang="en-US">
              <a:ea typeface="华文新魏" panose="02010800040101010101" pitchFamily="2" charset="-122"/>
            </a:endParaRPr>
          </a:p>
          <a:p>
            <a:r>
              <a:rPr lang="zh-CN" altLang="en-US">
                <a:ea typeface="华文新魏" panose="02010800040101010101" pitchFamily="2" charset="-122"/>
              </a:rPr>
              <a:t>用限界函数剪去得不到最优解的子树。</a:t>
            </a:r>
            <a:endParaRPr lang="zh-CN" altLang="en-US">
              <a:ea typeface="华文新魏" panose="02010800040101010101" pitchFamily="2" charset="-122"/>
            </a:endParaRPr>
          </a:p>
          <a:p>
            <a:endParaRPr lang="zh-CN" altLang="en-US">
              <a:ea typeface="华文新魏" panose="02010800040101010101" pitchFamily="2" charset="-122"/>
            </a:endParaRPr>
          </a:p>
          <a:p>
            <a:r>
              <a:rPr lang="en-US" altLang="zh-CN">
                <a:ea typeface="华文新魏" panose="02010800040101010101" pitchFamily="2" charset="-122"/>
              </a:rPr>
              <a:t>0-1 </a:t>
            </a:r>
            <a:r>
              <a:rPr lang="zh-CN" altLang="en-US">
                <a:ea typeface="华文新魏" panose="02010800040101010101" pitchFamily="2" charset="-122"/>
              </a:rPr>
              <a:t>背包问题？</a:t>
            </a:r>
            <a:endParaRPr lang="zh-CN" altLang="en-US">
              <a:ea typeface="华文新魏" panose="02010800040101010101" pitchFamily="2" charset="-122"/>
            </a:endParaRPr>
          </a:p>
          <a:p>
            <a:r>
              <a:rPr lang="en-US" altLang="zh-CN">
                <a:ea typeface="华文新魏" panose="02010800040101010101" pitchFamily="2" charset="-122"/>
              </a:rPr>
              <a:t>TSP</a:t>
            </a:r>
            <a:r>
              <a:rPr lang="zh-CN" altLang="en-US">
                <a:ea typeface="华文新魏" panose="02010800040101010101" pitchFamily="2" charset="-122"/>
              </a:rPr>
              <a:t>问题？</a:t>
            </a:r>
            <a:endParaRPr lang="zh-CN" altLang="en-US">
              <a:ea typeface="华文新魏" panose="02010800040101010101" pitchFamily="2"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1AF126B8-CFC4-4BAB-A413-E2DAB7622E03}" type="slidenum">
              <a:rPr lang="en-US" altLang="zh-CN"/>
            </a:fld>
            <a:endParaRPr lang="en-US" altLang="zh-CN"/>
          </a:p>
        </p:txBody>
      </p:sp>
      <p:pic>
        <p:nvPicPr>
          <p:cNvPr id="33587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817563"/>
            <a:ext cx="9144000" cy="5275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fld id="{C7C47370-C6F6-442E-A63F-303F66B0B942}" type="slidenum">
              <a:rPr lang="en-US" altLang="zh-CN"/>
            </a:fld>
            <a:endParaRPr lang="en-US" altLang="zh-CN"/>
          </a:p>
        </p:txBody>
      </p:sp>
      <p:sp>
        <p:nvSpPr>
          <p:cNvPr id="288772" name="Rectangle 4"/>
          <p:cNvSpPr>
            <a:spLocks noChangeArrowheads="1"/>
          </p:cNvSpPr>
          <p:nvPr/>
        </p:nvSpPr>
        <p:spPr bwMode="auto">
          <a:xfrm>
            <a:off x="611188"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3900" b="1">
                <a:solidFill>
                  <a:schemeClr val="tx2"/>
                </a:solidFill>
                <a:effectLst>
                  <a:outerShdw blurRad="38100" dist="38100" dir="2700000" algn="tl">
                    <a:srgbClr val="C0C0C0"/>
                  </a:outerShdw>
                </a:effectLst>
                <a:ea typeface="黑体" panose="02010609060101010101" pitchFamily="49" charset="-122"/>
              </a:rPr>
              <a:t>子集树与排列树</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pic>
        <p:nvPicPr>
          <p:cNvPr id="288773" name="Picture 5" descr="t5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3850" y="1196975"/>
            <a:ext cx="3671888"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8774" name="Picture 6" descr="t5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825" y="765175"/>
            <a:ext cx="3168650" cy="238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8775" name="Text Box 7"/>
          <p:cNvSpPr txBox="1">
            <a:spLocks noChangeArrowheads="1"/>
          </p:cNvSpPr>
          <p:nvPr/>
        </p:nvSpPr>
        <p:spPr bwMode="auto">
          <a:xfrm>
            <a:off x="168275" y="3155950"/>
            <a:ext cx="40655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pPr algn="ctr"/>
            <a:r>
              <a:rPr lang="zh-CN" altLang="en-US" sz="2400">
                <a:latin typeface="华文新魏" panose="02010800040101010101" pitchFamily="2" charset="-122"/>
                <a:ea typeface="华文新魏" panose="02010800040101010101" pitchFamily="2" charset="-122"/>
              </a:rPr>
              <a:t>遍历子集树需</a:t>
            </a:r>
            <a:r>
              <a:rPr lang="en-US" altLang="zh-CN" sz="2400">
                <a:latin typeface="华文新魏" panose="02010800040101010101" pitchFamily="2" charset="-122"/>
                <a:ea typeface="华文新魏" panose="02010800040101010101" pitchFamily="2" charset="-122"/>
              </a:rPr>
              <a:t>O(2</a:t>
            </a:r>
            <a:r>
              <a:rPr lang="en-US" altLang="zh-CN" sz="2400" baseline="30000">
                <a:latin typeface="华文新魏" panose="02010800040101010101" pitchFamily="2" charset="-122"/>
                <a:ea typeface="华文新魏" panose="02010800040101010101" pitchFamily="2" charset="-122"/>
              </a:rPr>
              <a:t>n</a:t>
            </a:r>
            <a:r>
              <a:rPr lang="en-US" altLang="zh-CN" sz="2400">
                <a:latin typeface="华文新魏" panose="02010800040101010101" pitchFamily="2" charset="-122"/>
                <a:ea typeface="华文新魏" panose="02010800040101010101" pitchFamily="2" charset="-122"/>
              </a:rPr>
              <a:t>)</a:t>
            </a:r>
            <a:r>
              <a:rPr lang="zh-CN" altLang="en-US" sz="2400">
                <a:latin typeface="华文新魏" panose="02010800040101010101" pitchFamily="2" charset="-122"/>
                <a:ea typeface="华文新魏" panose="02010800040101010101" pitchFamily="2" charset="-122"/>
              </a:rPr>
              <a:t>计算时间 </a:t>
            </a:r>
            <a:endParaRPr lang="zh-CN" altLang="en-US" sz="2400">
              <a:latin typeface="华文新魏" panose="02010800040101010101" pitchFamily="2" charset="-122"/>
              <a:ea typeface="华文新魏" panose="02010800040101010101" pitchFamily="2" charset="-122"/>
            </a:endParaRPr>
          </a:p>
        </p:txBody>
      </p:sp>
      <p:sp>
        <p:nvSpPr>
          <p:cNvPr id="288776" name="Text Box 8"/>
          <p:cNvSpPr txBox="1">
            <a:spLocks noChangeArrowheads="1"/>
          </p:cNvSpPr>
          <p:nvPr/>
        </p:nvSpPr>
        <p:spPr bwMode="auto">
          <a:xfrm>
            <a:off x="4813300" y="3155950"/>
            <a:ext cx="4346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pPr algn="ctr"/>
            <a:r>
              <a:rPr lang="zh-CN" altLang="en-US" sz="2400">
                <a:latin typeface="华文新魏" panose="02010800040101010101" pitchFamily="2" charset="-122"/>
                <a:ea typeface="华文新魏" panose="02010800040101010101" pitchFamily="2" charset="-122"/>
              </a:rPr>
              <a:t>遍历排列树需要</a:t>
            </a:r>
            <a:r>
              <a:rPr lang="en-US" altLang="zh-CN" sz="2400">
                <a:latin typeface="华文新魏" panose="02010800040101010101" pitchFamily="2" charset="-122"/>
                <a:ea typeface="华文新魏" panose="02010800040101010101" pitchFamily="2" charset="-122"/>
              </a:rPr>
              <a:t>O(n!)</a:t>
            </a:r>
            <a:r>
              <a:rPr lang="zh-CN" altLang="en-US" sz="2400">
                <a:latin typeface="华文新魏" panose="02010800040101010101" pitchFamily="2" charset="-122"/>
                <a:ea typeface="华文新魏" panose="02010800040101010101" pitchFamily="2" charset="-122"/>
              </a:rPr>
              <a:t>计算时间 </a:t>
            </a:r>
            <a:endParaRPr lang="zh-CN" altLang="en-US" sz="2400">
              <a:latin typeface="华文新魏" panose="02010800040101010101" pitchFamily="2" charset="-122"/>
              <a:ea typeface="华文新魏" panose="02010800040101010101" pitchFamily="2" charset="-122"/>
            </a:endParaRPr>
          </a:p>
        </p:txBody>
      </p:sp>
      <p:sp>
        <p:nvSpPr>
          <p:cNvPr id="288777" name="Text Box 9"/>
          <p:cNvSpPr txBox="1">
            <a:spLocks noChangeArrowheads="1"/>
          </p:cNvSpPr>
          <p:nvPr/>
        </p:nvSpPr>
        <p:spPr bwMode="auto">
          <a:xfrm>
            <a:off x="395288" y="3644900"/>
            <a:ext cx="3636962" cy="283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r>
              <a:rPr lang="en-US" altLang="zh-CN" sz="2000">
                <a:ea typeface="新宋体" panose="02010609030101010101" charset="-122"/>
              </a:rPr>
              <a:t>void </a:t>
            </a:r>
            <a:r>
              <a:rPr lang="en-US" altLang="zh-CN" sz="2000" b="1">
                <a:ea typeface="新宋体" panose="02010609030101010101" charset="-122"/>
              </a:rPr>
              <a:t>backtrack</a:t>
            </a:r>
            <a:r>
              <a:rPr lang="en-US" altLang="zh-CN" sz="2000">
                <a:ea typeface="新宋体" panose="02010609030101010101" charset="-122"/>
              </a:rPr>
              <a:t> (int t)</a:t>
            </a:r>
            <a:endParaRPr lang="en-US" altLang="zh-CN" sz="2000">
              <a:ea typeface="新宋体" panose="02010609030101010101" charset="-122"/>
            </a:endParaRPr>
          </a:p>
          <a:p>
            <a:r>
              <a:rPr lang="en-US" altLang="zh-CN" sz="2000">
                <a:ea typeface="新宋体" panose="02010609030101010101" charset="-122"/>
              </a:rPr>
              <a:t>{</a:t>
            </a:r>
            <a:endParaRPr lang="en-US" altLang="zh-CN" sz="2000">
              <a:ea typeface="新宋体" panose="02010609030101010101" charset="-122"/>
            </a:endParaRPr>
          </a:p>
          <a:p>
            <a:r>
              <a:rPr lang="en-US" altLang="zh-CN" sz="2000">
                <a:ea typeface="新宋体" panose="02010609030101010101" charset="-122"/>
              </a:rPr>
              <a:t>  if (t&gt;n) output(x);</a:t>
            </a:r>
            <a:endParaRPr lang="en-US" altLang="zh-CN" sz="2000">
              <a:ea typeface="新宋体" panose="02010609030101010101" charset="-122"/>
            </a:endParaRPr>
          </a:p>
          <a:p>
            <a:r>
              <a:rPr lang="en-US" altLang="zh-CN" sz="2000">
                <a:ea typeface="新宋体" panose="02010609030101010101" charset="-122"/>
              </a:rPr>
              <a:t>    else</a:t>
            </a:r>
            <a:endParaRPr lang="en-US" altLang="zh-CN" sz="2000">
              <a:ea typeface="新宋体" panose="02010609030101010101" charset="-122"/>
            </a:endParaRPr>
          </a:p>
          <a:p>
            <a:r>
              <a:rPr lang="en-US" altLang="zh-CN" sz="2000">
                <a:ea typeface="新宋体" panose="02010609030101010101" charset="-122"/>
              </a:rPr>
              <a:t>      for (int i=0;i&lt;=1;i++) {</a:t>
            </a:r>
            <a:endParaRPr lang="en-US" altLang="zh-CN" sz="2000">
              <a:ea typeface="新宋体" panose="02010609030101010101" charset="-122"/>
            </a:endParaRPr>
          </a:p>
          <a:p>
            <a:r>
              <a:rPr lang="en-US" altLang="zh-CN" sz="2000">
                <a:ea typeface="新宋体" panose="02010609030101010101" charset="-122"/>
              </a:rPr>
              <a:t>        x[t]=i;</a:t>
            </a:r>
            <a:endParaRPr lang="en-US" altLang="zh-CN" sz="2000">
              <a:ea typeface="新宋体" panose="02010609030101010101" charset="-122"/>
            </a:endParaRPr>
          </a:p>
          <a:p>
            <a:r>
              <a:rPr lang="en-US" altLang="zh-CN" sz="2000">
                <a:ea typeface="新宋体" panose="02010609030101010101" charset="-122"/>
              </a:rPr>
              <a:t>        if (legal(t)) backtrack(t+1);</a:t>
            </a:r>
            <a:endParaRPr lang="en-US" altLang="zh-CN" sz="2000">
              <a:ea typeface="新宋体" panose="02010609030101010101" charset="-122"/>
            </a:endParaRPr>
          </a:p>
          <a:p>
            <a:r>
              <a:rPr lang="en-US" altLang="zh-CN" sz="2000">
                <a:ea typeface="新宋体" panose="02010609030101010101" charset="-122"/>
              </a:rPr>
              <a:t>      }</a:t>
            </a:r>
            <a:endParaRPr lang="en-US" altLang="zh-CN" sz="2000">
              <a:ea typeface="新宋体" panose="02010609030101010101" charset="-122"/>
            </a:endParaRPr>
          </a:p>
          <a:p>
            <a:r>
              <a:rPr lang="en-US" altLang="zh-CN" sz="2000">
                <a:ea typeface="新宋体" panose="02010609030101010101" charset="-122"/>
              </a:rPr>
              <a:t>}</a:t>
            </a:r>
            <a:endParaRPr lang="zh-CN" altLang="en-US" sz="2000">
              <a:ea typeface="新宋体" panose="02010609030101010101" charset="-122"/>
            </a:endParaRPr>
          </a:p>
        </p:txBody>
      </p:sp>
      <p:sp>
        <p:nvSpPr>
          <p:cNvPr id="288778" name="Text Box 10"/>
          <p:cNvSpPr txBox="1">
            <a:spLocks noChangeArrowheads="1"/>
          </p:cNvSpPr>
          <p:nvPr/>
        </p:nvSpPr>
        <p:spPr bwMode="auto">
          <a:xfrm>
            <a:off x="5219700" y="3500438"/>
            <a:ext cx="3636963" cy="314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r>
              <a:rPr lang="en-US" altLang="zh-CN" sz="2000">
                <a:ea typeface="新宋体" panose="02010609030101010101" charset="-122"/>
              </a:rPr>
              <a:t>void </a:t>
            </a:r>
            <a:r>
              <a:rPr lang="en-US" altLang="zh-CN" sz="2000" b="1">
                <a:ea typeface="新宋体" panose="02010609030101010101" charset="-122"/>
              </a:rPr>
              <a:t>backtrack</a:t>
            </a:r>
            <a:r>
              <a:rPr lang="en-US" altLang="zh-CN" sz="2000">
                <a:ea typeface="新宋体" panose="02010609030101010101" charset="-122"/>
              </a:rPr>
              <a:t> (int t)</a:t>
            </a:r>
            <a:endParaRPr lang="en-US" altLang="zh-CN" sz="2000">
              <a:ea typeface="新宋体" panose="02010609030101010101" charset="-122"/>
            </a:endParaRPr>
          </a:p>
          <a:p>
            <a:r>
              <a:rPr lang="en-US" altLang="zh-CN" sz="2000">
                <a:ea typeface="新宋体" panose="02010609030101010101" charset="-122"/>
              </a:rPr>
              <a:t>{</a:t>
            </a:r>
            <a:endParaRPr lang="en-US" altLang="zh-CN" sz="2000">
              <a:ea typeface="新宋体" panose="02010609030101010101" charset="-122"/>
            </a:endParaRPr>
          </a:p>
          <a:p>
            <a:r>
              <a:rPr lang="en-US" altLang="zh-CN" sz="2000">
                <a:ea typeface="新宋体" panose="02010609030101010101" charset="-122"/>
              </a:rPr>
              <a:t>  if (t&gt;n) output(x);</a:t>
            </a:r>
            <a:endParaRPr lang="en-US" altLang="zh-CN" sz="2000">
              <a:ea typeface="新宋体" panose="02010609030101010101" charset="-122"/>
            </a:endParaRPr>
          </a:p>
          <a:p>
            <a:r>
              <a:rPr lang="en-US" altLang="zh-CN" sz="2000">
                <a:ea typeface="新宋体" panose="02010609030101010101" charset="-122"/>
              </a:rPr>
              <a:t>    else</a:t>
            </a:r>
            <a:endParaRPr lang="en-US" altLang="zh-CN" sz="2000">
              <a:ea typeface="新宋体" panose="02010609030101010101" charset="-122"/>
            </a:endParaRPr>
          </a:p>
          <a:p>
            <a:r>
              <a:rPr lang="en-US" altLang="zh-CN" sz="2000">
                <a:ea typeface="新宋体" panose="02010609030101010101" charset="-122"/>
              </a:rPr>
              <a:t>      for (int i=t;i&lt;=n;i++) {</a:t>
            </a:r>
            <a:endParaRPr lang="en-US" altLang="zh-CN" sz="2000">
              <a:ea typeface="新宋体" panose="02010609030101010101" charset="-122"/>
            </a:endParaRPr>
          </a:p>
          <a:p>
            <a:r>
              <a:rPr lang="en-US" altLang="zh-CN" sz="2000">
                <a:ea typeface="新宋体" panose="02010609030101010101" charset="-122"/>
              </a:rPr>
              <a:t>        swap(x[t], x[i]);</a:t>
            </a:r>
            <a:endParaRPr lang="en-US" altLang="zh-CN" sz="2000">
              <a:ea typeface="新宋体" panose="02010609030101010101" charset="-122"/>
            </a:endParaRPr>
          </a:p>
          <a:p>
            <a:r>
              <a:rPr lang="en-US" altLang="zh-CN" sz="2000">
                <a:ea typeface="新宋体" panose="02010609030101010101" charset="-122"/>
              </a:rPr>
              <a:t>        if (legal(t)) backtrack(t+1);</a:t>
            </a:r>
            <a:endParaRPr lang="en-US" altLang="zh-CN" sz="2000">
              <a:ea typeface="新宋体" panose="02010609030101010101" charset="-122"/>
            </a:endParaRPr>
          </a:p>
          <a:p>
            <a:r>
              <a:rPr lang="en-US" altLang="zh-CN" sz="2000">
                <a:ea typeface="新宋体" panose="02010609030101010101" charset="-122"/>
              </a:rPr>
              <a:t>        swap(x[t], x[i]);</a:t>
            </a:r>
            <a:endParaRPr lang="en-US" altLang="zh-CN" sz="2000">
              <a:ea typeface="新宋体" panose="02010609030101010101" charset="-122"/>
            </a:endParaRPr>
          </a:p>
          <a:p>
            <a:r>
              <a:rPr lang="en-US" altLang="zh-CN" sz="2000">
                <a:ea typeface="新宋体" panose="02010609030101010101" charset="-122"/>
              </a:rPr>
              <a:t>      }</a:t>
            </a:r>
            <a:endParaRPr lang="en-US" altLang="zh-CN" sz="2000">
              <a:ea typeface="新宋体" panose="02010609030101010101" charset="-122"/>
            </a:endParaRPr>
          </a:p>
          <a:p>
            <a:r>
              <a:rPr lang="en-US" altLang="zh-CN" sz="2000">
                <a:ea typeface="新宋体" panose="02010609030101010101" charset="-122"/>
              </a:rPr>
              <a:t>} </a:t>
            </a:r>
            <a:endParaRPr lang="zh-CN" altLang="en-US" sz="2000">
              <a:ea typeface="新宋体" panose="02010609030101010101" charset="-122"/>
            </a:endParaRPr>
          </a:p>
        </p:txBody>
      </p:sp>
      <p:sp>
        <p:nvSpPr>
          <p:cNvPr id="288779" name="Line 11"/>
          <p:cNvSpPr>
            <a:spLocks noChangeShapeType="1"/>
          </p:cNvSpPr>
          <p:nvPr/>
        </p:nvSpPr>
        <p:spPr bwMode="auto">
          <a:xfrm>
            <a:off x="4356100" y="836613"/>
            <a:ext cx="0" cy="5761037"/>
          </a:xfrm>
          <a:prstGeom prst="line">
            <a:avLst/>
          </a:prstGeom>
          <a:noFill/>
          <a:ln w="76200">
            <a:solidFill>
              <a:srgbClr val="99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spAutoFit/>
          </a:bodyPr>
          <a:lstStyle/>
          <a:p>
            <a:endParaRPr lang="zh-CN" alt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4"/>
          </p:nvPr>
        </p:nvSpPr>
        <p:spPr/>
        <p:txBody>
          <a:bodyPr/>
          <a:lstStyle/>
          <a:p>
            <a:fld id="{31650BF6-722B-4255-A270-4E0ADE1E80F3}" type="slidenum">
              <a:rPr lang="en-US" altLang="zh-CN"/>
            </a:fld>
            <a:endParaRPr lang="en-US" altLang="zh-CN"/>
          </a:p>
        </p:txBody>
      </p:sp>
      <p:sp>
        <p:nvSpPr>
          <p:cNvPr id="345092" name="Rectangle 4"/>
          <p:cNvSpPr>
            <a:spLocks noGrp="1" noChangeArrowheads="1"/>
          </p:cNvSpPr>
          <p:nvPr>
            <p:ph type="ctrTitle"/>
          </p:nvPr>
        </p:nvSpPr>
        <p:spPr/>
        <p:txBody>
          <a:bodyPr/>
          <a:lstStyle/>
          <a:p>
            <a:r>
              <a:rPr lang="zh-CN" altLang="en-US">
                <a:effectLst>
                  <a:outerShdw blurRad="38100" dist="38100" dir="2700000" algn="tl">
                    <a:srgbClr val="C0C0C0"/>
                  </a:outerShdw>
                </a:effectLst>
                <a:ea typeface="黑体" panose="02010609060101010101" pitchFamily="49" charset="-122"/>
              </a:rPr>
              <a:t>装载问题</a:t>
            </a:r>
            <a:endParaRPr lang="zh-CN" altLang="en-US">
              <a:effectLst>
                <a:outerShdw blurRad="38100" dist="38100" dir="2700000" algn="tl">
                  <a:srgbClr val="C0C0C0"/>
                </a:outerShdw>
              </a:effectLst>
              <a:ea typeface="黑体" panose="02010609060101010101" pitchFamily="49" charset="-122"/>
            </a:endParaRPr>
          </a:p>
        </p:txBody>
      </p:sp>
      <p:sp>
        <p:nvSpPr>
          <p:cNvPr id="345093" name="Rectangle 5"/>
          <p:cNvSpPr>
            <a:spLocks noGrp="1" noChangeArrowheads="1"/>
          </p:cNvSpPr>
          <p:nvPr>
            <p:ph type="subTitle" idx="1"/>
          </p:nvPr>
        </p:nvSpPr>
        <p:spPr/>
        <p:txBody>
          <a:bodyPr/>
          <a:lstStyle/>
          <a:p>
            <a:endParaRPr lang="zh-CN" alt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fld id="{40F4C3B6-70C7-48C1-BC60-FC18BBB37216}" type="slidenum">
              <a:rPr lang="en-US" altLang="zh-CN"/>
            </a:fld>
            <a:endParaRPr lang="en-US" altLang="zh-CN"/>
          </a:p>
        </p:txBody>
      </p:sp>
      <p:sp>
        <p:nvSpPr>
          <p:cNvPr id="289796" name="Rectangle 4"/>
          <p:cNvSpPr>
            <a:spLocks noChangeArrowheads="1"/>
          </p:cNvSpPr>
          <p:nvPr/>
        </p:nvSpPr>
        <p:spPr bwMode="auto">
          <a:xfrm>
            <a:off x="611188"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3900" b="1">
                <a:solidFill>
                  <a:schemeClr val="tx2"/>
                </a:solidFill>
                <a:effectLst>
                  <a:outerShdw blurRad="38100" dist="38100" dir="2700000" algn="tl">
                    <a:srgbClr val="C0C0C0"/>
                  </a:outerShdw>
                </a:effectLst>
                <a:ea typeface="黑体" panose="02010609060101010101" pitchFamily="49" charset="-122"/>
              </a:rPr>
              <a:t>装载问题</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sp>
        <p:nvSpPr>
          <p:cNvPr id="289797" name="Text Box 5"/>
          <p:cNvSpPr txBox="1">
            <a:spLocks noChangeArrowheads="1"/>
          </p:cNvSpPr>
          <p:nvPr/>
        </p:nvSpPr>
        <p:spPr bwMode="auto">
          <a:xfrm>
            <a:off x="250825" y="765175"/>
            <a:ext cx="844391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latin typeface="黑体" panose="02010609060101010101" pitchFamily="49" charset="-122"/>
                <a:ea typeface="黑体" panose="02010609060101010101" pitchFamily="49" charset="-122"/>
              </a:rPr>
              <a:t>有一批共</a:t>
            </a:r>
            <a:r>
              <a:rPr lang="en-US" altLang="zh-CN" sz="2400">
                <a:latin typeface="黑体" panose="02010609060101010101" pitchFamily="49" charset="-122"/>
                <a:ea typeface="黑体" panose="02010609060101010101" pitchFamily="49" charset="-122"/>
              </a:rPr>
              <a:t>n</a:t>
            </a:r>
            <a:r>
              <a:rPr lang="zh-CN" altLang="en-US" sz="2400">
                <a:latin typeface="黑体" panose="02010609060101010101" pitchFamily="49" charset="-122"/>
                <a:ea typeface="黑体" panose="02010609060101010101" pitchFamily="49" charset="-122"/>
              </a:rPr>
              <a:t>个集装箱要装上</a:t>
            </a:r>
            <a:r>
              <a:rPr lang="en-US" altLang="zh-CN" sz="2400">
                <a:latin typeface="黑体" panose="02010609060101010101" pitchFamily="49" charset="-122"/>
                <a:ea typeface="黑体" panose="02010609060101010101" pitchFamily="49" charset="-122"/>
              </a:rPr>
              <a:t>2</a:t>
            </a:r>
            <a:r>
              <a:rPr lang="zh-CN" altLang="en-US" sz="2400">
                <a:latin typeface="黑体" panose="02010609060101010101" pitchFamily="49" charset="-122"/>
                <a:ea typeface="黑体" panose="02010609060101010101" pitchFamily="49" charset="-122"/>
              </a:rPr>
              <a:t>艘载重量分别为</a:t>
            </a:r>
            <a:r>
              <a:rPr lang="en-US" altLang="zh-CN" sz="2400">
                <a:latin typeface="黑体" panose="02010609060101010101" pitchFamily="49" charset="-122"/>
                <a:ea typeface="黑体" panose="02010609060101010101" pitchFamily="49" charset="-122"/>
              </a:rPr>
              <a:t>c1</a:t>
            </a:r>
            <a:r>
              <a:rPr lang="zh-CN" altLang="en-US" sz="2400">
                <a:latin typeface="黑体" panose="02010609060101010101" pitchFamily="49" charset="-122"/>
                <a:ea typeface="黑体" panose="02010609060101010101" pitchFamily="49" charset="-122"/>
              </a:rPr>
              <a:t>和</a:t>
            </a:r>
            <a:r>
              <a:rPr lang="en-US" altLang="zh-CN" sz="2400">
                <a:latin typeface="黑体" panose="02010609060101010101" pitchFamily="49" charset="-122"/>
                <a:ea typeface="黑体" panose="02010609060101010101" pitchFamily="49" charset="-122"/>
              </a:rPr>
              <a:t>c2</a:t>
            </a:r>
            <a:r>
              <a:rPr lang="zh-CN" altLang="en-US" sz="2400">
                <a:latin typeface="黑体" panose="02010609060101010101" pitchFamily="49" charset="-122"/>
                <a:ea typeface="黑体" panose="02010609060101010101" pitchFamily="49" charset="-122"/>
              </a:rPr>
              <a:t>的轮船，其中集装箱</a:t>
            </a:r>
            <a:r>
              <a:rPr lang="en-US" altLang="zh-CN" sz="2400">
                <a:latin typeface="黑体" panose="02010609060101010101" pitchFamily="49" charset="-122"/>
                <a:ea typeface="黑体" panose="02010609060101010101" pitchFamily="49" charset="-122"/>
              </a:rPr>
              <a:t>i</a:t>
            </a:r>
            <a:r>
              <a:rPr lang="zh-CN" altLang="en-US" sz="2400">
                <a:latin typeface="黑体" panose="02010609060101010101" pitchFamily="49" charset="-122"/>
                <a:ea typeface="黑体" panose="02010609060101010101" pitchFamily="49" charset="-122"/>
              </a:rPr>
              <a:t>的重量为</a:t>
            </a:r>
            <a:r>
              <a:rPr lang="en-US" altLang="zh-CN" sz="2400">
                <a:latin typeface="黑体" panose="02010609060101010101" pitchFamily="49" charset="-122"/>
                <a:ea typeface="黑体" panose="02010609060101010101" pitchFamily="49" charset="-122"/>
              </a:rPr>
              <a:t>wi</a:t>
            </a:r>
            <a:r>
              <a:rPr lang="zh-CN" altLang="en-US" sz="2400">
                <a:latin typeface="黑体" panose="02010609060101010101" pitchFamily="49" charset="-122"/>
                <a:ea typeface="黑体" panose="02010609060101010101" pitchFamily="49" charset="-122"/>
              </a:rPr>
              <a:t>，且</a:t>
            </a:r>
            <a:endParaRPr lang="zh-CN" altLang="en-US" sz="2400">
              <a:latin typeface="黑体" panose="02010609060101010101" pitchFamily="49" charset="-122"/>
              <a:ea typeface="黑体" panose="02010609060101010101" pitchFamily="49" charset="-122"/>
            </a:endParaRPr>
          </a:p>
        </p:txBody>
      </p:sp>
      <p:sp>
        <p:nvSpPr>
          <p:cNvPr id="289799" name="Rectangle 7"/>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graphicFrame>
        <p:nvGraphicFramePr>
          <p:cNvPr id="289798" name="Object 6"/>
          <p:cNvGraphicFramePr>
            <a:graphicFrameLocks noChangeAspect="1"/>
          </p:cNvGraphicFramePr>
          <p:nvPr/>
        </p:nvGraphicFramePr>
        <p:xfrm>
          <a:off x="3924300" y="1125538"/>
          <a:ext cx="1511300" cy="698500"/>
        </p:xfrm>
        <a:graphic>
          <a:graphicData uri="http://schemas.openxmlformats.org/presentationml/2006/ole">
            <mc:AlternateContent xmlns:mc="http://schemas.openxmlformats.org/markup-compatibility/2006">
              <mc:Choice xmlns:v="urn:schemas-microsoft-com:vml" Requires="v">
                <p:oleObj spid="_x0000_s289813" name="公式" r:id="rId1" imgW="927100" imgH="431800" progId="Equation.3">
                  <p:embed/>
                </p:oleObj>
              </mc:Choice>
              <mc:Fallback>
                <p:oleObj name="公式" r:id="rId1" imgW="927100" imgH="4318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4300" y="1125538"/>
                        <a:ext cx="1511300" cy="698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9800" name="Text Box 8"/>
          <p:cNvSpPr txBox="1">
            <a:spLocks noChangeArrowheads="1"/>
          </p:cNvSpPr>
          <p:nvPr/>
        </p:nvSpPr>
        <p:spPr bwMode="auto">
          <a:xfrm>
            <a:off x="250825" y="1700213"/>
            <a:ext cx="8589963" cy="337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latin typeface="黑体" panose="02010609060101010101" pitchFamily="49" charset="-122"/>
                <a:ea typeface="黑体" panose="02010609060101010101" pitchFamily="49" charset="-122"/>
              </a:rPr>
              <a:t>装载问题要求确定是否有一个合理的装载方案可将这个集装箱装上这</a:t>
            </a:r>
            <a:r>
              <a:rPr lang="en-US" altLang="zh-CN" sz="2400">
                <a:latin typeface="黑体" panose="02010609060101010101" pitchFamily="49" charset="-122"/>
                <a:ea typeface="黑体" panose="02010609060101010101" pitchFamily="49" charset="-122"/>
              </a:rPr>
              <a:t>2</a:t>
            </a:r>
            <a:r>
              <a:rPr lang="zh-CN" altLang="en-US" sz="2400">
                <a:latin typeface="黑体" panose="02010609060101010101" pitchFamily="49" charset="-122"/>
                <a:ea typeface="黑体" panose="02010609060101010101" pitchFamily="49" charset="-122"/>
              </a:rPr>
              <a:t>艘轮船。如果有，找出一种装载方案。</a:t>
            </a:r>
            <a:endParaRPr lang="zh-CN" altLang="en-US" sz="2400">
              <a:latin typeface="黑体" panose="02010609060101010101" pitchFamily="49" charset="-122"/>
              <a:ea typeface="黑体" panose="02010609060101010101" pitchFamily="49" charset="-122"/>
            </a:endParaRPr>
          </a:p>
          <a:p>
            <a:r>
              <a:rPr lang="zh-CN" altLang="en-US" sz="2400">
                <a:ea typeface="新宋体" panose="02010609030101010101" charset="-122"/>
              </a:rPr>
              <a:t>容易证明，如果一个给定装载问题有解，则采用下面的策略可得到最优装载方案。</a:t>
            </a:r>
            <a:endParaRPr lang="zh-CN" altLang="en-US" sz="2400">
              <a:ea typeface="新宋体" panose="02010609030101010101" charset="-122"/>
            </a:endParaRPr>
          </a:p>
          <a:p>
            <a:r>
              <a:rPr lang="en-US" altLang="zh-CN" sz="2400">
                <a:ea typeface="新宋体" panose="02010609030101010101" charset="-122"/>
              </a:rPr>
              <a:t>(1)</a:t>
            </a:r>
            <a:r>
              <a:rPr lang="zh-CN" altLang="en-US" sz="2400">
                <a:ea typeface="新宋体" panose="02010609030101010101" charset="-122"/>
              </a:rPr>
              <a:t>首先将第一艘轮船尽可能装满；</a:t>
            </a:r>
            <a:endParaRPr lang="zh-CN" altLang="en-US" sz="2400">
              <a:ea typeface="新宋体" panose="02010609030101010101" charset="-122"/>
            </a:endParaRPr>
          </a:p>
          <a:p>
            <a:r>
              <a:rPr lang="en-US" altLang="zh-CN" sz="2400">
                <a:ea typeface="新宋体" panose="02010609030101010101" charset="-122"/>
              </a:rPr>
              <a:t>(2)</a:t>
            </a:r>
            <a:r>
              <a:rPr lang="zh-CN" altLang="en-US" sz="2400">
                <a:ea typeface="新宋体" panose="02010609030101010101" charset="-122"/>
              </a:rPr>
              <a:t>将剩余的集装箱装上第二艘轮船。</a:t>
            </a:r>
            <a:endParaRPr lang="zh-CN" altLang="en-US" sz="2400">
              <a:ea typeface="新宋体" panose="02010609030101010101" charset="-122"/>
            </a:endParaRPr>
          </a:p>
          <a:p>
            <a:r>
              <a:rPr lang="zh-CN" altLang="en-US" sz="2400">
                <a:ea typeface="新宋体" panose="02010609030101010101" charset="-122"/>
              </a:rPr>
              <a:t>将第一艘轮船尽可能装满等价于选取全体集装箱的一个子集，使该子集中集装箱重量之和最接近。由此可知，装载问题等价于以下特殊的</a:t>
            </a:r>
            <a:r>
              <a:rPr lang="en-US" altLang="zh-CN" sz="2400">
                <a:ea typeface="新宋体" panose="02010609030101010101" charset="-122"/>
              </a:rPr>
              <a:t>0-1</a:t>
            </a:r>
            <a:r>
              <a:rPr lang="zh-CN" altLang="en-US" sz="2400">
                <a:ea typeface="新宋体" panose="02010609030101010101" charset="-122"/>
              </a:rPr>
              <a:t>背包问题。</a:t>
            </a:r>
            <a:endParaRPr lang="zh-CN" altLang="en-US" sz="2400">
              <a:ea typeface="新宋体" panose="02010609030101010101" charset="-122"/>
            </a:endParaRPr>
          </a:p>
        </p:txBody>
      </p:sp>
      <p:sp>
        <p:nvSpPr>
          <p:cNvPr id="289802" name="Rectangle 10"/>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graphicFrame>
        <p:nvGraphicFramePr>
          <p:cNvPr id="289801" name="Object 9"/>
          <p:cNvGraphicFramePr>
            <a:graphicFrameLocks noChangeAspect="1"/>
          </p:cNvGraphicFramePr>
          <p:nvPr/>
        </p:nvGraphicFramePr>
        <p:xfrm>
          <a:off x="1403350" y="5006975"/>
          <a:ext cx="1871663" cy="1851025"/>
        </p:xfrm>
        <a:graphic>
          <a:graphicData uri="http://schemas.openxmlformats.org/presentationml/2006/ole">
            <mc:AlternateContent xmlns:mc="http://schemas.openxmlformats.org/markup-compatibility/2006">
              <mc:Choice xmlns:v="urn:schemas-microsoft-com:vml" Requires="v">
                <p:oleObj spid="_x0000_s289814" name="公式" r:id="rId3" imgW="1104900" imgH="1104900" progId="Equation.3">
                  <p:embed/>
                </p:oleObj>
              </mc:Choice>
              <mc:Fallback>
                <p:oleObj name="公式" r:id="rId3" imgW="1104900" imgH="110490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5006975"/>
                        <a:ext cx="1871663" cy="1851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9804" name="Text Box 12"/>
          <p:cNvSpPr txBox="1">
            <a:spLocks noChangeArrowheads="1"/>
          </p:cNvSpPr>
          <p:nvPr/>
        </p:nvSpPr>
        <p:spPr bwMode="auto">
          <a:xfrm>
            <a:off x="3779838" y="5229225"/>
            <a:ext cx="4968875" cy="1238250"/>
          </a:xfrm>
          <a:prstGeom prst="rect">
            <a:avLst/>
          </a:prstGeom>
          <a:solidFill>
            <a:schemeClr val="hlink"/>
          </a:solidFill>
          <a:ln w="508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用回溯法设计解装载问题的</a:t>
            </a:r>
            <a:r>
              <a:rPr lang="en-US" altLang="zh-CN" sz="2400">
                <a:ea typeface="新宋体" panose="02010609030101010101" charset="-122"/>
              </a:rPr>
              <a:t>O(2</a:t>
            </a:r>
            <a:r>
              <a:rPr lang="en-US" altLang="zh-CN" sz="2400" baseline="30000">
                <a:ea typeface="新宋体" panose="02010609030101010101" charset="-122"/>
              </a:rPr>
              <a:t>n</a:t>
            </a:r>
            <a:r>
              <a:rPr lang="en-US" altLang="zh-CN" sz="2400">
                <a:ea typeface="新宋体" panose="02010609030101010101" charset="-122"/>
              </a:rPr>
              <a:t>)</a:t>
            </a:r>
            <a:r>
              <a:rPr lang="zh-CN" altLang="en-US" sz="2400">
                <a:ea typeface="新宋体" panose="02010609030101010101" charset="-122"/>
              </a:rPr>
              <a:t>计算时间算法。在某些情况下该算法优于动态规划算法。</a:t>
            </a:r>
            <a:endParaRPr lang="zh-CN" altLang="en-US" sz="2400">
              <a:ea typeface="新宋体" panose="0201060903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9804"/>
                                        </p:tgtEl>
                                        <p:attrNameLst>
                                          <p:attrName>style.visibility</p:attrName>
                                        </p:attrNameLst>
                                      </p:cBhvr>
                                      <p:to>
                                        <p:strVal val="visible"/>
                                      </p:to>
                                    </p:set>
                                    <p:animEffect transition="in" filter="blinds(horizontal)">
                                      <p:cBhvr>
                                        <p:cTn id="7" dur="500"/>
                                        <p:tgtEl>
                                          <p:spTgt spid="2898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80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fld id="{2B87C7C0-FEA1-4FAF-83AE-2F67FE4362BE}" type="slidenum">
              <a:rPr lang="en-US" altLang="zh-CN"/>
            </a:fld>
            <a:endParaRPr lang="en-US" altLang="zh-CN"/>
          </a:p>
        </p:txBody>
      </p:sp>
      <p:sp>
        <p:nvSpPr>
          <p:cNvPr id="362498" name="Rectangle 2"/>
          <p:cNvSpPr>
            <a:spLocks noChangeArrowheads="1"/>
          </p:cNvSpPr>
          <p:nvPr/>
        </p:nvSpPr>
        <p:spPr bwMode="auto">
          <a:xfrm>
            <a:off x="611188" y="249238"/>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3900" b="1">
                <a:solidFill>
                  <a:schemeClr val="tx2"/>
                </a:solidFill>
                <a:effectLst>
                  <a:outerShdw blurRad="38100" dist="38100" dir="2700000" algn="tl">
                    <a:srgbClr val="C0C0C0"/>
                  </a:outerShdw>
                </a:effectLst>
                <a:ea typeface="黑体" panose="02010609060101010101" pitchFamily="49" charset="-122"/>
              </a:rPr>
              <a:t>装载问题</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sp>
        <p:nvSpPr>
          <p:cNvPr id="362499" name="Text Box 3"/>
          <p:cNvSpPr txBox="1">
            <a:spLocks noChangeArrowheads="1"/>
          </p:cNvSpPr>
          <p:nvPr/>
        </p:nvSpPr>
        <p:spPr bwMode="auto">
          <a:xfrm>
            <a:off x="827088" y="1268413"/>
            <a:ext cx="7345362" cy="4294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nSpc>
                <a:spcPct val="150000"/>
              </a:lnSpc>
            </a:pPr>
            <a:r>
              <a:rPr lang="zh-CN" altLang="en-US" sz="2400" b="1">
                <a:latin typeface="黑体" panose="02010609060101010101" pitchFamily="49" charset="-122"/>
                <a:ea typeface="黑体" panose="02010609060101010101" pitchFamily="49" charset="-122"/>
              </a:rPr>
              <a:t>当           时，装载问题等价于子集和</a:t>
            </a:r>
            <a:r>
              <a:rPr lang="en-US" altLang="zh-CN" sz="2400" b="1">
                <a:solidFill>
                  <a:srgbClr val="008000"/>
                </a:solidFill>
              </a:rPr>
              <a:t>(sum-of-subset)</a:t>
            </a:r>
            <a:r>
              <a:rPr lang="zh-CN" altLang="en-US" sz="2400" b="1">
                <a:latin typeface="黑体" panose="02010609060101010101" pitchFamily="49" charset="-122"/>
                <a:ea typeface="黑体" panose="02010609060101010101" pitchFamily="49" charset="-122"/>
              </a:rPr>
              <a:t>问题</a:t>
            </a:r>
            <a:r>
              <a:rPr lang="en-US" altLang="zh-CN" sz="2400" b="1">
                <a:solidFill>
                  <a:srgbClr val="800000"/>
                </a:solidFill>
                <a:latin typeface="Arial" panose="020B0604020202020204"/>
                <a:ea typeface="黑体" panose="02010609060101010101" pitchFamily="49" charset="-122"/>
              </a:rPr>
              <a:t>——</a:t>
            </a:r>
            <a:r>
              <a:rPr lang="zh-CN" altLang="en-US" sz="2400" b="1">
                <a:solidFill>
                  <a:srgbClr val="800000"/>
                </a:solidFill>
                <a:latin typeface="黑体" panose="02010609060101010101" pitchFamily="49" charset="-122"/>
                <a:ea typeface="黑体" panose="02010609060101010101" pitchFamily="49" charset="-122"/>
              </a:rPr>
              <a:t>有</a:t>
            </a:r>
            <a:r>
              <a:rPr lang="en-US" altLang="zh-CN" sz="2400" b="1">
                <a:solidFill>
                  <a:srgbClr val="800000"/>
                </a:solidFill>
                <a:latin typeface="黑体" panose="02010609060101010101" pitchFamily="49" charset="-122"/>
                <a:ea typeface="黑体" panose="02010609060101010101" pitchFamily="49" charset="-122"/>
              </a:rPr>
              <a:t>n</a:t>
            </a:r>
            <a:r>
              <a:rPr lang="zh-CN" altLang="en-US" sz="2400" b="1">
                <a:solidFill>
                  <a:srgbClr val="800000"/>
                </a:solidFill>
                <a:latin typeface="黑体" panose="02010609060101010101" pitchFamily="49" charset="-122"/>
                <a:ea typeface="黑体" panose="02010609060101010101" pitchFamily="49" charset="-122"/>
              </a:rPr>
              <a:t>个数字，要求找到一个子集（如果存在的话）使它的和为</a:t>
            </a:r>
            <a:r>
              <a:rPr lang="en-US" altLang="zh-CN" sz="2400" b="1">
                <a:solidFill>
                  <a:srgbClr val="800000"/>
                </a:solidFill>
                <a:latin typeface="黑体" panose="02010609060101010101" pitchFamily="49" charset="-122"/>
                <a:ea typeface="黑体" panose="02010609060101010101" pitchFamily="49" charset="-122"/>
              </a:rPr>
              <a:t>c1</a:t>
            </a:r>
            <a:r>
              <a:rPr lang="en-US" altLang="zh-CN" sz="2400" b="1">
                <a:latin typeface="黑体" panose="02010609060101010101" pitchFamily="49" charset="-122"/>
                <a:ea typeface="黑体" panose="02010609060101010101" pitchFamily="49" charset="-122"/>
              </a:rPr>
              <a:t> </a:t>
            </a:r>
            <a:r>
              <a:rPr lang="en-US" altLang="zh-CN" sz="2400" b="1">
                <a:solidFill>
                  <a:srgbClr val="008000"/>
                </a:solidFill>
                <a:latin typeface="黑体" panose="02010609060101010101" pitchFamily="49" charset="-122"/>
                <a:ea typeface="黑体" panose="02010609060101010101" pitchFamily="49" charset="-122"/>
              </a:rPr>
              <a:t>(</a:t>
            </a:r>
            <a:r>
              <a:rPr lang="zh-CN" altLang="en-US" sz="2400" b="1">
                <a:solidFill>
                  <a:srgbClr val="008000"/>
                </a:solidFill>
                <a:latin typeface="黑体" panose="02010609060101010101" pitchFamily="49" charset="-122"/>
                <a:ea typeface="黑体" panose="02010609060101010101" pitchFamily="49" charset="-122"/>
              </a:rPr>
              <a:t>属于</a:t>
            </a:r>
            <a:r>
              <a:rPr lang="en-US" altLang="zh-CN" sz="2400" b="1">
                <a:solidFill>
                  <a:srgbClr val="008000"/>
                </a:solidFill>
                <a:latin typeface="黑体" panose="02010609060101010101" pitchFamily="49" charset="-122"/>
                <a:ea typeface="黑体" panose="02010609060101010101" pitchFamily="49" charset="-122"/>
              </a:rPr>
              <a:t>NP</a:t>
            </a:r>
            <a:r>
              <a:rPr lang="zh-CN" altLang="en-US" sz="2400" b="1">
                <a:solidFill>
                  <a:srgbClr val="008000"/>
                </a:solidFill>
                <a:latin typeface="黑体" panose="02010609060101010101" pitchFamily="49" charset="-122"/>
                <a:ea typeface="黑体" panose="02010609060101010101" pitchFamily="49" charset="-122"/>
              </a:rPr>
              <a:t>难题</a:t>
            </a:r>
            <a:r>
              <a:rPr lang="en-US" altLang="zh-CN" sz="2400" b="1">
                <a:solidFill>
                  <a:srgbClr val="008000"/>
                </a:solidFill>
                <a:latin typeface="黑体" panose="02010609060101010101" pitchFamily="49" charset="-122"/>
                <a:ea typeface="黑体" panose="02010609060101010101" pitchFamily="49" charset="-122"/>
              </a:rPr>
              <a:t>)</a:t>
            </a:r>
            <a:r>
              <a:rPr lang="en-US" altLang="zh-CN" sz="2400" b="1">
                <a:latin typeface="黑体" panose="02010609060101010101" pitchFamily="49" charset="-122"/>
                <a:ea typeface="黑体" panose="02010609060101010101" pitchFamily="49" charset="-122"/>
              </a:rPr>
              <a:t>;</a:t>
            </a:r>
            <a:endParaRPr lang="en-US" altLang="zh-CN" sz="2400" b="1">
              <a:latin typeface="黑体" panose="02010609060101010101" pitchFamily="49" charset="-122"/>
              <a:ea typeface="黑体" panose="02010609060101010101" pitchFamily="49" charset="-122"/>
            </a:endParaRPr>
          </a:p>
          <a:p>
            <a:pPr>
              <a:lnSpc>
                <a:spcPct val="175000"/>
              </a:lnSpc>
            </a:pPr>
            <a:r>
              <a:rPr lang="zh-CN" altLang="en-US" sz="2400" b="1">
                <a:latin typeface="黑体" panose="02010609060101010101" pitchFamily="49" charset="-122"/>
                <a:ea typeface="黑体" panose="02010609060101010101" pitchFamily="49" charset="-122"/>
              </a:rPr>
              <a:t>当 </a:t>
            </a:r>
            <a:r>
              <a:rPr lang="en-US" altLang="zh-CN" sz="2400" b="1">
                <a:latin typeface="黑体" panose="02010609060101010101" pitchFamily="49" charset="-122"/>
                <a:ea typeface="黑体" panose="02010609060101010101" pitchFamily="49" charset="-122"/>
              </a:rPr>
              <a:t>        </a:t>
            </a:r>
            <a:r>
              <a:rPr lang="zh-CN" altLang="en-US" sz="2400" b="1">
                <a:latin typeface="黑体" panose="02010609060101010101" pitchFamily="49" charset="-122"/>
                <a:ea typeface="黑体" panose="02010609060101010101" pitchFamily="49" charset="-122"/>
              </a:rPr>
              <a:t>时，装载问题等价于划分</a:t>
            </a:r>
            <a:r>
              <a:rPr lang="en-US" altLang="zh-CN" sz="2400" b="1">
                <a:solidFill>
                  <a:srgbClr val="008000"/>
                </a:solidFill>
              </a:rPr>
              <a:t>(partition problem)</a:t>
            </a:r>
            <a:r>
              <a:rPr lang="zh-CN" altLang="en-US" sz="2400" b="1">
                <a:latin typeface="黑体" panose="02010609060101010101" pitchFamily="49" charset="-122"/>
                <a:ea typeface="黑体" panose="02010609060101010101" pitchFamily="49" charset="-122"/>
              </a:rPr>
              <a:t>问题</a:t>
            </a:r>
            <a:r>
              <a:rPr lang="en-US" altLang="zh-CN" sz="2400" b="1">
                <a:solidFill>
                  <a:srgbClr val="800000"/>
                </a:solidFill>
                <a:latin typeface="Arial" panose="020B0604020202020204"/>
                <a:ea typeface="黑体" panose="02010609060101010101" pitchFamily="49" charset="-122"/>
              </a:rPr>
              <a:t>——</a:t>
            </a:r>
            <a:r>
              <a:rPr lang="zh-CN" altLang="en-US" sz="2400" b="1">
                <a:solidFill>
                  <a:srgbClr val="800000"/>
                </a:solidFill>
                <a:latin typeface="黑体" panose="02010609060101010101" pitchFamily="49" charset="-122"/>
                <a:ea typeface="黑体" panose="02010609060101010101" pitchFamily="49" charset="-122"/>
              </a:rPr>
              <a:t>有</a:t>
            </a:r>
            <a:r>
              <a:rPr lang="en-US" altLang="zh-CN" sz="2400" b="1">
                <a:solidFill>
                  <a:srgbClr val="800000"/>
                </a:solidFill>
                <a:latin typeface="黑体" panose="02010609060101010101" pitchFamily="49" charset="-122"/>
                <a:ea typeface="黑体" panose="02010609060101010101" pitchFamily="49" charset="-122"/>
              </a:rPr>
              <a:t>n</a:t>
            </a:r>
            <a:r>
              <a:rPr lang="zh-CN" altLang="en-US" sz="2400" b="1">
                <a:solidFill>
                  <a:srgbClr val="800000"/>
                </a:solidFill>
                <a:latin typeface="黑体" panose="02010609060101010101" pitchFamily="49" charset="-122"/>
                <a:ea typeface="黑体" panose="02010609060101010101" pitchFamily="49" charset="-122"/>
              </a:rPr>
              <a:t>个数字</a:t>
            </a:r>
            <a:r>
              <a:rPr lang="en-US" altLang="zh-CN" sz="2400" b="1">
                <a:solidFill>
                  <a:srgbClr val="800000"/>
                </a:solidFill>
                <a:latin typeface="黑体" panose="02010609060101010101" pitchFamily="49" charset="-122"/>
                <a:ea typeface="黑体" panose="02010609060101010101" pitchFamily="49" charset="-122"/>
              </a:rPr>
              <a:t>ai,1≤i≤n</a:t>
            </a:r>
            <a:r>
              <a:rPr lang="zh-CN" altLang="en-US" sz="2400" b="1">
                <a:solidFill>
                  <a:srgbClr val="800000"/>
                </a:solidFill>
                <a:latin typeface="黑体" panose="02010609060101010101" pitchFamily="49" charset="-122"/>
                <a:ea typeface="黑体" panose="02010609060101010101" pitchFamily="49" charset="-122"/>
              </a:rPr>
              <a:t>，要求找到一个子集（若存在的话），使得子集之和为</a:t>
            </a:r>
            <a:r>
              <a:rPr lang="en-US" altLang="zh-CN" sz="2400" b="1">
                <a:solidFill>
                  <a:srgbClr val="800000"/>
                </a:solidFill>
                <a:latin typeface="黑体" panose="02010609060101010101" pitchFamily="49" charset="-122"/>
                <a:ea typeface="黑体" panose="02010609060101010101" pitchFamily="49" charset="-122"/>
              </a:rPr>
              <a:t>(∑ai)/2</a:t>
            </a:r>
            <a:endParaRPr lang="en-US" altLang="zh-CN" sz="2400" b="1">
              <a:solidFill>
                <a:srgbClr val="800000"/>
              </a:solidFill>
              <a:latin typeface="黑体" panose="02010609060101010101" pitchFamily="49" charset="-122"/>
              <a:ea typeface="黑体" panose="02010609060101010101" pitchFamily="49" charset="-122"/>
            </a:endParaRPr>
          </a:p>
          <a:p>
            <a:pPr>
              <a:lnSpc>
                <a:spcPct val="175000"/>
              </a:lnSpc>
            </a:pPr>
            <a:r>
              <a:rPr lang="en-US" altLang="zh-CN" sz="2400" b="1">
                <a:solidFill>
                  <a:srgbClr val="008000"/>
                </a:solidFill>
                <a:latin typeface="黑体" panose="02010609060101010101" pitchFamily="49" charset="-122"/>
                <a:ea typeface="黑体" panose="02010609060101010101" pitchFamily="49" charset="-122"/>
              </a:rPr>
              <a:t>(</a:t>
            </a:r>
            <a:r>
              <a:rPr lang="zh-CN" altLang="en-US" sz="2400" b="1">
                <a:solidFill>
                  <a:srgbClr val="008000"/>
                </a:solidFill>
                <a:latin typeface="黑体" panose="02010609060101010101" pitchFamily="49" charset="-122"/>
                <a:ea typeface="黑体" panose="02010609060101010101" pitchFamily="49" charset="-122"/>
              </a:rPr>
              <a:t>也是</a:t>
            </a:r>
            <a:r>
              <a:rPr lang="en-US" altLang="zh-CN" sz="2400" b="1">
                <a:solidFill>
                  <a:srgbClr val="008000"/>
                </a:solidFill>
                <a:latin typeface="黑体" panose="02010609060101010101" pitchFamily="49" charset="-122"/>
                <a:ea typeface="黑体" panose="02010609060101010101" pitchFamily="49" charset="-122"/>
              </a:rPr>
              <a:t>NP</a:t>
            </a:r>
            <a:r>
              <a:rPr lang="zh-CN" altLang="en-US" sz="2400" b="1">
                <a:solidFill>
                  <a:srgbClr val="008000"/>
                </a:solidFill>
                <a:latin typeface="黑体" panose="02010609060101010101" pitchFamily="49" charset="-122"/>
                <a:ea typeface="黑体" panose="02010609060101010101" pitchFamily="49" charset="-122"/>
              </a:rPr>
              <a:t>难题</a:t>
            </a:r>
            <a:r>
              <a:rPr lang="en-US" altLang="zh-CN" sz="2400" b="1">
                <a:solidFill>
                  <a:srgbClr val="008000"/>
                </a:solidFill>
                <a:latin typeface="黑体" panose="02010609060101010101" pitchFamily="49" charset="-122"/>
                <a:ea typeface="黑体" panose="02010609060101010101" pitchFamily="49" charset="-122"/>
              </a:rPr>
              <a:t>)</a:t>
            </a:r>
            <a:r>
              <a:rPr lang="en-US" altLang="zh-CN" sz="2400" b="1">
                <a:latin typeface="黑体" panose="02010609060101010101" pitchFamily="49" charset="-122"/>
                <a:ea typeface="黑体" panose="02010609060101010101" pitchFamily="49" charset="-122"/>
              </a:rPr>
              <a:t>; </a:t>
            </a:r>
            <a:r>
              <a:rPr lang="zh-CN" altLang="en-US" sz="2400" b="1">
                <a:latin typeface="黑体" panose="02010609060101010101" pitchFamily="49" charset="-122"/>
                <a:ea typeface="黑体" panose="02010609060101010101" pitchFamily="49" charset="-122"/>
              </a:rPr>
              <a:t>因此，</a:t>
            </a:r>
            <a:r>
              <a:rPr lang="zh-CN" altLang="en-US" sz="2400" b="1">
                <a:solidFill>
                  <a:srgbClr val="3333FF"/>
                </a:solidFill>
                <a:latin typeface="黑体" panose="02010609060101010101" pitchFamily="49" charset="-122"/>
                <a:ea typeface="黑体" panose="02010609060101010101" pitchFamily="49" charset="-122"/>
              </a:rPr>
              <a:t>装载问题是</a:t>
            </a:r>
            <a:r>
              <a:rPr lang="en-US" altLang="zh-CN" sz="2400" b="1">
                <a:solidFill>
                  <a:srgbClr val="3333FF"/>
                </a:solidFill>
                <a:latin typeface="黑体" panose="02010609060101010101" pitchFamily="49" charset="-122"/>
                <a:ea typeface="黑体" panose="02010609060101010101" pitchFamily="49" charset="-122"/>
              </a:rPr>
              <a:t>NP</a:t>
            </a:r>
            <a:r>
              <a:rPr lang="zh-CN" altLang="en-US" sz="2400" b="1">
                <a:solidFill>
                  <a:srgbClr val="3333FF"/>
                </a:solidFill>
                <a:latin typeface="黑体" panose="02010609060101010101" pitchFamily="49" charset="-122"/>
                <a:ea typeface="黑体" panose="02010609060101010101" pitchFamily="49" charset="-122"/>
              </a:rPr>
              <a:t>难题</a:t>
            </a:r>
            <a:r>
              <a:rPr lang="zh-CN" altLang="en-US" sz="2400" b="1">
                <a:latin typeface="黑体" panose="02010609060101010101" pitchFamily="49" charset="-122"/>
                <a:ea typeface="黑体" panose="02010609060101010101" pitchFamily="49" charset="-122"/>
              </a:rPr>
              <a:t>。</a:t>
            </a:r>
            <a:endParaRPr lang="zh-CN" altLang="en-US" sz="2400" b="1">
              <a:latin typeface="黑体" panose="02010609060101010101" pitchFamily="49" charset="-122"/>
              <a:ea typeface="黑体" panose="02010609060101010101" pitchFamily="49" charset="-122"/>
            </a:endParaRPr>
          </a:p>
        </p:txBody>
      </p:sp>
      <p:grpSp>
        <p:nvGrpSpPr>
          <p:cNvPr id="362500" name="Group 4"/>
          <p:cNvGrpSpPr/>
          <p:nvPr/>
        </p:nvGrpSpPr>
        <p:grpSpPr bwMode="auto">
          <a:xfrm>
            <a:off x="1266825" y="1341438"/>
            <a:ext cx="1504950" cy="647700"/>
            <a:chOff x="3198" y="845"/>
            <a:chExt cx="948" cy="408"/>
          </a:xfrm>
        </p:grpSpPr>
        <p:pic>
          <p:nvPicPr>
            <p:cNvPr id="362501" name="Picture 5"/>
            <p:cNvPicPr>
              <a:picLocks noChangeAspect="1" noChangeArrowheads="1"/>
            </p:cNvPicPr>
            <p:nvPr/>
          </p:nvPicPr>
          <p:blipFill>
            <a:blip r:embed="rId1">
              <a:extLst>
                <a:ext uri="{28A0092B-C50C-407E-A947-70E740481C1C}">
                  <a14:useLocalDpi xmlns:a14="http://schemas.microsoft.com/office/drawing/2010/main" val="0"/>
                </a:ext>
              </a:extLst>
            </a:blip>
            <a:srcRect l="18333" t="56436" r="52180" b="28218"/>
            <a:stretch>
              <a:fillRect/>
            </a:stretch>
          </p:blipFill>
          <p:spPr bwMode="auto">
            <a:xfrm>
              <a:off x="3198" y="845"/>
              <a:ext cx="948"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2502" name="Text Box 6"/>
            <p:cNvSpPr txBox="1">
              <a:spLocks noChangeArrowheads="1"/>
            </p:cNvSpPr>
            <p:nvPr/>
          </p:nvSpPr>
          <p:spPr bwMode="auto">
            <a:xfrm>
              <a:off x="3605" y="965"/>
              <a:ext cx="91" cy="173"/>
            </a:xfrm>
            <a:prstGeom prst="rect">
              <a:avLst/>
            </a:prstGeom>
            <a:solidFill>
              <a:srgbClr val="FFFFFF"/>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lIns="0" tIns="0" rIns="0" bIns="0" anchor="ctr" anchorCtr="1">
              <a:spAutoFit/>
            </a:bodyPr>
            <a:lstStyle/>
            <a:p>
              <a:pPr>
                <a:spcBef>
                  <a:spcPct val="50000"/>
                </a:spcBef>
              </a:pPr>
              <a:r>
                <a:rPr lang="en-US" altLang="zh-CN"/>
                <a:t>=</a:t>
              </a:r>
              <a:endParaRPr lang="en-US" altLang="zh-CN"/>
            </a:p>
          </p:txBody>
        </p:sp>
      </p:grpSp>
      <p:grpSp>
        <p:nvGrpSpPr>
          <p:cNvPr id="362503" name="Group 7"/>
          <p:cNvGrpSpPr/>
          <p:nvPr/>
        </p:nvGrpSpPr>
        <p:grpSpPr bwMode="auto">
          <a:xfrm>
            <a:off x="1258888" y="3068638"/>
            <a:ext cx="1223962" cy="647700"/>
            <a:chOff x="748" y="1207"/>
            <a:chExt cx="771" cy="408"/>
          </a:xfrm>
        </p:grpSpPr>
        <p:pic>
          <p:nvPicPr>
            <p:cNvPr id="362504" name="Picture 8"/>
            <p:cNvPicPr>
              <a:picLocks noChangeAspect="1" noChangeArrowheads="1"/>
            </p:cNvPicPr>
            <p:nvPr/>
          </p:nvPicPr>
          <p:blipFill>
            <a:blip r:embed="rId1">
              <a:extLst>
                <a:ext uri="{28A0092B-C50C-407E-A947-70E740481C1C}">
                  <a14:useLocalDpi xmlns:a14="http://schemas.microsoft.com/office/drawing/2010/main" val="0"/>
                </a:ext>
              </a:extLst>
            </a:blip>
            <a:srcRect l="18333" t="56436" r="57822" b="28218"/>
            <a:stretch>
              <a:fillRect/>
            </a:stretch>
          </p:blipFill>
          <p:spPr bwMode="auto">
            <a:xfrm>
              <a:off x="748" y="1207"/>
              <a:ext cx="767"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2505" name="Text Box 9"/>
            <p:cNvSpPr txBox="1">
              <a:spLocks noChangeArrowheads="1"/>
            </p:cNvSpPr>
            <p:nvPr/>
          </p:nvSpPr>
          <p:spPr bwMode="auto">
            <a:xfrm>
              <a:off x="1155" y="1327"/>
              <a:ext cx="364" cy="173"/>
            </a:xfrm>
            <a:prstGeom prst="rect">
              <a:avLst/>
            </a:prstGeom>
            <a:solidFill>
              <a:srgbClr val="FFFFFF"/>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lIns="0" tIns="0" rIns="0" bIns="0" anchor="ctr" anchorCtr="1">
              <a:spAutoFit/>
            </a:bodyPr>
            <a:lstStyle/>
            <a:p>
              <a:pPr>
                <a:spcBef>
                  <a:spcPct val="50000"/>
                </a:spcBef>
              </a:pPr>
              <a:r>
                <a:rPr lang="en-US" altLang="zh-CN"/>
                <a:t>= 2c</a:t>
              </a:r>
              <a:r>
                <a:rPr lang="en-US" altLang="zh-CN" baseline="-25000"/>
                <a:t>1</a:t>
              </a:r>
              <a:endParaRPr lang="en-US" altLang="zh-CN" baseline="-25000"/>
            </a:p>
          </p:txBody>
        </p:sp>
      </p:gr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Rectangle 2"/>
          <p:cNvSpPr>
            <a:spLocks noGrp="1" noChangeArrowheads="1"/>
          </p:cNvSpPr>
          <p:nvPr>
            <p:ph type="title"/>
          </p:nvPr>
        </p:nvSpPr>
        <p:spPr>
          <a:xfrm>
            <a:off x="457200" y="122238"/>
            <a:ext cx="7543800" cy="1435100"/>
          </a:xfrm>
          <a:noFill/>
        </p:spPr>
        <p:txBody>
          <a:bodyPr lIns="92075" tIns="46038" rIns="92075" bIns="46038" anchor="ctr"/>
          <a:lstStyle/>
          <a:p>
            <a:r>
              <a:rPr lang="zh-CN" altLang="en-US"/>
              <a:t>最优装载问题</a:t>
            </a:r>
            <a:br>
              <a:rPr lang="zh-CN" altLang="en-US"/>
            </a:br>
            <a:r>
              <a:rPr lang="en-US" altLang="zh-CN"/>
              <a:t>Subtree: </a:t>
            </a:r>
            <a:r>
              <a:rPr lang="en-US" altLang="zh-CN" i="1"/>
              <a:t>n</a:t>
            </a:r>
            <a:r>
              <a:rPr lang="en-US" altLang="zh-CN"/>
              <a:t>=4</a:t>
            </a:r>
            <a:endParaRPr lang="en-US" altLang="zh-CN"/>
          </a:p>
        </p:txBody>
      </p:sp>
      <p:sp>
        <p:nvSpPr>
          <p:cNvPr id="363523" name="Oval 3"/>
          <p:cNvSpPr>
            <a:spLocks noChangeArrowheads="1"/>
          </p:cNvSpPr>
          <p:nvPr/>
        </p:nvSpPr>
        <p:spPr bwMode="auto">
          <a:xfrm>
            <a:off x="4197350" y="1377950"/>
            <a:ext cx="215900" cy="215900"/>
          </a:xfrm>
          <a:prstGeom prst="ellipse">
            <a:avLst/>
          </a:prstGeom>
          <a:solidFill>
            <a:srgbClr val="00FF0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24" name="Line 4"/>
          <p:cNvSpPr>
            <a:spLocks noChangeShapeType="1"/>
          </p:cNvSpPr>
          <p:nvPr/>
        </p:nvSpPr>
        <p:spPr bwMode="auto">
          <a:xfrm flipH="1">
            <a:off x="2286000" y="1600200"/>
            <a:ext cx="1981200" cy="1295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25" name="Oval 5"/>
          <p:cNvSpPr>
            <a:spLocks noChangeArrowheads="1"/>
          </p:cNvSpPr>
          <p:nvPr/>
        </p:nvSpPr>
        <p:spPr bwMode="auto">
          <a:xfrm>
            <a:off x="2139950" y="29019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26" name="Rectangle 6"/>
          <p:cNvSpPr>
            <a:spLocks noChangeArrowheads="1"/>
          </p:cNvSpPr>
          <p:nvPr/>
        </p:nvSpPr>
        <p:spPr bwMode="auto">
          <a:xfrm>
            <a:off x="2843213" y="1773238"/>
            <a:ext cx="5572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1</a:t>
            </a:r>
            <a:endParaRPr lang="en-US" altLang="zh-CN" sz="3200">
              <a:solidFill>
                <a:schemeClr val="hlink"/>
              </a:solidFill>
              <a:latin typeface="Times New Roman" panose="02020603050405020304" pitchFamily="18" charset="0"/>
            </a:endParaRPr>
          </a:p>
        </p:txBody>
      </p:sp>
      <p:sp>
        <p:nvSpPr>
          <p:cNvPr id="363527" name="Line 7"/>
          <p:cNvSpPr>
            <a:spLocks noChangeShapeType="1"/>
          </p:cNvSpPr>
          <p:nvPr/>
        </p:nvSpPr>
        <p:spPr bwMode="auto">
          <a:xfrm>
            <a:off x="4419600" y="1600200"/>
            <a:ext cx="2057400" cy="1295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28" name="Oval 8"/>
          <p:cNvSpPr>
            <a:spLocks noChangeArrowheads="1"/>
          </p:cNvSpPr>
          <p:nvPr/>
        </p:nvSpPr>
        <p:spPr bwMode="auto">
          <a:xfrm>
            <a:off x="6407150" y="29019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29" name="Rectangle 9"/>
          <p:cNvSpPr>
            <a:spLocks noChangeArrowheads="1"/>
          </p:cNvSpPr>
          <p:nvPr/>
        </p:nvSpPr>
        <p:spPr bwMode="auto">
          <a:xfrm>
            <a:off x="5292725" y="1700213"/>
            <a:ext cx="4667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0</a:t>
            </a:r>
            <a:endParaRPr lang="en-US" altLang="zh-CN" sz="3200">
              <a:solidFill>
                <a:schemeClr val="hlink"/>
              </a:solidFill>
              <a:latin typeface="Times New Roman" panose="02020603050405020304" pitchFamily="18" charset="0"/>
            </a:endParaRPr>
          </a:p>
        </p:txBody>
      </p:sp>
      <p:sp>
        <p:nvSpPr>
          <p:cNvPr id="363530" name="Line 10"/>
          <p:cNvSpPr>
            <a:spLocks noChangeShapeType="1"/>
          </p:cNvSpPr>
          <p:nvPr/>
        </p:nvSpPr>
        <p:spPr bwMode="auto">
          <a:xfrm flipH="1">
            <a:off x="1066800" y="3124200"/>
            <a:ext cx="1066800" cy="1066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31" name="Oval 11"/>
          <p:cNvSpPr>
            <a:spLocks noChangeArrowheads="1"/>
          </p:cNvSpPr>
          <p:nvPr/>
        </p:nvSpPr>
        <p:spPr bwMode="auto">
          <a:xfrm>
            <a:off x="996950" y="41973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32" name="Rectangle 12"/>
          <p:cNvSpPr>
            <a:spLocks noChangeArrowheads="1"/>
          </p:cNvSpPr>
          <p:nvPr/>
        </p:nvSpPr>
        <p:spPr bwMode="auto">
          <a:xfrm>
            <a:off x="0" y="3284538"/>
            <a:ext cx="539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2</a:t>
            </a:r>
            <a:endParaRPr lang="en-US" altLang="zh-CN" sz="3200">
              <a:solidFill>
                <a:schemeClr val="hlink"/>
              </a:solidFill>
              <a:latin typeface="Times New Roman" panose="02020603050405020304" pitchFamily="18" charset="0"/>
            </a:endParaRPr>
          </a:p>
        </p:txBody>
      </p:sp>
      <p:sp>
        <p:nvSpPr>
          <p:cNvPr id="363533" name="Line 13"/>
          <p:cNvSpPr>
            <a:spLocks noChangeShapeType="1"/>
          </p:cNvSpPr>
          <p:nvPr/>
        </p:nvSpPr>
        <p:spPr bwMode="auto">
          <a:xfrm>
            <a:off x="2286000" y="3124200"/>
            <a:ext cx="9906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34" name="Oval 14"/>
          <p:cNvSpPr>
            <a:spLocks noChangeArrowheads="1"/>
          </p:cNvSpPr>
          <p:nvPr/>
        </p:nvSpPr>
        <p:spPr bwMode="auto">
          <a:xfrm>
            <a:off x="3206750" y="41211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35" name="Rectangle 15"/>
          <p:cNvSpPr>
            <a:spLocks noChangeArrowheads="1"/>
          </p:cNvSpPr>
          <p:nvPr/>
        </p:nvSpPr>
        <p:spPr bwMode="auto">
          <a:xfrm>
            <a:off x="2895600" y="3276600"/>
            <a:ext cx="4524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0</a:t>
            </a:r>
            <a:endParaRPr lang="en-US" altLang="zh-CN" sz="3200">
              <a:solidFill>
                <a:schemeClr val="hlink"/>
              </a:solidFill>
              <a:latin typeface="Times New Roman" panose="02020603050405020304" pitchFamily="18" charset="0"/>
            </a:endParaRPr>
          </a:p>
        </p:txBody>
      </p:sp>
      <p:sp>
        <p:nvSpPr>
          <p:cNvPr id="363536" name="Line 16"/>
          <p:cNvSpPr>
            <a:spLocks noChangeShapeType="1"/>
          </p:cNvSpPr>
          <p:nvPr/>
        </p:nvSpPr>
        <p:spPr bwMode="auto">
          <a:xfrm flipH="1">
            <a:off x="5562600" y="3124200"/>
            <a:ext cx="8382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37" name="Oval 17"/>
          <p:cNvSpPr>
            <a:spLocks noChangeArrowheads="1"/>
          </p:cNvSpPr>
          <p:nvPr/>
        </p:nvSpPr>
        <p:spPr bwMode="auto">
          <a:xfrm>
            <a:off x="5416550" y="40449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38" name="Rectangle 18"/>
          <p:cNvSpPr>
            <a:spLocks noChangeArrowheads="1"/>
          </p:cNvSpPr>
          <p:nvPr/>
        </p:nvSpPr>
        <p:spPr bwMode="auto">
          <a:xfrm>
            <a:off x="5508625" y="3213100"/>
            <a:ext cx="4111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1</a:t>
            </a:r>
            <a:endParaRPr lang="en-US" altLang="zh-CN" sz="3200">
              <a:solidFill>
                <a:schemeClr val="hlink"/>
              </a:solidFill>
              <a:latin typeface="Times New Roman" panose="02020603050405020304" pitchFamily="18" charset="0"/>
            </a:endParaRPr>
          </a:p>
        </p:txBody>
      </p:sp>
      <p:sp>
        <p:nvSpPr>
          <p:cNvPr id="363539" name="Line 19"/>
          <p:cNvSpPr>
            <a:spLocks noChangeShapeType="1"/>
          </p:cNvSpPr>
          <p:nvPr/>
        </p:nvSpPr>
        <p:spPr bwMode="auto">
          <a:xfrm>
            <a:off x="6629400" y="3124200"/>
            <a:ext cx="9906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40" name="Oval 20"/>
          <p:cNvSpPr>
            <a:spLocks noChangeArrowheads="1"/>
          </p:cNvSpPr>
          <p:nvPr/>
        </p:nvSpPr>
        <p:spPr bwMode="auto">
          <a:xfrm>
            <a:off x="7626350" y="3968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41" name="Rectangle 21"/>
          <p:cNvSpPr>
            <a:spLocks noChangeArrowheads="1"/>
          </p:cNvSpPr>
          <p:nvPr/>
        </p:nvSpPr>
        <p:spPr bwMode="auto">
          <a:xfrm>
            <a:off x="7235825" y="3141663"/>
            <a:ext cx="4286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0</a:t>
            </a:r>
            <a:endParaRPr lang="en-US" altLang="zh-CN" sz="3200">
              <a:solidFill>
                <a:schemeClr val="hlink"/>
              </a:solidFill>
              <a:latin typeface="Times New Roman" panose="02020603050405020304" pitchFamily="18" charset="0"/>
            </a:endParaRPr>
          </a:p>
        </p:txBody>
      </p:sp>
      <p:sp>
        <p:nvSpPr>
          <p:cNvPr id="363542" name="Line 22"/>
          <p:cNvSpPr>
            <a:spLocks noChangeShapeType="1"/>
          </p:cNvSpPr>
          <p:nvPr/>
        </p:nvSpPr>
        <p:spPr bwMode="auto">
          <a:xfrm flipH="1">
            <a:off x="533400" y="4419600"/>
            <a:ext cx="533400" cy="685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43" name="Oval 23"/>
          <p:cNvSpPr>
            <a:spLocks noChangeArrowheads="1"/>
          </p:cNvSpPr>
          <p:nvPr/>
        </p:nvSpPr>
        <p:spPr bwMode="auto">
          <a:xfrm>
            <a:off x="3873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44" name="Line 24"/>
          <p:cNvSpPr>
            <a:spLocks noChangeShapeType="1"/>
          </p:cNvSpPr>
          <p:nvPr/>
        </p:nvSpPr>
        <p:spPr bwMode="auto">
          <a:xfrm>
            <a:off x="1143000" y="4419600"/>
            <a:ext cx="381000" cy="685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45" name="Oval 25"/>
          <p:cNvSpPr>
            <a:spLocks noChangeArrowheads="1"/>
          </p:cNvSpPr>
          <p:nvPr/>
        </p:nvSpPr>
        <p:spPr bwMode="auto">
          <a:xfrm>
            <a:off x="1454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46" name="Line 26"/>
          <p:cNvSpPr>
            <a:spLocks noChangeShapeType="1"/>
          </p:cNvSpPr>
          <p:nvPr/>
        </p:nvSpPr>
        <p:spPr bwMode="auto">
          <a:xfrm flipH="1">
            <a:off x="2667000" y="4343400"/>
            <a:ext cx="6096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47" name="Oval 27"/>
          <p:cNvSpPr>
            <a:spLocks noChangeArrowheads="1"/>
          </p:cNvSpPr>
          <p:nvPr/>
        </p:nvSpPr>
        <p:spPr bwMode="auto">
          <a:xfrm>
            <a:off x="2597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48" name="Line 28"/>
          <p:cNvSpPr>
            <a:spLocks noChangeShapeType="1"/>
          </p:cNvSpPr>
          <p:nvPr/>
        </p:nvSpPr>
        <p:spPr bwMode="auto">
          <a:xfrm>
            <a:off x="3352800" y="4343400"/>
            <a:ext cx="4572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49" name="Oval 29"/>
          <p:cNvSpPr>
            <a:spLocks noChangeArrowheads="1"/>
          </p:cNvSpPr>
          <p:nvPr/>
        </p:nvSpPr>
        <p:spPr bwMode="auto">
          <a:xfrm>
            <a:off x="3740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50" name="Line 30"/>
          <p:cNvSpPr>
            <a:spLocks noChangeShapeType="1"/>
          </p:cNvSpPr>
          <p:nvPr/>
        </p:nvSpPr>
        <p:spPr bwMode="auto">
          <a:xfrm flipH="1">
            <a:off x="5029200" y="4267200"/>
            <a:ext cx="4572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51" name="Oval 31"/>
          <p:cNvSpPr>
            <a:spLocks noChangeArrowheads="1"/>
          </p:cNvSpPr>
          <p:nvPr/>
        </p:nvSpPr>
        <p:spPr bwMode="auto">
          <a:xfrm>
            <a:off x="4883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52" name="Line 32"/>
          <p:cNvSpPr>
            <a:spLocks noChangeShapeType="1"/>
          </p:cNvSpPr>
          <p:nvPr/>
        </p:nvSpPr>
        <p:spPr bwMode="auto">
          <a:xfrm>
            <a:off x="5562600" y="4267200"/>
            <a:ext cx="5334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53" name="Oval 33"/>
          <p:cNvSpPr>
            <a:spLocks noChangeArrowheads="1"/>
          </p:cNvSpPr>
          <p:nvPr/>
        </p:nvSpPr>
        <p:spPr bwMode="auto">
          <a:xfrm>
            <a:off x="6026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54" name="Line 34"/>
          <p:cNvSpPr>
            <a:spLocks noChangeShapeType="1"/>
          </p:cNvSpPr>
          <p:nvPr/>
        </p:nvSpPr>
        <p:spPr bwMode="auto">
          <a:xfrm flipH="1">
            <a:off x="7239000" y="4191000"/>
            <a:ext cx="4572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55" name="Oval 35"/>
          <p:cNvSpPr>
            <a:spLocks noChangeArrowheads="1"/>
          </p:cNvSpPr>
          <p:nvPr/>
        </p:nvSpPr>
        <p:spPr bwMode="auto">
          <a:xfrm>
            <a:off x="7169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56" name="Line 36"/>
          <p:cNvSpPr>
            <a:spLocks noChangeShapeType="1"/>
          </p:cNvSpPr>
          <p:nvPr/>
        </p:nvSpPr>
        <p:spPr bwMode="auto">
          <a:xfrm>
            <a:off x="7848600" y="4191000"/>
            <a:ext cx="6096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57" name="Oval 37"/>
          <p:cNvSpPr>
            <a:spLocks noChangeArrowheads="1"/>
          </p:cNvSpPr>
          <p:nvPr/>
        </p:nvSpPr>
        <p:spPr bwMode="auto">
          <a:xfrm>
            <a:off x="8312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63558" name="Group 38"/>
          <p:cNvGrpSpPr/>
          <p:nvPr/>
        </p:nvGrpSpPr>
        <p:grpSpPr bwMode="auto">
          <a:xfrm>
            <a:off x="82550" y="5334000"/>
            <a:ext cx="8750300" cy="755650"/>
            <a:chOff x="52" y="3360"/>
            <a:chExt cx="5512" cy="476"/>
          </a:xfrm>
        </p:grpSpPr>
        <p:sp>
          <p:nvSpPr>
            <p:cNvPr id="363559" name="Oval 39"/>
            <p:cNvSpPr>
              <a:spLocks noChangeArrowheads="1"/>
            </p:cNvSpPr>
            <p:nvPr/>
          </p:nvSpPr>
          <p:spPr bwMode="auto">
            <a:xfrm>
              <a:off x="5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60" name="Oval 40"/>
            <p:cNvSpPr>
              <a:spLocks noChangeArrowheads="1"/>
            </p:cNvSpPr>
            <p:nvPr/>
          </p:nvSpPr>
          <p:spPr bwMode="auto">
            <a:xfrm>
              <a:off x="38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61" name="Oval 41"/>
            <p:cNvSpPr>
              <a:spLocks noChangeArrowheads="1"/>
            </p:cNvSpPr>
            <p:nvPr/>
          </p:nvSpPr>
          <p:spPr bwMode="auto">
            <a:xfrm>
              <a:off x="77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62" name="Oval 42"/>
            <p:cNvSpPr>
              <a:spLocks noChangeArrowheads="1"/>
            </p:cNvSpPr>
            <p:nvPr/>
          </p:nvSpPr>
          <p:spPr bwMode="auto">
            <a:xfrm>
              <a:off x="110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63" name="Oval 43"/>
            <p:cNvSpPr>
              <a:spLocks noChangeArrowheads="1"/>
            </p:cNvSpPr>
            <p:nvPr/>
          </p:nvSpPr>
          <p:spPr bwMode="auto">
            <a:xfrm>
              <a:off x="149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64" name="Oval 44"/>
            <p:cNvSpPr>
              <a:spLocks noChangeArrowheads="1"/>
            </p:cNvSpPr>
            <p:nvPr/>
          </p:nvSpPr>
          <p:spPr bwMode="auto">
            <a:xfrm>
              <a:off x="1828" y="3700"/>
              <a:ext cx="136" cy="136"/>
            </a:xfrm>
            <a:prstGeom prst="ellipse">
              <a:avLst/>
            </a:prstGeom>
            <a:solidFill>
              <a:srgbClr val="FF000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65" name="Oval 45"/>
            <p:cNvSpPr>
              <a:spLocks noChangeArrowheads="1"/>
            </p:cNvSpPr>
            <p:nvPr/>
          </p:nvSpPr>
          <p:spPr bwMode="auto">
            <a:xfrm>
              <a:off x="221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66" name="Oval 46"/>
            <p:cNvSpPr>
              <a:spLocks noChangeArrowheads="1"/>
            </p:cNvSpPr>
            <p:nvPr/>
          </p:nvSpPr>
          <p:spPr bwMode="auto">
            <a:xfrm>
              <a:off x="254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67" name="Oval 47"/>
            <p:cNvSpPr>
              <a:spLocks noChangeArrowheads="1"/>
            </p:cNvSpPr>
            <p:nvPr/>
          </p:nvSpPr>
          <p:spPr bwMode="auto">
            <a:xfrm>
              <a:off x="293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68" name="Oval 48"/>
            <p:cNvSpPr>
              <a:spLocks noChangeArrowheads="1"/>
            </p:cNvSpPr>
            <p:nvPr/>
          </p:nvSpPr>
          <p:spPr bwMode="auto">
            <a:xfrm>
              <a:off x="326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69" name="Oval 49"/>
            <p:cNvSpPr>
              <a:spLocks noChangeArrowheads="1"/>
            </p:cNvSpPr>
            <p:nvPr/>
          </p:nvSpPr>
          <p:spPr bwMode="auto">
            <a:xfrm>
              <a:off x="365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70" name="Oval 50"/>
            <p:cNvSpPr>
              <a:spLocks noChangeArrowheads="1"/>
            </p:cNvSpPr>
            <p:nvPr/>
          </p:nvSpPr>
          <p:spPr bwMode="auto">
            <a:xfrm>
              <a:off x="398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71" name="Oval 51"/>
            <p:cNvSpPr>
              <a:spLocks noChangeArrowheads="1"/>
            </p:cNvSpPr>
            <p:nvPr/>
          </p:nvSpPr>
          <p:spPr bwMode="auto">
            <a:xfrm>
              <a:off x="437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72" name="Oval 52"/>
            <p:cNvSpPr>
              <a:spLocks noChangeArrowheads="1"/>
            </p:cNvSpPr>
            <p:nvPr/>
          </p:nvSpPr>
          <p:spPr bwMode="auto">
            <a:xfrm>
              <a:off x="470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73" name="Oval 53"/>
            <p:cNvSpPr>
              <a:spLocks noChangeArrowheads="1"/>
            </p:cNvSpPr>
            <p:nvPr/>
          </p:nvSpPr>
          <p:spPr bwMode="auto">
            <a:xfrm>
              <a:off x="509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74" name="Oval 54"/>
            <p:cNvSpPr>
              <a:spLocks noChangeArrowheads="1"/>
            </p:cNvSpPr>
            <p:nvPr/>
          </p:nvSpPr>
          <p:spPr bwMode="auto">
            <a:xfrm>
              <a:off x="542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75" name="Line 55"/>
            <p:cNvSpPr>
              <a:spLocks noChangeShapeType="1"/>
            </p:cNvSpPr>
            <p:nvPr/>
          </p:nvSpPr>
          <p:spPr bwMode="auto">
            <a:xfrm flipH="1">
              <a:off x="96" y="3360"/>
              <a:ext cx="192"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76" name="Line 56"/>
            <p:cNvSpPr>
              <a:spLocks noChangeShapeType="1"/>
            </p:cNvSpPr>
            <p:nvPr/>
          </p:nvSpPr>
          <p:spPr bwMode="auto">
            <a:xfrm>
              <a:off x="336" y="3360"/>
              <a:ext cx="96"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77" name="Line 57"/>
            <p:cNvSpPr>
              <a:spLocks noChangeShapeType="1"/>
            </p:cNvSpPr>
            <p:nvPr/>
          </p:nvSpPr>
          <p:spPr bwMode="auto">
            <a:xfrm flipH="1">
              <a:off x="864" y="3360"/>
              <a:ext cx="96"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78" name="Line 58"/>
            <p:cNvSpPr>
              <a:spLocks noChangeShapeType="1"/>
            </p:cNvSpPr>
            <p:nvPr/>
          </p:nvSpPr>
          <p:spPr bwMode="auto">
            <a:xfrm>
              <a:off x="1008"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79" name="Line 59"/>
            <p:cNvSpPr>
              <a:spLocks noChangeShapeType="1"/>
            </p:cNvSpPr>
            <p:nvPr/>
          </p:nvSpPr>
          <p:spPr bwMode="auto">
            <a:xfrm flipH="1">
              <a:off x="1584" y="3360"/>
              <a:ext cx="96"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80" name="Line 60"/>
            <p:cNvSpPr>
              <a:spLocks noChangeShapeType="1"/>
            </p:cNvSpPr>
            <p:nvPr/>
          </p:nvSpPr>
          <p:spPr bwMode="auto">
            <a:xfrm>
              <a:off x="1728"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81" name="Line 61"/>
            <p:cNvSpPr>
              <a:spLocks noChangeShapeType="1"/>
            </p:cNvSpPr>
            <p:nvPr/>
          </p:nvSpPr>
          <p:spPr bwMode="auto">
            <a:xfrm flipH="1">
              <a:off x="2304" y="3360"/>
              <a:ext cx="96"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82" name="Line 62"/>
            <p:cNvSpPr>
              <a:spLocks noChangeShapeType="1"/>
            </p:cNvSpPr>
            <p:nvPr/>
          </p:nvSpPr>
          <p:spPr bwMode="auto">
            <a:xfrm>
              <a:off x="2448"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83" name="Line 63"/>
            <p:cNvSpPr>
              <a:spLocks noChangeShapeType="1"/>
            </p:cNvSpPr>
            <p:nvPr/>
          </p:nvSpPr>
          <p:spPr bwMode="auto">
            <a:xfrm flipH="1">
              <a:off x="2976"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84" name="Line 64"/>
            <p:cNvSpPr>
              <a:spLocks noChangeShapeType="1"/>
            </p:cNvSpPr>
            <p:nvPr/>
          </p:nvSpPr>
          <p:spPr bwMode="auto">
            <a:xfrm>
              <a:off x="3168" y="3360"/>
              <a:ext cx="192"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85" name="Line 65"/>
            <p:cNvSpPr>
              <a:spLocks noChangeShapeType="1"/>
            </p:cNvSpPr>
            <p:nvPr/>
          </p:nvSpPr>
          <p:spPr bwMode="auto">
            <a:xfrm flipH="1">
              <a:off x="3696"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86" name="Line 66"/>
            <p:cNvSpPr>
              <a:spLocks noChangeShapeType="1"/>
            </p:cNvSpPr>
            <p:nvPr/>
          </p:nvSpPr>
          <p:spPr bwMode="auto">
            <a:xfrm>
              <a:off x="3888" y="3360"/>
              <a:ext cx="192"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87" name="Line 67"/>
            <p:cNvSpPr>
              <a:spLocks noChangeShapeType="1"/>
            </p:cNvSpPr>
            <p:nvPr/>
          </p:nvSpPr>
          <p:spPr bwMode="auto">
            <a:xfrm flipH="1">
              <a:off x="4416"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88" name="Line 68"/>
            <p:cNvSpPr>
              <a:spLocks noChangeShapeType="1"/>
            </p:cNvSpPr>
            <p:nvPr/>
          </p:nvSpPr>
          <p:spPr bwMode="auto">
            <a:xfrm>
              <a:off x="4608" y="3360"/>
              <a:ext cx="192"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89" name="Line 69"/>
            <p:cNvSpPr>
              <a:spLocks noChangeShapeType="1"/>
            </p:cNvSpPr>
            <p:nvPr/>
          </p:nvSpPr>
          <p:spPr bwMode="auto">
            <a:xfrm flipH="1">
              <a:off x="5136"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90" name="Line 70"/>
            <p:cNvSpPr>
              <a:spLocks noChangeShapeType="1"/>
            </p:cNvSpPr>
            <p:nvPr/>
          </p:nvSpPr>
          <p:spPr bwMode="auto">
            <a:xfrm>
              <a:off x="5328" y="3360"/>
              <a:ext cx="192"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63591" name="Rectangle 71"/>
          <p:cNvSpPr>
            <a:spLocks noChangeArrowheads="1"/>
          </p:cNvSpPr>
          <p:nvPr/>
        </p:nvSpPr>
        <p:spPr bwMode="auto">
          <a:xfrm>
            <a:off x="0" y="1773238"/>
            <a:ext cx="1066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1</a:t>
            </a:r>
            <a:endParaRPr lang="en-US" altLang="zh-CN" sz="3200">
              <a:solidFill>
                <a:schemeClr val="hlink"/>
              </a:solidFill>
              <a:latin typeface="Times New Roman" panose="02020603050405020304" pitchFamily="18" charset="0"/>
            </a:endParaRPr>
          </a:p>
        </p:txBody>
      </p:sp>
      <p:sp>
        <p:nvSpPr>
          <p:cNvPr id="363592" name="Rectangle 72"/>
          <p:cNvSpPr>
            <a:spLocks noChangeArrowheads="1"/>
          </p:cNvSpPr>
          <p:nvPr/>
        </p:nvSpPr>
        <p:spPr bwMode="auto">
          <a:xfrm>
            <a:off x="0" y="4365625"/>
            <a:ext cx="539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3</a:t>
            </a:r>
            <a:endParaRPr lang="en-US" altLang="zh-CN" sz="3200">
              <a:solidFill>
                <a:schemeClr val="hlink"/>
              </a:solidFill>
              <a:latin typeface="Times New Roman" panose="02020603050405020304" pitchFamily="18" charset="0"/>
            </a:endParaRPr>
          </a:p>
        </p:txBody>
      </p:sp>
      <p:sp>
        <p:nvSpPr>
          <p:cNvPr id="363593" name="Rectangle 73"/>
          <p:cNvSpPr>
            <a:spLocks noChangeArrowheads="1"/>
          </p:cNvSpPr>
          <p:nvPr/>
        </p:nvSpPr>
        <p:spPr bwMode="auto">
          <a:xfrm>
            <a:off x="0" y="5300663"/>
            <a:ext cx="539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4</a:t>
            </a:r>
            <a:endParaRPr lang="en-US" altLang="zh-CN" sz="3200">
              <a:solidFill>
                <a:schemeClr val="hlink"/>
              </a:solidFill>
              <a:latin typeface="Times New Roman" panose="02020603050405020304" pitchFamily="18" charset="0"/>
            </a:endParaRPr>
          </a:p>
        </p:txBody>
      </p:sp>
      <p:sp>
        <p:nvSpPr>
          <p:cNvPr id="363594" name="Rectangle 74"/>
          <p:cNvSpPr>
            <a:spLocks noChangeArrowheads="1"/>
          </p:cNvSpPr>
          <p:nvPr/>
        </p:nvSpPr>
        <p:spPr bwMode="auto">
          <a:xfrm>
            <a:off x="1187450" y="3284538"/>
            <a:ext cx="5572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1</a:t>
            </a:r>
            <a:endParaRPr lang="en-US" altLang="zh-CN" sz="3200">
              <a:solidFill>
                <a:schemeClr val="hlink"/>
              </a:solidFill>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Rectangle 2"/>
          <p:cNvSpPr>
            <a:spLocks noGrp="1" noChangeArrowheads="1"/>
          </p:cNvSpPr>
          <p:nvPr>
            <p:ph type="title"/>
          </p:nvPr>
        </p:nvSpPr>
        <p:spPr>
          <a:xfrm>
            <a:off x="457200" y="122238"/>
            <a:ext cx="7543800" cy="1123950"/>
          </a:xfrm>
          <a:noFill/>
        </p:spPr>
        <p:txBody>
          <a:bodyPr lIns="92075" tIns="46038" rIns="92075" bIns="46038" anchor="ctr"/>
          <a:lstStyle/>
          <a:p>
            <a:r>
              <a:rPr lang="en-US" altLang="zh-CN" sz="3500"/>
              <a:t>Backtracking for </a:t>
            </a:r>
            <a:r>
              <a:rPr lang="en-US" altLang="zh-CN" sz="3500" i="1"/>
              <a:t>n</a:t>
            </a:r>
            <a:r>
              <a:rPr lang="en-US" altLang="zh-CN" sz="3500"/>
              <a:t>=4,</a:t>
            </a:r>
            <a:r>
              <a:rPr lang="en-US" altLang="zh-CN" sz="3500" i="1"/>
              <a:t>w</a:t>
            </a:r>
            <a:r>
              <a:rPr lang="en-US" altLang="zh-CN" sz="3500"/>
              <a:t>=[8,6,2,3],</a:t>
            </a:r>
            <a:r>
              <a:rPr lang="en-US" altLang="zh-CN" sz="3500" i="1"/>
              <a:t> W</a:t>
            </a:r>
            <a:r>
              <a:rPr lang="en-US" altLang="zh-CN" sz="3500"/>
              <a:t>=12</a:t>
            </a:r>
            <a:endParaRPr lang="en-US" altLang="zh-CN" sz="3500"/>
          </a:p>
        </p:txBody>
      </p:sp>
      <p:sp>
        <p:nvSpPr>
          <p:cNvPr id="364547" name="Oval 3"/>
          <p:cNvSpPr>
            <a:spLocks noChangeArrowheads="1"/>
          </p:cNvSpPr>
          <p:nvPr/>
        </p:nvSpPr>
        <p:spPr bwMode="auto">
          <a:xfrm>
            <a:off x="4197350" y="1377950"/>
            <a:ext cx="215900" cy="215900"/>
          </a:xfrm>
          <a:prstGeom prst="ellipse">
            <a:avLst/>
          </a:prstGeom>
          <a:solidFill>
            <a:srgbClr val="00FF0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4548" name="Line 4"/>
          <p:cNvSpPr>
            <a:spLocks noChangeShapeType="1"/>
          </p:cNvSpPr>
          <p:nvPr/>
        </p:nvSpPr>
        <p:spPr bwMode="auto">
          <a:xfrm flipH="1">
            <a:off x="2286000" y="1600200"/>
            <a:ext cx="1981200" cy="1295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4549" name="Oval 5"/>
          <p:cNvSpPr>
            <a:spLocks noChangeArrowheads="1"/>
          </p:cNvSpPr>
          <p:nvPr/>
        </p:nvSpPr>
        <p:spPr bwMode="auto">
          <a:xfrm>
            <a:off x="2139950" y="29019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4550" name="Rectangle 6"/>
          <p:cNvSpPr>
            <a:spLocks noChangeArrowheads="1"/>
          </p:cNvSpPr>
          <p:nvPr/>
        </p:nvSpPr>
        <p:spPr bwMode="auto">
          <a:xfrm>
            <a:off x="2771775" y="1916113"/>
            <a:ext cx="414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2400">
                <a:solidFill>
                  <a:schemeClr val="hlink"/>
                </a:solidFill>
                <a:latin typeface="Times New Roman" panose="02020603050405020304" pitchFamily="18" charset="0"/>
              </a:rPr>
              <a:t>1</a:t>
            </a:r>
            <a:endParaRPr lang="en-US" altLang="zh-CN" sz="2400">
              <a:solidFill>
                <a:schemeClr val="hlink"/>
              </a:solidFill>
              <a:latin typeface="Times New Roman" panose="02020603050405020304" pitchFamily="18" charset="0"/>
            </a:endParaRPr>
          </a:p>
        </p:txBody>
      </p:sp>
      <p:sp>
        <p:nvSpPr>
          <p:cNvPr id="364551" name="Line 7"/>
          <p:cNvSpPr>
            <a:spLocks noChangeShapeType="1"/>
          </p:cNvSpPr>
          <p:nvPr/>
        </p:nvSpPr>
        <p:spPr bwMode="auto">
          <a:xfrm>
            <a:off x="4419600" y="1600200"/>
            <a:ext cx="2057400" cy="1295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4552" name="Oval 8"/>
          <p:cNvSpPr>
            <a:spLocks noChangeArrowheads="1"/>
          </p:cNvSpPr>
          <p:nvPr/>
        </p:nvSpPr>
        <p:spPr bwMode="auto">
          <a:xfrm>
            <a:off x="6407150" y="29019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4553" name="Rectangle 9"/>
          <p:cNvSpPr>
            <a:spLocks noChangeArrowheads="1"/>
          </p:cNvSpPr>
          <p:nvPr/>
        </p:nvSpPr>
        <p:spPr bwMode="auto">
          <a:xfrm>
            <a:off x="0" y="1844675"/>
            <a:ext cx="1066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1</a:t>
            </a:r>
            <a:endParaRPr lang="en-US" altLang="zh-CN" sz="3200">
              <a:solidFill>
                <a:schemeClr val="hlink"/>
              </a:solidFill>
              <a:latin typeface="Times New Roman" panose="02020603050405020304" pitchFamily="18" charset="0"/>
            </a:endParaRPr>
          </a:p>
        </p:txBody>
      </p:sp>
      <p:sp>
        <p:nvSpPr>
          <p:cNvPr id="364554" name="Line 10"/>
          <p:cNvSpPr>
            <a:spLocks noChangeShapeType="1"/>
          </p:cNvSpPr>
          <p:nvPr/>
        </p:nvSpPr>
        <p:spPr bwMode="auto">
          <a:xfrm flipH="1">
            <a:off x="1066800" y="3124200"/>
            <a:ext cx="1066800" cy="1066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4555" name="Oval 11"/>
          <p:cNvSpPr>
            <a:spLocks noChangeArrowheads="1"/>
          </p:cNvSpPr>
          <p:nvPr/>
        </p:nvSpPr>
        <p:spPr bwMode="auto">
          <a:xfrm>
            <a:off x="996950" y="41973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4556" name="Rectangle 12"/>
          <p:cNvSpPr>
            <a:spLocks noChangeArrowheads="1"/>
          </p:cNvSpPr>
          <p:nvPr/>
        </p:nvSpPr>
        <p:spPr bwMode="auto">
          <a:xfrm>
            <a:off x="1187450" y="3276600"/>
            <a:ext cx="412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2400">
                <a:solidFill>
                  <a:schemeClr val="hlink"/>
                </a:solidFill>
                <a:latin typeface="Times New Roman" panose="02020603050405020304" pitchFamily="18" charset="0"/>
              </a:rPr>
              <a:t>1</a:t>
            </a:r>
            <a:endParaRPr lang="en-US" altLang="zh-CN" sz="2400">
              <a:solidFill>
                <a:schemeClr val="hlink"/>
              </a:solidFill>
              <a:latin typeface="Times New Roman" panose="02020603050405020304" pitchFamily="18" charset="0"/>
            </a:endParaRPr>
          </a:p>
        </p:txBody>
      </p:sp>
      <p:sp>
        <p:nvSpPr>
          <p:cNvPr id="364557" name="Line 13"/>
          <p:cNvSpPr>
            <a:spLocks noChangeShapeType="1"/>
          </p:cNvSpPr>
          <p:nvPr/>
        </p:nvSpPr>
        <p:spPr bwMode="auto">
          <a:xfrm>
            <a:off x="2286000" y="3124200"/>
            <a:ext cx="9906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4558" name="Oval 14"/>
          <p:cNvSpPr>
            <a:spLocks noChangeArrowheads="1"/>
          </p:cNvSpPr>
          <p:nvPr/>
        </p:nvSpPr>
        <p:spPr bwMode="auto">
          <a:xfrm>
            <a:off x="3206750" y="41211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4559" name="Rectangle 15"/>
          <p:cNvSpPr>
            <a:spLocks noChangeArrowheads="1"/>
          </p:cNvSpPr>
          <p:nvPr/>
        </p:nvSpPr>
        <p:spPr bwMode="auto">
          <a:xfrm>
            <a:off x="2843213" y="3284538"/>
            <a:ext cx="4524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2400">
                <a:solidFill>
                  <a:schemeClr val="hlink"/>
                </a:solidFill>
                <a:latin typeface="Times New Roman" panose="02020603050405020304" pitchFamily="18" charset="0"/>
              </a:rPr>
              <a:t>0</a:t>
            </a:r>
            <a:endParaRPr lang="en-US" altLang="zh-CN" sz="2400">
              <a:solidFill>
                <a:schemeClr val="hlink"/>
              </a:solidFill>
              <a:latin typeface="Times New Roman" panose="02020603050405020304" pitchFamily="18" charset="0"/>
            </a:endParaRPr>
          </a:p>
        </p:txBody>
      </p:sp>
      <p:sp>
        <p:nvSpPr>
          <p:cNvPr id="364560" name="Line 16"/>
          <p:cNvSpPr>
            <a:spLocks noChangeShapeType="1"/>
          </p:cNvSpPr>
          <p:nvPr/>
        </p:nvSpPr>
        <p:spPr bwMode="auto">
          <a:xfrm flipH="1">
            <a:off x="5562600" y="3124200"/>
            <a:ext cx="8382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4561" name="Oval 17"/>
          <p:cNvSpPr>
            <a:spLocks noChangeArrowheads="1"/>
          </p:cNvSpPr>
          <p:nvPr/>
        </p:nvSpPr>
        <p:spPr bwMode="auto">
          <a:xfrm>
            <a:off x="5416550" y="40449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4562" name="Rectangle 18"/>
          <p:cNvSpPr>
            <a:spLocks noChangeArrowheads="1"/>
          </p:cNvSpPr>
          <p:nvPr/>
        </p:nvSpPr>
        <p:spPr bwMode="auto">
          <a:xfrm>
            <a:off x="2627313" y="4365625"/>
            <a:ext cx="43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2400">
                <a:solidFill>
                  <a:schemeClr val="hlink"/>
                </a:solidFill>
                <a:latin typeface="Times New Roman" panose="02020603050405020304" pitchFamily="18" charset="0"/>
              </a:rPr>
              <a:t>1</a:t>
            </a:r>
            <a:endParaRPr lang="en-US" altLang="zh-CN" sz="2400">
              <a:solidFill>
                <a:schemeClr val="hlink"/>
              </a:solidFill>
              <a:latin typeface="Times New Roman" panose="02020603050405020304" pitchFamily="18" charset="0"/>
            </a:endParaRPr>
          </a:p>
        </p:txBody>
      </p:sp>
      <p:sp>
        <p:nvSpPr>
          <p:cNvPr id="364563" name="Line 19"/>
          <p:cNvSpPr>
            <a:spLocks noChangeShapeType="1"/>
          </p:cNvSpPr>
          <p:nvPr/>
        </p:nvSpPr>
        <p:spPr bwMode="auto">
          <a:xfrm>
            <a:off x="6629400" y="3124200"/>
            <a:ext cx="9906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4564" name="Oval 20"/>
          <p:cNvSpPr>
            <a:spLocks noChangeArrowheads="1"/>
          </p:cNvSpPr>
          <p:nvPr/>
        </p:nvSpPr>
        <p:spPr bwMode="auto">
          <a:xfrm>
            <a:off x="7626350" y="3968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4565" name="Rectangle 21"/>
          <p:cNvSpPr>
            <a:spLocks noChangeArrowheads="1"/>
          </p:cNvSpPr>
          <p:nvPr/>
        </p:nvSpPr>
        <p:spPr bwMode="auto">
          <a:xfrm>
            <a:off x="0" y="3284538"/>
            <a:ext cx="539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2</a:t>
            </a:r>
            <a:endParaRPr lang="en-US" altLang="zh-CN" sz="3200">
              <a:solidFill>
                <a:schemeClr val="hlink"/>
              </a:solidFill>
              <a:latin typeface="Times New Roman" panose="02020603050405020304" pitchFamily="18" charset="0"/>
            </a:endParaRPr>
          </a:p>
        </p:txBody>
      </p:sp>
      <p:sp>
        <p:nvSpPr>
          <p:cNvPr id="364566" name="Line 22"/>
          <p:cNvSpPr>
            <a:spLocks noChangeShapeType="1"/>
          </p:cNvSpPr>
          <p:nvPr/>
        </p:nvSpPr>
        <p:spPr bwMode="auto">
          <a:xfrm flipH="1">
            <a:off x="533400" y="4419600"/>
            <a:ext cx="533400" cy="685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4567" name="Oval 23"/>
          <p:cNvSpPr>
            <a:spLocks noChangeArrowheads="1"/>
          </p:cNvSpPr>
          <p:nvPr/>
        </p:nvSpPr>
        <p:spPr bwMode="auto">
          <a:xfrm>
            <a:off x="3873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4568" name="Line 24"/>
          <p:cNvSpPr>
            <a:spLocks noChangeShapeType="1"/>
          </p:cNvSpPr>
          <p:nvPr/>
        </p:nvSpPr>
        <p:spPr bwMode="auto">
          <a:xfrm>
            <a:off x="1143000" y="4419600"/>
            <a:ext cx="381000" cy="685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4569" name="Oval 25"/>
          <p:cNvSpPr>
            <a:spLocks noChangeArrowheads="1"/>
          </p:cNvSpPr>
          <p:nvPr/>
        </p:nvSpPr>
        <p:spPr bwMode="auto">
          <a:xfrm>
            <a:off x="1454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4570" name="Line 26"/>
          <p:cNvSpPr>
            <a:spLocks noChangeShapeType="1"/>
          </p:cNvSpPr>
          <p:nvPr/>
        </p:nvSpPr>
        <p:spPr bwMode="auto">
          <a:xfrm flipH="1">
            <a:off x="2667000" y="4343400"/>
            <a:ext cx="6096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4571" name="Oval 27"/>
          <p:cNvSpPr>
            <a:spLocks noChangeArrowheads="1"/>
          </p:cNvSpPr>
          <p:nvPr/>
        </p:nvSpPr>
        <p:spPr bwMode="auto">
          <a:xfrm>
            <a:off x="2597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4572" name="Line 28"/>
          <p:cNvSpPr>
            <a:spLocks noChangeShapeType="1"/>
          </p:cNvSpPr>
          <p:nvPr/>
        </p:nvSpPr>
        <p:spPr bwMode="auto">
          <a:xfrm>
            <a:off x="3352800" y="4343400"/>
            <a:ext cx="4572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4573" name="Oval 29"/>
          <p:cNvSpPr>
            <a:spLocks noChangeArrowheads="1"/>
          </p:cNvSpPr>
          <p:nvPr/>
        </p:nvSpPr>
        <p:spPr bwMode="auto">
          <a:xfrm>
            <a:off x="3740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4574" name="Line 30"/>
          <p:cNvSpPr>
            <a:spLocks noChangeShapeType="1"/>
          </p:cNvSpPr>
          <p:nvPr/>
        </p:nvSpPr>
        <p:spPr bwMode="auto">
          <a:xfrm flipH="1">
            <a:off x="5029200" y="4267200"/>
            <a:ext cx="4572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4575" name="Oval 31"/>
          <p:cNvSpPr>
            <a:spLocks noChangeArrowheads="1"/>
          </p:cNvSpPr>
          <p:nvPr/>
        </p:nvSpPr>
        <p:spPr bwMode="auto">
          <a:xfrm>
            <a:off x="4883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4576" name="Line 32"/>
          <p:cNvSpPr>
            <a:spLocks noChangeShapeType="1"/>
          </p:cNvSpPr>
          <p:nvPr/>
        </p:nvSpPr>
        <p:spPr bwMode="auto">
          <a:xfrm>
            <a:off x="5562600" y="4267200"/>
            <a:ext cx="5334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4577" name="Oval 33"/>
          <p:cNvSpPr>
            <a:spLocks noChangeArrowheads="1"/>
          </p:cNvSpPr>
          <p:nvPr/>
        </p:nvSpPr>
        <p:spPr bwMode="auto">
          <a:xfrm>
            <a:off x="6026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4578" name="Line 34"/>
          <p:cNvSpPr>
            <a:spLocks noChangeShapeType="1"/>
          </p:cNvSpPr>
          <p:nvPr/>
        </p:nvSpPr>
        <p:spPr bwMode="auto">
          <a:xfrm flipH="1">
            <a:off x="7239000" y="4191000"/>
            <a:ext cx="4572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4579" name="Oval 35"/>
          <p:cNvSpPr>
            <a:spLocks noChangeArrowheads="1"/>
          </p:cNvSpPr>
          <p:nvPr/>
        </p:nvSpPr>
        <p:spPr bwMode="auto">
          <a:xfrm>
            <a:off x="7169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4580" name="Line 36"/>
          <p:cNvSpPr>
            <a:spLocks noChangeShapeType="1"/>
          </p:cNvSpPr>
          <p:nvPr/>
        </p:nvSpPr>
        <p:spPr bwMode="auto">
          <a:xfrm>
            <a:off x="7848600" y="4191000"/>
            <a:ext cx="6096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4581" name="Oval 37"/>
          <p:cNvSpPr>
            <a:spLocks noChangeArrowheads="1"/>
          </p:cNvSpPr>
          <p:nvPr/>
        </p:nvSpPr>
        <p:spPr bwMode="auto">
          <a:xfrm>
            <a:off x="8312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4582" name="Oval 38"/>
          <p:cNvSpPr>
            <a:spLocks noChangeArrowheads="1"/>
          </p:cNvSpPr>
          <p:nvPr/>
        </p:nvSpPr>
        <p:spPr bwMode="auto">
          <a:xfrm>
            <a:off x="3995738" y="1196975"/>
            <a:ext cx="576262"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0</a:t>
            </a:r>
            <a:endParaRPr lang="en-US" altLang="zh-CN" sz="2400">
              <a:latin typeface="Times New Roman" panose="02020603050405020304" pitchFamily="18" charset="0"/>
            </a:endParaRPr>
          </a:p>
        </p:txBody>
      </p:sp>
      <p:sp>
        <p:nvSpPr>
          <p:cNvPr id="364583" name="Rectangle 39"/>
          <p:cNvSpPr>
            <a:spLocks noChangeArrowheads="1"/>
          </p:cNvSpPr>
          <p:nvPr/>
        </p:nvSpPr>
        <p:spPr bwMode="auto">
          <a:xfrm>
            <a:off x="0" y="5300663"/>
            <a:ext cx="108108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4</a:t>
            </a:r>
            <a:endParaRPr lang="en-US" altLang="zh-CN" sz="3200">
              <a:solidFill>
                <a:schemeClr val="hlink"/>
              </a:solidFill>
              <a:latin typeface="Times New Roman" panose="02020603050405020304" pitchFamily="18" charset="0"/>
            </a:endParaRPr>
          </a:p>
        </p:txBody>
      </p:sp>
      <p:sp>
        <p:nvSpPr>
          <p:cNvPr id="364584" name="Rectangle 40"/>
          <p:cNvSpPr>
            <a:spLocks noChangeArrowheads="1"/>
          </p:cNvSpPr>
          <p:nvPr/>
        </p:nvSpPr>
        <p:spPr bwMode="auto">
          <a:xfrm>
            <a:off x="0" y="4437063"/>
            <a:ext cx="57626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3</a:t>
            </a:r>
            <a:endParaRPr lang="en-US" altLang="zh-CN" sz="3200">
              <a:solidFill>
                <a:schemeClr val="hlink"/>
              </a:solidFill>
              <a:latin typeface="Times New Roman" panose="02020603050405020304" pitchFamily="18" charset="0"/>
            </a:endParaRPr>
          </a:p>
        </p:txBody>
      </p:sp>
      <p:sp>
        <p:nvSpPr>
          <p:cNvPr id="364585" name="Oval 41"/>
          <p:cNvSpPr>
            <a:spLocks noChangeArrowheads="1"/>
          </p:cNvSpPr>
          <p:nvPr/>
        </p:nvSpPr>
        <p:spPr bwMode="auto">
          <a:xfrm>
            <a:off x="1908175" y="2708275"/>
            <a:ext cx="576263"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8</a:t>
            </a:r>
            <a:endParaRPr lang="en-US" altLang="zh-CN" sz="2400">
              <a:latin typeface="Times New Roman" panose="02020603050405020304" pitchFamily="18" charset="0"/>
            </a:endParaRPr>
          </a:p>
        </p:txBody>
      </p:sp>
      <p:sp>
        <p:nvSpPr>
          <p:cNvPr id="364586" name="Oval 42"/>
          <p:cNvSpPr>
            <a:spLocks noChangeArrowheads="1"/>
          </p:cNvSpPr>
          <p:nvPr/>
        </p:nvSpPr>
        <p:spPr bwMode="auto">
          <a:xfrm>
            <a:off x="827088" y="4005263"/>
            <a:ext cx="576262" cy="576262"/>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14</a:t>
            </a:r>
            <a:endParaRPr lang="en-US" altLang="zh-CN" sz="2400">
              <a:latin typeface="Times New Roman" panose="02020603050405020304" pitchFamily="18" charset="0"/>
            </a:endParaRPr>
          </a:p>
        </p:txBody>
      </p:sp>
      <p:sp>
        <p:nvSpPr>
          <p:cNvPr id="364587" name="Oval 43"/>
          <p:cNvSpPr>
            <a:spLocks noChangeArrowheads="1"/>
          </p:cNvSpPr>
          <p:nvPr/>
        </p:nvSpPr>
        <p:spPr bwMode="auto">
          <a:xfrm>
            <a:off x="2987675" y="3933825"/>
            <a:ext cx="576263"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8</a:t>
            </a:r>
            <a:endParaRPr lang="en-US" altLang="zh-CN" sz="2400">
              <a:latin typeface="Times New Roman" panose="02020603050405020304" pitchFamily="18" charset="0"/>
            </a:endParaRPr>
          </a:p>
        </p:txBody>
      </p:sp>
      <p:sp>
        <p:nvSpPr>
          <p:cNvPr id="364588" name="Rectangle 44"/>
          <p:cNvSpPr>
            <a:spLocks noChangeArrowheads="1"/>
          </p:cNvSpPr>
          <p:nvPr/>
        </p:nvSpPr>
        <p:spPr bwMode="auto">
          <a:xfrm>
            <a:off x="2268538" y="5373688"/>
            <a:ext cx="4143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2400">
                <a:solidFill>
                  <a:schemeClr val="hlink"/>
                </a:solidFill>
                <a:latin typeface="Times New Roman" panose="02020603050405020304" pitchFamily="18" charset="0"/>
              </a:rPr>
              <a:t>1</a:t>
            </a:r>
            <a:endParaRPr lang="en-US" altLang="zh-CN" sz="2400">
              <a:solidFill>
                <a:schemeClr val="hlink"/>
              </a:solidFill>
              <a:latin typeface="Times New Roman" panose="02020603050405020304" pitchFamily="18" charset="0"/>
            </a:endParaRPr>
          </a:p>
        </p:txBody>
      </p:sp>
      <p:sp>
        <p:nvSpPr>
          <p:cNvPr id="364589" name="Rectangle 45"/>
          <p:cNvSpPr>
            <a:spLocks noChangeArrowheads="1"/>
          </p:cNvSpPr>
          <p:nvPr/>
        </p:nvSpPr>
        <p:spPr bwMode="auto">
          <a:xfrm>
            <a:off x="2843213" y="5373688"/>
            <a:ext cx="4524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2400">
                <a:solidFill>
                  <a:schemeClr val="hlink"/>
                </a:solidFill>
                <a:latin typeface="Times New Roman" panose="02020603050405020304" pitchFamily="18" charset="0"/>
              </a:rPr>
              <a:t>0</a:t>
            </a:r>
            <a:endParaRPr lang="en-US" altLang="zh-CN" sz="2400">
              <a:solidFill>
                <a:schemeClr val="hlink"/>
              </a:solidFill>
              <a:latin typeface="Times New Roman" panose="02020603050405020304" pitchFamily="18" charset="0"/>
            </a:endParaRPr>
          </a:p>
        </p:txBody>
      </p:sp>
      <p:sp>
        <p:nvSpPr>
          <p:cNvPr id="364590" name="Rectangle 46"/>
          <p:cNvSpPr>
            <a:spLocks noChangeArrowheads="1"/>
          </p:cNvSpPr>
          <p:nvPr/>
        </p:nvSpPr>
        <p:spPr bwMode="auto">
          <a:xfrm>
            <a:off x="2771775" y="6237288"/>
            <a:ext cx="12255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400">
                <a:solidFill>
                  <a:srgbClr val="993300"/>
                </a:solidFill>
                <a:latin typeface="Times New Roman" panose="02020603050405020304" pitchFamily="18" charset="0"/>
              </a:rPr>
              <a:t>[1,0,1,0]</a:t>
            </a:r>
            <a:endParaRPr lang="en-US" altLang="zh-CN" sz="2400">
              <a:solidFill>
                <a:srgbClr val="993300"/>
              </a:solidFill>
              <a:latin typeface="Times New Roman" panose="02020603050405020304" pitchFamily="18" charset="0"/>
            </a:endParaRPr>
          </a:p>
        </p:txBody>
      </p:sp>
      <p:sp>
        <p:nvSpPr>
          <p:cNvPr id="364591" name="Oval 47"/>
          <p:cNvSpPr>
            <a:spLocks noChangeArrowheads="1"/>
          </p:cNvSpPr>
          <p:nvPr/>
        </p:nvSpPr>
        <p:spPr bwMode="auto">
          <a:xfrm>
            <a:off x="6300788" y="1268413"/>
            <a:ext cx="576262" cy="576262"/>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i="1">
                <a:latin typeface="Times New Roman" panose="02020603050405020304" pitchFamily="18" charset="0"/>
              </a:rPr>
              <a:t>C</a:t>
            </a:r>
            <a:r>
              <a:rPr lang="en-US" altLang="zh-CN" sz="2400">
                <a:latin typeface="Times New Roman" panose="02020603050405020304" pitchFamily="18" charset="0"/>
              </a:rPr>
              <a:t>(</a:t>
            </a:r>
            <a:r>
              <a:rPr lang="en-US" altLang="zh-CN" sz="2400" i="1">
                <a:latin typeface="Times New Roman" panose="02020603050405020304" pitchFamily="18" charset="0"/>
              </a:rPr>
              <a:t>t</a:t>
            </a:r>
            <a:r>
              <a:rPr lang="en-US" altLang="zh-CN" sz="2400">
                <a:latin typeface="Times New Roman" panose="02020603050405020304" pitchFamily="18" charset="0"/>
              </a:rPr>
              <a:t>)</a:t>
            </a:r>
            <a:endParaRPr lang="en-US" altLang="zh-CN" sz="2400">
              <a:latin typeface="Times New Roman" panose="02020603050405020304" pitchFamily="18" charset="0"/>
            </a:endParaRPr>
          </a:p>
        </p:txBody>
      </p:sp>
      <p:sp>
        <p:nvSpPr>
          <p:cNvPr id="364592" name="Rectangle 48"/>
          <p:cNvSpPr>
            <a:spLocks noChangeArrowheads="1"/>
          </p:cNvSpPr>
          <p:nvPr/>
        </p:nvSpPr>
        <p:spPr bwMode="auto">
          <a:xfrm>
            <a:off x="6948488" y="1268413"/>
            <a:ext cx="1528762"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400">
                <a:solidFill>
                  <a:schemeClr val="tx2"/>
                </a:solidFill>
                <a:latin typeface="Times New Roman" panose="02020603050405020304" pitchFamily="18" charset="0"/>
              </a:rPr>
              <a:t>Live </a:t>
            </a:r>
            <a:r>
              <a:rPr lang="en-US" altLang="zh-CN" sz="2400">
                <a:latin typeface="Times New Roman" panose="02020603050405020304" pitchFamily="18" charset="0"/>
              </a:rPr>
              <a:t>nodes</a:t>
            </a:r>
            <a:endParaRPr lang="en-US" altLang="zh-CN" sz="2400">
              <a:latin typeface="Times New Roman" panose="02020603050405020304" pitchFamily="18" charset="0"/>
            </a:endParaRPr>
          </a:p>
        </p:txBody>
      </p:sp>
      <p:grpSp>
        <p:nvGrpSpPr>
          <p:cNvPr id="364593" name="Group 49"/>
          <p:cNvGrpSpPr/>
          <p:nvPr/>
        </p:nvGrpSpPr>
        <p:grpSpPr bwMode="auto">
          <a:xfrm>
            <a:off x="6400800" y="1989138"/>
            <a:ext cx="2743200" cy="457200"/>
            <a:chOff x="768" y="3600"/>
            <a:chExt cx="1728" cy="288"/>
          </a:xfrm>
        </p:grpSpPr>
        <p:sp>
          <p:nvSpPr>
            <p:cNvPr id="364594" name="Oval 50"/>
            <p:cNvSpPr>
              <a:spLocks noChangeArrowheads="1"/>
            </p:cNvSpPr>
            <p:nvPr/>
          </p:nvSpPr>
          <p:spPr bwMode="auto">
            <a:xfrm>
              <a:off x="768" y="3648"/>
              <a:ext cx="192" cy="192"/>
            </a:xfrm>
            <a:prstGeom prst="ellipse">
              <a:avLst/>
            </a:prstGeom>
            <a:solidFill>
              <a:schemeClr val="tx1"/>
            </a:solidFill>
            <a:ln w="15875">
              <a:solidFill>
                <a:schemeClr val="bg2"/>
              </a:solidFill>
              <a:rou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4595" name="Text Box 51"/>
            <p:cNvSpPr txBox="1">
              <a:spLocks noChangeArrowheads="1"/>
            </p:cNvSpPr>
            <p:nvPr/>
          </p:nvSpPr>
          <p:spPr bwMode="auto">
            <a:xfrm>
              <a:off x="1008" y="3600"/>
              <a:ext cx="14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sz="2400">
                  <a:solidFill>
                    <a:schemeClr val="tx2"/>
                  </a:solidFill>
                  <a:latin typeface="Times New Roman" panose="02020603050405020304" pitchFamily="18" charset="0"/>
                </a:rPr>
                <a:t>Dead </a:t>
              </a:r>
              <a:r>
                <a:rPr lang="en-US" altLang="zh-CN" sz="2400">
                  <a:latin typeface="Times New Roman" panose="02020603050405020304" pitchFamily="18" charset="0"/>
                </a:rPr>
                <a:t>nodes</a:t>
              </a:r>
              <a:endParaRPr lang="en-US" altLang="zh-CN" sz="2400">
                <a:latin typeface="Times New Roman" panose="02020603050405020304" pitchFamily="18" charset="0"/>
              </a:endParaRPr>
            </a:p>
          </p:txBody>
        </p:sp>
      </p:grpSp>
      <p:sp>
        <p:nvSpPr>
          <p:cNvPr id="364596" name="Oval 52"/>
          <p:cNvSpPr>
            <a:spLocks noChangeArrowheads="1"/>
          </p:cNvSpPr>
          <p:nvPr/>
        </p:nvSpPr>
        <p:spPr bwMode="auto">
          <a:xfrm>
            <a:off x="827088" y="4005263"/>
            <a:ext cx="576262" cy="577850"/>
          </a:xfrm>
          <a:prstGeom prst="ellipse">
            <a:avLst/>
          </a:prstGeom>
          <a:solidFill>
            <a:schemeClr val="tx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64597" name="Group 53"/>
          <p:cNvGrpSpPr/>
          <p:nvPr/>
        </p:nvGrpSpPr>
        <p:grpSpPr bwMode="auto">
          <a:xfrm>
            <a:off x="82550" y="5334000"/>
            <a:ext cx="8750300" cy="755650"/>
            <a:chOff x="52" y="3360"/>
            <a:chExt cx="5512" cy="476"/>
          </a:xfrm>
        </p:grpSpPr>
        <p:sp>
          <p:nvSpPr>
            <p:cNvPr id="364598" name="Oval 54"/>
            <p:cNvSpPr>
              <a:spLocks noChangeArrowheads="1"/>
            </p:cNvSpPr>
            <p:nvPr/>
          </p:nvSpPr>
          <p:spPr bwMode="auto">
            <a:xfrm>
              <a:off x="5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4599" name="Oval 55"/>
            <p:cNvSpPr>
              <a:spLocks noChangeArrowheads="1"/>
            </p:cNvSpPr>
            <p:nvPr/>
          </p:nvSpPr>
          <p:spPr bwMode="auto">
            <a:xfrm>
              <a:off x="38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4600" name="Oval 56"/>
            <p:cNvSpPr>
              <a:spLocks noChangeArrowheads="1"/>
            </p:cNvSpPr>
            <p:nvPr/>
          </p:nvSpPr>
          <p:spPr bwMode="auto">
            <a:xfrm>
              <a:off x="77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4601" name="Oval 57"/>
            <p:cNvSpPr>
              <a:spLocks noChangeArrowheads="1"/>
            </p:cNvSpPr>
            <p:nvPr/>
          </p:nvSpPr>
          <p:spPr bwMode="auto">
            <a:xfrm>
              <a:off x="110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4602" name="Oval 58"/>
            <p:cNvSpPr>
              <a:spLocks noChangeArrowheads="1"/>
            </p:cNvSpPr>
            <p:nvPr/>
          </p:nvSpPr>
          <p:spPr bwMode="auto">
            <a:xfrm>
              <a:off x="149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4603" name="Oval 59"/>
            <p:cNvSpPr>
              <a:spLocks noChangeArrowheads="1"/>
            </p:cNvSpPr>
            <p:nvPr/>
          </p:nvSpPr>
          <p:spPr bwMode="auto">
            <a:xfrm>
              <a:off x="1828" y="3700"/>
              <a:ext cx="136" cy="136"/>
            </a:xfrm>
            <a:prstGeom prst="ellipse">
              <a:avLst/>
            </a:prstGeom>
            <a:solidFill>
              <a:srgbClr val="FF000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4604" name="Oval 60"/>
            <p:cNvSpPr>
              <a:spLocks noChangeArrowheads="1"/>
            </p:cNvSpPr>
            <p:nvPr/>
          </p:nvSpPr>
          <p:spPr bwMode="auto">
            <a:xfrm>
              <a:off x="221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4605" name="Oval 61"/>
            <p:cNvSpPr>
              <a:spLocks noChangeArrowheads="1"/>
            </p:cNvSpPr>
            <p:nvPr/>
          </p:nvSpPr>
          <p:spPr bwMode="auto">
            <a:xfrm>
              <a:off x="254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4606" name="Oval 62"/>
            <p:cNvSpPr>
              <a:spLocks noChangeArrowheads="1"/>
            </p:cNvSpPr>
            <p:nvPr/>
          </p:nvSpPr>
          <p:spPr bwMode="auto">
            <a:xfrm>
              <a:off x="293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4607" name="Oval 63"/>
            <p:cNvSpPr>
              <a:spLocks noChangeArrowheads="1"/>
            </p:cNvSpPr>
            <p:nvPr/>
          </p:nvSpPr>
          <p:spPr bwMode="auto">
            <a:xfrm>
              <a:off x="326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4608" name="Oval 64"/>
            <p:cNvSpPr>
              <a:spLocks noChangeArrowheads="1"/>
            </p:cNvSpPr>
            <p:nvPr/>
          </p:nvSpPr>
          <p:spPr bwMode="auto">
            <a:xfrm>
              <a:off x="365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4609" name="Oval 65"/>
            <p:cNvSpPr>
              <a:spLocks noChangeArrowheads="1"/>
            </p:cNvSpPr>
            <p:nvPr/>
          </p:nvSpPr>
          <p:spPr bwMode="auto">
            <a:xfrm>
              <a:off x="398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4610" name="Oval 66"/>
            <p:cNvSpPr>
              <a:spLocks noChangeArrowheads="1"/>
            </p:cNvSpPr>
            <p:nvPr/>
          </p:nvSpPr>
          <p:spPr bwMode="auto">
            <a:xfrm>
              <a:off x="437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4611" name="Oval 67"/>
            <p:cNvSpPr>
              <a:spLocks noChangeArrowheads="1"/>
            </p:cNvSpPr>
            <p:nvPr/>
          </p:nvSpPr>
          <p:spPr bwMode="auto">
            <a:xfrm>
              <a:off x="470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4612" name="Oval 68"/>
            <p:cNvSpPr>
              <a:spLocks noChangeArrowheads="1"/>
            </p:cNvSpPr>
            <p:nvPr/>
          </p:nvSpPr>
          <p:spPr bwMode="auto">
            <a:xfrm>
              <a:off x="509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4613" name="Oval 69"/>
            <p:cNvSpPr>
              <a:spLocks noChangeArrowheads="1"/>
            </p:cNvSpPr>
            <p:nvPr/>
          </p:nvSpPr>
          <p:spPr bwMode="auto">
            <a:xfrm>
              <a:off x="542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4614" name="Line 70"/>
            <p:cNvSpPr>
              <a:spLocks noChangeShapeType="1"/>
            </p:cNvSpPr>
            <p:nvPr/>
          </p:nvSpPr>
          <p:spPr bwMode="auto">
            <a:xfrm flipH="1">
              <a:off x="96" y="3360"/>
              <a:ext cx="192"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4615" name="Line 71"/>
            <p:cNvSpPr>
              <a:spLocks noChangeShapeType="1"/>
            </p:cNvSpPr>
            <p:nvPr/>
          </p:nvSpPr>
          <p:spPr bwMode="auto">
            <a:xfrm>
              <a:off x="336" y="3360"/>
              <a:ext cx="96"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4616" name="Line 72"/>
            <p:cNvSpPr>
              <a:spLocks noChangeShapeType="1"/>
            </p:cNvSpPr>
            <p:nvPr/>
          </p:nvSpPr>
          <p:spPr bwMode="auto">
            <a:xfrm flipH="1">
              <a:off x="864" y="3360"/>
              <a:ext cx="96"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4617" name="Line 73"/>
            <p:cNvSpPr>
              <a:spLocks noChangeShapeType="1"/>
            </p:cNvSpPr>
            <p:nvPr/>
          </p:nvSpPr>
          <p:spPr bwMode="auto">
            <a:xfrm>
              <a:off x="1008"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4618" name="Line 74"/>
            <p:cNvSpPr>
              <a:spLocks noChangeShapeType="1"/>
            </p:cNvSpPr>
            <p:nvPr/>
          </p:nvSpPr>
          <p:spPr bwMode="auto">
            <a:xfrm flipH="1">
              <a:off x="1584" y="3360"/>
              <a:ext cx="96"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4619" name="Line 75"/>
            <p:cNvSpPr>
              <a:spLocks noChangeShapeType="1"/>
            </p:cNvSpPr>
            <p:nvPr/>
          </p:nvSpPr>
          <p:spPr bwMode="auto">
            <a:xfrm>
              <a:off x="1728"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4620" name="Line 76"/>
            <p:cNvSpPr>
              <a:spLocks noChangeShapeType="1"/>
            </p:cNvSpPr>
            <p:nvPr/>
          </p:nvSpPr>
          <p:spPr bwMode="auto">
            <a:xfrm flipH="1">
              <a:off x="2304" y="3360"/>
              <a:ext cx="96"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4621" name="Line 77"/>
            <p:cNvSpPr>
              <a:spLocks noChangeShapeType="1"/>
            </p:cNvSpPr>
            <p:nvPr/>
          </p:nvSpPr>
          <p:spPr bwMode="auto">
            <a:xfrm>
              <a:off x="2448"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4622" name="Line 78"/>
            <p:cNvSpPr>
              <a:spLocks noChangeShapeType="1"/>
            </p:cNvSpPr>
            <p:nvPr/>
          </p:nvSpPr>
          <p:spPr bwMode="auto">
            <a:xfrm flipH="1">
              <a:off x="2976"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4623" name="Line 79"/>
            <p:cNvSpPr>
              <a:spLocks noChangeShapeType="1"/>
            </p:cNvSpPr>
            <p:nvPr/>
          </p:nvSpPr>
          <p:spPr bwMode="auto">
            <a:xfrm>
              <a:off x="3168" y="3360"/>
              <a:ext cx="192"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4624" name="Line 80"/>
            <p:cNvSpPr>
              <a:spLocks noChangeShapeType="1"/>
            </p:cNvSpPr>
            <p:nvPr/>
          </p:nvSpPr>
          <p:spPr bwMode="auto">
            <a:xfrm flipH="1">
              <a:off x="3696"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4625" name="Line 81"/>
            <p:cNvSpPr>
              <a:spLocks noChangeShapeType="1"/>
            </p:cNvSpPr>
            <p:nvPr/>
          </p:nvSpPr>
          <p:spPr bwMode="auto">
            <a:xfrm>
              <a:off x="3888" y="3360"/>
              <a:ext cx="192"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4626" name="Line 82"/>
            <p:cNvSpPr>
              <a:spLocks noChangeShapeType="1"/>
            </p:cNvSpPr>
            <p:nvPr/>
          </p:nvSpPr>
          <p:spPr bwMode="auto">
            <a:xfrm flipH="1">
              <a:off x="4416"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4627" name="Line 83"/>
            <p:cNvSpPr>
              <a:spLocks noChangeShapeType="1"/>
            </p:cNvSpPr>
            <p:nvPr/>
          </p:nvSpPr>
          <p:spPr bwMode="auto">
            <a:xfrm>
              <a:off x="4608" y="3360"/>
              <a:ext cx="192"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4628" name="Line 84"/>
            <p:cNvSpPr>
              <a:spLocks noChangeShapeType="1"/>
            </p:cNvSpPr>
            <p:nvPr/>
          </p:nvSpPr>
          <p:spPr bwMode="auto">
            <a:xfrm flipH="1">
              <a:off x="5136"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4629" name="Line 85"/>
            <p:cNvSpPr>
              <a:spLocks noChangeShapeType="1"/>
            </p:cNvSpPr>
            <p:nvPr/>
          </p:nvSpPr>
          <p:spPr bwMode="auto">
            <a:xfrm>
              <a:off x="5328" y="3360"/>
              <a:ext cx="192"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64630" name="Oval 86"/>
          <p:cNvSpPr>
            <a:spLocks noChangeArrowheads="1"/>
          </p:cNvSpPr>
          <p:nvPr/>
        </p:nvSpPr>
        <p:spPr bwMode="auto">
          <a:xfrm>
            <a:off x="2411413" y="4941888"/>
            <a:ext cx="576262" cy="576262"/>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10</a:t>
            </a:r>
            <a:endParaRPr lang="en-US" altLang="zh-CN" sz="2400">
              <a:latin typeface="Times New Roman" panose="02020603050405020304" pitchFamily="18" charset="0"/>
            </a:endParaRPr>
          </a:p>
        </p:txBody>
      </p:sp>
      <p:sp>
        <p:nvSpPr>
          <p:cNvPr id="364631" name="Oval 87"/>
          <p:cNvSpPr>
            <a:spLocks noChangeArrowheads="1"/>
          </p:cNvSpPr>
          <p:nvPr/>
        </p:nvSpPr>
        <p:spPr bwMode="auto">
          <a:xfrm>
            <a:off x="2124075" y="5734050"/>
            <a:ext cx="576263"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13</a:t>
            </a:r>
            <a:endParaRPr lang="en-US" altLang="zh-CN" sz="2400">
              <a:latin typeface="Times New Roman" panose="02020603050405020304" pitchFamily="18" charset="0"/>
            </a:endParaRPr>
          </a:p>
        </p:txBody>
      </p:sp>
      <p:sp>
        <p:nvSpPr>
          <p:cNvPr id="364632" name="Oval 88"/>
          <p:cNvSpPr>
            <a:spLocks noChangeArrowheads="1"/>
          </p:cNvSpPr>
          <p:nvPr/>
        </p:nvSpPr>
        <p:spPr bwMode="auto">
          <a:xfrm>
            <a:off x="2124075" y="5734050"/>
            <a:ext cx="576263" cy="577850"/>
          </a:xfrm>
          <a:prstGeom prst="ellipse">
            <a:avLst/>
          </a:prstGeom>
          <a:solidFill>
            <a:schemeClr val="tx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4633" name="Oval 89"/>
          <p:cNvSpPr>
            <a:spLocks noChangeArrowheads="1"/>
          </p:cNvSpPr>
          <p:nvPr/>
        </p:nvSpPr>
        <p:spPr bwMode="auto">
          <a:xfrm>
            <a:off x="2700338" y="5734050"/>
            <a:ext cx="576262"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10</a:t>
            </a:r>
            <a:endParaRPr lang="en-US" altLang="zh-CN" sz="2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4582"/>
                                        </p:tgtEl>
                                        <p:attrNameLst>
                                          <p:attrName>style.visibility</p:attrName>
                                        </p:attrNameLst>
                                      </p:cBhvr>
                                      <p:to>
                                        <p:strVal val="visible"/>
                                      </p:to>
                                    </p:set>
                                    <p:anim calcmode="lin" valueType="num">
                                      <p:cBhvr additive="base">
                                        <p:cTn id="7" dur="500" fill="hold"/>
                                        <p:tgtEl>
                                          <p:spTgt spid="364582"/>
                                        </p:tgtEl>
                                        <p:attrNameLst>
                                          <p:attrName>ppt_x</p:attrName>
                                        </p:attrNameLst>
                                      </p:cBhvr>
                                      <p:tavLst>
                                        <p:tav tm="0">
                                          <p:val>
                                            <p:strVal val="#ppt_x"/>
                                          </p:val>
                                        </p:tav>
                                        <p:tav tm="100000">
                                          <p:val>
                                            <p:strVal val="#ppt_x"/>
                                          </p:val>
                                        </p:tav>
                                      </p:tavLst>
                                    </p:anim>
                                    <p:anim calcmode="lin" valueType="num">
                                      <p:cBhvr additive="base">
                                        <p:cTn id="8" dur="500" fill="hold"/>
                                        <p:tgtEl>
                                          <p:spTgt spid="36458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64550"/>
                                        </p:tgtEl>
                                        <p:attrNameLst>
                                          <p:attrName>style.visibility</p:attrName>
                                        </p:attrNameLst>
                                      </p:cBhvr>
                                      <p:to>
                                        <p:strVal val="visible"/>
                                      </p:to>
                                    </p:set>
                                    <p:anim calcmode="lin" valueType="num">
                                      <p:cBhvr additive="base">
                                        <p:cTn id="13" dur="500" fill="hold"/>
                                        <p:tgtEl>
                                          <p:spTgt spid="364550"/>
                                        </p:tgtEl>
                                        <p:attrNameLst>
                                          <p:attrName>ppt_x</p:attrName>
                                        </p:attrNameLst>
                                      </p:cBhvr>
                                      <p:tavLst>
                                        <p:tav tm="0">
                                          <p:val>
                                            <p:strVal val="#ppt_x"/>
                                          </p:val>
                                        </p:tav>
                                        <p:tav tm="100000">
                                          <p:val>
                                            <p:strVal val="#ppt_x"/>
                                          </p:val>
                                        </p:tav>
                                      </p:tavLst>
                                    </p:anim>
                                    <p:anim calcmode="lin" valueType="num">
                                      <p:cBhvr additive="base">
                                        <p:cTn id="14" dur="500" fill="hold"/>
                                        <p:tgtEl>
                                          <p:spTgt spid="36455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64585"/>
                                        </p:tgtEl>
                                        <p:attrNameLst>
                                          <p:attrName>style.visibility</p:attrName>
                                        </p:attrNameLst>
                                      </p:cBhvr>
                                      <p:to>
                                        <p:strVal val="visible"/>
                                      </p:to>
                                    </p:set>
                                    <p:anim calcmode="lin" valueType="num">
                                      <p:cBhvr additive="base">
                                        <p:cTn id="19" dur="500" fill="hold"/>
                                        <p:tgtEl>
                                          <p:spTgt spid="364585"/>
                                        </p:tgtEl>
                                        <p:attrNameLst>
                                          <p:attrName>ppt_x</p:attrName>
                                        </p:attrNameLst>
                                      </p:cBhvr>
                                      <p:tavLst>
                                        <p:tav tm="0">
                                          <p:val>
                                            <p:strVal val="#ppt_x"/>
                                          </p:val>
                                        </p:tav>
                                        <p:tav tm="100000">
                                          <p:val>
                                            <p:strVal val="#ppt_x"/>
                                          </p:val>
                                        </p:tav>
                                      </p:tavLst>
                                    </p:anim>
                                    <p:anim calcmode="lin" valueType="num">
                                      <p:cBhvr additive="base">
                                        <p:cTn id="20" dur="500" fill="hold"/>
                                        <p:tgtEl>
                                          <p:spTgt spid="36458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64556"/>
                                        </p:tgtEl>
                                        <p:attrNameLst>
                                          <p:attrName>style.visibility</p:attrName>
                                        </p:attrNameLst>
                                      </p:cBhvr>
                                      <p:to>
                                        <p:strVal val="visible"/>
                                      </p:to>
                                    </p:set>
                                    <p:anim calcmode="lin" valueType="num">
                                      <p:cBhvr additive="base">
                                        <p:cTn id="25" dur="500" fill="hold"/>
                                        <p:tgtEl>
                                          <p:spTgt spid="364556"/>
                                        </p:tgtEl>
                                        <p:attrNameLst>
                                          <p:attrName>ppt_x</p:attrName>
                                        </p:attrNameLst>
                                      </p:cBhvr>
                                      <p:tavLst>
                                        <p:tav tm="0">
                                          <p:val>
                                            <p:strVal val="#ppt_x"/>
                                          </p:val>
                                        </p:tav>
                                        <p:tav tm="100000">
                                          <p:val>
                                            <p:strVal val="#ppt_x"/>
                                          </p:val>
                                        </p:tav>
                                      </p:tavLst>
                                    </p:anim>
                                    <p:anim calcmode="lin" valueType="num">
                                      <p:cBhvr additive="base">
                                        <p:cTn id="26" dur="500" fill="hold"/>
                                        <p:tgtEl>
                                          <p:spTgt spid="36455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64586"/>
                                        </p:tgtEl>
                                        <p:attrNameLst>
                                          <p:attrName>style.visibility</p:attrName>
                                        </p:attrNameLst>
                                      </p:cBhvr>
                                      <p:to>
                                        <p:strVal val="visible"/>
                                      </p:to>
                                    </p:set>
                                    <p:anim calcmode="lin" valueType="num">
                                      <p:cBhvr additive="base">
                                        <p:cTn id="31" dur="500" fill="hold"/>
                                        <p:tgtEl>
                                          <p:spTgt spid="364586"/>
                                        </p:tgtEl>
                                        <p:attrNameLst>
                                          <p:attrName>ppt_x</p:attrName>
                                        </p:attrNameLst>
                                      </p:cBhvr>
                                      <p:tavLst>
                                        <p:tav tm="0">
                                          <p:val>
                                            <p:strVal val="#ppt_x"/>
                                          </p:val>
                                        </p:tav>
                                        <p:tav tm="100000">
                                          <p:val>
                                            <p:strVal val="#ppt_x"/>
                                          </p:val>
                                        </p:tav>
                                      </p:tavLst>
                                    </p:anim>
                                    <p:anim calcmode="lin" valueType="num">
                                      <p:cBhvr additive="base">
                                        <p:cTn id="32" dur="500" fill="hold"/>
                                        <p:tgtEl>
                                          <p:spTgt spid="36458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64596"/>
                                        </p:tgtEl>
                                        <p:attrNameLst>
                                          <p:attrName>style.visibility</p:attrName>
                                        </p:attrNameLst>
                                      </p:cBhvr>
                                      <p:to>
                                        <p:strVal val="visible"/>
                                      </p:to>
                                    </p:set>
                                    <p:anim calcmode="lin" valueType="num">
                                      <p:cBhvr additive="base">
                                        <p:cTn id="37" dur="500" fill="hold"/>
                                        <p:tgtEl>
                                          <p:spTgt spid="364596"/>
                                        </p:tgtEl>
                                        <p:attrNameLst>
                                          <p:attrName>ppt_x</p:attrName>
                                        </p:attrNameLst>
                                      </p:cBhvr>
                                      <p:tavLst>
                                        <p:tav tm="0">
                                          <p:val>
                                            <p:strVal val="#ppt_x"/>
                                          </p:val>
                                        </p:tav>
                                        <p:tav tm="100000">
                                          <p:val>
                                            <p:strVal val="#ppt_x"/>
                                          </p:val>
                                        </p:tav>
                                      </p:tavLst>
                                    </p:anim>
                                    <p:anim calcmode="lin" valueType="num">
                                      <p:cBhvr additive="base">
                                        <p:cTn id="38" dur="500" fill="hold"/>
                                        <p:tgtEl>
                                          <p:spTgt spid="36459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xit" presetSubtype="4" fill="hold" grpId="1" nodeType="clickEffect">
                                  <p:stCondLst>
                                    <p:cond delay="0"/>
                                  </p:stCondLst>
                                  <p:childTnLst>
                                    <p:anim calcmode="lin" valueType="num">
                                      <p:cBhvr additive="base">
                                        <p:cTn id="42" dur="500"/>
                                        <p:tgtEl>
                                          <p:spTgt spid="364556"/>
                                        </p:tgtEl>
                                        <p:attrNameLst>
                                          <p:attrName>ppt_x</p:attrName>
                                        </p:attrNameLst>
                                      </p:cBhvr>
                                      <p:tavLst>
                                        <p:tav tm="0">
                                          <p:val>
                                            <p:strVal val="ppt_x"/>
                                          </p:val>
                                        </p:tav>
                                        <p:tav tm="100000">
                                          <p:val>
                                            <p:strVal val="ppt_x"/>
                                          </p:val>
                                        </p:tav>
                                      </p:tavLst>
                                    </p:anim>
                                    <p:anim calcmode="lin" valueType="num">
                                      <p:cBhvr additive="base">
                                        <p:cTn id="43" dur="500"/>
                                        <p:tgtEl>
                                          <p:spTgt spid="364556"/>
                                        </p:tgtEl>
                                        <p:attrNameLst>
                                          <p:attrName>ppt_y</p:attrName>
                                        </p:attrNameLst>
                                      </p:cBhvr>
                                      <p:tavLst>
                                        <p:tav tm="0">
                                          <p:val>
                                            <p:strVal val="ppt_y"/>
                                          </p:val>
                                        </p:tav>
                                        <p:tav tm="100000">
                                          <p:val>
                                            <p:strVal val="1+ppt_h/2"/>
                                          </p:val>
                                        </p:tav>
                                      </p:tavLst>
                                    </p:anim>
                                    <p:set>
                                      <p:cBhvr>
                                        <p:cTn id="44" dur="1" fill="hold">
                                          <p:stCondLst>
                                            <p:cond delay="499"/>
                                          </p:stCondLst>
                                        </p:cTn>
                                        <p:tgtEl>
                                          <p:spTgt spid="364556"/>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64559"/>
                                        </p:tgtEl>
                                        <p:attrNameLst>
                                          <p:attrName>style.visibility</p:attrName>
                                        </p:attrNameLst>
                                      </p:cBhvr>
                                      <p:to>
                                        <p:strVal val="visible"/>
                                      </p:to>
                                    </p:set>
                                    <p:anim calcmode="lin" valueType="num">
                                      <p:cBhvr additive="base">
                                        <p:cTn id="49" dur="500" fill="hold"/>
                                        <p:tgtEl>
                                          <p:spTgt spid="364559"/>
                                        </p:tgtEl>
                                        <p:attrNameLst>
                                          <p:attrName>ppt_x</p:attrName>
                                        </p:attrNameLst>
                                      </p:cBhvr>
                                      <p:tavLst>
                                        <p:tav tm="0">
                                          <p:val>
                                            <p:strVal val="#ppt_x"/>
                                          </p:val>
                                        </p:tav>
                                        <p:tav tm="100000">
                                          <p:val>
                                            <p:strVal val="#ppt_x"/>
                                          </p:val>
                                        </p:tav>
                                      </p:tavLst>
                                    </p:anim>
                                    <p:anim calcmode="lin" valueType="num">
                                      <p:cBhvr additive="base">
                                        <p:cTn id="50" dur="500" fill="hold"/>
                                        <p:tgtEl>
                                          <p:spTgt spid="364559"/>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64587"/>
                                        </p:tgtEl>
                                        <p:attrNameLst>
                                          <p:attrName>style.visibility</p:attrName>
                                        </p:attrNameLst>
                                      </p:cBhvr>
                                      <p:to>
                                        <p:strVal val="visible"/>
                                      </p:to>
                                    </p:set>
                                    <p:anim calcmode="lin" valueType="num">
                                      <p:cBhvr additive="base">
                                        <p:cTn id="55" dur="500" fill="hold"/>
                                        <p:tgtEl>
                                          <p:spTgt spid="364587"/>
                                        </p:tgtEl>
                                        <p:attrNameLst>
                                          <p:attrName>ppt_x</p:attrName>
                                        </p:attrNameLst>
                                      </p:cBhvr>
                                      <p:tavLst>
                                        <p:tav tm="0">
                                          <p:val>
                                            <p:strVal val="#ppt_x"/>
                                          </p:val>
                                        </p:tav>
                                        <p:tav tm="100000">
                                          <p:val>
                                            <p:strVal val="#ppt_x"/>
                                          </p:val>
                                        </p:tav>
                                      </p:tavLst>
                                    </p:anim>
                                    <p:anim calcmode="lin" valueType="num">
                                      <p:cBhvr additive="base">
                                        <p:cTn id="56" dur="500" fill="hold"/>
                                        <p:tgtEl>
                                          <p:spTgt spid="364587"/>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64562"/>
                                        </p:tgtEl>
                                        <p:attrNameLst>
                                          <p:attrName>style.visibility</p:attrName>
                                        </p:attrNameLst>
                                      </p:cBhvr>
                                      <p:to>
                                        <p:strVal val="visible"/>
                                      </p:to>
                                    </p:set>
                                    <p:anim calcmode="lin" valueType="num">
                                      <p:cBhvr additive="base">
                                        <p:cTn id="61" dur="500" fill="hold"/>
                                        <p:tgtEl>
                                          <p:spTgt spid="364562"/>
                                        </p:tgtEl>
                                        <p:attrNameLst>
                                          <p:attrName>ppt_x</p:attrName>
                                        </p:attrNameLst>
                                      </p:cBhvr>
                                      <p:tavLst>
                                        <p:tav tm="0">
                                          <p:val>
                                            <p:strVal val="#ppt_x"/>
                                          </p:val>
                                        </p:tav>
                                        <p:tav tm="100000">
                                          <p:val>
                                            <p:strVal val="#ppt_x"/>
                                          </p:val>
                                        </p:tav>
                                      </p:tavLst>
                                    </p:anim>
                                    <p:anim calcmode="lin" valueType="num">
                                      <p:cBhvr additive="base">
                                        <p:cTn id="62" dur="500" fill="hold"/>
                                        <p:tgtEl>
                                          <p:spTgt spid="364562"/>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64630"/>
                                        </p:tgtEl>
                                        <p:attrNameLst>
                                          <p:attrName>style.visibility</p:attrName>
                                        </p:attrNameLst>
                                      </p:cBhvr>
                                      <p:to>
                                        <p:strVal val="visible"/>
                                      </p:to>
                                    </p:set>
                                    <p:anim calcmode="lin" valueType="num">
                                      <p:cBhvr additive="base">
                                        <p:cTn id="67" dur="500" fill="hold"/>
                                        <p:tgtEl>
                                          <p:spTgt spid="364630"/>
                                        </p:tgtEl>
                                        <p:attrNameLst>
                                          <p:attrName>ppt_x</p:attrName>
                                        </p:attrNameLst>
                                      </p:cBhvr>
                                      <p:tavLst>
                                        <p:tav tm="0">
                                          <p:val>
                                            <p:strVal val="#ppt_x"/>
                                          </p:val>
                                        </p:tav>
                                        <p:tav tm="100000">
                                          <p:val>
                                            <p:strVal val="#ppt_x"/>
                                          </p:val>
                                        </p:tav>
                                      </p:tavLst>
                                    </p:anim>
                                    <p:anim calcmode="lin" valueType="num">
                                      <p:cBhvr additive="base">
                                        <p:cTn id="68" dur="500" fill="hold"/>
                                        <p:tgtEl>
                                          <p:spTgt spid="364630"/>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64588"/>
                                        </p:tgtEl>
                                        <p:attrNameLst>
                                          <p:attrName>style.visibility</p:attrName>
                                        </p:attrNameLst>
                                      </p:cBhvr>
                                      <p:to>
                                        <p:strVal val="visible"/>
                                      </p:to>
                                    </p:set>
                                    <p:anim calcmode="lin" valueType="num">
                                      <p:cBhvr additive="base">
                                        <p:cTn id="73" dur="500" fill="hold"/>
                                        <p:tgtEl>
                                          <p:spTgt spid="364588"/>
                                        </p:tgtEl>
                                        <p:attrNameLst>
                                          <p:attrName>ppt_x</p:attrName>
                                        </p:attrNameLst>
                                      </p:cBhvr>
                                      <p:tavLst>
                                        <p:tav tm="0">
                                          <p:val>
                                            <p:strVal val="#ppt_x"/>
                                          </p:val>
                                        </p:tav>
                                        <p:tav tm="100000">
                                          <p:val>
                                            <p:strVal val="#ppt_x"/>
                                          </p:val>
                                        </p:tav>
                                      </p:tavLst>
                                    </p:anim>
                                    <p:anim calcmode="lin" valueType="num">
                                      <p:cBhvr additive="base">
                                        <p:cTn id="74" dur="500" fill="hold"/>
                                        <p:tgtEl>
                                          <p:spTgt spid="364588"/>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364631"/>
                                        </p:tgtEl>
                                        <p:attrNameLst>
                                          <p:attrName>style.visibility</p:attrName>
                                        </p:attrNameLst>
                                      </p:cBhvr>
                                      <p:to>
                                        <p:strVal val="visible"/>
                                      </p:to>
                                    </p:set>
                                    <p:anim calcmode="lin" valueType="num">
                                      <p:cBhvr additive="base">
                                        <p:cTn id="79" dur="500" fill="hold"/>
                                        <p:tgtEl>
                                          <p:spTgt spid="364631"/>
                                        </p:tgtEl>
                                        <p:attrNameLst>
                                          <p:attrName>ppt_x</p:attrName>
                                        </p:attrNameLst>
                                      </p:cBhvr>
                                      <p:tavLst>
                                        <p:tav tm="0">
                                          <p:val>
                                            <p:strVal val="#ppt_x"/>
                                          </p:val>
                                        </p:tav>
                                        <p:tav tm="100000">
                                          <p:val>
                                            <p:strVal val="#ppt_x"/>
                                          </p:val>
                                        </p:tav>
                                      </p:tavLst>
                                    </p:anim>
                                    <p:anim calcmode="lin" valueType="num">
                                      <p:cBhvr additive="base">
                                        <p:cTn id="80" dur="500" fill="hold"/>
                                        <p:tgtEl>
                                          <p:spTgt spid="364631"/>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364632"/>
                                        </p:tgtEl>
                                        <p:attrNameLst>
                                          <p:attrName>style.visibility</p:attrName>
                                        </p:attrNameLst>
                                      </p:cBhvr>
                                      <p:to>
                                        <p:strVal val="visible"/>
                                      </p:to>
                                    </p:set>
                                    <p:anim calcmode="lin" valueType="num">
                                      <p:cBhvr additive="base">
                                        <p:cTn id="85" dur="500" fill="hold"/>
                                        <p:tgtEl>
                                          <p:spTgt spid="364632"/>
                                        </p:tgtEl>
                                        <p:attrNameLst>
                                          <p:attrName>ppt_x</p:attrName>
                                        </p:attrNameLst>
                                      </p:cBhvr>
                                      <p:tavLst>
                                        <p:tav tm="0">
                                          <p:val>
                                            <p:strVal val="#ppt_x"/>
                                          </p:val>
                                        </p:tav>
                                        <p:tav tm="100000">
                                          <p:val>
                                            <p:strVal val="#ppt_x"/>
                                          </p:val>
                                        </p:tav>
                                      </p:tavLst>
                                    </p:anim>
                                    <p:anim calcmode="lin" valueType="num">
                                      <p:cBhvr additive="base">
                                        <p:cTn id="86" dur="500" fill="hold"/>
                                        <p:tgtEl>
                                          <p:spTgt spid="364632"/>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xit" presetSubtype="4" fill="hold" grpId="1" nodeType="clickEffect">
                                  <p:stCondLst>
                                    <p:cond delay="0"/>
                                  </p:stCondLst>
                                  <p:childTnLst>
                                    <p:anim calcmode="lin" valueType="num">
                                      <p:cBhvr additive="base">
                                        <p:cTn id="90" dur="500"/>
                                        <p:tgtEl>
                                          <p:spTgt spid="364588"/>
                                        </p:tgtEl>
                                        <p:attrNameLst>
                                          <p:attrName>ppt_x</p:attrName>
                                        </p:attrNameLst>
                                      </p:cBhvr>
                                      <p:tavLst>
                                        <p:tav tm="0">
                                          <p:val>
                                            <p:strVal val="ppt_x"/>
                                          </p:val>
                                        </p:tav>
                                        <p:tav tm="100000">
                                          <p:val>
                                            <p:strVal val="ppt_x"/>
                                          </p:val>
                                        </p:tav>
                                      </p:tavLst>
                                    </p:anim>
                                    <p:anim calcmode="lin" valueType="num">
                                      <p:cBhvr additive="base">
                                        <p:cTn id="91" dur="500"/>
                                        <p:tgtEl>
                                          <p:spTgt spid="364588"/>
                                        </p:tgtEl>
                                        <p:attrNameLst>
                                          <p:attrName>ppt_y</p:attrName>
                                        </p:attrNameLst>
                                      </p:cBhvr>
                                      <p:tavLst>
                                        <p:tav tm="0">
                                          <p:val>
                                            <p:strVal val="ppt_y"/>
                                          </p:val>
                                        </p:tav>
                                        <p:tav tm="100000">
                                          <p:val>
                                            <p:strVal val="1+ppt_h/2"/>
                                          </p:val>
                                        </p:tav>
                                      </p:tavLst>
                                    </p:anim>
                                    <p:set>
                                      <p:cBhvr>
                                        <p:cTn id="92" dur="1" fill="hold">
                                          <p:stCondLst>
                                            <p:cond delay="499"/>
                                          </p:stCondLst>
                                        </p:cTn>
                                        <p:tgtEl>
                                          <p:spTgt spid="364588"/>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364589"/>
                                        </p:tgtEl>
                                        <p:attrNameLst>
                                          <p:attrName>style.visibility</p:attrName>
                                        </p:attrNameLst>
                                      </p:cBhvr>
                                      <p:to>
                                        <p:strVal val="visible"/>
                                      </p:to>
                                    </p:set>
                                    <p:anim calcmode="lin" valueType="num">
                                      <p:cBhvr additive="base">
                                        <p:cTn id="97" dur="500" fill="hold"/>
                                        <p:tgtEl>
                                          <p:spTgt spid="364589"/>
                                        </p:tgtEl>
                                        <p:attrNameLst>
                                          <p:attrName>ppt_x</p:attrName>
                                        </p:attrNameLst>
                                      </p:cBhvr>
                                      <p:tavLst>
                                        <p:tav tm="0">
                                          <p:val>
                                            <p:strVal val="#ppt_x"/>
                                          </p:val>
                                        </p:tav>
                                        <p:tav tm="100000">
                                          <p:val>
                                            <p:strVal val="#ppt_x"/>
                                          </p:val>
                                        </p:tav>
                                      </p:tavLst>
                                    </p:anim>
                                    <p:anim calcmode="lin" valueType="num">
                                      <p:cBhvr additive="base">
                                        <p:cTn id="98" dur="500" fill="hold"/>
                                        <p:tgtEl>
                                          <p:spTgt spid="364589"/>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364633"/>
                                        </p:tgtEl>
                                        <p:attrNameLst>
                                          <p:attrName>style.visibility</p:attrName>
                                        </p:attrNameLst>
                                      </p:cBhvr>
                                      <p:to>
                                        <p:strVal val="visible"/>
                                      </p:to>
                                    </p:set>
                                    <p:anim calcmode="lin" valueType="num">
                                      <p:cBhvr additive="base">
                                        <p:cTn id="103" dur="500" fill="hold"/>
                                        <p:tgtEl>
                                          <p:spTgt spid="364633"/>
                                        </p:tgtEl>
                                        <p:attrNameLst>
                                          <p:attrName>ppt_x</p:attrName>
                                        </p:attrNameLst>
                                      </p:cBhvr>
                                      <p:tavLst>
                                        <p:tav tm="0">
                                          <p:val>
                                            <p:strVal val="#ppt_x"/>
                                          </p:val>
                                        </p:tav>
                                        <p:tav tm="100000">
                                          <p:val>
                                            <p:strVal val="#ppt_x"/>
                                          </p:val>
                                        </p:tav>
                                      </p:tavLst>
                                    </p:anim>
                                    <p:anim calcmode="lin" valueType="num">
                                      <p:cBhvr additive="base">
                                        <p:cTn id="104" dur="500" fill="hold"/>
                                        <p:tgtEl>
                                          <p:spTgt spid="364633"/>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1" nodeType="clickEffect">
                                  <p:stCondLst>
                                    <p:cond delay="0"/>
                                  </p:stCondLst>
                                  <p:childTnLst>
                                    <p:set>
                                      <p:cBhvr>
                                        <p:cTn id="108" dur="1" fill="hold">
                                          <p:stCondLst>
                                            <p:cond delay="0"/>
                                          </p:stCondLst>
                                        </p:cTn>
                                        <p:tgtEl>
                                          <p:spTgt spid="364633"/>
                                        </p:tgtEl>
                                        <p:attrNameLst>
                                          <p:attrName>style.visibility</p:attrName>
                                        </p:attrNameLst>
                                      </p:cBhvr>
                                      <p:to>
                                        <p:strVal val="visible"/>
                                      </p:to>
                                    </p:set>
                                    <p:anim calcmode="lin" valueType="num">
                                      <p:cBhvr additive="base">
                                        <p:cTn id="109" dur="500" fill="hold"/>
                                        <p:tgtEl>
                                          <p:spTgt spid="364633"/>
                                        </p:tgtEl>
                                        <p:attrNameLst>
                                          <p:attrName>ppt_x</p:attrName>
                                        </p:attrNameLst>
                                      </p:cBhvr>
                                      <p:tavLst>
                                        <p:tav tm="0">
                                          <p:val>
                                            <p:strVal val="#ppt_x"/>
                                          </p:val>
                                        </p:tav>
                                        <p:tav tm="100000">
                                          <p:val>
                                            <p:strVal val="#ppt_x"/>
                                          </p:val>
                                        </p:tav>
                                      </p:tavLst>
                                    </p:anim>
                                    <p:anim calcmode="lin" valueType="num">
                                      <p:cBhvr additive="base">
                                        <p:cTn id="110" dur="500" fill="hold"/>
                                        <p:tgtEl>
                                          <p:spTgt spid="364633"/>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364590"/>
                                        </p:tgtEl>
                                        <p:attrNameLst>
                                          <p:attrName>style.visibility</p:attrName>
                                        </p:attrNameLst>
                                      </p:cBhvr>
                                      <p:to>
                                        <p:strVal val="visible"/>
                                      </p:to>
                                    </p:set>
                                    <p:anim calcmode="lin" valueType="num">
                                      <p:cBhvr additive="base">
                                        <p:cTn id="115" dur="500" fill="hold"/>
                                        <p:tgtEl>
                                          <p:spTgt spid="364590"/>
                                        </p:tgtEl>
                                        <p:attrNameLst>
                                          <p:attrName>ppt_x</p:attrName>
                                        </p:attrNameLst>
                                      </p:cBhvr>
                                      <p:tavLst>
                                        <p:tav tm="0">
                                          <p:val>
                                            <p:strVal val="#ppt_x"/>
                                          </p:val>
                                        </p:tav>
                                        <p:tav tm="100000">
                                          <p:val>
                                            <p:strVal val="#ppt_x"/>
                                          </p:val>
                                        </p:tav>
                                      </p:tavLst>
                                    </p:anim>
                                    <p:anim calcmode="lin" valueType="num">
                                      <p:cBhvr additive="base">
                                        <p:cTn id="116" dur="500" fill="hold"/>
                                        <p:tgtEl>
                                          <p:spTgt spid="3645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4550" grpId="0"/>
      <p:bldP spid="364556" grpId="0"/>
      <p:bldP spid="364556" grpId="1"/>
      <p:bldP spid="364559" grpId="0"/>
      <p:bldP spid="364562" grpId="0"/>
      <p:bldP spid="364582" grpId="0" animBg="1"/>
      <p:bldP spid="364585" grpId="0" animBg="1"/>
      <p:bldP spid="364586" grpId="0" animBg="1"/>
      <p:bldP spid="364587" grpId="0" animBg="1"/>
      <p:bldP spid="364588" grpId="0"/>
      <p:bldP spid="364588" grpId="1"/>
      <p:bldP spid="364589" grpId="0"/>
      <p:bldP spid="364590" grpId="0"/>
      <p:bldP spid="364596" grpId="0" animBg="1"/>
      <p:bldP spid="364630" grpId="0" animBg="1"/>
      <p:bldP spid="364631" grpId="0" animBg="1"/>
      <p:bldP spid="364632" grpId="0" animBg="1"/>
      <p:bldP spid="364633" grpId="0" animBg="1"/>
      <p:bldP spid="364633"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2"/>
          <p:cNvSpPr>
            <a:spLocks noGrp="1" noChangeArrowheads="1"/>
          </p:cNvSpPr>
          <p:nvPr>
            <p:ph type="title"/>
          </p:nvPr>
        </p:nvSpPr>
        <p:spPr>
          <a:xfrm>
            <a:off x="457200" y="122238"/>
            <a:ext cx="7543800" cy="1123950"/>
          </a:xfrm>
          <a:noFill/>
        </p:spPr>
        <p:txBody>
          <a:bodyPr lIns="92075" tIns="46038" rIns="92075" bIns="46038" anchor="ctr"/>
          <a:lstStyle/>
          <a:p>
            <a:r>
              <a:rPr lang="en-US" altLang="zh-CN"/>
              <a:t>Backtracking </a:t>
            </a:r>
            <a:r>
              <a:rPr lang="en-US" altLang="zh-CN" i="1"/>
              <a:t>n</a:t>
            </a:r>
            <a:r>
              <a:rPr lang="en-US" altLang="zh-CN"/>
              <a:t>=4,</a:t>
            </a:r>
            <a:r>
              <a:rPr lang="en-US" altLang="zh-CN" i="1"/>
              <a:t>w</a:t>
            </a:r>
            <a:r>
              <a:rPr lang="en-US" altLang="zh-CN"/>
              <a:t>=[8,6,2,3], </a:t>
            </a:r>
            <a:r>
              <a:rPr lang="en-US" altLang="zh-CN" i="1"/>
              <a:t>W</a:t>
            </a:r>
            <a:r>
              <a:rPr lang="en-US" altLang="zh-CN"/>
              <a:t>=12</a:t>
            </a:r>
            <a:endParaRPr lang="en-US" altLang="zh-CN"/>
          </a:p>
        </p:txBody>
      </p:sp>
      <p:sp>
        <p:nvSpPr>
          <p:cNvPr id="365571" name="Oval 3"/>
          <p:cNvSpPr>
            <a:spLocks noChangeArrowheads="1"/>
          </p:cNvSpPr>
          <p:nvPr/>
        </p:nvSpPr>
        <p:spPr bwMode="auto">
          <a:xfrm>
            <a:off x="4197350" y="1377950"/>
            <a:ext cx="215900" cy="215900"/>
          </a:xfrm>
          <a:prstGeom prst="ellipse">
            <a:avLst/>
          </a:prstGeom>
          <a:solidFill>
            <a:srgbClr val="00FF0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572" name="Line 4"/>
          <p:cNvSpPr>
            <a:spLocks noChangeShapeType="1"/>
          </p:cNvSpPr>
          <p:nvPr/>
        </p:nvSpPr>
        <p:spPr bwMode="auto">
          <a:xfrm flipH="1">
            <a:off x="2286000" y="1600200"/>
            <a:ext cx="1981200" cy="1295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5573" name="Oval 5"/>
          <p:cNvSpPr>
            <a:spLocks noChangeArrowheads="1"/>
          </p:cNvSpPr>
          <p:nvPr/>
        </p:nvSpPr>
        <p:spPr bwMode="auto">
          <a:xfrm>
            <a:off x="2139950" y="29019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574" name="Rectangle 6"/>
          <p:cNvSpPr>
            <a:spLocks noChangeArrowheads="1"/>
          </p:cNvSpPr>
          <p:nvPr/>
        </p:nvSpPr>
        <p:spPr bwMode="auto">
          <a:xfrm>
            <a:off x="2771775" y="1916113"/>
            <a:ext cx="414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2400">
                <a:solidFill>
                  <a:schemeClr val="hlink"/>
                </a:solidFill>
                <a:latin typeface="Times New Roman" panose="02020603050405020304" pitchFamily="18" charset="0"/>
              </a:rPr>
              <a:t>1</a:t>
            </a:r>
            <a:endParaRPr lang="en-US" altLang="zh-CN" sz="2400">
              <a:solidFill>
                <a:schemeClr val="hlink"/>
              </a:solidFill>
              <a:latin typeface="Times New Roman" panose="02020603050405020304" pitchFamily="18" charset="0"/>
            </a:endParaRPr>
          </a:p>
        </p:txBody>
      </p:sp>
      <p:sp>
        <p:nvSpPr>
          <p:cNvPr id="365575" name="Line 7"/>
          <p:cNvSpPr>
            <a:spLocks noChangeShapeType="1"/>
          </p:cNvSpPr>
          <p:nvPr/>
        </p:nvSpPr>
        <p:spPr bwMode="auto">
          <a:xfrm>
            <a:off x="4419600" y="1600200"/>
            <a:ext cx="2057400" cy="1295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5576" name="Oval 8"/>
          <p:cNvSpPr>
            <a:spLocks noChangeArrowheads="1"/>
          </p:cNvSpPr>
          <p:nvPr/>
        </p:nvSpPr>
        <p:spPr bwMode="auto">
          <a:xfrm>
            <a:off x="6407150" y="29019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577" name="Rectangle 9"/>
          <p:cNvSpPr>
            <a:spLocks noChangeArrowheads="1"/>
          </p:cNvSpPr>
          <p:nvPr/>
        </p:nvSpPr>
        <p:spPr bwMode="auto">
          <a:xfrm>
            <a:off x="0" y="1844675"/>
            <a:ext cx="1066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1</a:t>
            </a:r>
            <a:endParaRPr lang="en-US" altLang="zh-CN" sz="3200">
              <a:solidFill>
                <a:schemeClr val="hlink"/>
              </a:solidFill>
              <a:latin typeface="Times New Roman" panose="02020603050405020304" pitchFamily="18" charset="0"/>
            </a:endParaRPr>
          </a:p>
        </p:txBody>
      </p:sp>
      <p:sp>
        <p:nvSpPr>
          <p:cNvPr id="365578" name="Line 10"/>
          <p:cNvSpPr>
            <a:spLocks noChangeShapeType="1"/>
          </p:cNvSpPr>
          <p:nvPr/>
        </p:nvSpPr>
        <p:spPr bwMode="auto">
          <a:xfrm flipH="1">
            <a:off x="1066800" y="3124200"/>
            <a:ext cx="1066800" cy="1066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5579" name="Oval 11"/>
          <p:cNvSpPr>
            <a:spLocks noChangeArrowheads="1"/>
          </p:cNvSpPr>
          <p:nvPr/>
        </p:nvSpPr>
        <p:spPr bwMode="auto">
          <a:xfrm>
            <a:off x="996950" y="41973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580" name="Rectangle 12"/>
          <p:cNvSpPr>
            <a:spLocks noChangeArrowheads="1"/>
          </p:cNvSpPr>
          <p:nvPr/>
        </p:nvSpPr>
        <p:spPr bwMode="auto">
          <a:xfrm>
            <a:off x="1187450" y="3276600"/>
            <a:ext cx="412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2400">
                <a:solidFill>
                  <a:schemeClr val="hlink"/>
                </a:solidFill>
                <a:latin typeface="Times New Roman" panose="02020603050405020304" pitchFamily="18" charset="0"/>
              </a:rPr>
              <a:t>1</a:t>
            </a:r>
            <a:endParaRPr lang="en-US" altLang="zh-CN" sz="2400">
              <a:solidFill>
                <a:schemeClr val="hlink"/>
              </a:solidFill>
              <a:latin typeface="Times New Roman" panose="02020603050405020304" pitchFamily="18" charset="0"/>
            </a:endParaRPr>
          </a:p>
        </p:txBody>
      </p:sp>
      <p:sp>
        <p:nvSpPr>
          <p:cNvPr id="365581" name="Line 13"/>
          <p:cNvSpPr>
            <a:spLocks noChangeShapeType="1"/>
          </p:cNvSpPr>
          <p:nvPr/>
        </p:nvSpPr>
        <p:spPr bwMode="auto">
          <a:xfrm>
            <a:off x="2286000" y="3124200"/>
            <a:ext cx="9906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5582" name="Oval 14"/>
          <p:cNvSpPr>
            <a:spLocks noChangeArrowheads="1"/>
          </p:cNvSpPr>
          <p:nvPr/>
        </p:nvSpPr>
        <p:spPr bwMode="auto">
          <a:xfrm>
            <a:off x="3206750" y="41211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583" name="Rectangle 15"/>
          <p:cNvSpPr>
            <a:spLocks noChangeArrowheads="1"/>
          </p:cNvSpPr>
          <p:nvPr/>
        </p:nvSpPr>
        <p:spPr bwMode="auto">
          <a:xfrm>
            <a:off x="2843213" y="3284538"/>
            <a:ext cx="4524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2400">
                <a:solidFill>
                  <a:schemeClr val="hlink"/>
                </a:solidFill>
                <a:latin typeface="Times New Roman" panose="02020603050405020304" pitchFamily="18" charset="0"/>
              </a:rPr>
              <a:t>0</a:t>
            </a:r>
            <a:endParaRPr lang="en-US" altLang="zh-CN" sz="2400">
              <a:solidFill>
                <a:schemeClr val="hlink"/>
              </a:solidFill>
              <a:latin typeface="Times New Roman" panose="02020603050405020304" pitchFamily="18" charset="0"/>
            </a:endParaRPr>
          </a:p>
        </p:txBody>
      </p:sp>
      <p:sp>
        <p:nvSpPr>
          <p:cNvPr id="365584" name="Line 16"/>
          <p:cNvSpPr>
            <a:spLocks noChangeShapeType="1"/>
          </p:cNvSpPr>
          <p:nvPr/>
        </p:nvSpPr>
        <p:spPr bwMode="auto">
          <a:xfrm flipH="1">
            <a:off x="5562600" y="3124200"/>
            <a:ext cx="8382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5585" name="Oval 17"/>
          <p:cNvSpPr>
            <a:spLocks noChangeArrowheads="1"/>
          </p:cNvSpPr>
          <p:nvPr/>
        </p:nvSpPr>
        <p:spPr bwMode="auto">
          <a:xfrm>
            <a:off x="5416550" y="40449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586" name="Rectangle 18"/>
          <p:cNvSpPr>
            <a:spLocks noChangeArrowheads="1"/>
          </p:cNvSpPr>
          <p:nvPr/>
        </p:nvSpPr>
        <p:spPr bwMode="auto">
          <a:xfrm>
            <a:off x="2627313" y="4365625"/>
            <a:ext cx="43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2400">
                <a:solidFill>
                  <a:schemeClr val="hlink"/>
                </a:solidFill>
                <a:latin typeface="Times New Roman" panose="02020603050405020304" pitchFamily="18" charset="0"/>
              </a:rPr>
              <a:t>1</a:t>
            </a:r>
            <a:endParaRPr lang="en-US" altLang="zh-CN" sz="2400">
              <a:solidFill>
                <a:schemeClr val="hlink"/>
              </a:solidFill>
              <a:latin typeface="Times New Roman" panose="02020603050405020304" pitchFamily="18" charset="0"/>
            </a:endParaRPr>
          </a:p>
        </p:txBody>
      </p:sp>
      <p:sp>
        <p:nvSpPr>
          <p:cNvPr id="365587" name="Line 19"/>
          <p:cNvSpPr>
            <a:spLocks noChangeShapeType="1"/>
          </p:cNvSpPr>
          <p:nvPr/>
        </p:nvSpPr>
        <p:spPr bwMode="auto">
          <a:xfrm>
            <a:off x="6629400" y="3124200"/>
            <a:ext cx="9906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5588" name="Oval 20"/>
          <p:cNvSpPr>
            <a:spLocks noChangeArrowheads="1"/>
          </p:cNvSpPr>
          <p:nvPr/>
        </p:nvSpPr>
        <p:spPr bwMode="auto">
          <a:xfrm>
            <a:off x="7626350" y="3968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589" name="Rectangle 21"/>
          <p:cNvSpPr>
            <a:spLocks noChangeArrowheads="1"/>
          </p:cNvSpPr>
          <p:nvPr/>
        </p:nvSpPr>
        <p:spPr bwMode="auto">
          <a:xfrm>
            <a:off x="0" y="3284538"/>
            <a:ext cx="539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2</a:t>
            </a:r>
            <a:endParaRPr lang="en-US" altLang="zh-CN" sz="3200">
              <a:solidFill>
                <a:schemeClr val="hlink"/>
              </a:solidFill>
              <a:latin typeface="Times New Roman" panose="02020603050405020304" pitchFamily="18" charset="0"/>
            </a:endParaRPr>
          </a:p>
        </p:txBody>
      </p:sp>
      <p:sp>
        <p:nvSpPr>
          <p:cNvPr id="365590" name="Line 22"/>
          <p:cNvSpPr>
            <a:spLocks noChangeShapeType="1"/>
          </p:cNvSpPr>
          <p:nvPr/>
        </p:nvSpPr>
        <p:spPr bwMode="auto">
          <a:xfrm flipH="1">
            <a:off x="533400" y="4419600"/>
            <a:ext cx="533400" cy="685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5591" name="Oval 23"/>
          <p:cNvSpPr>
            <a:spLocks noChangeArrowheads="1"/>
          </p:cNvSpPr>
          <p:nvPr/>
        </p:nvSpPr>
        <p:spPr bwMode="auto">
          <a:xfrm>
            <a:off x="3873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592" name="Line 24"/>
          <p:cNvSpPr>
            <a:spLocks noChangeShapeType="1"/>
          </p:cNvSpPr>
          <p:nvPr/>
        </p:nvSpPr>
        <p:spPr bwMode="auto">
          <a:xfrm>
            <a:off x="1143000" y="4419600"/>
            <a:ext cx="381000" cy="685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5593" name="Oval 25"/>
          <p:cNvSpPr>
            <a:spLocks noChangeArrowheads="1"/>
          </p:cNvSpPr>
          <p:nvPr/>
        </p:nvSpPr>
        <p:spPr bwMode="auto">
          <a:xfrm>
            <a:off x="1454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594" name="Line 26"/>
          <p:cNvSpPr>
            <a:spLocks noChangeShapeType="1"/>
          </p:cNvSpPr>
          <p:nvPr/>
        </p:nvSpPr>
        <p:spPr bwMode="auto">
          <a:xfrm flipH="1">
            <a:off x="2667000" y="4343400"/>
            <a:ext cx="6096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5595" name="Oval 27"/>
          <p:cNvSpPr>
            <a:spLocks noChangeArrowheads="1"/>
          </p:cNvSpPr>
          <p:nvPr/>
        </p:nvSpPr>
        <p:spPr bwMode="auto">
          <a:xfrm>
            <a:off x="2597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596" name="Line 28"/>
          <p:cNvSpPr>
            <a:spLocks noChangeShapeType="1"/>
          </p:cNvSpPr>
          <p:nvPr/>
        </p:nvSpPr>
        <p:spPr bwMode="auto">
          <a:xfrm>
            <a:off x="3352800" y="4343400"/>
            <a:ext cx="4572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5597" name="Oval 29"/>
          <p:cNvSpPr>
            <a:spLocks noChangeArrowheads="1"/>
          </p:cNvSpPr>
          <p:nvPr/>
        </p:nvSpPr>
        <p:spPr bwMode="auto">
          <a:xfrm>
            <a:off x="3740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598" name="Line 30"/>
          <p:cNvSpPr>
            <a:spLocks noChangeShapeType="1"/>
          </p:cNvSpPr>
          <p:nvPr/>
        </p:nvSpPr>
        <p:spPr bwMode="auto">
          <a:xfrm flipH="1">
            <a:off x="5029200" y="4267200"/>
            <a:ext cx="4572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5599" name="Oval 31"/>
          <p:cNvSpPr>
            <a:spLocks noChangeArrowheads="1"/>
          </p:cNvSpPr>
          <p:nvPr/>
        </p:nvSpPr>
        <p:spPr bwMode="auto">
          <a:xfrm>
            <a:off x="4883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600" name="Line 32"/>
          <p:cNvSpPr>
            <a:spLocks noChangeShapeType="1"/>
          </p:cNvSpPr>
          <p:nvPr/>
        </p:nvSpPr>
        <p:spPr bwMode="auto">
          <a:xfrm>
            <a:off x="5562600" y="4267200"/>
            <a:ext cx="5334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5601" name="Oval 33"/>
          <p:cNvSpPr>
            <a:spLocks noChangeArrowheads="1"/>
          </p:cNvSpPr>
          <p:nvPr/>
        </p:nvSpPr>
        <p:spPr bwMode="auto">
          <a:xfrm>
            <a:off x="6026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602" name="Line 34"/>
          <p:cNvSpPr>
            <a:spLocks noChangeShapeType="1"/>
          </p:cNvSpPr>
          <p:nvPr/>
        </p:nvSpPr>
        <p:spPr bwMode="auto">
          <a:xfrm flipH="1">
            <a:off x="7239000" y="4191000"/>
            <a:ext cx="4572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5603" name="Oval 35"/>
          <p:cNvSpPr>
            <a:spLocks noChangeArrowheads="1"/>
          </p:cNvSpPr>
          <p:nvPr/>
        </p:nvSpPr>
        <p:spPr bwMode="auto">
          <a:xfrm>
            <a:off x="7169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604" name="Line 36"/>
          <p:cNvSpPr>
            <a:spLocks noChangeShapeType="1"/>
          </p:cNvSpPr>
          <p:nvPr/>
        </p:nvSpPr>
        <p:spPr bwMode="auto">
          <a:xfrm>
            <a:off x="7848600" y="4191000"/>
            <a:ext cx="6096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5605" name="Oval 37"/>
          <p:cNvSpPr>
            <a:spLocks noChangeArrowheads="1"/>
          </p:cNvSpPr>
          <p:nvPr/>
        </p:nvSpPr>
        <p:spPr bwMode="auto">
          <a:xfrm>
            <a:off x="8312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65606" name="Group 38"/>
          <p:cNvGrpSpPr/>
          <p:nvPr/>
        </p:nvGrpSpPr>
        <p:grpSpPr bwMode="auto">
          <a:xfrm>
            <a:off x="82550" y="5334000"/>
            <a:ext cx="8750300" cy="755650"/>
            <a:chOff x="52" y="3360"/>
            <a:chExt cx="5512" cy="476"/>
          </a:xfrm>
        </p:grpSpPr>
        <p:sp>
          <p:nvSpPr>
            <p:cNvPr id="365607" name="Oval 39"/>
            <p:cNvSpPr>
              <a:spLocks noChangeArrowheads="1"/>
            </p:cNvSpPr>
            <p:nvPr/>
          </p:nvSpPr>
          <p:spPr bwMode="auto">
            <a:xfrm>
              <a:off x="5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608" name="Oval 40"/>
            <p:cNvSpPr>
              <a:spLocks noChangeArrowheads="1"/>
            </p:cNvSpPr>
            <p:nvPr/>
          </p:nvSpPr>
          <p:spPr bwMode="auto">
            <a:xfrm>
              <a:off x="38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609" name="Oval 41"/>
            <p:cNvSpPr>
              <a:spLocks noChangeArrowheads="1"/>
            </p:cNvSpPr>
            <p:nvPr/>
          </p:nvSpPr>
          <p:spPr bwMode="auto">
            <a:xfrm>
              <a:off x="77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610" name="Oval 42"/>
            <p:cNvSpPr>
              <a:spLocks noChangeArrowheads="1"/>
            </p:cNvSpPr>
            <p:nvPr/>
          </p:nvSpPr>
          <p:spPr bwMode="auto">
            <a:xfrm>
              <a:off x="110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611" name="Oval 43"/>
            <p:cNvSpPr>
              <a:spLocks noChangeArrowheads="1"/>
            </p:cNvSpPr>
            <p:nvPr/>
          </p:nvSpPr>
          <p:spPr bwMode="auto">
            <a:xfrm>
              <a:off x="149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612" name="Oval 44"/>
            <p:cNvSpPr>
              <a:spLocks noChangeArrowheads="1"/>
            </p:cNvSpPr>
            <p:nvPr/>
          </p:nvSpPr>
          <p:spPr bwMode="auto">
            <a:xfrm>
              <a:off x="182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613" name="Oval 45"/>
            <p:cNvSpPr>
              <a:spLocks noChangeArrowheads="1"/>
            </p:cNvSpPr>
            <p:nvPr/>
          </p:nvSpPr>
          <p:spPr bwMode="auto">
            <a:xfrm>
              <a:off x="221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614" name="Oval 46"/>
            <p:cNvSpPr>
              <a:spLocks noChangeArrowheads="1"/>
            </p:cNvSpPr>
            <p:nvPr/>
          </p:nvSpPr>
          <p:spPr bwMode="auto">
            <a:xfrm>
              <a:off x="254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615" name="Oval 47"/>
            <p:cNvSpPr>
              <a:spLocks noChangeArrowheads="1"/>
            </p:cNvSpPr>
            <p:nvPr/>
          </p:nvSpPr>
          <p:spPr bwMode="auto">
            <a:xfrm>
              <a:off x="293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616" name="Oval 48"/>
            <p:cNvSpPr>
              <a:spLocks noChangeArrowheads="1"/>
            </p:cNvSpPr>
            <p:nvPr/>
          </p:nvSpPr>
          <p:spPr bwMode="auto">
            <a:xfrm>
              <a:off x="326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617" name="Oval 49"/>
            <p:cNvSpPr>
              <a:spLocks noChangeArrowheads="1"/>
            </p:cNvSpPr>
            <p:nvPr/>
          </p:nvSpPr>
          <p:spPr bwMode="auto">
            <a:xfrm>
              <a:off x="365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618" name="Oval 50"/>
            <p:cNvSpPr>
              <a:spLocks noChangeArrowheads="1"/>
            </p:cNvSpPr>
            <p:nvPr/>
          </p:nvSpPr>
          <p:spPr bwMode="auto">
            <a:xfrm>
              <a:off x="398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619" name="Oval 51"/>
            <p:cNvSpPr>
              <a:spLocks noChangeArrowheads="1"/>
            </p:cNvSpPr>
            <p:nvPr/>
          </p:nvSpPr>
          <p:spPr bwMode="auto">
            <a:xfrm>
              <a:off x="437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620" name="Oval 52"/>
            <p:cNvSpPr>
              <a:spLocks noChangeArrowheads="1"/>
            </p:cNvSpPr>
            <p:nvPr/>
          </p:nvSpPr>
          <p:spPr bwMode="auto">
            <a:xfrm>
              <a:off x="470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621" name="Oval 53"/>
            <p:cNvSpPr>
              <a:spLocks noChangeArrowheads="1"/>
            </p:cNvSpPr>
            <p:nvPr/>
          </p:nvSpPr>
          <p:spPr bwMode="auto">
            <a:xfrm>
              <a:off x="509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622" name="Oval 54"/>
            <p:cNvSpPr>
              <a:spLocks noChangeArrowheads="1"/>
            </p:cNvSpPr>
            <p:nvPr/>
          </p:nvSpPr>
          <p:spPr bwMode="auto">
            <a:xfrm>
              <a:off x="542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623" name="Line 55"/>
            <p:cNvSpPr>
              <a:spLocks noChangeShapeType="1"/>
            </p:cNvSpPr>
            <p:nvPr/>
          </p:nvSpPr>
          <p:spPr bwMode="auto">
            <a:xfrm flipH="1">
              <a:off x="96" y="3360"/>
              <a:ext cx="192"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5624" name="Line 56"/>
            <p:cNvSpPr>
              <a:spLocks noChangeShapeType="1"/>
            </p:cNvSpPr>
            <p:nvPr/>
          </p:nvSpPr>
          <p:spPr bwMode="auto">
            <a:xfrm>
              <a:off x="336" y="3360"/>
              <a:ext cx="96"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5625" name="Line 57"/>
            <p:cNvSpPr>
              <a:spLocks noChangeShapeType="1"/>
            </p:cNvSpPr>
            <p:nvPr/>
          </p:nvSpPr>
          <p:spPr bwMode="auto">
            <a:xfrm flipH="1">
              <a:off x="864" y="3360"/>
              <a:ext cx="96"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5626" name="Line 58"/>
            <p:cNvSpPr>
              <a:spLocks noChangeShapeType="1"/>
            </p:cNvSpPr>
            <p:nvPr/>
          </p:nvSpPr>
          <p:spPr bwMode="auto">
            <a:xfrm>
              <a:off x="1008"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5627" name="Line 59"/>
            <p:cNvSpPr>
              <a:spLocks noChangeShapeType="1"/>
            </p:cNvSpPr>
            <p:nvPr/>
          </p:nvSpPr>
          <p:spPr bwMode="auto">
            <a:xfrm flipH="1">
              <a:off x="1584" y="3360"/>
              <a:ext cx="96"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5628" name="Line 60"/>
            <p:cNvSpPr>
              <a:spLocks noChangeShapeType="1"/>
            </p:cNvSpPr>
            <p:nvPr/>
          </p:nvSpPr>
          <p:spPr bwMode="auto">
            <a:xfrm>
              <a:off x="1728"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5629" name="Line 61"/>
            <p:cNvSpPr>
              <a:spLocks noChangeShapeType="1"/>
            </p:cNvSpPr>
            <p:nvPr/>
          </p:nvSpPr>
          <p:spPr bwMode="auto">
            <a:xfrm flipH="1">
              <a:off x="2304" y="3360"/>
              <a:ext cx="96"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5630" name="Line 62"/>
            <p:cNvSpPr>
              <a:spLocks noChangeShapeType="1"/>
            </p:cNvSpPr>
            <p:nvPr/>
          </p:nvSpPr>
          <p:spPr bwMode="auto">
            <a:xfrm>
              <a:off x="2448"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5631" name="Line 63"/>
            <p:cNvSpPr>
              <a:spLocks noChangeShapeType="1"/>
            </p:cNvSpPr>
            <p:nvPr/>
          </p:nvSpPr>
          <p:spPr bwMode="auto">
            <a:xfrm flipH="1">
              <a:off x="2976"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5632" name="Line 64"/>
            <p:cNvSpPr>
              <a:spLocks noChangeShapeType="1"/>
            </p:cNvSpPr>
            <p:nvPr/>
          </p:nvSpPr>
          <p:spPr bwMode="auto">
            <a:xfrm>
              <a:off x="3168" y="3360"/>
              <a:ext cx="192"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5633" name="Line 65"/>
            <p:cNvSpPr>
              <a:spLocks noChangeShapeType="1"/>
            </p:cNvSpPr>
            <p:nvPr/>
          </p:nvSpPr>
          <p:spPr bwMode="auto">
            <a:xfrm flipH="1">
              <a:off x="3696"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5634" name="Line 66"/>
            <p:cNvSpPr>
              <a:spLocks noChangeShapeType="1"/>
            </p:cNvSpPr>
            <p:nvPr/>
          </p:nvSpPr>
          <p:spPr bwMode="auto">
            <a:xfrm>
              <a:off x="3888" y="3360"/>
              <a:ext cx="192"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5635" name="Line 67"/>
            <p:cNvSpPr>
              <a:spLocks noChangeShapeType="1"/>
            </p:cNvSpPr>
            <p:nvPr/>
          </p:nvSpPr>
          <p:spPr bwMode="auto">
            <a:xfrm flipH="1">
              <a:off x="4416"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5636" name="Line 68"/>
            <p:cNvSpPr>
              <a:spLocks noChangeShapeType="1"/>
            </p:cNvSpPr>
            <p:nvPr/>
          </p:nvSpPr>
          <p:spPr bwMode="auto">
            <a:xfrm>
              <a:off x="4608" y="3360"/>
              <a:ext cx="192"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5637" name="Line 69"/>
            <p:cNvSpPr>
              <a:spLocks noChangeShapeType="1"/>
            </p:cNvSpPr>
            <p:nvPr/>
          </p:nvSpPr>
          <p:spPr bwMode="auto">
            <a:xfrm flipH="1">
              <a:off x="5136"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5638" name="Line 70"/>
            <p:cNvSpPr>
              <a:spLocks noChangeShapeType="1"/>
            </p:cNvSpPr>
            <p:nvPr/>
          </p:nvSpPr>
          <p:spPr bwMode="auto">
            <a:xfrm>
              <a:off x="5328" y="3360"/>
              <a:ext cx="192"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65639" name="Oval 71"/>
          <p:cNvSpPr>
            <a:spLocks noChangeArrowheads="1"/>
          </p:cNvSpPr>
          <p:nvPr/>
        </p:nvSpPr>
        <p:spPr bwMode="auto">
          <a:xfrm>
            <a:off x="3995738" y="1268413"/>
            <a:ext cx="647700" cy="576262"/>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0/19</a:t>
            </a:r>
            <a:endParaRPr lang="en-US" altLang="zh-CN" sz="2400">
              <a:latin typeface="Times New Roman" panose="02020603050405020304" pitchFamily="18" charset="0"/>
            </a:endParaRPr>
          </a:p>
        </p:txBody>
      </p:sp>
      <p:sp>
        <p:nvSpPr>
          <p:cNvPr id="365640" name="Rectangle 72"/>
          <p:cNvSpPr>
            <a:spLocks noChangeArrowheads="1"/>
          </p:cNvSpPr>
          <p:nvPr/>
        </p:nvSpPr>
        <p:spPr bwMode="auto">
          <a:xfrm>
            <a:off x="0" y="5300663"/>
            <a:ext cx="108108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4</a:t>
            </a:r>
            <a:endParaRPr lang="en-US" altLang="zh-CN" sz="3200">
              <a:solidFill>
                <a:schemeClr val="hlink"/>
              </a:solidFill>
              <a:latin typeface="Times New Roman" panose="02020603050405020304" pitchFamily="18" charset="0"/>
            </a:endParaRPr>
          </a:p>
        </p:txBody>
      </p:sp>
      <p:sp>
        <p:nvSpPr>
          <p:cNvPr id="365641" name="Rectangle 73"/>
          <p:cNvSpPr>
            <a:spLocks noChangeArrowheads="1"/>
          </p:cNvSpPr>
          <p:nvPr/>
        </p:nvSpPr>
        <p:spPr bwMode="auto">
          <a:xfrm>
            <a:off x="0" y="4437063"/>
            <a:ext cx="57626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3</a:t>
            </a:r>
            <a:endParaRPr lang="en-US" altLang="zh-CN" sz="3200">
              <a:solidFill>
                <a:schemeClr val="hlink"/>
              </a:solidFill>
              <a:latin typeface="Times New Roman" panose="02020603050405020304" pitchFamily="18" charset="0"/>
            </a:endParaRPr>
          </a:p>
        </p:txBody>
      </p:sp>
      <p:sp>
        <p:nvSpPr>
          <p:cNvPr id="365642" name="Oval 74"/>
          <p:cNvSpPr>
            <a:spLocks noChangeArrowheads="1"/>
          </p:cNvSpPr>
          <p:nvPr/>
        </p:nvSpPr>
        <p:spPr bwMode="auto">
          <a:xfrm>
            <a:off x="1979613" y="2708275"/>
            <a:ext cx="647700"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8/19</a:t>
            </a:r>
            <a:endParaRPr lang="en-US" altLang="zh-CN" sz="2400">
              <a:latin typeface="Times New Roman" panose="02020603050405020304" pitchFamily="18" charset="0"/>
            </a:endParaRPr>
          </a:p>
        </p:txBody>
      </p:sp>
      <p:sp>
        <p:nvSpPr>
          <p:cNvPr id="365643" name="Oval 75"/>
          <p:cNvSpPr>
            <a:spLocks noChangeArrowheads="1"/>
          </p:cNvSpPr>
          <p:nvPr/>
        </p:nvSpPr>
        <p:spPr bwMode="auto">
          <a:xfrm>
            <a:off x="827088" y="4005263"/>
            <a:ext cx="720725" cy="576262"/>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14/19</a:t>
            </a:r>
            <a:endParaRPr lang="en-US" altLang="zh-CN" sz="2400">
              <a:latin typeface="Times New Roman" panose="02020603050405020304" pitchFamily="18" charset="0"/>
            </a:endParaRPr>
          </a:p>
        </p:txBody>
      </p:sp>
      <p:sp>
        <p:nvSpPr>
          <p:cNvPr id="365644" name="Oval 76"/>
          <p:cNvSpPr>
            <a:spLocks noChangeArrowheads="1"/>
          </p:cNvSpPr>
          <p:nvPr/>
        </p:nvSpPr>
        <p:spPr bwMode="auto">
          <a:xfrm>
            <a:off x="2987675" y="3933825"/>
            <a:ext cx="576263"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8/13</a:t>
            </a:r>
            <a:endParaRPr lang="en-US" altLang="zh-CN" sz="2400">
              <a:latin typeface="Times New Roman" panose="02020603050405020304" pitchFamily="18" charset="0"/>
            </a:endParaRPr>
          </a:p>
        </p:txBody>
      </p:sp>
      <p:sp>
        <p:nvSpPr>
          <p:cNvPr id="365645" name="Oval 77"/>
          <p:cNvSpPr>
            <a:spLocks noChangeArrowheads="1"/>
          </p:cNvSpPr>
          <p:nvPr/>
        </p:nvSpPr>
        <p:spPr bwMode="auto">
          <a:xfrm>
            <a:off x="2411413" y="4941888"/>
            <a:ext cx="720725" cy="576262"/>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10/13</a:t>
            </a:r>
            <a:endParaRPr lang="en-US" altLang="zh-CN" sz="2400">
              <a:latin typeface="Times New Roman" panose="02020603050405020304" pitchFamily="18" charset="0"/>
            </a:endParaRPr>
          </a:p>
        </p:txBody>
      </p:sp>
      <p:sp>
        <p:nvSpPr>
          <p:cNvPr id="365646" name="Rectangle 78"/>
          <p:cNvSpPr>
            <a:spLocks noChangeArrowheads="1"/>
          </p:cNvSpPr>
          <p:nvPr/>
        </p:nvSpPr>
        <p:spPr bwMode="auto">
          <a:xfrm>
            <a:off x="2268538" y="5373688"/>
            <a:ext cx="4143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2400">
                <a:solidFill>
                  <a:schemeClr val="hlink"/>
                </a:solidFill>
                <a:latin typeface="Times New Roman" panose="02020603050405020304" pitchFamily="18" charset="0"/>
              </a:rPr>
              <a:t>1</a:t>
            </a:r>
            <a:endParaRPr lang="en-US" altLang="zh-CN" sz="2400">
              <a:solidFill>
                <a:schemeClr val="hlink"/>
              </a:solidFill>
              <a:latin typeface="Times New Roman" panose="02020603050405020304" pitchFamily="18" charset="0"/>
            </a:endParaRPr>
          </a:p>
        </p:txBody>
      </p:sp>
      <p:sp>
        <p:nvSpPr>
          <p:cNvPr id="365647" name="Oval 79"/>
          <p:cNvSpPr>
            <a:spLocks noChangeArrowheads="1"/>
          </p:cNvSpPr>
          <p:nvPr/>
        </p:nvSpPr>
        <p:spPr bwMode="auto">
          <a:xfrm>
            <a:off x="1979613" y="5734050"/>
            <a:ext cx="720725"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13/13</a:t>
            </a:r>
            <a:endParaRPr lang="en-US" altLang="zh-CN" sz="2400">
              <a:latin typeface="Times New Roman" panose="02020603050405020304" pitchFamily="18" charset="0"/>
            </a:endParaRPr>
          </a:p>
        </p:txBody>
      </p:sp>
      <p:sp>
        <p:nvSpPr>
          <p:cNvPr id="365648" name="Rectangle 80"/>
          <p:cNvSpPr>
            <a:spLocks noChangeArrowheads="1"/>
          </p:cNvSpPr>
          <p:nvPr/>
        </p:nvSpPr>
        <p:spPr bwMode="auto">
          <a:xfrm>
            <a:off x="2843213" y="5373688"/>
            <a:ext cx="4524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2400">
                <a:solidFill>
                  <a:schemeClr val="hlink"/>
                </a:solidFill>
                <a:latin typeface="Times New Roman" panose="02020603050405020304" pitchFamily="18" charset="0"/>
              </a:rPr>
              <a:t>0</a:t>
            </a:r>
            <a:endParaRPr lang="en-US" altLang="zh-CN" sz="2400">
              <a:solidFill>
                <a:schemeClr val="hlink"/>
              </a:solidFill>
              <a:latin typeface="Times New Roman" panose="02020603050405020304" pitchFamily="18" charset="0"/>
            </a:endParaRPr>
          </a:p>
        </p:txBody>
      </p:sp>
      <p:sp>
        <p:nvSpPr>
          <p:cNvPr id="365649" name="Oval 81"/>
          <p:cNvSpPr>
            <a:spLocks noChangeArrowheads="1"/>
          </p:cNvSpPr>
          <p:nvPr/>
        </p:nvSpPr>
        <p:spPr bwMode="auto">
          <a:xfrm>
            <a:off x="2700338" y="5734050"/>
            <a:ext cx="647700"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10/13</a:t>
            </a:r>
            <a:endParaRPr lang="en-US" altLang="zh-CN" sz="2400">
              <a:latin typeface="Times New Roman" panose="02020603050405020304" pitchFamily="18" charset="0"/>
            </a:endParaRPr>
          </a:p>
        </p:txBody>
      </p:sp>
      <p:sp>
        <p:nvSpPr>
          <p:cNvPr id="365650" name="Rectangle 82"/>
          <p:cNvSpPr>
            <a:spLocks noChangeArrowheads="1"/>
          </p:cNvSpPr>
          <p:nvPr/>
        </p:nvSpPr>
        <p:spPr bwMode="auto">
          <a:xfrm>
            <a:off x="2644775" y="6165850"/>
            <a:ext cx="1387475"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400" i="1">
                <a:solidFill>
                  <a:srgbClr val="993300"/>
                </a:solidFill>
                <a:latin typeface="Times New Roman" panose="02020603050405020304" pitchFamily="18" charset="0"/>
              </a:rPr>
              <a:t>Bestw</a:t>
            </a:r>
            <a:r>
              <a:rPr lang="en-US" altLang="zh-CN" sz="2400">
                <a:solidFill>
                  <a:srgbClr val="993300"/>
                </a:solidFill>
                <a:latin typeface="Times New Roman" panose="02020603050405020304" pitchFamily="18" charset="0"/>
              </a:rPr>
              <a:t>=10</a:t>
            </a:r>
            <a:endParaRPr lang="en-US" altLang="zh-CN" sz="2400">
              <a:solidFill>
                <a:srgbClr val="993300"/>
              </a:solidFill>
              <a:latin typeface="Times New Roman" panose="02020603050405020304" pitchFamily="18" charset="0"/>
            </a:endParaRPr>
          </a:p>
        </p:txBody>
      </p:sp>
      <p:sp>
        <p:nvSpPr>
          <p:cNvPr id="365651" name="Rectangle 83"/>
          <p:cNvSpPr>
            <a:spLocks noChangeArrowheads="1"/>
          </p:cNvSpPr>
          <p:nvPr/>
        </p:nvSpPr>
        <p:spPr bwMode="auto">
          <a:xfrm>
            <a:off x="3492500" y="4365625"/>
            <a:ext cx="4524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2400">
                <a:solidFill>
                  <a:schemeClr val="hlink"/>
                </a:solidFill>
                <a:latin typeface="Times New Roman" panose="02020603050405020304" pitchFamily="18" charset="0"/>
              </a:rPr>
              <a:t>0</a:t>
            </a:r>
            <a:endParaRPr lang="en-US" altLang="zh-CN" sz="2400">
              <a:solidFill>
                <a:schemeClr val="hlink"/>
              </a:solidFill>
              <a:latin typeface="Times New Roman" panose="02020603050405020304" pitchFamily="18" charset="0"/>
            </a:endParaRPr>
          </a:p>
        </p:txBody>
      </p:sp>
      <p:sp>
        <p:nvSpPr>
          <p:cNvPr id="365652" name="Oval 84"/>
          <p:cNvSpPr>
            <a:spLocks noChangeArrowheads="1"/>
          </p:cNvSpPr>
          <p:nvPr/>
        </p:nvSpPr>
        <p:spPr bwMode="auto">
          <a:xfrm>
            <a:off x="3563938" y="4941888"/>
            <a:ext cx="576262" cy="576262"/>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8/11</a:t>
            </a:r>
            <a:endParaRPr lang="en-US" altLang="zh-CN" sz="2400">
              <a:latin typeface="Times New Roman" panose="02020603050405020304" pitchFamily="18" charset="0"/>
            </a:endParaRPr>
          </a:p>
        </p:txBody>
      </p:sp>
      <p:sp>
        <p:nvSpPr>
          <p:cNvPr id="365653" name="Rectangle 85"/>
          <p:cNvSpPr>
            <a:spLocks noChangeArrowheads="1"/>
          </p:cNvSpPr>
          <p:nvPr/>
        </p:nvSpPr>
        <p:spPr bwMode="auto">
          <a:xfrm>
            <a:off x="3492500" y="5373688"/>
            <a:ext cx="414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2400">
                <a:solidFill>
                  <a:schemeClr val="hlink"/>
                </a:solidFill>
                <a:latin typeface="Times New Roman" panose="02020603050405020304" pitchFamily="18" charset="0"/>
              </a:rPr>
              <a:t>1</a:t>
            </a:r>
            <a:endParaRPr lang="en-US" altLang="zh-CN" sz="2400">
              <a:solidFill>
                <a:schemeClr val="hlink"/>
              </a:solidFill>
              <a:latin typeface="Times New Roman" panose="02020603050405020304" pitchFamily="18" charset="0"/>
            </a:endParaRPr>
          </a:p>
        </p:txBody>
      </p:sp>
      <p:sp>
        <p:nvSpPr>
          <p:cNvPr id="365654" name="Oval 86"/>
          <p:cNvSpPr>
            <a:spLocks noChangeArrowheads="1"/>
          </p:cNvSpPr>
          <p:nvPr/>
        </p:nvSpPr>
        <p:spPr bwMode="auto">
          <a:xfrm>
            <a:off x="3348038" y="5734050"/>
            <a:ext cx="647700"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11/11</a:t>
            </a:r>
            <a:endParaRPr lang="en-US" altLang="zh-CN" sz="2400">
              <a:latin typeface="Times New Roman" panose="02020603050405020304" pitchFamily="18" charset="0"/>
            </a:endParaRPr>
          </a:p>
        </p:txBody>
      </p:sp>
      <p:sp>
        <p:nvSpPr>
          <p:cNvPr id="365655" name="Rectangle 87"/>
          <p:cNvSpPr>
            <a:spLocks noChangeArrowheads="1"/>
          </p:cNvSpPr>
          <p:nvPr/>
        </p:nvSpPr>
        <p:spPr bwMode="auto">
          <a:xfrm>
            <a:off x="3924300" y="5373688"/>
            <a:ext cx="4524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2400">
                <a:solidFill>
                  <a:schemeClr val="hlink"/>
                </a:solidFill>
                <a:latin typeface="Times New Roman" panose="02020603050405020304" pitchFamily="18" charset="0"/>
              </a:rPr>
              <a:t>0</a:t>
            </a:r>
            <a:endParaRPr lang="en-US" altLang="zh-CN" sz="2400">
              <a:solidFill>
                <a:schemeClr val="hlink"/>
              </a:solidFill>
              <a:latin typeface="Times New Roman" panose="02020603050405020304" pitchFamily="18" charset="0"/>
            </a:endParaRPr>
          </a:p>
        </p:txBody>
      </p:sp>
      <p:sp>
        <p:nvSpPr>
          <p:cNvPr id="365656" name="Rectangle 88"/>
          <p:cNvSpPr>
            <a:spLocks noChangeArrowheads="1"/>
          </p:cNvSpPr>
          <p:nvPr/>
        </p:nvSpPr>
        <p:spPr bwMode="auto">
          <a:xfrm>
            <a:off x="5219700" y="1844675"/>
            <a:ext cx="4524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2400">
                <a:solidFill>
                  <a:schemeClr val="hlink"/>
                </a:solidFill>
                <a:latin typeface="Times New Roman" panose="02020603050405020304" pitchFamily="18" charset="0"/>
              </a:rPr>
              <a:t>0</a:t>
            </a:r>
            <a:endParaRPr lang="en-US" altLang="zh-CN" sz="2400">
              <a:solidFill>
                <a:schemeClr val="hlink"/>
              </a:solidFill>
              <a:latin typeface="Times New Roman" panose="02020603050405020304" pitchFamily="18" charset="0"/>
            </a:endParaRPr>
          </a:p>
        </p:txBody>
      </p:sp>
      <p:sp>
        <p:nvSpPr>
          <p:cNvPr id="365657" name="Rectangle 89"/>
          <p:cNvSpPr>
            <a:spLocks noChangeArrowheads="1"/>
          </p:cNvSpPr>
          <p:nvPr/>
        </p:nvSpPr>
        <p:spPr bwMode="auto">
          <a:xfrm>
            <a:off x="3076575" y="6237288"/>
            <a:ext cx="1387475"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400" i="1">
                <a:solidFill>
                  <a:srgbClr val="993300"/>
                </a:solidFill>
                <a:latin typeface="Times New Roman" panose="02020603050405020304" pitchFamily="18" charset="0"/>
              </a:rPr>
              <a:t>Bestw</a:t>
            </a:r>
            <a:r>
              <a:rPr lang="en-US" altLang="zh-CN" sz="2400">
                <a:solidFill>
                  <a:srgbClr val="993300"/>
                </a:solidFill>
                <a:latin typeface="Times New Roman" panose="02020603050405020304" pitchFamily="18" charset="0"/>
              </a:rPr>
              <a:t>=11</a:t>
            </a:r>
            <a:endParaRPr lang="en-US" altLang="zh-CN" sz="2400">
              <a:solidFill>
                <a:srgbClr val="993300"/>
              </a:solidFill>
              <a:latin typeface="Times New Roman" panose="02020603050405020304" pitchFamily="18" charset="0"/>
            </a:endParaRPr>
          </a:p>
        </p:txBody>
      </p:sp>
      <p:sp>
        <p:nvSpPr>
          <p:cNvPr id="365658" name="Oval 90"/>
          <p:cNvSpPr>
            <a:spLocks noChangeArrowheads="1"/>
          </p:cNvSpPr>
          <p:nvPr/>
        </p:nvSpPr>
        <p:spPr bwMode="auto">
          <a:xfrm>
            <a:off x="3995738" y="5734050"/>
            <a:ext cx="647700"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8/8</a:t>
            </a:r>
            <a:endParaRPr lang="en-US" altLang="zh-CN" sz="2400">
              <a:latin typeface="Times New Roman" panose="02020603050405020304" pitchFamily="18" charset="0"/>
            </a:endParaRPr>
          </a:p>
        </p:txBody>
      </p:sp>
      <p:sp>
        <p:nvSpPr>
          <p:cNvPr id="365659" name="Oval 91"/>
          <p:cNvSpPr>
            <a:spLocks noChangeArrowheads="1"/>
          </p:cNvSpPr>
          <p:nvPr/>
        </p:nvSpPr>
        <p:spPr bwMode="auto">
          <a:xfrm>
            <a:off x="6156325" y="2708275"/>
            <a:ext cx="647700"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0/11</a:t>
            </a:r>
            <a:endParaRPr lang="en-US" altLang="zh-CN" sz="2400">
              <a:latin typeface="Times New Roman" panose="02020603050405020304" pitchFamily="18" charset="0"/>
            </a:endParaRPr>
          </a:p>
        </p:txBody>
      </p:sp>
      <p:sp>
        <p:nvSpPr>
          <p:cNvPr id="365660" name="Oval 92"/>
          <p:cNvSpPr>
            <a:spLocks noChangeArrowheads="1"/>
          </p:cNvSpPr>
          <p:nvPr/>
        </p:nvSpPr>
        <p:spPr bwMode="auto">
          <a:xfrm>
            <a:off x="0" y="1196975"/>
            <a:ext cx="935038" cy="647700"/>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i="1">
                <a:latin typeface="Times New Roman" panose="02020603050405020304" pitchFamily="18" charset="0"/>
              </a:rPr>
              <a:t>C</a:t>
            </a:r>
            <a:r>
              <a:rPr lang="en-US" altLang="zh-CN" sz="2000">
                <a:latin typeface="Times New Roman" panose="02020603050405020304" pitchFamily="18" charset="0"/>
              </a:rPr>
              <a:t>(</a:t>
            </a:r>
            <a:r>
              <a:rPr lang="en-US" altLang="zh-CN" sz="2000" i="1">
                <a:latin typeface="Times New Roman" panose="02020603050405020304" pitchFamily="18" charset="0"/>
              </a:rPr>
              <a:t>t</a:t>
            </a:r>
            <a:r>
              <a:rPr lang="en-US" altLang="zh-CN" sz="2000">
                <a:latin typeface="Times New Roman" panose="02020603050405020304" pitchFamily="18" charset="0"/>
              </a:rPr>
              <a:t>)/</a:t>
            </a:r>
            <a:r>
              <a:rPr lang="en-US" altLang="zh-CN" sz="2000" i="1">
                <a:latin typeface="Times New Roman" panose="02020603050405020304" pitchFamily="18" charset="0"/>
              </a:rPr>
              <a:t>B</a:t>
            </a:r>
            <a:r>
              <a:rPr lang="en-US" altLang="zh-CN" sz="2000">
                <a:latin typeface="Times New Roman" panose="02020603050405020304" pitchFamily="18" charset="0"/>
              </a:rPr>
              <a:t>(</a:t>
            </a:r>
            <a:r>
              <a:rPr lang="en-US" altLang="zh-CN" sz="2000" i="1">
                <a:latin typeface="Times New Roman" panose="02020603050405020304" pitchFamily="18" charset="0"/>
              </a:rPr>
              <a:t>t</a:t>
            </a:r>
            <a:r>
              <a:rPr lang="en-US" altLang="zh-CN" sz="2000">
                <a:latin typeface="Times New Roman" panose="02020603050405020304" pitchFamily="18" charset="0"/>
              </a:rPr>
              <a:t>)</a:t>
            </a:r>
            <a:endParaRPr lang="en-US" altLang="zh-CN" sz="2000">
              <a:latin typeface="Times New Roman" panose="02020603050405020304" pitchFamily="18" charset="0"/>
            </a:endParaRPr>
          </a:p>
        </p:txBody>
      </p:sp>
      <p:sp>
        <p:nvSpPr>
          <p:cNvPr id="365661" name="Oval 93"/>
          <p:cNvSpPr>
            <a:spLocks noChangeArrowheads="1"/>
          </p:cNvSpPr>
          <p:nvPr/>
        </p:nvSpPr>
        <p:spPr bwMode="auto">
          <a:xfrm>
            <a:off x="827088" y="4005263"/>
            <a:ext cx="720725" cy="577850"/>
          </a:xfrm>
          <a:prstGeom prst="ellipse">
            <a:avLst/>
          </a:prstGeom>
          <a:solidFill>
            <a:schemeClr val="tx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662" name="Oval 94"/>
          <p:cNvSpPr>
            <a:spLocks noChangeArrowheads="1"/>
          </p:cNvSpPr>
          <p:nvPr/>
        </p:nvSpPr>
        <p:spPr bwMode="auto">
          <a:xfrm>
            <a:off x="1979613" y="5734050"/>
            <a:ext cx="719137" cy="577850"/>
          </a:xfrm>
          <a:prstGeom prst="ellipse">
            <a:avLst/>
          </a:prstGeom>
          <a:solidFill>
            <a:schemeClr val="tx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663" name="Oval 95"/>
          <p:cNvSpPr>
            <a:spLocks noChangeArrowheads="1"/>
          </p:cNvSpPr>
          <p:nvPr/>
        </p:nvSpPr>
        <p:spPr bwMode="auto">
          <a:xfrm>
            <a:off x="3995738" y="5734050"/>
            <a:ext cx="647700" cy="577850"/>
          </a:xfrm>
          <a:prstGeom prst="ellipse">
            <a:avLst/>
          </a:prstGeom>
          <a:solidFill>
            <a:schemeClr val="tx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664" name="Oval 96"/>
          <p:cNvSpPr>
            <a:spLocks noChangeArrowheads="1"/>
          </p:cNvSpPr>
          <p:nvPr/>
        </p:nvSpPr>
        <p:spPr bwMode="auto">
          <a:xfrm>
            <a:off x="6156325" y="2708275"/>
            <a:ext cx="649288" cy="577850"/>
          </a:xfrm>
          <a:prstGeom prst="ellipse">
            <a:avLst/>
          </a:prstGeom>
          <a:solidFill>
            <a:schemeClr val="tx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65665" name="Object 97"/>
          <p:cNvGraphicFramePr>
            <a:graphicFrameLocks noChangeAspect="1"/>
          </p:cNvGraphicFramePr>
          <p:nvPr/>
        </p:nvGraphicFramePr>
        <p:xfrm>
          <a:off x="5651500" y="981075"/>
          <a:ext cx="2184400" cy="415925"/>
        </p:xfrm>
        <a:graphic>
          <a:graphicData uri="http://schemas.openxmlformats.org/presentationml/2006/ole">
            <mc:AlternateContent xmlns:mc="http://schemas.openxmlformats.org/markup-compatibility/2006">
              <mc:Choice xmlns:v="urn:schemas-microsoft-com:vml" Requires="v">
                <p:oleObj spid="_x0000_s365675" name="公式" r:id="rId1" imgW="1066165" imgH="203200" progId="Equation.3">
                  <p:embed/>
                </p:oleObj>
              </mc:Choice>
              <mc:Fallback>
                <p:oleObj name="公式" r:id="rId1" imgW="1066165" imgH="203200" progId="Equation.3">
                  <p:embed/>
                  <p:pic>
                    <p:nvPicPr>
                      <p:cNvPr id="0" name="Object 9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1500" y="981075"/>
                        <a:ext cx="2184400" cy="41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5666" name="Object 98"/>
          <p:cNvGraphicFramePr>
            <a:graphicFrameLocks noChangeAspect="1"/>
          </p:cNvGraphicFramePr>
          <p:nvPr/>
        </p:nvGraphicFramePr>
        <p:xfrm>
          <a:off x="5795963" y="1412875"/>
          <a:ext cx="1604962" cy="906463"/>
        </p:xfrm>
        <a:graphic>
          <a:graphicData uri="http://schemas.openxmlformats.org/presentationml/2006/ole">
            <mc:AlternateContent xmlns:mc="http://schemas.openxmlformats.org/markup-compatibility/2006">
              <mc:Choice xmlns:v="urn:schemas-microsoft-com:vml" Requires="v">
                <p:oleObj spid="_x0000_s365676" name="公式" r:id="rId3" imgW="786765" imgH="444500" progId="Equation.3">
                  <p:embed/>
                </p:oleObj>
              </mc:Choice>
              <mc:Fallback>
                <p:oleObj name="公式" r:id="rId3" imgW="786765" imgH="444500" progId="Equation.3">
                  <p:embed/>
                  <p:pic>
                    <p:nvPicPr>
                      <p:cNvPr id="0" name="Object 9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5963" y="1412875"/>
                        <a:ext cx="1604962" cy="906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5639"/>
                                        </p:tgtEl>
                                        <p:attrNameLst>
                                          <p:attrName>style.visibility</p:attrName>
                                        </p:attrNameLst>
                                      </p:cBhvr>
                                      <p:to>
                                        <p:strVal val="visible"/>
                                      </p:to>
                                    </p:set>
                                    <p:anim calcmode="lin" valueType="num">
                                      <p:cBhvr additive="base">
                                        <p:cTn id="7" dur="500" fill="hold"/>
                                        <p:tgtEl>
                                          <p:spTgt spid="365639"/>
                                        </p:tgtEl>
                                        <p:attrNameLst>
                                          <p:attrName>ppt_x</p:attrName>
                                        </p:attrNameLst>
                                      </p:cBhvr>
                                      <p:tavLst>
                                        <p:tav tm="0">
                                          <p:val>
                                            <p:strVal val="#ppt_x"/>
                                          </p:val>
                                        </p:tav>
                                        <p:tav tm="100000">
                                          <p:val>
                                            <p:strVal val="#ppt_x"/>
                                          </p:val>
                                        </p:tav>
                                      </p:tavLst>
                                    </p:anim>
                                    <p:anim calcmode="lin" valueType="num">
                                      <p:cBhvr additive="base">
                                        <p:cTn id="8" dur="500" fill="hold"/>
                                        <p:tgtEl>
                                          <p:spTgt spid="36563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65574"/>
                                        </p:tgtEl>
                                        <p:attrNameLst>
                                          <p:attrName>style.visibility</p:attrName>
                                        </p:attrNameLst>
                                      </p:cBhvr>
                                      <p:to>
                                        <p:strVal val="visible"/>
                                      </p:to>
                                    </p:set>
                                    <p:anim calcmode="lin" valueType="num">
                                      <p:cBhvr additive="base">
                                        <p:cTn id="13" dur="500" fill="hold"/>
                                        <p:tgtEl>
                                          <p:spTgt spid="365574"/>
                                        </p:tgtEl>
                                        <p:attrNameLst>
                                          <p:attrName>ppt_x</p:attrName>
                                        </p:attrNameLst>
                                      </p:cBhvr>
                                      <p:tavLst>
                                        <p:tav tm="0">
                                          <p:val>
                                            <p:strVal val="#ppt_x"/>
                                          </p:val>
                                        </p:tav>
                                        <p:tav tm="100000">
                                          <p:val>
                                            <p:strVal val="#ppt_x"/>
                                          </p:val>
                                        </p:tav>
                                      </p:tavLst>
                                    </p:anim>
                                    <p:anim calcmode="lin" valueType="num">
                                      <p:cBhvr additive="base">
                                        <p:cTn id="14" dur="500" fill="hold"/>
                                        <p:tgtEl>
                                          <p:spTgt spid="36557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65642"/>
                                        </p:tgtEl>
                                        <p:attrNameLst>
                                          <p:attrName>style.visibility</p:attrName>
                                        </p:attrNameLst>
                                      </p:cBhvr>
                                      <p:to>
                                        <p:strVal val="visible"/>
                                      </p:to>
                                    </p:set>
                                    <p:anim calcmode="lin" valueType="num">
                                      <p:cBhvr additive="base">
                                        <p:cTn id="19" dur="500" fill="hold"/>
                                        <p:tgtEl>
                                          <p:spTgt spid="365642"/>
                                        </p:tgtEl>
                                        <p:attrNameLst>
                                          <p:attrName>ppt_x</p:attrName>
                                        </p:attrNameLst>
                                      </p:cBhvr>
                                      <p:tavLst>
                                        <p:tav tm="0">
                                          <p:val>
                                            <p:strVal val="#ppt_x"/>
                                          </p:val>
                                        </p:tav>
                                        <p:tav tm="100000">
                                          <p:val>
                                            <p:strVal val="#ppt_x"/>
                                          </p:val>
                                        </p:tav>
                                      </p:tavLst>
                                    </p:anim>
                                    <p:anim calcmode="lin" valueType="num">
                                      <p:cBhvr additive="base">
                                        <p:cTn id="20" dur="500" fill="hold"/>
                                        <p:tgtEl>
                                          <p:spTgt spid="36564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65580"/>
                                        </p:tgtEl>
                                        <p:attrNameLst>
                                          <p:attrName>style.visibility</p:attrName>
                                        </p:attrNameLst>
                                      </p:cBhvr>
                                      <p:to>
                                        <p:strVal val="visible"/>
                                      </p:to>
                                    </p:set>
                                    <p:anim calcmode="lin" valueType="num">
                                      <p:cBhvr additive="base">
                                        <p:cTn id="25" dur="500" fill="hold"/>
                                        <p:tgtEl>
                                          <p:spTgt spid="365580"/>
                                        </p:tgtEl>
                                        <p:attrNameLst>
                                          <p:attrName>ppt_x</p:attrName>
                                        </p:attrNameLst>
                                      </p:cBhvr>
                                      <p:tavLst>
                                        <p:tav tm="0">
                                          <p:val>
                                            <p:strVal val="#ppt_x"/>
                                          </p:val>
                                        </p:tav>
                                        <p:tav tm="100000">
                                          <p:val>
                                            <p:strVal val="#ppt_x"/>
                                          </p:val>
                                        </p:tav>
                                      </p:tavLst>
                                    </p:anim>
                                    <p:anim calcmode="lin" valueType="num">
                                      <p:cBhvr additive="base">
                                        <p:cTn id="26" dur="500" fill="hold"/>
                                        <p:tgtEl>
                                          <p:spTgt spid="36558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65643"/>
                                        </p:tgtEl>
                                        <p:attrNameLst>
                                          <p:attrName>style.visibility</p:attrName>
                                        </p:attrNameLst>
                                      </p:cBhvr>
                                      <p:to>
                                        <p:strVal val="visible"/>
                                      </p:to>
                                    </p:set>
                                    <p:anim calcmode="lin" valueType="num">
                                      <p:cBhvr additive="base">
                                        <p:cTn id="31" dur="500" fill="hold"/>
                                        <p:tgtEl>
                                          <p:spTgt spid="365643"/>
                                        </p:tgtEl>
                                        <p:attrNameLst>
                                          <p:attrName>ppt_x</p:attrName>
                                        </p:attrNameLst>
                                      </p:cBhvr>
                                      <p:tavLst>
                                        <p:tav tm="0">
                                          <p:val>
                                            <p:strVal val="#ppt_x"/>
                                          </p:val>
                                        </p:tav>
                                        <p:tav tm="100000">
                                          <p:val>
                                            <p:strVal val="#ppt_x"/>
                                          </p:val>
                                        </p:tav>
                                      </p:tavLst>
                                    </p:anim>
                                    <p:anim calcmode="lin" valueType="num">
                                      <p:cBhvr additive="base">
                                        <p:cTn id="32" dur="500" fill="hold"/>
                                        <p:tgtEl>
                                          <p:spTgt spid="36564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65661"/>
                                        </p:tgtEl>
                                        <p:attrNameLst>
                                          <p:attrName>style.visibility</p:attrName>
                                        </p:attrNameLst>
                                      </p:cBhvr>
                                      <p:to>
                                        <p:strVal val="visible"/>
                                      </p:to>
                                    </p:set>
                                    <p:anim calcmode="lin" valueType="num">
                                      <p:cBhvr additive="base">
                                        <p:cTn id="37" dur="500" fill="hold"/>
                                        <p:tgtEl>
                                          <p:spTgt spid="365661"/>
                                        </p:tgtEl>
                                        <p:attrNameLst>
                                          <p:attrName>ppt_x</p:attrName>
                                        </p:attrNameLst>
                                      </p:cBhvr>
                                      <p:tavLst>
                                        <p:tav tm="0">
                                          <p:val>
                                            <p:strVal val="#ppt_x"/>
                                          </p:val>
                                        </p:tav>
                                        <p:tav tm="100000">
                                          <p:val>
                                            <p:strVal val="#ppt_x"/>
                                          </p:val>
                                        </p:tav>
                                      </p:tavLst>
                                    </p:anim>
                                    <p:anim calcmode="lin" valueType="num">
                                      <p:cBhvr additive="base">
                                        <p:cTn id="38" dur="500" fill="hold"/>
                                        <p:tgtEl>
                                          <p:spTgt spid="36566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xit" presetSubtype="4" fill="hold" grpId="1" nodeType="clickEffect">
                                  <p:stCondLst>
                                    <p:cond delay="0"/>
                                  </p:stCondLst>
                                  <p:childTnLst>
                                    <p:anim calcmode="lin" valueType="num">
                                      <p:cBhvr additive="base">
                                        <p:cTn id="42" dur="500"/>
                                        <p:tgtEl>
                                          <p:spTgt spid="365580"/>
                                        </p:tgtEl>
                                        <p:attrNameLst>
                                          <p:attrName>ppt_x</p:attrName>
                                        </p:attrNameLst>
                                      </p:cBhvr>
                                      <p:tavLst>
                                        <p:tav tm="0">
                                          <p:val>
                                            <p:strVal val="ppt_x"/>
                                          </p:val>
                                        </p:tav>
                                        <p:tav tm="100000">
                                          <p:val>
                                            <p:strVal val="ppt_x"/>
                                          </p:val>
                                        </p:tav>
                                      </p:tavLst>
                                    </p:anim>
                                    <p:anim calcmode="lin" valueType="num">
                                      <p:cBhvr additive="base">
                                        <p:cTn id="43" dur="500"/>
                                        <p:tgtEl>
                                          <p:spTgt spid="365580"/>
                                        </p:tgtEl>
                                        <p:attrNameLst>
                                          <p:attrName>ppt_y</p:attrName>
                                        </p:attrNameLst>
                                      </p:cBhvr>
                                      <p:tavLst>
                                        <p:tav tm="0">
                                          <p:val>
                                            <p:strVal val="ppt_y"/>
                                          </p:val>
                                        </p:tav>
                                        <p:tav tm="100000">
                                          <p:val>
                                            <p:strVal val="1+ppt_h/2"/>
                                          </p:val>
                                        </p:tav>
                                      </p:tavLst>
                                    </p:anim>
                                    <p:set>
                                      <p:cBhvr>
                                        <p:cTn id="44" dur="1" fill="hold">
                                          <p:stCondLst>
                                            <p:cond delay="499"/>
                                          </p:stCondLst>
                                        </p:cTn>
                                        <p:tgtEl>
                                          <p:spTgt spid="365580"/>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65583"/>
                                        </p:tgtEl>
                                        <p:attrNameLst>
                                          <p:attrName>style.visibility</p:attrName>
                                        </p:attrNameLst>
                                      </p:cBhvr>
                                      <p:to>
                                        <p:strVal val="visible"/>
                                      </p:to>
                                    </p:set>
                                    <p:anim calcmode="lin" valueType="num">
                                      <p:cBhvr additive="base">
                                        <p:cTn id="49" dur="500" fill="hold"/>
                                        <p:tgtEl>
                                          <p:spTgt spid="365583"/>
                                        </p:tgtEl>
                                        <p:attrNameLst>
                                          <p:attrName>ppt_x</p:attrName>
                                        </p:attrNameLst>
                                      </p:cBhvr>
                                      <p:tavLst>
                                        <p:tav tm="0">
                                          <p:val>
                                            <p:strVal val="#ppt_x"/>
                                          </p:val>
                                        </p:tav>
                                        <p:tav tm="100000">
                                          <p:val>
                                            <p:strVal val="#ppt_x"/>
                                          </p:val>
                                        </p:tav>
                                      </p:tavLst>
                                    </p:anim>
                                    <p:anim calcmode="lin" valueType="num">
                                      <p:cBhvr additive="base">
                                        <p:cTn id="50" dur="500" fill="hold"/>
                                        <p:tgtEl>
                                          <p:spTgt spid="365583"/>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65644"/>
                                        </p:tgtEl>
                                        <p:attrNameLst>
                                          <p:attrName>style.visibility</p:attrName>
                                        </p:attrNameLst>
                                      </p:cBhvr>
                                      <p:to>
                                        <p:strVal val="visible"/>
                                      </p:to>
                                    </p:set>
                                    <p:anim calcmode="lin" valueType="num">
                                      <p:cBhvr additive="base">
                                        <p:cTn id="55" dur="500" fill="hold"/>
                                        <p:tgtEl>
                                          <p:spTgt spid="365644"/>
                                        </p:tgtEl>
                                        <p:attrNameLst>
                                          <p:attrName>ppt_x</p:attrName>
                                        </p:attrNameLst>
                                      </p:cBhvr>
                                      <p:tavLst>
                                        <p:tav tm="0">
                                          <p:val>
                                            <p:strVal val="#ppt_x"/>
                                          </p:val>
                                        </p:tav>
                                        <p:tav tm="100000">
                                          <p:val>
                                            <p:strVal val="#ppt_x"/>
                                          </p:val>
                                        </p:tav>
                                      </p:tavLst>
                                    </p:anim>
                                    <p:anim calcmode="lin" valueType="num">
                                      <p:cBhvr additive="base">
                                        <p:cTn id="56" dur="500" fill="hold"/>
                                        <p:tgtEl>
                                          <p:spTgt spid="365644"/>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65586"/>
                                        </p:tgtEl>
                                        <p:attrNameLst>
                                          <p:attrName>style.visibility</p:attrName>
                                        </p:attrNameLst>
                                      </p:cBhvr>
                                      <p:to>
                                        <p:strVal val="visible"/>
                                      </p:to>
                                    </p:set>
                                    <p:anim calcmode="lin" valueType="num">
                                      <p:cBhvr additive="base">
                                        <p:cTn id="61" dur="500" fill="hold"/>
                                        <p:tgtEl>
                                          <p:spTgt spid="365586"/>
                                        </p:tgtEl>
                                        <p:attrNameLst>
                                          <p:attrName>ppt_x</p:attrName>
                                        </p:attrNameLst>
                                      </p:cBhvr>
                                      <p:tavLst>
                                        <p:tav tm="0">
                                          <p:val>
                                            <p:strVal val="#ppt_x"/>
                                          </p:val>
                                        </p:tav>
                                        <p:tav tm="100000">
                                          <p:val>
                                            <p:strVal val="#ppt_x"/>
                                          </p:val>
                                        </p:tav>
                                      </p:tavLst>
                                    </p:anim>
                                    <p:anim calcmode="lin" valueType="num">
                                      <p:cBhvr additive="base">
                                        <p:cTn id="62" dur="500" fill="hold"/>
                                        <p:tgtEl>
                                          <p:spTgt spid="365586"/>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65645"/>
                                        </p:tgtEl>
                                        <p:attrNameLst>
                                          <p:attrName>style.visibility</p:attrName>
                                        </p:attrNameLst>
                                      </p:cBhvr>
                                      <p:to>
                                        <p:strVal val="visible"/>
                                      </p:to>
                                    </p:set>
                                    <p:anim calcmode="lin" valueType="num">
                                      <p:cBhvr additive="base">
                                        <p:cTn id="67" dur="500" fill="hold"/>
                                        <p:tgtEl>
                                          <p:spTgt spid="365645"/>
                                        </p:tgtEl>
                                        <p:attrNameLst>
                                          <p:attrName>ppt_x</p:attrName>
                                        </p:attrNameLst>
                                      </p:cBhvr>
                                      <p:tavLst>
                                        <p:tav tm="0">
                                          <p:val>
                                            <p:strVal val="#ppt_x"/>
                                          </p:val>
                                        </p:tav>
                                        <p:tav tm="100000">
                                          <p:val>
                                            <p:strVal val="#ppt_x"/>
                                          </p:val>
                                        </p:tav>
                                      </p:tavLst>
                                    </p:anim>
                                    <p:anim calcmode="lin" valueType="num">
                                      <p:cBhvr additive="base">
                                        <p:cTn id="68" dur="500" fill="hold"/>
                                        <p:tgtEl>
                                          <p:spTgt spid="365645"/>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65646"/>
                                        </p:tgtEl>
                                        <p:attrNameLst>
                                          <p:attrName>style.visibility</p:attrName>
                                        </p:attrNameLst>
                                      </p:cBhvr>
                                      <p:to>
                                        <p:strVal val="visible"/>
                                      </p:to>
                                    </p:set>
                                    <p:anim calcmode="lin" valueType="num">
                                      <p:cBhvr additive="base">
                                        <p:cTn id="73" dur="500" fill="hold"/>
                                        <p:tgtEl>
                                          <p:spTgt spid="365646"/>
                                        </p:tgtEl>
                                        <p:attrNameLst>
                                          <p:attrName>ppt_x</p:attrName>
                                        </p:attrNameLst>
                                      </p:cBhvr>
                                      <p:tavLst>
                                        <p:tav tm="0">
                                          <p:val>
                                            <p:strVal val="#ppt_x"/>
                                          </p:val>
                                        </p:tav>
                                        <p:tav tm="100000">
                                          <p:val>
                                            <p:strVal val="#ppt_x"/>
                                          </p:val>
                                        </p:tav>
                                      </p:tavLst>
                                    </p:anim>
                                    <p:anim calcmode="lin" valueType="num">
                                      <p:cBhvr additive="base">
                                        <p:cTn id="74" dur="500" fill="hold"/>
                                        <p:tgtEl>
                                          <p:spTgt spid="365646"/>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365647"/>
                                        </p:tgtEl>
                                        <p:attrNameLst>
                                          <p:attrName>style.visibility</p:attrName>
                                        </p:attrNameLst>
                                      </p:cBhvr>
                                      <p:to>
                                        <p:strVal val="visible"/>
                                      </p:to>
                                    </p:set>
                                    <p:anim calcmode="lin" valueType="num">
                                      <p:cBhvr additive="base">
                                        <p:cTn id="79" dur="500" fill="hold"/>
                                        <p:tgtEl>
                                          <p:spTgt spid="365647"/>
                                        </p:tgtEl>
                                        <p:attrNameLst>
                                          <p:attrName>ppt_x</p:attrName>
                                        </p:attrNameLst>
                                      </p:cBhvr>
                                      <p:tavLst>
                                        <p:tav tm="0">
                                          <p:val>
                                            <p:strVal val="#ppt_x"/>
                                          </p:val>
                                        </p:tav>
                                        <p:tav tm="100000">
                                          <p:val>
                                            <p:strVal val="#ppt_x"/>
                                          </p:val>
                                        </p:tav>
                                      </p:tavLst>
                                    </p:anim>
                                    <p:anim calcmode="lin" valueType="num">
                                      <p:cBhvr additive="base">
                                        <p:cTn id="80" dur="500" fill="hold"/>
                                        <p:tgtEl>
                                          <p:spTgt spid="365647"/>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365662"/>
                                        </p:tgtEl>
                                        <p:attrNameLst>
                                          <p:attrName>style.visibility</p:attrName>
                                        </p:attrNameLst>
                                      </p:cBhvr>
                                      <p:to>
                                        <p:strVal val="visible"/>
                                      </p:to>
                                    </p:set>
                                    <p:anim calcmode="lin" valueType="num">
                                      <p:cBhvr additive="base">
                                        <p:cTn id="85" dur="500" fill="hold"/>
                                        <p:tgtEl>
                                          <p:spTgt spid="365662"/>
                                        </p:tgtEl>
                                        <p:attrNameLst>
                                          <p:attrName>ppt_x</p:attrName>
                                        </p:attrNameLst>
                                      </p:cBhvr>
                                      <p:tavLst>
                                        <p:tav tm="0">
                                          <p:val>
                                            <p:strVal val="#ppt_x"/>
                                          </p:val>
                                        </p:tav>
                                        <p:tav tm="100000">
                                          <p:val>
                                            <p:strVal val="#ppt_x"/>
                                          </p:val>
                                        </p:tav>
                                      </p:tavLst>
                                    </p:anim>
                                    <p:anim calcmode="lin" valueType="num">
                                      <p:cBhvr additive="base">
                                        <p:cTn id="86" dur="500" fill="hold"/>
                                        <p:tgtEl>
                                          <p:spTgt spid="365662"/>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xit" presetSubtype="4" fill="hold" grpId="1" nodeType="clickEffect">
                                  <p:stCondLst>
                                    <p:cond delay="0"/>
                                  </p:stCondLst>
                                  <p:childTnLst>
                                    <p:anim calcmode="lin" valueType="num">
                                      <p:cBhvr additive="base">
                                        <p:cTn id="90" dur="500"/>
                                        <p:tgtEl>
                                          <p:spTgt spid="365646"/>
                                        </p:tgtEl>
                                        <p:attrNameLst>
                                          <p:attrName>ppt_x</p:attrName>
                                        </p:attrNameLst>
                                      </p:cBhvr>
                                      <p:tavLst>
                                        <p:tav tm="0">
                                          <p:val>
                                            <p:strVal val="ppt_x"/>
                                          </p:val>
                                        </p:tav>
                                        <p:tav tm="100000">
                                          <p:val>
                                            <p:strVal val="ppt_x"/>
                                          </p:val>
                                        </p:tav>
                                      </p:tavLst>
                                    </p:anim>
                                    <p:anim calcmode="lin" valueType="num">
                                      <p:cBhvr additive="base">
                                        <p:cTn id="91" dur="500"/>
                                        <p:tgtEl>
                                          <p:spTgt spid="365646"/>
                                        </p:tgtEl>
                                        <p:attrNameLst>
                                          <p:attrName>ppt_y</p:attrName>
                                        </p:attrNameLst>
                                      </p:cBhvr>
                                      <p:tavLst>
                                        <p:tav tm="0">
                                          <p:val>
                                            <p:strVal val="ppt_y"/>
                                          </p:val>
                                        </p:tav>
                                        <p:tav tm="100000">
                                          <p:val>
                                            <p:strVal val="1+ppt_h/2"/>
                                          </p:val>
                                        </p:tav>
                                      </p:tavLst>
                                    </p:anim>
                                    <p:set>
                                      <p:cBhvr>
                                        <p:cTn id="92" dur="1" fill="hold">
                                          <p:stCondLst>
                                            <p:cond delay="499"/>
                                          </p:stCondLst>
                                        </p:cTn>
                                        <p:tgtEl>
                                          <p:spTgt spid="365646"/>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365648"/>
                                        </p:tgtEl>
                                        <p:attrNameLst>
                                          <p:attrName>style.visibility</p:attrName>
                                        </p:attrNameLst>
                                      </p:cBhvr>
                                      <p:to>
                                        <p:strVal val="visible"/>
                                      </p:to>
                                    </p:set>
                                    <p:anim calcmode="lin" valueType="num">
                                      <p:cBhvr additive="base">
                                        <p:cTn id="97" dur="500" fill="hold"/>
                                        <p:tgtEl>
                                          <p:spTgt spid="365648"/>
                                        </p:tgtEl>
                                        <p:attrNameLst>
                                          <p:attrName>ppt_x</p:attrName>
                                        </p:attrNameLst>
                                      </p:cBhvr>
                                      <p:tavLst>
                                        <p:tav tm="0">
                                          <p:val>
                                            <p:strVal val="#ppt_x"/>
                                          </p:val>
                                        </p:tav>
                                        <p:tav tm="100000">
                                          <p:val>
                                            <p:strVal val="#ppt_x"/>
                                          </p:val>
                                        </p:tav>
                                      </p:tavLst>
                                    </p:anim>
                                    <p:anim calcmode="lin" valueType="num">
                                      <p:cBhvr additive="base">
                                        <p:cTn id="98" dur="500" fill="hold"/>
                                        <p:tgtEl>
                                          <p:spTgt spid="365648"/>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365649"/>
                                        </p:tgtEl>
                                        <p:attrNameLst>
                                          <p:attrName>style.visibility</p:attrName>
                                        </p:attrNameLst>
                                      </p:cBhvr>
                                      <p:to>
                                        <p:strVal val="visible"/>
                                      </p:to>
                                    </p:set>
                                    <p:anim calcmode="lin" valueType="num">
                                      <p:cBhvr additive="base">
                                        <p:cTn id="103" dur="500" fill="hold"/>
                                        <p:tgtEl>
                                          <p:spTgt spid="365649"/>
                                        </p:tgtEl>
                                        <p:attrNameLst>
                                          <p:attrName>ppt_x</p:attrName>
                                        </p:attrNameLst>
                                      </p:cBhvr>
                                      <p:tavLst>
                                        <p:tav tm="0">
                                          <p:val>
                                            <p:strVal val="#ppt_x"/>
                                          </p:val>
                                        </p:tav>
                                        <p:tav tm="100000">
                                          <p:val>
                                            <p:strVal val="#ppt_x"/>
                                          </p:val>
                                        </p:tav>
                                      </p:tavLst>
                                    </p:anim>
                                    <p:anim calcmode="lin" valueType="num">
                                      <p:cBhvr additive="base">
                                        <p:cTn id="104" dur="500" fill="hold"/>
                                        <p:tgtEl>
                                          <p:spTgt spid="365649"/>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365650"/>
                                        </p:tgtEl>
                                        <p:attrNameLst>
                                          <p:attrName>style.visibility</p:attrName>
                                        </p:attrNameLst>
                                      </p:cBhvr>
                                      <p:to>
                                        <p:strVal val="visible"/>
                                      </p:to>
                                    </p:set>
                                    <p:anim calcmode="lin" valueType="num">
                                      <p:cBhvr additive="base">
                                        <p:cTn id="109" dur="500" fill="hold"/>
                                        <p:tgtEl>
                                          <p:spTgt spid="365650"/>
                                        </p:tgtEl>
                                        <p:attrNameLst>
                                          <p:attrName>ppt_x</p:attrName>
                                        </p:attrNameLst>
                                      </p:cBhvr>
                                      <p:tavLst>
                                        <p:tav tm="0">
                                          <p:val>
                                            <p:strVal val="#ppt_x"/>
                                          </p:val>
                                        </p:tav>
                                        <p:tav tm="100000">
                                          <p:val>
                                            <p:strVal val="#ppt_x"/>
                                          </p:val>
                                        </p:tav>
                                      </p:tavLst>
                                    </p:anim>
                                    <p:anim calcmode="lin" valueType="num">
                                      <p:cBhvr additive="base">
                                        <p:cTn id="110" dur="500" fill="hold"/>
                                        <p:tgtEl>
                                          <p:spTgt spid="365650"/>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365651"/>
                                        </p:tgtEl>
                                        <p:attrNameLst>
                                          <p:attrName>style.visibility</p:attrName>
                                        </p:attrNameLst>
                                      </p:cBhvr>
                                      <p:to>
                                        <p:strVal val="visible"/>
                                      </p:to>
                                    </p:set>
                                    <p:anim calcmode="lin" valueType="num">
                                      <p:cBhvr additive="base">
                                        <p:cTn id="115" dur="500" fill="hold"/>
                                        <p:tgtEl>
                                          <p:spTgt spid="365651"/>
                                        </p:tgtEl>
                                        <p:attrNameLst>
                                          <p:attrName>ppt_x</p:attrName>
                                        </p:attrNameLst>
                                      </p:cBhvr>
                                      <p:tavLst>
                                        <p:tav tm="0">
                                          <p:val>
                                            <p:strVal val="#ppt_x"/>
                                          </p:val>
                                        </p:tav>
                                        <p:tav tm="100000">
                                          <p:val>
                                            <p:strVal val="#ppt_x"/>
                                          </p:val>
                                        </p:tav>
                                      </p:tavLst>
                                    </p:anim>
                                    <p:anim calcmode="lin" valueType="num">
                                      <p:cBhvr additive="base">
                                        <p:cTn id="116" dur="500" fill="hold"/>
                                        <p:tgtEl>
                                          <p:spTgt spid="365651"/>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grpId="0" nodeType="clickEffect">
                                  <p:stCondLst>
                                    <p:cond delay="0"/>
                                  </p:stCondLst>
                                  <p:childTnLst>
                                    <p:set>
                                      <p:cBhvr>
                                        <p:cTn id="120" dur="1" fill="hold">
                                          <p:stCondLst>
                                            <p:cond delay="0"/>
                                          </p:stCondLst>
                                        </p:cTn>
                                        <p:tgtEl>
                                          <p:spTgt spid="365652"/>
                                        </p:tgtEl>
                                        <p:attrNameLst>
                                          <p:attrName>style.visibility</p:attrName>
                                        </p:attrNameLst>
                                      </p:cBhvr>
                                      <p:to>
                                        <p:strVal val="visible"/>
                                      </p:to>
                                    </p:set>
                                    <p:anim calcmode="lin" valueType="num">
                                      <p:cBhvr additive="base">
                                        <p:cTn id="121" dur="500" fill="hold"/>
                                        <p:tgtEl>
                                          <p:spTgt spid="365652"/>
                                        </p:tgtEl>
                                        <p:attrNameLst>
                                          <p:attrName>ppt_x</p:attrName>
                                        </p:attrNameLst>
                                      </p:cBhvr>
                                      <p:tavLst>
                                        <p:tav tm="0">
                                          <p:val>
                                            <p:strVal val="#ppt_x"/>
                                          </p:val>
                                        </p:tav>
                                        <p:tav tm="100000">
                                          <p:val>
                                            <p:strVal val="#ppt_x"/>
                                          </p:val>
                                        </p:tav>
                                      </p:tavLst>
                                    </p:anim>
                                    <p:anim calcmode="lin" valueType="num">
                                      <p:cBhvr additive="base">
                                        <p:cTn id="122" dur="500" fill="hold"/>
                                        <p:tgtEl>
                                          <p:spTgt spid="365652"/>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grpId="0" nodeType="clickEffect">
                                  <p:stCondLst>
                                    <p:cond delay="0"/>
                                  </p:stCondLst>
                                  <p:childTnLst>
                                    <p:set>
                                      <p:cBhvr>
                                        <p:cTn id="126" dur="1" fill="hold">
                                          <p:stCondLst>
                                            <p:cond delay="0"/>
                                          </p:stCondLst>
                                        </p:cTn>
                                        <p:tgtEl>
                                          <p:spTgt spid="365653"/>
                                        </p:tgtEl>
                                        <p:attrNameLst>
                                          <p:attrName>style.visibility</p:attrName>
                                        </p:attrNameLst>
                                      </p:cBhvr>
                                      <p:to>
                                        <p:strVal val="visible"/>
                                      </p:to>
                                    </p:set>
                                    <p:anim calcmode="lin" valueType="num">
                                      <p:cBhvr additive="base">
                                        <p:cTn id="127" dur="500" fill="hold"/>
                                        <p:tgtEl>
                                          <p:spTgt spid="365653"/>
                                        </p:tgtEl>
                                        <p:attrNameLst>
                                          <p:attrName>ppt_x</p:attrName>
                                        </p:attrNameLst>
                                      </p:cBhvr>
                                      <p:tavLst>
                                        <p:tav tm="0">
                                          <p:val>
                                            <p:strVal val="#ppt_x"/>
                                          </p:val>
                                        </p:tav>
                                        <p:tav tm="100000">
                                          <p:val>
                                            <p:strVal val="#ppt_x"/>
                                          </p:val>
                                        </p:tav>
                                      </p:tavLst>
                                    </p:anim>
                                    <p:anim calcmode="lin" valueType="num">
                                      <p:cBhvr additive="base">
                                        <p:cTn id="128" dur="500" fill="hold"/>
                                        <p:tgtEl>
                                          <p:spTgt spid="365653"/>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grpId="0" nodeType="clickEffect">
                                  <p:stCondLst>
                                    <p:cond delay="0"/>
                                  </p:stCondLst>
                                  <p:childTnLst>
                                    <p:set>
                                      <p:cBhvr>
                                        <p:cTn id="132" dur="1" fill="hold">
                                          <p:stCondLst>
                                            <p:cond delay="0"/>
                                          </p:stCondLst>
                                        </p:cTn>
                                        <p:tgtEl>
                                          <p:spTgt spid="365654"/>
                                        </p:tgtEl>
                                        <p:attrNameLst>
                                          <p:attrName>style.visibility</p:attrName>
                                        </p:attrNameLst>
                                      </p:cBhvr>
                                      <p:to>
                                        <p:strVal val="visible"/>
                                      </p:to>
                                    </p:set>
                                    <p:anim calcmode="lin" valueType="num">
                                      <p:cBhvr additive="base">
                                        <p:cTn id="133" dur="500" fill="hold"/>
                                        <p:tgtEl>
                                          <p:spTgt spid="365654"/>
                                        </p:tgtEl>
                                        <p:attrNameLst>
                                          <p:attrName>ppt_x</p:attrName>
                                        </p:attrNameLst>
                                      </p:cBhvr>
                                      <p:tavLst>
                                        <p:tav tm="0">
                                          <p:val>
                                            <p:strVal val="#ppt_x"/>
                                          </p:val>
                                        </p:tav>
                                        <p:tav tm="100000">
                                          <p:val>
                                            <p:strVal val="#ppt_x"/>
                                          </p:val>
                                        </p:tav>
                                      </p:tavLst>
                                    </p:anim>
                                    <p:anim calcmode="lin" valueType="num">
                                      <p:cBhvr additive="base">
                                        <p:cTn id="134" dur="500" fill="hold"/>
                                        <p:tgtEl>
                                          <p:spTgt spid="365654"/>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xit" presetSubtype="4" fill="hold" grpId="1" nodeType="clickEffect">
                                  <p:stCondLst>
                                    <p:cond delay="0"/>
                                  </p:stCondLst>
                                  <p:childTnLst>
                                    <p:anim calcmode="lin" valueType="num">
                                      <p:cBhvr additive="base">
                                        <p:cTn id="138" dur="500"/>
                                        <p:tgtEl>
                                          <p:spTgt spid="365650"/>
                                        </p:tgtEl>
                                        <p:attrNameLst>
                                          <p:attrName>ppt_x</p:attrName>
                                        </p:attrNameLst>
                                      </p:cBhvr>
                                      <p:tavLst>
                                        <p:tav tm="0">
                                          <p:val>
                                            <p:strVal val="ppt_x"/>
                                          </p:val>
                                        </p:tav>
                                        <p:tav tm="100000">
                                          <p:val>
                                            <p:strVal val="ppt_x"/>
                                          </p:val>
                                        </p:tav>
                                      </p:tavLst>
                                    </p:anim>
                                    <p:anim calcmode="lin" valueType="num">
                                      <p:cBhvr additive="base">
                                        <p:cTn id="139" dur="500"/>
                                        <p:tgtEl>
                                          <p:spTgt spid="365650"/>
                                        </p:tgtEl>
                                        <p:attrNameLst>
                                          <p:attrName>ppt_y</p:attrName>
                                        </p:attrNameLst>
                                      </p:cBhvr>
                                      <p:tavLst>
                                        <p:tav tm="0">
                                          <p:val>
                                            <p:strVal val="ppt_y"/>
                                          </p:val>
                                        </p:tav>
                                        <p:tav tm="100000">
                                          <p:val>
                                            <p:strVal val="1+ppt_h/2"/>
                                          </p:val>
                                        </p:tav>
                                      </p:tavLst>
                                    </p:anim>
                                    <p:set>
                                      <p:cBhvr>
                                        <p:cTn id="140" dur="1" fill="hold">
                                          <p:stCondLst>
                                            <p:cond delay="499"/>
                                          </p:stCondLst>
                                        </p:cTn>
                                        <p:tgtEl>
                                          <p:spTgt spid="365650"/>
                                        </p:tgtEl>
                                        <p:attrNameLst>
                                          <p:attrName>style.visibility</p:attrName>
                                        </p:attrNameLst>
                                      </p:cBhvr>
                                      <p:to>
                                        <p:strVal val="hidden"/>
                                      </p:to>
                                    </p:set>
                                  </p:childTnLst>
                                </p:cTn>
                              </p:par>
                            </p:childTnLst>
                          </p:cTn>
                        </p:par>
                      </p:childTnLst>
                    </p:cTn>
                  </p:par>
                  <p:par>
                    <p:cTn id="141" fill="hold">
                      <p:stCondLst>
                        <p:cond delay="indefinite"/>
                      </p:stCondLst>
                      <p:childTnLst>
                        <p:par>
                          <p:cTn id="142" fill="hold">
                            <p:stCondLst>
                              <p:cond delay="0"/>
                            </p:stCondLst>
                            <p:childTnLst>
                              <p:par>
                                <p:cTn id="143" presetID="2" presetClass="entr" presetSubtype="4" fill="hold" grpId="0" nodeType="clickEffect">
                                  <p:stCondLst>
                                    <p:cond delay="0"/>
                                  </p:stCondLst>
                                  <p:childTnLst>
                                    <p:set>
                                      <p:cBhvr>
                                        <p:cTn id="144" dur="1" fill="hold">
                                          <p:stCondLst>
                                            <p:cond delay="0"/>
                                          </p:stCondLst>
                                        </p:cTn>
                                        <p:tgtEl>
                                          <p:spTgt spid="365657"/>
                                        </p:tgtEl>
                                        <p:attrNameLst>
                                          <p:attrName>style.visibility</p:attrName>
                                        </p:attrNameLst>
                                      </p:cBhvr>
                                      <p:to>
                                        <p:strVal val="visible"/>
                                      </p:to>
                                    </p:set>
                                    <p:anim calcmode="lin" valueType="num">
                                      <p:cBhvr additive="base">
                                        <p:cTn id="145" dur="500" fill="hold"/>
                                        <p:tgtEl>
                                          <p:spTgt spid="365657"/>
                                        </p:tgtEl>
                                        <p:attrNameLst>
                                          <p:attrName>ppt_x</p:attrName>
                                        </p:attrNameLst>
                                      </p:cBhvr>
                                      <p:tavLst>
                                        <p:tav tm="0">
                                          <p:val>
                                            <p:strVal val="#ppt_x"/>
                                          </p:val>
                                        </p:tav>
                                        <p:tav tm="100000">
                                          <p:val>
                                            <p:strVal val="#ppt_x"/>
                                          </p:val>
                                        </p:tav>
                                      </p:tavLst>
                                    </p:anim>
                                    <p:anim calcmode="lin" valueType="num">
                                      <p:cBhvr additive="base">
                                        <p:cTn id="146" dur="500" fill="hold"/>
                                        <p:tgtEl>
                                          <p:spTgt spid="365657"/>
                                        </p:tgtEl>
                                        <p:attrNameLst>
                                          <p:attrName>ppt_y</p:attrName>
                                        </p:attrNameLst>
                                      </p:cBhvr>
                                      <p:tavLst>
                                        <p:tav tm="0">
                                          <p:val>
                                            <p:strVal val="1+#ppt_h/2"/>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 presetClass="entr" presetSubtype="4" fill="hold" grpId="0" nodeType="clickEffect">
                                  <p:stCondLst>
                                    <p:cond delay="0"/>
                                  </p:stCondLst>
                                  <p:childTnLst>
                                    <p:set>
                                      <p:cBhvr>
                                        <p:cTn id="150" dur="1" fill="hold">
                                          <p:stCondLst>
                                            <p:cond delay="0"/>
                                          </p:stCondLst>
                                        </p:cTn>
                                        <p:tgtEl>
                                          <p:spTgt spid="365655"/>
                                        </p:tgtEl>
                                        <p:attrNameLst>
                                          <p:attrName>style.visibility</p:attrName>
                                        </p:attrNameLst>
                                      </p:cBhvr>
                                      <p:to>
                                        <p:strVal val="visible"/>
                                      </p:to>
                                    </p:set>
                                    <p:anim calcmode="lin" valueType="num">
                                      <p:cBhvr additive="base">
                                        <p:cTn id="151" dur="500" fill="hold"/>
                                        <p:tgtEl>
                                          <p:spTgt spid="365655"/>
                                        </p:tgtEl>
                                        <p:attrNameLst>
                                          <p:attrName>ppt_x</p:attrName>
                                        </p:attrNameLst>
                                      </p:cBhvr>
                                      <p:tavLst>
                                        <p:tav tm="0">
                                          <p:val>
                                            <p:strVal val="#ppt_x"/>
                                          </p:val>
                                        </p:tav>
                                        <p:tav tm="100000">
                                          <p:val>
                                            <p:strVal val="#ppt_x"/>
                                          </p:val>
                                        </p:tav>
                                      </p:tavLst>
                                    </p:anim>
                                    <p:anim calcmode="lin" valueType="num">
                                      <p:cBhvr additive="base">
                                        <p:cTn id="152" dur="500" fill="hold"/>
                                        <p:tgtEl>
                                          <p:spTgt spid="365655"/>
                                        </p:tgtEl>
                                        <p:attrNameLst>
                                          <p:attrName>ppt_y</p:attrName>
                                        </p:attrNameLst>
                                      </p:cBhvr>
                                      <p:tavLst>
                                        <p:tav tm="0">
                                          <p:val>
                                            <p:strVal val="1+#ppt_h/2"/>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2" presetClass="entr" presetSubtype="4" fill="hold" grpId="0" nodeType="clickEffect">
                                  <p:stCondLst>
                                    <p:cond delay="0"/>
                                  </p:stCondLst>
                                  <p:childTnLst>
                                    <p:set>
                                      <p:cBhvr>
                                        <p:cTn id="156" dur="1" fill="hold">
                                          <p:stCondLst>
                                            <p:cond delay="0"/>
                                          </p:stCondLst>
                                        </p:cTn>
                                        <p:tgtEl>
                                          <p:spTgt spid="365658"/>
                                        </p:tgtEl>
                                        <p:attrNameLst>
                                          <p:attrName>style.visibility</p:attrName>
                                        </p:attrNameLst>
                                      </p:cBhvr>
                                      <p:to>
                                        <p:strVal val="visible"/>
                                      </p:to>
                                    </p:set>
                                    <p:anim calcmode="lin" valueType="num">
                                      <p:cBhvr additive="base">
                                        <p:cTn id="157" dur="500" fill="hold"/>
                                        <p:tgtEl>
                                          <p:spTgt spid="365658"/>
                                        </p:tgtEl>
                                        <p:attrNameLst>
                                          <p:attrName>ppt_x</p:attrName>
                                        </p:attrNameLst>
                                      </p:cBhvr>
                                      <p:tavLst>
                                        <p:tav tm="0">
                                          <p:val>
                                            <p:strVal val="#ppt_x"/>
                                          </p:val>
                                        </p:tav>
                                        <p:tav tm="100000">
                                          <p:val>
                                            <p:strVal val="#ppt_x"/>
                                          </p:val>
                                        </p:tav>
                                      </p:tavLst>
                                    </p:anim>
                                    <p:anim calcmode="lin" valueType="num">
                                      <p:cBhvr additive="base">
                                        <p:cTn id="158" dur="500" fill="hold"/>
                                        <p:tgtEl>
                                          <p:spTgt spid="365658"/>
                                        </p:tgtEl>
                                        <p:attrNameLst>
                                          <p:attrName>ppt_y</p:attrName>
                                        </p:attrNameLst>
                                      </p:cBhvr>
                                      <p:tavLst>
                                        <p:tav tm="0">
                                          <p:val>
                                            <p:strVal val="1+#ppt_h/2"/>
                                          </p:val>
                                        </p:tav>
                                        <p:tav tm="100000">
                                          <p:val>
                                            <p:strVal val="#ppt_y"/>
                                          </p:val>
                                        </p:tav>
                                      </p:tavLst>
                                    </p:anim>
                                  </p:childTnLst>
                                </p:cTn>
                              </p:par>
                            </p:childTnLst>
                          </p:cTn>
                        </p:par>
                      </p:childTnLst>
                    </p:cTn>
                  </p:par>
                  <p:par>
                    <p:cTn id="159" fill="hold">
                      <p:stCondLst>
                        <p:cond delay="indefinite"/>
                      </p:stCondLst>
                      <p:childTnLst>
                        <p:par>
                          <p:cTn id="160" fill="hold">
                            <p:stCondLst>
                              <p:cond delay="0"/>
                            </p:stCondLst>
                            <p:childTnLst>
                              <p:par>
                                <p:cTn id="161" presetID="2" presetClass="entr" presetSubtype="4" fill="hold" grpId="0" nodeType="clickEffect">
                                  <p:stCondLst>
                                    <p:cond delay="0"/>
                                  </p:stCondLst>
                                  <p:childTnLst>
                                    <p:set>
                                      <p:cBhvr>
                                        <p:cTn id="162" dur="1" fill="hold">
                                          <p:stCondLst>
                                            <p:cond delay="0"/>
                                          </p:stCondLst>
                                        </p:cTn>
                                        <p:tgtEl>
                                          <p:spTgt spid="365663"/>
                                        </p:tgtEl>
                                        <p:attrNameLst>
                                          <p:attrName>style.visibility</p:attrName>
                                        </p:attrNameLst>
                                      </p:cBhvr>
                                      <p:to>
                                        <p:strVal val="visible"/>
                                      </p:to>
                                    </p:set>
                                    <p:anim calcmode="lin" valueType="num">
                                      <p:cBhvr additive="base">
                                        <p:cTn id="163" dur="500" fill="hold"/>
                                        <p:tgtEl>
                                          <p:spTgt spid="365663"/>
                                        </p:tgtEl>
                                        <p:attrNameLst>
                                          <p:attrName>ppt_x</p:attrName>
                                        </p:attrNameLst>
                                      </p:cBhvr>
                                      <p:tavLst>
                                        <p:tav tm="0">
                                          <p:val>
                                            <p:strVal val="#ppt_x"/>
                                          </p:val>
                                        </p:tav>
                                        <p:tav tm="100000">
                                          <p:val>
                                            <p:strVal val="#ppt_x"/>
                                          </p:val>
                                        </p:tav>
                                      </p:tavLst>
                                    </p:anim>
                                    <p:anim calcmode="lin" valueType="num">
                                      <p:cBhvr additive="base">
                                        <p:cTn id="164" dur="500" fill="hold"/>
                                        <p:tgtEl>
                                          <p:spTgt spid="365663"/>
                                        </p:tgtEl>
                                        <p:attrNameLst>
                                          <p:attrName>ppt_y</p:attrName>
                                        </p:attrNameLst>
                                      </p:cBhvr>
                                      <p:tavLst>
                                        <p:tav tm="0">
                                          <p:val>
                                            <p:strVal val="1+#ppt_h/2"/>
                                          </p:val>
                                        </p:tav>
                                        <p:tav tm="100000">
                                          <p:val>
                                            <p:strVal val="#ppt_y"/>
                                          </p:val>
                                        </p:tav>
                                      </p:tavLst>
                                    </p:anim>
                                  </p:childTnLst>
                                </p:cTn>
                              </p:par>
                            </p:childTnLst>
                          </p:cTn>
                        </p:par>
                      </p:childTnLst>
                    </p:cTn>
                  </p:par>
                  <p:par>
                    <p:cTn id="165" fill="hold">
                      <p:stCondLst>
                        <p:cond delay="indefinite"/>
                      </p:stCondLst>
                      <p:childTnLst>
                        <p:par>
                          <p:cTn id="166" fill="hold">
                            <p:stCondLst>
                              <p:cond delay="0"/>
                            </p:stCondLst>
                            <p:childTnLst>
                              <p:par>
                                <p:cTn id="167" presetID="2" presetClass="exit" presetSubtype="4" fill="hold" grpId="1" nodeType="clickEffect">
                                  <p:stCondLst>
                                    <p:cond delay="0"/>
                                  </p:stCondLst>
                                  <p:childTnLst>
                                    <p:anim calcmode="lin" valueType="num">
                                      <p:cBhvr additive="base">
                                        <p:cTn id="168" dur="500"/>
                                        <p:tgtEl>
                                          <p:spTgt spid="365658"/>
                                        </p:tgtEl>
                                        <p:attrNameLst>
                                          <p:attrName>ppt_x</p:attrName>
                                        </p:attrNameLst>
                                      </p:cBhvr>
                                      <p:tavLst>
                                        <p:tav tm="0">
                                          <p:val>
                                            <p:strVal val="ppt_x"/>
                                          </p:val>
                                        </p:tav>
                                        <p:tav tm="100000">
                                          <p:val>
                                            <p:strVal val="ppt_x"/>
                                          </p:val>
                                        </p:tav>
                                      </p:tavLst>
                                    </p:anim>
                                    <p:anim calcmode="lin" valueType="num">
                                      <p:cBhvr additive="base">
                                        <p:cTn id="169" dur="500"/>
                                        <p:tgtEl>
                                          <p:spTgt spid="365658"/>
                                        </p:tgtEl>
                                        <p:attrNameLst>
                                          <p:attrName>ppt_y</p:attrName>
                                        </p:attrNameLst>
                                      </p:cBhvr>
                                      <p:tavLst>
                                        <p:tav tm="0">
                                          <p:val>
                                            <p:strVal val="ppt_y"/>
                                          </p:val>
                                        </p:tav>
                                        <p:tav tm="100000">
                                          <p:val>
                                            <p:strVal val="1+ppt_h/2"/>
                                          </p:val>
                                        </p:tav>
                                      </p:tavLst>
                                    </p:anim>
                                    <p:set>
                                      <p:cBhvr>
                                        <p:cTn id="170" dur="1" fill="hold">
                                          <p:stCondLst>
                                            <p:cond delay="499"/>
                                          </p:stCondLst>
                                        </p:cTn>
                                        <p:tgtEl>
                                          <p:spTgt spid="365658"/>
                                        </p:tgtEl>
                                        <p:attrNameLst>
                                          <p:attrName>style.visibility</p:attrName>
                                        </p:attrNameLst>
                                      </p:cBhvr>
                                      <p:to>
                                        <p:strVal val="hidden"/>
                                      </p:to>
                                    </p:set>
                                  </p:childTnLst>
                                </p:cTn>
                              </p:par>
                            </p:childTnLst>
                          </p:cTn>
                        </p:par>
                      </p:childTnLst>
                    </p:cTn>
                  </p:par>
                  <p:par>
                    <p:cTn id="171" fill="hold">
                      <p:stCondLst>
                        <p:cond delay="indefinite"/>
                      </p:stCondLst>
                      <p:childTnLst>
                        <p:par>
                          <p:cTn id="172" fill="hold">
                            <p:stCondLst>
                              <p:cond delay="0"/>
                            </p:stCondLst>
                            <p:childTnLst>
                              <p:par>
                                <p:cTn id="173" presetID="2" presetClass="exit" presetSubtype="4" fill="hold" grpId="1" nodeType="clickEffect">
                                  <p:stCondLst>
                                    <p:cond delay="0"/>
                                  </p:stCondLst>
                                  <p:childTnLst>
                                    <p:anim calcmode="lin" valueType="num">
                                      <p:cBhvr additive="base">
                                        <p:cTn id="174" dur="500"/>
                                        <p:tgtEl>
                                          <p:spTgt spid="365655"/>
                                        </p:tgtEl>
                                        <p:attrNameLst>
                                          <p:attrName>ppt_x</p:attrName>
                                        </p:attrNameLst>
                                      </p:cBhvr>
                                      <p:tavLst>
                                        <p:tav tm="0">
                                          <p:val>
                                            <p:strVal val="ppt_x"/>
                                          </p:val>
                                        </p:tav>
                                        <p:tav tm="100000">
                                          <p:val>
                                            <p:strVal val="ppt_x"/>
                                          </p:val>
                                        </p:tav>
                                      </p:tavLst>
                                    </p:anim>
                                    <p:anim calcmode="lin" valueType="num">
                                      <p:cBhvr additive="base">
                                        <p:cTn id="175" dur="500"/>
                                        <p:tgtEl>
                                          <p:spTgt spid="365655"/>
                                        </p:tgtEl>
                                        <p:attrNameLst>
                                          <p:attrName>ppt_y</p:attrName>
                                        </p:attrNameLst>
                                      </p:cBhvr>
                                      <p:tavLst>
                                        <p:tav tm="0">
                                          <p:val>
                                            <p:strVal val="ppt_y"/>
                                          </p:val>
                                        </p:tav>
                                        <p:tav tm="100000">
                                          <p:val>
                                            <p:strVal val="1+ppt_h/2"/>
                                          </p:val>
                                        </p:tav>
                                      </p:tavLst>
                                    </p:anim>
                                    <p:set>
                                      <p:cBhvr>
                                        <p:cTn id="176" dur="1" fill="hold">
                                          <p:stCondLst>
                                            <p:cond delay="499"/>
                                          </p:stCondLst>
                                        </p:cTn>
                                        <p:tgtEl>
                                          <p:spTgt spid="365655"/>
                                        </p:tgtEl>
                                        <p:attrNameLst>
                                          <p:attrName>style.visibility</p:attrName>
                                        </p:attrNameLst>
                                      </p:cBhvr>
                                      <p:to>
                                        <p:strVal val="hidden"/>
                                      </p:to>
                                    </p:set>
                                  </p:childTnLst>
                                </p:cTn>
                              </p:par>
                            </p:childTnLst>
                          </p:cTn>
                        </p:par>
                      </p:childTnLst>
                    </p:cTn>
                  </p:par>
                  <p:par>
                    <p:cTn id="177" fill="hold">
                      <p:stCondLst>
                        <p:cond delay="indefinite"/>
                      </p:stCondLst>
                      <p:childTnLst>
                        <p:par>
                          <p:cTn id="178" fill="hold">
                            <p:stCondLst>
                              <p:cond delay="0"/>
                            </p:stCondLst>
                            <p:childTnLst>
                              <p:par>
                                <p:cTn id="179" presetID="2" presetClass="entr" presetSubtype="4" fill="hold" nodeType="clickEffect">
                                  <p:stCondLst>
                                    <p:cond delay="0"/>
                                  </p:stCondLst>
                                  <p:childTnLst>
                                    <p:set>
                                      <p:cBhvr>
                                        <p:cTn id="180" dur="1" fill="hold">
                                          <p:stCondLst>
                                            <p:cond delay="0"/>
                                          </p:stCondLst>
                                        </p:cTn>
                                        <p:tgtEl>
                                          <p:spTgt spid="365656"/>
                                        </p:tgtEl>
                                        <p:attrNameLst>
                                          <p:attrName>style.visibility</p:attrName>
                                        </p:attrNameLst>
                                      </p:cBhvr>
                                      <p:to>
                                        <p:strVal val="visible"/>
                                      </p:to>
                                    </p:set>
                                    <p:anim calcmode="lin" valueType="num">
                                      <p:cBhvr additive="base">
                                        <p:cTn id="181" dur="500" fill="hold"/>
                                        <p:tgtEl>
                                          <p:spTgt spid="365656"/>
                                        </p:tgtEl>
                                        <p:attrNameLst>
                                          <p:attrName>ppt_x</p:attrName>
                                        </p:attrNameLst>
                                      </p:cBhvr>
                                      <p:tavLst>
                                        <p:tav tm="0">
                                          <p:val>
                                            <p:strVal val="#ppt_x"/>
                                          </p:val>
                                        </p:tav>
                                        <p:tav tm="100000">
                                          <p:val>
                                            <p:strVal val="#ppt_x"/>
                                          </p:val>
                                        </p:tav>
                                      </p:tavLst>
                                    </p:anim>
                                    <p:anim calcmode="lin" valueType="num">
                                      <p:cBhvr additive="base">
                                        <p:cTn id="182" dur="500" fill="hold"/>
                                        <p:tgtEl>
                                          <p:spTgt spid="365656"/>
                                        </p:tgtEl>
                                        <p:attrNameLst>
                                          <p:attrName>ppt_y</p:attrName>
                                        </p:attrNameLst>
                                      </p:cBhvr>
                                      <p:tavLst>
                                        <p:tav tm="0">
                                          <p:val>
                                            <p:strVal val="1+#ppt_h/2"/>
                                          </p:val>
                                        </p:tav>
                                        <p:tav tm="100000">
                                          <p:val>
                                            <p:strVal val="#ppt_y"/>
                                          </p:val>
                                        </p:tav>
                                      </p:tavLst>
                                    </p:anim>
                                  </p:childTnLst>
                                </p:cTn>
                              </p:par>
                            </p:childTnLst>
                          </p:cTn>
                        </p:par>
                      </p:childTnLst>
                    </p:cTn>
                  </p:par>
                  <p:par>
                    <p:cTn id="183" fill="hold">
                      <p:stCondLst>
                        <p:cond delay="indefinite"/>
                      </p:stCondLst>
                      <p:childTnLst>
                        <p:par>
                          <p:cTn id="184" fill="hold">
                            <p:stCondLst>
                              <p:cond delay="0"/>
                            </p:stCondLst>
                            <p:childTnLst>
                              <p:par>
                                <p:cTn id="185" presetID="2" presetClass="entr" presetSubtype="4" fill="hold" nodeType="clickEffect">
                                  <p:stCondLst>
                                    <p:cond delay="0"/>
                                  </p:stCondLst>
                                  <p:childTnLst>
                                    <p:set>
                                      <p:cBhvr>
                                        <p:cTn id="186" dur="1" fill="hold">
                                          <p:stCondLst>
                                            <p:cond delay="0"/>
                                          </p:stCondLst>
                                        </p:cTn>
                                        <p:tgtEl>
                                          <p:spTgt spid="365659"/>
                                        </p:tgtEl>
                                        <p:attrNameLst>
                                          <p:attrName>style.visibility</p:attrName>
                                        </p:attrNameLst>
                                      </p:cBhvr>
                                      <p:to>
                                        <p:strVal val="visible"/>
                                      </p:to>
                                    </p:set>
                                    <p:anim calcmode="lin" valueType="num">
                                      <p:cBhvr additive="base">
                                        <p:cTn id="187" dur="500" fill="hold"/>
                                        <p:tgtEl>
                                          <p:spTgt spid="365659"/>
                                        </p:tgtEl>
                                        <p:attrNameLst>
                                          <p:attrName>ppt_x</p:attrName>
                                        </p:attrNameLst>
                                      </p:cBhvr>
                                      <p:tavLst>
                                        <p:tav tm="0">
                                          <p:val>
                                            <p:strVal val="#ppt_x"/>
                                          </p:val>
                                        </p:tav>
                                        <p:tav tm="100000">
                                          <p:val>
                                            <p:strVal val="#ppt_x"/>
                                          </p:val>
                                        </p:tav>
                                      </p:tavLst>
                                    </p:anim>
                                    <p:anim calcmode="lin" valueType="num">
                                      <p:cBhvr additive="base">
                                        <p:cTn id="188" dur="500" fill="hold"/>
                                        <p:tgtEl>
                                          <p:spTgt spid="365659"/>
                                        </p:tgtEl>
                                        <p:attrNameLst>
                                          <p:attrName>ppt_y</p:attrName>
                                        </p:attrNameLst>
                                      </p:cBhvr>
                                      <p:tavLst>
                                        <p:tav tm="0">
                                          <p:val>
                                            <p:strVal val="1+#ppt_h/2"/>
                                          </p:val>
                                        </p:tav>
                                        <p:tav tm="100000">
                                          <p:val>
                                            <p:strVal val="#ppt_y"/>
                                          </p:val>
                                        </p:tav>
                                      </p:tavLst>
                                    </p:anim>
                                  </p:childTnLst>
                                </p:cTn>
                              </p:par>
                            </p:childTnLst>
                          </p:cTn>
                        </p:par>
                      </p:childTnLst>
                    </p:cTn>
                  </p:par>
                  <p:par>
                    <p:cTn id="189" fill="hold">
                      <p:stCondLst>
                        <p:cond delay="indefinite"/>
                      </p:stCondLst>
                      <p:childTnLst>
                        <p:par>
                          <p:cTn id="190" fill="hold">
                            <p:stCondLst>
                              <p:cond delay="0"/>
                            </p:stCondLst>
                            <p:childTnLst>
                              <p:par>
                                <p:cTn id="191" presetID="2" presetClass="entr" presetSubtype="4" fill="hold" grpId="0" nodeType="clickEffect">
                                  <p:stCondLst>
                                    <p:cond delay="0"/>
                                  </p:stCondLst>
                                  <p:childTnLst>
                                    <p:set>
                                      <p:cBhvr>
                                        <p:cTn id="192" dur="1" fill="hold">
                                          <p:stCondLst>
                                            <p:cond delay="0"/>
                                          </p:stCondLst>
                                        </p:cTn>
                                        <p:tgtEl>
                                          <p:spTgt spid="365664"/>
                                        </p:tgtEl>
                                        <p:attrNameLst>
                                          <p:attrName>style.visibility</p:attrName>
                                        </p:attrNameLst>
                                      </p:cBhvr>
                                      <p:to>
                                        <p:strVal val="visible"/>
                                      </p:to>
                                    </p:set>
                                    <p:anim calcmode="lin" valueType="num">
                                      <p:cBhvr additive="base">
                                        <p:cTn id="193" dur="500" fill="hold"/>
                                        <p:tgtEl>
                                          <p:spTgt spid="365664"/>
                                        </p:tgtEl>
                                        <p:attrNameLst>
                                          <p:attrName>ppt_x</p:attrName>
                                        </p:attrNameLst>
                                      </p:cBhvr>
                                      <p:tavLst>
                                        <p:tav tm="0">
                                          <p:val>
                                            <p:strVal val="#ppt_x"/>
                                          </p:val>
                                        </p:tav>
                                        <p:tav tm="100000">
                                          <p:val>
                                            <p:strVal val="#ppt_x"/>
                                          </p:val>
                                        </p:tav>
                                      </p:tavLst>
                                    </p:anim>
                                    <p:anim calcmode="lin" valueType="num">
                                      <p:cBhvr additive="base">
                                        <p:cTn id="194" dur="500" fill="hold"/>
                                        <p:tgtEl>
                                          <p:spTgt spid="365664"/>
                                        </p:tgtEl>
                                        <p:attrNameLst>
                                          <p:attrName>ppt_y</p:attrName>
                                        </p:attrNameLst>
                                      </p:cBhvr>
                                      <p:tavLst>
                                        <p:tav tm="0">
                                          <p:val>
                                            <p:strVal val="1+#ppt_h/2"/>
                                          </p:val>
                                        </p:tav>
                                        <p:tav tm="100000">
                                          <p:val>
                                            <p:strVal val="#ppt_y"/>
                                          </p:val>
                                        </p:tav>
                                      </p:tavLst>
                                    </p:anim>
                                  </p:childTnLst>
                                </p:cTn>
                              </p:par>
                            </p:childTnLst>
                          </p:cTn>
                        </p:par>
                      </p:childTnLst>
                    </p:cTn>
                  </p:par>
                  <p:par>
                    <p:cTn id="195" fill="hold">
                      <p:stCondLst>
                        <p:cond delay="indefinite"/>
                      </p:stCondLst>
                      <p:childTnLst>
                        <p:par>
                          <p:cTn id="196" fill="hold">
                            <p:stCondLst>
                              <p:cond delay="0"/>
                            </p:stCondLst>
                            <p:childTnLst>
                              <p:par>
                                <p:cTn id="197" presetID="2" presetClass="exit" presetSubtype="4" fill="hold" grpId="0" nodeType="clickEffect">
                                  <p:stCondLst>
                                    <p:cond delay="0"/>
                                  </p:stCondLst>
                                  <p:childTnLst>
                                    <p:anim calcmode="lin" valueType="num">
                                      <p:cBhvr additive="base">
                                        <p:cTn id="198" dur="500"/>
                                        <p:tgtEl>
                                          <p:spTgt spid="365656"/>
                                        </p:tgtEl>
                                        <p:attrNameLst>
                                          <p:attrName>ppt_x</p:attrName>
                                        </p:attrNameLst>
                                      </p:cBhvr>
                                      <p:tavLst>
                                        <p:tav tm="0">
                                          <p:val>
                                            <p:strVal val="ppt_x"/>
                                          </p:val>
                                        </p:tav>
                                        <p:tav tm="100000">
                                          <p:val>
                                            <p:strVal val="ppt_x"/>
                                          </p:val>
                                        </p:tav>
                                      </p:tavLst>
                                    </p:anim>
                                    <p:anim calcmode="lin" valueType="num">
                                      <p:cBhvr additive="base">
                                        <p:cTn id="199" dur="500"/>
                                        <p:tgtEl>
                                          <p:spTgt spid="365656"/>
                                        </p:tgtEl>
                                        <p:attrNameLst>
                                          <p:attrName>ppt_y</p:attrName>
                                        </p:attrNameLst>
                                      </p:cBhvr>
                                      <p:tavLst>
                                        <p:tav tm="0">
                                          <p:val>
                                            <p:strVal val="ppt_y"/>
                                          </p:val>
                                        </p:tav>
                                        <p:tav tm="100000">
                                          <p:val>
                                            <p:strVal val="1+ppt_h/2"/>
                                          </p:val>
                                        </p:tav>
                                      </p:tavLst>
                                    </p:anim>
                                    <p:set>
                                      <p:cBhvr>
                                        <p:cTn id="200" dur="1" fill="hold">
                                          <p:stCondLst>
                                            <p:cond delay="499"/>
                                          </p:stCondLst>
                                        </p:cTn>
                                        <p:tgtEl>
                                          <p:spTgt spid="36565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574" grpId="0"/>
      <p:bldP spid="365580" grpId="0"/>
      <p:bldP spid="365580" grpId="1"/>
      <p:bldP spid="365583" grpId="0"/>
      <p:bldP spid="365586" grpId="0"/>
      <p:bldP spid="365639" grpId="0" animBg="1"/>
      <p:bldP spid="365642" grpId="0" animBg="1"/>
      <p:bldP spid="365643" grpId="0" animBg="1"/>
      <p:bldP spid="365644" grpId="0" animBg="1"/>
      <p:bldP spid="365645" grpId="0" animBg="1"/>
      <p:bldP spid="365646" grpId="0"/>
      <p:bldP spid="365646" grpId="1"/>
      <p:bldP spid="365647" grpId="0" animBg="1"/>
      <p:bldP spid="365648" grpId="0"/>
      <p:bldP spid="365649" grpId="0" animBg="1"/>
      <p:bldP spid="365650" grpId="0"/>
      <p:bldP spid="365650" grpId="1"/>
      <p:bldP spid="365651" grpId="0"/>
      <p:bldP spid="365652" grpId="0" animBg="1"/>
      <p:bldP spid="365653" grpId="0"/>
      <p:bldP spid="365654" grpId="0" animBg="1"/>
      <p:bldP spid="365655" grpId="0"/>
      <p:bldP spid="365655" grpId="1"/>
      <p:bldP spid="365656" grpId="0"/>
      <p:bldP spid="365657" grpId="0"/>
      <p:bldP spid="365658" grpId="0" animBg="1"/>
      <p:bldP spid="365658" grpId="1" animBg="1"/>
      <p:bldP spid="365661" grpId="0" animBg="1"/>
      <p:bldP spid="365662" grpId="0" animBg="1"/>
      <p:bldP spid="365663" grpId="0" animBg="1"/>
      <p:bldP spid="36566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fld id="{7C56A956-0A55-4920-AAD9-87B903C5F8B6}" type="slidenum">
              <a:rPr lang="en-US" altLang="zh-CN"/>
            </a:fld>
            <a:endParaRPr lang="en-US" altLang="zh-CN"/>
          </a:p>
        </p:txBody>
      </p:sp>
      <p:sp>
        <p:nvSpPr>
          <p:cNvPr id="291845" name="Rectangle 5"/>
          <p:cNvSpPr>
            <a:spLocks noChangeArrowheads="1"/>
          </p:cNvSpPr>
          <p:nvPr/>
        </p:nvSpPr>
        <p:spPr bwMode="auto">
          <a:xfrm>
            <a:off x="611188"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3900" b="1">
                <a:solidFill>
                  <a:schemeClr val="tx2"/>
                </a:solidFill>
                <a:effectLst>
                  <a:outerShdw blurRad="38100" dist="38100" dir="2700000" algn="tl">
                    <a:srgbClr val="C0C0C0"/>
                  </a:outerShdw>
                </a:effectLst>
                <a:ea typeface="黑体" panose="02010609060101010101" pitchFamily="49" charset="-122"/>
              </a:rPr>
              <a:t>装载问题</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sp>
        <p:nvSpPr>
          <p:cNvPr id="291846" name="Text Box 6"/>
          <p:cNvSpPr txBox="1">
            <a:spLocks noChangeArrowheads="1"/>
          </p:cNvSpPr>
          <p:nvPr/>
        </p:nvSpPr>
        <p:spPr bwMode="auto">
          <a:xfrm>
            <a:off x="395288" y="620713"/>
            <a:ext cx="8353425"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FontTx/>
              <a:buChar char="•"/>
            </a:pPr>
            <a:r>
              <a:rPr lang="zh-CN" altLang="en-US" sz="2400">
                <a:ea typeface="新宋体" panose="02010609030101010101" charset="-122"/>
              </a:rPr>
              <a:t>解空间：子集树</a:t>
            </a:r>
            <a:endParaRPr lang="zh-CN" altLang="en-US" sz="2400">
              <a:ea typeface="新宋体" panose="02010609030101010101" charset="-122"/>
            </a:endParaRPr>
          </a:p>
          <a:p>
            <a:pPr>
              <a:buClr>
                <a:schemeClr val="accent2"/>
              </a:buClr>
              <a:buFontTx/>
              <a:buChar char="•"/>
            </a:pPr>
            <a:r>
              <a:rPr lang="zh-CN" altLang="en-US" sz="2400">
                <a:ea typeface="新宋体" panose="02010609030101010101" charset="-122"/>
              </a:rPr>
              <a:t>可行性约束函数</a:t>
            </a:r>
            <a:r>
              <a:rPr lang="en-US" altLang="zh-CN" sz="2400">
                <a:ea typeface="新宋体" panose="02010609030101010101" charset="-122"/>
              </a:rPr>
              <a:t>(</a:t>
            </a:r>
            <a:r>
              <a:rPr lang="zh-CN" altLang="en-US" sz="2400">
                <a:ea typeface="新宋体" panose="02010609030101010101" charset="-122"/>
              </a:rPr>
              <a:t>选择当前元素</a:t>
            </a:r>
            <a:r>
              <a:rPr lang="en-US" altLang="zh-CN" sz="2400">
                <a:ea typeface="新宋体" panose="02010609030101010101" charset="-122"/>
              </a:rPr>
              <a:t>)</a:t>
            </a:r>
            <a:r>
              <a:rPr lang="zh-CN" altLang="en-US" sz="2400">
                <a:ea typeface="新宋体" panose="02010609030101010101" charset="-122"/>
              </a:rPr>
              <a:t>：</a:t>
            </a:r>
            <a:endParaRPr lang="zh-CN" altLang="en-US" sz="2400">
              <a:ea typeface="新宋体" panose="02010609030101010101" charset="-122"/>
            </a:endParaRPr>
          </a:p>
          <a:p>
            <a:pPr>
              <a:buClr>
                <a:schemeClr val="accent2"/>
              </a:buClr>
              <a:buFontTx/>
              <a:buChar char="•"/>
            </a:pPr>
            <a:r>
              <a:rPr lang="zh-CN" altLang="en-US" sz="2400">
                <a:ea typeface="新宋体" panose="02010609030101010101" charset="-122"/>
              </a:rPr>
              <a:t>上界函数</a:t>
            </a:r>
            <a:r>
              <a:rPr lang="en-US" altLang="zh-CN" sz="2400">
                <a:ea typeface="新宋体" panose="02010609030101010101" charset="-122"/>
              </a:rPr>
              <a:t>(</a:t>
            </a:r>
            <a:r>
              <a:rPr lang="zh-CN" altLang="en-US" sz="2400">
                <a:ea typeface="新宋体" panose="02010609030101010101" charset="-122"/>
              </a:rPr>
              <a:t>不选择当前元素</a:t>
            </a:r>
            <a:r>
              <a:rPr lang="en-US" altLang="zh-CN" sz="2400">
                <a:ea typeface="新宋体" panose="02010609030101010101" charset="-122"/>
              </a:rPr>
              <a:t>)</a:t>
            </a:r>
            <a:r>
              <a:rPr lang="zh-CN" altLang="en-US" sz="2400">
                <a:ea typeface="新宋体" panose="02010609030101010101" charset="-122"/>
              </a:rPr>
              <a:t>：</a:t>
            </a:r>
            <a:endParaRPr lang="zh-CN" altLang="en-US" sz="2400">
              <a:ea typeface="新宋体" panose="02010609030101010101" charset="-122"/>
            </a:endParaRPr>
          </a:p>
          <a:p>
            <a:pPr>
              <a:buClr>
                <a:schemeClr val="accent2"/>
              </a:buClr>
            </a:pPr>
            <a:r>
              <a:rPr lang="zh-CN" altLang="en-US" sz="2400">
                <a:ea typeface="新宋体" panose="02010609030101010101" charset="-122"/>
              </a:rPr>
              <a:t>当前载重量</a:t>
            </a:r>
            <a:r>
              <a:rPr lang="en-US" altLang="zh-CN" sz="2400">
                <a:ea typeface="新宋体" panose="02010609030101010101" charset="-122"/>
              </a:rPr>
              <a:t>cw+</a:t>
            </a:r>
            <a:r>
              <a:rPr lang="zh-CN" altLang="en-US" sz="2400">
                <a:ea typeface="新宋体" panose="02010609030101010101" charset="-122"/>
              </a:rPr>
              <a:t>剩余集装箱的重量</a:t>
            </a:r>
            <a:r>
              <a:rPr lang="en-US" altLang="zh-CN" sz="2400">
                <a:ea typeface="新宋体" panose="02010609030101010101" charset="-122"/>
              </a:rPr>
              <a:t>r</a:t>
            </a:r>
            <a:r>
              <a:rPr lang="en-US" altLang="zh-CN" sz="2400">
                <a:ea typeface="新宋体" panose="02010609030101010101" charset="-122"/>
                <a:sym typeface="Symbol" panose="05050102010706020507" pitchFamily="18" charset="2"/>
              </a:rPr>
              <a:t></a:t>
            </a:r>
            <a:r>
              <a:rPr lang="zh-CN" altLang="en-US" sz="2400">
                <a:ea typeface="新宋体" panose="02010609030101010101" charset="-122"/>
              </a:rPr>
              <a:t>当前最优载重量</a:t>
            </a:r>
            <a:r>
              <a:rPr lang="en-US" altLang="zh-CN" sz="2400">
                <a:ea typeface="新宋体" panose="02010609030101010101" charset="-122"/>
              </a:rPr>
              <a:t>bestw</a:t>
            </a:r>
            <a:endParaRPr lang="en-US" altLang="zh-CN" sz="2400">
              <a:ea typeface="新宋体" panose="02010609030101010101" charset="-122"/>
            </a:endParaRPr>
          </a:p>
        </p:txBody>
      </p:sp>
      <p:graphicFrame>
        <p:nvGraphicFramePr>
          <p:cNvPr id="291847" name="Object 7"/>
          <p:cNvGraphicFramePr>
            <a:graphicFrameLocks noChangeAspect="1"/>
          </p:cNvGraphicFramePr>
          <p:nvPr/>
        </p:nvGraphicFramePr>
        <p:xfrm>
          <a:off x="4932363" y="836613"/>
          <a:ext cx="1368425" cy="768350"/>
        </p:xfrm>
        <a:graphic>
          <a:graphicData uri="http://schemas.openxmlformats.org/presentationml/2006/ole">
            <mc:AlternateContent xmlns:mc="http://schemas.openxmlformats.org/markup-compatibility/2006">
              <mc:Choice xmlns:v="urn:schemas-microsoft-com:vml" Requires="v">
                <p:oleObj spid="_x0000_s291858" name="公式" r:id="rId1" imgW="761365" imgH="431800" progId="Equation.3">
                  <p:embed/>
                </p:oleObj>
              </mc:Choice>
              <mc:Fallback>
                <p:oleObj name="公式" r:id="rId1" imgW="761365" imgH="431800" progId="Equation.3">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363" y="836613"/>
                        <a:ext cx="1368425" cy="768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91849" name="Picture 9" descr="t5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9338" y="4144963"/>
            <a:ext cx="4248150" cy="214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853" name="Rectangle 13"/>
          <p:cNvSpPr>
            <a:spLocks noChangeArrowheads="1"/>
          </p:cNvSpPr>
          <p:nvPr/>
        </p:nvSpPr>
        <p:spPr bwMode="auto">
          <a:xfrm>
            <a:off x="395288" y="2193925"/>
            <a:ext cx="4437062" cy="466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pPr indent="266700"/>
            <a:r>
              <a:rPr kumimoji="1" lang="en-US" altLang="zh-CN" sz="2000">
                <a:ea typeface="新宋体" panose="02010609030101010101" charset="-122"/>
              </a:rPr>
              <a:t>void </a:t>
            </a:r>
            <a:r>
              <a:rPr kumimoji="1" lang="en-US" altLang="zh-CN" sz="2000" b="1">
                <a:ea typeface="新宋体" panose="02010609030101010101" charset="-122"/>
              </a:rPr>
              <a:t>backtrack</a:t>
            </a:r>
            <a:r>
              <a:rPr kumimoji="1" lang="en-US" altLang="zh-CN" sz="2000">
                <a:ea typeface="新宋体" panose="02010609030101010101" charset="-122"/>
              </a:rPr>
              <a:t> (int i)</a:t>
            </a:r>
            <a:endParaRPr kumimoji="1" lang="en-US" altLang="zh-CN" sz="2000">
              <a:ea typeface="新宋体" panose="02010609030101010101" charset="-122"/>
            </a:endParaRPr>
          </a:p>
          <a:p>
            <a:pPr indent="266700"/>
            <a:r>
              <a:rPr kumimoji="1" lang="en-US" altLang="zh-CN" sz="2000">
                <a:ea typeface="新宋体" panose="02010609030101010101" charset="-122"/>
              </a:rPr>
              <a:t>   {// </a:t>
            </a:r>
            <a:r>
              <a:rPr kumimoji="1" lang="zh-CN" altLang="en-US" sz="2000">
                <a:ea typeface="新宋体" panose="02010609030101010101" charset="-122"/>
              </a:rPr>
              <a:t>搜索第</a:t>
            </a:r>
            <a:r>
              <a:rPr kumimoji="1" lang="en-US" altLang="zh-CN" sz="2000">
                <a:ea typeface="新宋体" panose="02010609030101010101" charset="-122"/>
              </a:rPr>
              <a:t>i</a:t>
            </a:r>
            <a:r>
              <a:rPr kumimoji="1" lang="zh-CN" altLang="en-US" sz="2000">
                <a:ea typeface="新宋体" panose="02010609030101010101" charset="-122"/>
              </a:rPr>
              <a:t>层结点</a:t>
            </a:r>
            <a:endParaRPr kumimoji="1" lang="zh-CN" altLang="en-US" sz="2000">
              <a:ea typeface="新宋体" panose="02010609030101010101" charset="-122"/>
            </a:endParaRPr>
          </a:p>
          <a:p>
            <a:pPr indent="266700"/>
            <a:r>
              <a:rPr kumimoji="1" lang="zh-CN" altLang="en-US" sz="2000">
                <a:ea typeface="新宋体" panose="02010609030101010101" charset="-122"/>
              </a:rPr>
              <a:t>      </a:t>
            </a:r>
            <a:r>
              <a:rPr kumimoji="1" lang="en-US" altLang="zh-CN" sz="2000" b="1">
                <a:ea typeface="新宋体" panose="02010609030101010101" charset="-122"/>
              </a:rPr>
              <a:t>if</a:t>
            </a:r>
            <a:r>
              <a:rPr kumimoji="1" lang="en-US" altLang="zh-CN" sz="2000">
                <a:ea typeface="新宋体" panose="02010609030101010101" charset="-122"/>
              </a:rPr>
              <a:t> (i &gt; n)  // </a:t>
            </a:r>
            <a:r>
              <a:rPr kumimoji="1" lang="zh-CN" altLang="en-US" sz="2000">
                <a:ea typeface="新宋体" panose="02010609030101010101" charset="-122"/>
              </a:rPr>
              <a:t>到达叶结点</a:t>
            </a:r>
            <a:endParaRPr kumimoji="1" lang="zh-CN" altLang="en-US" sz="2000">
              <a:ea typeface="新宋体" panose="02010609030101010101" charset="-122"/>
            </a:endParaRPr>
          </a:p>
          <a:p>
            <a:pPr indent="266700"/>
            <a:r>
              <a:rPr kumimoji="1" lang="zh-CN" altLang="en-US" sz="2000">
                <a:ea typeface="新宋体" panose="02010609030101010101" charset="-122"/>
              </a:rPr>
              <a:t>      更新最优解</a:t>
            </a:r>
            <a:r>
              <a:rPr kumimoji="1" lang="en-US" altLang="zh-CN" sz="2000">
                <a:ea typeface="新宋体" panose="02010609030101010101" charset="-122"/>
              </a:rPr>
              <a:t>bestx,bestw;return;</a:t>
            </a:r>
            <a:endParaRPr kumimoji="1" lang="en-US" altLang="zh-CN" sz="2000">
              <a:ea typeface="新宋体" panose="02010609030101010101" charset="-122"/>
            </a:endParaRPr>
          </a:p>
          <a:p>
            <a:pPr indent="266700"/>
            <a:r>
              <a:rPr kumimoji="1" lang="en-US" altLang="zh-CN" sz="2000">
                <a:ea typeface="新宋体" panose="02010609030101010101" charset="-122"/>
              </a:rPr>
              <a:t>      r -= w[i];</a:t>
            </a:r>
            <a:endParaRPr kumimoji="1" lang="en-US" altLang="zh-CN" sz="2000">
              <a:ea typeface="新宋体" panose="02010609030101010101" charset="-122"/>
            </a:endParaRPr>
          </a:p>
          <a:p>
            <a:pPr indent="266700"/>
            <a:r>
              <a:rPr kumimoji="1" lang="en-US" altLang="zh-CN" sz="2000">
                <a:ea typeface="新宋体" panose="02010609030101010101" charset="-122"/>
              </a:rPr>
              <a:t>      </a:t>
            </a:r>
            <a:r>
              <a:rPr kumimoji="1" lang="en-US" altLang="zh-CN" sz="2000" b="1">
                <a:ea typeface="新宋体" panose="02010609030101010101" charset="-122"/>
              </a:rPr>
              <a:t>if </a:t>
            </a:r>
            <a:r>
              <a:rPr kumimoji="1" lang="en-US" altLang="zh-CN" sz="2000">
                <a:ea typeface="新宋体" panose="02010609030101010101" charset="-122"/>
              </a:rPr>
              <a:t>(cw + w[i] &lt;= c) {// </a:t>
            </a:r>
            <a:r>
              <a:rPr kumimoji="1" lang="zh-CN" altLang="en-US" sz="2000">
                <a:ea typeface="新宋体" panose="02010609030101010101" charset="-122"/>
              </a:rPr>
              <a:t>搜索左子树</a:t>
            </a:r>
            <a:endParaRPr kumimoji="1" lang="zh-CN" altLang="en-US" sz="2000">
              <a:ea typeface="新宋体" panose="02010609030101010101" charset="-122"/>
            </a:endParaRPr>
          </a:p>
          <a:p>
            <a:pPr indent="266700"/>
            <a:r>
              <a:rPr kumimoji="1" lang="zh-CN" altLang="en-US" sz="2000">
                <a:ea typeface="新宋体" panose="02010609030101010101" charset="-122"/>
              </a:rPr>
              <a:t>         </a:t>
            </a:r>
            <a:r>
              <a:rPr kumimoji="1" lang="en-US" altLang="zh-CN" sz="2000">
                <a:ea typeface="新宋体" panose="02010609030101010101" charset="-122"/>
              </a:rPr>
              <a:t>x[i] = 1;</a:t>
            </a:r>
            <a:endParaRPr kumimoji="1" lang="en-US" altLang="zh-CN" sz="2000">
              <a:ea typeface="新宋体" panose="02010609030101010101" charset="-122"/>
            </a:endParaRPr>
          </a:p>
          <a:p>
            <a:pPr indent="266700"/>
            <a:r>
              <a:rPr kumimoji="1" lang="en-US" altLang="zh-CN" sz="2000">
                <a:ea typeface="新宋体" panose="02010609030101010101" charset="-122"/>
              </a:rPr>
              <a:t>         cw += w[i];</a:t>
            </a:r>
            <a:endParaRPr kumimoji="1" lang="en-US" altLang="zh-CN" sz="2000">
              <a:ea typeface="新宋体" panose="02010609030101010101" charset="-122"/>
            </a:endParaRPr>
          </a:p>
          <a:p>
            <a:pPr indent="266700"/>
            <a:r>
              <a:rPr kumimoji="1" lang="en-US" altLang="zh-CN" sz="2000">
                <a:ea typeface="新宋体" panose="02010609030101010101" charset="-122"/>
              </a:rPr>
              <a:t>         </a:t>
            </a:r>
            <a:r>
              <a:rPr kumimoji="1" lang="en-US" altLang="zh-CN" sz="2000" b="1">
                <a:ea typeface="新宋体" panose="02010609030101010101" charset="-122"/>
              </a:rPr>
              <a:t>backtrack</a:t>
            </a:r>
            <a:r>
              <a:rPr kumimoji="1" lang="en-US" altLang="zh-CN" sz="2000">
                <a:ea typeface="新宋体" panose="02010609030101010101" charset="-122"/>
              </a:rPr>
              <a:t>(i + 1);</a:t>
            </a:r>
            <a:endParaRPr kumimoji="1" lang="en-US" altLang="zh-CN" sz="2000">
              <a:ea typeface="新宋体" panose="02010609030101010101" charset="-122"/>
            </a:endParaRPr>
          </a:p>
          <a:p>
            <a:pPr indent="266700"/>
            <a:r>
              <a:rPr kumimoji="1" lang="en-US" altLang="zh-CN" sz="2000">
                <a:ea typeface="新宋体" panose="02010609030101010101" charset="-122"/>
              </a:rPr>
              <a:t>         cw -= w[i];      }</a:t>
            </a:r>
            <a:endParaRPr kumimoji="1" lang="en-US" altLang="zh-CN" sz="2000">
              <a:ea typeface="新宋体" panose="02010609030101010101" charset="-122"/>
            </a:endParaRPr>
          </a:p>
          <a:p>
            <a:pPr indent="266700"/>
            <a:r>
              <a:rPr kumimoji="1" lang="en-US" altLang="zh-CN" sz="2000">
                <a:ea typeface="新宋体" panose="02010609030101010101" charset="-122"/>
              </a:rPr>
              <a:t>      </a:t>
            </a:r>
            <a:r>
              <a:rPr kumimoji="1" lang="en-US" altLang="zh-CN" sz="2000" b="1">
                <a:ea typeface="新宋体" panose="02010609030101010101" charset="-122"/>
              </a:rPr>
              <a:t>if </a:t>
            </a:r>
            <a:r>
              <a:rPr kumimoji="1" lang="en-US" altLang="zh-CN" sz="2000">
                <a:ea typeface="新宋体" panose="02010609030101010101" charset="-122"/>
              </a:rPr>
              <a:t>(cw + r &gt; bestw)  {</a:t>
            </a:r>
            <a:endParaRPr kumimoji="1" lang="en-US" altLang="zh-CN" sz="2000">
              <a:ea typeface="新宋体" panose="02010609030101010101" charset="-122"/>
            </a:endParaRPr>
          </a:p>
          <a:p>
            <a:pPr indent="266700"/>
            <a:r>
              <a:rPr kumimoji="1" lang="en-US" altLang="zh-CN" sz="2000">
                <a:ea typeface="新宋体" panose="02010609030101010101" charset="-122"/>
              </a:rPr>
              <a:t>         x[i] = 0;  // </a:t>
            </a:r>
            <a:r>
              <a:rPr kumimoji="1" lang="zh-CN" altLang="en-US" sz="2000">
                <a:ea typeface="新宋体" panose="02010609030101010101" charset="-122"/>
              </a:rPr>
              <a:t>搜索右子树</a:t>
            </a:r>
            <a:endParaRPr kumimoji="1" lang="zh-CN" altLang="en-US" sz="2000">
              <a:ea typeface="新宋体" panose="02010609030101010101" charset="-122"/>
            </a:endParaRPr>
          </a:p>
          <a:p>
            <a:pPr indent="266700"/>
            <a:r>
              <a:rPr kumimoji="1" lang="zh-CN" altLang="en-US" sz="2000">
                <a:ea typeface="新宋体" panose="02010609030101010101" charset="-122"/>
              </a:rPr>
              <a:t>         </a:t>
            </a:r>
            <a:r>
              <a:rPr kumimoji="1" lang="en-US" altLang="zh-CN" sz="2000" b="1">
                <a:ea typeface="新宋体" panose="02010609030101010101" charset="-122"/>
              </a:rPr>
              <a:t>backtrack</a:t>
            </a:r>
            <a:r>
              <a:rPr kumimoji="1" lang="en-US" altLang="zh-CN" sz="2000">
                <a:ea typeface="新宋体" panose="02010609030101010101" charset="-122"/>
              </a:rPr>
              <a:t>(i + 1);      }</a:t>
            </a:r>
            <a:endParaRPr kumimoji="1" lang="en-US" altLang="zh-CN" sz="2000">
              <a:ea typeface="新宋体" panose="02010609030101010101" charset="-122"/>
            </a:endParaRPr>
          </a:p>
          <a:p>
            <a:pPr indent="266700"/>
            <a:r>
              <a:rPr kumimoji="1" lang="en-US" altLang="zh-CN" sz="2000">
                <a:ea typeface="新宋体" panose="02010609030101010101" charset="-122"/>
              </a:rPr>
              <a:t>      r += w[i];</a:t>
            </a:r>
            <a:endParaRPr kumimoji="1" lang="en-US" altLang="zh-CN" sz="2000">
              <a:ea typeface="新宋体" panose="02010609030101010101" charset="-122"/>
            </a:endParaRPr>
          </a:p>
          <a:p>
            <a:pPr indent="266700"/>
            <a:r>
              <a:rPr kumimoji="1" lang="en-US" altLang="zh-CN" sz="2000">
                <a:ea typeface="新宋体" panose="02010609030101010101" charset="-122"/>
              </a:rPr>
              <a:t>   }</a:t>
            </a:r>
            <a:endParaRPr kumimoji="1" lang="en-US" altLang="zh-CN" sz="2000">
              <a:ea typeface="新宋体" panose="02010609030101010101"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4"/>
          </p:nvPr>
        </p:nvSpPr>
        <p:spPr/>
        <p:txBody>
          <a:bodyPr/>
          <a:lstStyle/>
          <a:p>
            <a:fld id="{3526DB33-A3C8-4DD9-BF65-76D3996996F9}" type="slidenum">
              <a:rPr lang="en-US" altLang="zh-CN"/>
            </a:fld>
            <a:endParaRPr lang="en-US" altLang="zh-CN"/>
          </a:p>
        </p:txBody>
      </p:sp>
      <p:sp>
        <p:nvSpPr>
          <p:cNvPr id="348164" name="Rectangle 4"/>
          <p:cNvSpPr>
            <a:spLocks noGrp="1" noChangeArrowheads="1"/>
          </p:cNvSpPr>
          <p:nvPr>
            <p:ph type="ctrTitle"/>
          </p:nvPr>
        </p:nvSpPr>
        <p:spPr/>
        <p:txBody>
          <a:bodyPr/>
          <a:lstStyle/>
          <a:p>
            <a:r>
              <a:rPr lang="zh-CN" altLang="en-US">
                <a:effectLst>
                  <a:outerShdw blurRad="38100" dist="38100" dir="2700000" algn="tl">
                    <a:srgbClr val="C0C0C0"/>
                  </a:outerShdw>
                </a:effectLst>
                <a:ea typeface="黑体" panose="02010609060101010101" pitchFamily="49" charset="-122"/>
              </a:rPr>
              <a:t>批处理作业调度</a:t>
            </a:r>
            <a:endParaRPr lang="zh-CN" altLang="en-US">
              <a:effectLst>
                <a:outerShdw blurRad="38100" dist="38100" dir="2700000" algn="tl">
                  <a:srgbClr val="C0C0C0"/>
                </a:outerShdw>
              </a:effectLst>
              <a:ea typeface="黑体" panose="02010609060101010101" pitchFamily="49" charset="-122"/>
            </a:endParaRPr>
          </a:p>
        </p:txBody>
      </p:sp>
      <p:sp>
        <p:nvSpPr>
          <p:cNvPr id="348165" name="Rectangle 5"/>
          <p:cNvSpPr>
            <a:spLocks noGrp="1" noChangeArrowheads="1"/>
          </p:cNvSpPr>
          <p:nvPr>
            <p:ph type="subTitle" idx="1"/>
          </p:nvPr>
        </p:nvSpPr>
        <p:spPr/>
        <p:txBody>
          <a:bodyPr/>
          <a:lstStyle/>
          <a:p>
            <a:endParaRPr lang="zh-CN" alt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灯片编号占位符 3"/>
          <p:cNvSpPr>
            <a:spLocks noGrp="1"/>
          </p:cNvSpPr>
          <p:nvPr>
            <p:ph type="sldNum" sz="quarter" idx="12"/>
          </p:nvPr>
        </p:nvSpPr>
        <p:spPr/>
        <p:txBody>
          <a:bodyPr/>
          <a:lstStyle/>
          <a:p>
            <a:fld id="{FB1EF650-8316-4907-83F9-F73007A8D686}" type="slidenum">
              <a:rPr lang="en-US" altLang="zh-CN"/>
            </a:fld>
            <a:endParaRPr lang="en-US" altLang="zh-CN"/>
          </a:p>
        </p:txBody>
      </p:sp>
      <p:sp>
        <p:nvSpPr>
          <p:cNvPr id="292868" name="Rectangle 4"/>
          <p:cNvSpPr>
            <a:spLocks noChangeArrowheads="1"/>
          </p:cNvSpPr>
          <p:nvPr/>
        </p:nvSpPr>
        <p:spPr bwMode="auto">
          <a:xfrm>
            <a:off x="611188"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3900" b="1">
                <a:solidFill>
                  <a:schemeClr val="tx2"/>
                </a:solidFill>
                <a:effectLst>
                  <a:outerShdw blurRad="38100" dist="38100" dir="2700000" algn="tl">
                    <a:srgbClr val="C0C0C0"/>
                  </a:outerShdw>
                </a:effectLst>
                <a:ea typeface="黑体" panose="02010609060101010101" pitchFamily="49" charset="-122"/>
              </a:rPr>
              <a:t>批处理作业调度</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sp>
        <p:nvSpPr>
          <p:cNvPr id="292869" name="Text Box 5"/>
          <p:cNvSpPr txBox="1">
            <a:spLocks noChangeArrowheads="1"/>
          </p:cNvSpPr>
          <p:nvPr/>
        </p:nvSpPr>
        <p:spPr bwMode="auto">
          <a:xfrm>
            <a:off x="0" y="765175"/>
            <a:ext cx="88011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给定</a:t>
            </a:r>
            <a:r>
              <a:rPr lang="en-US" altLang="zh-CN" sz="2400">
                <a:ea typeface="新宋体" panose="02010609030101010101" charset="-122"/>
              </a:rPr>
              <a:t>n</a:t>
            </a:r>
            <a:r>
              <a:rPr lang="zh-CN" altLang="en-US" sz="2400">
                <a:ea typeface="新宋体" panose="02010609030101010101" charset="-122"/>
              </a:rPr>
              <a:t>个作业的集合</a:t>
            </a:r>
            <a:r>
              <a:rPr lang="en-US" altLang="zh-CN" sz="2400">
                <a:ea typeface="新宋体" panose="02010609030101010101" charset="-122"/>
              </a:rPr>
              <a:t>{J</a:t>
            </a:r>
            <a:r>
              <a:rPr lang="en-US" altLang="zh-CN" sz="2400" baseline="-25000">
                <a:ea typeface="新宋体" panose="02010609030101010101" charset="-122"/>
              </a:rPr>
              <a:t>1</a:t>
            </a:r>
            <a:r>
              <a:rPr lang="en-US" altLang="zh-CN" sz="2400">
                <a:ea typeface="新宋体" panose="02010609030101010101" charset="-122"/>
              </a:rPr>
              <a:t>,J</a:t>
            </a:r>
            <a:r>
              <a:rPr lang="en-US" altLang="zh-CN" sz="2400" baseline="-25000">
                <a:ea typeface="新宋体" panose="02010609030101010101" charset="-122"/>
              </a:rPr>
              <a:t>2</a:t>
            </a:r>
            <a:r>
              <a:rPr lang="en-US" altLang="zh-CN" sz="2400">
                <a:ea typeface="新宋体" panose="02010609030101010101" charset="-122"/>
              </a:rPr>
              <a:t>,…,J</a:t>
            </a:r>
            <a:r>
              <a:rPr lang="en-US" altLang="zh-CN" sz="2400" baseline="-25000">
                <a:ea typeface="新宋体" panose="02010609030101010101" charset="-122"/>
              </a:rPr>
              <a:t>n</a:t>
            </a:r>
            <a:r>
              <a:rPr lang="en-US" altLang="zh-CN" sz="2400">
                <a:ea typeface="新宋体" panose="02010609030101010101" charset="-122"/>
              </a:rPr>
              <a:t>}</a:t>
            </a:r>
            <a:r>
              <a:rPr lang="zh-CN" altLang="en-US" sz="2400">
                <a:ea typeface="新宋体" panose="02010609030101010101" charset="-122"/>
              </a:rPr>
              <a:t>。每个作业必须先由机器</a:t>
            </a:r>
            <a:r>
              <a:rPr lang="en-US" altLang="zh-CN" sz="2400">
                <a:ea typeface="新宋体" panose="02010609030101010101" charset="-122"/>
              </a:rPr>
              <a:t>1</a:t>
            </a:r>
            <a:r>
              <a:rPr lang="zh-CN" altLang="en-US" sz="2400">
                <a:ea typeface="新宋体" panose="02010609030101010101" charset="-122"/>
              </a:rPr>
              <a:t>处理，然后由机器</a:t>
            </a:r>
            <a:r>
              <a:rPr lang="en-US" altLang="zh-CN" sz="2400">
                <a:ea typeface="新宋体" panose="02010609030101010101" charset="-122"/>
              </a:rPr>
              <a:t>2</a:t>
            </a:r>
            <a:r>
              <a:rPr lang="zh-CN" altLang="en-US" sz="2400">
                <a:ea typeface="新宋体" panose="02010609030101010101" charset="-122"/>
              </a:rPr>
              <a:t>处理。作业</a:t>
            </a:r>
            <a:r>
              <a:rPr lang="en-US" altLang="zh-CN" sz="2400">
                <a:ea typeface="新宋体" panose="02010609030101010101" charset="-122"/>
              </a:rPr>
              <a:t>J</a:t>
            </a:r>
            <a:r>
              <a:rPr lang="en-US" altLang="zh-CN" sz="2400" baseline="-25000">
                <a:ea typeface="新宋体" panose="02010609030101010101" charset="-122"/>
              </a:rPr>
              <a:t>i</a:t>
            </a:r>
            <a:r>
              <a:rPr lang="zh-CN" altLang="en-US" sz="2400">
                <a:ea typeface="新宋体" panose="02010609030101010101" charset="-122"/>
              </a:rPr>
              <a:t>需要机器</a:t>
            </a:r>
            <a:r>
              <a:rPr lang="en-US" altLang="zh-CN" sz="2400">
                <a:ea typeface="新宋体" panose="02010609030101010101" charset="-122"/>
              </a:rPr>
              <a:t>j</a:t>
            </a:r>
            <a:r>
              <a:rPr lang="zh-CN" altLang="en-US" sz="2400">
                <a:ea typeface="新宋体" panose="02010609030101010101" charset="-122"/>
              </a:rPr>
              <a:t>的处理时间为</a:t>
            </a:r>
            <a:r>
              <a:rPr lang="en-US" altLang="zh-CN" sz="2400">
                <a:ea typeface="新宋体" panose="02010609030101010101" charset="-122"/>
              </a:rPr>
              <a:t>t</a:t>
            </a:r>
            <a:r>
              <a:rPr lang="en-US" altLang="zh-CN" sz="2400" baseline="-25000">
                <a:ea typeface="新宋体" panose="02010609030101010101" charset="-122"/>
              </a:rPr>
              <a:t>ji</a:t>
            </a:r>
            <a:r>
              <a:rPr lang="zh-CN" altLang="en-US" sz="2400">
                <a:ea typeface="新宋体" panose="02010609030101010101" charset="-122"/>
              </a:rPr>
              <a:t>。对于一个确定的作业调度，设</a:t>
            </a:r>
            <a:r>
              <a:rPr lang="en-US" altLang="zh-CN" sz="2400">
                <a:ea typeface="新宋体" panose="02010609030101010101" charset="-122"/>
              </a:rPr>
              <a:t>F</a:t>
            </a:r>
            <a:r>
              <a:rPr lang="en-US" altLang="zh-CN" sz="2400" baseline="-25000">
                <a:ea typeface="新宋体" panose="02010609030101010101" charset="-122"/>
              </a:rPr>
              <a:t>ji</a:t>
            </a:r>
            <a:r>
              <a:rPr lang="zh-CN" altLang="en-US" sz="2400">
                <a:ea typeface="新宋体" panose="02010609030101010101" charset="-122"/>
              </a:rPr>
              <a:t>是作业</a:t>
            </a:r>
            <a:r>
              <a:rPr lang="en-US" altLang="zh-CN" sz="2400">
                <a:ea typeface="新宋体" panose="02010609030101010101" charset="-122"/>
              </a:rPr>
              <a:t>i</a:t>
            </a:r>
            <a:r>
              <a:rPr lang="zh-CN" altLang="en-US" sz="2400">
                <a:ea typeface="新宋体" panose="02010609030101010101" charset="-122"/>
              </a:rPr>
              <a:t>在机器</a:t>
            </a:r>
            <a:r>
              <a:rPr lang="en-US" altLang="zh-CN" sz="2400">
                <a:ea typeface="新宋体" panose="02010609030101010101" charset="-122"/>
              </a:rPr>
              <a:t>j</a:t>
            </a:r>
            <a:r>
              <a:rPr lang="zh-CN" altLang="en-US" sz="2400">
                <a:ea typeface="新宋体" panose="02010609030101010101" charset="-122"/>
              </a:rPr>
              <a:t>上完成处理的时间。所有作业在机器</a:t>
            </a:r>
            <a:r>
              <a:rPr lang="en-US" altLang="zh-CN" sz="2400">
                <a:ea typeface="新宋体" panose="02010609030101010101" charset="-122"/>
              </a:rPr>
              <a:t>2</a:t>
            </a:r>
            <a:r>
              <a:rPr lang="zh-CN" altLang="en-US" sz="2400">
                <a:ea typeface="新宋体" panose="02010609030101010101" charset="-122"/>
              </a:rPr>
              <a:t>上完成处理的时间和称为该作业调度的完成时间和。</a:t>
            </a:r>
            <a:endParaRPr lang="zh-CN" altLang="en-US" sz="2400">
              <a:ea typeface="新宋体" panose="02010609030101010101" charset="-122"/>
            </a:endParaRPr>
          </a:p>
          <a:p>
            <a:r>
              <a:rPr lang="zh-CN" altLang="en-US" sz="2400">
                <a:latin typeface="黑体" panose="02010609060101010101" pitchFamily="49" charset="-122"/>
                <a:ea typeface="黑体" panose="02010609060101010101" pitchFamily="49" charset="-122"/>
              </a:rPr>
              <a:t>批处理作业调度问题要求对于给定的</a:t>
            </a:r>
            <a:r>
              <a:rPr lang="en-US" altLang="zh-CN" sz="2400">
                <a:latin typeface="黑体" panose="02010609060101010101" pitchFamily="49" charset="-122"/>
                <a:ea typeface="黑体" panose="02010609060101010101" pitchFamily="49" charset="-122"/>
              </a:rPr>
              <a:t>n</a:t>
            </a:r>
            <a:r>
              <a:rPr lang="zh-CN" altLang="en-US" sz="2400">
                <a:latin typeface="黑体" panose="02010609060101010101" pitchFamily="49" charset="-122"/>
                <a:ea typeface="黑体" panose="02010609060101010101" pitchFamily="49" charset="-122"/>
              </a:rPr>
              <a:t>个作业，制定最佳作业调度方案，使其完成时间和达到最小。</a:t>
            </a:r>
            <a:endParaRPr lang="zh-CN" altLang="en-US" sz="2400">
              <a:latin typeface="黑体" panose="02010609060101010101" pitchFamily="49" charset="-122"/>
              <a:ea typeface="黑体" panose="02010609060101010101" pitchFamily="49" charset="-122"/>
            </a:endParaRPr>
          </a:p>
        </p:txBody>
      </p:sp>
      <p:sp>
        <p:nvSpPr>
          <p:cNvPr id="292871" name="Rectangle 7"/>
          <p:cNvSpPr>
            <a:spLocks noChangeArrowheads="1"/>
          </p:cNvSpPr>
          <p:nvPr/>
        </p:nvSpPr>
        <p:spPr bwMode="auto">
          <a:xfrm>
            <a:off x="1771650" y="2803525"/>
            <a:ext cx="59213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endParaRPr lang="zh-CN" altLang="en-US"/>
          </a:p>
        </p:txBody>
      </p:sp>
      <p:graphicFrame>
        <p:nvGraphicFramePr>
          <p:cNvPr id="292870" name="Object 6"/>
          <p:cNvGraphicFramePr>
            <a:graphicFrameLocks noChangeAspect="1"/>
          </p:cNvGraphicFramePr>
          <p:nvPr/>
        </p:nvGraphicFramePr>
        <p:xfrm>
          <a:off x="1771650" y="2803525"/>
          <a:ext cx="161925" cy="238125"/>
        </p:xfrm>
        <a:graphic>
          <a:graphicData uri="http://schemas.openxmlformats.org/presentationml/2006/ole">
            <mc:AlternateContent xmlns:mc="http://schemas.openxmlformats.org/markup-compatibility/2006">
              <mc:Choice xmlns:v="urn:schemas-microsoft-com:vml" Requires="v">
                <p:oleObj spid="_x0000_s366594" name="公式" r:id="rId1" imgW="165100" imgH="241300" progId="Equation.3">
                  <p:embed/>
                </p:oleObj>
              </mc:Choice>
              <mc:Fallback>
                <p:oleObj name="公式" r:id="rId1" imgW="165100" imgH="2413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1650" y="2803525"/>
                        <a:ext cx="161925" cy="238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2949" name="Group 85"/>
          <p:cNvGraphicFramePr>
            <a:graphicFrameLocks noGrp="1"/>
          </p:cNvGraphicFramePr>
          <p:nvPr/>
        </p:nvGraphicFramePr>
        <p:xfrm>
          <a:off x="2987675" y="3141663"/>
          <a:ext cx="2881313" cy="1691958"/>
        </p:xfrm>
        <a:graphic>
          <a:graphicData uri="http://schemas.openxmlformats.org/drawingml/2006/table">
            <a:tbl>
              <a:tblPr/>
              <a:tblGrid>
                <a:gridCol w="819150"/>
                <a:gridCol w="1031875"/>
                <a:gridCol w="1030288"/>
              </a:tblGrid>
              <a:tr h="503238">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新宋体" panose="02010609030101010101" charset="-122"/>
                        </a:rPr>
                        <a:t>t</a:t>
                      </a:r>
                      <a:r>
                        <a:rPr kumimoji="0" lang="en-US" altLang="zh-CN" sz="2000" b="0" i="0" u="none" strike="noStrike" cap="none" normalizeH="0" baseline="-25000" smtClean="0">
                          <a:ln>
                            <a:noFill/>
                          </a:ln>
                          <a:solidFill>
                            <a:schemeClr val="tx1"/>
                          </a:solidFill>
                          <a:effectLst/>
                          <a:latin typeface="Arial" panose="020B0604020202020204" pitchFamily="34" charset="0"/>
                          <a:ea typeface="新宋体" panose="02010609030101010101" charset="-122"/>
                        </a:rPr>
                        <a:t>ji</a:t>
                      </a:r>
                      <a:endParaRPr kumimoji="0" lang="en-US" altLang="zh-CN" sz="2000" b="0" i="0" u="none" strike="noStrike" cap="none" normalizeH="0" baseline="-25000" smtClean="0">
                        <a:ln>
                          <a:noFill/>
                        </a:ln>
                        <a:solidFill>
                          <a:schemeClr val="tx1"/>
                        </a:solidFill>
                        <a:effectLst/>
                        <a:latin typeface="Arial" panose="020B0604020202020204" pitchFamily="34" charset="0"/>
                        <a:ea typeface="新宋体" panose="02010609030101010101" charset="-122"/>
                      </a:endParaRPr>
                    </a:p>
                  </a:txBody>
                  <a:tcPr anchor="ct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新宋体" panose="02010609030101010101" charset="-122"/>
                          <a:ea typeface="新宋体" panose="02010609030101010101" charset="-122"/>
                          <a:cs typeface="Times New Roman" panose="02020603050405020304" pitchFamily="18" charset="0"/>
                        </a:rPr>
                        <a:t>机器</a:t>
                      </a:r>
                      <a:r>
                        <a:rPr kumimoji="0" lang="en-US" altLang="zh-CN" sz="2000" b="0" i="0" u="none" strike="noStrike" cap="none" normalizeH="0" baseline="0" smtClean="0">
                          <a:ln>
                            <a:noFill/>
                          </a:ln>
                          <a:solidFill>
                            <a:schemeClr val="tx1"/>
                          </a:solidFill>
                          <a:effectLst/>
                          <a:latin typeface="新宋体" panose="02010609030101010101" charset="-122"/>
                          <a:ea typeface="新宋体" panose="02010609030101010101" charset="-122"/>
                          <a:cs typeface="Times New Roman" panose="02020603050405020304" pitchFamily="18" charset="0"/>
                        </a:rPr>
                        <a:t>1</a:t>
                      </a:r>
                      <a:endParaRPr kumimoji="0" lang="en-US" altLang="zh-CN" sz="2000" b="0" i="0" u="none" strike="noStrike" cap="none" normalizeH="0" baseline="0" smtClean="0">
                        <a:ln>
                          <a:noFill/>
                        </a:ln>
                        <a:solidFill>
                          <a:schemeClr val="tx1"/>
                        </a:solidFill>
                        <a:effectLst/>
                        <a:latin typeface="新宋体" panose="02010609030101010101" charset="-122"/>
                        <a:ea typeface="新宋体" panose="02010609030101010101"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新宋体" panose="02010609030101010101" charset="-122"/>
                          <a:ea typeface="新宋体" panose="02010609030101010101" charset="-122"/>
                          <a:cs typeface="Times New Roman" panose="02020603050405020304" pitchFamily="18" charset="0"/>
                        </a:rPr>
                        <a:t>机器</a:t>
                      </a:r>
                      <a:r>
                        <a:rPr kumimoji="0" lang="en-US" altLang="zh-CN" sz="2000" b="0" i="0" u="none" strike="noStrike" cap="none" normalizeH="0" baseline="0" smtClean="0">
                          <a:ln>
                            <a:noFill/>
                          </a:ln>
                          <a:solidFill>
                            <a:schemeClr val="tx1"/>
                          </a:solidFill>
                          <a:effectLst/>
                          <a:latin typeface="新宋体" panose="02010609030101010101" charset="-122"/>
                          <a:ea typeface="新宋体" panose="02010609030101010101" charset="-122"/>
                          <a:cs typeface="Times New Roman" panose="02020603050405020304" pitchFamily="18" charset="0"/>
                        </a:rPr>
                        <a:t>2</a:t>
                      </a:r>
                      <a:endParaRPr kumimoji="0" lang="en-US" altLang="zh-CN" sz="2000" b="0" i="0" u="none" strike="noStrike" cap="none" normalizeH="0" baseline="0" smtClean="0">
                        <a:ln>
                          <a:noFill/>
                        </a:ln>
                        <a:solidFill>
                          <a:schemeClr val="tx1"/>
                        </a:solidFill>
                        <a:effectLst/>
                        <a:latin typeface="新宋体" panose="02010609030101010101" charset="-122"/>
                        <a:ea typeface="新宋体" panose="02010609030101010101"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82575">
                <a:tc>
                  <a:txBody>
                    <a:bodyPr/>
                    <a:lstStyle/>
                    <a:p>
                      <a:pPr marL="0" marR="0" lvl="0" indent="0" algn="ctr" defTabSz="914400" rtl="0" eaLnBrk="1" fontAlgn="base" latinLnBrk="0" hangingPunct="1">
                        <a:lnSpc>
                          <a:spcPct val="100000"/>
                        </a:lnSpc>
                        <a:spcBef>
                          <a:spcPct val="0"/>
                        </a:spcBef>
                        <a:spcAft>
                          <a:spcPct val="0"/>
                        </a:spcAft>
                        <a:buClr>
                          <a:schemeClr val="tx2"/>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新宋体" panose="02010609030101010101" charset="-122"/>
                          <a:ea typeface="新宋体" panose="02010609030101010101" charset="-122"/>
                          <a:cs typeface="Times New Roman" panose="02020603050405020304" pitchFamily="18" charset="0"/>
                        </a:rPr>
                        <a:t>作业</a:t>
                      </a:r>
                      <a:r>
                        <a:rPr kumimoji="0" lang="en-US" altLang="zh-CN" sz="2000" b="0" i="0" u="none" strike="noStrike" cap="none" normalizeH="0" baseline="0" smtClean="0">
                          <a:ln>
                            <a:noFill/>
                          </a:ln>
                          <a:solidFill>
                            <a:schemeClr val="tx1"/>
                          </a:solidFill>
                          <a:effectLst/>
                          <a:latin typeface="新宋体" panose="02010609030101010101" charset="-122"/>
                          <a:ea typeface="新宋体" panose="02010609030101010101" charset="-122"/>
                          <a:cs typeface="Times New Roman" panose="02020603050405020304" pitchFamily="18" charset="0"/>
                        </a:rPr>
                        <a:t>1</a:t>
                      </a:r>
                      <a:endParaRPr kumimoji="0" lang="en-US" altLang="zh-CN" sz="2000" b="0" i="0" u="none" strike="noStrike" cap="none" normalizeH="0" baseline="0" smtClean="0">
                        <a:ln>
                          <a:noFill/>
                        </a:ln>
                        <a:solidFill>
                          <a:schemeClr val="tx1"/>
                        </a:solidFill>
                        <a:effectLst/>
                        <a:latin typeface="新宋体" panose="02010609030101010101" charset="-122"/>
                        <a:ea typeface="新宋体" panose="02010609030101010101"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新宋体" panose="02010609030101010101" charset="-122"/>
                          <a:ea typeface="新宋体" panose="02010609030101010101" charset="-122"/>
                          <a:cs typeface="Times New Roman" panose="02020603050405020304" pitchFamily="18" charset="0"/>
                        </a:rPr>
                        <a:t>2</a:t>
                      </a:r>
                      <a:endParaRPr kumimoji="0" lang="en-US" altLang="zh-CN" sz="2000" b="0" i="0" u="none" strike="noStrike" cap="none" normalizeH="0" baseline="0" smtClean="0">
                        <a:ln>
                          <a:noFill/>
                        </a:ln>
                        <a:solidFill>
                          <a:schemeClr val="tx1"/>
                        </a:solidFill>
                        <a:effectLst/>
                        <a:latin typeface="新宋体" panose="02010609030101010101" charset="-122"/>
                        <a:ea typeface="新宋体" panose="02010609030101010101"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新宋体" panose="02010609030101010101" charset="-122"/>
                          <a:ea typeface="新宋体" panose="02010609030101010101" charset="-122"/>
                          <a:cs typeface="Times New Roman" panose="02020603050405020304" pitchFamily="18" charset="0"/>
                        </a:rPr>
                        <a:t>1</a:t>
                      </a:r>
                      <a:endParaRPr kumimoji="0" lang="en-US" altLang="zh-CN" sz="2000" b="0" i="0" u="none" strike="noStrike" cap="none" normalizeH="0" baseline="0" smtClean="0">
                        <a:ln>
                          <a:noFill/>
                        </a:ln>
                        <a:solidFill>
                          <a:schemeClr val="tx1"/>
                        </a:solidFill>
                        <a:effectLst/>
                        <a:latin typeface="新宋体" panose="02010609030101010101" charset="-122"/>
                        <a:ea typeface="新宋体" panose="02010609030101010101"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a:noFill/>
                    </a:lnB>
                    <a:lnTlToBr>
                      <a:noFill/>
                    </a:lnTlToBr>
                    <a:lnBlToTr>
                      <a:noFill/>
                    </a:lnBlToTr>
                    <a:noFill/>
                  </a:tcPr>
                </a:tc>
              </a:tr>
              <a:tr h="282575">
                <a:tc>
                  <a:txBody>
                    <a:bodyPr/>
                    <a:lstStyle/>
                    <a:p>
                      <a:pPr marL="0" marR="0" lvl="0" indent="0" algn="ctr" defTabSz="914400" rtl="0" eaLnBrk="1" fontAlgn="base" latinLnBrk="0" hangingPunct="1">
                        <a:lnSpc>
                          <a:spcPct val="100000"/>
                        </a:lnSpc>
                        <a:spcBef>
                          <a:spcPct val="0"/>
                        </a:spcBef>
                        <a:spcAft>
                          <a:spcPct val="0"/>
                        </a:spcAft>
                        <a:buClr>
                          <a:schemeClr val="tx2"/>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新宋体" panose="02010609030101010101" charset="-122"/>
                          <a:ea typeface="新宋体" panose="02010609030101010101" charset="-122"/>
                          <a:cs typeface="Times New Roman" panose="02020603050405020304" pitchFamily="18" charset="0"/>
                        </a:rPr>
                        <a:t>作业</a:t>
                      </a:r>
                      <a:r>
                        <a:rPr kumimoji="0" lang="en-US" altLang="zh-CN" sz="2000" b="0" i="0" u="none" strike="noStrike" cap="none" normalizeH="0" baseline="0" smtClean="0">
                          <a:ln>
                            <a:noFill/>
                          </a:ln>
                          <a:solidFill>
                            <a:schemeClr val="tx1"/>
                          </a:solidFill>
                          <a:effectLst/>
                          <a:latin typeface="新宋体" panose="02010609030101010101" charset="-122"/>
                          <a:ea typeface="新宋体" panose="02010609030101010101" charset="-122"/>
                          <a:cs typeface="Times New Roman" panose="02020603050405020304" pitchFamily="18" charset="0"/>
                        </a:rPr>
                        <a:t>2</a:t>
                      </a:r>
                      <a:endParaRPr kumimoji="0" lang="en-US" altLang="zh-CN" sz="2000" b="0" i="0" u="none" strike="noStrike" cap="none" normalizeH="0" baseline="0" smtClean="0">
                        <a:ln>
                          <a:noFill/>
                        </a:ln>
                        <a:solidFill>
                          <a:schemeClr val="tx1"/>
                        </a:solidFill>
                        <a:effectLst/>
                        <a:latin typeface="新宋体" panose="02010609030101010101" charset="-122"/>
                        <a:ea typeface="新宋体" panose="02010609030101010101"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新宋体" panose="02010609030101010101" charset="-122"/>
                          <a:ea typeface="新宋体" panose="02010609030101010101" charset="-122"/>
                          <a:cs typeface="Times New Roman" panose="02020603050405020304" pitchFamily="18" charset="0"/>
                        </a:rPr>
                        <a:t>3</a:t>
                      </a:r>
                      <a:endParaRPr kumimoji="0" lang="en-US" altLang="zh-CN" sz="2000" b="0" i="0" u="none" strike="noStrike" cap="none" normalizeH="0" baseline="0" smtClean="0">
                        <a:ln>
                          <a:noFill/>
                        </a:ln>
                        <a:solidFill>
                          <a:schemeClr val="tx1"/>
                        </a:solidFill>
                        <a:effectLst/>
                        <a:latin typeface="新宋体" panose="02010609030101010101" charset="-122"/>
                        <a:ea typeface="新宋体" panose="02010609030101010101"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新宋体" panose="02010609030101010101" charset="-122"/>
                          <a:ea typeface="新宋体" panose="02010609030101010101" charset="-122"/>
                          <a:cs typeface="Times New Roman" panose="02020603050405020304" pitchFamily="18" charset="0"/>
                        </a:rPr>
                        <a:t>1</a:t>
                      </a:r>
                      <a:endParaRPr kumimoji="0" lang="en-US" altLang="zh-CN" sz="2000" b="0" i="0" u="none" strike="noStrike" cap="none" normalizeH="0" baseline="0" smtClean="0">
                        <a:ln>
                          <a:noFill/>
                        </a:ln>
                        <a:solidFill>
                          <a:schemeClr val="tx1"/>
                        </a:solidFill>
                        <a:effectLst/>
                        <a:latin typeface="新宋体" panose="02010609030101010101" charset="-122"/>
                        <a:ea typeface="新宋体" panose="02010609030101010101"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r>
              <a:tr h="282575">
                <a:tc>
                  <a:txBody>
                    <a:bodyPr/>
                    <a:lstStyle/>
                    <a:p>
                      <a:pPr marL="0" marR="0" lvl="0" indent="0" algn="ctr" defTabSz="914400" rtl="0" eaLnBrk="1" fontAlgn="base" latinLnBrk="0" hangingPunct="1">
                        <a:lnSpc>
                          <a:spcPct val="100000"/>
                        </a:lnSpc>
                        <a:spcBef>
                          <a:spcPct val="0"/>
                        </a:spcBef>
                        <a:spcAft>
                          <a:spcPct val="0"/>
                        </a:spcAft>
                        <a:buClr>
                          <a:schemeClr val="tx2"/>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新宋体" panose="02010609030101010101" charset="-122"/>
                          <a:ea typeface="新宋体" panose="02010609030101010101" charset="-122"/>
                          <a:cs typeface="Times New Roman" panose="02020603050405020304" pitchFamily="18" charset="0"/>
                        </a:rPr>
                        <a:t>作业</a:t>
                      </a:r>
                      <a:r>
                        <a:rPr kumimoji="0" lang="en-US" altLang="zh-CN" sz="2000" b="0" i="0" u="none" strike="noStrike" cap="none" normalizeH="0" baseline="0" smtClean="0">
                          <a:ln>
                            <a:noFill/>
                          </a:ln>
                          <a:solidFill>
                            <a:schemeClr val="tx1"/>
                          </a:solidFill>
                          <a:effectLst/>
                          <a:latin typeface="新宋体" panose="02010609030101010101" charset="-122"/>
                          <a:ea typeface="新宋体" panose="02010609030101010101" charset="-122"/>
                          <a:cs typeface="Times New Roman" panose="02020603050405020304" pitchFamily="18" charset="0"/>
                        </a:rPr>
                        <a:t>3</a:t>
                      </a:r>
                      <a:endParaRPr kumimoji="0" lang="en-US" altLang="zh-CN" sz="2000" b="0" i="0" u="none" strike="noStrike" cap="none" normalizeH="0" baseline="0" smtClean="0">
                        <a:ln>
                          <a:noFill/>
                        </a:ln>
                        <a:solidFill>
                          <a:schemeClr val="tx1"/>
                        </a:solidFill>
                        <a:effectLst/>
                        <a:latin typeface="新宋体" panose="02010609030101010101" charset="-122"/>
                        <a:ea typeface="新宋体" panose="02010609030101010101"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新宋体" panose="02010609030101010101" charset="-122"/>
                          <a:ea typeface="新宋体" panose="02010609030101010101" charset="-122"/>
                          <a:cs typeface="Times New Roman" panose="02020603050405020304" pitchFamily="18" charset="0"/>
                        </a:rPr>
                        <a:t>2</a:t>
                      </a:r>
                      <a:endParaRPr kumimoji="0" lang="en-US" altLang="zh-CN" sz="2000" b="0" i="0" u="none" strike="noStrike" cap="none" normalizeH="0" baseline="0" smtClean="0">
                        <a:ln>
                          <a:noFill/>
                        </a:ln>
                        <a:solidFill>
                          <a:schemeClr val="tx1"/>
                        </a:solidFill>
                        <a:effectLst/>
                        <a:latin typeface="新宋体" panose="02010609030101010101" charset="-122"/>
                        <a:ea typeface="新宋体" panose="02010609030101010101"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新宋体" panose="02010609030101010101" charset="-122"/>
                          <a:ea typeface="新宋体" panose="02010609030101010101" charset="-122"/>
                          <a:cs typeface="Times New Roman" panose="02020603050405020304" pitchFamily="18" charset="0"/>
                        </a:rPr>
                        <a:t>3</a:t>
                      </a:r>
                      <a:endParaRPr kumimoji="0" lang="en-US" altLang="zh-CN" sz="2000" b="0" i="0" u="none" strike="noStrike" cap="none" normalizeH="0" baseline="0" smtClean="0">
                        <a:ln>
                          <a:noFill/>
                        </a:ln>
                        <a:solidFill>
                          <a:schemeClr val="tx1"/>
                        </a:solidFill>
                        <a:effectLst/>
                        <a:latin typeface="新宋体" panose="02010609030101010101" charset="-122"/>
                        <a:ea typeface="新宋体" panose="02010609030101010101"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a:noFill/>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292928" name="Text Box 64"/>
          <p:cNvSpPr txBox="1">
            <a:spLocks noChangeArrowheads="1"/>
          </p:cNvSpPr>
          <p:nvPr/>
        </p:nvSpPr>
        <p:spPr bwMode="auto">
          <a:xfrm>
            <a:off x="323850" y="5084763"/>
            <a:ext cx="8588375" cy="1552575"/>
          </a:xfrm>
          <a:prstGeom prst="rect">
            <a:avLst/>
          </a:prstGeom>
          <a:solidFill>
            <a:srgbClr val="FFCC00"/>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这</a:t>
            </a:r>
            <a:r>
              <a:rPr lang="en-US" altLang="zh-CN" sz="2400">
                <a:ea typeface="新宋体" panose="02010609030101010101" charset="-122"/>
              </a:rPr>
              <a:t>3</a:t>
            </a:r>
            <a:r>
              <a:rPr lang="zh-CN" altLang="en-US" sz="2400">
                <a:ea typeface="新宋体" panose="02010609030101010101" charset="-122"/>
              </a:rPr>
              <a:t>个作业的</a:t>
            </a:r>
            <a:r>
              <a:rPr lang="en-US" altLang="zh-CN" sz="2400">
                <a:ea typeface="新宋体" panose="02010609030101010101" charset="-122"/>
              </a:rPr>
              <a:t>6</a:t>
            </a:r>
            <a:r>
              <a:rPr lang="zh-CN" altLang="en-US" sz="2400">
                <a:ea typeface="新宋体" panose="02010609030101010101" charset="-122"/>
              </a:rPr>
              <a:t>种可能的调度方案是</a:t>
            </a:r>
            <a:r>
              <a:rPr lang="en-US" altLang="zh-CN" sz="2400">
                <a:ea typeface="新宋体" panose="02010609030101010101" charset="-122"/>
              </a:rPr>
              <a:t>1,2,3</a:t>
            </a:r>
            <a:r>
              <a:rPr lang="zh-CN" altLang="en-US" sz="2400">
                <a:ea typeface="新宋体" panose="02010609030101010101" charset="-122"/>
              </a:rPr>
              <a:t>；</a:t>
            </a:r>
            <a:r>
              <a:rPr lang="en-US" altLang="zh-CN" sz="2400">
                <a:ea typeface="新宋体" panose="02010609030101010101" charset="-122"/>
              </a:rPr>
              <a:t>1,3,2</a:t>
            </a:r>
            <a:r>
              <a:rPr lang="zh-CN" altLang="en-US" sz="2400">
                <a:ea typeface="新宋体" panose="02010609030101010101" charset="-122"/>
              </a:rPr>
              <a:t>；</a:t>
            </a:r>
            <a:r>
              <a:rPr lang="en-US" altLang="zh-CN" sz="2400">
                <a:ea typeface="新宋体" panose="02010609030101010101" charset="-122"/>
              </a:rPr>
              <a:t>2,1,3</a:t>
            </a:r>
            <a:r>
              <a:rPr lang="zh-CN" altLang="en-US" sz="2400">
                <a:ea typeface="新宋体" panose="02010609030101010101" charset="-122"/>
              </a:rPr>
              <a:t>；</a:t>
            </a:r>
            <a:r>
              <a:rPr lang="en-US" altLang="zh-CN" sz="2400">
                <a:ea typeface="新宋体" panose="02010609030101010101" charset="-122"/>
              </a:rPr>
              <a:t>2,3,1</a:t>
            </a:r>
            <a:r>
              <a:rPr lang="zh-CN" altLang="en-US" sz="2400">
                <a:ea typeface="新宋体" panose="02010609030101010101" charset="-122"/>
              </a:rPr>
              <a:t>；</a:t>
            </a:r>
            <a:r>
              <a:rPr lang="en-US" altLang="zh-CN" sz="2400">
                <a:ea typeface="新宋体" panose="02010609030101010101" charset="-122"/>
              </a:rPr>
              <a:t>3,1,2</a:t>
            </a:r>
            <a:r>
              <a:rPr lang="zh-CN" altLang="en-US" sz="2400">
                <a:ea typeface="新宋体" panose="02010609030101010101" charset="-122"/>
              </a:rPr>
              <a:t>；</a:t>
            </a:r>
            <a:r>
              <a:rPr lang="en-US" altLang="zh-CN" sz="2400">
                <a:ea typeface="新宋体" panose="02010609030101010101" charset="-122"/>
              </a:rPr>
              <a:t>3,2,1</a:t>
            </a:r>
            <a:r>
              <a:rPr lang="zh-CN" altLang="en-US" sz="2400">
                <a:ea typeface="新宋体" panose="02010609030101010101" charset="-122"/>
              </a:rPr>
              <a:t>；它们所相应的完成时间和分别是</a:t>
            </a:r>
            <a:r>
              <a:rPr lang="en-US" altLang="zh-CN" sz="2400">
                <a:ea typeface="新宋体" panose="02010609030101010101" charset="-122"/>
              </a:rPr>
              <a:t>19</a:t>
            </a:r>
            <a:r>
              <a:rPr lang="zh-CN" altLang="en-US" sz="2400">
                <a:ea typeface="新宋体" panose="02010609030101010101" charset="-122"/>
              </a:rPr>
              <a:t>，</a:t>
            </a:r>
            <a:r>
              <a:rPr lang="en-US" altLang="zh-CN" sz="2400">
                <a:ea typeface="新宋体" panose="02010609030101010101" charset="-122"/>
              </a:rPr>
              <a:t>18</a:t>
            </a:r>
            <a:r>
              <a:rPr lang="zh-CN" altLang="en-US" sz="2400">
                <a:ea typeface="新宋体" panose="02010609030101010101" charset="-122"/>
              </a:rPr>
              <a:t>，</a:t>
            </a:r>
            <a:r>
              <a:rPr lang="en-US" altLang="zh-CN" sz="2400">
                <a:ea typeface="新宋体" panose="02010609030101010101" charset="-122"/>
              </a:rPr>
              <a:t>20</a:t>
            </a:r>
            <a:r>
              <a:rPr lang="zh-CN" altLang="en-US" sz="2400">
                <a:ea typeface="新宋体" panose="02010609030101010101" charset="-122"/>
              </a:rPr>
              <a:t>，</a:t>
            </a:r>
            <a:r>
              <a:rPr lang="en-US" altLang="zh-CN" sz="2400">
                <a:ea typeface="新宋体" panose="02010609030101010101" charset="-122"/>
              </a:rPr>
              <a:t>21</a:t>
            </a:r>
            <a:r>
              <a:rPr lang="zh-CN" altLang="en-US" sz="2400">
                <a:ea typeface="新宋体" panose="02010609030101010101" charset="-122"/>
              </a:rPr>
              <a:t>，</a:t>
            </a:r>
            <a:r>
              <a:rPr lang="en-US" altLang="zh-CN" sz="2400">
                <a:ea typeface="新宋体" panose="02010609030101010101" charset="-122"/>
              </a:rPr>
              <a:t>19</a:t>
            </a:r>
            <a:r>
              <a:rPr lang="zh-CN" altLang="en-US" sz="2400">
                <a:ea typeface="新宋体" panose="02010609030101010101" charset="-122"/>
              </a:rPr>
              <a:t>，</a:t>
            </a:r>
            <a:r>
              <a:rPr lang="en-US" altLang="zh-CN" sz="2400">
                <a:ea typeface="新宋体" panose="02010609030101010101" charset="-122"/>
              </a:rPr>
              <a:t>19</a:t>
            </a:r>
            <a:r>
              <a:rPr lang="zh-CN" altLang="en-US" sz="2400">
                <a:ea typeface="新宋体" panose="02010609030101010101" charset="-122"/>
              </a:rPr>
              <a:t>。易见，最佳调度方案是</a:t>
            </a:r>
            <a:r>
              <a:rPr lang="en-US" altLang="zh-CN" sz="2400">
                <a:ea typeface="新宋体" panose="02010609030101010101" charset="-122"/>
              </a:rPr>
              <a:t>1,3,2</a:t>
            </a:r>
            <a:r>
              <a:rPr lang="zh-CN" altLang="en-US" sz="2400">
                <a:ea typeface="新宋体" panose="02010609030101010101" charset="-122"/>
              </a:rPr>
              <a:t>，其完成时间和为</a:t>
            </a:r>
            <a:r>
              <a:rPr lang="en-US" altLang="zh-CN" sz="2400">
                <a:ea typeface="新宋体" panose="02010609030101010101" charset="-122"/>
              </a:rPr>
              <a:t>18</a:t>
            </a:r>
            <a:r>
              <a:rPr lang="zh-CN" altLang="en-US" sz="2400">
                <a:ea typeface="新宋体" panose="02010609030101010101" charset="-122"/>
              </a:rPr>
              <a:t>。</a:t>
            </a:r>
            <a:endParaRPr lang="zh-CN" altLang="en-US" sz="2400">
              <a:ea typeface="新宋体" panose="02010609030101010101"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fld id="{3BAF1D4C-EBE7-452A-8A53-9A6A1032EEE0}" type="slidenum">
              <a:rPr lang="en-US" altLang="zh-CN"/>
            </a:fld>
            <a:endParaRPr lang="en-US" altLang="zh-CN"/>
          </a:p>
        </p:txBody>
      </p:sp>
      <p:sp>
        <p:nvSpPr>
          <p:cNvPr id="293892" name="Rectangle 4"/>
          <p:cNvSpPr>
            <a:spLocks noChangeArrowheads="1"/>
          </p:cNvSpPr>
          <p:nvPr/>
        </p:nvSpPr>
        <p:spPr bwMode="auto">
          <a:xfrm>
            <a:off x="611188"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3900" b="1">
                <a:solidFill>
                  <a:schemeClr val="tx2"/>
                </a:solidFill>
                <a:effectLst>
                  <a:outerShdw blurRad="38100" dist="38100" dir="2700000" algn="tl">
                    <a:srgbClr val="C0C0C0"/>
                  </a:outerShdw>
                </a:effectLst>
                <a:ea typeface="黑体" panose="02010609060101010101" pitchFamily="49" charset="-122"/>
              </a:rPr>
              <a:t>批处理作业调度</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sp>
        <p:nvSpPr>
          <p:cNvPr id="293893" name="Text Box 5"/>
          <p:cNvSpPr txBox="1">
            <a:spLocks noChangeArrowheads="1"/>
          </p:cNvSpPr>
          <p:nvPr/>
        </p:nvSpPr>
        <p:spPr bwMode="auto">
          <a:xfrm>
            <a:off x="395288" y="692150"/>
            <a:ext cx="7867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FontTx/>
              <a:buChar char="•"/>
            </a:pPr>
            <a:r>
              <a:rPr lang="zh-CN" altLang="en-US" sz="2400">
                <a:ea typeface="新宋体" panose="02010609030101010101" charset="-122"/>
              </a:rPr>
              <a:t>解空间：排列树</a:t>
            </a:r>
            <a:endParaRPr lang="zh-CN" altLang="en-US" sz="2400">
              <a:ea typeface="新宋体" panose="02010609030101010101" charset="-122"/>
            </a:endParaRPr>
          </a:p>
        </p:txBody>
      </p:sp>
      <p:sp>
        <p:nvSpPr>
          <p:cNvPr id="293894" name="Text Box 6"/>
          <p:cNvSpPr txBox="1">
            <a:spLocks noChangeArrowheads="1"/>
          </p:cNvSpPr>
          <p:nvPr/>
        </p:nvSpPr>
        <p:spPr bwMode="auto">
          <a:xfrm>
            <a:off x="250825" y="1125538"/>
            <a:ext cx="4897438" cy="5226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kumimoji="1" lang="en-US" altLang="zh-CN" sz="1600"/>
              <a:t>void Flowshop::</a:t>
            </a:r>
            <a:r>
              <a:rPr kumimoji="1" lang="en-US" altLang="zh-CN" sz="1600" b="1"/>
              <a:t>Backtrack</a:t>
            </a:r>
            <a:r>
              <a:rPr kumimoji="1" lang="en-US" altLang="zh-CN" sz="1600"/>
              <a:t>(int i)</a:t>
            </a:r>
            <a:endParaRPr kumimoji="1" lang="en-US" altLang="zh-CN" sz="1600"/>
          </a:p>
          <a:p>
            <a:r>
              <a:rPr kumimoji="1" lang="en-US" altLang="zh-CN" sz="1600"/>
              <a:t>{</a:t>
            </a:r>
            <a:endParaRPr kumimoji="1" lang="en-US" altLang="zh-CN" sz="1600"/>
          </a:p>
          <a:p>
            <a:r>
              <a:rPr kumimoji="1" lang="en-US" altLang="zh-CN" sz="1600"/>
              <a:t>   if (i &gt; n) {</a:t>
            </a:r>
            <a:endParaRPr kumimoji="1" lang="en-US" altLang="zh-CN" sz="1600"/>
          </a:p>
          <a:p>
            <a:r>
              <a:rPr kumimoji="1" lang="en-US" altLang="zh-CN" sz="1600"/>
              <a:t>       for (int j = 1; j &lt;= n; j++)</a:t>
            </a:r>
            <a:endParaRPr kumimoji="1" lang="en-US" altLang="zh-CN" sz="1600"/>
          </a:p>
          <a:p>
            <a:r>
              <a:rPr kumimoji="1" lang="en-US" altLang="zh-CN" sz="1600"/>
              <a:t>         bestx[j] = x[j];</a:t>
            </a:r>
            <a:endParaRPr kumimoji="1" lang="en-US" altLang="zh-CN" sz="1600"/>
          </a:p>
          <a:p>
            <a:r>
              <a:rPr kumimoji="1" lang="en-US" altLang="zh-CN" sz="1600"/>
              <a:t>       bestf = f;</a:t>
            </a:r>
            <a:endParaRPr kumimoji="1" lang="en-US" altLang="zh-CN" sz="1600"/>
          </a:p>
          <a:p>
            <a:r>
              <a:rPr kumimoji="1" lang="en-US" altLang="zh-CN" sz="1600"/>
              <a:t>       }</a:t>
            </a:r>
            <a:endParaRPr kumimoji="1" lang="en-US" altLang="zh-CN" sz="1600"/>
          </a:p>
          <a:p>
            <a:r>
              <a:rPr kumimoji="1" lang="en-US" altLang="zh-CN" sz="1600"/>
              <a:t>   else</a:t>
            </a:r>
            <a:endParaRPr kumimoji="1" lang="en-US" altLang="zh-CN" sz="1600"/>
          </a:p>
          <a:p>
            <a:r>
              <a:rPr kumimoji="1" lang="en-US" altLang="zh-CN" sz="1600"/>
              <a:t>      for (int j = i; j &lt;= n; j++) {</a:t>
            </a:r>
            <a:endParaRPr kumimoji="1" lang="en-US" altLang="zh-CN" sz="1600"/>
          </a:p>
          <a:p>
            <a:r>
              <a:rPr kumimoji="1" lang="en-US" altLang="zh-CN" sz="1600"/>
              <a:t>         f1+=M[x[j]][1];</a:t>
            </a:r>
            <a:endParaRPr kumimoji="1" lang="en-US" altLang="zh-CN" sz="1600"/>
          </a:p>
          <a:p>
            <a:r>
              <a:rPr kumimoji="1" lang="en-US" altLang="zh-CN" sz="1600"/>
              <a:t>         f2[i]=((f2[i-1]&gt;f1)?f2[i-1]:f1)+M[x[j]][2];</a:t>
            </a:r>
            <a:endParaRPr kumimoji="1" lang="en-US" altLang="zh-CN" sz="1600"/>
          </a:p>
          <a:p>
            <a:r>
              <a:rPr kumimoji="1" lang="en-US" altLang="zh-CN" sz="1600"/>
              <a:t>         f+=f2[i];</a:t>
            </a:r>
            <a:endParaRPr kumimoji="1" lang="en-US" altLang="zh-CN" sz="1600"/>
          </a:p>
          <a:p>
            <a:r>
              <a:rPr kumimoji="1" lang="en-US" altLang="zh-CN" sz="1600"/>
              <a:t>         if (f &lt; bestf) {</a:t>
            </a:r>
            <a:endParaRPr kumimoji="1" lang="en-US" altLang="zh-CN" sz="1600"/>
          </a:p>
          <a:p>
            <a:r>
              <a:rPr kumimoji="1" lang="en-US" altLang="zh-CN" sz="1600"/>
              <a:t>            Swap(x[i], x[j]);</a:t>
            </a:r>
            <a:endParaRPr kumimoji="1" lang="en-US" altLang="zh-CN" sz="1600"/>
          </a:p>
          <a:p>
            <a:r>
              <a:rPr kumimoji="1" lang="en-US" altLang="zh-CN" sz="1600"/>
              <a:t>            Backtrack(i+1);</a:t>
            </a:r>
            <a:endParaRPr kumimoji="1" lang="en-US" altLang="zh-CN" sz="1600"/>
          </a:p>
          <a:p>
            <a:r>
              <a:rPr kumimoji="1" lang="en-US" altLang="zh-CN" sz="1600"/>
              <a:t>            Swap(x[i], x[j]);</a:t>
            </a:r>
            <a:endParaRPr kumimoji="1" lang="en-US" altLang="zh-CN" sz="1600"/>
          </a:p>
          <a:p>
            <a:r>
              <a:rPr kumimoji="1" lang="en-US" altLang="zh-CN" sz="1600"/>
              <a:t>            }</a:t>
            </a:r>
            <a:endParaRPr kumimoji="1" lang="en-US" altLang="zh-CN" sz="1600"/>
          </a:p>
          <a:p>
            <a:r>
              <a:rPr kumimoji="1" lang="en-US" altLang="zh-CN" sz="1600"/>
              <a:t>         f1- =M[x[j]][1];</a:t>
            </a:r>
            <a:endParaRPr kumimoji="1" lang="en-US" altLang="zh-CN" sz="1600"/>
          </a:p>
          <a:p>
            <a:r>
              <a:rPr kumimoji="1" lang="en-US" altLang="zh-CN" sz="1600"/>
              <a:t>         f- =f2[i];</a:t>
            </a:r>
            <a:endParaRPr kumimoji="1" lang="en-US" altLang="zh-CN" sz="1600"/>
          </a:p>
          <a:p>
            <a:r>
              <a:rPr kumimoji="1" lang="en-US" altLang="zh-CN" sz="1600"/>
              <a:t>         }</a:t>
            </a:r>
            <a:endParaRPr kumimoji="1" lang="en-US" altLang="zh-CN" sz="1600"/>
          </a:p>
          <a:p>
            <a:r>
              <a:rPr kumimoji="1" lang="en-US" altLang="zh-CN" sz="1600"/>
              <a:t>}</a:t>
            </a:r>
            <a:endParaRPr kumimoji="1" lang="en-US" altLang="zh-CN" sz="1600"/>
          </a:p>
        </p:txBody>
      </p:sp>
      <p:pic>
        <p:nvPicPr>
          <p:cNvPr id="293895" name="Picture 7" descr="t5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19700" y="981075"/>
            <a:ext cx="3168650" cy="238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3896" name="Text Box 8"/>
          <p:cNvSpPr txBox="1">
            <a:spLocks noChangeArrowheads="1"/>
          </p:cNvSpPr>
          <p:nvPr/>
        </p:nvSpPr>
        <p:spPr bwMode="auto">
          <a:xfrm>
            <a:off x="4211638" y="3781425"/>
            <a:ext cx="4968875" cy="3076575"/>
          </a:xfrm>
          <a:prstGeom prst="rect">
            <a:avLst/>
          </a:prstGeom>
          <a:solidFill>
            <a:schemeClr val="hlink"/>
          </a:solidFill>
          <a:ln w="508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kumimoji="1" lang="en-US" altLang="zh-CN" sz="1600"/>
              <a:t>class </a:t>
            </a:r>
            <a:r>
              <a:rPr kumimoji="1" lang="en-US" altLang="zh-CN" sz="1600" b="1"/>
              <a:t>Flowshop</a:t>
            </a:r>
            <a:r>
              <a:rPr kumimoji="1" lang="en-US" altLang="zh-CN" sz="1600"/>
              <a:t> {</a:t>
            </a:r>
            <a:endParaRPr kumimoji="1" lang="en-US" altLang="zh-CN" sz="1600"/>
          </a:p>
          <a:p>
            <a:r>
              <a:rPr kumimoji="1" lang="en-US" altLang="zh-CN" sz="1600"/>
              <a:t>   friend Flow(int**, int, int []);</a:t>
            </a:r>
            <a:endParaRPr kumimoji="1" lang="en-US" altLang="zh-CN" sz="1600"/>
          </a:p>
          <a:p>
            <a:r>
              <a:rPr kumimoji="1" lang="en-US" altLang="zh-CN" sz="1600"/>
              <a:t>   private:</a:t>
            </a:r>
            <a:endParaRPr kumimoji="1" lang="en-US" altLang="zh-CN" sz="1600"/>
          </a:p>
          <a:p>
            <a:r>
              <a:rPr kumimoji="1" lang="en-US" altLang="zh-CN" sz="1600"/>
              <a:t>      void Backtrack(int i);</a:t>
            </a:r>
            <a:endParaRPr kumimoji="1" lang="en-US" altLang="zh-CN" sz="1600"/>
          </a:p>
          <a:p>
            <a:r>
              <a:rPr kumimoji="1" lang="en-US" altLang="zh-CN" sz="1600"/>
              <a:t>      int  **M,    // </a:t>
            </a:r>
            <a:r>
              <a:rPr kumimoji="1" lang="zh-CN" altLang="en-US" sz="1600"/>
              <a:t>各作业所需的处理时间</a:t>
            </a:r>
            <a:endParaRPr kumimoji="1" lang="zh-CN" altLang="en-US" sz="1600"/>
          </a:p>
          <a:p>
            <a:r>
              <a:rPr kumimoji="1" lang="zh-CN" altLang="en-US" sz="1600"/>
              <a:t>              *</a:t>
            </a:r>
            <a:r>
              <a:rPr kumimoji="1" lang="en-US" altLang="zh-CN" sz="1600"/>
              <a:t>x,     // </a:t>
            </a:r>
            <a:r>
              <a:rPr kumimoji="1" lang="zh-CN" altLang="en-US" sz="1600"/>
              <a:t>当前作业调度</a:t>
            </a:r>
            <a:endParaRPr kumimoji="1" lang="zh-CN" altLang="en-US" sz="1600"/>
          </a:p>
          <a:p>
            <a:r>
              <a:rPr kumimoji="1" lang="zh-CN" altLang="en-US" sz="1600"/>
              <a:t>        *</a:t>
            </a:r>
            <a:r>
              <a:rPr kumimoji="1" lang="en-US" altLang="zh-CN" sz="1600"/>
              <a:t>bestx,    // </a:t>
            </a:r>
            <a:r>
              <a:rPr kumimoji="1" lang="zh-CN" altLang="en-US" sz="1600"/>
              <a:t>当前最优作业调度</a:t>
            </a:r>
            <a:endParaRPr kumimoji="1" lang="zh-CN" altLang="en-US" sz="1600"/>
          </a:p>
          <a:p>
            <a:r>
              <a:rPr kumimoji="1" lang="zh-CN" altLang="en-US" sz="1600"/>
              <a:t>             *</a:t>
            </a:r>
            <a:r>
              <a:rPr kumimoji="1" lang="en-US" altLang="zh-CN" sz="1600"/>
              <a:t>f2,    // </a:t>
            </a:r>
            <a:r>
              <a:rPr kumimoji="1" lang="zh-CN" altLang="en-US" sz="1600"/>
              <a:t>机器</a:t>
            </a:r>
            <a:r>
              <a:rPr kumimoji="1" lang="en-US" altLang="zh-CN" sz="1600"/>
              <a:t>2</a:t>
            </a:r>
            <a:r>
              <a:rPr kumimoji="1" lang="zh-CN" altLang="en-US" sz="1600"/>
              <a:t>完成处理时间</a:t>
            </a:r>
            <a:endParaRPr kumimoji="1" lang="zh-CN" altLang="en-US" sz="1600"/>
          </a:p>
          <a:p>
            <a:r>
              <a:rPr kumimoji="1" lang="zh-CN" altLang="en-US" sz="1600"/>
              <a:t>              </a:t>
            </a:r>
            <a:r>
              <a:rPr kumimoji="1" lang="en-US" altLang="zh-CN" sz="1600"/>
              <a:t>f1,    // </a:t>
            </a:r>
            <a:r>
              <a:rPr kumimoji="1" lang="zh-CN" altLang="en-US" sz="1600"/>
              <a:t>机器</a:t>
            </a:r>
            <a:r>
              <a:rPr kumimoji="1" lang="en-US" altLang="zh-CN" sz="1600"/>
              <a:t>1</a:t>
            </a:r>
            <a:r>
              <a:rPr kumimoji="1" lang="zh-CN" altLang="en-US" sz="1600"/>
              <a:t>完成处理时间</a:t>
            </a:r>
            <a:endParaRPr kumimoji="1" lang="zh-CN" altLang="en-US" sz="1600"/>
          </a:p>
          <a:p>
            <a:r>
              <a:rPr kumimoji="1" lang="zh-CN" altLang="en-US" sz="1600"/>
              <a:t>               </a:t>
            </a:r>
            <a:r>
              <a:rPr kumimoji="1" lang="en-US" altLang="zh-CN" sz="1600"/>
              <a:t>f,     // </a:t>
            </a:r>
            <a:r>
              <a:rPr kumimoji="1" lang="zh-CN" altLang="en-US" sz="1600"/>
              <a:t>完成时间和</a:t>
            </a:r>
            <a:endParaRPr kumimoji="1" lang="zh-CN" altLang="en-US" sz="1600"/>
          </a:p>
          <a:p>
            <a:r>
              <a:rPr kumimoji="1" lang="zh-CN" altLang="en-US" sz="1600"/>
              <a:t>         </a:t>
            </a:r>
            <a:r>
              <a:rPr kumimoji="1" lang="en-US" altLang="zh-CN" sz="1600"/>
              <a:t>bestf,    // </a:t>
            </a:r>
            <a:r>
              <a:rPr kumimoji="1" lang="zh-CN" altLang="en-US" sz="1600"/>
              <a:t>当前最优值</a:t>
            </a:r>
            <a:endParaRPr kumimoji="1" lang="zh-CN" altLang="en-US" sz="1600"/>
          </a:p>
          <a:p>
            <a:r>
              <a:rPr kumimoji="1" lang="zh-CN" altLang="en-US" sz="1600"/>
              <a:t>               </a:t>
            </a:r>
            <a:r>
              <a:rPr kumimoji="1" lang="en-US" altLang="zh-CN" sz="1600"/>
              <a:t>n;   // </a:t>
            </a:r>
            <a:r>
              <a:rPr kumimoji="1" lang="zh-CN" altLang="en-US" sz="1600"/>
              <a:t>作业数</a:t>
            </a:r>
            <a:r>
              <a:rPr kumimoji="1" lang="en-US" altLang="zh-CN" sz="1600"/>
              <a:t>}; </a:t>
            </a:r>
            <a:endParaRPr kumimoji="1" lang="en-US" altLang="zh-CN" sz="160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4"/>
          </p:nvPr>
        </p:nvSpPr>
        <p:spPr/>
        <p:txBody>
          <a:bodyPr/>
          <a:lstStyle/>
          <a:p>
            <a:fld id="{1A690E81-D735-4978-97FC-7B60368C39F8}" type="slidenum">
              <a:rPr lang="en-US" altLang="zh-CN"/>
            </a:fld>
            <a:endParaRPr lang="en-US" altLang="zh-CN"/>
          </a:p>
        </p:txBody>
      </p:sp>
      <p:sp>
        <p:nvSpPr>
          <p:cNvPr id="350210" name="Rectangle 2"/>
          <p:cNvSpPr>
            <a:spLocks noGrp="1" noChangeArrowheads="1"/>
          </p:cNvSpPr>
          <p:nvPr>
            <p:ph type="ctrTitle"/>
          </p:nvPr>
        </p:nvSpPr>
        <p:spPr/>
        <p:txBody>
          <a:bodyPr/>
          <a:lstStyle/>
          <a:p>
            <a:r>
              <a:rPr lang="zh-CN" altLang="en-US">
                <a:effectLst>
                  <a:outerShdw blurRad="38100" dist="38100" dir="2700000" algn="tl">
                    <a:srgbClr val="C0C0C0"/>
                  </a:outerShdw>
                </a:effectLst>
                <a:ea typeface="黑体" panose="02010609060101010101" pitchFamily="49" charset="-122"/>
              </a:rPr>
              <a:t>符号三角形问题</a:t>
            </a:r>
            <a:endParaRPr lang="zh-CN" altLang="en-US">
              <a:effectLst>
                <a:outerShdw blurRad="38100" dist="38100" dir="2700000" algn="tl">
                  <a:srgbClr val="C0C0C0"/>
                </a:outerShdw>
              </a:effectLst>
              <a:ea typeface="黑体" panose="02010609060101010101" pitchFamily="49" charset="-122"/>
            </a:endParaRPr>
          </a:p>
        </p:txBody>
      </p:sp>
      <p:sp>
        <p:nvSpPr>
          <p:cNvPr id="350211" name="Rectangle 3"/>
          <p:cNvSpPr>
            <a:spLocks noGrp="1" noChangeArrowheads="1"/>
          </p:cNvSpPr>
          <p:nvPr>
            <p:ph type="subTitle" idx="1"/>
          </p:nvPr>
        </p:nvSpPr>
        <p:spPr/>
        <p:txBody>
          <a:bodyPr/>
          <a:lstStyle/>
          <a:p>
            <a:endParaRPr lang="zh-CN" alt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fld id="{1A10A63B-BAF4-403B-8060-8AB27BECA00F}" type="slidenum">
              <a:rPr lang="en-US" altLang="zh-CN"/>
            </a:fld>
            <a:endParaRPr lang="en-US" altLang="zh-CN"/>
          </a:p>
        </p:txBody>
      </p:sp>
      <p:sp>
        <p:nvSpPr>
          <p:cNvPr id="294916" name="Rectangle 4"/>
          <p:cNvSpPr>
            <a:spLocks noChangeArrowheads="1"/>
          </p:cNvSpPr>
          <p:nvPr/>
        </p:nvSpPr>
        <p:spPr bwMode="auto">
          <a:xfrm>
            <a:off x="611188"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3900" b="1">
                <a:solidFill>
                  <a:schemeClr val="tx2"/>
                </a:solidFill>
                <a:effectLst>
                  <a:outerShdw blurRad="38100" dist="38100" dir="2700000" algn="tl">
                    <a:srgbClr val="C0C0C0"/>
                  </a:outerShdw>
                </a:effectLst>
                <a:ea typeface="黑体" panose="02010609060101010101" pitchFamily="49" charset="-122"/>
              </a:rPr>
              <a:t>符号三角形问题</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sp>
        <p:nvSpPr>
          <p:cNvPr id="294917" name="Text Box 5"/>
          <p:cNvSpPr txBox="1">
            <a:spLocks noChangeArrowheads="1"/>
          </p:cNvSpPr>
          <p:nvPr/>
        </p:nvSpPr>
        <p:spPr bwMode="auto">
          <a:xfrm>
            <a:off x="2905125" y="1771650"/>
            <a:ext cx="3057525"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pPr algn="ctr"/>
            <a:r>
              <a:rPr lang="en-US" altLang="zh-CN" sz="2400" b="1">
                <a:solidFill>
                  <a:srgbClr val="000000"/>
                </a:solidFill>
                <a:cs typeface="Times New Roman" panose="02020603050405020304" pitchFamily="18" charset="0"/>
              </a:rPr>
              <a:t>+   +   -   +   -   +   +</a:t>
            </a:r>
            <a:endParaRPr lang="en-US" altLang="zh-CN" sz="2400" b="1">
              <a:solidFill>
                <a:srgbClr val="000000"/>
              </a:solidFill>
              <a:cs typeface="Times New Roman" panose="02020603050405020304" pitchFamily="18" charset="0"/>
            </a:endParaRPr>
          </a:p>
          <a:p>
            <a:pPr algn="ctr"/>
            <a:r>
              <a:rPr lang="en-US" altLang="zh-CN" sz="2400" b="1">
                <a:solidFill>
                  <a:srgbClr val="000000"/>
                </a:solidFill>
                <a:cs typeface="Times New Roman" panose="02020603050405020304" pitchFamily="18" charset="0"/>
              </a:rPr>
              <a:t>+   -   -   -   -   +</a:t>
            </a:r>
            <a:endParaRPr lang="en-US" altLang="zh-CN" sz="2400" b="1">
              <a:solidFill>
                <a:srgbClr val="000000"/>
              </a:solidFill>
              <a:cs typeface="Times New Roman" panose="02020603050405020304" pitchFamily="18" charset="0"/>
            </a:endParaRPr>
          </a:p>
          <a:p>
            <a:pPr algn="ctr"/>
            <a:r>
              <a:rPr lang="en-US" altLang="zh-CN" sz="2400" b="1">
                <a:solidFill>
                  <a:srgbClr val="000000"/>
                </a:solidFill>
                <a:cs typeface="Times New Roman" panose="02020603050405020304" pitchFamily="18" charset="0"/>
              </a:rPr>
              <a:t>-   +   +   +   -</a:t>
            </a:r>
            <a:endParaRPr lang="en-US" altLang="zh-CN" sz="2400" b="1">
              <a:solidFill>
                <a:srgbClr val="000000"/>
              </a:solidFill>
              <a:cs typeface="Times New Roman" panose="02020603050405020304" pitchFamily="18" charset="0"/>
            </a:endParaRPr>
          </a:p>
          <a:p>
            <a:pPr algn="ctr"/>
            <a:r>
              <a:rPr lang="en-US" altLang="zh-CN" sz="2400" b="1">
                <a:solidFill>
                  <a:srgbClr val="000000"/>
                </a:solidFill>
                <a:cs typeface="Times New Roman" panose="02020603050405020304" pitchFamily="18" charset="0"/>
              </a:rPr>
              <a:t>   -   +   +   -</a:t>
            </a:r>
            <a:endParaRPr lang="en-US" altLang="zh-CN" sz="2400" b="1">
              <a:solidFill>
                <a:srgbClr val="000000"/>
              </a:solidFill>
              <a:cs typeface="Times New Roman" panose="02020603050405020304" pitchFamily="18" charset="0"/>
            </a:endParaRPr>
          </a:p>
          <a:p>
            <a:pPr algn="ctr"/>
            <a:r>
              <a:rPr lang="en-US" altLang="zh-CN" sz="2400" b="1">
                <a:solidFill>
                  <a:srgbClr val="000000"/>
                </a:solidFill>
                <a:cs typeface="Times New Roman" panose="02020603050405020304" pitchFamily="18" charset="0"/>
              </a:rPr>
              <a:t>   -   +   -</a:t>
            </a:r>
            <a:endParaRPr lang="en-US" altLang="zh-CN" sz="2400" b="1">
              <a:solidFill>
                <a:srgbClr val="000000"/>
              </a:solidFill>
              <a:cs typeface="Times New Roman" panose="02020603050405020304" pitchFamily="18" charset="0"/>
            </a:endParaRPr>
          </a:p>
          <a:p>
            <a:pPr algn="ctr"/>
            <a:r>
              <a:rPr lang="en-US" altLang="zh-CN" sz="2400" b="1">
                <a:solidFill>
                  <a:srgbClr val="000000"/>
                </a:solidFill>
                <a:cs typeface="Times New Roman" panose="02020603050405020304" pitchFamily="18" charset="0"/>
              </a:rPr>
              <a:t>   -   -</a:t>
            </a:r>
            <a:endParaRPr lang="en-US" altLang="zh-CN" sz="2400" b="1">
              <a:solidFill>
                <a:srgbClr val="000000"/>
              </a:solidFill>
              <a:cs typeface="Times New Roman" panose="02020603050405020304" pitchFamily="18" charset="0"/>
            </a:endParaRPr>
          </a:p>
          <a:p>
            <a:pPr algn="ctr"/>
            <a:r>
              <a:rPr lang="en-US" altLang="zh-CN" sz="2400" b="1">
                <a:solidFill>
                  <a:srgbClr val="000000"/>
                </a:solidFill>
                <a:cs typeface="Times New Roman" panose="02020603050405020304" pitchFamily="18" charset="0"/>
              </a:rPr>
              <a:t>   +</a:t>
            </a:r>
            <a:endParaRPr lang="zh-CN" altLang="en-US" sz="2400" b="1">
              <a:solidFill>
                <a:srgbClr val="000000"/>
              </a:solidFill>
              <a:cs typeface="Times New Roman" panose="02020603050405020304" pitchFamily="18" charset="0"/>
            </a:endParaRPr>
          </a:p>
        </p:txBody>
      </p:sp>
      <p:sp>
        <p:nvSpPr>
          <p:cNvPr id="294918" name="Text Box 6"/>
          <p:cNvSpPr txBox="1">
            <a:spLocks noChangeArrowheads="1"/>
          </p:cNvSpPr>
          <p:nvPr/>
        </p:nvSpPr>
        <p:spPr bwMode="auto">
          <a:xfrm>
            <a:off x="323850" y="908050"/>
            <a:ext cx="83010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latin typeface="黑体" panose="02010609060101010101" pitchFamily="49" charset="-122"/>
                <a:ea typeface="黑体" panose="02010609060101010101" pitchFamily="49" charset="-122"/>
              </a:rPr>
              <a:t>下图是由</a:t>
            </a:r>
            <a:r>
              <a:rPr lang="en-US" altLang="zh-CN" sz="2400">
                <a:latin typeface="黑体" panose="02010609060101010101" pitchFamily="49" charset="-122"/>
                <a:ea typeface="黑体" panose="02010609060101010101" pitchFamily="49" charset="-122"/>
              </a:rPr>
              <a:t>14</a:t>
            </a:r>
            <a:r>
              <a:rPr lang="zh-CN" altLang="en-US" sz="2400">
                <a:latin typeface="黑体" panose="02010609060101010101" pitchFamily="49" charset="-122"/>
                <a:ea typeface="黑体" panose="02010609060101010101" pitchFamily="49" charset="-122"/>
              </a:rPr>
              <a:t>个</a:t>
            </a:r>
            <a:r>
              <a:rPr lang="zh-CN" altLang="en-US" sz="2400">
                <a:latin typeface="Arial" panose="020B0604020202020204"/>
                <a:ea typeface="黑体" panose="02010609060101010101" pitchFamily="49" charset="-122"/>
              </a:rPr>
              <a:t>“</a:t>
            </a:r>
            <a:r>
              <a:rPr lang="en-US" altLang="zh-CN" sz="2400">
                <a:latin typeface="黑体" panose="02010609060101010101" pitchFamily="49" charset="-122"/>
                <a:ea typeface="黑体" panose="02010609060101010101" pitchFamily="49" charset="-122"/>
              </a:rPr>
              <a:t>+</a:t>
            </a:r>
            <a:r>
              <a:rPr lang="en-US" altLang="zh-CN" sz="2400">
                <a:latin typeface="Arial" panose="020B0604020202020204"/>
                <a:ea typeface="黑体" panose="02010609060101010101" pitchFamily="49" charset="-122"/>
              </a:rPr>
              <a:t>”</a:t>
            </a:r>
            <a:r>
              <a:rPr lang="zh-CN" altLang="en-US" sz="2400">
                <a:latin typeface="黑体" panose="02010609060101010101" pitchFamily="49" charset="-122"/>
                <a:ea typeface="黑体" panose="02010609060101010101" pitchFamily="49" charset="-122"/>
              </a:rPr>
              <a:t>和</a:t>
            </a:r>
            <a:r>
              <a:rPr lang="en-US" altLang="zh-CN" sz="2400">
                <a:latin typeface="黑体" panose="02010609060101010101" pitchFamily="49" charset="-122"/>
                <a:ea typeface="黑体" panose="02010609060101010101" pitchFamily="49" charset="-122"/>
              </a:rPr>
              <a:t>14</a:t>
            </a:r>
            <a:r>
              <a:rPr lang="zh-CN" altLang="en-US" sz="2400">
                <a:latin typeface="黑体" panose="02010609060101010101" pitchFamily="49" charset="-122"/>
                <a:ea typeface="黑体" panose="02010609060101010101" pitchFamily="49" charset="-122"/>
              </a:rPr>
              <a:t>个</a:t>
            </a:r>
            <a:r>
              <a:rPr lang="zh-CN" altLang="en-US" sz="2400">
                <a:latin typeface="Arial" panose="020B0604020202020204"/>
                <a:ea typeface="黑体" panose="02010609060101010101" pitchFamily="49" charset="-122"/>
              </a:rPr>
              <a:t>“</a:t>
            </a:r>
            <a:r>
              <a:rPr lang="en-US" altLang="zh-CN" sz="2400">
                <a:latin typeface="黑体" panose="02010609060101010101" pitchFamily="49" charset="-122"/>
                <a:ea typeface="黑体" panose="02010609060101010101" pitchFamily="49" charset="-122"/>
              </a:rPr>
              <a:t>-</a:t>
            </a:r>
            <a:r>
              <a:rPr lang="en-US" altLang="zh-CN" sz="2400">
                <a:latin typeface="Arial" panose="020B0604020202020204"/>
                <a:ea typeface="黑体" panose="02010609060101010101" pitchFamily="49" charset="-122"/>
              </a:rPr>
              <a:t>”</a:t>
            </a:r>
            <a:r>
              <a:rPr lang="zh-CN" altLang="en-US" sz="2400">
                <a:latin typeface="黑体" panose="02010609060101010101" pitchFamily="49" charset="-122"/>
                <a:ea typeface="黑体" panose="02010609060101010101" pitchFamily="49" charset="-122"/>
              </a:rPr>
              <a:t>组成的符号三角形。</a:t>
            </a:r>
            <a:r>
              <a:rPr lang="en-US" altLang="zh-CN" sz="2400">
                <a:latin typeface="黑体" panose="02010609060101010101" pitchFamily="49" charset="-122"/>
                <a:ea typeface="黑体" panose="02010609060101010101" pitchFamily="49" charset="-122"/>
              </a:rPr>
              <a:t>2</a:t>
            </a:r>
            <a:r>
              <a:rPr lang="zh-CN" altLang="en-US" sz="2400">
                <a:latin typeface="黑体" panose="02010609060101010101" pitchFamily="49" charset="-122"/>
                <a:ea typeface="黑体" panose="02010609060101010101" pitchFamily="49" charset="-122"/>
              </a:rPr>
              <a:t>个同号下面都是</a:t>
            </a:r>
            <a:r>
              <a:rPr lang="zh-CN" altLang="en-US" sz="2400">
                <a:latin typeface="Arial" panose="020B0604020202020204"/>
                <a:ea typeface="黑体" panose="02010609060101010101" pitchFamily="49" charset="-122"/>
              </a:rPr>
              <a:t>“</a:t>
            </a:r>
            <a:r>
              <a:rPr lang="en-US" altLang="zh-CN" sz="2400">
                <a:latin typeface="黑体" panose="02010609060101010101" pitchFamily="49" charset="-122"/>
                <a:ea typeface="黑体" panose="02010609060101010101" pitchFamily="49" charset="-122"/>
              </a:rPr>
              <a:t>+</a:t>
            </a:r>
            <a:r>
              <a:rPr lang="en-US" altLang="zh-CN" sz="2400">
                <a:latin typeface="Arial" panose="020B0604020202020204"/>
                <a:ea typeface="黑体" panose="02010609060101010101" pitchFamily="49" charset="-122"/>
              </a:rPr>
              <a:t>”</a:t>
            </a:r>
            <a:r>
              <a:rPr lang="zh-CN" altLang="en-US" sz="2400">
                <a:latin typeface="黑体" panose="02010609060101010101" pitchFamily="49" charset="-122"/>
                <a:ea typeface="黑体" panose="02010609060101010101" pitchFamily="49" charset="-122"/>
              </a:rPr>
              <a:t>，</a:t>
            </a:r>
            <a:r>
              <a:rPr lang="en-US" altLang="zh-CN" sz="2400">
                <a:latin typeface="黑体" panose="02010609060101010101" pitchFamily="49" charset="-122"/>
                <a:ea typeface="黑体" panose="02010609060101010101" pitchFamily="49" charset="-122"/>
              </a:rPr>
              <a:t>2</a:t>
            </a:r>
            <a:r>
              <a:rPr lang="zh-CN" altLang="en-US" sz="2400">
                <a:latin typeface="黑体" panose="02010609060101010101" pitchFamily="49" charset="-122"/>
                <a:ea typeface="黑体" panose="02010609060101010101" pitchFamily="49" charset="-122"/>
              </a:rPr>
              <a:t>个异号下面都是</a:t>
            </a:r>
            <a:r>
              <a:rPr lang="zh-CN" altLang="en-US" sz="2400">
                <a:latin typeface="Arial" panose="020B0604020202020204"/>
                <a:ea typeface="黑体" panose="02010609060101010101" pitchFamily="49" charset="-122"/>
              </a:rPr>
              <a:t>“</a:t>
            </a:r>
            <a:r>
              <a:rPr lang="en-US" altLang="zh-CN" sz="2400">
                <a:latin typeface="黑体" panose="02010609060101010101" pitchFamily="49" charset="-122"/>
                <a:ea typeface="黑体" panose="02010609060101010101" pitchFamily="49" charset="-122"/>
              </a:rPr>
              <a:t>-</a:t>
            </a:r>
            <a:r>
              <a:rPr lang="en-US" altLang="zh-CN" sz="2400">
                <a:latin typeface="Arial" panose="020B0604020202020204"/>
                <a:ea typeface="黑体" panose="02010609060101010101" pitchFamily="49" charset="-122"/>
              </a:rPr>
              <a:t>”</a:t>
            </a:r>
            <a:r>
              <a:rPr lang="zh-CN" altLang="en-US" sz="2400">
                <a:latin typeface="黑体" panose="02010609060101010101" pitchFamily="49" charset="-122"/>
                <a:ea typeface="黑体" panose="02010609060101010101" pitchFamily="49" charset="-122"/>
              </a:rPr>
              <a:t>。</a:t>
            </a:r>
            <a:endParaRPr lang="zh-CN" altLang="en-US" sz="2400">
              <a:latin typeface="黑体" panose="02010609060101010101" pitchFamily="49" charset="-122"/>
              <a:ea typeface="黑体" panose="02010609060101010101" pitchFamily="49" charset="-122"/>
            </a:endParaRPr>
          </a:p>
        </p:txBody>
      </p:sp>
      <p:sp>
        <p:nvSpPr>
          <p:cNvPr id="294919" name="Text Box 7"/>
          <p:cNvSpPr txBox="1">
            <a:spLocks noChangeArrowheads="1"/>
          </p:cNvSpPr>
          <p:nvPr/>
        </p:nvSpPr>
        <p:spPr bwMode="auto">
          <a:xfrm>
            <a:off x="376238" y="4527550"/>
            <a:ext cx="829945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latin typeface="黑体" panose="02010609060101010101" pitchFamily="49" charset="-122"/>
                <a:ea typeface="黑体" panose="02010609060101010101" pitchFamily="49" charset="-122"/>
              </a:rPr>
              <a:t>在一般情况下，符号三角形的第一行有</a:t>
            </a:r>
            <a:r>
              <a:rPr lang="en-US" altLang="zh-CN" sz="2400">
                <a:latin typeface="黑体" panose="02010609060101010101" pitchFamily="49" charset="-122"/>
                <a:ea typeface="黑体" panose="02010609060101010101" pitchFamily="49" charset="-122"/>
              </a:rPr>
              <a:t>n</a:t>
            </a:r>
            <a:r>
              <a:rPr lang="zh-CN" altLang="en-US" sz="2400">
                <a:latin typeface="黑体" panose="02010609060101010101" pitchFamily="49" charset="-122"/>
                <a:ea typeface="黑体" panose="02010609060101010101" pitchFamily="49" charset="-122"/>
              </a:rPr>
              <a:t>个符号。符号三角形问题要求对于给定的</a:t>
            </a:r>
            <a:r>
              <a:rPr lang="en-US" altLang="zh-CN" sz="2400">
                <a:latin typeface="黑体" panose="02010609060101010101" pitchFamily="49" charset="-122"/>
                <a:ea typeface="黑体" panose="02010609060101010101" pitchFamily="49" charset="-122"/>
              </a:rPr>
              <a:t>n</a:t>
            </a:r>
            <a:r>
              <a:rPr lang="zh-CN" altLang="en-US" sz="2400">
                <a:latin typeface="黑体" panose="02010609060101010101" pitchFamily="49" charset="-122"/>
                <a:ea typeface="黑体" panose="02010609060101010101" pitchFamily="49" charset="-122"/>
              </a:rPr>
              <a:t>，计算有多少个不同的符号三角形，使其所含的</a:t>
            </a:r>
            <a:r>
              <a:rPr lang="zh-CN" altLang="en-US" sz="2400">
                <a:latin typeface="Arial" panose="020B0604020202020204"/>
                <a:ea typeface="黑体" panose="02010609060101010101" pitchFamily="49" charset="-122"/>
              </a:rPr>
              <a:t>“</a:t>
            </a:r>
            <a:r>
              <a:rPr lang="en-US" altLang="zh-CN" sz="2400">
                <a:latin typeface="黑体" panose="02010609060101010101" pitchFamily="49" charset="-122"/>
                <a:ea typeface="黑体" panose="02010609060101010101" pitchFamily="49" charset="-122"/>
              </a:rPr>
              <a:t>+</a:t>
            </a:r>
            <a:r>
              <a:rPr lang="en-US" altLang="zh-CN" sz="2400">
                <a:latin typeface="Arial" panose="020B0604020202020204"/>
                <a:ea typeface="黑体" panose="02010609060101010101" pitchFamily="49" charset="-122"/>
              </a:rPr>
              <a:t>”</a:t>
            </a:r>
            <a:r>
              <a:rPr lang="zh-CN" altLang="en-US" sz="2400">
                <a:latin typeface="黑体" panose="02010609060101010101" pitchFamily="49" charset="-122"/>
                <a:ea typeface="黑体" panose="02010609060101010101" pitchFamily="49" charset="-122"/>
              </a:rPr>
              <a:t>和</a:t>
            </a:r>
            <a:r>
              <a:rPr lang="zh-CN" altLang="en-US" sz="2400">
                <a:latin typeface="Arial" panose="020B0604020202020204"/>
                <a:ea typeface="黑体" panose="02010609060101010101" pitchFamily="49" charset="-122"/>
              </a:rPr>
              <a:t>“</a:t>
            </a:r>
            <a:r>
              <a:rPr lang="en-US" altLang="zh-CN" sz="2400">
                <a:latin typeface="黑体" panose="02010609060101010101" pitchFamily="49" charset="-122"/>
                <a:ea typeface="黑体" panose="02010609060101010101" pitchFamily="49" charset="-122"/>
              </a:rPr>
              <a:t>-</a:t>
            </a:r>
            <a:r>
              <a:rPr lang="en-US" altLang="zh-CN" sz="2400">
                <a:latin typeface="Arial" panose="020B0604020202020204"/>
                <a:ea typeface="黑体" panose="02010609060101010101" pitchFamily="49" charset="-122"/>
              </a:rPr>
              <a:t>”</a:t>
            </a:r>
            <a:r>
              <a:rPr lang="zh-CN" altLang="en-US" sz="2400">
                <a:latin typeface="黑体" panose="02010609060101010101" pitchFamily="49" charset="-122"/>
                <a:ea typeface="黑体" panose="02010609060101010101" pitchFamily="49" charset="-122"/>
              </a:rPr>
              <a:t>的个数相同。</a:t>
            </a:r>
            <a:endParaRPr lang="zh-CN" altLang="en-US" sz="240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fld id="{AEE14832-3670-431E-AC58-D12A2D8179DA}" type="slidenum">
              <a:rPr lang="en-US" altLang="zh-CN"/>
            </a:fld>
            <a:endParaRPr lang="en-US" altLang="zh-CN"/>
          </a:p>
        </p:txBody>
      </p:sp>
      <p:sp>
        <p:nvSpPr>
          <p:cNvPr id="295940" name="Rectangle 4"/>
          <p:cNvSpPr>
            <a:spLocks noChangeArrowheads="1"/>
          </p:cNvSpPr>
          <p:nvPr/>
        </p:nvSpPr>
        <p:spPr bwMode="auto">
          <a:xfrm>
            <a:off x="611188"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3900" b="1">
                <a:solidFill>
                  <a:schemeClr val="tx2"/>
                </a:solidFill>
                <a:effectLst>
                  <a:outerShdw blurRad="38100" dist="38100" dir="2700000" algn="tl">
                    <a:srgbClr val="C0C0C0"/>
                  </a:outerShdw>
                </a:effectLst>
                <a:ea typeface="黑体" panose="02010609060101010101" pitchFamily="49" charset="-122"/>
              </a:rPr>
              <a:t>符号三角形问题</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sp>
        <p:nvSpPr>
          <p:cNvPr id="295941" name="Text Box 5"/>
          <p:cNvSpPr txBox="1">
            <a:spLocks noChangeArrowheads="1"/>
          </p:cNvSpPr>
          <p:nvPr/>
        </p:nvSpPr>
        <p:spPr bwMode="auto">
          <a:xfrm>
            <a:off x="468313" y="765175"/>
            <a:ext cx="8372475"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FontTx/>
              <a:buChar char="•"/>
            </a:pPr>
            <a:r>
              <a:rPr lang="zh-CN" altLang="en-US" sz="2400">
                <a:ea typeface="新宋体" panose="02010609030101010101" charset="-122"/>
              </a:rPr>
              <a:t>解</a:t>
            </a:r>
            <a:r>
              <a:rPr kumimoji="1" lang="zh-CN" altLang="en-US" sz="2400">
                <a:ea typeface="新宋体" panose="02010609030101010101" charset="-122"/>
              </a:rPr>
              <a:t>向量</a:t>
            </a:r>
            <a:r>
              <a:rPr lang="zh-CN" altLang="en-US" sz="2400">
                <a:ea typeface="新宋体" panose="02010609030101010101" charset="-122"/>
              </a:rPr>
              <a:t>：用</a:t>
            </a:r>
            <a:r>
              <a:rPr lang="en-US" altLang="zh-CN" sz="2400">
                <a:ea typeface="新宋体" panose="02010609030101010101" charset="-122"/>
              </a:rPr>
              <a:t>n</a:t>
            </a:r>
            <a:r>
              <a:rPr lang="zh-CN" altLang="en-US" sz="2400">
                <a:ea typeface="新宋体" panose="02010609030101010101" charset="-122"/>
              </a:rPr>
              <a:t>元组</a:t>
            </a:r>
            <a:r>
              <a:rPr lang="en-US" altLang="zh-CN" sz="2400">
                <a:ea typeface="新宋体" panose="02010609030101010101" charset="-122"/>
              </a:rPr>
              <a:t>x[1:n]</a:t>
            </a:r>
            <a:r>
              <a:rPr lang="zh-CN" altLang="en-US" sz="2400">
                <a:ea typeface="新宋体" panose="02010609030101010101" charset="-122"/>
              </a:rPr>
              <a:t>表示符号三角形的第一行。 </a:t>
            </a:r>
            <a:endParaRPr lang="zh-CN" altLang="en-US" sz="2400">
              <a:ea typeface="新宋体" panose="02010609030101010101" charset="-122"/>
            </a:endParaRPr>
          </a:p>
          <a:p>
            <a:pPr>
              <a:buClr>
                <a:schemeClr val="accent2"/>
              </a:buClr>
              <a:buFontTx/>
              <a:buChar char="•"/>
            </a:pPr>
            <a:r>
              <a:rPr lang="zh-CN" altLang="en-US" sz="2400">
                <a:ea typeface="新宋体" panose="02010609030101010101" charset="-122"/>
              </a:rPr>
              <a:t>可行性约束函数：当前符号三角形所包含的“</a:t>
            </a:r>
            <a:r>
              <a:rPr lang="en-US" altLang="zh-CN" sz="2400">
                <a:ea typeface="新宋体" panose="02010609030101010101" charset="-122"/>
              </a:rPr>
              <a:t>+”</a:t>
            </a:r>
            <a:r>
              <a:rPr lang="zh-CN" altLang="en-US" sz="2400">
                <a:ea typeface="新宋体" panose="02010609030101010101" charset="-122"/>
              </a:rPr>
              <a:t>个数与“</a:t>
            </a:r>
            <a:r>
              <a:rPr lang="en-US" altLang="zh-CN" sz="2400">
                <a:ea typeface="新宋体" panose="02010609030101010101" charset="-122"/>
              </a:rPr>
              <a:t>-”</a:t>
            </a:r>
            <a:r>
              <a:rPr lang="zh-CN" altLang="en-US" sz="2400">
                <a:ea typeface="新宋体" panose="02010609030101010101" charset="-122"/>
              </a:rPr>
              <a:t>个数均不超过</a:t>
            </a:r>
            <a:r>
              <a:rPr lang="en-US" altLang="zh-CN" sz="2400">
                <a:ea typeface="新宋体" panose="02010609030101010101" charset="-122"/>
              </a:rPr>
              <a:t>n*(n+1)/4 </a:t>
            </a:r>
            <a:endParaRPr lang="en-US" altLang="zh-CN" sz="2400">
              <a:ea typeface="新宋体" panose="02010609030101010101" charset="-122"/>
            </a:endParaRPr>
          </a:p>
          <a:p>
            <a:pPr>
              <a:buClr>
                <a:schemeClr val="accent2"/>
              </a:buClr>
              <a:buFontTx/>
              <a:buChar char="•"/>
            </a:pPr>
            <a:r>
              <a:rPr lang="zh-CN" altLang="en-US" sz="2400">
                <a:ea typeface="新宋体" panose="02010609030101010101" charset="-122"/>
              </a:rPr>
              <a:t>无解的判断：</a:t>
            </a:r>
            <a:r>
              <a:rPr lang="en-US" altLang="zh-CN" sz="2400">
                <a:ea typeface="新宋体" panose="02010609030101010101" charset="-122"/>
              </a:rPr>
              <a:t>n*(n+1)/2</a:t>
            </a:r>
            <a:r>
              <a:rPr lang="zh-CN" altLang="en-US" sz="2400">
                <a:ea typeface="新宋体" panose="02010609030101010101" charset="-122"/>
              </a:rPr>
              <a:t>为奇数 </a:t>
            </a:r>
            <a:endParaRPr lang="zh-CN" altLang="en-US" sz="2400">
              <a:ea typeface="新宋体" panose="02010609030101010101" charset="-122"/>
            </a:endParaRPr>
          </a:p>
        </p:txBody>
      </p:sp>
      <p:sp>
        <p:nvSpPr>
          <p:cNvPr id="295942" name="Text Box 6"/>
          <p:cNvSpPr txBox="1">
            <a:spLocks noChangeArrowheads="1"/>
          </p:cNvSpPr>
          <p:nvPr/>
        </p:nvSpPr>
        <p:spPr bwMode="auto">
          <a:xfrm>
            <a:off x="250825" y="2300288"/>
            <a:ext cx="4252913" cy="449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r>
              <a:rPr kumimoji="1" lang="en-US" altLang="zh-CN" sz="1600"/>
              <a:t>void Triangle::</a:t>
            </a:r>
            <a:r>
              <a:rPr kumimoji="1" lang="en-US" altLang="zh-CN" sz="1600" b="1"/>
              <a:t>Backtrack</a:t>
            </a:r>
            <a:r>
              <a:rPr kumimoji="1" lang="en-US" altLang="zh-CN" sz="1600"/>
              <a:t>(int t)</a:t>
            </a:r>
            <a:endParaRPr kumimoji="1" lang="en-US" altLang="zh-CN" sz="1600"/>
          </a:p>
          <a:p>
            <a:r>
              <a:rPr kumimoji="1" lang="en-US" altLang="zh-CN" sz="1600"/>
              <a:t>{</a:t>
            </a:r>
            <a:endParaRPr kumimoji="1" lang="en-US" altLang="zh-CN" sz="1600"/>
          </a:p>
          <a:p>
            <a:r>
              <a:rPr kumimoji="1" lang="en-US" altLang="zh-CN" sz="1600"/>
              <a:t>  if ((count&gt;half)||(t*(t-1)/2-count&gt;half)) return;</a:t>
            </a:r>
            <a:endParaRPr kumimoji="1" lang="en-US" altLang="zh-CN" sz="1600"/>
          </a:p>
          <a:p>
            <a:r>
              <a:rPr kumimoji="1" lang="en-US" altLang="zh-CN" sz="1600"/>
              <a:t>  if (t&gt;n) sum++;</a:t>
            </a:r>
            <a:endParaRPr kumimoji="1" lang="en-US" altLang="zh-CN" sz="1600"/>
          </a:p>
          <a:p>
            <a:r>
              <a:rPr kumimoji="1" lang="en-US" altLang="zh-CN" sz="1600"/>
              <a:t>    else</a:t>
            </a:r>
            <a:endParaRPr kumimoji="1" lang="en-US" altLang="zh-CN" sz="1600"/>
          </a:p>
          <a:p>
            <a:r>
              <a:rPr kumimoji="1" lang="en-US" altLang="zh-CN" sz="1600"/>
              <a:t>      for (int i=0;i&lt;2;i++) {</a:t>
            </a:r>
            <a:endParaRPr kumimoji="1" lang="en-US" altLang="zh-CN" sz="1600"/>
          </a:p>
          <a:p>
            <a:r>
              <a:rPr kumimoji="1" lang="en-US" altLang="zh-CN" sz="1600"/>
              <a:t>        p[1][t]=i;</a:t>
            </a:r>
            <a:endParaRPr kumimoji="1" lang="en-US" altLang="zh-CN" sz="1600"/>
          </a:p>
          <a:p>
            <a:r>
              <a:rPr kumimoji="1" lang="en-US" altLang="zh-CN" sz="1600"/>
              <a:t>        count+=i;</a:t>
            </a:r>
            <a:endParaRPr kumimoji="1" lang="en-US" altLang="zh-CN" sz="1600"/>
          </a:p>
          <a:p>
            <a:r>
              <a:rPr kumimoji="1" lang="en-US" altLang="zh-CN" sz="1600"/>
              <a:t>        for (int j=2;j&lt;=t;j++) {</a:t>
            </a:r>
            <a:endParaRPr kumimoji="1" lang="en-US" altLang="zh-CN" sz="1600"/>
          </a:p>
          <a:p>
            <a:r>
              <a:rPr kumimoji="1" lang="en-US" altLang="zh-CN" sz="1600"/>
              <a:t>          p[j][t-j+1]=p[j-1][t-j+1]^p[j-1][t-j+2];</a:t>
            </a:r>
            <a:endParaRPr kumimoji="1" lang="en-US" altLang="zh-CN" sz="1600"/>
          </a:p>
          <a:p>
            <a:r>
              <a:rPr kumimoji="1" lang="en-US" altLang="zh-CN" sz="1600"/>
              <a:t>          count+=p[j][t-j+1];</a:t>
            </a:r>
            <a:endParaRPr kumimoji="1" lang="en-US" altLang="zh-CN" sz="1600"/>
          </a:p>
          <a:p>
            <a:r>
              <a:rPr kumimoji="1" lang="en-US" altLang="zh-CN" sz="1600"/>
              <a:t>        }</a:t>
            </a:r>
            <a:endParaRPr kumimoji="1" lang="en-US" altLang="zh-CN" sz="1600"/>
          </a:p>
          <a:p>
            <a:r>
              <a:rPr kumimoji="1" lang="en-US" altLang="zh-CN" sz="1600"/>
              <a:t>      Backtrack(t+1);</a:t>
            </a:r>
            <a:endParaRPr kumimoji="1" lang="en-US" altLang="zh-CN" sz="1600"/>
          </a:p>
          <a:p>
            <a:r>
              <a:rPr kumimoji="1" lang="en-US" altLang="zh-CN" sz="1600"/>
              <a:t>      for (int j=2;j&lt;=t;j++)</a:t>
            </a:r>
            <a:endParaRPr kumimoji="1" lang="en-US" altLang="zh-CN" sz="1600"/>
          </a:p>
          <a:p>
            <a:r>
              <a:rPr kumimoji="1" lang="en-US" altLang="zh-CN" sz="1600"/>
              <a:t>        count-=p[j][t-j+1];</a:t>
            </a:r>
            <a:endParaRPr kumimoji="1" lang="en-US" altLang="zh-CN" sz="1600"/>
          </a:p>
          <a:p>
            <a:r>
              <a:rPr kumimoji="1" lang="en-US" altLang="zh-CN" sz="1600"/>
              <a:t>      count-=i;</a:t>
            </a:r>
            <a:endParaRPr kumimoji="1" lang="en-US" altLang="zh-CN" sz="1600"/>
          </a:p>
          <a:p>
            <a:r>
              <a:rPr kumimoji="1" lang="en-US" altLang="zh-CN" sz="1600"/>
              <a:t>     }</a:t>
            </a:r>
            <a:endParaRPr kumimoji="1" lang="en-US" altLang="zh-CN" sz="1600"/>
          </a:p>
          <a:p>
            <a:r>
              <a:rPr kumimoji="1" lang="en-US" altLang="zh-CN" sz="1600"/>
              <a:t>  }</a:t>
            </a:r>
            <a:endParaRPr kumimoji="1" lang="en-US" altLang="zh-CN" sz="1600"/>
          </a:p>
        </p:txBody>
      </p:sp>
      <p:sp>
        <p:nvSpPr>
          <p:cNvPr id="295943" name="Text Box 7"/>
          <p:cNvSpPr txBox="1">
            <a:spLocks noChangeArrowheads="1"/>
          </p:cNvSpPr>
          <p:nvPr/>
        </p:nvSpPr>
        <p:spPr bwMode="auto">
          <a:xfrm>
            <a:off x="5219700" y="1773238"/>
            <a:ext cx="3276600" cy="2647950"/>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gn="ctr"/>
            <a:r>
              <a:rPr lang="en-US" altLang="zh-CN" sz="2400" b="1">
                <a:solidFill>
                  <a:srgbClr val="000000"/>
                </a:solidFill>
                <a:cs typeface="Times New Roman" panose="02020603050405020304" pitchFamily="18" charset="0"/>
              </a:rPr>
              <a:t>+   +   -   +   -   +   +</a:t>
            </a:r>
            <a:endParaRPr lang="en-US" altLang="zh-CN" sz="2400" b="1">
              <a:solidFill>
                <a:srgbClr val="000000"/>
              </a:solidFill>
              <a:cs typeface="Times New Roman" panose="02020603050405020304" pitchFamily="18" charset="0"/>
            </a:endParaRPr>
          </a:p>
          <a:p>
            <a:pPr algn="ctr"/>
            <a:r>
              <a:rPr lang="en-US" altLang="zh-CN" sz="2400" b="1">
                <a:solidFill>
                  <a:srgbClr val="000000"/>
                </a:solidFill>
                <a:cs typeface="Times New Roman" panose="02020603050405020304" pitchFamily="18" charset="0"/>
              </a:rPr>
              <a:t>+   -   -   -   -   +</a:t>
            </a:r>
            <a:endParaRPr lang="en-US" altLang="zh-CN" sz="2400" b="1">
              <a:solidFill>
                <a:srgbClr val="000000"/>
              </a:solidFill>
              <a:cs typeface="Times New Roman" panose="02020603050405020304" pitchFamily="18" charset="0"/>
            </a:endParaRPr>
          </a:p>
          <a:p>
            <a:pPr algn="ctr"/>
            <a:r>
              <a:rPr lang="en-US" altLang="zh-CN" sz="2400" b="1">
                <a:solidFill>
                  <a:srgbClr val="000000"/>
                </a:solidFill>
                <a:cs typeface="Times New Roman" panose="02020603050405020304" pitchFamily="18" charset="0"/>
              </a:rPr>
              <a:t>-   +   +   +   -</a:t>
            </a:r>
            <a:endParaRPr lang="en-US" altLang="zh-CN" sz="2400" b="1">
              <a:solidFill>
                <a:srgbClr val="000000"/>
              </a:solidFill>
              <a:cs typeface="Times New Roman" panose="02020603050405020304" pitchFamily="18" charset="0"/>
            </a:endParaRPr>
          </a:p>
          <a:p>
            <a:pPr algn="ctr"/>
            <a:r>
              <a:rPr lang="en-US" altLang="zh-CN" sz="2400" b="1">
                <a:solidFill>
                  <a:srgbClr val="000000"/>
                </a:solidFill>
                <a:cs typeface="Times New Roman" panose="02020603050405020304" pitchFamily="18" charset="0"/>
              </a:rPr>
              <a:t>   -   +   +   -</a:t>
            </a:r>
            <a:endParaRPr lang="en-US" altLang="zh-CN" sz="2400" b="1">
              <a:solidFill>
                <a:srgbClr val="000000"/>
              </a:solidFill>
              <a:cs typeface="Times New Roman" panose="02020603050405020304" pitchFamily="18" charset="0"/>
            </a:endParaRPr>
          </a:p>
          <a:p>
            <a:pPr algn="ctr"/>
            <a:r>
              <a:rPr lang="en-US" altLang="zh-CN" sz="2400" b="1">
                <a:solidFill>
                  <a:srgbClr val="000000"/>
                </a:solidFill>
                <a:cs typeface="Times New Roman" panose="02020603050405020304" pitchFamily="18" charset="0"/>
              </a:rPr>
              <a:t>   -   +   -</a:t>
            </a:r>
            <a:endParaRPr lang="en-US" altLang="zh-CN" sz="2400" b="1">
              <a:solidFill>
                <a:srgbClr val="000000"/>
              </a:solidFill>
              <a:cs typeface="Times New Roman" panose="02020603050405020304" pitchFamily="18" charset="0"/>
            </a:endParaRPr>
          </a:p>
          <a:p>
            <a:pPr algn="ctr"/>
            <a:r>
              <a:rPr lang="en-US" altLang="zh-CN" sz="2400" b="1">
                <a:solidFill>
                  <a:srgbClr val="000000"/>
                </a:solidFill>
                <a:cs typeface="Times New Roman" panose="02020603050405020304" pitchFamily="18" charset="0"/>
              </a:rPr>
              <a:t>   -   -</a:t>
            </a:r>
            <a:endParaRPr lang="en-US" altLang="zh-CN" sz="2400" b="1">
              <a:solidFill>
                <a:srgbClr val="000000"/>
              </a:solidFill>
              <a:cs typeface="Times New Roman" panose="02020603050405020304" pitchFamily="18" charset="0"/>
            </a:endParaRPr>
          </a:p>
          <a:p>
            <a:pPr algn="ctr"/>
            <a:r>
              <a:rPr lang="en-US" altLang="zh-CN" sz="2400" b="1">
                <a:solidFill>
                  <a:srgbClr val="000000"/>
                </a:solidFill>
                <a:cs typeface="Times New Roman" panose="02020603050405020304" pitchFamily="18" charset="0"/>
              </a:rPr>
              <a:t>   +</a:t>
            </a:r>
            <a:endParaRPr lang="zh-CN" altLang="en-US" sz="2400" b="1">
              <a:solidFill>
                <a:srgbClr val="000000"/>
              </a:solidFill>
              <a:cs typeface="Times New Roman" panose="02020603050405020304" pitchFamily="18" charset="0"/>
            </a:endParaRPr>
          </a:p>
        </p:txBody>
      </p:sp>
      <p:pic>
        <p:nvPicPr>
          <p:cNvPr id="295947" name="Picture 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51275" y="4076700"/>
            <a:ext cx="5091113" cy="2132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pic>
      <p:sp>
        <p:nvSpPr>
          <p:cNvPr id="295945" name="AutoShape 9"/>
          <p:cNvSpPr>
            <a:spLocks noChangeArrowheads="1"/>
          </p:cNvSpPr>
          <p:nvPr/>
        </p:nvSpPr>
        <p:spPr bwMode="auto">
          <a:xfrm>
            <a:off x="1344613" y="2503488"/>
            <a:ext cx="6985000" cy="1749425"/>
          </a:xfrm>
          <a:prstGeom prst="roundRect">
            <a:avLst>
              <a:gd name="adj" fmla="val 16667"/>
            </a:avLst>
          </a:prstGeom>
          <a:solidFill>
            <a:schemeClr val="accent1"/>
          </a:solidFill>
          <a:ln w="38100">
            <a:solidFill>
              <a:srgbClr val="063DE8"/>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400" b="1">
                <a:ea typeface="黑体" panose="02010609060101010101" pitchFamily="49" charset="-122"/>
              </a:rPr>
              <a:t>复杂度分析</a:t>
            </a:r>
            <a:endParaRPr lang="zh-CN" altLang="en-US" sz="2400" b="1">
              <a:ea typeface="黑体" panose="02010609060101010101" pitchFamily="49" charset="-122"/>
            </a:endParaRPr>
          </a:p>
          <a:p>
            <a:pPr eaLnBrk="0" hangingPunct="0"/>
            <a:r>
              <a:rPr lang="en-US" altLang="zh-CN" sz="2400" b="1">
                <a:ea typeface="新宋体" panose="02010609030101010101" charset="-122"/>
                <a:sym typeface="Wingdings" panose="05000000000000000000" pitchFamily="2" charset="2"/>
              </a:rPr>
              <a:t>计算可行性约束需要O(n)时间，在最坏情况下有 O(2</a:t>
            </a:r>
            <a:r>
              <a:rPr lang="en-US" altLang="zh-CN" sz="2400" b="1" baseline="30000">
                <a:ea typeface="新宋体" panose="02010609030101010101" charset="-122"/>
                <a:sym typeface="Wingdings" panose="05000000000000000000" pitchFamily="2" charset="2"/>
              </a:rPr>
              <a:t>n</a:t>
            </a:r>
            <a:r>
              <a:rPr lang="en-US" altLang="zh-CN" sz="2400" b="1">
                <a:ea typeface="新宋体" panose="02010609030101010101" charset="-122"/>
                <a:sym typeface="Wingdings" panose="05000000000000000000" pitchFamily="2" charset="2"/>
              </a:rPr>
              <a:t>)个结点需要计算可行性约束，故解符号三角形问题的回溯算法所需的计算时间为 O(n2</a:t>
            </a:r>
            <a:r>
              <a:rPr lang="en-US" altLang="zh-CN" sz="2400" b="1" baseline="30000">
                <a:ea typeface="新宋体" panose="02010609030101010101" charset="-122"/>
                <a:sym typeface="Wingdings" panose="05000000000000000000" pitchFamily="2" charset="2"/>
              </a:rPr>
              <a:t>n</a:t>
            </a:r>
            <a:r>
              <a:rPr lang="en-US" altLang="zh-CN" sz="2400" b="1">
                <a:ea typeface="新宋体" panose="02010609030101010101" charset="-122"/>
                <a:sym typeface="Wingdings" panose="05000000000000000000" pitchFamily="2" charset="2"/>
              </a:rPr>
              <a:t>)。</a:t>
            </a:r>
            <a:endParaRPr lang="zh-CN" altLang="en-US" sz="2400" b="1">
              <a:ea typeface="新宋体" panose="02010609030101010101" charset="-122"/>
              <a:sym typeface="Wingdings" panose="05000000000000000000"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5945"/>
                                        </p:tgtEl>
                                        <p:attrNameLst>
                                          <p:attrName>style.visibility</p:attrName>
                                        </p:attrNameLst>
                                      </p:cBhvr>
                                      <p:to>
                                        <p:strVal val="visible"/>
                                      </p:to>
                                    </p:set>
                                    <p:animEffect transition="in" filter="blinds(horizontal)">
                                      <p:cBhvr>
                                        <p:cTn id="7" dur="500"/>
                                        <p:tgtEl>
                                          <p:spTgt spid="2959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94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4"/>
          </p:nvPr>
        </p:nvSpPr>
        <p:spPr/>
        <p:txBody>
          <a:bodyPr/>
          <a:lstStyle/>
          <a:p>
            <a:fld id="{7718AC6C-26B9-4913-A4F3-ACF199EC42BE}" type="slidenum">
              <a:rPr lang="en-US" altLang="zh-CN"/>
            </a:fld>
            <a:endParaRPr lang="en-US" altLang="zh-CN"/>
          </a:p>
        </p:txBody>
      </p:sp>
      <p:sp>
        <p:nvSpPr>
          <p:cNvPr id="356354" name="Rectangle 2"/>
          <p:cNvSpPr>
            <a:spLocks noGrp="1" noChangeArrowheads="1"/>
          </p:cNvSpPr>
          <p:nvPr>
            <p:ph type="ctrTitle"/>
          </p:nvPr>
        </p:nvSpPr>
        <p:spPr/>
        <p:txBody>
          <a:bodyPr/>
          <a:lstStyle/>
          <a:p>
            <a:r>
              <a:rPr lang="en-US" altLang="zh-CN">
                <a:effectLst>
                  <a:outerShdw blurRad="38100" dist="38100" dir="2700000" algn="tl">
                    <a:srgbClr val="C0C0C0"/>
                  </a:outerShdw>
                </a:effectLst>
                <a:ea typeface="黑体" panose="02010609060101010101" pitchFamily="49" charset="-122"/>
              </a:rPr>
              <a:t>n</a:t>
            </a:r>
            <a:r>
              <a:rPr lang="zh-CN" altLang="en-US">
                <a:effectLst>
                  <a:outerShdw blurRad="38100" dist="38100" dir="2700000" algn="tl">
                    <a:srgbClr val="C0C0C0"/>
                  </a:outerShdw>
                </a:effectLst>
                <a:ea typeface="黑体" panose="02010609060101010101" pitchFamily="49" charset="-122"/>
              </a:rPr>
              <a:t>后问题</a:t>
            </a:r>
            <a:endParaRPr lang="zh-CN" altLang="en-US">
              <a:effectLst>
                <a:outerShdw blurRad="38100" dist="38100" dir="2700000" algn="tl">
                  <a:srgbClr val="C0C0C0"/>
                </a:outerShdw>
              </a:effectLst>
              <a:ea typeface="黑体" panose="02010609060101010101" pitchFamily="49" charset="-122"/>
            </a:endParaRPr>
          </a:p>
        </p:txBody>
      </p:sp>
      <p:sp>
        <p:nvSpPr>
          <p:cNvPr id="356355" name="Rectangle 3"/>
          <p:cNvSpPr>
            <a:spLocks noGrp="1" noChangeArrowheads="1"/>
          </p:cNvSpPr>
          <p:nvPr>
            <p:ph type="subTitle" idx="1"/>
          </p:nvPr>
        </p:nvSpPr>
        <p:spPr/>
        <p:txBody>
          <a:bodyPr/>
          <a:lstStyle/>
          <a:p>
            <a:endParaRPr lang="zh-CN" alt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灯片编号占位符 3"/>
          <p:cNvSpPr>
            <a:spLocks noGrp="1"/>
          </p:cNvSpPr>
          <p:nvPr>
            <p:ph type="sldNum" sz="quarter" idx="12"/>
          </p:nvPr>
        </p:nvSpPr>
        <p:spPr/>
        <p:txBody>
          <a:bodyPr/>
          <a:lstStyle/>
          <a:p>
            <a:fld id="{8FB5BAD9-2240-46E3-A651-0AB9E506A4FF}" type="slidenum">
              <a:rPr lang="en-US" altLang="zh-CN"/>
            </a:fld>
            <a:endParaRPr lang="en-US" altLang="zh-CN"/>
          </a:p>
        </p:txBody>
      </p:sp>
      <p:sp>
        <p:nvSpPr>
          <p:cNvPr id="357378" name="Rectangle 2"/>
          <p:cNvSpPr>
            <a:spLocks noChangeArrowheads="1"/>
          </p:cNvSpPr>
          <p:nvPr/>
        </p:nvSpPr>
        <p:spPr bwMode="auto">
          <a:xfrm>
            <a:off x="611188"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3900" b="1">
                <a:solidFill>
                  <a:schemeClr val="tx2"/>
                </a:solidFill>
                <a:effectLst>
                  <a:outerShdw blurRad="38100" dist="38100" dir="2700000" algn="tl">
                    <a:srgbClr val="C0C0C0"/>
                  </a:outerShdw>
                </a:effectLst>
                <a:ea typeface="黑体" panose="02010609060101010101" pitchFamily="49" charset="-122"/>
              </a:rPr>
              <a:t>n</a:t>
            </a:r>
            <a:r>
              <a:rPr lang="zh-CN" altLang="en-US" sz="3900" b="1">
                <a:solidFill>
                  <a:schemeClr val="tx2"/>
                </a:solidFill>
                <a:effectLst>
                  <a:outerShdw blurRad="38100" dist="38100" dir="2700000" algn="tl">
                    <a:srgbClr val="C0C0C0"/>
                  </a:outerShdw>
                </a:effectLst>
                <a:ea typeface="黑体" panose="02010609060101010101" pitchFamily="49" charset="-122"/>
              </a:rPr>
              <a:t>后问题</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sp>
        <p:nvSpPr>
          <p:cNvPr id="357379" name="Text Box 3"/>
          <p:cNvSpPr txBox="1">
            <a:spLocks noChangeArrowheads="1"/>
          </p:cNvSpPr>
          <p:nvPr/>
        </p:nvSpPr>
        <p:spPr bwMode="auto">
          <a:xfrm>
            <a:off x="250825" y="836613"/>
            <a:ext cx="84963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在</a:t>
            </a:r>
            <a:r>
              <a:rPr lang="en-US" altLang="zh-CN" sz="2400">
                <a:ea typeface="新宋体" panose="02010609030101010101" charset="-122"/>
              </a:rPr>
              <a:t>n×n</a:t>
            </a:r>
            <a:r>
              <a:rPr lang="zh-CN" altLang="en-US" sz="2400">
                <a:ea typeface="新宋体" panose="02010609030101010101" charset="-122"/>
              </a:rPr>
              <a:t>格的棋盘上放置彼此不受攻击的</a:t>
            </a:r>
            <a:r>
              <a:rPr lang="en-US" altLang="zh-CN" sz="2400">
                <a:ea typeface="新宋体" panose="02010609030101010101" charset="-122"/>
              </a:rPr>
              <a:t>n</a:t>
            </a:r>
            <a:r>
              <a:rPr lang="zh-CN" altLang="en-US" sz="2400">
                <a:ea typeface="新宋体" panose="02010609030101010101" charset="-122"/>
              </a:rPr>
              <a:t>个皇后。按照国际象棋的规则，皇后可以攻击与之处在同一行或同一列或同一斜线上的棋子。</a:t>
            </a:r>
            <a:r>
              <a:rPr lang="en-US" altLang="zh-CN" sz="2400">
                <a:ea typeface="新宋体" panose="02010609030101010101" charset="-122"/>
              </a:rPr>
              <a:t>n</a:t>
            </a:r>
            <a:r>
              <a:rPr lang="zh-CN" altLang="en-US" sz="2400">
                <a:ea typeface="新宋体" panose="02010609030101010101" charset="-122"/>
              </a:rPr>
              <a:t>后问题等价于在</a:t>
            </a:r>
            <a:r>
              <a:rPr lang="en-US" altLang="zh-CN" sz="2400">
                <a:ea typeface="新宋体" panose="02010609030101010101" charset="-122"/>
              </a:rPr>
              <a:t>n×n</a:t>
            </a:r>
            <a:r>
              <a:rPr lang="zh-CN" altLang="en-US" sz="2400">
                <a:ea typeface="新宋体" panose="02010609030101010101" charset="-122"/>
              </a:rPr>
              <a:t>格的棋盘上放置</a:t>
            </a:r>
            <a:r>
              <a:rPr lang="en-US" altLang="zh-CN" sz="2400">
                <a:ea typeface="新宋体" panose="02010609030101010101" charset="-122"/>
              </a:rPr>
              <a:t>n</a:t>
            </a:r>
            <a:r>
              <a:rPr lang="zh-CN" altLang="en-US" sz="2400">
                <a:ea typeface="新宋体" panose="02010609030101010101" charset="-122"/>
              </a:rPr>
              <a:t>个皇后，任何</a:t>
            </a:r>
            <a:r>
              <a:rPr lang="en-US" altLang="zh-CN" sz="2400">
                <a:ea typeface="新宋体" panose="02010609030101010101" charset="-122"/>
              </a:rPr>
              <a:t>2</a:t>
            </a:r>
            <a:r>
              <a:rPr lang="zh-CN" altLang="en-US" sz="2400">
                <a:ea typeface="新宋体" panose="02010609030101010101" charset="-122"/>
              </a:rPr>
              <a:t>个皇后不放在同一行或同一列或同一斜线上。</a:t>
            </a:r>
            <a:endParaRPr lang="zh-CN" altLang="en-US" sz="2400">
              <a:ea typeface="新宋体" panose="02010609030101010101" charset="-122"/>
            </a:endParaRPr>
          </a:p>
        </p:txBody>
      </p:sp>
      <p:grpSp>
        <p:nvGrpSpPr>
          <p:cNvPr id="357380" name="Group 4"/>
          <p:cNvGrpSpPr/>
          <p:nvPr/>
        </p:nvGrpSpPr>
        <p:grpSpPr bwMode="auto">
          <a:xfrm>
            <a:off x="1979613" y="2492375"/>
            <a:ext cx="4598987" cy="4000500"/>
            <a:chOff x="1282" y="1724"/>
            <a:chExt cx="2897" cy="2520"/>
          </a:xfrm>
        </p:grpSpPr>
        <p:sp>
          <p:nvSpPr>
            <p:cNvPr id="357381" name="Rectangle 5"/>
            <p:cNvSpPr>
              <a:spLocks noChangeArrowheads="1"/>
            </p:cNvSpPr>
            <p:nvPr/>
          </p:nvSpPr>
          <p:spPr bwMode="auto">
            <a:xfrm>
              <a:off x="1617" y="1728"/>
              <a:ext cx="2544" cy="2208"/>
            </a:xfrm>
            <a:prstGeom prst="rect">
              <a:avLst/>
            </a:prstGeom>
            <a:solidFill>
              <a:schemeClr val="accent1"/>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7382" name="Line 6"/>
            <p:cNvSpPr>
              <a:spLocks noChangeShapeType="1"/>
            </p:cNvSpPr>
            <p:nvPr/>
          </p:nvSpPr>
          <p:spPr bwMode="auto">
            <a:xfrm flipV="1">
              <a:off x="1616" y="2864"/>
              <a:ext cx="254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7383" name="Line 7"/>
            <p:cNvSpPr>
              <a:spLocks noChangeShapeType="1"/>
            </p:cNvSpPr>
            <p:nvPr/>
          </p:nvSpPr>
          <p:spPr bwMode="auto">
            <a:xfrm>
              <a:off x="2888" y="1732"/>
              <a:ext cx="0" cy="22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7384" name="Line 8"/>
            <p:cNvSpPr>
              <a:spLocks noChangeShapeType="1"/>
            </p:cNvSpPr>
            <p:nvPr/>
          </p:nvSpPr>
          <p:spPr bwMode="auto">
            <a:xfrm flipV="1">
              <a:off x="1621" y="3152"/>
              <a:ext cx="254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7385" name="Line 9"/>
            <p:cNvSpPr>
              <a:spLocks noChangeShapeType="1"/>
            </p:cNvSpPr>
            <p:nvPr/>
          </p:nvSpPr>
          <p:spPr bwMode="auto">
            <a:xfrm flipV="1">
              <a:off x="1619" y="3414"/>
              <a:ext cx="254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7386" name="Line 10"/>
            <p:cNvSpPr>
              <a:spLocks noChangeShapeType="1"/>
            </p:cNvSpPr>
            <p:nvPr/>
          </p:nvSpPr>
          <p:spPr bwMode="auto">
            <a:xfrm flipV="1">
              <a:off x="1621" y="3677"/>
              <a:ext cx="254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7387" name="Line 11"/>
            <p:cNvSpPr>
              <a:spLocks noChangeShapeType="1"/>
            </p:cNvSpPr>
            <p:nvPr/>
          </p:nvSpPr>
          <p:spPr bwMode="auto">
            <a:xfrm flipV="1">
              <a:off x="1620" y="2604"/>
              <a:ext cx="254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7388" name="Line 12"/>
            <p:cNvSpPr>
              <a:spLocks noChangeShapeType="1"/>
            </p:cNvSpPr>
            <p:nvPr/>
          </p:nvSpPr>
          <p:spPr bwMode="auto">
            <a:xfrm flipV="1">
              <a:off x="1624" y="2048"/>
              <a:ext cx="254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7389" name="Line 13"/>
            <p:cNvSpPr>
              <a:spLocks noChangeShapeType="1"/>
            </p:cNvSpPr>
            <p:nvPr/>
          </p:nvSpPr>
          <p:spPr bwMode="auto">
            <a:xfrm flipV="1">
              <a:off x="1624" y="2336"/>
              <a:ext cx="254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7390" name="Line 14"/>
            <p:cNvSpPr>
              <a:spLocks noChangeShapeType="1"/>
            </p:cNvSpPr>
            <p:nvPr/>
          </p:nvSpPr>
          <p:spPr bwMode="auto">
            <a:xfrm>
              <a:off x="1918" y="1724"/>
              <a:ext cx="0" cy="22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7391" name="Line 15"/>
            <p:cNvSpPr>
              <a:spLocks noChangeShapeType="1"/>
            </p:cNvSpPr>
            <p:nvPr/>
          </p:nvSpPr>
          <p:spPr bwMode="auto">
            <a:xfrm>
              <a:off x="2566" y="1727"/>
              <a:ext cx="0" cy="22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7392" name="Line 16"/>
            <p:cNvSpPr>
              <a:spLocks noChangeShapeType="1"/>
            </p:cNvSpPr>
            <p:nvPr/>
          </p:nvSpPr>
          <p:spPr bwMode="auto">
            <a:xfrm>
              <a:off x="2256" y="1727"/>
              <a:ext cx="0" cy="22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7393" name="Line 17"/>
            <p:cNvSpPr>
              <a:spLocks noChangeShapeType="1"/>
            </p:cNvSpPr>
            <p:nvPr/>
          </p:nvSpPr>
          <p:spPr bwMode="auto">
            <a:xfrm>
              <a:off x="3184" y="1730"/>
              <a:ext cx="0" cy="22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7394" name="Line 18"/>
            <p:cNvSpPr>
              <a:spLocks noChangeShapeType="1"/>
            </p:cNvSpPr>
            <p:nvPr/>
          </p:nvSpPr>
          <p:spPr bwMode="auto">
            <a:xfrm>
              <a:off x="3832" y="1729"/>
              <a:ext cx="0" cy="22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7395" name="Line 19"/>
            <p:cNvSpPr>
              <a:spLocks noChangeShapeType="1"/>
            </p:cNvSpPr>
            <p:nvPr/>
          </p:nvSpPr>
          <p:spPr bwMode="auto">
            <a:xfrm>
              <a:off x="3507" y="1729"/>
              <a:ext cx="0" cy="22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7396" name="Text Box 20"/>
            <p:cNvSpPr txBox="1">
              <a:spLocks noChangeArrowheads="1"/>
            </p:cNvSpPr>
            <p:nvPr/>
          </p:nvSpPr>
          <p:spPr bwMode="auto">
            <a:xfrm>
              <a:off x="1591" y="3956"/>
              <a:ext cx="25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ja-JP" altLang="en-US" sz="2400">
                  <a:latin typeface="Verdana" panose="020B0604030504040204" pitchFamily="34" charset="0"/>
                  <a:ea typeface="黑体" panose="02010609060101010101" pitchFamily="49" charset="-122"/>
                </a:rPr>
                <a:t>1    2   3   4   5   6   7   8</a:t>
              </a:r>
              <a:endParaRPr kumimoji="1" lang="ja-JP" altLang="en-US" sz="2400">
                <a:latin typeface="Verdana" panose="020B0604030504040204" pitchFamily="34" charset="0"/>
                <a:ea typeface="黑体" panose="02010609060101010101" pitchFamily="49" charset="-122"/>
              </a:endParaRPr>
            </a:p>
          </p:txBody>
        </p:sp>
        <p:sp>
          <p:nvSpPr>
            <p:cNvPr id="357397" name="Text Box 21"/>
            <p:cNvSpPr txBox="1">
              <a:spLocks noChangeArrowheads="1"/>
            </p:cNvSpPr>
            <p:nvPr/>
          </p:nvSpPr>
          <p:spPr bwMode="auto">
            <a:xfrm>
              <a:off x="1302" y="1728"/>
              <a:ext cx="2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ja-JP" altLang="en-US" sz="2400">
                  <a:latin typeface="Verdana" panose="020B0604030504040204" pitchFamily="34" charset="0"/>
                  <a:ea typeface="黑体" panose="02010609060101010101" pitchFamily="49" charset="-122"/>
                </a:rPr>
                <a:t>1</a:t>
              </a:r>
              <a:endParaRPr kumimoji="1" lang="ja-JP" altLang="en-US" sz="2400">
                <a:latin typeface="Verdana" panose="020B0604030504040204" pitchFamily="34" charset="0"/>
                <a:ea typeface="黑体" panose="02010609060101010101" pitchFamily="49" charset="-122"/>
              </a:endParaRPr>
            </a:p>
          </p:txBody>
        </p:sp>
        <p:sp>
          <p:nvSpPr>
            <p:cNvPr id="357398" name="Text Box 22"/>
            <p:cNvSpPr txBox="1">
              <a:spLocks noChangeArrowheads="1"/>
            </p:cNvSpPr>
            <p:nvPr/>
          </p:nvSpPr>
          <p:spPr bwMode="auto">
            <a:xfrm>
              <a:off x="1302" y="2028"/>
              <a:ext cx="2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ja-JP" altLang="en-US" sz="2400">
                  <a:latin typeface="Verdana" panose="020B0604030504040204" pitchFamily="34" charset="0"/>
                  <a:ea typeface="黑体" panose="02010609060101010101" pitchFamily="49" charset="-122"/>
                </a:rPr>
                <a:t>2</a:t>
              </a:r>
              <a:endParaRPr kumimoji="1" lang="ja-JP" altLang="en-US" sz="2400">
                <a:latin typeface="Verdana" panose="020B0604030504040204" pitchFamily="34" charset="0"/>
                <a:ea typeface="黑体" panose="02010609060101010101" pitchFamily="49" charset="-122"/>
              </a:endParaRPr>
            </a:p>
          </p:txBody>
        </p:sp>
        <p:sp>
          <p:nvSpPr>
            <p:cNvPr id="357399" name="Text Box 23"/>
            <p:cNvSpPr txBox="1">
              <a:spLocks noChangeArrowheads="1"/>
            </p:cNvSpPr>
            <p:nvPr/>
          </p:nvSpPr>
          <p:spPr bwMode="auto">
            <a:xfrm>
              <a:off x="1298" y="2312"/>
              <a:ext cx="2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ja-JP" altLang="en-US" sz="2400">
                  <a:latin typeface="Verdana" panose="020B0604030504040204" pitchFamily="34" charset="0"/>
                  <a:ea typeface="黑体" panose="02010609060101010101" pitchFamily="49" charset="-122"/>
                </a:rPr>
                <a:t>3</a:t>
              </a:r>
              <a:endParaRPr kumimoji="1" lang="ja-JP" altLang="en-US" sz="2400">
                <a:latin typeface="Verdana" panose="020B0604030504040204" pitchFamily="34" charset="0"/>
                <a:ea typeface="黑体" panose="02010609060101010101" pitchFamily="49" charset="-122"/>
              </a:endParaRPr>
            </a:p>
          </p:txBody>
        </p:sp>
        <p:sp>
          <p:nvSpPr>
            <p:cNvPr id="357400" name="Text Box 24"/>
            <p:cNvSpPr txBox="1">
              <a:spLocks noChangeArrowheads="1"/>
            </p:cNvSpPr>
            <p:nvPr/>
          </p:nvSpPr>
          <p:spPr bwMode="auto">
            <a:xfrm>
              <a:off x="1290" y="2588"/>
              <a:ext cx="2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ja-JP" altLang="en-US" sz="2400">
                  <a:latin typeface="Verdana" panose="020B0604030504040204" pitchFamily="34" charset="0"/>
                  <a:ea typeface="黑体" panose="02010609060101010101" pitchFamily="49" charset="-122"/>
                </a:rPr>
                <a:t>4</a:t>
              </a:r>
              <a:endParaRPr kumimoji="1" lang="ja-JP" altLang="en-US" sz="2400">
                <a:latin typeface="Verdana" panose="020B0604030504040204" pitchFamily="34" charset="0"/>
                <a:ea typeface="黑体" panose="02010609060101010101" pitchFamily="49" charset="-122"/>
              </a:endParaRPr>
            </a:p>
          </p:txBody>
        </p:sp>
        <p:sp>
          <p:nvSpPr>
            <p:cNvPr id="357401" name="Text Box 25"/>
            <p:cNvSpPr txBox="1">
              <a:spLocks noChangeArrowheads="1"/>
            </p:cNvSpPr>
            <p:nvPr/>
          </p:nvSpPr>
          <p:spPr bwMode="auto">
            <a:xfrm>
              <a:off x="1286" y="2848"/>
              <a:ext cx="2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ja-JP" altLang="en-US" sz="2400">
                  <a:latin typeface="Verdana" panose="020B0604030504040204" pitchFamily="34" charset="0"/>
                  <a:ea typeface="黑体" panose="02010609060101010101" pitchFamily="49" charset="-122"/>
                </a:rPr>
                <a:t>5</a:t>
              </a:r>
              <a:endParaRPr kumimoji="1" lang="ja-JP" altLang="en-US" sz="2400">
                <a:latin typeface="Verdana" panose="020B0604030504040204" pitchFamily="34" charset="0"/>
                <a:ea typeface="黑体" panose="02010609060101010101" pitchFamily="49" charset="-122"/>
              </a:endParaRPr>
            </a:p>
          </p:txBody>
        </p:sp>
        <p:sp>
          <p:nvSpPr>
            <p:cNvPr id="357402" name="Text Box 26"/>
            <p:cNvSpPr txBox="1">
              <a:spLocks noChangeArrowheads="1"/>
            </p:cNvSpPr>
            <p:nvPr/>
          </p:nvSpPr>
          <p:spPr bwMode="auto">
            <a:xfrm>
              <a:off x="1286" y="3152"/>
              <a:ext cx="2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ja-JP" altLang="en-US" sz="2400">
                  <a:latin typeface="Verdana" panose="020B0604030504040204" pitchFamily="34" charset="0"/>
                  <a:ea typeface="黑体" panose="02010609060101010101" pitchFamily="49" charset="-122"/>
                </a:rPr>
                <a:t>6</a:t>
              </a:r>
              <a:endParaRPr kumimoji="1" lang="ja-JP" altLang="en-US" sz="2400">
                <a:latin typeface="Verdana" panose="020B0604030504040204" pitchFamily="34" charset="0"/>
                <a:ea typeface="黑体" panose="02010609060101010101" pitchFamily="49" charset="-122"/>
              </a:endParaRPr>
            </a:p>
          </p:txBody>
        </p:sp>
        <p:sp>
          <p:nvSpPr>
            <p:cNvPr id="357403" name="Text Box 27"/>
            <p:cNvSpPr txBox="1">
              <a:spLocks noChangeArrowheads="1"/>
            </p:cNvSpPr>
            <p:nvPr/>
          </p:nvSpPr>
          <p:spPr bwMode="auto">
            <a:xfrm>
              <a:off x="1282" y="3392"/>
              <a:ext cx="2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ja-JP" altLang="en-US" sz="2400">
                  <a:latin typeface="Verdana" panose="020B0604030504040204" pitchFamily="34" charset="0"/>
                  <a:ea typeface="黑体" panose="02010609060101010101" pitchFamily="49" charset="-122"/>
                </a:rPr>
                <a:t>7</a:t>
              </a:r>
              <a:endParaRPr kumimoji="1" lang="ja-JP" altLang="en-US" sz="2400">
                <a:latin typeface="Verdana" panose="020B0604030504040204" pitchFamily="34" charset="0"/>
                <a:ea typeface="黑体" panose="02010609060101010101" pitchFamily="49" charset="-122"/>
              </a:endParaRPr>
            </a:p>
          </p:txBody>
        </p:sp>
        <p:sp>
          <p:nvSpPr>
            <p:cNvPr id="357404" name="Text Box 28"/>
            <p:cNvSpPr txBox="1">
              <a:spLocks noChangeArrowheads="1"/>
            </p:cNvSpPr>
            <p:nvPr/>
          </p:nvSpPr>
          <p:spPr bwMode="auto">
            <a:xfrm>
              <a:off x="1282" y="3652"/>
              <a:ext cx="2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ja-JP" altLang="en-US" sz="2400">
                  <a:latin typeface="Verdana" panose="020B0604030504040204" pitchFamily="34" charset="0"/>
                  <a:ea typeface="黑体" panose="02010609060101010101" pitchFamily="49" charset="-122"/>
                </a:rPr>
                <a:t>8</a:t>
              </a:r>
              <a:endParaRPr kumimoji="1" lang="ja-JP" altLang="en-US" sz="2400">
                <a:latin typeface="Verdana" panose="020B0604030504040204" pitchFamily="34" charset="0"/>
                <a:ea typeface="黑体" panose="02010609060101010101" pitchFamily="49" charset="-122"/>
              </a:endParaRPr>
            </a:p>
          </p:txBody>
        </p:sp>
        <p:sp>
          <p:nvSpPr>
            <p:cNvPr id="357405" name="Text Box 29"/>
            <p:cNvSpPr txBox="1">
              <a:spLocks noChangeArrowheads="1"/>
            </p:cNvSpPr>
            <p:nvPr/>
          </p:nvSpPr>
          <p:spPr bwMode="auto">
            <a:xfrm>
              <a:off x="3206" y="2048"/>
              <a:ext cx="26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ja-JP" sz="2400">
                  <a:latin typeface="Verdana" panose="020B0604030504040204" pitchFamily="34" charset="0"/>
                  <a:ea typeface="黑体" panose="02010609060101010101" pitchFamily="49" charset="-122"/>
                </a:rPr>
                <a:t>Q</a:t>
              </a:r>
              <a:endParaRPr kumimoji="1" lang="en-US" altLang="ja-JP" sz="2400">
                <a:latin typeface="Verdana" panose="020B0604030504040204" pitchFamily="34" charset="0"/>
                <a:ea typeface="黑体" panose="02010609060101010101" pitchFamily="49" charset="-122"/>
              </a:endParaRPr>
            </a:p>
          </p:txBody>
        </p:sp>
        <p:sp>
          <p:nvSpPr>
            <p:cNvPr id="357406" name="Text Box 30"/>
            <p:cNvSpPr txBox="1">
              <a:spLocks noChangeArrowheads="1"/>
            </p:cNvSpPr>
            <p:nvPr/>
          </p:nvSpPr>
          <p:spPr bwMode="auto">
            <a:xfrm>
              <a:off x="3854" y="2328"/>
              <a:ext cx="26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ja-JP" sz="2400">
                  <a:latin typeface="Verdana" panose="020B0604030504040204" pitchFamily="34" charset="0"/>
                  <a:ea typeface="黑体" panose="02010609060101010101" pitchFamily="49" charset="-122"/>
                </a:rPr>
                <a:t>Q</a:t>
              </a:r>
              <a:endParaRPr kumimoji="1" lang="en-US" altLang="ja-JP" sz="2400">
                <a:latin typeface="Verdana" panose="020B0604030504040204" pitchFamily="34" charset="0"/>
                <a:ea typeface="黑体" panose="02010609060101010101" pitchFamily="49" charset="-122"/>
              </a:endParaRPr>
            </a:p>
          </p:txBody>
        </p:sp>
        <p:sp>
          <p:nvSpPr>
            <p:cNvPr id="357407" name="Text Box 31"/>
            <p:cNvSpPr txBox="1">
              <a:spLocks noChangeArrowheads="1"/>
            </p:cNvSpPr>
            <p:nvPr/>
          </p:nvSpPr>
          <p:spPr bwMode="auto">
            <a:xfrm>
              <a:off x="1958" y="2588"/>
              <a:ext cx="26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ja-JP" sz="2400">
                  <a:latin typeface="Verdana" panose="020B0604030504040204" pitchFamily="34" charset="0"/>
                  <a:ea typeface="黑体" panose="02010609060101010101" pitchFamily="49" charset="-122"/>
                </a:rPr>
                <a:t>Q</a:t>
              </a:r>
              <a:endParaRPr kumimoji="1" lang="en-US" altLang="ja-JP" sz="2400">
                <a:latin typeface="Verdana" panose="020B0604030504040204" pitchFamily="34" charset="0"/>
                <a:ea typeface="黑体" panose="02010609060101010101" pitchFamily="49" charset="-122"/>
              </a:endParaRPr>
            </a:p>
          </p:txBody>
        </p:sp>
        <p:sp>
          <p:nvSpPr>
            <p:cNvPr id="357408" name="Text Box 32"/>
            <p:cNvSpPr txBox="1">
              <a:spLocks noChangeArrowheads="1"/>
            </p:cNvSpPr>
            <p:nvPr/>
          </p:nvSpPr>
          <p:spPr bwMode="auto">
            <a:xfrm>
              <a:off x="3534" y="2868"/>
              <a:ext cx="26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ja-JP" sz="2400">
                  <a:latin typeface="Verdana" panose="020B0604030504040204" pitchFamily="34" charset="0"/>
                  <a:ea typeface="黑体" panose="02010609060101010101" pitchFamily="49" charset="-122"/>
                </a:rPr>
                <a:t>Q</a:t>
              </a:r>
              <a:endParaRPr kumimoji="1" lang="en-US" altLang="ja-JP" sz="2400">
                <a:latin typeface="Verdana" panose="020B0604030504040204" pitchFamily="34" charset="0"/>
                <a:ea typeface="黑体" panose="02010609060101010101" pitchFamily="49" charset="-122"/>
              </a:endParaRPr>
            </a:p>
          </p:txBody>
        </p:sp>
        <p:sp>
          <p:nvSpPr>
            <p:cNvPr id="357409" name="Text Box 33"/>
            <p:cNvSpPr txBox="1">
              <a:spLocks noChangeArrowheads="1"/>
            </p:cNvSpPr>
            <p:nvPr/>
          </p:nvSpPr>
          <p:spPr bwMode="auto">
            <a:xfrm>
              <a:off x="2278" y="3396"/>
              <a:ext cx="26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ja-JP" sz="2400">
                  <a:latin typeface="Verdana" panose="020B0604030504040204" pitchFamily="34" charset="0"/>
                  <a:ea typeface="黑体" panose="02010609060101010101" pitchFamily="49" charset="-122"/>
                </a:rPr>
                <a:t>Q</a:t>
              </a:r>
              <a:endParaRPr kumimoji="1" lang="en-US" altLang="ja-JP" sz="2400">
                <a:latin typeface="Verdana" panose="020B0604030504040204" pitchFamily="34" charset="0"/>
                <a:ea typeface="黑体" panose="02010609060101010101" pitchFamily="49" charset="-122"/>
              </a:endParaRPr>
            </a:p>
          </p:txBody>
        </p:sp>
        <p:sp>
          <p:nvSpPr>
            <p:cNvPr id="357410" name="Text Box 34"/>
            <p:cNvSpPr txBox="1">
              <a:spLocks noChangeArrowheads="1"/>
            </p:cNvSpPr>
            <p:nvPr/>
          </p:nvSpPr>
          <p:spPr bwMode="auto">
            <a:xfrm>
              <a:off x="1634" y="3136"/>
              <a:ext cx="26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ja-JP" sz="2400">
                  <a:latin typeface="Verdana" panose="020B0604030504040204" pitchFamily="34" charset="0"/>
                  <a:ea typeface="黑体" panose="02010609060101010101" pitchFamily="49" charset="-122"/>
                </a:rPr>
                <a:t>Q</a:t>
              </a:r>
              <a:endParaRPr kumimoji="1" lang="en-US" altLang="ja-JP" sz="2400">
                <a:latin typeface="Verdana" panose="020B0604030504040204" pitchFamily="34" charset="0"/>
                <a:ea typeface="黑体" panose="02010609060101010101" pitchFamily="49" charset="-122"/>
              </a:endParaRPr>
            </a:p>
          </p:txBody>
        </p:sp>
        <p:sp>
          <p:nvSpPr>
            <p:cNvPr id="357411" name="Text Box 35"/>
            <p:cNvSpPr txBox="1">
              <a:spLocks noChangeArrowheads="1"/>
            </p:cNvSpPr>
            <p:nvPr/>
          </p:nvSpPr>
          <p:spPr bwMode="auto">
            <a:xfrm>
              <a:off x="2902" y="3664"/>
              <a:ext cx="26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ja-JP" sz="2400">
                  <a:latin typeface="Verdana" panose="020B0604030504040204" pitchFamily="34" charset="0"/>
                  <a:ea typeface="黑体" panose="02010609060101010101" pitchFamily="49" charset="-122"/>
                </a:rPr>
                <a:t>Q</a:t>
              </a:r>
              <a:endParaRPr kumimoji="1" lang="en-US" altLang="ja-JP" sz="2400">
                <a:latin typeface="Verdana" panose="020B0604030504040204" pitchFamily="34" charset="0"/>
                <a:ea typeface="黑体" panose="02010609060101010101" pitchFamily="49" charset="-122"/>
              </a:endParaRPr>
            </a:p>
          </p:txBody>
        </p:sp>
        <p:sp>
          <p:nvSpPr>
            <p:cNvPr id="357412" name="Text Box 36"/>
            <p:cNvSpPr txBox="1">
              <a:spLocks noChangeArrowheads="1"/>
            </p:cNvSpPr>
            <p:nvPr/>
          </p:nvSpPr>
          <p:spPr bwMode="auto">
            <a:xfrm>
              <a:off x="2594" y="1752"/>
              <a:ext cx="26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ja-JP" sz="2400">
                  <a:latin typeface="Verdana" panose="020B0604030504040204" pitchFamily="34" charset="0"/>
                  <a:ea typeface="黑体" panose="02010609060101010101" pitchFamily="49" charset="-122"/>
                </a:rPr>
                <a:t>Q</a:t>
              </a:r>
              <a:endParaRPr kumimoji="1" lang="en-US" altLang="ja-JP" sz="2400">
                <a:latin typeface="Verdana" panose="020B0604030504040204" pitchFamily="34" charset="0"/>
                <a:ea typeface="黑体" panose="02010609060101010101" pitchFamily="49" charset="-122"/>
              </a:endParaRPr>
            </a:p>
          </p:txBody>
        </p:sp>
      </p:gr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51DC5DE6-3B30-4C0D-8346-D09F03DA5E6C}" type="slidenum">
              <a:rPr lang="en-US" altLang="zh-CN"/>
            </a:fld>
            <a:endParaRPr lang="en-US" altLang="zh-CN"/>
          </a:p>
        </p:txBody>
      </p:sp>
      <p:sp>
        <p:nvSpPr>
          <p:cNvPr id="360450" name="Rectangle 2"/>
          <p:cNvSpPr>
            <a:spLocks noGrp="1" noChangeArrowheads="1"/>
          </p:cNvSpPr>
          <p:nvPr>
            <p:ph type="title"/>
          </p:nvPr>
        </p:nvSpPr>
        <p:spPr/>
        <p:txBody>
          <a:bodyPr/>
          <a:lstStyle/>
          <a:p>
            <a:endParaRPr lang="zh-CN" altLang="en-US"/>
          </a:p>
        </p:txBody>
      </p:sp>
      <p:sp>
        <p:nvSpPr>
          <p:cNvPr id="360451" name="Rectangle 3"/>
          <p:cNvSpPr>
            <a:spLocks noGrp="1" noChangeArrowheads="1"/>
          </p:cNvSpPr>
          <p:nvPr>
            <p:ph type="body" idx="1"/>
          </p:nvPr>
        </p:nvSpPr>
        <p:spPr/>
        <p:txBody>
          <a:bodyPr/>
          <a:lstStyle/>
          <a:p>
            <a:endParaRPr lang="zh-CN" altLang="en-US"/>
          </a:p>
        </p:txBody>
      </p:sp>
      <p:pic>
        <p:nvPicPr>
          <p:cNvPr id="36045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622300"/>
            <a:ext cx="9144000" cy="554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fld id="{3471A3A0-788E-4268-9DA7-60A155012802}" type="slidenum">
              <a:rPr lang="en-US" altLang="zh-CN"/>
            </a:fld>
            <a:endParaRPr lang="en-US" altLang="zh-CN"/>
          </a:p>
        </p:txBody>
      </p:sp>
      <p:sp>
        <p:nvSpPr>
          <p:cNvPr id="358402" name="Text Box 2"/>
          <p:cNvSpPr txBox="1">
            <a:spLocks noChangeArrowheads="1"/>
          </p:cNvSpPr>
          <p:nvPr/>
        </p:nvSpPr>
        <p:spPr bwMode="auto">
          <a:xfrm>
            <a:off x="395288" y="692150"/>
            <a:ext cx="5667375"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pPr>
              <a:buClr>
                <a:schemeClr val="accent2"/>
              </a:buClr>
              <a:buFontTx/>
              <a:buChar char="•"/>
            </a:pPr>
            <a:r>
              <a:rPr lang="zh-CN" altLang="en-US" sz="2400">
                <a:ea typeface="新宋体" panose="02010609030101010101" charset="-122"/>
              </a:rPr>
              <a:t>解向量：</a:t>
            </a:r>
            <a:r>
              <a:rPr lang="en-US" altLang="zh-CN" sz="2400">
                <a:ea typeface="新宋体" panose="02010609030101010101" charset="-122"/>
              </a:rPr>
              <a:t>(x</a:t>
            </a:r>
            <a:r>
              <a:rPr lang="en-US" altLang="zh-CN" sz="2400" baseline="-25000">
                <a:ea typeface="新宋体" panose="02010609030101010101" charset="-122"/>
              </a:rPr>
              <a:t>1</a:t>
            </a:r>
            <a:r>
              <a:rPr lang="en-US" altLang="zh-CN" sz="2400">
                <a:ea typeface="新宋体" panose="02010609030101010101" charset="-122"/>
              </a:rPr>
              <a:t>, x</a:t>
            </a:r>
            <a:r>
              <a:rPr lang="en-US" altLang="zh-CN" sz="2400" baseline="-25000">
                <a:ea typeface="新宋体" panose="02010609030101010101" charset="-122"/>
              </a:rPr>
              <a:t>2</a:t>
            </a:r>
            <a:r>
              <a:rPr lang="en-US" altLang="zh-CN" sz="2400">
                <a:ea typeface="新宋体" panose="02010609030101010101" charset="-122"/>
              </a:rPr>
              <a:t>, … , x</a:t>
            </a:r>
            <a:r>
              <a:rPr lang="en-US" altLang="zh-CN" sz="2400" baseline="-25000">
                <a:ea typeface="新宋体" panose="02010609030101010101" charset="-122"/>
              </a:rPr>
              <a:t>n</a:t>
            </a:r>
            <a:r>
              <a:rPr lang="en-US" altLang="zh-CN" sz="2400">
                <a:ea typeface="新宋体" panose="02010609030101010101" charset="-122"/>
              </a:rPr>
              <a:t>)</a:t>
            </a:r>
            <a:endParaRPr lang="en-US" altLang="zh-CN" sz="2400">
              <a:ea typeface="新宋体" panose="02010609030101010101" charset="-122"/>
            </a:endParaRPr>
          </a:p>
          <a:p>
            <a:pPr>
              <a:buClr>
                <a:schemeClr val="accent2"/>
              </a:buClr>
              <a:buFontTx/>
              <a:buChar char="•"/>
            </a:pPr>
            <a:r>
              <a:rPr lang="zh-CN" altLang="en-US" sz="2400">
                <a:ea typeface="新宋体" panose="02010609030101010101" charset="-122"/>
              </a:rPr>
              <a:t>显约束：</a:t>
            </a:r>
            <a:r>
              <a:rPr lang="en-US" altLang="zh-CN" sz="2400">
                <a:ea typeface="新宋体" panose="02010609030101010101" charset="-122"/>
              </a:rPr>
              <a:t>x</a:t>
            </a:r>
            <a:r>
              <a:rPr lang="en-US" altLang="zh-CN" sz="2400" baseline="-25000">
                <a:ea typeface="新宋体" panose="02010609030101010101" charset="-122"/>
              </a:rPr>
              <a:t>i</a:t>
            </a:r>
            <a:r>
              <a:rPr lang="en-US" altLang="zh-CN" sz="2400">
                <a:ea typeface="新宋体" panose="02010609030101010101" charset="-122"/>
              </a:rPr>
              <a:t>=1,2, … ,n</a:t>
            </a:r>
            <a:endParaRPr lang="en-US" altLang="zh-CN" sz="2400">
              <a:ea typeface="新宋体" panose="02010609030101010101" charset="-122"/>
            </a:endParaRPr>
          </a:p>
          <a:p>
            <a:pPr>
              <a:buClr>
                <a:schemeClr val="accent2"/>
              </a:buClr>
              <a:buFontTx/>
              <a:buChar char="•"/>
            </a:pPr>
            <a:r>
              <a:rPr lang="zh-CN" altLang="en-US" sz="2400">
                <a:ea typeface="新宋体" panose="02010609030101010101" charset="-122"/>
              </a:rPr>
              <a:t>隐约束：</a:t>
            </a:r>
            <a:endParaRPr lang="zh-CN" altLang="en-US" sz="2400">
              <a:ea typeface="新宋体" panose="02010609030101010101" charset="-122"/>
            </a:endParaRPr>
          </a:p>
          <a:p>
            <a:pPr>
              <a:buClr>
                <a:schemeClr val="accent2"/>
              </a:buClr>
            </a:pPr>
            <a:r>
              <a:rPr lang="en-US" altLang="zh-CN" sz="2400">
                <a:ea typeface="新宋体" panose="02010609030101010101" charset="-122"/>
              </a:rPr>
              <a:t>    1)</a:t>
            </a:r>
            <a:r>
              <a:rPr lang="zh-CN" altLang="en-US" sz="2400">
                <a:ea typeface="新宋体" panose="02010609030101010101" charset="-122"/>
              </a:rPr>
              <a:t>不同列：</a:t>
            </a:r>
            <a:r>
              <a:rPr lang="en-US" altLang="zh-CN" sz="2400">
                <a:ea typeface="新宋体" panose="02010609030101010101" charset="-122"/>
              </a:rPr>
              <a:t>x</a:t>
            </a:r>
            <a:r>
              <a:rPr lang="en-US" altLang="zh-CN" sz="2400" baseline="-25000">
                <a:ea typeface="新宋体" panose="02010609030101010101" charset="-122"/>
              </a:rPr>
              <a:t>i</a:t>
            </a:r>
            <a:r>
              <a:rPr kumimoji="1" lang="en-US" altLang="zh-CN" sz="2400" b="1">
                <a:ea typeface="新宋体" panose="02010609030101010101" charset="-122"/>
                <a:sym typeface="Symbol" panose="05050102010706020507" pitchFamily="18" charset="2"/>
              </a:rPr>
              <a:t></a:t>
            </a:r>
            <a:r>
              <a:rPr lang="en-US" altLang="zh-CN" sz="2400">
                <a:ea typeface="新宋体" panose="02010609030101010101" charset="-122"/>
              </a:rPr>
              <a:t>x</a:t>
            </a:r>
            <a:r>
              <a:rPr lang="en-US" altLang="zh-CN" sz="2400" baseline="-25000">
                <a:ea typeface="新宋体" panose="02010609030101010101" charset="-122"/>
              </a:rPr>
              <a:t>j</a:t>
            </a:r>
            <a:endParaRPr lang="en-US" altLang="zh-CN" sz="2400" baseline="-25000">
              <a:ea typeface="新宋体" panose="02010609030101010101" charset="-122"/>
            </a:endParaRPr>
          </a:p>
          <a:p>
            <a:pPr>
              <a:buClr>
                <a:schemeClr val="accent2"/>
              </a:buClr>
            </a:pPr>
            <a:r>
              <a:rPr lang="en-US" altLang="zh-CN" sz="2400">
                <a:ea typeface="新宋体" panose="02010609030101010101" charset="-122"/>
              </a:rPr>
              <a:t>    2)</a:t>
            </a:r>
            <a:r>
              <a:rPr lang="zh-CN" altLang="en-US" sz="2400">
                <a:ea typeface="新宋体" panose="02010609030101010101" charset="-122"/>
              </a:rPr>
              <a:t>不处于同一正、反对角线：</a:t>
            </a:r>
            <a:r>
              <a:rPr lang="en-US" altLang="zh-CN" sz="2400">
                <a:ea typeface="新宋体" panose="02010609030101010101" charset="-122"/>
                <a:sym typeface="Wingdings" panose="05000000000000000000" pitchFamily="2" charset="2"/>
              </a:rPr>
              <a:t>|i-j|</a:t>
            </a:r>
            <a:r>
              <a:rPr kumimoji="1" lang="en-US" altLang="zh-CN" sz="2400" b="1">
                <a:ea typeface="新宋体" panose="02010609030101010101" charset="-122"/>
                <a:sym typeface="Symbol" panose="05050102010706020507" pitchFamily="18" charset="2"/>
              </a:rPr>
              <a:t></a:t>
            </a:r>
            <a:r>
              <a:rPr lang="en-US" altLang="zh-CN" sz="2400">
                <a:ea typeface="新宋体" panose="02010609030101010101" charset="-122"/>
                <a:sym typeface="Wingdings" panose="05000000000000000000" pitchFamily="2" charset="2"/>
              </a:rPr>
              <a:t>|x</a:t>
            </a:r>
            <a:r>
              <a:rPr lang="en-US" altLang="zh-CN" sz="2400" baseline="-25000">
                <a:ea typeface="新宋体" panose="02010609030101010101" charset="-122"/>
                <a:sym typeface="Wingdings" panose="05000000000000000000" pitchFamily="2" charset="2"/>
              </a:rPr>
              <a:t>i</a:t>
            </a:r>
            <a:r>
              <a:rPr lang="en-US" altLang="zh-CN" sz="2400">
                <a:ea typeface="新宋体" panose="02010609030101010101" charset="-122"/>
                <a:sym typeface="Wingdings" panose="05000000000000000000" pitchFamily="2" charset="2"/>
              </a:rPr>
              <a:t>-x</a:t>
            </a:r>
            <a:r>
              <a:rPr lang="en-US" altLang="zh-CN" sz="2400" baseline="-25000">
                <a:ea typeface="新宋体" panose="02010609030101010101" charset="-122"/>
                <a:sym typeface="Wingdings" panose="05000000000000000000" pitchFamily="2" charset="2"/>
              </a:rPr>
              <a:t>j</a:t>
            </a:r>
            <a:r>
              <a:rPr lang="en-US" altLang="zh-CN" sz="2400">
                <a:ea typeface="新宋体" panose="02010609030101010101" charset="-122"/>
                <a:sym typeface="Wingdings" panose="05000000000000000000" pitchFamily="2" charset="2"/>
              </a:rPr>
              <a:t>|</a:t>
            </a:r>
            <a:endParaRPr lang="en-US" altLang="zh-CN" sz="2400">
              <a:ea typeface="新宋体" panose="02010609030101010101" charset="-122"/>
            </a:endParaRPr>
          </a:p>
        </p:txBody>
      </p:sp>
      <p:sp>
        <p:nvSpPr>
          <p:cNvPr id="358403" name="Rectangle 3"/>
          <p:cNvSpPr>
            <a:spLocks noChangeArrowheads="1"/>
          </p:cNvSpPr>
          <p:nvPr/>
        </p:nvSpPr>
        <p:spPr bwMode="auto">
          <a:xfrm>
            <a:off x="611188"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3900" b="1">
                <a:solidFill>
                  <a:schemeClr val="tx2"/>
                </a:solidFill>
                <a:effectLst>
                  <a:outerShdw blurRad="38100" dist="38100" dir="2700000" algn="tl">
                    <a:srgbClr val="C0C0C0"/>
                  </a:outerShdw>
                </a:effectLst>
                <a:ea typeface="黑体" panose="02010609060101010101" pitchFamily="49" charset="-122"/>
              </a:rPr>
              <a:t>n</a:t>
            </a:r>
            <a:r>
              <a:rPr lang="zh-CN" altLang="en-US" sz="3900" b="1">
                <a:solidFill>
                  <a:schemeClr val="tx2"/>
                </a:solidFill>
                <a:effectLst>
                  <a:outerShdw blurRad="38100" dist="38100" dir="2700000" algn="tl">
                    <a:srgbClr val="C0C0C0"/>
                  </a:outerShdw>
                </a:effectLst>
                <a:ea typeface="黑体" panose="02010609060101010101" pitchFamily="49" charset="-122"/>
              </a:rPr>
              <a:t>后问题</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sp>
        <p:nvSpPr>
          <p:cNvPr id="358404" name="Text Box 4"/>
          <p:cNvSpPr txBox="1">
            <a:spLocks noChangeArrowheads="1"/>
          </p:cNvSpPr>
          <p:nvPr/>
        </p:nvSpPr>
        <p:spPr bwMode="auto">
          <a:xfrm>
            <a:off x="250825" y="2547938"/>
            <a:ext cx="5059363" cy="400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r>
              <a:rPr kumimoji="1" lang="en-US" altLang="zh-CN" sz="1600"/>
              <a:t>bool Queen::</a:t>
            </a:r>
            <a:r>
              <a:rPr kumimoji="1" lang="en-US" altLang="zh-CN" sz="1600" b="1"/>
              <a:t>Place</a:t>
            </a:r>
            <a:r>
              <a:rPr kumimoji="1" lang="en-US" altLang="zh-CN" sz="1600"/>
              <a:t>(int k)</a:t>
            </a:r>
            <a:endParaRPr kumimoji="1" lang="en-US" altLang="zh-CN" sz="1600"/>
          </a:p>
          <a:p>
            <a:r>
              <a:rPr kumimoji="1" lang="en-US" altLang="zh-CN" sz="1600"/>
              <a:t>{</a:t>
            </a:r>
            <a:endParaRPr kumimoji="1" lang="en-US" altLang="zh-CN" sz="1600"/>
          </a:p>
          <a:p>
            <a:r>
              <a:rPr kumimoji="1" lang="en-US" altLang="zh-CN" sz="1600"/>
              <a:t>  for (int j=1;j&lt;k;j++)</a:t>
            </a:r>
            <a:endParaRPr kumimoji="1" lang="en-US" altLang="zh-CN" sz="1600"/>
          </a:p>
          <a:p>
            <a:r>
              <a:rPr kumimoji="1" lang="en-US" altLang="zh-CN" sz="1600"/>
              <a:t>    if ((abs(k-j)==abs(x[j]-x[k]))||(x[j]==x[k])) return false;</a:t>
            </a:r>
            <a:endParaRPr kumimoji="1" lang="en-US" altLang="zh-CN" sz="1600"/>
          </a:p>
          <a:p>
            <a:r>
              <a:rPr kumimoji="1" lang="en-US" altLang="zh-CN" sz="1600"/>
              <a:t>  return true;</a:t>
            </a:r>
            <a:endParaRPr kumimoji="1" lang="en-US" altLang="zh-CN" sz="1600"/>
          </a:p>
          <a:p>
            <a:r>
              <a:rPr kumimoji="1" lang="en-US" altLang="zh-CN" sz="1600"/>
              <a:t>} </a:t>
            </a:r>
            <a:endParaRPr kumimoji="1" lang="en-US" altLang="zh-CN" sz="1600"/>
          </a:p>
          <a:p>
            <a:endParaRPr kumimoji="1" lang="en-US" altLang="zh-CN" sz="1600"/>
          </a:p>
          <a:p>
            <a:r>
              <a:rPr kumimoji="1" lang="en-US" altLang="zh-CN" sz="1600"/>
              <a:t>void Queen::</a:t>
            </a:r>
            <a:r>
              <a:rPr kumimoji="1" lang="en-US" altLang="zh-CN" sz="1600" b="1"/>
              <a:t>Backtrack</a:t>
            </a:r>
            <a:r>
              <a:rPr kumimoji="1" lang="en-US" altLang="zh-CN" sz="1600"/>
              <a:t>(int t)</a:t>
            </a:r>
            <a:endParaRPr kumimoji="1" lang="en-US" altLang="zh-CN" sz="1600"/>
          </a:p>
          <a:p>
            <a:r>
              <a:rPr kumimoji="1" lang="en-US" altLang="zh-CN" sz="1600"/>
              <a:t>{</a:t>
            </a:r>
            <a:endParaRPr kumimoji="1" lang="en-US" altLang="zh-CN" sz="1600"/>
          </a:p>
          <a:p>
            <a:r>
              <a:rPr kumimoji="1" lang="en-US" altLang="zh-CN" sz="1600"/>
              <a:t>  if (t&gt;n) sum++;</a:t>
            </a:r>
            <a:endParaRPr kumimoji="1" lang="en-US" altLang="zh-CN" sz="1600"/>
          </a:p>
          <a:p>
            <a:r>
              <a:rPr kumimoji="1" lang="en-US" altLang="zh-CN" sz="1600"/>
              <a:t>    else</a:t>
            </a:r>
            <a:endParaRPr kumimoji="1" lang="en-US" altLang="zh-CN" sz="1600"/>
          </a:p>
          <a:p>
            <a:r>
              <a:rPr kumimoji="1" lang="en-US" altLang="zh-CN" sz="1600"/>
              <a:t>      for (int i=1;i&lt;=n;i++) {</a:t>
            </a:r>
            <a:endParaRPr kumimoji="1" lang="en-US" altLang="zh-CN" sz="1600"/>
          </a:p>
          <a:p>
            <a:r>
              <a:rPr kumimoji="1" lang="en-US" altLang="zh-CN" sz="1600"/>
              <a:t>        x[t]=i;</a:t>
            </a:r>
            <a:endParaRPr kumimoji="1" lang="en-US" altLang="zh-CN" sz="1600"/>
          </a:p>
          <a:p>
            <a:r>
              <a:rPr kumimoji="1" lang="en-US" altLang="zh-CN" sz="1600"/>
              <a:t>        if (Place(t)) Backtrack(t+1);</a:t>
            </a:r>
            <a:endParaRPr kumimoji="1" lang="en-US" altLang="zh-CN" sz="1600"/>
          </a:p>
          <a:p>
            <a:r>
              <a:rPr kumimoji="1" lang="en-US" altLang="zh-CN" sz="1600"/>
              <a:t>      }</a:t>
            </a:r>
            <a:endParaRPr kumimoji="1" lang="en-US" altLang="zh-CN" sz="1600"/>
          </a:p>
          <a:p>
            <a:r>
              <a:rPr kumimoji="1" lang="en-US" altLang="zh-CN" sz="1600"/>
              <a:t> }</a:t>
            </a:r>
            <a:endParaRPr kumimoji="1" lang="en-US" altLang="zh-CN" sz="160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4"/>
          </p:nvPr>
        </p:nvSpPr>
        <p:spPr/>
        <p:txBody>
          <a:bodyPr/>
          <a:lstStyle/>
          <a:p>
            <a:fld id="{50487A53-07DE-4666-9B63-FC77F47453DA}" type="slidenum">
              <a:rPr lang="en-US" altLang="zh-CN"/>
            </a:fld>
            <a:endParaRPr lang="en-US" altLang="zh-CN"/>
          </a:p>
        </p:txBody>
      </p:sp>
      <p:sp>
        <p:nvSpPr>
          <p:cNvPr id="366594" name="Rectangle 2"/>
          <p:cNvSpPr>
            <a:spLocks noGrp="1" noChangeArrowheads="1"/>
          </p:cNvSpPr>
          <p:nvPr>
            <p:ph type="ctrTitle"/>
          </p:nvPr>
        </p:nvSpPr>
        <p:spPr/>
        <p:txBody>
          <a:bodyPr/>
          <a:lstStyle/>
          <a:p>
            <a:r>
              <a:rPr lang="en-US" altLang="en-US">
                <a:effectLst>
                  <a:outerShdw blurRad="38100" dist="38100" dir="2700000" algn="tl">
                    <a:srgbClr val="C0C0C0"/>
                  </a:outerShdw>
                </a:effectLst>
                <a:ea typeface="黑体" panose="02010609060101010101" pitchFamily="49" charset="-122"/>
              </a:rPr>
              <a:t>0-1背包问题</a:t>
            </a:r>
            <a:endParaRPr lang="zh-CN" altLang="en-US">
              <a:effectLst>
                <a:outerShdw blurRad="38100" dist="38100" dir="2700000" algn="tl">
                  <a:srgbClr val="C0C0C0"/>
                </a:outerShdw>
              </a:effectLst>
              <a:ea typeface="黑体" panose="02010609060101010101" pitchFamily="49" charset="-122"/>
            </a:endParaRPr>
          </a:p>
        </p:txBody>
      </p:sp>
      <p:sp>
        <p:nvSpPr>
          <p:cNvPr id="366595" name="Rectangle 3"/>
          <p:cNvSpPr>
            <a:spLocks noGrp="1" noChangeArrowheads="1"/>
          </p:cNvSpPr>
          <p:nvPr>
            <p:ph type="subTitle" idx="1"/>
          </p:nvPr>
        </p:nvSpPr>
        <p:spPr/>
        <p:txBody>
          <a:bodyPr/>
          <a:lstStyle/>
          <a:p>
            <a:endParaRPr lang="zh-CN" alt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DD313E5F-97DC-450B-BEE5-15725FB67F54}" type="slidenum">
              <a:rPr lang="en-US" altLang="zh-CN"/>
            </a:fld>
            <a:endParaRPr lang="en-US" altLang="zh-CN"/>
          </a:p>
        </p:txBody>
      </p:sp>
      <p:sp>
        <p:nvSpPr>
          <p:cNvPr id="367618" name="Rectangle 2"/>
          <p:cNvSpPr>
            <a:spLocks noGrp="1" noChangeArrowheads="1"/>
          </p:cNvSpPr>
          <p:nvPr>
            <p:ph type="title"/>
          </p:nvPr>
        </p:nvSpPr>
        <p:spPr/>
        <p:txBody>
          <a:bodyPr/>
          <a:lstStyle/>
          <a:p>
            <a:r>
              <a:rPr lang="en-US" altLang="en-US">
                <a:effectLst>
                  <a:outerShdw blurRad="38100" dist="38100" dir="2700000" algn="tl">
                    <a:srgbClr val="C0C0C0"/>
                  </a:outerShdw>
                </a:effectLst>
                <a:ea typeface="黑体" panose="02010609060101010101" pitchFamily="49" charset="-122"/>
              </a:rPr>
              <a:t>0-1背包问题</a:t>
            </a:r>
            <a:endParaRPr lang="zh-CN" altLang="en-US">
              <a:effectLst>
                <a:outerShdw blurRad="38100" dist="38100" dir="2700000" algn="tl">
                  <a:srgbClr val="C0C0C0"/>
                </a:outerShdw>
              </a:effectLst>
              <a:ea typeface="黑体" panose="02010609060101010101" pitchFamily="49" charset="-122"/>
            </a:endParaRPr>
          </a:p>
        </p:txBody>
      </p:sp>
      <p:pic>
        <p:nvPicPr>
          <p:cNvPr id="367619"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7088" y="1773238"/>
            <a:ext cx="7008812" cy="4443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2"/>
          <p:cNvSpPr>
            <a:spLocks noGrp="1" noChangeArrowheads="1"/>
          </p:cNvSpPr>
          <p:nvPr>
            <p:ph type="title"/>
          </p:nvPr>
        </p:nvSpPr>
        <p:spPr>
          <a:xfrm>
            <a:off x="457200" y="122238"/>
            <a:ext cx="7543800" cy="1123950"/>
          </a:xfrm>
          <a:noFill/>
        </p:spPr>
        <p:txBody>
          <a:bodyPr lIns="92075" tIns="46038" rIns="92075" bIns="46038" anchor="ctr"/>
          <a:lstStyle/>
          <a:p>
            <a:r>
              <a:rPr lang="en-US" altLang="zh-CN"/>
              <a:t>Subtree: </a:t>
            </a:r>
            <a:r>
              <a:rPr lang="en-US" altLang="zh-CN" i="1"/>
              <a:t>n</a:t>
            </a:r>
            <a:r>
              <a:rPr lang="en-US" altLang="zh-CN"/>
              <a:t>=4</a:t>
            </a:r>
            <a:endParaRPr lang="en-US" altLang="zh-CN"/>
          </a:p>
        </p:txBody>
      </p:sp>
      <p:sp>
        <p:nvSpPr>
          <p:cNvPr id="368643" name="Oval 3"/>
          <p:cNvSpPr>
            <a:spLocks noChangeArrowheads="1"/>
          </p:cNvSpPr>
          <p:nvPr/>
        </p:nvSpPr>
        <p:spPr bwMode="auto">
          <a:xfrm>
            <a:off x="4197350" y="1377950"/>
            <a:ext cx="215900" cy="215900"/>
          </a:xfrm>
          <a:prstGeom prst="ellipse">
            <a:avLst/>
          </a:prstGeom>
          <a:solidFill>
            <a:srgbClr val="00FF0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44" name="Line 4"/>
          <p:cNvSpPr>
            <a:spLocks noChangeShapeType="1"/>
          </p:cNvSpPr>
          <p:nvPr/>
        </p:nvSpPr>
        <p:spPr bwMode="auto">
          <a:xfrm flipH="1">
            <a:off x="2286000" y="1600200"/>
            <a:ext cx="1981200" cy="1295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645" name="Oval 5"/>
          <p:cNvSpPr>
            <a:spLocks noChangeArrowheads="1"/>
          </p:cNvSpPr>
          <p:nvPr/>
        </p:nvSpPr>
        <p:spPr bwMode="auto">
          <a:xfrm>
            <a:off x="2139950" y="29019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46" name="Rectangle 6"/>
          <p:cNvSpPr>
            <a:spLocks noChangeArrowheads="1"/>
          </p:cNvSpPr>
          <p:nvPr/>
        </p:nvSpPr>
        <p:spPr bwMode="auto">
          <a:xfrm>
            <a:off x="2843213" y="1773238"/>
            <a:ext cx="5572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1</a:t>
            </a:r>
            <a:endParaRPr lang="en-US" altLang="zh-CN" sz="3200">
              <a:solidFill>
                <a:schemeClr val="hlink"/>
              </a:solidFill>
              <a:latin typeface="Times New Roman" panose="02020603050405020304" pitchFamily="18" charset="0"/>
            </a:endParaRPr>
          </a:p>
        </p:txBody>
      </p:sp>
      <p:sp>
        <p:nvSpPr>
          <p:cNvPr id="368647" name="Line 7"/>
          <p:cNvSpPr>
            <a:spLocks noChangeShapeType="1"/>
          </p:cNvSpPr>
          <p:nvPr/>
        </p:nvSpPr>
        <p:spPr bwMode="auto">
          <a:xfrm>
            <a:off x="4419600" y="1600200"/>
            <a:ext cx="2057400" cy="1295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648" name="Oval 8"/>
          <p:cNvSpPr>
            <a:spLocks noChangeArrowheads="1"/>
          </p:cNvSpPr>
          <p:nvPr/>
        </p:nvSpPr>
        <p:spPr bwMode="auto">
          <a:xfrm>
            <a:off x="6407150" y="29019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49" name="Rectangle 9"/>
          <p:cNvSpPr>
            <a:spLocks noChangeArrowheads="1"/>
          </p:cNvSpPr>
          <p:nvPr/>
        </p:nvSpPr>
        <p:spPr bwMode="auto">
          <a:xfrm>
            <a:off x="5292725" y="1700213"/>
            <a:ext cx="4667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0</a:t>
            </a:r>
            <a:endParaRPr lang="en-US" altLang="zh-CN" sz="3200">
              <a:solidFill>
                <a:schemeClr val="hlink"/>
              </a:solidFill>
              <a:latin typeface="Times New Roman" panose="02020603050405020304" pitchFamily="18" charset="0"/>
            </a:endParaRPr>
          </a:p>
        </p:txBody>
      </p:sp>
      <p:sp>
        <p:nvSpPr>
          <p:cNvPr id="368650" name="Line 10"/>
          <p:cNvSpPr>
            <a:spLocks noChangeShapeType="1"/>
          </p:cNvSpPr>
          <p:nvPr/>
        </p:nvSpPr>
        <p:spPr bwMode="auto">
          <a:xfrm flipH="1">
            <a:off x="1066800" y="3124200"/>
            <a:ext cx="1066800" cy="1066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651" name="Oval 11"/>
          <p:cNvSpPr>
            <a:spLocks noChangeArrowheads="1"/>
          </p:cNvSpPr>
          <p:nvPr/>
        </p:nvSpPr>
        <p:spPr bwMode="auto">
          <a:xfrm>
            <a:off x="996950" y="41973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52" name="Rectangle 12"/>
          <p:cNvSpPr>
            <a:spLocks noChangeArrowheads="1"/>
          </p:cNvSpPr>
          <p:nvPr/>
        </p:nvSpPr>
        <p:spPr bwMode="auto">
          <a:xfrm>
            <a:off x="0" y="3284538"/>
            <a:ext cx="539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2</a:t>
            </a:r>
            <a:endParaRPr lang="en-US" altLang="zh-CN" sz="3200">
              <a:solidFill>
                <a:schemeClr val="hlink"/>
              </a:solidFill>
              <a:latin typeface="Times New Roman" panose="02020603050405020304" pitchFamily="18" charset="0"/>
            </a:endParaRPr>
          </a:p>
        </p:txBody>
      </p:sp>
      <p:sp>
        <p:nvSpPr>
          <p:cNvPr id="368653" name="Line 13"/>
          <p:cNvSpPr>
            <a:spLocks noChangeShapeType="1"/>
          </p:cNvSpPr>
          <p:nvPr/>
        </p:nvSpPr>
        <p:spPr bwMode="auto">
          <a:xfrm>
            <a:off x="2286000" y="3124200"/>
            <a:ext cx="9906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654" name="Oval 14"/>
          <p:cNvSpPr>
            <a:spLocks noChangeArrowheads="1"/>
          </p:cNvSpPr>
          <p:nvPr/>
        </p:nvSpPr>
        <p:spPr bwMode="auto">
          <a:xfrm>
            <a:off x="3206750" y="41211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55" name="Rectangle 15"/>
          <p:cNvSpPr>
            <a:spLocks noChangeArrowheads="1"/>
          </p:cNvSpPr>
          <p:nvPr/>
        </p:nvSpPr>
        <p:spPr bwMode="auto">
          <a:xfrm>
            <a:off x="2895600" y="3276600"/>
            <a:ext cx="4524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0</a:t>
            </a:r>
            <a:endParaRPr lang="en-US" altLang="zh-CN" sz="3200">
              <a:solidFill>
                <a:schemeClr val="hlink"/>
              </a:solidFill>
              <a:latin typeface="Times New Roman" panose="02020603050405020304" pitchFamily="18" charset="0"/>
            </a:endParaRPr>
          </a:p>
        </p:txBody>
      </p:sp>
      <p:sp>
        <p:nvSpPr>
          <p:cNvPr id="368656" name="Line 16"/>
          <p:cNvSpPr>
            <a:spLocks noChangeShapeType="1"/>
          </p:cNvSpPr>
          <p:nvPr/>
        </p:nvSpPr>
        <p:spPr bwMode="auto">
          <a:xfrm flipH="1">
            <a:off x="5562600" y="3124200"/>
            <a:ext cx="8382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657" name="Oval 17"/>
          <p:cNvSpPr>
            <a:spLocks noChangeArrowheads="1"/>
          </p:cNvSpPr>
          <p:nvPr/>
        </p:nvSpPr>
        <p:spPr bwMode="auto">
          <a:xfrm>
            <a:off x="5416550" y="40449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58" name="Rectangle 18"/>
          <p:cNvSpPr>
            <a:spLocks noChangeArrowheads="1"/>
          </p:cNvSpPr>
          <p:nvPr/>
        </p:nvSpPr>
        <p:spPr bwMode="auto">
          <a:xfrm>
            <a:off x="5508625" y="3213100"/>
            <a:ext cx="4111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1</a:t>
            </a:r>
            <a:endParaRPr lang="en-US" altLang="zh-CN" sz="3200">
              <a:solidFill>
                <a:schemeClr val="hlink"/>
              </a:solidFill>
              <a:latin typeface="Times New Roman" panose="02020603050405020304" pitchFamily="18" charset="0"/>
            </a:endParaRPr>
          </a:p>
        </p:txBody>
      </p:sp>
      <p:sp>
        <p:nvSpPr>
          <p:cNvPr id="368659" name="Line 19"/>
          <p:cNvSpPr>
            <a:spLocks noChangeShapeType="1"/>
          </p:cNvSpPr>
          <p:nvPr/>
        </p:nvSpPr>
        <p:spPr bwMode="auto">
          <a:xfrm>
            <a:off x="6629400" y="3124200"/>
            <a:ext cx="9906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660" name="Oval 20"/>
          <p:cNvSpPr>
            <a:spLocks noChangeArrowheads="1"/>
          </p:cNvSpPr>
          <p:nvPr/>
        </p:nvSpPr>
        <p:spPr bwMode="auto">
          <a:xfrm>
            <a:off x="7626350" y="3968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61" name="Rectangle 21"/>
          <p:cNvSpPr>
            <a:spLocks noChangeArrowheads="1"/>
          </p:cNvSpPr>
          <p:nvPr/>
        </p:nvSpPr>
        <p:spPr bwMode="auto">
          <a:xfrm>
            <a:off x="7235825" y="3141663"/>
            <a:ext cx="4286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0</a:t>
            </a:r>
            <a:endParaRPr lang="en-US" altLang="zh-CN" sz="3200">
              <a:solidFill>
                <a:schemeClr val="hlink"/>
              </a:solidFill>
              <a:latin typeface="Times New Roman" panose="02020603050405020304" pitchFamily="18" charset="0"/>
            </a:endParaRPr>
          </a:p>
        </p:txBody>
      </p:sp>
      <p:sp>
        <p:nvSpPr>
          <p:cNvPr id="368662" name="Line 22"/>
          <p:cNvSpPr>
            <a:spLocks noChangeShapeType="1"/>
          </p:cNvSpPr>
          <p:nvPr/>
        </p:nvSpPr>
        <p:spPr bwMode="auto">
          <a:xfrm flipH="1">
            <a:off x="533400" y="4419600"/>
            <a:ext cx="533400" cy="685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663" name="Oval 23"/>
          <p:cNvSpPr>
            <a:spLocks noChangeArrowheads="1"/>
          </p:cNvSpPr>
          <p:nvPr/>
        </p:nvSpPr>
        <p:spPr bwMode="auto">
          <a:xfrm>
            <a:off x="3873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64" name="Line 24"/>
          <p:cNvSpPr>
            <a:spLocks noChangeShapeType="1"/>
          </p:cNvSpPr>
          <p:nvPr/>
        </p:nvSpPr>
        <p:spPr bwMode="auto">
          <a:xfrm>
            <a:off x="1143000" y="4419600"/>
            <a:ext cx="381000" cy="685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665" name="Oval 25"/>
          <p:cNvSpPr>
            <a:spLocks noChangeArrowheads="1"/>
          </p:cNvSpPr>
          <p:nvPr/>
        </p:nvSpPr>
        <p:spPr bwMode="auto">
          <a:xfrm>
            <a:off x="1454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66" name="Line 26"/>
          <p:cNvSpPr>
            <a:spLocks noChangeShapeType="1"/>
          </p:cNvSpPr>
          <p:nvPr/>
        </p:nvSpPr>
        <p:spPr bwMode="auto">
          <a:xfrm flipH="1">
            <a:off x="2667000" y="4343400"/>
            <a:ext cx="6096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667" name="Oval 27"/>
          <p:cNvSpPr>
            <a:spLocks noChangeArrowheads="1"/>
          </p:cNvSpPr>
          <p:nvPr/>
        </p:nvSpPr>
        <p:spPr bwMode="auto">
          <a:xfrm>
            <a:off x="2597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68" name="Line 28"/>
          <p:cNvSpPr>
            <a:spLocks noChangeShapeType="1"/>
          </p:cNvSpPr>
          <p:nvPr/>
        </p:nvSpPr>
        <p:spPr bwMode="auto">
          <a:xfrm>
            <a:off x="3352800" y="4343400"/>
            <a:ext cx="4572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669" name="Oval 29"/>
          <p:cNvSpPr>
            <a:spLocks noChangeArrowheads="1"/>
          </p:cNvSpPr>
          <p:nvPr/>
        </p:nvSpPr>
        <p:spPr bwMode="auto">
          <a:xfrm>
            <a:off x="3740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70" name="Line 30"/>
          <p:cNvSpPr>
            <a:spLocks noChangeShapeType="1"/>
          </p:cNvSpPr>
          <p:nvPr/>
        </p:nvSpPr>
        <p:spPr bwMode="auto">
          <a:xfrm flipH="1">
            <a:off x="5029200" y="4267200"/>
            <a:ext cx="4572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671" name="Oval 31"/>
          <p:cNvSpPr>
            <a:spLocks noChangeArrowheads="1"/>
          </p:cNvSpPr>
          <p:nvPr/>
        </p:nvSpPr>
        <p:spPr bwMode="auto">
          <a:xfrm>
            <a:off x="4883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72" name="Line 32"/>
          <p:cNvSpPr>
            <a:spLocks noChangeShapeType="1"/>
          </p:cNvSpPr>
          <p:nvPr/>
        </p:nvSpPr>
        <p:spPr bwMode="auto">
          <a:xfrm>
            <a:off x="5562600" y="4267200"/>
            <a:ext cx="5334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673" name="Oval 33"/>
          <p:cNvSpPr>
            <a:spLocks noChangeArrowheads="1"/>
          </p:cNvSpPr>
          <p:nvPr/>
        </p:nvSpPr>
        <p:spPr bwMode="auto">
          <a:xfrm>
            <a:off x="6026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74" name="Line 34"/>
          <p:cNvSpPr>
            <a:spLocks noChangeShapeType="1"/>
          </p:cNvSpPr>
          <p:nvPr/>
        </p:nvSpPr>
        <p:spPr bwMode="auto">
          <a:xfrm flipH="1">
            <a:off x="7239000" y="4191000"/>
            <a:ext cx="4572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675" name="Oval 35"/>
          <p:cNvSpPr>
            <a:spLocks noChangeArrowheads="1"/>
          </p:cNvSpPr>
          <p:nvPr/>
        </p:nvSpPr>
        <p:spPr bwMode="auto">
          <a:xfrm>
            <a:off x="7169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76" name="Line 36"/>
          <p:cNvSpPr>
            <a:spLocks noChangeShapeType="1"/>
          </p:cNvSpPr>
          <p:nvPr/>
        </p:nvSpPr>
        <p:spPr bwMode="auto">
          <a:xfrm>
            <a:off x="7848600" y="4191000"/>
            <a:ext cx="6096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677" name="Oval 37"/>
          <p:cNvSpPr>
            <a:spLocks noChangeArrowheads="1"/>
          </p:cNvSpPr>
          <p:nvPr/>
        </p:nvSpPr>
        <p:spPr bwMode="auto">
          <a:xfrm>
            <a:off x="8312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68678" name="Group 38"/>
          <p:cNvGrpSpPr/>
          <p:nvPr/>
        </p:nvGrpSpPr>
        <p:grpSpPr bwMode="auto">
          <a:xfrm>
            <a:off x="82550" y="5334000"/>
            <a:ext cx="8750300" cy="755650"/>
            <a:chOff x="52" y="3360"/>
            <a:chExt cx="5512" cy="476"/>
          </a:xfrm>
        </p:grpSpPr>
        <p:sp>
          <p:nvSpPr>
            <p:cNvPr id="368679" name="Oval 39"/>
            <p:cNvSpPr>
              <a:spLocks noChangeArrowheads="1"/>
            </p:cNvSpPr>
            <p:nvPr/>
          </p:nvSpPr>
          <p:spPr bwMode="auto">
            <a:xfrm>
              <a:off x="5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80" name="Oval 40"/>
            <p:cNvSpPr>
              <a:spLocks noChangeArrowheads="1"/>
            </p:cNvSpPr>
            <p:nvPr/>
          </p:nvSpPr>
          <p:spPr bwMode="auto">
            <a:xfrm>
              <a:off x="38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81" name="Oval 41"/>
            <p:cNvSpPr>
              <a:spLocks noChangeArrowheads="1"/>
            </p:cNvSpPr>
            <p:nvPr/>
          </p:nvSpPr>
          <p:spPr bwMode="auto">
            <a:xfrm>
              <a:off x="77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82" name="Oval 42"/>
            <p:cNvSpPr>
              <a:spLocks noChangeArrowheads="1"/>
            </p:cNvSpPr>
            <p:nvPr/>
          </p:nvSpPr>
          <p:spPr bwMode="auto">
            <a:xfrm>
              <a:off x="110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83" name="Oval 43"/>
            <p:cNvSpPr>
              <a:spLocks noChangeArrowheads="1"/>
            </p:cNvSpPr>
            <p:nvPr/>
          </p:nvSpPr>
          <p:spPr bwMode="auto">
            <a:xfrm>
              <a:off x="149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84" name="Oval 44"/>
            <p:cNvSpPr>
              <a:spLocks noChangeArrowheads="1"/>
            </p:cNvSpPr>
            <p:nvPr/>
          </p:nvSpPr>
          <p:spPr bwMode="auto">
            <a:xfrm>
              <a:off x="1828" y="3700"/>
              <a:ext cx="136" cy="136"/>
            </a:xfrm>
            <a:prstGeom prst="ellipse">
              <a:avLst/>
            </a:prstGeom>
            <a:solidFill>
              <a:srgbClr val="FF000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85" name="Oval 45"/>
            <p:cNvSpPr>
              <a:spLocks noChangeArrowheads="1"/>
            </p:cNvSpPr>
            <p:nvPr/>
          </p:nvSpPr>
          <p:spPr bwMode="auto">
            <a:xfrm>
              <a:off x="221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86" name="Oval 46"/>
            <p:cNvSpPr>
              <a:spLocks noChangeArrowheads="1"/>
            </p:cNvSpPr>
            <p:nvPr/>
          </p:nvSpPr>
          <p:spPr bwMode="auto">
            <a:xfrm>
              <a:off x="254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87" name="Oval 47"/>
            <p:cNvSpPr>
              <a:spLocks noChangeArrowheads="1"/>
            </p:cNvSpPr>
            <p:nvPr/>
          </p:nvSpPr>
          <p:spPr bwMode="auto">
            <a:xfrm>
              <a:off x="293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88" name="Oval 48"/>
            <p:cNvSpPr>
              <a:spLocks noChangeArrowheads="1"/>
            </p:cNvSpPr>
            <p:nvPr/>
          </p:nvSpPr>
          <p:spPr bwMode="auto">
            <a:xfrm>
              <a:off x="326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89" name="Oval 49"/>
            <p:cNvSpPr>
              <a:spLocks noChangeArrowheads="1"/>
            </p:cNvSpPr>
            <p:nvPr/>
          </p:nvSpPr>
          <p:spPr bwMode="auto">
            <a:xfrm>
              <a:off x="365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90" name="Oval 50"/>
            <p:cNvSpPr>
              <a:spLocks noChangeArrowheads="1"/>
            </p:cNvSpPr>
            <p:nvPr/>
          </p:nvSpPr>
          <p:spPr bwMode="auto">
            <a:xfrm>
              <a:off x="398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91" name="Oval 51"/>
            <p:cNvSpPr>
              <a:spLocks noChangeArrowheads="1"/>
            </p:cNvSpPr>
            <p:nvPr/>
          </p:nvSpPr>
          <p:spPr bwMode="auto">
            <a:xfrm>
              <a:off x="437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92" name="Oval 52"/>
            <p:cNvSpPr>
              <a:spLocks noChangeArrowheads="1"/>
            </p:cNvSpPr>
            <p:nvPr/>
          </p:nvSpPr>
          <p:spPr bwMode="auto">
            <a:xfrm>
              <a:off x="470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93" name="Oval 53"/>
            <p:cNvSpPr>
              <a:spLocks noChangeArrowheads="1"/>
            </p:cNvSpPr>
            <p:nvPr/>
          </p:nvSpPr>
          <p:spPr bwMode="auto">
            <a:xfrm>
              <a:off x="509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94" name="Oval 54"/>
            <p:cNvSpPr>
              <a:spLocks noChangeArrowheads="1"/>
            </p:cNvSpPr>
            <p:nvPr/>
          </p:nvSpPr>
          <p:spPr bwMode="auto">
            <a:xfrm>
              <a:off x="542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95" name="Line 55"/>
            <p:cNvSpPr>
              <a:spLocks noChangeShapeType="1"/>
            </p:cNvSpPr>
            <p:nvPr/>
          </p:nvSpPr>
          <p:spPr bwMode="auto">
            <a:xfrm flipH="1">
              <a:off x="96" y="3360"/>
              <a:ext cx="192"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696" name="Line 56"/>
            <p:cNvSpPr>
              <a:spLocks noChangeShapeType="1"/>
            </p:cNvSpPr>
            <p:nvPr/>
          </p:nvSpPr>
          <p:spPr bwMode="auto">
            <a:xfrm>
              <a:off x="336" y="3360"/>
              <a:ext cx="96"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697" name="Line 57"/>
            <p:cNvSpPr>
              <a:spLocks noChangeShapeType="1"/>
            </p:cNvSpPr>
            <p:nvPr/>
          </p:nvSpPr>
          <p:spPr bwMode="auto">
            <a:xfrm flipH="1">
              <a:off x="864" y="3360"/>
              <a:ext cx="96"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698" name="Line 58"/>
            <p:cNvSpPr>
              <a:spLocks noChangeShapeType="1"/>
            </p:cNvSpPr>
            <p:nvPr/>
          </p:nvSpPr>
          <p:spPr bwMode="auto">
            <a:xfrm>
              <a:off x="1008"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699" name="Line 59"/>
            <p:cNvSpPr>
              <a:spLocks noChangeShapeType="1"/>
            </p:cNvSpPr>
            <p:nvPr/>
          </p:nvSpPr>
          <p:spPr bwMode="auto">
            <a:xfrm flipH="1">
              <a:off x="1584" y="3360"/>
              <a:ext cx="96"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700" name="Line 60"/>
            <p:cNvSpPr>
              <a:spLocks noChangeShapeType="1"/>
            </p:cNvSpPr>
            <p:nvPr/>
          </p:nvSpPr>
          <p:spPr bwMode="auto">
            <a:xfrm>
              <a:off x="1728"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701" name="Line 61"/>
            <p:cNvSpPr>
              <a:spLocks noChangeShapeType="1"/>
            </p:cNvSpPr>
            <p:nvPr/>
          </p:nvSpPr>
          <p:spPr bwMode="auto">
            <a:xfrm flipH="1">
              <a:off x="2304" y="3360"/>
              <a:ext cx="96"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702" name="Line 62"/>
            <p:cNvSpPr>
              <a:spLocks noChangeShapeType="1"/>
            </p:cNvSpPr>
            <p:nvPr/>
          </p:nvSpPr>
          <p:spPr bwMode="auto">
            <a:xfrm>
              <a:off x="2448"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703" name="Line 63"/>
            <p:cNvSpPr>
              <a:spLocks noChangeShapeType="1"/>
            </p:cNvSpPr>
            <p:nvPr/>
          </p:nvSpPr>
          <p:spPr bwMode="auto">
            <a:xfrm flipH="1">
              <a:off x="2976"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704" name="Line 64"/>
            <p:cNvSpPr>
              <a:spLocks noChangeShapeType="1"/>
            </p:cNvSpPr>
            <p:nvPr/>
          </p:nvSpPr>
          <p:spPr bwMode="auto">
            <a:xfrm>
              <a:off x="3168" y="3360"/>
              <a:ext cx="192"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705" name="Line 65"/>
            <p:cNvSpPr>
              <a:spLocks noChangeShapeType="1"/>
            </p:cNvSpPr>
            <p:nvPr/>
          </p:nvSpPr>
          <p:spPr bwMode="auto">
            <a:xfrm flipH="1">
              <a:off x="3696"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706" name="Line 66"/>
            <p:cNvSpPr>
              <a:spLocks noChangeShapeType="1"/>
            </p:cNvSpPr>
            <p:nvPr/>
          </p:nvSpPr>
          <p:spPr bwMode="auto">
            <a:xfrm>
              <a:off x="3888" y="3360"/>
              <a:ext cx="192"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707" name="Line 67"/>
            <p:cNvSpPr>
              <a:spLocks noChangeShapeType="1"/>
            </p:cNvSpPr>
            <p:nvPr/>
          </p:nvSpPr>
          <p:spPr bwMode="auto">
            <a:xfrm flipH="1">
              <a:off x="4416"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708" name="Line 68"/>
            <p:cNvSpPr>
              <a:spLocks noChangeShapeType="1"/>
            </p:cNvSpPr>
            <p:nvPr/>
          </p:nvSpPr>
          <p:spPr bwMode="auto">
            <a:xfrm>
              <a:off x="4608" y="3360"/>
              <a:ext cx="192"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709" name="Line 69"/>
            <p:cNvSpPr>
              <a:spLocks noChangeShapeType="1"/>
            </p:cNvSpPr>
            <p:nvPr/>
          </p:nvSpPr>
          <p:spPr bwMode="auto">
            <a:xfrm flipH="1">
              <a:off x="5136"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710" name="Line 70"/>
            <p:cNvSpPr>
              <a:spLocks noChangeShapeType="1"/>
            </p:cNvSpPr>
            <p:nvPr/>
          </p:nvSpPr>
          <p:spPr bwMode="auto">
            <a:xfrm>
              <a:off x="5328" y="3360"/>
              <a:ext cx="192"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68711" name="Rectangle 71"/>
          <p:cNvSpPr>
            <a:spLocks noChangeArrowheads="1"/>
          </p:cNvSpPr>
          <p:nvPr/>
        </p:nvSpPr>
        <p:spPr bwMode="auto">
          <a:xfrm>
            <a:off x="0" y="1773238"/>
            <a:ext cx="1066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1</a:t>
            </a:r>
            <a:endParaRPr lang="en-US" altLang="zh-CN" sz="3200">
              <a:solidFill>
                <a:schemeClr val="hlink"/>
              </a:solidFill>
              <a:latin typeface="Times New Roman" panose="02020603050405020304" pitchFamily="18" charset="0"/>
            </a:endParaRPr>
          </a:p>
        </p:txBody>
      </p:sp>
      <p:sp>
        <p:nvSpPr>
          <p:cNvPr id="368712" name="Rectangle 72"/>
          <p:cNvSpPr>
            <a:spLocks noChangeArrowheads="1"/>
          </p:cNvSpPr>
          <p:nvPr/>
        </p:nvSpPr>
        <p:spPr bwMode="auto">
          <a:xfrm>
            <a:off x="0" y="4365625"/>
            <a:ext cx="539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3</a:t>
            </a:r>
            <a:endParaRPr lang="en-US" altLang="zh-CN" sz="3200">
              <a:solidFill>
                <a:schemeClr val="hlink"/>
              </a:solidFill>
              <a:latin typeface="Times New Roman" panose="02020603050405020304" pitchFamily="18" charset="0"/>
            </a:endParaRPr>
          </a:p>
        </p:txBody>
      </p:sp>
      <p:sp>
        <p:nvSpPr>
          <p:cNvPr id="368713" name="Rectangle 73"/>
          <p:cNvSpPr>
            <a:spLocks noChangeArrowheads="1"/>
          </p:cNvSpPr>
          <p:nvPr/>
        </p:nvSpPr>
        <p:spPr bwMode="auto">
          <a:xfrm>
            <a:off x="0" y="5300663"/>
            <a:ext cx="539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4</a:t>
            </a:r>
            <a:endParaRPr lang="en-US" altLang="zh-CN" sz="3200">
              <a:solidFill>
                <a:schemeClr val="hlink"/>
              </a:solidFill>
              <a:latin typeface="Times New Roman" panose="02020603050405020304" pitchFamily="18" charset="0"/>
            </a:endParaRPr>
          </a:p>
        </p:txBody>
      </p:sp>
      <p:sp>
        <p:nvSpPr>
          <p:cNvPr id="368714" name="Rectangle 74"/>
          <p:cNvSpPr>
            <a:spLocks noChangeArrowheads="1"/>
          </p:cNvSpPr>
          <p:nvPr/>
        </p:nvSpPr>
        <p:spPr bwMode="auto">
          <a:xfrm>
            <a:off x="1187450" y="3284538"/>
            <a:ext cx="5572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1</a:t>
            </a:r>
            <a:endParaRPr lang="en-US" altLang="zh-CN" sz="3200">
              <a:solidFill>
                <a:schemeClr val="hlink"/>
              </a:solidFill>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F8C5AAC7-8A1F-4BB7-A534-5743ACE39B0A}" type="slidenum">
              <a:rPr lang="en-US" altLang="zh-CN"/>
            </a:fld>
            <a:endParaRPr lang="en-US" altLang="zh-CN"/>
          </a:p>
        </p:txBody>
      </p:sp>
      <p:pic>
        <p:nvPicPr>
          <p:cNvPr id="36966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6725" y="1573213"/>
            <a:ext cx="8208963" cy="5168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69667" name="Rectangle 3"/>
          <p:cNvSpPr>
            <a:spLocks noGrp="1" noChangeArrowheads="1"/>
          </p:cNvSpPr>
          <p:nvPr>
            <p:ph type="title"/>
          </p:nvPr>
        </p:nvSpPr>
        <p:spPr/>
        <p:txBody>
          <a:bodyPr/>
          <a:lstStyle/>
          <a:p>
            <a:r>
              <a:rPr lang="en-US" altLang="en-US">
                <a:effectLst>
                  <a:outerShdw blurRad="38100" dist="38100" dir="2700000" algn="tl">
                    <a:srgbClr val="C0C0C0"/>
                  </a:outerShdw>
                </a:effectLst>
                <a:ea typeface="黑体" panose="02010609060101010101" pitchFamily="49" charset="-122"/>
              </a:rPr>
              <a:t>0-1背包问题</a:t>
            </a:r>
            <a:endParaRPr lang="zh-CN" altLang="en-US">
              <a:effectLst>
                <a:outerShdw blurRad="38100" dist="38100" dir="2700000" algn="tl">
                  <a:srgbClr val="C0C0C0"/>
                </a:outerShdw>
              </a:effectLst>
              <a:ea typeface="黑体" panose="02010609060101010101" pitchFamily="49" charset="-122"/>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56F8B642-3447-4BF1-BBCC-04F2097185FF}" type="slidenum">
              <a:rPr lang="en-US" altLang="zh-CN"/>
            </a:fld>
            <a:endParaRPr lang="en-US" altLang="zh-CN"/>
          </a:p>
        </p:txBody>
      </p:sp>
      <p:sp>
        <p:nvSpPr>
          <p:cNvPr id="370690" name="Rectangle 2"/>
          <p:cNvSpPr>
            <a:spLocks noGrp="1" noChangeArrowheads="1"/>
          </p:cNvSpPr>
          <p:nvPr>
            <p:ph type="title"/>
          </p:nvPr>
        </p:nvSpPr>
        <p:spPr/>
        <p:txBody>
          <a:bodyPr/>
          <a:lstStyle/>
          <a:p>
            <a:r>
              <a:rPr lang="en-US" altLang="en-US">
                <a:effectLst>
                  <a:outerShdw blurRad="38100" dist="38100" dir="2700000" algn="tl">
                    <a:srgbClr val="C0C0C0"/>
                  </a:outerShdw>
                </a:effectLst>
                <a:ea typeface="黑体" panose="02010609060101010101" pitchFamily="49" charset="-122"/>
              </a:rPr>
              <a:t>0-1背包问题</a:t>
            </a:r>
            <a:endParaRPr lang="zh-CN" altLang="en-US">
              <a:effectLst>
                <a:outerShdw blurRad="38100" dist="38100" dir="2700000" algn="tl">
                  <a:srgbClr val="C0C0C0"/>
                </a:outerShdw>
              </a:effectLst>
              <a:ea typeface="黑体" panose="02010609060101010101" pitchFamily="49" charset="-122"/>
            </a:endParaRPr>
          </a:p>
        </p:txBody>
      </p:sp>
      <p:pic>
        <p:nvPicPr>
          <p:cNvPr id="370691"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2438" y="1628775"/>
            <a:ext cx="8223250" cy="5129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p:cNvSpPr>
            <a:spLocks noGrp="1" noChangeArrowheads="1"/>
          </p:cNvSpPr>
          <p:nvPr>
            <p:ph type="title"/>
          </p:nvPr>
        </p:nvSpPr>
        <p:spPr>
          <a:noFill/>
        </p:spPr>
        <p:txBody>
          <a:bodyPr lIns="92075" tIns="46038" rIns="92075" bIns="46038" anchor="ctr"/>
          <a:lstStyle/>
          <a:p>
            <a:r>
              <a:rPr lang="en-US" altLang="zh-CN" sz="3500" i="1"/>
              <a:t>n</a:t>
            </a:r>
            <a:r>
              <a:rPr lang="en-US" altLang="zh-CN" sz="3500"/>
              <a:t>=4, </a:t>
            </a:r>
            <a:r>
              <a:rPr lang="en-US" altLang="zh-CN" sz="3500" i="1"/>
              <a:t>W</a:t>
            </a:r>
            <a:r>
              <a:rPr lang="en-US" altLang="zh-CN" sz="3500"/>
              <a:t>=7, </a:t>
            </a:r>
            <a:r>
              <a:rPr lang="en-US" altLang="zh-CN" sz="3500" i="1"/>
              <a:t>v</a:t>
            </a:r>
            <a:r>
              <a:rPr lang="en-US" altLang="zh-CN" sz="3500"/>
              <a:t>=[4,7,9,10], </a:t>
            </a:r>
            <a:r>
              <a:rPr lang="en-US" altLang="zh-CN" sz="3500" i="1"/>
              <a:t>w</a:t>
            </a:r>
            <a:r>
              <a:rPr lang="en-US" altLang="zh-CN" sz="3500"/>
              <a:t>=[1,2,3,5] </a:t>
            </a:r>
            <a:br>
              <a:rPr lang="en-US" altLang="zh-CN" sz="3500"/>
            </a:br>
            <a:r>
              <a:rPr lang="en-US" altLang="zh-CN" sz="3500"/>
              <a:t>    </a:t>
            </a:r>
            <a:r>
              <a:rPr lang="en-US" altLang="zh-CN" sz="3500" i="1"/>
              <a:t>v</a:t>
            </a:r>
            <a:r>
              <a:rPr lang="en-US" altLang="zh-CN" sz="3500"/>
              <a:t>/</a:t>
            </a:r>
            <a:r>
              <a:rPr lang="en-US" altLang="zh-CN" sz="3500" i="1"/>
              <a:t>w</a:t>
            </a:r>
            <a:r>
              <a:rPr lang="en-US" altLang="zh-CN" sz="3500"/>
              <a:t>=[4, 3.5, 3, 2]. </a:t>
            </a:r>
            <a:endParaRPr lang="en-US" altLang="zh-CN" sz="3500"/>
          </a:p>
        </p:txBody>
      </p:sp>
      <p:sp>
        <p:nvSpPr>
          <p:cNvPr id="371715" name="Oval 3"/>
          <p:cNvSpPr>
            <a:spLocks noChangeArrowheads="1"/>
          </p:cNvSpPr>
          <p:nvPr/>
        </p:nvSpPr>
        <p:spPr bwMode="auto">
          <a:xfrm>
            <a:off x="4197350" y="1377950"/>
            <a:ext cx="215900" cy="215900"/>
          </a:xfrm>
          <a:prstGeom prst="ellipse">
            <a:avLst/>
          </a:prstGeom>
          <a:solidFill>
            <a:srgbClr val="00FF0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716" name="Line 4"/>
          <p:cNvSpPr>
            <a:spLocks noChangeShapeType="1"/>
          </p:cNvSpPr>
          <p:nvPr/>
        </p:nvSpPr>
        <p:spPr bwMode="auto">
          <a:xfrm flipH="1">
            <a:off x="2286000" y="1600200"/>
            <a:ext cx="1981200" cy="1295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1717" name="Oval 5"/>
          <p:cNvSpPr>
            <a:spLocks noChangeArrowheads="1"/>
          </p:cNvSpPr>
          <p:nvPr/>
        </p:nvSpPr>
        <p:spPr bwMode="auto">
          <a:xfrm>
            <a:off x="2139950" y="29019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718" name="Rectangle 6"/>
          <p:cNvSpPr>
            <a:spLocks noChangeArrowheads="1"/>
          </p:cNvSpPr>
          <p:nvPr/>
        </p:nvSpPr>
        <p:spPr bwMode="auto">
          <a:xfrm>
            <a:off x="2771775" y="1916113"/>
            <a:ext cx="414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2400">
                <a:solidFill>
                  <a:schemeClr val="hlink"/>
                </a:solidFill>
                <a:latin typeface="Times New Roman" panose="02020603050405020304" pitchFamily="18" charset="0"/>
              </a:rPr>
              <a:t>1</a:t>
            </a:r>
            <a:endParaRPr lang="en-US" altLang="zh-CN" sz="2400">
              <a:solidFill>
                <a:schemeClr val="hlink"/>
              </a:solidFill>
              <a:latin typeface="Times New Roman" panose="02020603050405020304" pitchFamily="18" charset="0"/>
            </a:endParaRPr>
          </a:p>
        </p:txBody>
      </p:sp>
      <p:sp>
        <p:nvSpPr>
          <p:cNvPr id="371719" name="Line 7"/>
          <p:cNvSpPr>
            <a:spLocks noChangeShapeType="1"/>
          </p:cNvSpPr>
          <p:nvPr/>
        </p:nvSpPr>
        <p:spPr bwMode="auto">
          <a:xfrm>
            <a:off x="4419600" y="1600200"/>
            <a:ext cx="2057400" cy="1295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1720" name="Oval 8"/>
          <p:cNvSpPr>
            <a:spLocks noChangeArrowheads="1"/>
          </p:cNvSpPr>
          <p:nvPr/>
        </p:nvSpPr>
        <p:spPr bwMode="auto">
          <a:xfrm>
            <a:off x="6407150" y="29019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721" name="Rectangle 9"/>
          <p:cNvSpPr>
            <a:spLocks noChangeArrowheads="1"/>
          </p:cNvSpPr>
          <p:nvPr/>
        </p:nvSpPr>
        <p:spPr bwMode="auto">
          <a:xfrm>
            <a:off x="0" y="1844675"/>
            <a:ext cx="1066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1</a:t>
            </a:r>
            <a:endParaRPr lang="en-US" altLang="zh-CN" sz="3200">
              <a:solidFill>
                <a:schemeClr val="hlink"/>
              </a:solidFill>
              <a:latin typeface="Times New Roman" panose="02020603050405020304" pitchFamily="18" charset="0"/>
            </a:endParaRPr>
          </a:p>
        </p:txBody>
      </p:sp>
      <p:sp>
        <p:nvSpPr>
          <p:cNvPr id="371722" name="Line 10"/>
          <p:cNvSpPr>
            <a:spLocks noChangeShapeType="1"/>
          </p:cNvSpPr>
          <p:nvPr/>
        </p:nvSpPr>
        <p:spPr bwMode="auto">
          <a:xfrm flipH="1">
            <a:off x="1066800" y="3124200"/>
            <a:ext cx="1066800" cy="1066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1723" name="Oval 11"/>
          <p:cNvSpPr>
            <a:spLocks noChangeArrowheads="1"/>
          </p:cNvSpPr>
          <p:nvPr/>
        </p:nvSpPr>
        <p:spPr bwMode="auto">
          <a:xfrm>
            <a:off x="996950" y="41973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724" name="Rectangle 12"/>
          <p:cNvSpPr>
            <a:spLocks noChangeArrowheads="1"/>
          </p:cNvSpPr>
          <p:nvPr/>
        </p:nvSpPr>
        <p:spPr bwMode="auto">
          <a:xfrm>
            <a:off x="1187450" y="3276600"/>
            <a:ext cx="412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2400">
                <a:solidFill>
                  <a:schemeClr val="hlink"/>
                </a:solidFill>
                <a:latin typeface="Times New Roman" panose="02020603050405020304" pitchFamily="18" charset="0"/>
              </a:rPr>
              <a:t>1</a:t>
            </a:r>
            <a:endParaRPr lang="en-US" altLang="zh-CN" sz="2400">
              <a:solidFill>
                <a:schemeClr val="hlink"/>
              </a:solidFill>
              <a:latin typeface="Times New Roman" panose="02020603050405020304" pitchFamily="18" charset="0"/>
            </a:endParaRPr>
          </a:p>
        </p:txBody>
      </p:sp>
      <p:sp>
        <p:nvSpPr>
          <p:cNvPr id="371725" name="Line 13"/>
          <p:cNvSpPr>
            <a:spLocks noChangeShapeType="1"/>
          </p:cNvSpPr>
          <p:nvPr/>
        </p:nvSpPr>
        <p:spPr bwMode="auto">
          <a:xfrm>
            <a:off x="2286000" y="3124200"/>
            <a:ext cx="99060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1726" name="Oval 14"/>
          <p:cNvSpPr>
            <a:spLocks noChangeArrowheads="1"/>
          </p:cNvSpPr>
          <p:nvPr/>
        </p:nvSpPr>
        <p:spPr bwMode="auto">
          <a:xfrm>
            <a:off x="3206750" y="41211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727" name="Rectangle 15"/>
          <p:cNvSpPr>
            <a:spLocks noChangeArrowheads="1"/>
          </p:cNvSpPr>
          <p:nvPr/>
        </p:nvSpPr>
        <p:spPr bwMode="auto">
          <a:xfrm>
            <a:off x="2843213" y="3284538"/>
            <a:ext cx="4524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2400">
                <a:solidFill>
                  <a:schemeClr val="hlink"/>
                </a:solidFill>
                <a:latin typeface="Times New Roman" panose="02020603050405020304" pitchFamily="18" charset="0"/>
              </a:rPr>
              <a:t>0</a:t>
            </a:r>
            <a:endParaRPr lang="en-US" altLang="zh-CN" sz="2400">
              <a:solidFill>
                <a:schemeClr val="hlink"/>
              </a:solidFill>
              <a:latin typeface="Times New Roman" panose="02020603050405020304" pitchFamily="18" charset="0"/>
            </a:endParaRPr>
          </a:p>
        </p:txBody>
      </p:sp>
      <p:sp>
        <p:nvSpPr>
          <p:cNvPr id="371728" name="Line 16"/>
          <p:cNvSpPr>
            <a:spLocks noChangeShapeType="1"/>
          </p:cNvSpPr>
          <p:nvPr/>
        </p:nvSpPr>
        <p:spPr bwMode="auto">
          <a:xfrm flipH="1">
            <a:off x="5562600" y="3124200"/>
            <a:ext cx="8382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1729" name="Oval 17"/>
          <p:cNvSpPr>
            <a:spLocks noChangeArrowheads="1"/>
          </p:cNvSpPr>
          <p:nvPr/>
        </p:nvSpPr>
        <p:spPr bwMode="auto">
          <a:xfrm>
            <a:off x="5416550" y="40449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730" name="Line 18"/>
          <p:cNvSpPr>
            <a:spLocks noChangeShapeType="1"/>
          </p:cNvSpPr>
          <p:nvPr/>
        </p:nvSpPr>
        <p:spPr bwMode="auto">
          <a:xfrm>
            <a:off x="6629400" y="3124200"/>
            <a:ext cx="9906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1731" name="Oval 19"/>
          <p:cNvSpPr>
            <a:spLocks noChangeArrowheads="1"/>
          </p:cNvSpPr>
          <p:nvPr/>
        </p:nvSpPr>
        <p:spPr bwMode="auto">
          <a:xfrm>
            <a:off x="7626350" y="3968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732" name="Rectangle 20"/>
          <p:cNvSpPr>
            <a:spLocks noChangeArrowheads="1"/>
          </p:cNvSpPr>
          <p:nvPr/>
        </p:nvSpPr>
        <p:spPr bwMode="auto">
          <a:xfrm>
            <a:off x="0" y="3284538"/>
            <a:ext cx="539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2</a:t>
            </a:r>
            <a:endParaRPr lang="en-US" altLang="zh-CN" sz="3200">
              <a:solidFill>
                <a:schemeClr val="hlink"/>
              </a:solidFill>
              <a:latin typeface="Times New Roman" panose="02020603050405020304" pitchFamily="18" charset="0"/>
            </a:endParaRPr>
          </a:p>
        </p:txBody>
      </p:sp>
      <p:sp>
        <p:nvSpPr>
          <p:cNvPr id="371733" name="Line 21"/>
          <p:cNvSpPr>
            <a:spLocks noChangeShapeType="1"/>
          </p:cNvSpPr>
          <p:nvPr/>
        </p:nvSpPr>
        <p:spPr bwMode="auto">
          <a:xfrm flipH="1">
            <a:off x="533400" y="4419600"/>
            <a:ext cx="533400" cy="685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1734" name="Oval 22"/>
          <p:cNvSpPr>
            <a:spLocks noChangeArrowheads="1"/>
          </p:cNvSpPr>
          <p:nvPr/>
        </p:nvSpPr>
        <p:spPr bwMode="auto">
          <a:xfrm>
            <a:off x="3873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735" name="Line 23"/>
          <p:cNvSpPr>
            <a:spLocks noChangeShapeType="1"/>
          </p:cNvSpPr>
          <p:nvPr/>
        </p:nvSpPr>
        <p:spPr bwMode="auto">
          <a:xfrm>
            <a:off x="1143000" y="4419600"/>
            <a:ext cx="381000" cy="685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1736" name="Oval 24"/>
          <p:cNvSpPr>
            <a:spLocks noChangeArrowheads="1"/>
          </p:cNvSpPr>
          <p:nvPr/>
        </p:nvSpPr>
        <p:spPr bwMode="auto">
          <a:xfrm>
            <a:off x="1454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737" name="Line 25"/>
          <p:cNvSpPr>
            <a:spLocks noChangeShapeType="1"/>
          </p:cNvSpPr>
          <p:nvPr/>
        </p:nvSpPr>
        <p:spPr bwMode="auto">
          <a:xfrm flipH="1">
            <a:off x="2667000" y="4343400"/>
            <a:ext cx="6096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1738" name="Oval 26"/>
          <p:cNvSpPr>
            <a:spLocks noChangeArrowheads="1"/>
          </p:cNvSpPr>
          <p:nvPr/>
        </p:nvSpPr>
        <p:spPr bwMode="auto">
          <a:xfrm>
            <a:off x="2597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739" name="Line 27"/>
          <p:cNvSpPr>
            <a:spLocks noChangeShapeType="1"/>
          </p:cNvSpPr>
          <p:nvPr/>
        </p:nvSpPr>
        <p:spPr bwMode="auto">
          <a:xfrm>
            <a:off x="3352800" y="4343400"/>
            <a:ext cx="4572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1740" name="Oval 28"/>
          <p:cNvSpPr>
            <a:spLocks noChangeArrowheads="1"/>
          </p:cNvSpPr>
          <p:nvPr/>
        </p:nvSpPr>
        <p:spPr bwMode="auto">
          <a:xfrm>
            <a:off x="3740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741" name="Line 29"/>
          <p:cNvSpPr>
            <a:spLocks noChangeShapeType="1"/>
          </p:cNvSpPr>
          <p:nvPr/>
        </p:nvSpPr>
        <p:spPr bwMode="auto">
          <a:xfrm flipH="1">
            <a:off x="5029200" y="4267200"/>
            <a:ext cx="4572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1742" name="Oval 30"/>
          <p:cNvSpPr>
            <a:spLocks noChangeArrowheads="1"/>
          </p:cNvSpPr>
          <p:nvPr/>
        </p:nvSpPr>
        <p:spPr bwMode="auto">
          <a:xfrm>
            <a:off x="4883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743" name="Line 31"/>
          <p:cNvSpPr>
            <a:spLocks noChangeShapeType="1"/>
          </p:cNvSpPr>
          <p:nvPr/>
        </p:nvSpPr>
        <p:spPr bwMode="auto">
          <a:xfrm>
            <a:off x="5562600" y="4267200"/>
            <a:ext cx="5334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1744" name="Oval 32"/>
          <p:cNvSpPr>
            <a:spLocks noChangeArrowheads="1"/>
          </p:cNvSpPr>
          <p:nvPr/>
        </p:nvSpPr>
        <p:spPr bwMode="auto">
          <a:xfrm>
            <a:off x="6026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745" name="Line 33"/>
          <p:cNvSpPr>
            <a:spLocks noChangeShapeType="1"/>
          </p:cNvSpPr>
          <p:nvPr/>
        </p:nvSpPr>
        <p:spPr bwMode="auto">
          <a:xfrm flipH="1">
            <a:off x="7239000" y="4191000"/>
            <a:ext cx="4572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1746" name="Oval 34"/>
          <p:cNvSpPr>
            <a:spLocks noChangeArrowheads="1"/>
          </p:cNvSpPr>
          <p:nvPr/>
        </p:nvSpPr>
        <p:spPr bwMode="auto">
          <a:xfrm>
            <a:off x="7169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747" name="Line 35"/>
          <p:cNvSpPr>
            <a:spLocks noChangeShapeType="1"/>
          </p:cNvSpPr>
          <p:nvPr/>
        </p:nvSpPr>
        <p:spPr bwMode="auto">
          <a:xfrm>
            <a:off x="7848600" y="4191000"/>
            <a:ext cx="6096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1748" name="Oval 36"/>
          <p:cNvSpPr>
            <a:spLocks noChangeArrowheads="1"/>
          </p:cNvSpPr>
          <p:nvPr/>
        </p:nvSpPr>
        <p:spPr bwMode="auto">
          <a:xfrm>
            <a:off x="8312150" y="5111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749" name="Rectangle 37"/>
          <p:cNvSpPr>
            <a:spLocks noChangeArrowheads="1"/>
          </p:cNvSpPr>
          <p:nvPr/>
        </p:nvSpPr>
        <p:spPr bwMode="auto">
          <a:xfrm>
            <a:off x="0" y="5300663"/>
            <a:ext cx="539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4</a:t>
            </a:r>
            <a:endParaRPr lang="en-US" altLang="zh-CN" sz="3200">
              <a:solidFill>
                <a:schemeClr val="hlink"/>
              </a:solidFill>
              <a:latin typeface="Times New Roman" panose="02020603050405020304" pitchFamily="18" charset="0"/>
            </a:endParaRPr>
          </a:p>
        </p:txBody>
      </p:sp>
      <p:sp>
        <p:nvSpPr>
          <p:cNvPr id="371750" name="Rectangle 38"/>
          <p:cNvSpPr>
            <a:spLocks noChangeArrowheads="1"/>
          </p:cNvSpPr>
          <p:nvPr/>
        </p:nvSpPr>
        <p:spPr bwMode="auto">
          <a:xfrm>
            <a:off x="0" y="4292600"/>
            <a:ext cx="5762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3</a:t>
            </a:r>
            <a:endParaRPr lang="en-US" altLang="zh-CN" sz="3200">
              <a:solidFill>
                <a:schemeClr val="hlink"/>
              </a:solidFill>
              <a:latin typeface="Times New Roman" panose="02020603050405020304" pitchFamily="18" charset="0"/>
            </a:endParaRPr>
          </a:p>
        </p:txBody>
      </p:sp>
      <p:sp>
        <p:nvSpPr>
          <p:cNvPr id="371751" name="Rectangle 39"/>
          <p:cNvSpPr>
            <a:spLocks noChangeArrowheads="1"/>
          </p:cNvSpPr>
          <p:nvPr/>
        </p:nvSpPr>
        <p:spPr bwMode="auto">
          <a:xfrm>
            <a:off x="1258888" y="4508500"/>
            <a:ext cx="4524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2400">
                <a:solidFill>
                  <a:schemeClr val="hlink"/>
                </a:solidFill>
                <a:latin typeface="Times New Roman" panose="02020603050405020304" pitchFamily="18" charset="0"/>
              </a:rPr>
              <a:t>0</a:t>
            </a:r>
            <a:endParaRPr lang="en-US" altLang="zh-CN" sz="2400">
              <a:solidFill>
                <a:schemeClr val="hlink"/>
              </a:solidFill>
              <a:latin typeface="Times New Roman" panose="02020603050405020304" pitchFamily="18" charset="0"/>
            </a:endParaRPr>
          </a:p>
        </p:txBody>
      </p:sp>
      <p:sp>
        <p:nvSpPr>
          <p:cNvPr id="371752" name="Rectangle 40"/>
          <p:cNvSpPr>
            <a:spLocks noChangeArrowheads="1"/>
          </p:cNvSpPr>
          <p:nvPr/>
        </p:nvSpPr>
        <p:spPr bwMode="auto">
          <a:xfrm>
            <a:off x="755650" y="6237288"/>
            <a:ext cx="12255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400">
                <a:solidFill>
                  <a:srgbClr val="993300"/>
                </a:solidFill>
                <a:latin typeface="Times New Roman" panose="02020603050405020304" pitchFamily="18" charset="0"/>
              </a:rPr>
              <a:t>[1,1,1,0]</a:t>
            </a:r>
            <a:endParaRPr lang="en-US" altLang="zh-CN" sz="2400">
              <a:solidFill>
                <a:srgbClr val="993300"/>
              </a:solidFill>
              <a:latin typeface="Times New Roman" panose="02020603050405020304" pitchFamily="18" charset="0"/>
            </a:endParaRPr>
          </a:p>
        </p:txBody>
      </p:sp>
      <p:sp>
        <p:nvSpPr>
          <p:cNvPr id="371753" name="Oval 41"/>
          <p:cNvSpPr>
            <a:spLocks noChangeArrowheads="1"/>
          </p:cNvSpPr>
          <p:nvPr/>
        </p:nvSpPr>
        <p:spPr bwMode="auto">
          <a:xfrm>
            <a:off x="0" y="1196975"/>
            <a:ext cx="935038" cy="647700"/>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i="1">
                <a:latin typeface="Times New Roman" panose="02020603050405020304" pitchFamily="18" charset="0"/>
              </a:rPr>
              <a:t>C</a:t>
            </a:r>
            <a:r>
              <a:rPr lang="en-US" altLang="zh-CN" sz="2000">
                <a:latin typeface="Times New Roman" panose="02020603050405020304" pitchFamily="18" charset="0"/>
              </a:rPr>
              <a:t>(</a:t>
            </a:r>
            <a:r>
              <a:rPr lang="en-US" altLang="zh-CN" sz="2000" i="1">
                <a:latin typeface="Times New Roman" panose="02020603050405020304" pitchFamily="18" charset="0"/>
              </a:rPr>
              <a:t>t</a:t>
            </a:r>
            <a:r>
              <a:rPr lang="en-US" altLang="zh-CN" sz="2000">
                <a:latin typeface="Times New Roman" panose="02020603050405020304" pitchFamily="18" charset="0"/>
              </a:rPr>
              <a:t>)/</a:t>
            </a:r>
            <a:r>
              <a:rPr lang="en-US" altLang="zh-CN" sz="2000" i="1">
                <a:latin typeface="Times New Roman" panose="02020603050405020304" pitchFamily="18" charset="0"/>
              </a:rPr>
              <a:t>B</a:t>
            </a:r>
            <a:r>
              <a:rPr lang="en-US" altLang="zh-CN" sz="2000">
                <a:latin typeface="Times New Roman" panose="02020603050405020304" pitchFamily="18" charset="0"/>
              </a:rPr>
              <a:t>(</a:t>
            </a:r>
            <a:r>
              <a:rPr lang="en-US" altLang="zh-CN" sz="2000" i="1">
                <a:latin typeface="Times New Roman" panose="02020603050405020304" pitchFamily="18" charset="0"/>
              </a:rPr>
              <a:t>t</a:t>
            </a:r>
            <a:r>
              <a:rPr lang="en-US" altLang="zh-CN" sz="2000">
                <a:latin typeface="Times New Roman" panose="02020603050405020304" pitchFamily="18" charset="0"/>
              </a:rPr>
              <a:t>)</a:t>
            </a:r>
            <a:endParaRPr lang="en-US" altLang="zh-CN" sz="2000">
              <a:latin typeface="Times New Roman" panose="02020603050405020304" pitchFamily="18" charset="0"/>
            </a:endParaRPr>
          </a:p>
        </p:txBody>
      </p:sp>
      <p:sp>
        <p:nvSpPr>
          <p:cNvPr id="371754" name="Oval 42"/>
          <p:cNvSpPr>
            <a:spLocks noChangeArrowheads="1"/>
          </p:cNvSpPr>
          <p:nvPr/>
        </p:nvSpPr>
        <p:spPr bwMode="auto">
          <a:xfrm>
            <a:off x="3924300" y="1268413"/>
            <a:ext cx="719138" cy="647700"/>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latin typeface="Times New Roman" panose="02020603050405020304" pitchFamily="18" charset="0"/>
              </a:rPr>
              <a:t>0/22</a:t>
            </a:r>
            <a:endParaRPr lang="en-US" altLang="zh-CN" sz="2000">
              <a:latin typeface="Times New Roman" panose="02020603050405020304" pitchFamily="18" charset="0"/>
            </a:endParaRPr>
          </a:p>
        </p:txBody>
      </p:sp>
      <p:sp>
        <p:nvSpPr>
          <p:cNvPr id="371755" name="Oval 43"/>
          <p:cNvSpPr>
            <a:spLocks noChangeArrowheads="1"/>
          </p:cNvSpPr>
          <p:nvPr/>
        </p:nvSpPr>
        <p:spPr bwMode="auto">
          <a:xfrm>
            <a:off x="1835150" y="2636838"/>
            <a:ext cx="720725" cy="647700"/>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latin typeface="Times New Roman" panose="02020603050405020304" pitchFamily="18" charset="0"/>
              </a:rPr>
              <a:t>1/22</a:t>
            </a:r>
            <a:endParaRPr lang="en-US" altLang="zh-CN" sz="2000">
              <a:latin typeface="Times New Roman" panose="02020603050405020304" pitchFamily="18" charset="0"/>
            </a:endParaRPr>
          </a:p>
        </p:txBody>
      </p:sp>
      <p:sp>
        <p:nvSpPr>
          <p:cNvPr id="371756" name="Oval 44"/>
          <p:cNvSpPr>
            <a:spLocks noChangeArrowheads="1"/>
          </p:cNvSpPr>
          <p:nvPr/>
        </p:nvSpPr>
        <p:spPr bwMode="auto">
          <a:xfrm>
            <a:off x="755650" y="3933825"/>
            <a:ext cx="720725" cy="647700"/>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latin typeface="Times New Roman" panose="02020603050405020304" pitchFamily="18" charset="0"/>
              </a:rPr>
              <a:t>3/22</a:t>
            </a:r>
            <a:endParaRPr lang="en-US" altLang="zh-CN" sz="2000">
              <a:latin typeface="Times New Roman" panose="02020603050405020304" pitchFamily="18" charset="0"/>
            </a:endParaRPr>
          </a:p>
        </p:txBody>
      </p:sp>
      <p:sp>
        <p:nvSpPr>
          <p:cNvPr id="371757" name="Rectangle 45"/>
          <p:cNvSpPr>
            <a:spLocks noChangeArrowheads="1"/>
          </p:cNvSpPr>
          <p:nvPr/>
        </p:nvSpPr>
        <p:spPr bwMode="auto">
          <a:xfrm>
            <a:off x="323850" y="6237288"/>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2400">
                <a:solidFill>
                  <a:schemeClr val="hlink"/>
                </a:solidFill>
                <a:latin typeface="Times New Roman" panose="02020603050405020304" pitchFamily="18" charset="0"/>
              </a:rPr>
              <a:t>20</a:t>
            </a:r>
            <a:endParaRPr lang="en-US" altLang="zh-CN" sz="2400">
              <a:solidFill>
                <a:schemeClr val="hlink"/>
              </a:solidFill>
              <a:latin typeface="Times New Roman" panose="02020603050405020304" pitchFamily="18" charset="0"/>
            </a:endParaRPr>
          </a:p>
        </p:txBody>
      </p:sp>
      <p:sp>
        <p:nvSpPr>
          <p:cNvPr id="371758" name="Rectangle 46"/>
          <p:cNvSpPr>
            <a:spLocks noChangeArrowheads="1"/>
          </p:cNvSpPr>
          <p:nvPr/>
        </p:nvSpPr>
        <p:spPr bwMode="auto">
          <a:xfrm>
            <a:off x="611188" y="4437063"/>
            <a:ext cx="412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2400">
                <a:solidFill>
                  <a:schemeClr val="hlink"/>
                </a:solidFill>
                <a:latin typeface="Times New Roman" panose="02020603050405020304" pitchFamily="18" charset="0"/>
              </a:rPr>
              <a:t>1</a:t>
            </a:r>
            <a:endParaRPr lang="en-US" altLang="zh-CN" sz="2400">
              <a:solidFill>
                <a:schemeClr val="hlink"/>
              </a:solidFill>
              <a:latin typeface="Times New Roman" panose="02020603050405020304" pitchFamily="18" charset="0"/>
            </a:endParaRPr>
          </a:p>
        </p:txBody>
      </p:sp>
      <p:sp>
        <p:nvSpPr>
          <p:cNvPr id="371759" name="Rectangle 47"/>
          <p:cNvSpPr>
            <a:spLocks noChangeArrowheads="1"/>
          </p:cNvSpPr>
          <p:nvPr/>
        </p:nvSpPr>
        <p:spPr bwMode="auto">
          <a:xfrm>
            <a:off x="323850" y="5373688"/>
            <a:ext cx="4524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2400">
                <a:solidFill>
                  <a:schemeClr val="hlink"/>
                </a:solidFill>
                <a:latin typeface="Times New Roman" panose="02020603050405020304" pitchFamily="18" charset="0"/>
              </a:rPr>
              <a:t>0</a:t>
            </a:r>
            <a:endParaRPr lang="en-US" altLang="zh-CN" sz="2400">
              <a:solidFill>
                <a:schemeClr val="hlink"/>
              </a:solidFill>
              <a:latin typeface="Times New Roman" panose="02020603050405020304" pitchFamily="18" charset="0"/>
            </a:endParaRPr>
          </a:p>
        </p:txBody>
      </p:sp>
      <p:sp>
        <p:nvSpPr>
          <p:cNvPr id="371760" name="Oval 48"/>
          <p:cNvSpPr>
            <a:spLocks noChangeArrowheads="1"/>
          </p:cNvSpPr>
          <p:nvPr/>
        </p:nvSpPr>
        <p:spPr bwMode="auto">
          <a:xfrm>
            <a:off x="2987675" y="3860800"/>
            <a:ext cx="720725" cy="647700"/>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latin typeface="Times New Roman" panose="02020603050405020304" pitchFamily="18" charset="0"/>
              </a:rPr>
              <a:t>1/19</a:t>
            </a:r>
            <a:endParaRPr lang="en-US" altLang="zh-CN" sz="2000">
              <a:latin typeface="Times New Roman" panose="02020603050405020304" pitchFamily="18" charset="0"/>
            </a:endParaRPr>
          </a:p>
        </p:txBody>
      </p:sp>
      <p:sp>
        <p:nvSpPr>
          <p:cNvPr id="371761" name="Rectangle 49"/>
          <p:cNvSpPr>
            <a:spLocks noChangeArrowheads="1"/>
          </p:cNvSpPr>
          <p:nvPr/>
        </p:nvSpPr>
        <p:spPr bwMode="auto">
          <a:xfrm>
            <a:off x="5148263" y="1773238"/>
            <a:ext cx="4524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2400">
                <a:solidFill>
                  <a:schemeClr val="hlink"/>
                </a:solidFill>
                <a:latin typeface="Times New Roman" panose="02020603050405020304" pitchFamily="18" charset="0"/>
              </a:rPr>
              <a:t>0</a:t>
            </a:r>
            <a:endParaRPr lang="en-US" altLang="zh-CN" sz="2400">
              <a:solidFill>
                <a:schemeClr val="hlink"/>
              </a:solidFill>
              <a:latin typeface="Times New Roman" panose="02020603050405020304" pitchFamily="18" charset="0"/>
            </a:endParaRPr>
          </a:p>
        </p:txBody>
      </p:sp>
      <p:sp>
        <p:nvSpPr>
          <p:cNvPr id="371762" name="Oval 50"/>
          <p:cNvSpPr>
            <a:spLocks noChangeArrowheads="1"/>
          </p:cNvSpPr>
          <p:nvPr/>
        </p:nvSpPr>
        <p:spPr bwMode="auto">
          <a:xfrm>
            <a:off x="6084888" y="2636838"/>
            <a:ext cx="719137" cy="647700"/>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latin typeface="Times New Roman" panose="02020603050405020304" pitchFamily="18" charset="0"/>
              </a:rPr>
              <a:t>0/20</a:t>
            </a:r>
            <a:endParaRPr lang="en-US" altLang="zh-CN" sz="2000">
              <a:latin typeface="Times New Roman" panose="02020603050405020304" pitchFamily="18" charset="0"/>
            </a:endParaRPr>
          </a:p>
        </p:txBody>
      </p:sp>
      <p:grpSp>
        <p:nvGrpSpPr>
          <p:cNvPr id="371763" name="Group 51"/>
          <p:cNvGrpSpPr/>
          <p:nvPr/>
        </p:nvGrpSpPr>
        <p:grpSpPr bwMode="auto">
          <a:xfrm>
            <a:off x="82550" y="5334000"/>
            <a:ext cx="8750300" cy="755650"/>
            <a:chOff x="52" y="3360"/>
            <a:chExt cx="5512" cy="476"/>
          </a:xfrm>
        </p:grpSpPr>
        <p:sp>
          <p:nvSpPr>
            <p:cNvPr id="371764" name="Oval 52"/>
            <p:cNvSpPr>
              <a:spLocks noChangeArrowheads="1"/>
            </p:cNvSpPr>
            <p:nvPr/>
          </p:nvSpPr>
          <p:spPr bwMode="auto">
            <a:xfrm>
              <a:off x="5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765" name="Oval 53"/>
            <p:cNvSpPr>
              <a:spLocks noChangeArrowheads="1"/>
            </p:cNvSpPr>
            <p:nvPr/>
          </p:nvSpPr>
          <p:spPr bwMode="auto">
            <a:xfrm>
              <a:off x="38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766" name="Oval 54"/>
            <p:cNvSpPr>
              <a:spLocks noChangeArrowheads="1"/>
            </p:cNvSpPr>
            <p:nvPr/>
          </p:nvSpPr>
          <p:spPr bwMode="auto">
            <a:xfrm>
              <a:off x="77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767" name="Oval 55"/>
            <p:cNvSpPr>
              <a:spLocks noChangeArrowheads="1"/>
            </p:cNvSpPr>
            <p:nvPr/>
          </p:nvSpPr>
          <p:spPr bwMode="auto">
            <a:xfrm>
              <a:off x="110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768" name="Oval 56"/>
            <p:cNvSpPr>
              <a:spLocks noChangeArrowheads="1"/>
            </p:cNvSpPr>
            <p:nvPr/>
          </p:nvSpPr>
          <p:spPr bwMode="auto">
            <a:xfrm>
              <a:off x="149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769" name="Oval 57"/>
            <p:cNvSpPr>
              <a:spLocks noChangeArrowheads="1"/>
            </p:cNvSpPr>
            <p:nvPr/>
          </p:nvSpPr>
          <p:spPr bwMode="auto">
            <a:xfrm>
              <a:off x="1828" y="3700"/>
              <a:ext cx="136" cy="136"/>
            </a:xfrm>
            <a:prstGeom prst="ellipse">
              <a:avLst/>
            </a:prstGeom>
            <a:solidFill>
              <a:srgbClr val="FF000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770" name="Oval 58"/>
            <p:cNvSpPr>
              <a:spLocks noChangeArrowheads="1"/>
            </p:cNvSpPr>
            <p:nvPr/>
          </p:nvSpPr>
          <p:spPr bwMode="auto">
            <a:xfrm>
              <a:off x="221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771" name="Oval 59"/>
            <p:cNvSpPr>
              <a:spLocks noChangeArrowheads="1"/>
            </p:cNvSpPr>
            <p:nvPr/>
          </p:nvSpPr>
          <p:spPr bwMode="auto">
            <a:xfrm>
              <a:off x="254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772" name="Oval 60"/>
            <p:cNvSpPr>
              <a:spLocks noChangeArrowheads="1"/>
            </p:cNvSpPr>
            <p:nvPr/>
          </p:nvSpPr>
          <p:spPr bwMode="auto">
            <a:xfrm>
              <a:off x="293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773" name="Oval 61"/>
            <p:cNvSpPr>
              <a:spLocks noChangeArrowheads="1"/>
            </p:cNvSpPr>
            <p:nvPr/>
          </p:nvSpPr>
          <p:spPr bwMode="auto">
            <a:xfrm>
              <a:off x="326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774" name="Oval 62"/>
            <p:cNvSpPr>
              <a:spLocks noChangeArrowheads="1"/>
            </p:cNvSpPr>
            <p:nvPr/>
          </p:nvSpPr>
          <p:spPr bwMode="auto">
            <a:xfrm>
              <a:off x="365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775" name="Oval 63"/>
            <p:cNvSpPr>
              <a:spLocks noChangeArrowheads="1"/>
            </p:cNvSpPr>
            <p:nvPr/>
          </p:nvSpPr>
          <p:spPr bwMode="auto">
            <a:xfrm>
              <a:off x="398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776" name="Oval 64"/>
            <p:cNvSpPr>
              <a:spLocks noChangeArrowheads="1"/>
            </p:cNvSpPr>
            <p:nvPr/>
          </p:nvSpPr>
          <p:spPr bwMode="auto">
            <a:xfrm>
              <a:off x="437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777" name="Oval 65"/>
            <p:cNvSpPr>
              <a:spLocks noChangeArrowheads="1"/>
            </p:cNvSpPr>
            <p:nvPr/>
          </p:nvSpPr>
          <p:spPr bwMode="auto">
            <a:xfrm>
              <a:off x="470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778" name="Oval 66"/>
            <p:cNvSpPr>
              <a:spLocks noChangeArrowheads="1"/>
            </p:cNvSpPr>
            <p:nvPr/>
          </p:nvSpPr>
          <p:spPr bwMode="auto">
            <a:xfrm>
              <a:off x="5092"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779" name="Oval 67"/>
            <p:cNvSpPr>
              <a:spLocks noChangeArrowheads="1"/>
            </p:cNvSpPr>
            <p:nvPr/>
          </p:nvSpPr>
          <p:spPr bwMode="auto">
            <a:xfrm>
              <a:off x="5428" y="3700"/>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780" name="Line 68"/>
            <p:cNvSpPr>
              <a:spLocks noChangeShapeType="1"/>
            </p:cNvSpPr>
            <p:nvPr/>
          </p:nvSpPr>
          <p:spPr bwMode="auto">
            <a:xfrm flipH="1">
              <a:off x="96" y="3360"/>
              <a:ext cx="192"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1781" name="Line 69"/>
            <p:cNvSpPr>
              <a:spLocks noChangeShapeType="1"/>
            </p:cNvSpPr>
            <p:nvPr/>
          </p:nvSpPr>
          <p:spPr bwMode="auto">
            <a:xfrm>
              <a:off x="336" y="3360"/>
              <a:ext cx="96"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1782" name="Line 70"/>
            <p:cNvSpPr>
              <a:spLocks noChangeShapeType="1"/>
            </p:cNvSpPr>
            <p:nvPr/>
          </p:nvSpPr>
          <p:spPr bwMode="auto">
            <a:xfrm flipH="1">
              <a:off x="864" y="3360"/>
              <a:ext cx="96"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1783" name="Line 71"/>
            <p:cNvSpPr>
              <a:spLocks noChangeShapeType="1"/>
            </p:cNvSpPr>
            <p:nvPr/>
          </p:nvSpPr>
          <p:spPr bwMode="auto">
            <a:xfrm>
              <a:off x="1008"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1784" name="Line 72"/>
            <p:cNvSpPr>
              <a:spLocks noChangeShapeType="1"/>
            </p:cNvSpPr>
            <p:nvPr/>
          </p:nvSpPr>
          <p:spPr bwMode="auto">
            <a:xfrm flipH="1">
              <a:off x="1584" y="3360"/>
              <a:ext cx="96"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1785" name="Line 73"/>
            <p:cNvSpPr>
              <a:spLocks noChangeShapeType="1"/>
            </p:cNvSpPr>
            <p:nvPr/>
          </p:nvSpPr>
          <p:spPr bwMode="auto">
            <a:xfrm>
              <a:off x="1728"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1786" name="Line 74"/>
            <p:cNvSpPr>
              <a:spLocks noChangeShapeType="1"/>
            </p:cNvSpPr>
            <p:nvPr/>
          </p:nvSpPr>
          <p:spPr bwMode="auto">
            <a:xfrm flipH="1">
              <a:off x="2304" y="3360"/>
              <a:ext cx="96"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1787" name="Line 75"/>
            <p:cNvSpPr>
              <a:spLocks noChangeShapeType="1"/>
            </p:cNvSpPr>
            <p:nvPr/>
          </p:nvSpPr>
          <p:spPr bwMode="auto">
            <a:xfrm>
              <a:off x="2448"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1788" name="Line 76"/>
            <p:cNvSpPr>
              <a:spLocks noChangeShapeType="1"/>
            </p:cNvSpPr>
            <p:nvPr/>
          </p:nvSpPr>
          <p:spPr bwMode="auto">
            <a:xfrm flipH="1">
              <a:off x="2976"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1789" name="Line 77"/>
            <p:cNvSpPr>
              <a:spLocks noChangeShapeType="1"/>
            </p:cNvSpPr>
            <p:nvPr/>
          </p:nvSpPr>
          <p:spPr bwMode="auto">
            <a:xfrm>
              <a:off x="3168" y="3360"/>
              <a:ext cx="192"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1790" name="Line 78"/>
            <p:cNvSpPr>
              <a:spLocks noChangeShapeType="1"/>
            </p:cNvSpPr>
            <p:nvPr/>
          </p:nvSpPr>
          <p:spPr bwMode="auto">
            <a:xfrm flipH="1">
              <a:off x="3696"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1791" name="Line 79"/>
            <p:cNvSpPr>
              <a:spLocks noChangeShapeType="1"/>
            </p:cNvSpPr>
            <p:nvPr/>
          </p:nvSpPr>
          <p:spPr bwMode="auto">
            <a:xfrm>
              <a:off x="3888" y="3360"/>
              <a:ext cx="192"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1792" name="Line 80"/>
            <p:cNvSpPr>
              <a:spLocks noChangeShapeType="1"/>
            </p:cNvSpPr>
            <p:nvPr/>
          </p:nvSpPr>
          <p:spPr bwMode="auto">
            <a:xfrm flipH="1">
              <a:off x="4416"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1793" name="Line 81"/>
            <p:cNvSpPr>
              <a:spLocks noChangeShapeType="1"/>
            </p:cNvSpPr>
            <p:nvPr/>
          </p:nvSpPr>
          <p:spPr bwMode="auto">
            <a:xfrm>
              <a:off x="4608" y="3360"/>
              <a:ext cx="192"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1794" name="Line 82"/>
            <p:cNvSpPr>
              <a:spLocks noChangeShapeType="1"/>
            </p:cNvSpPr>
            <p:nvPr/>
          </p:nvSpPr>
          <p:spPr bwMode="auto">
            <a:xfrm flipH="1">
              <a:off x="5136" y="3360"/>
              <a:ext cx="144"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1795" name="Line 83"/>
            <p:cNvSpPr>
              <a:spLocks noChangeShapeType="1"/>
            </p:cNvSpPr>
            <p:nvPr/>
          </p:nvSpPr>
          <p:spPr bwMode="auto">
            <a:xfrm>
              <a:off x="5328" y="3360"/>
              <a:ext cx="192" cy="33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71796" name="Oval 84"/>
          <p:cNvSpPr>
            <a:spLocks noChangeArrowheads="1"/>
          </p:cNvSpPr>
          <p:nvPr/>
        </p:nvSpPr>
        <p:spPr bwMode="auto">
          <a:xfrm>
            <a:off x="1187450" y="4941888"/>
            <a:ext cx="720725" cy="647700"/>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latin typeface="Times New Roman" panose="02020603050405020304" pitchFamily="18" charset="0"/>
              </a:rPr>
              <a:t>3/19</a:t>
            </a:r>
            <a:endParaRPr lang="en-US" altLang="zh-CN" sz="2000">
              <a:latin typeface="Times New Roman" panose="02020603050405020304" pitchFamily="18" charset="0"/>
            </a:endParaRPr>
          </a:p>
        </p:txBody>
      </p:sp>
      <p:sp>
        <p:nvSpPr>
          <p:cNvPr id="371797" name="Oval 85"/>
          <p:cNvSpPr>
            <a:spLocks noChangeArrowheads="1"/>
          </p:cNvSpPr>
          <p:nvPr/>
        </p:nvSpPr>
        <p:spPr bwMode="auto">
          <a:xfrm>
            <a:off x="395288" y="5661025"/>
            <a:ext cx="720725" cy="647700"/>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latin typeface="Times New Roman" panose="02020603050405020304" pitchFamily="18" charset="0"/>
              </a:rPr>
              <a:t>6/20</a:t>
            </a:r>
            <a:endParaRPr lang="en-US" altLang="zh-CN" sz="2000">
              <a:latin typeface="Times New Roman" panose="02020603050405020304" pitchFamily="18" charset="0"/>
            </a:endParaRPr>
          </a:p>
        </p:txBody>
      </p:sp>
      <p:sp>
        <p:nvSpPr>
          <p:cNvPr id="371798" name="Oval 86"/>
          <p:cNvSpPr>
            <a:spLocks noChangeArrowheads="1"/>
          </p:cNvSpPr>
          <p:nvPr/>
        </p:nvSpPr>
        <p:spPr bwMode="auto">
          <a:xfrm>
            <a:off x="179388" y="4868863"/>
            <a:ext cx="720725" cy="647700"/>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a:latin typeface="Times New Roman" panose="02020603050405020304" pitchFamily="18" charset="0"/>
              </a:rPr>
              <a:t>6/22</a:t>
            </a:r>
            <a:endParaRPr lang="en-US" altLang="zh-CN" sz="2000">
              <a:latin typeface="Times New Roman" panose="02020603050405020304" pitchFamily="18" charset="0"/>
            </a:endParaRPr>
          </a:p>
        </p:txBody>
      </p:sp>
      <p:sp>
        <p:nvSpPr>
          <p:cNvPr id="371799" name="Oval 87"/>
          <p:cNvSpPr>
            <a:spLocks noChangeArrowheads="1"/>
          </p:cNvSpPr>
          <p:nvPr/>
        </p:nvSpPr>
        <p:spPr bwMode="auto">
          <a:xfrm>
            <a:off x="6084888" y="2636838"/>
            <a:ext cx="719137" cy="647700"/>
          </a:xfrm>
          <a:prstGeom prst="ellipse">
            <a:avLst/>
          </a:prstGeom>
          <a:solidFill>
            <a:schemeClr val="tx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800" name="Oval 88"/>
          <p:cNvSpPr>
            <a:spLocks noChangeArrowheads="1"/>
          </p:cNvSpPr>
          <p:nvPr/>
        </p:nvSpPr>
        <p:spPr bwMode="auto">
          <a:xfrm>
            <a:off x="2987675" y="3860800"/>
            <a:ext cx="719138" cy="647700"/>
          </a:xfrm>
          <a:prstGeom prst="ellipse">
            <a:avLst/>
          </a:prstGeom>
          <a:solidFill>
            <a:schemeClr val="tx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801" name="Oval 89"/>
          <p:cNvSpPr>
            <a:spLocks noChangeArrowheads="1"/>
          </p:cNvSpPr>
          <p:nvPr/>
        </p:nvSpPr>
        <p:spPr bwMode="auto">
          <a:xfrm>
            <a:off x="1187450" y="4941888"/>
            <a:ext cx="719138" cy="647700"/>
          </a:xfrm>
          <a:prstGeom prst="ellipse">
            <a:avLst/>
          </a:prstGeom>
          <a:solidFill>
            <a:schemeClr val="tx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802" name="Oval 90"/>
          <p:cNvSpPr>
            <a:spLocks noChangeArrowheads="1"/>
          </p:cNvSpPr>
          <p:nvPr/>
        </p:nvSpPr>
        <p:spPr bwMode="auto">
          <a:xfrm>
            <a:off x="0" y="5734050"/>
            <a:ext cx="395288" cy="431800"/>
          </a:xfrm>
          <a:prstGeom prst="ellipse">
            <a:avLst/>
          </a:prstGeom>
          <a:solidFill>
            <a:schemeClr val="tx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71803" name="Object 91"/>
          <p:cNvGraphicFramePr>
            <a:graphicFrameLocks noChangeAspect="1"/>
          </p:cNvGraphicFramePr>
          <p:nvPr/>
        </p:nvGraphicFramePr>
        <p:xfrm>
          <a:off x="5724525" y="1052513"/>
          <a:ext cx="2020888" cy="374650"/>
        </p:xfrm>
        <a:graphic>
          <a:graphicData uri="http://schemas.openxmlformats.org/presentationml/2006/ole">
            <mc:AlternateContent xmlns:mc="http://schemas.openxmlformats.org/markup-compatibility/2006">
              <mc:Choice xmlns:v="urn:schemas-microsoft-com:vml" Requires="v">
                <p:oleObj spid="_x0000_s367618" name="公式" r:id="rId1" imgW="1091565" imgH="203200" progId="Equation.3">
                  <p:embed/>
                </p:oleObj>
              </mc:Choice>
              <mc:Fallback>
                <p:oleObj name="公式" r:id="rId1" imgW="1091565" imgH="203200" progId="Equation.3">
                  <p:embed/>
                  <p:pic>
                    <p:nvPicPr>
                      <p:cNvPr id="0" name="Object 9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4525" y="1052513"/>
                        <a:ext cx="2020888"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1804" name="Object 92"/>
          <p:cNvGraphicFramePr>
            <a:graphicFrameLocks noChangeAspect="1"/>
          </p:cNvGraphicFramePr>
          <p:nvPr/>
        </p:nvGraphicFramePr>
        <p:xfrm>
          <a:off x="5795963" y="1412875"/>
          <a:ext cx="3240087" cy="809625"/>
        </p:xfrm>
        <a:graphic>
          <a:graphicData uri="http://schemas.openxmlformats.org/presentationml/2006/ole">
            <mc:AlternateContent xmlns:mc="http://schemas.openxmlformats.org/markup-compatibility/2006">
              <mc:Choice xmlns:v="urn:schemas-microsoft-com:vml" Requires="v">
                <p:oleObj spid="_x0000_s367619" name="公式" r:id="rId3" imgW="1777365" imgH="444500" progId="Equation.3">
                  <p:embed/>
                </p:oleObj>
              </mc:Choice>
              <mc:Fallback>
                <p:oleObj name="公式" r:id="rId3" imgW="1777365" imgH="444500" progId="Equation.3">
                  <p:embed/>
                  <p:pic>
                    <p:nvPicPr>
                      <p:cNvPr id="0" name="Object 9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5963" y="1412875"/>
                        <a:ext cx="3240087" cy="80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1805" name="Object 93"/>
          <p:cNvGraphicFramePr>
            <a:graphicFrameLocks noGrp="1" noChangeAspect="1"/>
          </p:cNvGraphicFramePr>
          <p:nvPr>
            <p:ph idx="1"/>
          </p:nvPr>
        </p:nvGraphicFramePr>
        <p:xfrm>
          <a:off x="6425306" y="2228850"/>
          <a:ext cx="2467870" cy="407988"/>
        </p:xfrm>
        <a:graphic>
          <a:graphicData uri="http://schemas.openxmlformats.org/presentationml/2006/ole">
            <mc:AlternateContent xmlns:mc="http://schemas.openxmlformats.org/markup-compatibility/2006">
              <mc:Choice xmlns:v="urn:schemas-microsoft-com:vml" Requires="v">
                <p:oleObj spid="_x0000_s367620" name="公式" r:id="rId5" imgW="33223200" imgH="5486400" progId="Equation.3">
                  <p:embed/>
                </p:oleObj>
              </mc:Choice>
              <mc:Fallback>
                <p:oleObj name="公式" r:id="rId5" imgW="33223200" imgH="5486400" progId="Equation.3">
                  <p:embed/>
                  <p:pic>
                    <p:nvPicPr>
                      <p:cNvPr id="0" name="Object 93"/>
                      <p:cNvPicPr>
                        <a:picLocks noChangeAspect="1" noChangeArrowheads="1"/>
                      </p:cNvPicPr>
                      <p:nvPr/>
                    </p:nvPicPr>
                    <p:blipFill>
                      <a:blip r:embed="rId6"/>
                      <a:srcRect/>
                      <a:stretch>
                        <a:fillRect/>
                      </a:stretch>
                    </p:blipFill>
                    <p:spPr bwMode="auto">
                      <a:xfrm>
                        <a:off x="6425306" y="2228850"/>
                        <a:ext cx="2467870" cy="407988"/>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1754"/>
                                        </p:tgtEl>
                                        <p:attrNameLst>
                                          <p:attrName>style.visibility</p:attrName>
                                        </p:attrNameLst>
                                      </p:cBhvr>
                                      <p:to>
                                        <p:strVal val="visible"/>
                                      </p:to>
                                    </p:set>
                                    <p:anim calcmode="lin" valueType="num">
                                      <p:cBhvr additive="base">
                                        <p:cTn id="7" dur="500" fill="hold"/>
                                        <p:tgtEl>
                                          <p:spTgt spid="371754"/>
                                        </p:tgtEl>
                                        <p:attrNameLst>
                                          <p:attrName>ppt_x</p:attrName>
                                        </p:attrNameLst>
                                      </p:cBhvr>
                                      <p:tavLst>
                                        <p:tav tm="0">
                                          <p:val>
                                            <p:strVal val="#ppt_x"/>
                                          </p:val>
                                        </p:tav>
                                        <p:tav tm="100000">
                                          <p:val>
                                            <p:strVal val="#ppt_x"/>
                                          </p:val>
                                        </p:tav>
                                      </p:tavLst>
                                    </p:anim>
                                    <p:anim calcmode="lin" valueType="num">
                                      <p:cBhvr additive="base">
                                        <p:cTn id="8" dur="500" fill="hold"/>
                                        <p:tgtEl>
                                          <p:spTgt spid="37175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71718"/>
                                        </p:tgtEl>
                                        <p:attrNameLst>
                                          <p:attrName>style.visibility</p:attrName>
                                        </p:attrNameLst>
                                      </p:cBhvr>
                                      <p:to>
                                        <p:strVal val="visible"/>
                                      </p:to>
                                    </p:set>
                                    <p:anim calcmode="lin" valueType="num">
                                      <p:cBhvr additive="base">
                                        <p:cTn id="13" dur="500" fill="hold"/>
                                        <p:tgtEl>
                                          <p:spTgt spid="371718"/>
                                        </p:tgtEl>
                                        <p:attrNameLst>
                                          <p:attrName>ppt_x</p:attrName>
                                        </p:attrNameLst>
                                      </p:cBhvr>
                                      <p:tavLst>
                                        <p:tav tm="0">
                                          <p:val>
                                            <p:strVal val="#ppt_x"/>
                                          </p:val>
                                        </p:tav>
                                        <p:tav tm="100000">
                                          <p:val>
                                            <p:strVal val="#ppt_x"/>
                                          </p:val>
                                        </p:tav>
                                      </p:tavLst>
                                    </p:anim>
                                    <p:anim calcmode="lin" valueType="num">
                                      <p:cBhvr additive="base">
                                        <p:cTn id="14" dur="500" fill="hold"/>
                                        <p:tgtEl>
                                          <p:spTgt spid="37171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71755"/>
                                        </p:tgtEl>
                                        <p:attrNameLst>
                                          <p:attrName>style.visibility</p:attrName>
                                        </p:attrNameLst>
                                      </p:cBhvr>
                                      <p:to>
                                        <p:strVal val="visible"/>
                                      </p:to>
                                    </p:set>
                                    <p:anim calcmode="lin" valueType="num">
                                      <p:cBhvr additive="base">
                                        <p:cTn id="19" dur="500" fill="hold"/>
                                        <p:tgtEl>
                                          <p:spTgt spid="371755"/>
                                        </p:tgtEl>
                                        <p:attrNameLst>
                                          <p:attrName>ppt_x</p:attrName>
                                        </p:attrNameLst>
                                      </p:cBhvr>
                                      <p:tavLst>
                                        <p:tav tm="0">
                                          <p:val>
                                            <p:strVal val="#ppt_x"/>
                                          </p:val>
                                        </p:tav>
                                        <p:tav tm="100000">
                                          <p:val>
                                            <p:strVal val="#ppt_x"/>
                                          </p:val>
                                        </p:tav>
                                      </p:tavLst>
                                    </p:anim>
                                    <p:anim calcmode="lin" valueType="num">
                                      <p:cBhvr additive="base">
                                        <p:cTn id="20" dur="500" fill="hold"/>
                                        <p:tgtEl>
                                          <p:spTgt spid="37175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71724"/>
                                        </p:tgtEl>
                                        <p:attrNameLst>
                                          <p:attrName>style.visibility</p:attrName>
                                        </p:attrNameLst>
                                      </p:cBhvr>
                                      <p:to>
                                        <p:strVal val="visible"/>
                                      </p:to>
                                    </p:set>
                                    <p:anim calcmode="lin" valueType="num">
                                      <p:cBhvr additive="base">
                                        <p:cTn id="25" dur="500" fill="hold"/>
                                        <p:tgtEl>
                                          <p:spTgt spid="371724"/>
                                        </p:tgtEl>
                                        <p:attrNameLst>
                                          <p:attrName>ppt_x</p:attrName>
                                        </p:attrNameLst>
                                      </p:cBhvr>
                                      <p:tavLst>
                                        <p:tav tm="0">
                                          <p:val>
                                            <p:strVal val="#ppt_x"/>
                                          </p:val>
                                        </p:tav>
                                        <p:tav tm="100000">
                                          <p:val>
                                            <p:strVal val="#ppt_x"/>
                                          </p:val>
                                        </p:tav>
                                      </p:tavLst>
                                    </p:anim>
                                    <p:anim calcmode="lin" valueType="num">
                                      <p:cBhvr additive="base">
                                        <p:cTn id="26" dur="500" fill="hold"/>
                                        <p:tgtEl>
                                          <p:spTgt spid="37172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71756"/>
                                        </p:tgtEl>
                                        <p:attrNameLst>
                                          <p:attrName>style.visibility</p:attrName>
                                        </p:attrNameLst>
                                      </p:cBhvr>
                                      <p:to>
                                        <p:strVal val="visible"/>
                                      </p:to>
                                    </p:set>
                                    <p:anim calcmode="lin" valueType="num">
                                      <p:cBhvr additive="base">
                                        <p:cTn id="31" dur="500" fill="hold"/>
                                        <p:tgtEl>
                                          <p:spTgt spid="371756"/>
                                        </p:tgtEl>
                                        <p:attrNameLst>
                                          <p:attrName>ppt_x</p:attrName>
                                        </p:attrNameLst>
                                      </p:cBhvr>
                                      <p:tavLst>
                                        <p:tav tm="0">
                                          <p:val>
                                            <p:strVal val="#ppt_x"/>
                                          </p:val>
                                        </p:tav>
                                        <p:tav tm="100000">
                                          <p:val>
                                            <p:strVal val="#ppt_x"/>
                                          </p:val>
                                        </p:tav>
                                      </p:tavLst>
                                    </p:anim>
                                    <p:anim calcmode="lin" valueType="num">
                                      <p:cBhvr additive="base">
                                        <p:cTn id="32" dur="500" fill="hold"/>
                                        <p:tgtEl>
                                          <p:spTgt spid="37175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71758"/>
                                        </p:tgtEl>
                                        <p:attrNameLst>
                                          <p:attrName>style.visibility</p:attrName>
                                        </p:attrNameLst>
                                      </p:cBhvr>
                                      <p:to>
                                        <p:strVal val="visible"/>
                                      </p:to>
                                    </p:set>
                                    <p:anim calcmode="lin" valueType="num">
                                      <p:cBhvr additive="base">
                                        <p:cTn id="37" dur="500" fill="hold"/>
                                        <p:tgtEl>
                                          <p:spTgt spid="371758"/>
                                        </p:tgtEl>
                                        <p:attrNameLst>
                                          <p:attrName>ppt_x</p:attrName>
                                        </p:attrNameLst>
                                      </p:cBhvr>
                                      <p:tavLst>
                                        <p:tav tm="0">
                                          <p:val>
                                            <p:strVal val="#ppt_x"/>
                                          </p:val>
                                        </p:tav>
                                        <p:tav tm="100000">
                                          <p:val>
                                            <p:strVal val="#ppt_x"/>
                                          </p:val>
                                        </p:tav>
                                      </p:tavLst>
                                    </p:anim>
                                    <p:anim calcmode="lin" valueType="num">
                                      <p:cBhvr additive="base">
                                        <p:cTn id="38" dur="500" fill="hold"/>
                                        <p:tgtEl>
                                          <p:spTgt spid="37175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71798"/>
                                        </p:tgtEl>
                                        <p:attrNameLst>
                                          <p:attrName>style.visibility</p:attrName>
                                        </p:attrNameLst>
                                      </p:cBhvr>
                                      <p:to>
                                        <p:strVal val="visible"/>
                                      </p:to>
                                    </p:set>
                                    <p:anim calcmode="lin" valueType="num">
                                      <p:cBhvr additive="base">
                                        <p:cTn id="43" dur="500" fill="hold"/>
                                        <p:tgtEl>
                                          <p:spTgt spid="371798"/>
                                        </p:tgtEl>
                                        <p:attrNameLst>
                                          <p:attrName>ppt_x</p:attrName>
                                        </p:attrNameLst>
                                      </p:cBhvr>
                                      <p:tavLst>
                                        <p:tav tm="0">
                                          <p:val>
                                            <p:strVal val="#ppt_x"/>
                                          </p:val>
                                        </p:tav>
                                        <p:tav tm="100000">
                                          <p:val>
                                            <p:strVal val="#ppt_x"/>
                                          </p:val>
                                        </p:tav>
                                      </p:tavLst>
                                    </p:anim>
                                    <p:anim calcmode="lin" valueType="num">
                                      <p:cBhvr additive="base">
                                        <p:cTn id="44" dur="500" fill="hold"/>
                                        <p:tgtEl>
                                          <p:spTgt spid="37179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71802"/>
                                        </p:tgtEl>
                                        <p:attrNameLst>
                                          <p:attrName>style.visibility</p:attrName>
                                        </p:attrNameLst>
                                      </p:cBhvr>
                                      <p:to>
                                        <p:strVal val="visible"/>
                                      </p:to>
                                    </p:set>
                                    <p:anim calcmode="lin" valueType="num">
                                      <p:cBhvr additive="base">
                                        <p:cTn id="49" dur="500" fill="hold"/>
                                        <p:tgtEl>
                                          <p:spTgt spid="371802"/>
                                        </p:tgtEl>
                                        <p:attrNameLst>
                                          <p:attrName>ppt_x</p:attrName>
                                        </p:attrNameLst>
                                      </p:cBhvr>
                                      <p:tavLst>
                                        <p:tav tm="0">
                                          <p:val>
                                            <p:strVal val="#ppt_x"/>
                                          </p:val>
                                        </p:tav>
                                        <p:tav tm="100000">
                                          <p:val>
                                            <p:strVal val="#ppt_x"/>
                                          </p:val>
                                        </p:tav>
                                      </p:tavLst>
                                    </p:anim>
                                    <p:anim calcmode="lin" valueType="num">
                                      <p:cBhvr additive="base">
                                        <p:cTn id="50" dur="500" fill="hold"/>
                                        <p:tgtEl>
                                          <p:spTgt spid="371802"/>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71759"/>
                                        </p:tgtEl>
                                        <p:attrNameLst>
                                          <p:attrName>style.visibility</p:attrName>
                                        </p:attrNameLst>
                                      </p:cBhvr>
                                      <p:to>
                                        <p:strVal val="visible"/>
                                      </p:to>
                                    </p:set>
                                    <p:anim calcmode="lin" valueType="num">
                                      <p:cBhvr additive="base">
                                        <p:cTn id="55" dur="500" fill="hold"/>
                                        <p:tgtEl>
                                          <p:spTgt spid="371759"/>
                                        </p:tgtEl>
                                        <p:attrNameLst>
                                          <p:attrName>ppt_x</p:attrName>
                                        </p:attrNameLst>
                                      </p:cBhvr>
                                      <p:tavLst>
                                        <p:tav tm="0">
                                          <p:val>
                                            <p:strVal val="#ppt_x"/>
                                          </p:val>
                                        </p:tav>
                                        <p:tav tm="100000">
                                          <p:val>
                                            <p:strVal val="#ppt_x"/>
                                          </p:val>
                                        </p:tav>
                                      </p:tavLst>
                                    </p:anim>
                                    <p:anim calcmode="lin" valueType="num">
                                      <p:cBhvr additive="base">
                                        <p:cTn id="56" dur="500" fill="hold"/>
                                        <p:tgtEl>
                                          <p:spTgt spid="371759"/>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71797"/>
                                        </p:tgtEl>
                                        <p:attrNameLst>
                                          <p:attrName>style.visibility</p:attrName>
                                        </p:attrNameLst>
                                      </p:cBhvr>
                                      <p:to>
                                        <p:strVal val="visible"/>
                                      </p:to>
                                    </p:set>
                                    <p:anim calcmode="lin" valueType="num">
                                      <p:cBhvr additive="base">
                                        <p:cTn id="61" dur="500" fill="hold"/>
                                        <p:tgtEl>
                                          <p:spTgt spid="371797"/>
                                        </p:tgtEl>
                                        <p:attrNameLst>
                                          <p:attrName>ppt_x</p:attrName>
                                        </p:attrNameLst>
                                      </p:cBhvr>
                                      <p:tavLst>
                                        <p:tav tm="0">
                                          <p:val>
                                            <p:strVal val="#ppt_x"/>
                                          </p:val>
                                        </p:tav>
                                        <p:tav tm="100000">
                                          <p:val>
                                            <p:strVal val="#ppt_x"/>
                                          </p:val>
                                        </p:tav>
                                      </p:tavLst>
                                    </p:anim>
                                    <p:anim calcmode="lin" valueType="num">
                                      <p:cBhvr additive="base">
                                        <p:cTn id="62" dur="500" fill="hold"/>
                                        <p:tgtEl>
                                          <p:spTgt spid="371797"/>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71757"/>
                                        </p:tgtEl>
                                        <p:attrNameLst>
                                          <p:attrName>style.visibility</p:attrName>
                                        </p:attrNameLst>
                                      </p:cBhvr>
                                      <p:to>
                                        <p:strVal val="visible"/>
                                      </p:to>
                                    </p:set>
                                    <p:anim calcmode="lin" valueType="num">
                                      <p:cBhvr additive="base">
                                        <p:cTn id="67" dur="500" fill="hold"/>
                                        <p:tgtEl>
                                          <p:spTgt spid="371757"/>
                                        </p:tgtEl>
                                        <p:attrNameLst>
                                          <p:attrName>ppt_x</p:attrName>
                                        </p:attrNameLst>
                                      </p:cBhvr>
                                      <p:tavLst>
                                        <p:tav tm="0">
                                          <p:val>
                                            <p:strVal val="#ppt_x"/>
                                          </p:val>
                                        </p:tav>
                                        <p:tav tm="100000">
                                          <p:val>
                                            <p:strVal val="#ppt_x"/>
                                          </p:val>
                                        </p:tav>
                                      </p:tavLst>
                                    </p:anim>
                                    <p:anim calcmode="lin" valueType="num">
                                      <p:cBhvr additive="base">
                                        <p:cTn id="68" dur="500" fill="hold"/>
                                        <p:tgtEl>
                                          <p:spTgt spid="371757"/>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71752"/>
                                        </p:tgtEl>
                                        <p:attrNameLst>
                                          <p:attrName>style.visibility</p:attrName>
                                        </p:attrNameLst>
                                      </p:cBhvr>
                                      <p:to>
                                        <p:strVal val="visible"/>
                                      </p:to>
                                    </p:set>
                                    <p:anim calcmode="lin" valueType="num">
                                      <p:cBhvr additive="base">
                                        <p:cTn id="73" dur="500" fill="hold"/>
                                        <p:tgtEl>
                                          <p:spTgt spid="371752"/>
                                        </p:tgtEl>
                                        <p:attrNameLst>
                                          <p:attrName>ppt_x</p:attrName>
                                        </p:attrNameLst>
                                      </p:cBhvr>
                                      <p:tavLst>
                                        <p:tav tm="0">
                                          <p:val>
                                            <p:strVal val="#ppt_x"/>
                                          </p:val>
                                        </p:tav>
                                        <p:tav tm="100000">
                                          <p:val>
                                            <p:strVal val="#ppt_x"/>
                                          </p:val>
                                        </p:tav>
                                      </p:tavLst>
                                    </p:anim>
                                    <p:anim calcmode="lin" valueType="num">
                                      <p:cBhvr additive="base">
                                        <p:cTn id="74" dur="500" fill="hold"/>
                                        <p:tgtEl>
                                          <p:spTgt spid="371752"/>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371751"/>
                                        </p:tgtEl>
                                        <p:attrNameLst>
                                          <p:attrName>style.visibility</p:attrName>
                                        </p:attrNameLst>
                                      </p:cBhvr>
                                      <p:to>
                                        <p:strVal val="visible"/>
                                      </p:to>
                                    </p:set>
                                    <p:anim calcmode="lin" valueType="num">
                                      <p:cBhvr additive="base">
                                        <p:cTn id="79" dur="500" fill="hold"/>
                                        <p:tgtEl>
                                          <p:spTgt spid="371751"/>
                                        </p:tgtEl>
                                        <p:attrNameLst>
                                          <p:attrName>ppt_x</p:attrName>
                                        </p:attrNameLst>
                                      </p:cBhvr>
                                      <p:tavLst>
                                        <p:tav tm="0">
                                          <p:val>
                                            <p:strVal val="#ppt_x"/>
                                          </p:val>
                                        </p:tav>
                                        <p:tav tm="100000">
                                          <p:val>
                                            <p:strVal val="#ppt_x"/>
                                          </p:val>
                                        </p:tav>
                                      </p:tavLst>
                                    </p:anim>
                                    <p:anim calcmode="lin" valueType="num">
                                      <p:cBhvr additive="base">
                                        <p:cTn id="80" dur="500" fill="hold"/>
                                        <p:tgtEl>
                                          <p:spTgt spid="371751"/>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371796"/>
                                        </p:tgtEl>
                                        <p:attrNameLst>
                                          <p:attrName>style.visibility</p:attrName>
                                        </p:attrNameLst>
                                      </p:cBhvr>
                                      <p:to>
                                        <p:strVal val="visible"/>
                                      </p:to>
                                    </p:set>
                                    <p:anim calcmode="lin" valueType="num">
                                      <p:cBhvr additive="base">
                                        <p:cTn id="85" dur="500" fill="hold"/>
                                        <p:tgtEl>
                                          <p:spTgt spid="371796"/>
                                        </p:tgtEl>
                                        <p:attrNameLst>
                                          <p:attrName>ppt_x</p:attrName>
                                        </p:attrNameLst>
                                      </p:cBhvr>
                                      <p:tavLst>
                                        <p:tav tm="0">
                                          <p:val>
                                            <p:strVal val="#ppt_x"/>
                                          </p:val>
                                        </p:tav>
                                        <p:tav tm="100000">
                                          <p:val>
                                            <p:strVal val="#ppt_x"/>
                                          </p:val>
                                        </p:tav>
                                      </p:tavLst>
                                    </p:anim>
                                    <p:anim calcmode="lin" valueType="num">
                                      <p:cBhvr additive="base">
                                        <p:cTn id="86" dur="500" fill="hold"/>
                                        <p:tgtEl>
                                          <p:spTgt spid="371796"/>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371801"/>
                                        </p:tgtEl>
                                        <p:attrNameLst>
                                          <p:attrName>style.visibility</p:attrName>
                                        </p:attrNameLst>
                                      </p:cBhvr>
                                      <p:to>
                                        <p:strVal val="visible"/>
                                      </p:to>
                                    </p:set>
                                    <p:anim calcmode="lin" valueType="num">
                                      <p:cBhvr additive="base">
                                        <p:cTn id="91" dur="500" fill="hold"/>
                                        <p:tgtEl>
                                          <p:spTgt spid="371801"/>
                                        </p:tgtEl>
                                        <p:attrNameLst>
                                          <p:attrName>ppt_x</p:attrName>
                                        </p:attrNameLst>
                                      </p:cBhvr>
                                      <p:tavLst>
                                        <p:tav tm="0">
                                          <p:val>
                                            <p:strVal val="#ppt_x"/>
                                          </p:val>
                                        </p:tav>
                                        <p:tav tm="100000">
                                          <p:val>
                                            <p:strVal val="#ppt_x"/>
                                          </p:val>
                                        </p:tav>
                                      </p:tavLst>
                                    </p:anim>
                                    <p:anim calcmode="lin" valueType="num">
                                      <p:cBhvr additive="base">
                                        <p:cTn id="92" dur="500" fill="hold"/>
                                        <p:tgtEl>
                                          <p:spTgt spid="371801"/>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xit" presetSubtype="4" fill="hold" grpId="1" nodeType="clickEffect">
                                  <p:stCondLst>
                                    <p:cond delay="0"/>
                                  </p:stCondLst>
                                  <p:childTnLst>
                                    <p:anim calcmode="lin" valueType="num">
                                      <p:cBhvr additive="base">
                                        <p:cTn id="96" dur="500"/>
                                        <p:tgtEl>
                                          <p:spTgt spid="371751"/>
                                        </p:tgtEl>
                                        <p:attrNameLst>
                                          <p:attrName>ppt_x</p:attrName>
                                        </p:attrNameLst>
                                      </p:cBhvr>
                                      <p:tavLst>
                                        <p:tav tm="0">
                                          <p:val>
                                            <p:strVal val="ppt_x"/>
                                          </p:val>
                                        </p:tav>
                                        <p:tav tm="100000">
                                          <p:val>
                                            <p:strVal val="ppt_x"/>
                                          </p:val>
                                        </p:tav>
                                      </p:tavLst>
                                    </p:anim>
                                    <p:anim calcmode="lin" valueType="num">
                                      <p:cBhvr additive="base">
                                        <p:cTn id="97" dur="500"/>
                                        <p:tgtEl>
                                          <p:spTgt spid="371751"/>
                                        </p:tgtEl>
                                        <p:attrNameLst>
                                          <p:attrName>ppt_y</p:attrName>
                                        </p:attrNameLst>
                                      </p:cBhvr>
                                      <p:tavLst>
                                        <p:tav tm="0">
                                          <p:val>
                                            <p:strVal val="ppt_y"/>
                                          </p:val>
                                        </p:tav>
                                        <p:tav tm="100000">
                                          <p:val>
                                            <p:strVal val="1+ppt_h/2"/>
                                          </p:val>
                                        </p:tav>
                                      </p:tavLst>
                                    </p:anim>
                                    <p:set>
                                      <p:cBhvr>
                                        <p:cTn id="98" dur="1" fill="hold">
                                          <p:stCondLst>
                                            <p:cond delay="499"/>
                                          </p:stCondLst>
                                        </p:cTn>
                                        <p:tgtEl>
                                          <p:spTgt spid="371751"/>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371727"/>
                                        </p:tgtEl>
                                        <p:attrNameLst>
                                          <p:attrName>style.visibility</p:attrName>
                                        </p:attrNameLst>
                                      </p:cBhvr>
                                      <p:to>
                                        <p:strVal val="visible"/>
                                      </p:to>
                                    </p:set>
                                    <p:anim calcmode="lin" valueType="num">
                                      <p:cBhvr additive="base">
                                        <p:cTn id="103" dur="500" fill="hold"/>
                                        <p:tgtEl>
                                          <p:spTgt spid="371727"/>
                                        </p:tgtEl>
                                        <p:attrNameLst>
                                          <p:attrName>ppt_x</p:attrName>
                                        </p:attrNameLst>
                                      </p:cBhvr>
                                      <p:tavLst>
                                        <p:tav tm="0">
                                          <p:val>
                                            <p:strVal val="#ppt_x"/>
                                          </p:val>
                                        </p:tav>
                                        <p:tav tm="100000">
                                          <p:val>
                                            <p:strVal val="#ppt_x"/>
                                          </p:val>
                                        </p:tav>
                                      </p:tavLst>
                                    </p:anim>
                                    <p:anim calcmode="lin" valueType="num">
                                      <p:cBhvr additive="base">
                                        <p:cTn id="104" dur="500" fill="hold"/>
                                        <p:tgtEl>
                                          <p:spTgt spid="371727"/>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371760"/>
                                        </p:tgtEl>
                                        <p:attrNameLst>
                                          <p:attrName>style.visibility</p:attrName>
                                        </p:attrNameLst>
                                      </p:cBhvr>
                                      <p:to>
                                        <p:strVal val="visible"/>
                                      </p:to>
                                    </p:set>
                                    <p:anim calcmode="lin" valueType="num">
                                      <p:cBhvr additive="base">
                                        <p:cTn id="109" dur="500" fill="hold"/>
                                        <p:tgtEl>
                                          <p:spTgt spid="371760"/>
                                        </p:tgtEl>
                                        <p:attrNameLst>
                                          <p:attrName>ppt_x</p:attrName>
                                        </p:attrNameLst>
                                      </p:cBhvr>
                                      <p:tavLst>
                                        <p:tav tm="0">
                                          <p:val>
                                            <p:strVal val="#ppt_x"/>
                                          </p:val>
                                        </p:tav>
                                        <p:tav tm="100000">
                                          <p:val>
                                            <p:strVal val="#ppt_x"/>
                                          </p:val>
                                        </p:tav>
                                      </p:tavLst>
                                    </p:anim>
                                    <p:anim calcmode="lin" valueType="num">
                                      <p:cBhvr additive="base">
                                        <p:cTn id="110" dur="500" fill="hold"/>
                                        <p:tgtEl>
                                          <p:spTgt spid="371760"/>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371800"/>
                                        </p:tgtEl>
                                        <p:attrNameLst>
                                          <p:attrName>style.visibility</p:attrName>
                                        </p:attrNameLst>
                                      </p:cBhvr>
                                      <p:to>
                                        <p:strVal val="visible"/>
                                      </p:to>
                                    </p:set>
                                    <p:anim calcmode="lin" valueType="num">
                                      <p:cBhvr additive="base">
                                        <p:cTn id="115" dur="500" fill="hold"/>
                                        <p:tgtEl>
                                          <p:spTgt spid="371800"/>
                                        </p:tgtEl>
                                        <p:attrNameLst>
                                          <p:attrName>ppt_x</p:attrName>
                                        </p:attrNameLst>
                                      </p:cBhvr>
                                      <p:tavLst>
                                        <p:tav tm="0">
                                          <p:val>
                                            <p:strVal val="#ppt_x"/>
                                          </p:val>
                                        </p:tav>
                                        <p:tav tm="100000">
                                          <p:val>
                                            <p:strVal val="#ppt_x"/>
                                          </p:val>
                                        </p:tav>
                                      </p:tavLst>
                                    </p:anim>
                                    <p:anim calcmode="lin" valueType="num">
                                      <p:cBhvr additive="base">
                                        <p:cTn id="116" dur="500" fill="hold"/>
                                        <p:tgtEl>
                                          <p:spTgt spid="371800"/>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xit" presetSubtype="4" fill="hold" grpId="1" nodeType="clickEffect">
                                  <p:stCondLst>
                                    <p:cond delay="0"/>
                                  </p:stCondLst>
                                  <p:childTnLst>
                                    <p:anim calcmode="lin" valueType="num">
                                      <p:cBhvr additive="base">
                                        <p:cTn id="120" dur="500"/>
                                        <p:tgtEl>
                                          <p:spTgt spid="371727"/>
                                        </p:tgtEl>
                                        <p:attrNameLst>
                                          <p:attrName>ppt_x</p:attrName>
                                        </p:attrNameLst>
                                      </p:cBhvr>
                                      <p:tavLst>
                                        <p:tav tm="0">
                                          <p:val>
                                            <p:strVal val="ppt_x"/>
                                          </p:val>
                                        </p:tav>
                                        <p:tav tm="100000">
                                          <p:val>
                                            <p:strVal val="ppt_x"/>
                                          </p:val>
                                        </p:tav>
                                      </p:tavLst>
                                    </p:anim>
                                    <p:anim calcmode="lin" valueType="num">
                                      <p:cBhvr additive="base">
                                        <p:cTn id="121" dur="500"/>
                                        <p:tgtEl>
                                          <p:spTgt spid="371727"/>
                                        </p:tgtEl>
                                        <p:attrNameLst>
                                          <p:attrName>ppt_y</p:attrName>
                                        </p:attrNameLst>
                                      </p:cBhvr>
                                      <p:tavLst>
                                        <p:tav tm="0">
                                          <p:val>
                                            <p:strVal val="ppt_y"/>
                                          </p:val>
                                        </p:tav>
                                        <p:tav tm="100000">
                                          <p:val>
                                            <p:strVal val="1+ppt_h/2"/>
                                          </p:val>
                                        </p:tav>
                                      </p:tavLst>
                                    </p:anim>
                                    <p:set>
                                      <p:cBhvr>
                                        <p:cTn id="122" dur="1" fill="hold">
                                          <p:stCondLst>
                                            <p:cond delay="499"/>
                                          </p:stCondLst>
                                        </p:cTn>
                                        <p:tgtEl>
                                          <p:spTgt spid="371727"/>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grpId="0" nodeType="clickEffect">
                                  <p:stCondLst>
                                    <p:cond delay="0"/>
                                  </p:stCondLst>
                                  <p:childTnLst>
                                    <p:set>
                                      <p:cBhvr>
                                        <p:cTn id="126" dur="1" fill="hold">
                                          <p:stCondLst>
                                            <p:cond delay="0"/>
                                          </p:stCondLst>
                                        </p:cTn>
                                        <p:tgtEl>
                                          <p:spTgt spid="371761"/>
                                        </p:tgtEl>
                                        <p:attrNameLst>
                                          <p:attrName>style.visibility</p:attrName>
                                        </p:attrNameLst>
                                      </p:cBhvr>
                                      <p:to>
                                        <p:strVal val="visible"/>
                                      </p:to>
                                    </p:set>
                                    <p:anim calcmode="lin" valueType="num">
                                      <p:cBhvr additive="base">
                                        <p:cTn id="127" dur="500" fill="hold"/>
                                        <p:tgtEl>
                                          <p:spTgt spid="371761"/>
                                        </p:tgtEl>
                                        <p:attrNameLst>
                                          <p:attrName>ppt_x</p:attrName>
                                        </p:attrNameLst>
                                      </p:cBhvr>
                                      <p:tavLst>
                                        <p:tav tm="0">
                                          <p:val>
                                            <p:strVal val="#ppt_x"/>
                                          </p:val>
                                        </p:tav>
                                        <p:tav tm="100000">
                                          <p:val>
                                            <p:strVal val="#ppt_x"/>
                                          </p:val>
                                        </p:tav>
                                      </p:tavLst>
                                    </p:anim>
                                    <p:anim calcmode="lin" valueType="num">
                                      <p:cBhvr additive="base">
                                        <p:cTn id="128" dur="500" fill="hold"/>
                                        <p:tgtEl>
                                          <p:spTgt spid="371761"/>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grpId="0" nodeType="clickEffect">
                                  <p:stCondLst>
                                    <p:cond delay="0"/>
                                  </p:stCondLst>
                                  <p:childTnLst>
                                    <p:set>
                                      <p:cBhvr>
                                        <p:cTn id="132" dur="1" fill="hold">
                                          <p:stCondLst>
                                            <p:cond delay="0"/>
                                          </p:stCondLst>
                                        </p:cTn>
                                        <p:tgtEl>
                                          <p:spTgt spid="371762"/>
                                        </p:tgtEl>
                                        <p:attrNameLst>
                                          <p:attrName>style.visibility</p:attrName>
                                        </p:attrNameLst>
                                      </p:cBhvr>
                                      <p:to>
                                        <p:strVal val="visible"/>
                                      </p:to>
                                    </p:set>
                                    <p:anim calcmode="lin" valueType="num">
                                      <p:cBhvr additive="base">
                                        <p:cTn id="133" dur="500" fill="hold"/>
                                        <p:tgtEl>
                                          <p:spTgt spid="371762"/>
                                        </p:tgtEl>
                                        <p:attrNameLst>
                                          <p:attrName>ppt_x</p:attrName>
                                        </p:attrNameLst>
                                      </p:cBhvr>
                                      <p:tavLst>
                                        <p:tav tm="0">
                                          <p:val>
                                            <p:strVal val="#ppt_x"/>
                                          </p:val>
                                        </p:tav>
                                        <p:tav tm="100000">
                                          <p:val>
                                            <p:strVal val="#ppt_x"/>
                                          </p:val>
                                        </p:tav>
                                      </p:tavLst>
                                    </p:anim>
                                    <p:anim calcmode="lin" valueType="num">
                                      <p:cBhvr additive="base">
                                        <p:cTn id="134" dur="500" fill="hold"/>
                                        <p:tgtEl>
                                          <p:spTgt spid="371762"/>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grpId="0" nodeType="clickEffect">
                                  <p:stCondLst>
                                    <p:cond delay="0"/>
                                  </p:stCondLst>
                                  <p:childTnLst>
                                    <p:set>
                                      <p:cBhvr>
                                        <p:cTn id="138" dur="1" fill="hold">
                                          <p:stCondLst>
                                            <p:cond delay="0"/>
                                          </p:stCondLst>
                                        </p:cTn>
                                        <p:tgtEl>
                                          <p:spTgt spid="371799"/>
                                        </p:tgtEl>
                                        <p:attrNameLst>
                                          <p:attrName>style.visibility</p:attrName>
                                        </p:attrNameLst>
                                      </p:cBhvr>
                                      <p:to>
                                        <p:strVal val="visible"/>
                                      </p:to>
                                    </p:set>
                                    <p:anim calcmode="lin" valueType="num">
                                      <p:cBhvr additive="base">
                                        <p:cTn id="139" dur="500" fill="hold"/>
                                        <p:tgtEl>
                                          <p:spTgt spid="371799"/>
                                        </p:tgtEl>
                                        <p:attrNameLst>
                                          <p:attrName>ppt_x</p:attrName>
                                        </p:attrNameLst>
                                      </p:cBhvr>
                                      <p:tavLst>
                                        <p:tav tm="0">
                                          <p:val>
                                            <p:strVal val="#ppt_x"/>
                                          </p:val>
                                        </p:tav>
                                        <p:tav tm="100000">
                                          <p:val>
                                            <p:strVal val="#ppt_x"/>
                                          </p:val>
                                        </p:tav>
                                      </p:tavLst>
                                    </p:anim>
                                    <p:anim calcmode="lin" valueType="num">
                                      <p:cBhvr additive="base">
                                        <p:cTn id="140" dur="500" fill="hold"/>
                                        <p:tgtEl>
                                          <p:spTgt spid="371799"/>
                                        </p:tgtEl>
                                        <p:attrNameLst>
                                          <p:attrName>ppt_y</p:attrName>
                                        </p:attrNameLst>
                                      </p:cBhvr>
                                      <p:tavLst>
                                        <p:tav tm="0">
                                          <p:val>
                                            <p:strVal val="1+#ppt_h/2"/>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xit" presetSubtype="4" fill="hold" grpId="1" nodeType="clickEffect">
                                  <p:stCondLst>
                                    <p:cond delay="0"/>
                                  </p:stCondLst>
                                  <p:childTnLst>
                                    <p:anim calcmode="lin" valueType="num">
                                      <p:cBhvr additive="base">
                                        <p:cTn id="144" dur="500"/>
                                        <p:tgtEl>
                                          <p:spTgt spid="371761"/>
                                        </p:tgtEl>
                                        <p:attrNameLst>
                                          <p:attrName>ppt_x</p:attrName>
                                        </p:attrNameLst>
                                      </p:cBhvr>
                                      <p:tavLst>
                                        <p:tav tm="0">
                                          <p:val>
                                            <p:strVal val="ppt_x"/>
                                          </p:val>
                                        </p:tav>
                                        <p:tav tm="100000">
                                          <p:val>
                                            <p:strVal val="ppt_x"/>
                                          </p:val>
                                        </p:tav>
                                      </p:tavLst>
                                    </p:anim>
                                    <p:anim calcmode="lin" valueType="num">
                                      <p:cBhvr additive="base">
                                        <p:cTn id="145" dur="500"/>
                                        <p:tgtEl>
                                          <p:spTgt spid="371761"/>
                                        </p:tgtEl>
                                        <p:attrNameLst>
                                          <p:attrName>ppt_y</p:attrName>
                                        </p:attrNameLst>
                                      </p:cBhvr>
                                      <p:tavLst>
                                        <p:tav tm="0">
                                          <p:val>
                                            <p:strVal val="ppt_y"/>
                                          </p:val>
                                        </p:tav>
                                        <p:tav tm="100000">
                                          <p:val>
                                            <p:strVal val="1+ppt_h/2"/>
                                          </p:val>
                                        </p:tav>
                                      </p:tavLst>
                                    </p:anim>
                                    <p:set>
                                      <p:cBhvr>
                                        <p:cTn id="146" dur="1" fill="hold">
                                          <p:stCondLst>
                                            <p:cond delay="499"/>
                                          </p:stCondLst>
                                        </p:cTn>
                                        <p:tgtEl>
                                          <p:spTgt spid="37176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8" grpId="0"/>
      <p:bldP spid="371724" grpId="0"/>
      <p:bldP spid="371727" grpId="0"/>
      <p:bldP spid="371727" grpId="1"/>
      <p:bldP spid="371751" grpId="0"/>
      <p:bldP spid="371751" grpId="1"/>
      <p:bldP spid="371752" grpId="0"/>
      <p:bldP spid="371754" grpId="0" animBg="1"/>
      <p:bldP spid="371755" grpId="0" animBg="1"/>
      <p:bldP spid="371756" grpId="0" animBg="1"/>
      <p:bldP spid="371757" grpId="0"/>
      <p:bldP spid="371758" grpId="0"/>
      <p:bldP spid="371759" grpId="0"/>
      <p:bldP spid="371760" grpId="0" animBg="1"/>
      <p:bldP spid="371761" grpId="0"/>
      <p:bldP spid="371761" grpId="1"/>
      <p:bldP spid="371762" grpId="0" animBg="1"/>
      <p:bldP spid="371796" grpId="0" animBg="1"/>
      <p:bldP spid="371797" grpId="0" animBg="1"/>
      <p:bldP spid="371798" grpId="0" animBg="1"/>
      <p:bldP spid="371799" grpId="0" animBg="1"/>
      <p:bldP spid="371800" grpId="0" animBg="1"/>
      <p:bldP spid="371801" grpId="0" animBg="1"/>
      <p:bldP spid="37180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fld id="{C71746D0-F098-4DDC-A823-099B4F9AD7E1}" type="slidenum">
              <a:rPr lang="en-US" altLang="zh-CN"/>
            </a:fld>
            <a:endParaRPr lang="en-US" altLang="zh-CN"/>
          </a:p>
        </p:txBody>
      </p:sp>
      <p:sp>
        <p:nvSpPr>
          <p:cNvPr id="372738" name="Rectangle 2"/>
          <p:cNvSpPr>
            <a:spLocks noChangeArrowheads="1"/>
          </p:cNvSpPr>
          <p:nvPr/>
        </p:nvSpPr>
        <p:spPr bwMode="auto">
          <a:xfrm>
            <a:off x="611188"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en-US" sz="3900" b="1">
                <a:solidFill>
                  <a:schemeClr val="tx2"/>
                </a:solidFill>
                <a:effectLst>
                  <a:outerShdw blurRad="38100" dist="38100" dir="2700000" algn="tl">
                    <a:srgbClr val="C0C0C0"/>
                  </a:outerShdw>
                </a:effectLst>
                <a:ea typeface="黑体" panose="02010609060101010101" pitchFamily="49" charset="-122"/>
              </a:rPr>
              <a:t>0-1背包问题</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sp>
        <p:nvSpPr>
          <p:cNvPr id="372739" name="Text Box 3"/>
          <p:cNvSpPr txBox="1">
            <a:spLocks noChangeArrowheads="1"/>
          </p:cNvSpPr>
          <p:nvPr/>
        </p:nvSpPr>
        <p:spPr bwMode="auto">
          <a:xfrm>
            <a:off x="323850" y="765175"/>
            <a:ext cx="786765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FontTx/>
              <a:buChar char="•"/>
            </a:pPr>
            <a:r>
              <a:rPr lang="zh-CN" altLang="en-US" sz="2400">
                <a:ea typeface="新宋体" panose="02010609030101010101" charset="-122"/>
              </a:rPr>
              <a:t>解空间：子集树</a:t>
            </a:r>
            <a:endParaRPr lang="zh-CN" altLang="en-US" sz="2400">
              <a:ea typeface="新宋体" panose="02010609030101010101" charset="-122"/>
            </a:endParaRPr>
          </a:p>
          <a:p>
            <a:pPr>
              <a:buClr>
                <a:schemeClr val="accent2"/>
              </a:buClr>
              <a:buFontTx/>
              <a:buChar char="•"/>
            </a:pPr>
            <a:r>
              <a:rPr lang="zh-CN" altLang="en-US" sz="2400">
                <a:ea typeface="新宋体" panose="02010609030101010101" charset="-122"/>
              </a:rPr>
              <a:t>可行性约束函数：</a:t>
            </a:r>
            <a:endParaRPr lang="zh-CN" altLang="en-US" sz="2400">
              <a:ea typeface="新宋体" panose="02010609030101010101" charset="-122"/>
            </a:endParaRPr>
          </a:p>
          <a:p>
            <a:pPr>
              <a:buClr>
                <a:schemeClr val="accent2"/>
              </a:buClr>
              <a:buFontTx/>
              <a:buChar char="•"/>
            </a:pPr>
            <a:r>
              <a:rPr lang="zh-CN" altLang="en-US" sz="2400">
                <a:ea typeface="新宋体" panose="02010609030101010101" charset="-122"/>
              </a:rPr>
              <a:t>上界函数：</a:t>
            </a:r>
            <a:endParaRPr lang="zh-CN" altLang="en-US" sz="2400">
              <a:ea typeface="新宋体" panose="02010609030101010101" charset="-122"/>
            </a:endParaRPr>
          </a:p>
        </p:txBody>
      </p:sp>
      <p:pic>
        <p:nvPicPr>
          <p:cNvPr id="372740" name="Picture 4" descr="t5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76825" y="1125538"/>
            <a:ext cx="3671888"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72741" name="Object 5"/>
          <p:cNvGraphicFramePr>
            <a:graphicFrameLocks noChangeAspect="1"/>
          </p:cNvGraphicFramePr>
          <p:nvPr/>
        </p:nvGraphicFramePr>
        <p:xfrm>
          <a:off x="2843213" y="981075"/>
          <a:ext cx="1368425" cy="768350"/>
        </p:xfrm>
        <a:graphic>
          <a:graphicData uri="http://schemas.openxmlformats.org/presentationml/2006/ole">
            <mc:AlternateContent xmlns:mc="http://schemas.openxmlformats.org/markup-compatibility/2006">
              <mc:Choice xmlns:v="urn:schemas-microsoft-com:vml" Requires="v">
                <p:oleObj spid="_x0000_s368642" name="公式" r:id="rId2" imgW="761365" imgH="431800" progId="Equation.3">
                  <p:embed/>
                </p:oleObj>
              </mc:Choice>
              <mc:Fallback>
                <p:oleObj name="公式" r:id="rId2" imgW="761365" imgH="4318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213" y="981075"/>
                        <a:ext cx="1368425" cy="768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2742" name="Text Box 6"/>
          <p:cNvSpPr txBox="1">
            <a:spLocks noChangeArrowheads="1"/>
          </p:cNvSpPr>
          <p:nvPr/>
        </p:nvSpPr>
        <p:spPr bwMode="auto">
          <a:xfrm>
            <a:off x="468313" y="1916113"/>
            <a:ext cx="5637212" cy="4854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nSpc>
                <a:spcPct val="130000"/>
              </a:lnSpc>
            </a:pPr>
            <a:r>
              <a:rPr kumimoji="1" lang="en-US" altLang="zh-CN" sz="1600"/>
              <a:t>template&lt;class Typew, class Typep&gt;</a:t>
            </a:r>
            <a:endParaRPr kumimoji="1" lang="en-US" altLang="zh-CN" sz="1600"/>
          </a:p>
          <a:p>
            <a:pPr>
              <a:lnSpc>
                <a:spcPct val="130000"/>
              </a:lnSpc>
            </a:pPr>
            <a:r>
              <a:rPr kumimoji="1" lang="en-US" altLang="zh-CN" sz="1600"/>
              <a:t>Typep Knap&lt;Typew, Typep&gt;::</a:t>
            </a:r>
            <a:r>
              <a:rPr kumimoji="1" lang="en-US" altLang="zh-CN" sz="1600" b="1"/>
              <a:t>Bound</a:t>
            </a:r>
            <a:r>
              <a:rPr kumimoji="1" lang="en-US" altLang="zh-CN" sz="1600"/>
              <a:t>(int i)</a:t>
            </a:r>
            <a:endParaRPr kumimoji="1" lang="en-US" altLang="zh-CN" sz="1600"/>
          </a:p>
          <a:p>
            <a:pPr>
              <a:lnSpc>
                <a:spcPct val="130000"/>
              </a:lnSpc>
            </a:pPr>
            <a:r>
              <a:rPr kumimoji="1" lang="en-US" altLang="zh-CN" sz="1600"/>
              <a:t>{// </a:t>
            </a:r>
            <a:r>
              <a:rPr kumimoji="1" lang="zh-CN" altLang="en-US" sz="1600"/>
              <a:t>计算上界</a:t>
            </a:r>
            <a:endParaRPr kumimoji="1" lang="zh-CN" altLang="en-US" sz="1600"/>
          </a:p>
          <a:p>
            <a:pPr>
              <a:lnSpc>
                <a:spcPct val="130000"/>
              </a:lnSpc>
            </a:pPr>
            <a:r>
              <a:rPr kumimoji="1" lang="zh-CN" altLang="en-US" sz="1600"/>
              <a:t>   </a:t>
            </a:r>
            <a:r>
              <a:rPr kumimoji="1" lang="en-US" altLang="zh-CN" sz="1600"/>
              <a:t>Typew cleft = c - cw;  // </a:t>
            </a:r>
            <a:r>
              <a:rPr kumimoji="1" lang="zh-CN" altLang="en-US" sz="1600"/>
              <a:t>剩余容量</a:t>
            </a:r>
            <a:endParaRPr kumimoji="1" lang="zh-CN" altLang="en-US" sz="1600"/>
          </a:p>
          <a:p>
            <a:pPr>
              <a:lnSpc>
                <a:spcPct val="130000"/>
              </a:lnSpc>
            </a:pPr>
            <a:r>
              <a:rPr kumimoji="1" lang="zh-CN" altLang="en-US" sz="1600"/>
              <a:t>   </a:t>
            </a:r>
            <a:r>
              <a:rPr kumimoji="1" lang="en-US" altLang="zh-CN" sz="1600"/>
              <a:t>Typep b = cp;</a:t>
            </a:r>
            <a:endParaRPr kumimoji="1" lang="en-US" altLang="zh-CN" sz="1600"/>
          </a:p>
          <a:p>
            <a:pPr>
              <a:lnSpc>
                <a:spcPct val="130000"/>
              </a:lnSpc>
            </a:pPr>
            <a:r>
              <a:rPr kumimoji="1" lang="en-US" altLang="zh-CN" sz="1600"/>
              <a:t>   // </a:t>
            </a:r>
            <a:r>
              <a:rPr kumimoji="1" lang="zh-CN" altLang="en-US" sz="1600"/>
              <a:t>以物品单位重量价值递减序装入物品</a:t>
            </a:r>
            <a:endParaRPr kumimoji="1" lang="zh-CN" altLang="en-US" sz="1600"/>
          </a:p>
          <a:p>
            <a:pPr>
              <a:lnSpc>
                <a:spcPct val="130000"/>
              </a:lnSpc>
            </a:pPr>
            <a:r>
              <a:rPr kumimoji="1" lang="zh-CN" altLang="en-US" sz="1600"/>
              <a:t>   </a:t>
            </a:r>
            <a:r>
              <a:rPr kumimoji="1" lang="en-US" altLang="zh-CN" sz="1600"/>
              <a:t>while (i &lt;= n &amp;&amp; w[i] &lt;= cleft) {</a:t>
            </a:r>
            <a:endParaRPr kumimoji="1" lang="en-US" altLang="zh-CN" sz="1600"/>
          </a:p>
          <a:p>
            <a:pPr>
              <a:lnSpc>
                <a:spcPct val="130000"/>
              </a:lnSpc>
            </a:pPr>
            <a:r>
              <a:rPr kumimoji="1" lang="en-US" altLang="zh-CN" sz="1600"/>
              <a:t>      cleft -= w[i];</a:t>
            </a:r>
            <a:endParaRPr kumimoji="1" lang="en-US" altLang="zh-CN" sz="1600"/>
          </a:p>
          <a:p>
            <a:pPr>
              <a:lnSpc>
                <a:spcPct val="130000"/>
              </a:lnSpc>
            </a:pPr>
            <a:r>
              <a:rPr kumimoji="1" lang="en-US" altLang="zh-CN" sz="1600"/>
              <a:t>      b += p[i];</a:t>
            </a:r>
            <a:endParaRPr kumimoji="1" lang="en-US" altLang="zh-CN" sz="1600"/>
          </a:p>
          <a:p>
            <a:pPr>
              <a:lnSpc>
                <a:spcPct val="130000"/>
              </a:lnSpc>
            </a:pPr>
            <a:r>
              <a:rPr kumimoji="1" lang="en-US" altLang="zh-CN" sz="1600"/>
              <a:t>      i++;</a:t>
            </a:r>
            <a:endParaRPr kumimoji="1" lang="en-US" altLang="zh-CN" sz="1600"/>
          </a:p>
          <a:p>
            <a:pPr>
              <a:lnSpc>
                <a:spcPct val="130000"/>
              </a:lnSpc>
            </a:pPr>
            <a:r>
              <a:rPr kumimoji="1" lang="en-US" altLang="zh-CN" sz="1600"/>
              <a:t>      }</a:t>
            </a:r>
            <a:endParaRPr kumimoji="1" lang="en-US" altLang="zh-CN" sz="1600"/>
          </a:p>
          <a:p>
            <a:pPr>
              <a:lnSpc>
                <a:spcPct val="130000"/>
              </a:lnSpc>
            </a:pPr>
            <a:r>
              <a:rPr kumimoji="1" lang="en-US" altLang="zh-CN" sz="1600"/>
              <a:t>   // </a:t>
            </a:r>
            <a:r>
              <a:rPr kumimoji="1" lang="zh-CN" altLang="en-US" sz="1600"/>
              <a:t>装满背包</a:t>
            </a:r>
            <a:endParaRPr kumimoji="1" lang="zh-CN" altLang="en-US" sz="1600"/>
          </a:p>
          <a:p>
            <a:pPr>
              <a:lnSpc>
                <a:spcPct val="130000"/>
              </a:lnSpc>
            </a:pPr>
            <a:r>
              <a:rPr kumimoji="1" lang="zh-CN" altLang="en-US" sz="1600"/>
              <a:t>   </a:t>
            </a:r>
            <a:r>
              <a:rPr kumimoji="1" lang="en-US" altLang="zh-CN" sz="1600"/>
              <a:t>if (i &lt;= n) b += p[i]/w[i] * cleft;</a:t>
            </a:r>
            <a:endParaRPr kumimoji="1" lang="en-US" altLang="zh-CN" sz="1600"/>
          </a:p>
          <a:p>
            <a:pPr>
              <a:lnSpc>
                <a:spcPct val="130000"/>
              </a:lnSpc>
            </a:pPr>
            <a:r>
              <a:rPr kumimoji="1" lang="en-US" altLang="zh-CN" sz="1600"/>
              <a:t>   return b;</a:t>
            </a:r>
            <a:endParaRPr kumimoji="1" lang="en-US" altLang="zh-CN" sz="1600"/>
          </a:p>
          <a:p>
            <a:pPr>
              <a:lnSpc>
                <a:spcPct val="130000"/>
              </a:lnSpc>
            </a:pPr>
            <a:r>
              <a:rPr kumimoji="1" lang="en-US" altLang="zh-CN" sz="1600"/>
              <a:t>}</a:t>
            </a:r>
            <a:endParaRPr kumimoji="1" lang="en-US" altLang="zh-CN" sz="160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ctrTitle"/>
          </p:nvPr>
        </p:nvSpPr>
        <p:spPr/>
        <p:txBody>
          <a:bodyPr/>
          <a:lstStyle/>
          <a:p>
            <a:r>
              <a:rPr lang="en-US" altLang="en-US">
                <a:effectLst>
                  <a:outerShdw blurRad="38100" dist="38100" dir="2700000" algn="tl">
                    <a:srgbClr val="C0C0C0"/>
                  </a:outerShdw>
                </a:effectLst>
                <a:ea typeface="黑体" panose="02010609060101010101" pitchFamily="49" charset="-122"/>
              </a:rPr>
              <a:t>最大团问题</a:t>
            </a:r>
            <a:endParaRPr lang="zh-CN" altLang="en-US">
              <a:effectLst>
                <a:outerShdw blurRad="38100" dist="38100" dir="2700000" algn="tl">
                  <a:srgbClr val="C0C0C0"/>
                </a:outerShdw>
              </a:effectLst>
              <a:ea typeface="黑体" panose="02010609060101010101" pitchFamily="49" charset="-122"/>
            </a:endParaRPr>
          </a:p>
        </p:txBody>
      </p:sp>
      <p:sp>
        <p:nvSpPr>
          <p:cNvPr id="50179" name="Rectangle 3"/>
          <p:cNvSpPr>
            <a:spLocks noGrp="1" noChangeArrowheads="1"/>
          </p:cNvSpPr>
          <p:nvPr>
            <p:ph type="subTitle" idx="1"/>
          </p:nvPr>
        </p:nvSpPr>
        <p:spPr/>
        <p:txBody>
          <a:bodyPr/>
          <a:lstStyle/>
          <a:p>
            <a:endParaRPr lang="zh-CN" altLang="zh-CN"/>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ChangeArrowheads="1"/>
          </p:cNvSpPr>
          <p:nvPr/>
        </p:nvSpPr>
        <p:spPr bwMode="auto">
          <a:xfrm>
            <a:off x="611188"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en-US" sz="3900" b="1">
                <a:solidFill>
                  <a:schemeClr val="tx2"/>
                </a:solidFill>
                <a:effectLst>
                  <a:outerShdw blurRad="38100" dist="38100" dir="2700000" algn="tl">
                    <a:srgbClr val="C0C0C0"/>
                  </a:outerShdw>
                </a:effectLst>
                <a:ea typeface="黑体" panose="02010609060101010101" pitchFamily="49" charset="-122"/>
              </a:rPr>
              <a:t>最大团问题</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sp>
        <p:nvSpPr>
          <p:cNvPr id="51203" name="Text Box 3"/>
          <p:cNvSpPr txBox="1">
            <a:spLocks noChangeArrowheads="1"/>
          </p:cNvSpPr>
          <p:nvPr/>
        </p:nvSpPr>
        <p:spPr bwMode="auto">
          <a:xfrm>
            <a:off x="250825" y="836613"/>
            <a:ext cx="8445500" cy="337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给定无向图</a:t>
            </a:r>
            <a:r>
              <a:rPr lang="en-US" altLang="zh-CN" sz="2400">
                <a:ea typeface="新宋体" panose="02010609030101010101" charset="-122"/>
              </a:rPr>
              <a:t>G=(V</a:t>
            </a:r>
            <a:r>
              <a:rPr lang="zh-CN" altLang="en-US" sz="2400">
                <a:ea typeface="新宋体" panose="02010609030101010101" charset="-122"/>
              </a:rPr>
              <a:t>，</a:t>
            </a:r>
            <a:r>
              <a:rPr lang="en-US" altLang="zh-CN" sz="2400">
                <a:ea typeface="新宋体" panose="02010609030101010101" charset="-122"/>
              </a:rPr>
              <a:t>E)</a:t>
            </a:r>
            <a:r>
              <a:rPr lang="zh-CN" altLang="en-US" sz="2400">
                <a:ea typeface="新宋体" panose="02010609030101010101" charset="-122"/>
              </a:rPr>
              <a:t>。如果</a:t>
            </a:r>
            <a:r>
              <a:rPr lang="en-US" altLang="zh-CN" sz="2400">
                <a:ea typeface="新宋体" panose="02010609030101010101" charset="-122"/>
              </a:rPr>
              <a:t>U</a:t>
            </a:r>
            <a:r>
              <a:rPr lang="en-US" altLang="zh-CN" sz="2400">
                <a:ea typeface="新宋体" panose="02010609030101010101" charset="-122"/>
                <a:sym typeface="Symbol" panose="05050102010706020507" pitchFamily="18" charset="2"/>
              </a:rPr>
              <a:t></a:t>
            </a:r>
            <a:r>
              <a:rPr lang="en-US" altLang="zh-CN" sz="2400">
                <a:ea typeface="新宋体" panose="02010609030101010101" charset="-122"/>
              </a:rPr>
              <a:t>V</a:t>
            </a:r>
            <a:r>
              <a:rPr lang="zh-CN" altLang="en-US" sz="2400">
                <a:ea typeface="新宋体" panose="02010609030101010101" charset="-122"/>
              </a:rPr>
              <a:t>，且对任意</a:t>
            </a:r>
            <a:r>
              <a:rPr lang="en-US" altLang="zh-CN" sz="2400">
                <a:ea typeface="新宋体" panose="02010609030101010101" charset="-122"/>
              </a:rPr>
              <a:t>u</a:t>
            </a:r>
            <a:r>
              <a:rPr lang="zh-CN" altLang="en-US" sz="2400">
                <a:ea typeface="新宋体" panose="02010609030101010101" charset="-122"/>
              </a:rPr>
              <a:t>，</a:t>
            </a:r>
            <a:r>
              <a:rPr lang="en-US" altLang="zh-CN" sz="2400">
                <a:ea typeface="新宋体" panose="02010609030101010101" charset="-122"/>
              </a:rPr>
              <a:t>v</a:t>
            </a:r>
            <a:r>
              <a:rPr lang="en-US" altLang="zh-CN" sz="2400">
                <a:ea typeface="新宋体" panose="02010609030101010101" charset="-122"/>
                <a:sym typeface="Symbol" panose="05050102010706020507" pitchFamily="18" charset="2"/>
              </a:rPr>
              <a:t></a:t>
            </a:r>
            <a:r>
              <a:rPr lang="en-US" altLang="zh-CN" sz="2400">
                <a:ea typeface="新宋体" panose="02010609030101010101" charset="-122"/>
              </a:rPr>
              <a:t>U</a:t>
            </a:r>
            <a:r>
              <a:rPr lang="zh-CN" altLang="en-US" sz="2400">
                <a:ea typeface="新宋体" panose="02010609030101010101" charset="-122"/>
              </a:rPr>
              <a:t>有</a:t>
            </a:r>
            <a:r>
              <a:rPr lang="en-US" altLang="zh-CN" sz="2400">
                <a:ea typeface="新宋体" panose="02010609030101010101" charset="-122"/>
              </a:rPr>
              <a:t>(u</a:t>
            </a:r>
            <a:r>
              <a:rPr lang="zh-CN" altLang="en-US" sz="2400">
                <a:ea typeface="新宋体" panose="02010609030101010101" charset="-122"/>
              </a:rPr>
              <a:t>，</a:t>
            </a:r>
            <a:r>
              <a:rPr lang="en-US" altLang="zh-CN" sz="2400">
                <a:ea typeface="新宋体" panose="02010609030101010101" charset="-122"/>
              </a:rPr>
              <a:t>v)</a:t>
            </a:r>
            <a:r>
              <a:rPr lang="en-US" altLang="zh-CN" sz="2400">
                <a:ea typeface="新宋体" panose="02010609030101010101" charset="-122"/>
                <a:sym typeface="Symbol" panose="05050102010706020507" pitchFamily="18" charset="2"/>
              </a:rPr>
              <a:t></a:t>
            </a:r>
            <a:r>
              <a:rPr lang="en-US" altLang="zh-CN" sz="2400">
                <a:ea typeface="新宋体" panose="02010609030101010101" charset="-122"/>
              </a:rPr>
              <a:t>E</a:t>
            </a:r>
            <a:r>
              <a:rPr lang="zh-CN" altLang="en-US" sz="2400">
                <a:ea typeface="新宋体" panose="02010609030101010101" charset="-122"/>
              </a:rPr>
              <a:t>，则称</a:t>
            </a:r>
            <a:r>
              <a:rPr lang="en-US" altLang="zh-CN" sz="2400">
                <a:ea typeface="新宋体" panose="02010609030101010101" charset="-122"/>
              </a:rPr>
              <a:t>U</a:t>
            </a:r>
            <a:r>
              <a:rPr lang="zh-CN" altLang="en-US" sz="2400">
                <a:ea typeface="新宋体" panose="02010609030101010101" charset="-122"/>
              </a:rPr>
              <a:t>是</a:t>
            </a:r>
            <a:r>
              <a:rPr lang="en-US" altLang="zh-CN" sz="2400">
                <a:ea typeface="新宋体" panose="02010609030101010101" charset="-122"/>
              </a:rPr>
              <a:t>G</a:t>
            </a:r>
            <a:r>
              <a:rPr lang="zh-CN" altLang="en-US" sz="2400">
                <a:ea typeface="新宋体" panose="02010609030101010101" charset="-122"/>
              </a:rPr>
              <a:t>的</a:t>
            </a:r>
            <a:r>
              <a:rPr lang="zh-CN" altLang="en-US" sz="2400">
                <a:ea typeface="黑体" panose="02010609060101010101" pitchFamily="49" charset="-122"/>
              </a:rPr>
              <a:t>完全子图</a:t>
            </a:r>
            <a:r>
              <a:rPr lang="zh-CN" altLang="en-US" sz="2400">
                <a:ea typeface="新宋体" panose="02010609030101010101" charset="-122"/>
              </a:rPr>
              <a:t>。</a:t>
            </a:r>
            <a:r>
              <a:rPr lang="en-US" altLang="zh-CN" sz="2400">
                <a:ea typeface="新宋体" panose="02010609030101010101" charset="-122"/>
              </a:rPr>
              <a:t>G</a:t>
            </a:r>
            <a:r>
              <a:rPr lang="zh-CN" altLang="en-US" sz="2400">
                <a:ea typeface="新宋体" panose="02010609030101010101" charset="-122"/>
              </a:rPr>
              <a:t>的完全子图</a:t>
            </a:r>
            <a:r>
              <a:rPr lang="en-US" altLang="zh-CN" sz="2400">
                <a:ea typeface="新宋体" panose="02010609030101010101" charset="-122"/>
              </a:rPr>
              <a:t>U</a:t>
            </a:r>
            <a:r>
              <a:rPr lang="zh-CN" altLang="en-US" sz="2400">
                <a:ea typeface="新宋体" panose="02010609030101010101" charset="-122"/>
              </a:rPr>
              <a:t>是</a:t>
            </a:r>
            <a:r>
              <a:rPr lang="en-US" altLang="zh-CN" sz="2400">
                <a:ea typeface="新宋体" panose="02010609030101010101" charset="-122"/>
              </a:rPr>
              <a:t>G</a:t>
            </a:r>
            <a:r>
              <a:rPr lang="zh-CN" altLang="en-US" sz="2400">
                <a:ea typeface="新宋体" panose="02010609030101010101" charset="-122"/>
              </a:rPr>
              <a:t>的团当且仅当</a:t>
            </a:r>
            <a:r>
              <a:rPr lang="en-US" altLang="zh-CN" sz="2400">
                <a:ea typeface="新宋体" panose="02010609030101010101" charset="-122"/>
              </a:rPr>
              <a:t>U</a:t>
            </a:r>
            <a:r>
              <a:rPr lang="zh-CN" altLang="en-US" sz="2400">
                <a:ea typeface="新宋体" panose="02010609030101010101" charset="-122"/>
              </a:rPr>
              <a:t>不包含在</a:t>
            </a:r>
            <a:r>
              <a:rPr lang="en-US" altLang="zh-CN" sz="2400">
                <a:ea typeface="新宋体" panose="02010609030101010101" charset="-122"/>
              </a:rPr>
              <a:t>G</a:t>
            </a:r>
            <a:r>
              <a:rPr lang="zh-CN" altLang="en-US" sz="2400">
                <a:ea typeface="新宋体" panose="02010609030101010101" charset="-122"/>
              </a:rPr>
              <a:t>的更大的完全子图中。</a:t>
            </a:r>
            <a:r>
              <a:rPr lang="en-US" altLang="zh-CN" sz="2400">
                <a:ea typeface="新宋体" panose="02010609030101010101" charset="-122"/>
              </a:rPr>
              <a:t>G</a:t>
            </a:r>
            <a:r>
              <a:rPr lang="zh-CN" altLang="en-US" sz="2400">
                <a:ea typeface="新宋体" panose="02010609030101010101" charset="-122"/>
              </a:rPr>
              <a:t>的</a:t>
            </a:r>
            <a:r>
              <a:rPr lang="zh-CN" altLang="en-US" sz="2400">
                <a:ea typeface="黑体" panose="02010609060101010101" pitchFamily="49" charset="-122"/>
              </a:rPr>
              <a:t>最大团</a:t>
            </a:r>
            <a:r>
              <a:rPr lang="zh-CN" altLang="en-US" sz="2400">
                <a:ea typeface="新宋体" panose="02010609030101010101" charset="-122"/>
              </a:rPr>
              <a:t>是指</a:t>
            </a:r>
            <a:r>
              <a:rPr lang="en-US" altLang="zh-CN" sz="2400">
                <a:ea typeface="新宋体" panose="02010609030101010101" charset="-122"/>
              </a:rPr>
              <a:t>G</a:t>
            </a:r>
            <a:r>
              <a:rPr lang="zh-CN" altLang="en-US" sz="2400">
                <a:ea typeface="新宋体" panose="02010609030101010101" charset="-122"/>
              </a:rPr>
              <a:t>中所含顶点数最多的团。</a:t>
            </a:r>
            <a:endParaRPr lang="zh-CN" altLang="en-US" sz="2400">
              <a:ea typeface="新宋体" panose="02010609030101010101" charset="-122"/>
            </a:endParaRPr>
          </a:p>
          <a:p>
            <a:r>
              <a:rPr lang="zh-CN" altLang="en-US" sz="2400">
                <a:ea typeface="新宋体" panose="02010609030101010101" charset="-122"/>
              </a:rPr>
              <a:t>如果</a:t>
            </a:r>
            <a:r>
              <a:rPr lang="en-US" altLang="zh-CN" sz="2400">
                <a:ea typeface="新宋体" panose="02010609030101010101" charset="-122"/>
              </a:rPr>
              <a:t>U</a:t>
            </a:r>
            <a:r>
              <a:rPr lang="en-US" altLang="zh-CN" sz="2400">
                <a:ea typeface="新宋体" panose="02010609030101010101" charset="-122"/>
                <a:sym typeface="Symbol" panose="05050102010706020507" pitchFamily="18" charset="2"/>
              </a:rPr>
              <a:t></a:t>
            </a:r>
            <a:r>
              <a:rPr lang="en-US" altLang="zh-CN" sz="2400">
                <a:ea typeface="新宋体" panose="02010609030101010101" charset="-122"/>
              </a:rPr>
              <a:t>V</a:t>
            </a:r>
            <a:r>
              <a:rPr lang="zh-CN" altLang="en-US" sz="2400">
                <a:ea typeface="新宋体" panose="02010609030101010101" charset="-122"/>
              </a:rPr>
              <a:t>且对任意</a:t>
            </a:r>
            <a:r>
              <a:rPr lang="en-US" altLang="zh-CN" sz="2400">
                <a:ea typeface="新宋体" panose="02010609030101010101" charset="-122"/>
              </a:rPr>
              <a:t>u</a:t>
            </a:r>
            <a:r>
              <a:rPr lang="zh-CN" altLang="en-US" sz="2400">
                <a:ea typeface="新宋体" panose="02010609030101010101" charset="-122"/>
              </a:rPr>
              <a:t>，</a:t>
            </a:r>
            <a:r>
              <a:rPr lang="en-US" altLang="zh-CN" sz="2400">
                <a:ea typeface="新宋体" panose="02010609030101010101" charset="-122"/>
              </a:rPr>
              <a:t>v</a:t>
            </a:r>
            <a:r>
              <a:rPr lang="en-US" altLang="zh-CN" sz="2400">
                <a:ea typeface="新宋体" panose="02010609030101010101" charset="-122"/>
                <a:sym typeface="Symbol" panose="05050102010706020507" pitchFamily="18" charset="2"/>
              </a:rPr>
              <a:t></a:t>
            </a:r>
            <a:r>
              <a:rPr lang="en-US" altLang="zh-CN" sz="2400">
                <a:ea typeface="新宋体" panose="02010609030101010101" charset="-122"/>
              </a:rPr>
              <a:t>U</a:t>
            </a:r>
            <a:r>
              <a:rPr lang="zh-CN" altLang="en-US" sz="2400">
                <a:ea typeface="新宋体" panose="02010609030101010101" charset="-122"/>
              </a:rPr>
              <a:t>有</a:t>
            </a:r>
            <a:r>
              <a:rPr lang="en-US" altLang="zh-CN" sz="2400">
                <a:ea typeface="新宋体" panose="02010609030101010101" charset="-122"/>
              </a:rPr>
              <a:t>(u</a:t>
            </a:r>
            <a:r>
              <a:rPr lang="zh-CN" altLang="en-US" sz="2400">
                <a:ea typeface="新宋体" panose="02010609030101010101" charset="-122"/>
              </a:rPr>
              <a:t>，</a:t>
            </a:r>
            <a:r>
              <a:rPr lang="en-US" altLang="zh-CN" sz="2400">
                <a:ea typeface="新宋体" panose="02010609030101010101" charset="-122"/>
              </a:rPr>
              <a:t>v)</a:t>
            </a:r>
            <a:r>
              <a:rPr lang="en-US" altLang="zh-CN" sz="2400">
                <a:ea typeface="新宋体" panose="02010609030101010101" charset="-122"/>
                <a:sym typeface="Symbol" panose="05050102010706020507" pitchFamily="18" charset="2"/>
              </a:rPr>
              <a:t></a:t>
            </a:r>
            <a:r>
              <a:rPr lang="en-US" altLang="zh-CN" sz="2400">
                <a:ea typeface="新宋体" panose="02010609030101010101" charset="-122"/>
              </a:rPr>
              <a:t>E</a:t>
            </a:r>
            <a:r>
              <a:rPr lang="zh-CN" altLang="en-US" sz="2400">
                <a:ea typeface="新宋体" panose="02010609030101010101" charset="-122"/>
              </a:rPr>
              <a:t>，则称</a:t>
            </a:r>
            <a:r>
              <a:rPr lang="en-US" altLang="zh-CN" sz="2400">
                <a:ea typeface="新宋体" panose="02010609030101010101" charset="-122"/>
              </a:rPr>
              <a:t>U</a:t>
            </a:r>
            <a:r>
              <a:rPr lang="zh-CN" altLang="en-US" sz="2400">
                <a:ea typeface="新宋体" panose="02010609030101010101" charset="-122"/>
              </a:rPr>
              <a:t>是</a:t>
            </a:r>
            <a:r>
              <a:rPr lang="en-US" altLang="zh-CN" sz="2400">
                <a:ea typeface="新宋体" panose="02010609030101010101" charset="-122"/>
              </a:rPr>
              <a:t>G</a:t>
            </a:r>
            <a:r>
              <a:rPr lang="zh-CN" altLang="en-US" sz="2400">
                <a:ea typeface="新宋体" panose="02010609030101010101" charset="-122"/>
              </a:rPr>
              <a:t>的</a:t>
            </a:r>
            <a:r>
              <a:rPr lang="zh-CN" altLang="en-US" sz="2400">
                <a:ea typeface="黑体" panose="02010609060101010101" pitchFamily="49" charset="-122"/>
              </a:rPr>
              <a:t>空子图</a:t>
            </a:r>
            <a:r>
              <a:rPr lang="zh-CN" altLang="en-US" sz="2400">
                <a:ea typeface="新宋体" panose="02010609030101010101" charset="-122"/>
              </a:rPr>
              <a:t>。</a:t>
            </a:r>
            <a:r>
              <a:rPr lang="en-US" altLang="zh-CN" sz="2400">
                <a:ea typeface="新宋体" panose="02010609030101010101" charset="-122"/>
              </a:rPr>
              <a:t>G</a:t>
            </a:r>
            <a:r>
              <a:rPr lang="zh-CN" altLang="en-US" sz="2400">
                <a:ea typeface="新宋体" panose="02010609030101010101" charset="-122"/>
              </a:rPr>
              <a:t>的空子图</a:t>
            </a:r>
            <a:r>
              <a:rPr lang="en-US" altLang="zh-CN" sz="2400">
                <a:ea typeface="新宋体" panose="02010609030101010101" charset="-122"/>
              </a:rPr>
              <a:t>U</a:t>
            </a:r>
            <a:r>
              <a:rPr lang="zh-CN" altLang="en-US" sz="2400">
                <a:ea typeface="新宋体" panose="02010609030101010101" charset="-122"/>
              </a:rPr>
              <a:t>是</a:t>
            </a:r>
            <a:r>
              <a:rPr lang="en-US" altLang="zh-CN" sz="2400">
                <a:ea typeface="新宋体" panose="02010609030101010101" charset="-122"/>
              </a:rPr>
              <a:t>G</a:t>
            </a:r>
            <a:r>
              <a:rPr lang="zh-CN" altLang="en-US" sz="2400">
                <a:ea typeface="新宋体" panose="02010609030101010101" charset="-122"/>
              </a:rPr>
              <a:t>的</a:t>
            </a:r>
            <a:r>
              <a:rPr lang="zh-CN" altLang="en-US" sz="2400">
                <a:ea typeface="黑体" panose="02010609060101010101" pitchFamily="49" charset="-122"/>
              </a:rPr>
              <a:t>独立集</a:t>
            </a:r>
            <a:r>
              <a:rPr lang="zh-CN" altLang="en-US" sz="2400">
                <a:ea typeface="新宋体" panose="02010609030101010101" charset="-122"/>
              </a:rPr>
              <a:t>当且仅当</a:t>
            </a:r>
            <a:r>
              <a:rPr lang="en-US" altLang="zh-CN" sz="2400">
                <a:ea typeface="新宋体" panose="02010609030101010101" charset="-122"/>
              </a:rPr>
              <a:t>U</a:t>
            </a:r>
            <a:r>
              <a:rPr lang="zh-CN" altLang="en-US" sz="2400">
                <a:ea typeface="新宋体" panose="02010609030101010101" charset="-122"/>
              </a:rPr>
              <a:t>不包含在</a:t>
            </a:r>
            <a:r>
              <a:rPr lang="en-US" altLang="zh-CN" sz="2400">
                <a:ea typeface="新宋体" panose="02010609030101010101" charset="-122"/>
              </a:rPr>
              <a:t>G</a:t>
            </a:r>
            <a:r>
              <a:rPr lang="zh-CN" altLang="en-US" sz="2400">
                <a:ea typeface="新宋体" panose="02010609030101010101" charset="-122"/>
              </a:rPr>
              <a:t>的更大的空子图中。</a:t>
            </a:r>
            <a:r>
              <a:rPr lang="en-US" altLang="zh-CN" sz="2400">
                <a:ea typeface="新宋体" panose="02010609030101010101" charset="-122"/>
              </a:rPr>
              <a:t>G</a:t>
            </a:r>
            <a:r>
              <a:rPr lang="zh-CN" altLang="en-US" sz="2400">
                <a:ea typeface="新宋体" panose="02010609030101010101" charset="-122"/>
              </a:rPr>
              <a:t>的</a:t>
            </a:r>
            <a:r>
              <a:rPr lang="zh-CN" altLang="en-US" sz="2400">
                <a:ea typeface="黑体" panose="02010609060101010101" pitchFamily="49" charset="-122"/>
              </a:rPr>
              <a:t>最大独立集</a:t>
            </a:r>
            <a:r>
              <a:rPr lang="zh-CN" altLang="en-US" sz="2400">
                <a:ea typeface="新宋体" panose="02010609030101010101" charset="-122"/>
              </a:rPr>
              <a:t>是</a:t>
            </a:r>
            <a:r>
              <a:rPr lang="en-US" altLang="zh-CN" sz="2400">
                <a:ea typeface="新宋体" panose="02010609030101010101" charset="-122"/>
              </a:rPr>
              <a:t>G</a:t>
            </a:r>
            <a:r>
              <a:rPr lang="zh-CN" altLang="en-US" sz="2400">
                <a:ea typeface="新宋体" panose="02010609030101010101" charset="-122"/>
              </a:rPr>
              <a:t>中所含顶点数最多的独立集。</a:t>
            </a:r>
            <a:endParaRPr lang="zh-CN" altLang="en-US" sz="2400">
              <a:ea typeface="新宋体" panose="02010609030101010101" charset="-122"/>
            </a:endParaRPr>
          </a:p>
          <a:p>
            <a:r>
              <a:rPr lang="zh-CN" altLang="en-US" sz="2400">
                <a:ea typeface="新宋体" panose="02010609030101010101" charset="-122"/>
              </a:rPr>
              <a:t>对于任一无向图</a:t>
            </a:r>
            <a:r>
              <a:rPr lang="en-US" altLang="zh-CN" sz="2400">
                <a:ea typeface="新宋体" panose="02010609030101010101" charset="-122"/>
              </a:rPr>
              <a:t>G=(V</a:t>
            </a:r>
            <a:r>
              <a:rPr lang="zh-CN" altLang="en-US" sz="2400">
                <a:ea typeface="新宋体" panose="02010609030101010101" charset="-122"/>
              </a:rPr>
              <a:t>，</a:t>
            </a:r>
            <a:r>
              <a:rPr lang="en-US" altLang="zh-CN" sz="2400">
                <a:ea typeface="新宋体" panose="02010609030101010101" charset="-122"/>
              </a:rPr>
              <a:t>E)</a:t>
            </a:r>
            <a:r>
              <a:rPr lang="zh-CN" altLang="en-US" sz="2400">
                <a:ea typeface="新宋体" panose="02010609030101010101" charset="-122"/>
              </a:rPr>
              <a:t>其</a:t>
            </a:r>
            <a:r>
              <a:rPr lang="zh-CN" altLang="en-US" sz="2400">
                <a:ea typeface="黑体" panose="02010609060101010101" pitchFamily="49" charset="-122"/>
              </a:rPr>
              <a:t>补图</a:t>
            </a:r>
            <a:r>
              <a:rPr lang="en-US" altLang="zh-CN" sz="2400">
                <a:ea typeface="黑体" panose="02010609060101010101" pitchFamily="49" charset="-122"/>
              </a:rPr>
              <a:t>G</a:t>
            </a:r>
            <a:r>
              <a:rPr lang="en-US" altLang="zh-CN" sz="2400">
                <a:ea typeface="新宋体" panose="02010609030101010101" charset="-122"/>
              </a:rPr>
              <a:t>=(V1</a:t>
            </a:r>
            <a:r>
              <a:rPr lang="zh-CN" altLang="en-US" sz="2400">
                <a:ea typeface="新宋体" panose="02010609030101010101" charset="-122"/>
              </a:rPr>
              <a:t>，</a:t>
            </a:r>
            <a:r>
              <a:rPr lang="en-US" altLang="zh-CN" sz="2400">
                <a:ea typeface="新宋体" panose="02010609030101010101" charset="-122"/>
              </a:rPr>
              <a:t>E1)</a:t>
            </a:r>
            <a:r>
              <a:rPr lang="zh-CN" altLang="en-US" sz="2400">
                <a:ea typeface="新宋体" panose="02010609030101010101" charset="-122"/>
              </a:rPr>
              <a:t>定义为：</a:t>
            </a:r>
            <a:r>
              <a:rPr lang="en-US" altLang="zh-CN" sz="2400">
                <a:ea typeface="新宋体" panose="02010609030101010101" charset="-122"/>
              </a:rPr>
              <a:t>V1=V</a:t>
            </a:r>
            <a:r>
              <a:rPr lang="zh-CN" altLang="en-US" sz="2400">
                <a:ea typeface="新宋体" panose="02010609030101010101" charset="-122"/>
              </a:rPr>
              <a:t>，且</a:t>
            </a:r>
            <a:r>
              <a:rPr lang="en-US" altLang="zh-CN" sz="2400">
                <a:ea typeface="新宋体" panose="02010609030101010101" charset="-122"/>
              </a:rPr>
              <a:t>(u</a:t>
            </a:r>
            <a:r>
              <a:rPr lang="zh-CN" altLang="en-US" sz="2400">
                <a:ea typeface="新宋体" panose="02010609030101010101" charset="-122"/>
              </a:rPr>
              <a:t>，</a:t>
            </a:r>
            <a:r>
              <a:rPr lang="en-US" altLang="zh-CN" sz="2400">
                <a:ea typeface="新宋体" panose="02010609030101010101" charset="-122"/>
              </a:rPr>
              <a:t>v)</a:t>
            </a:r>
            <a:r>
              <a:rPr lang="en-US" altLang="zh-CN" sz="2400">
                <a:ea typeface="新宋体" panose="02010609030101010101" charset="-122"/>
                <a:sym typeface="Symbol" panose="05050102010706020507" pitchFamily="18" charset="2"/>
              </a:rPr>
              <a:t></a:t>
            </a:r>
            <a:r>
              <a:rPr lang="en-US" altLang="zh-CN" sz="2400">
                <a:ea typeface="新宋体" panose="02010609030101010101" charset="-122"/>
              </a:rPr>
              <a:t>E1</a:t>
            </a:r>
            <a:r>
              <a:rPr lang="zh-CN" altLang="en-US" sz="2400">
                <a:ea typeface="新宋体" panose="02010609030101010101" charset="-122"/>
              </a:rPr>
              <a:t>当且仅当</a:t>
            </a:r>
            <a:r>
              <a:rPr lang="en-US" altLang="zh-CN" sz="2400">
                <a:ea typeface="新宋体" panose="02010609030101010101" charset="-122"/>
              </a:rPr>
              <a:t>(u</a:t>
            </a:r>
            <a:r>
              <a:rPr lang="zh-CN" altLang="en-US" sz="2400">
                <a:ea typeface="新宋体" panose="02010609030101010101" charset="-122"/>
              </a:rPr>
              <a:t>，</a:t>
            </a:r>
            <a:r>
              <a:rPr lang="en-US" altLang="zh-CN" sz="2400">
                <a:ea typeface="新宋体" panose="02010609030101010101" charset="-122"/>
              </a:rPr>
              <a:t>v)</a:t>
            </a:r>
            <a:r>
              <a:rPr lang="en-US" altLang="zh-CN" sz="2400">
                <a:ea typeface="新宋体" panose="02010609030101010101" charset="-122"/>
                <a:sym typeface="Symbol" panose="05050102010706020507" pitchFamily="18" charset="2"/>
              </a:rPr>
              <a:t></a:t>
            </a:r>
            <a:r>
              <a:rPr lang="en-US" altLang="zh-CN" sz="2400">
                <a:ea typeface="新宋体" panose="02010609030101010101" charset="-122"/>
              </a:rPr>
              <a:t>E</a:t>
            </a:r>
            <a:r>
              <a:rPr lang="zh-CN" altLang="en-US" sz="2400">
                <a:ea typeface="新宋体" panose="02010609030101010101" charset="-122"/>
              </a:rPr>
              <a:t>。</a:t>
            </a:r>
            <a:endParaRPr lang="zh-CN" altLang="en-US" sz="2400">
              <a:ea typeface="新宋体" panose="02010609030101010101" charset="-122"/>
            </a:endParaRPr>
          </a:p>
        </p:txBody>
      </p:sp>
      <p:sp>
        <p:nvSpPr>
          <p:cNvPr id="51204" name="Text Box 4"/>
          <p:cNvSpPr txBox="1">
            <a:spLocks noChangeArrowheads="1"/>
          </p:cNvSpPr>
          <p:nvPr/>
        </p:nvSpPr>
        <p:spPr bwMode="auto">
          <a:xfrm>
            <a:off x="323850" y="4292600"/>
            <a:ext cx="6008688" cy="457200"/>
          </a:xfrm>
          <a:prstGeom prst="rect">
            <a:avLst/>
          </a:prstGeom>
          <a:solidFill>
            <a:srgbClr val="FFCC00"/>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r>
              <a:rPr lang="en-US" altLang="zh-CN" sz="2400" b="1">
                <a:latin typeface="黑体" panose="02010609060101010101" pitchFamily="49" charset="-122"/>
                <a:ea typeface="黑体" panose="02010609060101010101" pitchFamily="49" charset="-122"/>
              </a:rPr>
              <a:t>U</a:t>
            </a:r>
            <a:r>
              <a:rPr lang="zh-CN" altLang="en-US" sz="2400" b="1">
                <a:latin typeface="黑体" panose="02010609060101010101" pitchFamily="49" charset="-122"/>
                <a:ea typeface="黑体" panose="02010609060101010101" pitchFamily="49" charset="-122"/>
              </a:rPr>
              <a:t>是</a:t>
            </a:r>
            <a:r>
              <a:rPr lang="en-US" altLang="zh-CN" sz="2400" b="1">
                <a:latin typeface="黑体" panose="02010609060101010101" pitchFamily="49" charset="-122"/>
                <a:ea typeface="黑体" panose="02010609060101010101" pitchFamily="49" charset="-122"/>
              </a:rPr>
              <a:t>G</a:t>
            </a:r>
            <a:r>
              <a:rPr lang="zh-CN" altLang="en-US" sz="2400" b="1">
                <a:latin typeface="黑体" panose="02010609060101010101" pitchFamily="49" charset="-122"/>
                <a:ea typeface="黑体" panose="02010609060101010101" pitchFamily="49" charset="-122"/>
              </a:rPr>
              <a:t>的最大团当且仅当</a:t>
            </a:r>
            <a:r>
              <a:rPr lang="en-US" altLang="zh-CN" sz="2400" b="1">
                <a:latin typeface="黑体" panose="02010609060101010101" pitchFamily="49" charset="-122"/>
                <a:ea typeface="黑体" panose="02010609060101010101" pitchFamily="49" charset="-122"/>
              </a:rPr>
              <a:t>U</a:t>
            </a:r>
            <a:r>
              <a:rPr lang="zh-CN" altLang="en-US" sz="2400" b="1">
                <a:latin typeface="黑体" panose="02010609060101010101" pitchFamily="49" charset="-122"/>
                <a:ea typeface="黑体" panose="02010609060101010101" pitchFamily="49" charset="-122"/>
              </a:rPr>
              <a:t>是</a:t>
            </a:r>
            <a:r>
              <a:rPr lang="en-US" altLang="zh-CN" sz="2400" b="1">
                <a:latin typeface="黑体" panose="02010609060101010101" pitchFamily="49" charset="-122"/>
                <a:ea typeface="黑体" panose="02010609060101010101" pitchFamily="49" charset="-122"/>
              </a:rPr>
              <a:t>G</a:t>
            </a:r>
            <a:r>
              <a:rPr lang="zh-CN" altLang="en-US" sz="2400" b="1">
                <a:latin typeface="黑体" panose="02010609060101010101" pitchFamily="49" charset="-122"/>
                <a:ea typeface="黑体" panose="02010609060101010101" pitchFamily="49" charset="-122"/>
              </a:rPr>
              <a:t>的最大独立集。</a:t>
            </a:r>
            <a:endParaRPr lang="zh-CN" altLang="en-US" sz="2400" b="1">
              <a:latin typeface="黑体" panose="02010609060101010101" pitchFamily="49" charset="-122"/>
              <a:ea typeface="黑体" panose="02010609060101010101" pitchFamily="49" charset="-122"/>
            </a:endParaRPr>
          </a:p>
        </p:txBody>
      </p:sp>
      <p:sp>
        <p:nvSpPr>
          <p:cNvPr id="51205" name="Line 5"/>
          <p:cNvSpPr>
            <a:spLocks noChangeShapeType="1"/>
          </p:cNvSpPr>
          <p:nvPr/>
        </p:nvSpPr>
        <p:spPr bwMode="auto">
          <a:xfrm>
            <a:off x="4716463" y="3429000"/>
            <a:ext cx="215900"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spAutoFit/>
          </a:bodyPr>
          <a:lstStyle/>
          <a:p>
            <a:endParaRPr lang="zh-CN" altLang="en-US"/>
          </a:p>
        </p:txBody>
      </p:sp>
      <p:sp>
        <p:nvSpPr>
          <p:cNvPr id="51206" name="Line 6"/>
          <p:cNvSpPr>
            <a:spLocks noChangeShapeType="1"/>
          </p:cNvSpPr>
          <p:nvPr/>
        </p:nvSpPr>
        <p:spPr bwMode="auto">
          <a:xfrm>
            <a:off x="3924300" y="4365625"/>
            <a:ext cx="215900"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spAutoFit/>
          </a:bodyPr>
          <a:lstStyle/>
          <a:p>
            <a:endParaRPr lang="zh-CN" altLang="en-US"/>
          </a:p>
        </p:txBody>
      </p:sp>
      <p:grpSp>
        <p:nvGrpSpPr>
          <p:cNvPr id="51207" name="Group 7"/>
          <p:cNvGrpSpPr/>
          <p:nvPr/>
        </p:nvGrpSpPr>
        <p:grpSpPr bwMode="auto">
          <a:xfrm>
            <a:off x="1379538" y="4930775"/>
            <a:ext cx="2667000" cy="1400175"/>
            <a:chOff x="869" y="3106"/>
            <a:chExt cx="1680" cy="882"/>
          </a:xfrm>
        </p:grpSpPr>
        <p:sp>
          <p:nvSpPr>
            <p:cNvPr id="51208" name="Oval 8"/>
            <p:cNvSpPr>
              <a:spLocks noChangeArrowheads="1"/>
            </p:cNvSpPr>
            <p:nvPr/>
          </p:nvSpPr>
          <p:spPr bwMode="auto">
            <a:xfrm>
              <a:off x="886" y="3106"/>
              <a:ext cx="199" cy="229"/>
            </a:xfrm>
            <a:prstGeom prst="ellipse">
              <a:avLst/>
            </a:prstGeom>
            <a:solidFill>
              <a:srgbClr val="99CC00"/>
            </a:solidFill>
            <a:ln w="12700" algn="ctr">
              <a:solidFill>
                <a:schemeClr val="tx1"/>
              </a:solidFill>
              <a:round/>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pPr algn="ctr"/>
              <a:r>
                <a:rPr lang="en-US" altLang="zh-CN" sz="1200" b="1">
                  <a:ea typeface="新宋体" panose="02010609030101010101" charset="-122"/>
                </a:rPr>
                <a:t>1</a:t>
              </a:r>
              <a:endParaRPr lang="en-US" altLang="zh-CN" sz="1200" b="1">
                <a:ea typeface="新宋体" panose="02010609030101010101" charset="-122"/>
              </a:endParaRPr>
            </a:p>
          </p:txBody>
        </p:sp>
        <p:sp>
          <p:nvSpPr>
            <p:cNvPr id="51209" name="Oval 9"/>
            <p:cNvSpPr>
              <a:spLocks noChangeArrowheads="1"/>
            </p:cNvSpPr>
            <p:nvPr/>
          </p:nvSpPr>
          <p:spPr bwMode="auto">
            <a:xfrm>
              <a:off x="1699" y="3107"/>
              <a:ext cx="199" cy="229"/>
            </a:xfrm>
            <a:prstGeom prst="ellipse">
              <a:avLst/>
            </a:prstGeom>
            <a:solidFill>
              <a:srgbClr val="99CC00"/>
            </a:solidFill>
            <a:ln w="12700" algn="ctr">
              <a:solidFill>
                <a:schemeClr val="tx1"/>
              </a:solidFill>
              <a:round/>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pPr algn="ctr"/>
              <a:r>
                <a:rPr lang="en-US" altLang="zh-CN" sz="1200" b="1">
                  <a:ea typeface="新宋体" panose="02010609030101010101" charset="-122"/>
                </a:rPr>
                <a:t>2</a:t>
              </a:r>
              <a:endParaRPr lang="en-US" altLang="zh-CN" sz="1200" b="1">
                <a:ea typeface="新宋体" panose="02010609030101010101" charset="-122"/>
              </a:endParaRPr>
            </a:p>
          </p:txBody>
        </p:sp>
        <p:sp>
          <p:nvSpPr>
            <p:cNvPr id="51210" name="Oval 10"/>
            <p:cNvSpPr>
              <a:spLocks noChangeArrowheads="1"/>
            </p:cNvSpPr>
            <p:nvPr/>
          </p:nvSpPr>
          <p:spPr bwMode="auto">
            <a:xfrm>
              <a:off x="869" y="3759"/>
              <a:ext cx="199" cy="229"/>
            </a:xfrm>
            <a:prstGeom prst="ellipse">
              <a:avLst/>
            </a:prstGeom>
            <a:solidFill>
              <a:srgbClr val="FFCC00"/>
            </a:solidFill>
            <a:ln w="12700" algn="ctr">
              <a:solidFill>
                <a:schemeClr val="tx1"/>
              </a:solidFill>
              <a:round/>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pPr algn="ctr"/>
              <a:r>
                <a:rPr lang="en-US" altLang="zh-CN" sz="1200" b="1">
                  <a:ea typeface="新宋体" panose="02010609030101010101" charset="-122"/>
                </a:rPr>
                <a:t>4</a:t>
              </a:r>
              <a:endParaRPr lang="en-US" altLang="zh-CN" sz="1200" b="1">
                <a:ea typeface="新宋体" panose="02010609030101010101" charset="-122"/>
              </a:endParaRPr>
            </a:p>
          </p:txBody>
        </p:sp>
        <p:sp>
          <p:nvSpPr>
            <p:cNvPr id="51211" name="Oval 11"/>
            <p:cNvSpPr>
              <a:spLocks noChangeArrowheads="1"/>
            </p:cNvSpPr>
            <p:nvPr/>
          </p:nvSpPr>
          <p:spPr bwMode="auto">
            <a:xfrm>
              <a:off x="1699" y="3759"/>
              <a:ext cx="199" cy="229"/>
            </a:xfrm>
            <a:prstGeom prst="ellipse">
              <a:avLst/>
            </a:prstGeom>
            <a:solidFill>
              <a:srgbClr val="99CC00"/>
            </a:solidFill>
            <a:ln w="12700" algn="ctr">
              <a:solidFill>
                <a:schemeClr val="tx1"/>
              </a:solidFill>
              <a:round/>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pPr algn="ctr"/>
              <a:r>
                <a:rPr lang="en-US" altLang="zh-CN" sz="1200" b="1">
                  <a:ea typeface="新宋体" panose="02010609030101010101" charset="-122"/>
                </a:rPr>
                <a:t>5</a:t>
              </a:r>
              <a:endParaRPr lang="en-US" altLang="zh-CN" sz="1200" b="1">
                <a:ea typeface="新宋体" panose="02010609030101010101" charset="-122"/>
              </a:endParaRPr>
            </a:p>
          </p:txBody>
        </p:sp>
        <p:sp>
          <p:nvSpPr>
            <p:cNvPr id="51212" name="Oval 12"/>
            <p:cNvSpPr>
              <a:spLocks noChangeArrowheads="1"/>
            </p:cNvSpPr>
            <p:nvPr/>
          </p:nvSpPr>
          <p:spPr bwMode="auto">
            <a:xfrm>
              <a:off x="2350" y="3404"/>
              <a:ext cx="199" cy="229"/>
            </a:xfrm>
            <a:prstGeom prst="ellipse">
              <a:avLst/>
            </a:prstGeom>
            <a:solidFill>
              <a:srgbClr val="FFCC00"/>
            </a:solidFill>
            <a:ln w="12700" algn="ctr">
              <a:solidFill>
                <a:schemeClr val="tx1"/>
              </a:solidFill>
              <a:round/>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pPr algn="ctr"/>
              <a:r>
                <a:rPr lang="en-US" altLang="zh-CN" sz="1200" b="1">
                  <a:ea typeface="新宋体" panose="02010609030101010101" charset="-122"/>
                </a:rPr>
                <a:t>3</a:t>
              </a:r>
              <a:endParaRPr lang="en-US" altLang="zh-CN" sz="1200" b="1">
                <a:ea typeface="新宋体" panose="02010609030101010101" charset="-122"/>
              </a:endParaRPr>
            </a:p>
          </p:txBody>
        </p:sp>
        <p:cxnSp>
          <p:nvCxnSpPr>
            <p:cNvPr id="51213" name="AutoShape 13"/>
            <p:cNvCxnSpPr>
              <a:cxnSpLocks noChangeShapeType="1"/>
              <a:stCxn id="51208" idx="6"/>
              <a:endCxn id="51209" idx="2"/>
            </p:cNvCxnSpPr>
            <p:nvPr/>
          </p:nvCxnSpPr>
          <p:spPr bwMode="auto">
            <a:xfrm>
              <a:off x="1085" y="3221"/>
              <a:ext cx="614" cy="1"/>
            </a:xfrm>
            <a:prstGeom prst="straightConnector1">
              <a:avLst/>
            </a:prstGeom>
            <a:noFill/>
            <a:ln w="5080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cxnSp>
        <p:cxnSp>
          <p:nvCxnSpPr>
            <p:cNvPr id="51214" name="AutoShape 14"/>
            <p:cNvCxnSpPr>
              <a:cxnSpLocks noChangeShapeType="1"/>
              <a:stCxn id="51208" idx="4"/>
              <a:endCxn id="51210" idx="0"/>
            </p:cNvCxnSpPr>
            <p:nvPr/>
          </p:nvCxnSpPr>
          <p:spPr bwMode="auto">
            <a:xfrm flipH="1">
              <a:off x="969" y="3335"/>
              <a:ext cx="17" cy="424"/>
            </a:xfrm>
            <a:prstGeom prst="straightConnector1">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cxnSp>
        <p:cxnSp>
          <p:nvCxnSpPr>
            <p:cNvPr id="51215" name="AutoShape 15"/>
            <p:cNvCxnSpPr>
              <a:cxnSpLocks noChangeShapeType="1"/>
              <a:stCxn id="51210" idx="6"/>
              <a:endCxn id="51211" idx="2"/>
            </p:cNvCxnSpPr>
            <p:nvPr/>
          </p:nvCxnSpPr>
          <p:spPr bwMode="auto">
            <a:xfrm>
              <a:off x="1068" y="3874"/>
              <a:ext cx="631" cy="0"/>
            </a:xfrm>
            <a:prstGeom prst="straightConnector1">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cxnSp>
        <p:cxnSp>
          <p:nvCxnSpPr>
            <p:cNvPr id="51216" name="AutoShape 16"/>
            <p:cNvCxnSpPr>
              <a:cxnSpLocks noChangeShapeType="1"/>
              <a:stCxn id="51211" idx="0"/>
              <a:endCxn id="51209" idx="4"/>
            </p:cNvCxnSpPr>
            <p:nvPr/>
          </p:nvCxnSpPr>
          <p:spPr bwMode="auto">
            <a:xfrm flipV="1">
              <a:off x="1799" y="3336"/>
              <a:ext cx="0" cy="423"/>
            </a:xfrm>
            <a:prstGeom prst="straightConnector1">
              <a:avLst/>
            </a:prstGeom>
            <a:noFill/>
            <a:ln w="5080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cxnSp>
        <p:cxnSp>
          <p:nvCxnSpPr>
            <p:cNvPr id="51217" name="AutoShape 17"/>
            <p:cNvCxnSpPr>
              <a:cxnSpLocks noChangeShapeType="1"/>
              <a:stCxn id="51208" idx="5"/>
              <a:endCxn id="51211" idx="1"/>
            </p:cNvCxnSpPr>
            <p:nvPr/>
          </p:nvCxnSpPr>
          <p:spPr bwMode="auto">
            <a:xfrm>
              <a:off x="1056" y="3301"/>
              <a:ext cx="672" cy="492"/>
            </a:xfrm>
            <a:prstGeom prst="straightConnector1">
              <a:avLst/>
            </a:prstGeom>
            <a:noFill/>
            <a:ln w="5080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cxnSp>
        <p:cxnSp>
          <p:nvCxnSpPr>
            <p:cNvPr id="51218" name="AutoShape 18"/>
            <p:cNvCxnSpPr>
              <a:cxnSpLocks noChangeShapeType="1"/>
              <a:stCxn id="51212" idx="1"/>
              <a:endCxn id="51209" idx="6"/>
            </p:cNvCxnSpPr>
            <p:nvPr/>
          </p:nvCxnSpPr>
          <p:spPr bwMode="auto">
            <a:xfrm flipH="1" flipV="1">
              <a:off x="1898" y="3222"/>
              <a:ext cx="481" cy="216"/>
            </a:xfrm>
            <a:prstGeom prst="straightConnector1">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cxnSp>
        <p:cxnSp>
          <p:nvCxnSpPr>
            <p:cNvPr id="51219" name="AutoShape 19"/>
            <p:cNvCxnSpPr>
              <a:cxnSpLocks noChangeShapeType="1"/>
              <a:stCxn id="51211" idx="6"/>
              <a:endCxn id="51212" idx="3"/>
            </p:cNvCxnSpPr>
            <p:nvPr/>
          </p:nvCxnSpPr>
          <p:spPr bwMode="auto">
            <a:xfrm flipV="1">
              <a:off x="1898" y="3599"/>
              <a:ext cx="481" cy="275"/>
            </a:xfrm>
            <a:prstGeom prst="straightConnector1">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cxnSp>
      </p:grpSp>
      <p:grpSp>
        <p:nvGrpSpPr>
          <p:cNvPr id="51220" name="Group 20"/>
          <p:cNvGrpSpPr/>
          <p:nvPr/>
        </p:nvGrpSpPr>
        <p:grpSpPr bwMode="auto">
          <a:xfrm>
            <a:off x="4956175" y="5016500"/>
            <a:ext cx="2365375" cy="1303338"/>
            <a:chOff x="2362" y="3217"/>
            <a:chExt cx="1309" cy="722"/>
          </a:xfrm>
        </p:grpSpPr>
        <p:sp>
          <p:nvSpPr>
            <p:cNvPr id="51221" name="Oval 21"/>
            <p:cNvSpPr>
              <a:spLocks noChangeArrowheads="1"/>
            </p:cNvSpPr>
            <p:nvPr/>
          </p:nvSpPr>
          <p:spPr bwMode="auto">
            <a:xfrm>
              <a:off x="2375" y="3237"/>
              <a:ext cx="175" cy="202"/>
            </a:xfrm>
            <a:prstGeom prst="ellipse">
              <a:avLst/>
            </a:prstGeom>
            <a:solidFill>
              <a:srgbClr val="99CC00"/>
            </a:solidFill>
            <a:ln w="12700" algn="ctr">
              <a:solidFill>
                <a:schemeClr val="tx1"/>
              </a:solidFill>
              <a:round/>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pPr algn="ctr"/>
              <a:r>
                <a:rPr lang="en-US" altLang="zh-CN" sz="1200" b="1">
                  <a:ea typeface="新宋体" panose="02010609030101010101" charset="-122"/>
                </a:rPr>
                <a:t>1</a:t>
              </a:r>
              <a:endParaRPr lang="en-US" altLang="zh-CN" sz="1200" b="1">
                <a:ea typeface="新宋体" panose="02010609030101010101" charset="-122"/>
              </a:endParaRPr>
            </a:p>
          </p:txBody>
        </p:sp>
        <p:sp>
          <p:nvSpPr>
            <p:cNvPr id="51222" name="Oval 22"/>
            <p:cNvSpPr>
              <a:spLocks noChangeArrowheads="1"/>
            </p:cNvSpPr>
            <p:nvPr/>
          </p:nvSpPr>
          <p:spPr bwMode="auto">
            <a:xfrm>
              <a:off x="3119" y="3217"/>
              <a:ext cx="175" cy="201"/>
            </a:xfrm>
            <a:prstGeom prst="ellipse">
              <a:avLst/>
            </a:prstGeom>
            <a:solidFill>
              <a:srgbClr val="99CC00"/>
            </a:solidFill>
            <a:ln w="12700" algn="ctr">
              <a:solidFill>
                <a:schemeClr val="tx1"/>
              </a:solidFill>
              <a:round/>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pPr algn="ctr"/>
              <a:r>
                <a:rPr lang="en-US" altLang="zh-CN" sz="1200" b="1">
                  <a:ea typeface="新宋体" panose="02010609030101010101" charset="-122"/>
                </a:rPr>
                <a:t>2</a:t>
              </a:r>
              <a:endParaRPr lang="en-US" altLang="zh-CN" sz="1200" b="1">
                <a:ea typeface="新宋体" panose="02010609030101010101" charset="-122"/>
              </a:endParaRPr>
            </a:p>
          </p:txBody>
        </p:sp>
        <p:sp>
          <p:nvSpPr>
            <p:cNvPr id="51223" name="Oval 23"/>
            <p:cNvSpPr>
              <a:spLocks noChangeArrowheads="1"/>
            </p:cNvSpPr>
            <p:nvPr/>
          </p:nvSpPr>
          <p:spPr bwMode="auto">
            <a:xfrm>
              <a:off x="2362" y="3738"/>
              <a:ext cx="175" cy="201"/>
            </a:xfrm>
            <a:prstGeom prst="ellipse">
              <a:avLst/>
            </a:prstGeom>
            <a:solidFill>
              <a:srgbClr val="FFCC00"/>
            </a:solidFill>
            <a:ln w="12700" algn="ctr">
              <a:solidFill>
                <a:schemeClr val="tx1"/>
              </a:solidFill>
              <a:round/>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pPr algn="ctr"/>
              <a:r>
                <a:rPr lang="en-US" altLang="zh-CN" sz="1200" b="1">
                  <a:ea typeface="新宋体" panose="02010609030101010101" charset="-122"/>
                </a:rPr>
                <a:t>4</a:t>
              </a:r>
              <a:endParaRPr lang="en-US" altLang="zh-CN" sz="1200" b="1">
                <a:ea typeface="新宋体" panose="02010609030101010101" charset="-122"/>
              </a:endParaRPr>
            </a:p>
          </p:txBody>
        </p:sp>
        <p:sp>
          <p:nvSpPr>
            <p:cNvPr id="51224" name="Oval 24"/>
            <p:cNvSpPr>
              <a:spLocks noChangeArrowheads="1"/>
            </p:cNvSpPr>
            <p:nvPr/>
          </p:nvSpPr>
          <p:spPr bwMode="auto">
            <a:xfrm>
              <a:off x="3119" y="3716"/>
              <a:ext cx="175" cy="201"/>
            </a:xfrm>
            <a:prstGeom prst="ellipse">
              <a:avLst/>
            </a:prstGeom>
            <a:solidFill>
              <a:srgbClr val="99CC00"/>
            </a:solidFill>
            <a:ln w="12700" algn="ctr">
              <a:solidFill>
                <a:schemeClr val="tx1"/>
              </a:solidFill>
              <a:round/>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pPr algn="ctr"/>
              <a:r>
                <a:rPr lang="en-US" altLang="zh-CN" sz="1200" b="1">
                  <a:ea typeface="新宋体" panose="02010609030101010101" charset="-122"/>
                </a:rPr>
                <a:t>5</a:t>
              </a:r>
              <a:endParaRPr lang="en-US" altLang="zh-CN" sz="1200" b="1">
                <a:ea typeface="新宋体" panose="02010609030101010101" charset="-122"/>
              </a:endParaRPr>
            </a:p>
          </p:txBody>
        </p:sp>
        <p:sp>
          <p:nvSpPr>
            <p:cNvPr id="51225" name="Oval 25"/>
            <p:cNvSpPr>
              <a:spLocks noChangeArrowheads="1"/>
            </p:cNvSpPr>
            <p:nvPr/>
          </p:nvSpPr>
          <p:spPr bwMode="auto">
            <a:xfrm>
              <a:off x="3496" y="3466"/>
              <a:ext cx="175" cy="201"/>
            </a:xfrm>
            <a:prstGeom prst="ellipse">
              <a:avLst/>
            </a:prstGeom>
            <a:solidFill>
              <a:srgbClr val="FFCC00"/>
            </a:solidFill>
            <a:ln w="12700" algn="ctr">
              <a:solidFill>
                <a:schemeClr val="tx1"/>
              </a:solidFill>
              <a:round/>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pPr algn="ctr"/>
              <a:r>
                <a:rPr lang="en-US" altLang="zh-CN" sz="1200" b="1">
                  <a:ea typeface="新宋体" panose="02010609030101010101" charset="-122"/>
                </a:rPr>
                <a:t>3</a:t>
              </a:r>
              <a:endParaRPr lang="en-US" altLang="zh-CN" sz="1200" b="1">
                <a:ea typeface="新宋体" panose="02010609030101010101" charset="-122"/>
              </a:endParaRPr>
            </a:p>
          </p:txBody>
        </p:sp>
        <p:cxnSp>
          <p:nvCxnSpPr>
            <p:cNvPr id="51226" name="AutoShape 26"/>
            <p:cNvCxnSpPr>
              <a:cxnSpLocks noChangeShapeType="1"/>
              <a:stCxn id="51221" idx="6"/>
              <a:endCxn id="51225" idx="2"/>
            </p:cNvCxnSpPr>
            <p:nvPr/>
          </p:nvCxnSpPr>
          <p:spPr bwMode="auto">
            <a:xfrm>
              <a:off x="2562" y="3339"/>
              <a:ext cx="922" cy="228"/>
            </a:xfrm>
            <a:prstGeom prst="straightConnector1">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cxnSp>
        <p:cxnSp>
          <p:nvCxnSpPr>
            <p:cNvPr id="51227" name="AutoShape 27"/>
            <p:cNvCxnSpPr>
              <a:cxnSpLocks noChangeShapeType="1"/>
              <a:stCxn id="51223" idx="7"/>
              <a:endCxn id="51225" idx="2"/>
            </p:cNvCxnSpPr>
            <p:nvPr/>
          </p:nvCxnSpPr>
          <p:spPr bwMode="auto">
            <a:xfrm flipV="1">
              <a:off x="2520" y="3567"/>
              <a:ext cx="964" cy="191"/>
            </a:xfrm>
            <a:prstGeom prst="straightConnector1">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cxnSp>
        <p:cxnSp>
          <p:nvCxnSpPr>
            <p:cNvPr id="51228" name="AutoShape 28"/>
            <p:cNvCxnSpPr>
              <a:cxnSpLocks noChangeShapeType="1"/>
              <a:stCxn id="51223" idx="7"/>
              <a:endCxn id="51222" idx="2"/>
            </p:cNvCxnSpPr>
            <p:nvPr/>
          </p:nvCxnSpPr>
          <p:spPr bwMode="auto">
            <a:xfrm flipV="1">
              <a:off x="2520" y="3318"/>
              <a:ext cx="587" cy="440"/>
            </a:xfrm>
            <a:prstGeom prst="straightConnector1">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cxnSp>
      </p:gr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ChangeArrowheads="1"/>
          </p:cNvSpPr>
          <p:nvPr/>
        </p:nvSpPr>
        <p:spPr bwMode="auto">
          <a:xfrm>
            <a:off x="611188"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en-US" sz="3900" b="1">
                <a:solidFill>
                  <a:schemeClr val="tx2"/>
                </a:solidFill>
                <a:effectLst>
                  <a:outerShdw blurRad="38100" dist="38100" dir="2700000" algn="tl">
                    <a:srgbClr val="C0C0C0"/>
                  </a:outerShdw>
                </a:effectLst>
                <a:ea typeface="黑体" panose="02010609060101010101" pitchFamily="49" charset="-122"/>
              </a:rPr>
              <a:t>最大团问题</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sp>
        <p:nvSpPr>
          <p:cNvPr id="52227" name="Text Box 3"/>
          <p:cNvSpPr txBox="1">
            <a:spLocks noChangeArrowheads="1"/>
          </p:cNvSpPr>
          <p:nvPr/>
        </p:nvSpPr>
        <p:spPr bwMode="auto">
          <a:xfrm>
            <a:off x="395288" y="765175"/>
            <a:ext cx="8497887"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FontTx/>
              <a:buChar char="•"/>
            </a:pPr>
            <a:r>
              <a:rPr lang="zh-CN" altLang="en-US" sz="2000">
                <a:ea typeface="新宋体" panose="02010609030101010101" charset="-122"/>
              </a:rPr>
              <a:t>解空间：子集树</a:t>
            </a:r>
            <a:endParaRPr lang="zh-CN" altLang="en-US" sz="2000">
              <a:ea typeface="新宋体" panose="02010609030101010101" charset="-122"/>
            </a:endParaRPr>
          </a:p>
          <a:p>
            <a:pPr>
              <a:buClr>
                <a:schemeClr val="accent2"/>
              </a:buClr>
              <a:buFontTx/>
              <a:buChar char="•"/>
            </a:pPr>
            <a:r>
              <a:rPr lang="zh-CN" altLang="en-US" sz="2000">
                <a:ea typeface="新宋体" panose="02010609030101010101" charset="-122"/>
              </a:rPr>
              <a:t>可行性约束函数：顶点</a:t>
            </a:r>
            <a:r>
              <a:rPr lang="en-US" altLang="zh-CN" sz="2000">
                <a:ea typeface="新宋体" panose="02010609030101010101" charset="-122"/>
              </a:rPr>
              <a:t>i</a:t>
            </a:r>
            <a:r>
              <a:rPr lang="zh-CN" altLang="en-US" sz="2000">
                <a:ea typeface="新宋体" panose="02010609030101010101" charset="-122"/>
              </a:rPr>
              <a:t>到已选入的顶点集中每一个顶点都有边相连。 </a:t>
            </a:r>
            <a:endParaRPr lang="zh-CN" altLang="en-US" sz="2000">
              <a:ea typeface="新宋体" panose="02010609030101010101" charset="-122"/>
            </a:endParaRPr>
          </a:p>
          <a:p>
            <a:pPr>
              <a:buClr>
                <a:schemeClr val="accent2"/>
              </a:buClr>
              <a:buFontTx/>
              <a:buChar char="•"/>
            </a:pPr>
            <a:r>
              <a:rPr lang="zh-CN" altLang="en-US" sz="2000">
                <a:ea typeface="新宋体" panose="02010609030101010101" charset="-122"/>
              </a:rPr>
              <a:t>上界函数：有足够多的可选择顶点使得算法有可能在右子树中找到更大的团。 </a:t>
            </a:r>
            <a:endParaRPr lang="zh-CN" altLang="en-US" sz="2000">
              <a:ea typeface="新宋体" panose="02010609030101010101" charset="-122"/>
            </a:endParaRPr>
          </a:p>
        </p:txBody>
      </p:sp>
      <p:sp>
        <p:nvSpPr>
          <p:cNvPr id="52228" name="Text Box 4"/>
          <p:cNvSpPr txBox="1">
            <a:spLocks noChangeArrowheads="1"/>
          </p:cNvSpPr>
          <p:nvPr/>
        </p:nvSpPr>
        <p:spPr bwMode="auto">
          <a:xfrm>
            <a:off x="323850" y="2120900"/>
            <a:ext cx="3894138" cy="4737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r>
              <a:rPr kumimoji="1" lang="en-US" altLang="zh-CN" sz="1600"/>
              <a:t>void Clique::</a:t>
            </a:r>
            <a:r>
              <a:rPr kumimoji="1" lang="en-US" altLang="zh-CN" sz="1600" b="1"/>
              <a:t>Backtrack</a:t>
            </a:r>
            <a:r>
              <a:rPr kumimoji="1" lang="en-US" altLang="zh-CN" sz="1600"/>
              <a:t>(int i)</a:t>
            </a:r>
            <a:endParaRPr kumimoji="1" lang="en-US" altLang="zh-CN" sz="1600"/>
          </a:p>
          <a:p>
            <a:r>
              <a:rPr kumimoji="1" lang="en-US" altLang="zh-CN" sz="1600"/>
              <a:t>{// </a:t>
            </a:r>
            <a:r>
              <a:rPr kumimoji="1" lang="zh-CN" altLang="en-US" sz="1600"/>
              <a:t>计算最大团</a:t>
            </a:r>
            <a:endParaRPr kumimoji="1" lang="zh-CN" altLang="en-US" sz="1600"/>
          </a:p>
          <a:p>
            <a:r>
              <a:rPr kumimoji="1" lang="zh-CN" altLang="en-US" sz="1600"/>
              <a:t>   </a:t>
            </a:r>
            <a:r>
              <a:rPr kumimoji="1" lang="en-US" altLang="zh-CN" sz="1600"/>
              <a:t>if (i &gt; n) {// </a:t>
            </a:r>
            <a:r>
              <a:rPr kumimoji="1" lang="zh-CN" altLang="en-US" sz="1600"/>
              <a:t>到达叶结点</a:t>
            </a:r>
            <a:endParaRPr kumimoji="1" lang="zh-CN" altLang="en-US" sz="1600"/>
          </a:p>
          <a:p>
            <a:r>
              <a:rPr kumimoji="1" lang="zh-CN" altLang="en-US" sz="1600"/>
              <a:t>      </a:t>
            </a:r>
            <a:r>
              <a:rPr kumimoji="1" lang="en-US" altLang="zh-CN" sz="1600"/>
              <a:t>for (int j = 1; j &lt;= n; j++) bestx[j] = x[j];</a:t>
            </a:r>
            <a:endParaRPr kumimoji="1" lang="en-US" altLang="zh-CN" sz="1600"/>
          </a:p>
          <a:p>
            <a:r>
              <a:rPr kumimoji="1" lang="en-US" altLang="zh-CN" sz="1600"/>
              <a:t>      bestn = cn;   return;}</a:t>
            </a:r>
            <a:endParaRPr kumimoji="1" lang="en-US" altLang="zh-CN" sz="1600"/>
          </a:p>
          <a:p>
            <a:r>
              <a:rPr kumimoji="1" lang="en-US" altLang="zh-CN" sz="1600"/>
              <a:t>   // </a:t>
            </a:r>
            <a:r>
              <a:rPr kumimoji="1" lang="zh-CN" altLang="en-US" sz="1600"/>
              <a:t>检查顶点 </a:t>
            </a:r>
            <a:r>
              <a:rPr kumimoji="1" lang="en-US" altLang="zh-CN" sz="1600"/>
              <a:t>i </a:t>
            </a:r>
            <a:r>
              <a:rPr kumimoji="1" lang="zh-CN" altLang="en-US" sz="1600"/>
              <a:t>与当前团的连接</a:t>
            </a:r>
            <a:endParaRPr kumimoji="1" lang="zh-CN" altLang="en-US" sz="1600"/>
          </a:p>
          <a:p>
            <a:r>
              <a:rPr kumimoji="1" lang="zh-CN" altLang="en-US" sz="1600"/>
              <a:t>   </a:t>
            </a:r>
            <a:r>
              <a:rPr kumimoji="1" lang="en-US" altLang="zh-CN" sz="1600"/>
              <a:t>int OK = 1;</a:t>
            </a:r>
            <a:endParaRPr kumimoji="1" lang="en-US" altLang="zh-CN" sz="1600"/>
          </a:p>
          <a:p>
            <a:r>
              <a:rPr kumimoji="1" lang="en-US" altLang="zh-CN" sz="1600"/>
              <a:t>   for (int j = 1; j &lt; i; j++)</a:t>
            </a:r>
            <a:endParaRPr kumimoji="1" lang="en-US" altLang="zh-CN" sz="1600"/>
          </a:p>
          <a:p>
            <a:r>
              <a:rPr kumimoji="1" lang="en-US" altLang="zh-CN" sz="1600"/>
              <a:t>      if (x[j] &amp;&amp; a[i][j] == 0) {</a:t>
            </a:r>
            <a:endParaRPr kumimoji="1" lang="en-US" altLang="zh-CN" sz="1600"/>
          </a:p>
          <a:p>
            <a:r>
              <a:rPr kumimoji="1" lang="en-US" altLang="zh-CN" sz="1600"/>
              <a:t>         // i</a:t>
            </a:r>
            <a:r>
              <a:rPr kumimoji="1" lang="zh-CN" altLang="en-US" sz="1600"/>
              <a:t>与</a:t>
            </a:r>
            <a:r>
              <a:rPr kumimoji="1" lang="en-US" altLang="zh-CN" sz="1600"/>
              <a:t>j</a:t>
            </a:r>
            <a:r>
              <a:rPr kumimoji="1" lang="zh-CN" altLang="en-US" sz="1600"/>
              <a:t>不相连</a:t>
            </a:r>
            <a:endParaRPr kumimoji="1" lang="zh-CN" altLang="en-US" sz="1600"/>
          </a:p>
          <a:p>
            <a:r>
              <a:rPr kumimoji="1" lang="zh-CN" altLang="en-US" sz="1600"/>
              <a:t>         </a:t>
            </a:r>
            <a:r>
              <a:rPr kumimoji="1" lang="en-US" altLang="zh-CN" sz="1600"/>
              <a:t>OK = 0;  break;}</a:t>
            </a:r>
            <a:endParaRPr kumimoji="1" lang="en-US" altLang="zh-CN" sz="1600"/>
          </a:p>
          <a:p>
            <a:r>
              <a:rPr kumimoji="1" lang="en-US" altLang="zh-CN" sz="1600"/>
              <a:t>   if (OK) {// </a:t>
            </a:r>
            <a:r>
              <a:rPr kumimoji="1" lang="zh-CN" altLang="en-US" sz="1600"/>
              <a:t>进入左子树</a:t>
            </a:r>
            <a:endParaRPr kumimoji="1" lang="zh-CN" altLang="en-US" sz="1600"/>
          </a:p>
          <a:p>
            <a:r>
              <a:rPr kumimoji="1" lang="zh-CN" altLang="en-US" sz="1600"/>
              <a:t>      </a:t>
            </a:r>
            <a:r>
              <a:rPr kumimoji="1" lang="en-US" altLang="zh-CN" sz="1600"/>
              <a:t>x[i] = 1;  cn++;</a:t>
            </a:r>
            <a:endParaRPr kumimoji="1" lang="en-US" altLang="zh-CN" sz="1600"/>
          </a:p>
          <a:p>
            <a:r>
              <a:rPr kumimoji="1" lang="en-US" altLang="zh-CN" sz="1600"/>
              <a:t>      Backtrack(i+1);</a:t>
            </a:r>
            <a:endParaRPr kumimoji="1" lang="en-US" altLang="zh-CN" sz="1600"/>
          </a:p>
          <a:p>
            <a:r>
              <a:rPr kumimoji="1" lang="en-US" altLang="zh-CN" sz="1600"/>
              <a:t>      x[i] = 0; cn--;}</a:t>
            </a:r>
            <a:endParaRPr kumimoji="1" lang="en-US" altLang="zh-CN" sz="1600"/>
          </a:p>
          <a:p>
            <a:r>
              <a:rPr kumimoji="1" lang="en-US" altLang="zh-CN" sz="1600"/>
              <a:t>   if (cn + n - i &gt; bestn) {// </a:t>
            </a:r>
            <a:r>
              <a:rPr kumimoji="1" lang="zh-CN" altLang="en-US" sz="1600"/>
              <a:t>进入右子树</a:t>
            </a:r>
            <a:endParaRPr kumimoji="1" lang="zh-CN" altLang="en-US" sz="1600"/>
          </a:p>
          <a:p>
            <a:r>
              <a:rPr kumimoji="1" lang="zh-CN" altLang="en-US" sz="1600"/>
              <a:t>      </a:t>
            </a:r>
            <a:r>
              <a:rPr kumimoji="1" lang="en-US" altLang="zh-CN" sz="1600"/>
              <a:t>x[i] = 0;</a:t>
            </a:r>
            <a:endParaRPr kumimoji="1" lang="en-US" altLang="zh-CN" sz="1600"/>
          </a:p>
          <a:p>
            <a:r>
              <a:rPr kumimoji="1" lang="en-US" altLang="zh-CN" sz="1600"/>
              <a:t>      Backtrack(i+1);}</a:t>
            </a:r>
            <a:endParaRPr kumimoji="1" lang="en-US" altLang="zh-CN" sz="1600"/>
          </a:p>
          <a:p>
            <a:r>
              <a:rPr kumimoji="1" lang="en-US" altLang="zh-CN" sz="1600"/>
              <a:t>}</a:t>
            </a:r>
            <a:endParaRPr kumimoji="1" lang="en-US" altLang="zh-CN" sz="1600"/>
          </a:p>
        </p:txBody>
      </p:sp>
      <p:sp>
        <p:nvSpPr>
          <p:cNvPr id="52229" name="AutoShape 5"/>
          <p:cNvSpPr>
            <a:spLocks noChangeArrowheads="1"/>
          </p:cNvSpPr>
          <p:nvPr/>
        </p:nvSpPr>
        <p:spPr bwMode="auto">
          <a:xfrm>
            <a:off x="1187450" y="3500438"/>
            <a:ext cx="6943725" cy="1346200"/>
          </a:xfrm>
          <a:prstGeom prst="roundRect">
            <a:avLst>
              <a:gd name="adj" fmla="val 16667"/>
            </a:avLst>
          </a:prstGeom>
          <a:solidFill>
            <a:schemeClr val="bg1"/>
          </a:solidFill>
          <a:ln w="38100">
            <a:solidFill>
              <a:srgbClr val="063DE8"/>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400" b="1">
                <a:ea typeface="黑体" panose="02010609060101010101" pitchFamily="49" charset="-122"/>
              </a:rPr>
              <a:t>复杂度分析</a:t>
            </a:r>
            <a:endParaRPr lang="zh-CN" altLang="en-US" sz="2400" b="1">
              <a:ea typeface="黑体" panose="02010609060101010101" pitchFamily="49" charset="-122"/>
            </a:endParaRPr>
          </a:p>
          <a:p>
            <a:pPr eaLnBrk="0" hangingPunct="0"/>
            <a:r>
              <a:rPr lang="zh-CN" altLang="en-US" sz="2400">
                <a:ea typeface="新宋体" panose="02010609030101010101" charset="-122"/>
                <a:sym typeface="Wingdings" panose="05000000000000000000" pitchFamily="2" charset="2"/>
              </a:rPr>
              <a:t>最大团问题的回溯算法</a:t>
            </a:r>
            <a:r>
              <a:rPr lang="en-US" altLang="zh-CN" sz="2400" b="1">
                <a:ea typeface="新宋体" panose="02010609030101010101" charset="-122"/>
                <a:sym typeface="Wingdings" panose="05000000000000000000" pitchFamily="2" charset="2"/>
              </a:rPr>
              <a:t>backtrack</a:t>
            </a:r>
            <a:r>
              <a:rPr lang="zh-CN" altLang="en-US" sz="2400">
                <a:ea typeface="新宋体" panose="02010609030101010101" charset="-122"/>
                <a:sym typeface="Wingdings" panose="05000000000000000000" pitchFamily="2" charset="2"/>
              </a:rPr>
              <a:t>所需的计算时间显然为</a:t>
            </a:r>
            <a:r>
              <a:rPr lang="en-US" altLang="zh-CN" sz="2400">
                <a:ea typeface="新宋体" panose="02010609030101010101" charset="-122"/>
                <a:sym typeface="Wingdings" panose="05000000000000000000" pitchFamily="2" charset="2"/>
              </a:rPr>
              <a:t>O(n2</a:t>
            </a:r>
            <a:r>
              <a:rPr lang="en-US" altLang="zh-CN" sz="2400" baseline="30000">
                <a:ea typeface="新宋体" panose="02010609030101010101" charset="-122"/>
                <a:sym typeface="Wingdings" panose="05000000000000000000" pitchFamily="2" charset="2"/>
              </a:rPr>
              <a:t>n</a:t>
            </a:r>
            <a:r>
              <a:rPr lang="en-US" altLang="zh-CN" sz="2400">
                <a:ea typeface="新宋体" panose="02010609030101010101" charset="-122"/>
                <a:sym typeface="Wingdings" panose="05000000000000000000" pitchFamily="2" charset="2"/>
              </a:rPr>
              <a:t>)</a:t>
            </a:r>
            <a:r>
              <a:rPr lang="zh-CN" altLang="en-US" sz="2400">
                <a:ea typeface="新宋体" panose="02010609030101010101" charset="-122"/>
                <a:sym typeface="Wingdings" panose="05000000000000000000" pitchFamily="2" charset="2"/>
              </a:rPr>
              <a:t>。</a:t>
            </a:r>
            <a:endParaRPr lang="zh-CN" altLang="en-US" sz="2400">
              <a:ea typeface="新宋体" panose="02010609030101010101" charset="-122"/>
              <a:sym typeface="Wingdings" panose="05000000000000000000" pitchFamily="2" charset="2"/>
            </a:endParaRPr>
          </a:p>
        </p:txBody>
      </p:sp>
      <p:grpSp>
        <p:nvGrpSpPr>
          <p:cNvPr id="52230" name="Group 6"/>
          <p:cNvGrpSpPr/>
          <p:nvPr/>
        </p:nvGrpSpPr>
        <p:grpSpPr bwMode="auto">
          <a:xfrm>
            <a:off x="5599113" y="1938338"/>
            <a:ext cx="2338387" cy="1258887"/>
            <a:chOff x="1258" y="3306"/>
            <a:chExt cx="1311" cy="705"/>
          </a:xfrm>
        </p:grpSpPr>
        <p:sp>
          <p:nvSpPr>
            <p:cNvPr id="52231" name="Oval 7"/>
            <p:cNvSpPr>
              <a:spLocks noChangeArrowheads="1"/>
            </p:cNvSpPr>
            <p:nvPr/>
          </p:nvSpPr>
          <p:spPr bwMode="auto">
            <a:xfrm>
              <a:off x="1270" y="3306"/>
              <a:ext cx="178" cy="204"/>
            </a:xfrm>
            <a:prstGeom prst="ellipse">
              <a:avLst/>
            </a:prstGeom>
            <a:solidFill>
              <a:srgbClr val="99CC00"/>
            </a:solidFill>
            <a:ln w="12700" algn="ctr">
              <a:solidFill>
                <a:schemeClr val="tx1"/>
              </a:solidFill>
              <a:round/>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pPr algn="ctr"/>
              <a:r>
                <a:rPr lang="en-US" altLang="zh-CN" sz="1200" b="1">
                  <a:ea typeface="新宋体" panose="02010609030101010101" charset="-122"/>
                </a:rPr>
                <a:t>1</a:t>
              </a:r>
              <a:endParaRPr lang="en-US" altLang="zh-CN" sz="1200" b="1">
                <a:ea typeface="新宋体" panose="02010609030101010101" charset="-122"/>
              </a:endParaRPr>
            </a:p>
          </p:txBody>
        </p:sp>
        <p:sp>
          <p:nvSpPr>
            <p:cNvPr id="52232" name="Oval 8"/>
            <p:cNvSpPr>
              <a:spLocks noChangeArrowheads="1"/>
            </p:cNvSpPr>
            <p:nvPr/>
          </p:nvSpPr>
          <p:spPr bwMode="auto">
            <a:xfrm>
              <a:off x="1882" y="3307"/>
              <a:ext cx="199" cy="204"/>
            </a:xfrm>
            <a:prstGeom prst="ellipse">
              <a:avLst/>
            </a:prstGeom>
            <a:solidFill>
              <a:srgbClr val="99CC00"/>
            </a:solidFill>
            <a:ln w="12700" algn="ctr">
              <a:solidFill>
                <a:schemeClr val="tx1"/>
              </a:solidFill>
              <a:round/>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spAutoFit/>
            </a:bodyPr>
            <a:lstStyle/>
            <a:p>
              <a:pPr algn="ctr"/>
              <a:r>
                <a:rPr lang="en-US" altLang="zh-CN" sz="1200" b="1">
                  <a:ea typeface="新宋体" panose="02010609030101010101" charset="-122"/>
                </a:rPr>
                <a:t>2</a:t>
              </a:r>
              <a:endParaRPr lang="en-US" altLang="zh-CN" sz="1200" b="1">
                <a:ea typeface="新宋体" panose="02010609030101010101" charset="-122"/>
              </a:endParaRPr>
            </a:p>
          </p:txBody>
        </p:sp>
        <p:sp>
          <p:nvSpPr>
            <p:cNvPr id="52233" name="Oval 9"/>
            <p:cNvSpPr>
              <a:spLocks noChangeArrowheads="1"/>
            </p:cNvSpPr>
            <p:nvPr/>
          </p:nvSpPr>
          <p:spPr bwMode="auto">
            <a:xfrm>
              <a:off x="1258" y="3807"/>
              <a:ext cx="177" cy="204"/>
            </a:xfrm>
            <a:prstGeom prst="ellipse">
              <a:avLst/>
            </a:prstGeom>
            <a:solidFill>
              <a:srgbClr val="FFCC00"/>
            </a:solidFill>
            <a:ln w="12700" algn="ctr">
              <a:solidFill>
                <a:schemeClr val="tx1"/>
              </a:solidFill>
              <a:round/>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pPr algn="ctr"/>
              <a:r>
                <a:rPr lang="en-US" altLang="zh-CN" sz="1200" b="1">
                  <a:ea typeface="新宋体" panose="02010609030101010101" charset="-122"/>
                </a:rPr>
                <a:t>4</a:t>
              </a:r>
              <a:endParaRPr lang="en-US" altLang="zh-CN" sz="1200" b="1">
                <a:ea typeface="新宋体" panose="02010609030101010101" charset="-122"/>
              </a:endParaRPr>
            </a:p>
          </p:txBody>
        </p:sp>
        <p:sp>
          <p:nvSpPr>
            <p:cNvPr id="52234" name="Oval 10"/>
            <p:cNvSpPr>
              <a:spLocks noChangeArrowheads="1"/>
            </p:cNvSpPr>
            <p:nvPr/>
          </p:nvSpPr>
          <p:spPr bwMode="auto">
            <a:xfrm>
              <a:off x="1892" y="3807"/>
              <a:ext cx="178" cy="204"/>
            </a:xfrm>
            <a:prstGeom prst="ellipse">
              <a:avLst/>
            </a:prstGeom>
            <a:solidFill>
              <a:srgbClr val="99CC00"/>
            </a:solidFill>
            <a:ln w="12700" algn="ctr">
              <a:solidFill>
                <a:schemeClr val="tx1"/>
              </a:solidFill>
              <a:round/>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pPr algn="ctr"/>
              <a:r>
                <a:rPr lang="en-US" altLang="zh-CN" sz="1200" b="1">
                  <a:ea typeface="新宋体" panose="02010609030101010101" charset="-122"/>
                </a:rPr>
                <a:t>5</a:t>
              </a:r>
              <a:endParaRPr lang="en-US" altLang="zh-CN" sz="1200" b="1">
                <a:ea typeface="新宋体" panose="02010609030101010101" charset="-122"/>
              </a:endParaRPr>
            </a:p>
          </p:txBody>
        </p:sp>
        <p:sp>
          <p:nvSpPr>
            <p:cNvPr id="52235" name="Oval 11"/>
            <p:cNvSpPr>
              <a:spLocks noChangeArrowheads="1"/>
            </p:cNvSpPr>
            <p:nvPr/>
          </p:nvSpPr>
          <p:spPr bwMode="auto">
            <a:xfrm>
              <a:off x="2392" y="3534"/>
              <a:ext cx="177" cy="204"/>
            </a:xfrm>
            <a:prstGeom prst="ellipse">
              <a:avLst/>
            </a:prstGeom>
            <a:solidFill>
              <a:srgbClr val="FFCC00"/>
            </a:solidFill>
            <a:ln w="12700" algn="ctr">
              <a:solidFill>
                <a:schemeClr val="tx1"/>
              </a:solidFill>
              <a:round/>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pPr algn="ctr"/>
              <a:r>
                <a:rPr lang="en-US" altLang="zh-CN" sz="1200" b="1">
                  <a:ea typeface="新宋体" panose="02010609030101010101" charset="-122"/>
                </a:rPr>
                <a:t>3</a:t>
              </a:r>
              <a:endParaRPr lang="en-US" altLang="zh-CN" sz="1200" b="1">
                <a:ea typeface="新宋体" panose="02010609030101010101" charset="-122"/>
              </a:endParaRPr>
            </a:p>
          </p:txBody>
        </p:sp>
        <p:cxnSp>
          <p:nvCxnSpPr>
            <p:cNvPr id="52236" name="AutoShape 12"/>
            <p:cNvCxnSpPr>
              <a:cxnSpLocks noChangeShapeType="1"/>
              <a:stCxn id="52231" idx="6"/>
              <a:endCxn id="52232" idx="2"/>
            </p:cNvCxnSpPr>
            <p:nvPr/>
          </p:nvCxnSpPr>
          <p:spPr bwMode="auto">
            <a:xfrm>
              <a:off x="1459" y="3409"/>
              <a:ext cx="423" cy="1"/>
            </a:xfrm>
            <a:prstGeom prst="straightConnector1">
              <a:avLst/>
            </a:prstGeom>
            <a:noFill/>
            <a:ln w="5080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cxnSp>
        <p:cxnSp>
          <p:nvCxnSpPr>
            <p:cNvPr id="52237" name="AutoShape 13"/>
            <p:cNvCxnSpPr>
              <a:cxnSpLocks noChangeShapeType="1"/>
              <a:stCxn id="52231" idx="4"/>
              <a:endCxn id="52233" idx="0"/>
            </p:cNvCxnSpPr>
            <p:nvPr/>
          </p:nvCxnSpPr>
          <p:spPr bwMode="auto">
            <a:xfrm flipH="1">
              <a:off x="1347" y="3523"/>
              <a:ext cx="13" cy="271"/>
            </a:xfrm>
            <a:prstGeom prst="straightConnector1">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cxnSp>
        <p:cxnSp>
          <p:nvCxnSpPr>
            <p:cNvPr id="52238" name="AutoShape 14"/>
            <p:cNvCxnSpPr>
              <a:cxnSpLocks noChangeShapeType="1"/>
              <a:stCxn id="52233" idx="6"/>
              <a:endCxn id="52234" idx="2"/>
            </p:cNvCxnSpPr>
            <p:nvPr/>
          </p:nvCxnSpPr>
          <p:spPr bwMode="auto">
            <a:xfrm>
              <a:off x="1446" y="3909"/>
              <a:ext cx="436" cy="0"/>
            </a:xfrm>
            <a:prstGeom prst="straightConnector1">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cxnSp>
        <p:cxnSp>
          <p:nvCxnSpPr>
            <p:cNvPr id="52239" name="AutoShape 15"/>
            <p:cNvCxnSpPr>
              <a:cxnSpLocks noChangeShapeType="1"/>
              <a:stCxn id="52234" idx="0"/>
              <a:endCxn id="52232" idx="4"/>
            </p:cNvCxnSpPr>
            <p:nvPr/>
          </p:nvCxnSpPr>
          <p:spPr bwMode="auto">
            <a:xfrm flipV="1">
              <a:off x="1982" y="3524"/>
              <a:ext cx="0" cy="270"/>
            </a:xfrm>
            <a:prstGeom prst="straightConnector1">
              <a:avLst/>
            </a:prstGeom>
            <a:noFill/>
            <a:ln w="5080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cxnSp>
        <p:cxnSp>
          <p:nvCxnSpPr>
            <p:cNvPr id="52240" name="AutoShape 16"/>
            <p:cNvCxnSpPr>
              <a:cxnSpLocks noChangeShapeType="1"/>
              <a:stCxn id="52231" idx="5"/>
              <a:endCxn id="52234" idx="1"/>
            </p:cNvCxnSpPr>
            <p:nvPr/>
          </p:nvCxnSpPr>
          <p:spPr bwMode="auto">
            <a:xfrm>
              <a:off x="1430" y="3489"/>
              <a:ext cx="481" cy="339"/>
            </a:xfrm>
            <a:prstGeom prst="straightConnector1">
              <a:avLst/>
            </a:prstGeom>
            <a:noFill/>
            <a:ln w="5080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cxnSp>
        <p:cxnSp>
          <p:nvCxnSpPr>
            <p:cNvPr id="52241" name="AutoShape 17"/>
            <p:cNvCxnSpPr>
              <a:cxnSpLocks noChangeShapeType="1"/>
              <a:stCxn id="52235" idx="1"/>
              <a:endCxn id="52232" idx="6"/>
            </p:cNvCxnSpPr>
            <p:nvPr/>
          </p:nvCxnSpPr>
          <p:spPr bwMode="auto">
            <a:xfrm flipH="1" flipV="1">
              <a:off x="2081" y="3410"/>
              <a:ext cx="329" cy="146"/>
            </a:xfrm>
            <a:prstGeom prst="straightConnector1">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cxnSp>
        <p:cxnSp>
          <p:nvCxnSpPr>
            <p:cNvPr id="52242" name="AutoShape 18"/>
            <p:cNvCxnSpPr>
              <a:cxnSpLocks noChangeShapeType="1"/>
              <a:stCxn id="52234" idx="6"/>
              <a:endCxn id="52235" idx="3"/>
            </p:cNvCxnSpPr>
            <p:nvPr/>
          </p:nvCxnSpPr>
          <p:spPr bwMode="auto">
            <a:xfrm flipV="1">
              <a:off x="2081" y="3717"/>
              <a:ext cx="329" cy="192"/>
            </a:xfrm>
            <a:prstGeom prst="straightConnector1">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8900000" algn="ctr" rotWithShape="0">
                      <a:schemeClr val="bg2"/>
                    </a:outerShdw>
                  </a:effectLst>
                </a14:hiddenEffects>
              </a:ext>
            </a:ex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2229"/>
                                        </p:tgtEl>
                                        <p:attrNameLst>
                                          <p:attrName>style.visibility</p:attrName>
                                        </p:attrNameLst>
                                      </p:cBhvr>
                                      <p:to>
                                        <p:strVal val="visible"/>
                                      </p:to>
                                    </p:set>
                                    <p:animEffect transition="in" filter="blinds(horizontal)">
                                      <p:cBhvr>
                                        <p:cTn id="7" dur="500"/>
                                        <p:tgtEl>
                                          <p:spTgt spid="52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9"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ChangeArrowheads="1"/>
          </p:cNvSpPr>
          <p:nvPr/>
        </p:nvSpPr>
        <p:spPr bwMode="auto">
          <a:xfrm>
            <a:off x="611188"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3900" b="1">
                <a:solidFill>
                  <a:schemeClr val="tx2"/>
                </a:solidFill>
                <a:effectLst>
                  <a:outerShdw blurRad="38100" dist="38100" dir="2700000" algn="tl">
                    <a:srgbClr val="C0C0C0"/>
                  </a:outerShdw>
                </a:effectLst>
                <a:ea typeface="黑体" panose="02010609060101010101" pitchFamily="49" charset="-122"/>
              </a:rPr>
              <a:t>进一步改进</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sp>
        <p:nvSpPr>
          <p:cNvPr id="53251" name="Text Box 3"/>
          <p:cNvSpPr txBox="1">
            <a:spLocks noChangeArrowheads="1"/>
          </p:cNvSpPr>
          <p:nvPr/>
        </p:nvSpPr>
        <p:spPr bwMode="auto">
          <a:xfrm>
            <a:off x="395288" y="908050"/>
            <a:ext cx="8280400" cy="4840288"/>
          </a:xfrm>
          <a:prstGeom prst="rect">
            <a:avLst/>
          </a:prstGeom>
          <a:solidFill>
            <a:schemeClr val="hlink"/>
          </a:solidFill>
          <a:ln w="508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FontTx/>
              <a:buChar char="•"/>
            </a:pPr>
            <a:r>
              <a:rPr lang="zh-CN" altLang="en-US" sz="2800">
                <a:ea typeface="黑体" panose="02010609060101010101" pitchFamily="49" charset="-122"/>
              </a:rPr>
              <a:t>选择合适的搜索顺序</a:t>
            </a:r>
            <a:r>
              <a:rPr lang="zh-CN" altLang="en-US" sz="2800">
                <a:ea typeface="新宋体" panose="02010609030101010101" charset="-122"/>
              </a:rPr>
              <a:t>，可以使得上界函数更有效的发挥作用。例如在搜索之前可以将顶点按度从小到大排序。这在某种意义上相当于给回溯法加入了启发性。</a:t>
            </a:r>
            <a:endParaRPr lang="zh-CN" altLang="en-US" sz="2800">
              <a:ea typeface="新宋体" panose="02010609030101010101" charset="-122"/>
            </a:endParaRPr>
          </a:p>
          <a:p>
            <a:pPr>
              <a:buClr>
                <a:schemeClr val="accent2"/>
              </a:buClr>
              <a:buFontTx/>
              <a:buChar char="•"/>
            </a:pPr>
            <a:r>
              <a:rPr lang="zh-CN" altLang="en-US" sz="2800">
                <a:ea typeface="新宋体" panose="02010609030101010101" charset="-122"/>
              </a:rPr>
              <a:t>定义</a:t>
            </a:r>
            <a:r>
              <a:rPr lang="en-US" altLang="zh-CN" sz="2800">
                <a:ea typeface="新宋体" panose="02010609030101010101" charset="-122"/>
              </a:rPr>
              <a:t>Si={v</a:t>
            </a:r>
            <a:r>
              <a:rPr lang="en-US" altLang="zh-CN" sz="2800" baseline="-25000">
                <a:ea typeface="新宋体" panose="02010609030101010101" charset="-122"/>
              </a:rPr>
              <a:t>i</a:t>
            </a:r>
            <a:r>
              <a:rPr lang="en-US" altLang="zh-CN" sz="2800">
                <a:ea typeface="新宋体" panose="02010609030101010101" charset="-122"/>
              </a:rPr>
              <a:t>,v</a:t>
            </a:r>
            <a:r>
              <a:rPr lang="en-US" altLang="zh-CN" sz="2800" baseline="-25000">
                <a:ea typeface="新宋体" panose="02010609030101010101" charset="-122"/>
              </a:rPr>
              <a:t>i+1</a:t>
            </a:r>
            <a:r>
              <a:rPr lang="en-US" altLang="zh-CN" sz="2800">
                <a:ea typeface="新宋体" panose="02010609030101010101" charset="-122"/>
              </a:rPr>
              <a:t>,...,v</a:t>
            </a:r>
            <a:r>
              <a:rPr lang="en-US" altLang="zh-CN" sz="2800" baseline="-25000">
                <a:ea typeface="新宋体" panose="02010609030101010101" charset="-122"/>
              </a:rPr>
              <a:t>n</a:t>
            </a:r>
            <a:r>
              <a:rPr lang="en-US" altLang="zh-CN" sz="2800">
                <a:ea typeface="新宋体" panose="02010609030101010101" charset="-122"/>
              </a:rPr>
              <a:t>}</a:t>
            </a:r>
            <a:r>
              <a:rPr lang="zh-CN" altLang="en-US" sz="2800">
                <a:ea typeface="新宋体" panose="02010609030101010101" charset="-122"/>
              </a:rPr>
              <a:t>，依次求出</a:t>
            </a:r>
            <a:r>
              <a:rPr lang="en-US" altLang="zh-CN" sz="2800">
                <a:ea typeface="新宋体" panose="02010609030101010101" charset="-122"/>
              </a:rPr>
              <a:t>S</a:t>
            </a:r>
            <a:r>
              <a:rPr lang="en-US" altLang="zh-CN" sz="2800" baseline="-25000">
                <a:ea typeface="新宋体" panose="02010609030101010101" charset="-122"/>
              </a:rPr>
              <a:t>n</a:t>
            </a:r>
            <a:r>
              <a:rPr lang="en-US" altLang="zh-CN" sz="2800">
                <a:ea typeface="新宋体" panose="02010609030101010101" charset="-122"/>
              </a:rPr>
              <a:t>,S</a:t>
            </a:r>
            <a:r>
              <a:rPr lang="en-US" altLang="zh-CN" sz="2800" baseline="-25000">
                <a:ea typeface="新宋体" panose="02010609030101010101" charset="-122"/>
              </a:rPr>
              <a:t>n-1</a:t>
            </a:r>
            <a:r>
              <a:rPr lang="en-US" altLang="zh-CN" sz="2800">
                <a:ea typeface="新宋体" panose="02010609030101010101" charset="-122"/>
              </a:rPr>
              <a:t>,...,S</a:t>
            </a:r>
            <a:r>
              <a:rPr lang="en-US" altLang="zh-CN" sz="2800" baseline="-25000">
                <a:ea typeface="新宋体" panose="02010609030101010101" charset="-122"/>
              </a:rPr>
              <a:t>1</a:t>
            </a:r>
            <a:r>
              <a:rPr lang="zh-CN" altLang="en-US" sz="2800">
                <a:ea typeface="新宋体" panose="02010609030101010101" charset="-122"/>
              </a:rPr>
              <a:t>的解。从而得到一个</a:t>
            </a:r>
            <a:r>
              <a:rPr lang="zh-CN" altLang="en-US" sz="2800">
                <a:ea typeface="黑体" panose="02010609060101010101" pitchFamily="49" charset="-122"/>
              </a:rPr>
              <a:t>更精确的上界函数</a:t>
            </a:r>
            <a:r>
              <a:rPr lang="zh-CN" altLang="en-US" sz="2800">
                <a:ea typeface="新宋体" panose="02010609030101010101" charset="-122"/>
              </a:rPr>
              <a:t>，若</a:t>
            </a:r>
            <a:r>
              <a:rPr lang="en-US" altLang="zh-CN" sz="2800">
                <a:ea typeface="新宋体" panose="02010609030101010101" charset="-122"/>
              </a:rPr>
              <a:t>cn+S</a:t>
            </a:r>
            <a:r>
              <a:rPr lang="en-US" altLang="zh-CN" sz="2800" baseline="-25000">
                <a:ea typeface="新宋体" panose="02010609030101010101" charset="-122"/>
              </a:rPr>
              <a:t>i</a:t>
            </a:r>
            <a:r>
              <a:rPr lang="en-US" altLang="zh-CN" sz="2800">
                <a:ea typeface="新宋体" panose="02010609030101010101" charset="-122"/>
              </a:rPr>
              <a:t>&lt;=max</a:t>
            </a:r>
            <a:r>
              <a:rPr lang="zh-CN" altLang="en-US" sz="2800">
                <a:ea typeface="新宋体" panose="02010609030101010101" charset="-122"/>
              </a:rPr>
              <a:t>则剪枝。同时注意到：从</a:t>
            </a:r>
            <a:r>
              <a:rPr lang="en-US" altLang="zh-CN" sz="2800">
                <a:ea typeface="新宋体" panose="02010609030101010101" charset="-122"/>
              </a:rPr>
              <a:t>S</a:t>
            </a:r>
            <a:r>
              <a:rPr lang="en-US" altLang="zh-CN" sz="2800" baseline="-25000">
                <a:ea typeface="新宋体" panose="02010609030101010101" charset="-122"/>
              </a:rPr>
              <a:t>i+1</a:t>
            </a:r>
            <a:r>
              <a:rPr lang="zh-CN" altLang="en-US" sz="2800">
                <a:ea typeface="新宋体" panose="02010609030101010101" charset="-122"/>
              </a:rPr>
              <a:t>到</a:t>
            </a:r>
            <a:r>
              <a:rPr lang="en-US" altLang="zh-CN" sz="2800">
                <a:ea typeface="新宋体" panose="02010609030101010101" charset="-122"/>
              </a:rPr>
              <a:t>S</a:t>
            </a:r>
            <a:r>
              <a:rPr lang="en-US" altLang="zh-CN" sz="2800" baseline="-25000">
                <a:ea typeface="新宋体" panose="02010609030101010101" charset="-122"/>
              </a:rPr>
              <a:t>i</a:t>
            </a:r>
            <a:r>
              <a:rPr lang="zh-CN" altLang="en-US" sz="2800">
                <a:ea typeface="新宋体" panose="02010609030101010101" charset="-122"/>
              </a:rPr>
              <a:t>，如果找到一个更大的团，那么</a:t>
            </a:r>
            <a:r>
              <a:rPr lang="en-US" altLang="zh-CN" sz="2800">
                <a:ea typeface="新宋体" panose="02010609030101010101" charset="-122"/>
              </a:rPr>
              <a:t>v</a:t>
            </a:r>
            <a:r>
              <a:rPr lang="en-US" altLang="zh-CN" sz="2800" baseline="-25000">
                <a:ea typeface="新宋体" panose="02010609030101010101" charset="-122"/>
              </a:rPr>
              <a:t>i</a:t>
            </a:r>
            <a:r>
              <a:rPr lang="zh-CN" altLang="en-US" sz="2800">
                <a:ea typeface="新宋体" panose="02010609030101010101" charset="-122"/>
              </a:rPr>
              <a:t>必然属于找到的团，此时有</a:t>
            </a:r>
            <a:r>
              <a:rPr lang="en-US" altLang="zh-CN" sz="2800">
                <a:ea typeface="新宋体" panose="02010609030101010101" charset="-122"/>
              </a:rPr>
              <a:t>S</a:t>
            </a:r>
            <a:r>
              <a:rPr lang="en-US" altLang="zh-CN" sz="2800" baseline="-25000">
                <a:ea typeface="新宋体" panose="02010609030101010101" charset="-122"/>
              </a:rPr>
              <a:t>i</a:t>
            </a:r>
            <a:r>
              <a:rPr lang="en-US" altLang="zh-CN" sz="2800">
                <a:ea typeface="新宋体" panose="02010609030101010101" charset="-122"/>
              </a:rPr>
              <a:t>=S</a:t>
            </a:r>
            <a:r>
              <a:rPr lang="en-US" altLang="zh-CN" sz="2800" baseline="-25000">
                <a:ea typeface="新宋体" panose="02010609030101010101" charset="-122"/>
              </a:rPr>
              <a:t>i+1</a:t>
            </a:r>
            <a:r>
              <a:rPr lang="en-US" altLang="zh-CN" sz="2800">
                <a:ea typeface="新宋体" panose="02010609030101010101" charset="-122"/>
              </a:rPr>
              <a:t>+1</a:t>
            </a:r>
            <a:r>
              <a:rPr lang="zh-CN" altLang="en-US" sz="2800">
                <a:ea typeface="新宋体" panose="02010609030101010101" charset="-122"/>
              </a:rPr>
              <a:t>，否则</a:t>
            </a:r>
            <a:r>
              <a:rPr lang="en-US" altLang="zh-CN" sz="2800">
                <a:ea typeface="新宋体" panose="02010609030101010101" charset="-122"/>
              </a:rPr>
              <a:t>S</a:t>
            </a:r>
            <a:r>
              <a:rPr lang="en-US" altLang="zh-CN" sz="2800" baseline="-25000">
                <a:ea typeface="新宋体" panose="02010609030101010101" charset="-122"/>
              </a:rPr>
              <a:t>i</a:t>
            </a:r>
            <a:r>
              <a:rPr lang="en-US" altLang="zh-CN" sz="2800">
                <a:ea typeface="新宋体" panose="02010609030101010101" charset="-122"/>
              </a:rPr>
              <a:t>=S</a:t>
            </a:r>
            <a:r>
              <a:rPr lang="en-US" altLang="zh-CN" sz="2800" baseline="-25000">
                <a:ea typeface="新宋体" panose="02010609030101010101" charset="-122"/>
              </a:rPr>
              <a:t>i+1</a:t>
            </a:r>
            <a:r>
              <a:rPr lang="zh-CN" altLang="en-US" sz="2800">
                <a:ea typeface="新宋体" panose="02010609030101010101" charset="-122"/>
              </a:rPr>
              <a:t>。</a:t>
            </a:r>
            <a:r>
              <a:rPr lang="zh-CN" altLang="en-US" sz="2800">
                <a:latin typeface="黑体" panose="02010609060101010101" pitchFamily="49" charset="-122"/>
                <a:ea typeface="黑体" panose="02010609060101010101" pitchFamily="49" charset="-122"/>
              </a:rPr>
              <a:t>因此只要</a:t>
            </a:r>
            <a:r>
              <a:rPr lang="en-US" altLang="zh-CN" sz="2800">
                <a:latin typeface="黑体" panose="02010609060101010101" pitchFamily="49" charset="-122"/>
                <a:ea typeface="黑体" panose="02010609060101010101" pitchFamily="49" charset="-122"/>
              </a:rPr>
              <a:t>max</a:t>
            </a:r>
            <a:r>
              <a:rPr lang="zh-CN" altLang="en-US" sz="2800">
                <a:latin typeface="黑体" panose="02010609060101010101" pitchFamily="49" charset="-122"/>
                <a:ea typeface="黑体" panose="02010609060101010101" pitchFamily="49" charset="-122"/>
              </a:rPr>
              <a:t>的值被更新过，就可以确定已经找到最大值，不必再往下搜索了。</a:t>
            </a:r>
            <a:endParaRPr lang="zh-CN" altLang="en-US" sz="280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3251"/>
                                        </p:tgtEl>
                                        <p:attrNameLst>
                                          <p:attrName>style.visibility</p:attrName>
                                        </p:attrNameLst>
                                      </p:cBhvr>
                                      <p:to>
                                        <p:strVal val="visible"/>
                                      </p:to>
                                    </p:set>
                                    <p:animEffect transition="in" filter="blinds(horizontal)">
                                      <p:cBhvr>
                                        <p:cTn id="7" dur="500"/>
                                        <p:tgtEl>
                                          <p:spTgt spid="53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ctrTitle"/>
          </p:nvPr>
        </p:nvSpPr>
        <p:spPr/>
        <p:txBody>
          <a:bodyPr/>
          <a:lstStyle/>
          <a:p>
            <a:r>
              <a:rPr lang="en-US" altLang="en-US">
                <a:effectLst>
                  <a:outerShdw blurRad="38100" dist="38100" dir="2700000" algn="tl">
                    <a:srgbClr val="C0C0C0"/>
                  </a:outerShdw>
                </a:effectLst>
                <a:ea typeface="黑体" panose="02010609060101010101" pitchFamily="49" charset="-122"/>
              </a:rPr>
              <a:t>图的m着色问题</a:t>
            </a:r>
            <a:endParaRPr lang="zh-CN" altLang="en-US">
              <a:effectLst>
                <a:outerShdw blurRad="38100" dist="38100" dir="2700000" algn="tl">
                  <a:srgbClr val="C0C0C0"/>
                </a:outerShdw>
              </a:effectLst>
              <a:ea typeface="黑体" panose="02010609060101010101" pitchFamily="49" charset="-122"/>
            </a:endParaRPr>
          </a:p>
        </p:txBody>
      </p:sp>
      <p:sp>
        <p:nvSpPr>
          <p:cNvPr id="54275" name="Rectangle 3"/>
          <p:cNvSpPr>
            <a:spLocks noGrp="1" noChangeArrowheads="1"/>
          </p:cNvSpPr>
          <p:nvPr>
            <p:ph type="subTitle" idx="1"/>
          </p:nvPr>
        </p:nvSpPr>
        <p:spPr/>
        <p:txBody>
          <a:bodyPr/>
          <a:lstStyle/>
          <a:p>
            <a:endParaRPr lang="zh-CN" altLang="zh-CN"/>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ChangeArrowheads="1"/>
          </p:cNvSpPr>
          <p:nvPr/>
        </p:nvSpPr>
        <p:spPr bwMode="auto">
          <a:xfrm>
            <a:off x="611188"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en-US" sz="3900" b="1">
                <a:solidFill>
                  <a:schemeClr val="tx2"/>
                </a:solidFill>
                <a:effectLst>
                  <a:outerShdw blurRad="38100" dist="38100" dir="2700000" algn="tl">
                    <a:srgbClr val="C0C0C0"/>
                  </a:outerShdw>
                </a:effectLst>
                <a:ea typeface="黑体" panose="02010609060101010101" pitchFamily="49" charset="-122"/>
              </a:rPr>
              <a:t>图的m着色问题</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sp>
        <p:nvSpPr>
          <p:cNvPr id="55299" name="Text Box 3"/>
          <p:cNvSpPr txBox="1">
            <a:spLocks noChangeArrowheads="1"/>
          </p:cNvSpPr>
          <p:nvPr/>
        </p:nvSpPr>
        <p:spPr bwMode="auto">
          <a:xfrm>
            <a:off x="323850" y="765175"/>
            <a:ext cx="8445500" cy="3081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800">
                <a:latin typeface="黑体" panose="02010609060101010101" pitchFamily="49" charset="-122"/>
                <a:ea typeface="黑体" panose="02010609060101010101" pitchFamily="49" charset="-122"/>
              </a:rPr>
              <a:t>给定无向连通图</a:t>
            </a:r>
            <a:r>
              <a:rPr lang="en-US" altLang="zh-CN" sz="2800">
                <a:latin typeface="黑体" panose="02010609060101010101" pitchFamily="49" charset="-122"/>
                <a:ea typeface="黑体" panose="02010609060101010101" pitchFamily="49" charset="-122"/>
              </a:rPr>
              <a:t>G</a:t>
            </a:r>
            <a:r>
              <a:rPr lang="zh-CN" altLang="en-US" sz="2800">
                <a:latin typeface="黑体" panose="02010609060101010101" pitchFamily="49" charset="-122"/>
                <a:ea typeface="黑体" panose="02010609060101010101" pitchFamily="49" charset="-122"/>
              </a:rPr>
              <a:t>和</a:t>
            </a:r>
            <a:r>
              <a:rPr lang="en-US" altLang="zh-CN" sz="2800">
                <a:latin typeface="黑体" panose="02010609060101010101" pitchFamily="49" charset="-122"/>
                <a:ea typeface="黑体" panose="02010609060101010101" pitchFamily="49" charset="-122"/>
              </a:rPr>
              <a:t>m</a:t>
            </a:r>
            <a:r>
              <a:rPr lang="zh-CN" altLang="en-US" sz="2800">
                <a:latin typeface="黑体" panose="02010609060101010101" pitchFamily="49" charset="-122"/>
                <a:ea typeface="黑体" panose="02010609060101010101" pitchFamily="49" charset="-122"/>
              </a:rPr>
              <a:t>种不同的颜色。用这些颜色为图</a:t>
            </a:r>
            <a:r>
              <a:rPr lang="en-US" altLang="zh-CN" sz="2800">
                <a:latin typeface="黑体" panose="02010609060101010101" pitchFamily="49" charset="-122"/>
                <a:ea typeface="黑体" panose="02010609060101010101" pitchFamily="49" charset="-122"/>
              </a:rPr>
              <a:t>G</a:t>
            </a:r>
            <a:r>
              <a:rPr lang="zh-CN" altLang="en-US" sz="2800">
                <a:latin typeface="黑体" panose="02010609060101010101" pitchFamily="49" charset="-122"/>
                <a:ea typeface="黑体" panose="02010609060101010101" pitchFamily="49" charset="-122"/>
              </a:rPr>
              <a:t>的各顶点着色，每个顶点着一种颜色。是否有一种着色法使</a:t>
            </a:r>
            <a:r>
              <a:rPr lang="en-US" altLang="zh-CN" sz="2800">
                <a:latin typeface="黑体" panose="02010609060101010101" pitchFamily="49" charset="-122"/>
                <a:ea typeface="黑体" panose="02010609060101010101" pitchFamily="49" charset="-122"/>
              </a:rPr>
              <a:t>G</a:t>
            </a:r>
            <a:r>
              <a:rPr lang="zh-CN" altLang="en-US" sz="2800">
                <a:latin typeface="黑体" panose="02010609060101010101" pitchFamily="49" charset="-122"/>
                <a:ea typeface="黑体" panose="02010609060101010101" pitchFamily="49" charset="-122"/>
              </a:rPr>
              <a:t>中每条边的</a:t>
            </a:r>
            <a:r>
              <a:rPr lang="en-US" altLang="zh-CN" sz="2800">
                <a:latin typeface="黑体" panose="02010609060101010101" pitchFamily="49" charset="-122"/>
                <a:ea typeface="黑体" panose="02010609060101010101" pitchFamily="49" charset="-122"/>
              </a:rPr>
              <a:t>2</a:t>
            </a:r>
            <a:r>
              <a:rPr lang="zh-CN" altLang="en-US" sz="2800">
                <a:latin typeface="黑体" panose="02010609060101010101" pitchFamily="49" charset="-122"/>
                <a:ea typeface="黑体" panose="02010609060101010101" pitchFamily="49" charset="-122"/>
              </a:rPr>
              <a:t>个顶点着不同颜色。这个问题是图的</a:t>
            </a:r>
            <a:r>
              <a:rPr lang="en-US" altLang="zh-CN" sz="2800">
                <a:latin typeface="黑体" panose="02010609060101010101" pitchFamily="49" charset="-122"/>
                <a:ea typeface="黑体" panose="02010609060101010101" pitchFamily="49" charset="-122"/>
              </a:rPr>
              <a:t>m</a:t>
            </a:r>
            <a:r>
              <a:rPr lang="zh-CN" altLang="en-US" sz="2800">
                <a:latin typeface="黑体" panose="02010609060101010101" pitchFamily="49" charset="-122"/>
                <a:ea typeface="黑体" panose="02010609060101010101" pitchFamily="49" charset="-122"/>
              </a:rPr>
              <a:t>可着色判定问题。若一个图最少需要</a:t>
            </a:r>
            <a:r>
              <a:rPr lang="en-US" altLang="zh-CN" sz="2800">
                <a:latin typeface="黑体" panose="02010609060101010101" pitchFamily="49" charset="-122"/>
                <a:ea typeface="黑体" panose="02010609060101010101" pitchFamily="49" charset="-122"/>
              </a:rPr>
              <a:t>m</a:t>
            </a:r>
            <a:r>
              <a:rPr lang="zh-CN" altLang="en-US" sz="2800">
                <a:latin typeface="黑体" panose="02010609060101010101" pitchFamily="49" charset="-122"/>
                <a:ea typeface="黑体" panose="02010609060101010101" pitchFamily="49" charset="-122"/>
              </a:rPr>
              <a:t>种颜色才能使图中每条边连接的</a:t>
            </a:r>
            <a:r>
              <a:rPr lang="en-US" altLang="zh-CN" sz="2800">
                <a:latin typeface="黑体" panose="02010609060101010101" pitchFamily="49" charset="-122"/>
                <a:ea typeface="黑体" panose="02010609060101010101" pitchFamily="49" charset="-122"/>
              </a:rPr>
              <a:t>2</a:t>
            </a:r>
            <a:r>
              <a:rPr lang="zh-CN" altLang="en-US" sz="2800">
                <a:latin typeface="黑体" panose="02010609060101010101" pitchFamily="49" charset="-122"/>
                <a:ea typeface="黑体" panose="02010609060101010101" pitchFamily="49" charset="-122"/>
              </a:rPr>
              <a:t>个顶点着不同颜色，则称这个数</a:t>
            </a:r>
            <a:r>
              <a:rPr lang="en-US" altLang="zh-CN" sz="2800">
                <a:latin typeface="黑体" panose="02010609060101010101" pitchFamily="49" charset="-122"/>
                <a:ea typeface="黑体" panose="02010609060101010101" pitchFamily="49" charset="-122"/>
              </a:rPr>
              <a:t>m</a:t>
            </a:r>
            <a:r>
              <a:rPr lang="zh-CN" altLang="en-US" sz="2800">
                <a:latin typeface="黑体" panose="02010609060101010101" pitchFamily="49" charset="-122"/>
                <a:ea typeface="黑体" panose="02010609060101010101" pitchFamily="49" charset="-122"/>
              </a:rPr>
              <a:t>为该图的色数。求一个图的色数</a:t>
            </a:r>
            <a:r>
              <a:rPr lang="en-US" altLang="zh-CN" sz="2800">
                <a:latin typeface="黑体" panose="02010609060101010101" pitchFamily="49" charset="-122"/>
                <a:ea typeface="黑体" panose="02010609060101010101" pitchFamily="49" charset="-122"/>
              </a:rPr>
              <a:t>m</a:t>
            </a:r>
            <a:r>
              <a:rPr lang="zh-CN" altLang="en-US" sz="2800">
                <a:latin typeface="黑体" panose="02010609060101010101" pitchFamily="49" charset="-122"/>
                <a:ea typeface="黑体" panose="02010609060101010101" pitchFamily="49" charset="-122"/>
              </a:rPr>
              <a:t>的问题称为图的</a:t>
            </a:r>
            <a:r>
              <a:rPr lang="en-US" altLang="zh-CN" sz="2800">
                <a:latin typeface="黑体" panose="02010609060101010101" pitchFamily="49" charset="-122"/>
                <a:ea typeface="黑体" panose="02010609060101010101" pitchFamily="49" charset="-122"/>
              </a:rPr>
              <a:t>m</a:t>
            </a:r>
            <a:r>
              <a:rPr lang="zh-CN" altLang="en-US" sz="2800">
                <a:latin typeface="黑体" panose="02010609060101010101" pitchFamily="49" charset="-122"/>
                <a:ea typeface="黑体" panose="02010609060101010101" pitchFamily="49" charset="-122"/>
              </a:rPr>
              <a:t>可着色优化问题。</a:t>
            </a:r>
            <a:endParaRPr lang="zh-CN" altLang="en-US" sz="2800">
              <a:latin typeface="黑体" panose="02010609060101010101" pitchFamily="49" charset="-122"/>
              <a:ea typeface="黑体" panose="02010609060101010101" pitchFamily="49" charset="-122"/>
            </a:endParaRPr>
          </a:p>
        </p:txBody>
      </p:sp>
      <p:graphicFrame>
        <p:nvGraphicFramePr>
          <p:cNvPr id="55300" name="Object 4"/>
          <p:cNvGraphicFramePr>
            <a:graphicFrameLocks noChangeAspect="1"/>
          </p:cNvGraphicFramePr>
          <p:nvPr/>
        </p:nvGraphicFramePr>
        <p:xfrm>
          <a:off x="1763713" y="4076700"/>
          <a:ext cx="5113337" cy="2179638"/>
        </p:xfrm>
        <a:graphic>
          <a:graphicData uri="http://schemas.openxmlformats.org/presentationml/2006/ole">
            <mc:AlternateContent xmlns:mc="http://schemas.openxmlformats.org/markup-compatibility/2006">
              <mc:Choice xmlns:v="urn:schemas-microsoft-com:vml" Requires="v">
                <p:oleObj spid="_x0000_s369666" name="位图图像" r:id="rId1" imgW="2457450" imgH="1047750" progId="Paint.Picture">
                  <p:embed/>
                </p:oleObj>
              </mc:Choice>
              <mc:Fallback>
                <p:oleObj name="位图图像" r:id="rId1" imgW="2457450" imgH="1047750" progId="Paint.Picture">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713" y="4076700"/>
                        <a:ext cx="5113337" cy="2179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zh-CN" altLang="en-US"/>
              <a:t>四色原理 </a:t>
            </a:r>
            <a:endParaRPr lang="zh-CN" altLang="en-US"/>
          </a:p>
        </p:txBody>
      </p:sp>
      <p:sp>
        <p:nvSpPr>
          <p:cNvPr id="56323" name="Rectangle 3"/>
          <p:cNvSpPr>
            <a:spLocks noGrp="1" noChangeArrowheads="1"/>
          </p:cNvSpPr>
          <p:nvPr>
            <p:ph type="body" idx="1"/>
          </p:nvPr>
        </p:nvSpPr>
        <p:spPr>
          <a:xfrm>
            <a:off x="457200" y="1719263"/>
            <a:ext cx="8229600" cy="4878387"/>
          </a:xfrm>
        </p:spPr>
        <p:txBody>
          <a:bodyPr/>
          <a:lstStyle/>
          <a:p>
            <a:pPr>
              <a:lnSpc>
                <a:spcPct val="90000"/>
              </a:lnSpc>
            </a:pPr>
            <a:r>
              <a:rPr lang="zh-CN" altLang="en-US" sz="2300"/>
              <a:t>世界近代三大数学难题之一</a:t>
            </a:r>
            <a:r>
              <a:rPr lang="en-US" altLang="zh-CN" sz="2300"/>
              <a:t>(</a:t>
            </a:r>
            <a:r>
              <a:rPr lang="zh-CN" altLang="en-US" sz="2300"/>
              <a:t>另外两个是费马定理和哥德巴赫猜想</a:t>
            </a:r>
            <a:r>
              <a:rPr lang="en-US" altLang="zh-CN" sz="2300"/>
              <a:t>)</a:t>
            </a:r>
            <a:r>
              <a:rPr lang="zh-CN" altLang="en-US" sz="2300"/>
              <a:t>。</a:t>
            </a:r>
            <a:endParaRPr lang="zh-CN" altLang="en-US" sz="2300"/>
          </a:p>
          <a:p>
            <a:pPr>
              <a:lnSpc>
                <a:spcPct val="90000"/>
              </a:lnSpc>
            </a:pPr>
            <a:r>
              <a:rPr lang="zh-CN" altLang="en-US" sz="2300"/>
              <a:t>这是一个拓扑学问题，即找出给球面（或平面）地图着色时所需用的不同颜色的最小数目。着色时要使得没有两个相邻（即有公共边界线段）的区域有相同的颜色。</a:t>
            </a:r>
            <a:r>
              <a:rPr lang="en-US" altLang="zh-CN" sz="2300"/>
              <a:t>1852</a:t>
            </a:r>
            <a:r>
              <a:rPr lang="zh-CN" altLang="en-US" sz="2300"/>
              <a:t>年英国的格思里推测：四种颜色是充分必要的。</a:t>
            </a:r>
            <a:r>
              <a:rPr lang="en-US" altLang="zh-CN" sz="2300"/>
              <a:t>1878</a:t>
            </a:r>
            <a:r>
              <a:rPr lang="zh-CN" altLang="en-US" sz="2300"/>
              <a:t>年英国数学家凯利在一次数学家会议上呼吁大家注意解决这个问题。直到</a:t>
            </a:r>
            <a:r>
              <a:rPr lang="en-US" altLang="zh-CN" sz="2300"/>
              <a:t>1976</a:t>
            </a:r>
            <a:r>
              <a:rPr lang="zh-CN" altLang="en-US" sz="2300"/>
              <a:t>年，美国数学家阿佩哈尔、哈肯和考西利用高速电子计算机运算了</a:t>
            </a:r>
            <a:r>
              <a:rPr lang="en-US" altLang="zh-CN" sz="2300"/>
              <a:t>1200</a:t>
            </a:r>
            <a:r>
              <a:rPr lang="zh-CN" altLang="en-US" sz="2300"/>
              <a:t>个小时，才证明了格思里的推测。四色问题的解决在数学研究方法上的突破，开辟了机器证明的美好前景。</a:t>
            </a:r>
            <a:endParaRPr lang="zh-CN" altLang="en-US" sz="2300"/>
          </a:p>
          <a:p>
            <a:pPr>
              <a:lnSpc>
                <a:spcPct val="90000"/>
              </a:lnSpc>
            </a:pPr>
            <a:r>
              <a:rPr lang="zh-CN" altLang="en-US" sz="2300"/>
              <a:t>四色定理是第一个主要由计算机证明的理论 ，证明方法将地图上的无限种可能情况减少为</a:t>
            </a:r>
            <a:r>
              <a:rPr lang="en-US" altLang="zh-CN" sz="2300"/>
              <a:t>1,936</a:t>
            </a:r>
            <a:r>
              <a:rPr lang="zh-CN" altLang="en-US" sz="2300"/>
              <a:t>种状态（稍后减少为</a:t>
            </a:r>
            <a:r>
              <a:rPr lang="en-US" altLang="zh-CN" sz="2300"/>
              <a:t>1,476</a:t>
            </a:r>
            <a:r>
              <a:rPr lang="zh-CN" altLang="en-US" sz="2300"/>
              <a:t>种），这些状态由计算机一个挨一个的进行检查。 </a:t>
            </a:r>
            <a:endParaRPr lang="zh-CN" altLang="en-US" sz="230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p:cNvSpPr txBox="1">
            <a:spLocks noChangeArrowheads="1"/>
          </p:cNvSpPr>
          <p:nvPr/>
        </p:nvSpPr>
        <p:spPr bwMode="auto">
          <a:xfrm>
            <a:off x="395288" y="692150"/>
            <a:ext cx="8424862"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FontTx/>
              <a:buChar char="•"/>
            </a:pPr>
            <a:r>
              <a:rPr lang="zh-CN" altLang="en-US" sz="2400">
                <a:ea typeface="新宋体" panose="02010609030101010101" charset="-122"/>
              </a:rPr>
              <a:t>解向量：</a:t>
            </a:r>
            <a:r>
              <a:rPr lang="en-US" altLang="zh-CN" sz="2400">
                <a:ea typeface="新宋体" panose="02010609030101010101" charset="-122"/>
              </a:rPr>
              <a:t>(x</a:t>
            </a:r>
            <a:r>
              <a:rPr lang="en-US" altLang="zh-CN" sz="2400" baseline="-25000">
                <a:ea typeface="新宋体" panose="02010609030101010101" charset="-122"/>
              </a:rPr>
              <a:t>1</a:t>
            </a:r>
            <a:r>
              <a:rPr lang="en-US" altLang="zh-CN" sz="2400">
                <a:ea typeface="新宋体" panose="02010609030101010101" charset="-122"/>
              </a:rPr>
              <a:t>, x</a:t>
            </a:r>
            <a:r>
              <a:rPr lang="en-US" altLang="zh-CN" sz="2400" baseline="-25000">
                <a:ea typeface="新宋体" panose="02010609030101010101" charset="-122"/>
              </a:rPr>
              <a:t>2</a:t>
            </a:r>
            <a:r>
              <a:rPr lang="en-US" altLang="zh-CN" sz="2400">
                <a:ea typeface="新宋体" panose="02010609030101010101" charset="-122"/>
              </a:rPr>
              <a:t>, … , x</a:t>
            </a:r>
            <a:r>
              <a:rPr lang="en-US" altLang="zh-CN" sz="2400" baseline="-25000">
                <a:ea typeface="新宋体" panose="02010609030101010101" charset="-122"/>
              </a:rPr>
              <a:t>n</a:t>
            </a:r>
            <a:r>
              <a:rPr lang="en-US" altLang="zh-CN" sz="2400">
                <a:ea typeface="新宋体" panose="02010609030101010101" charset="-122"/>
              </a:rPr>
              <a:t>)</a:t>
            </a:r>
            <a:r>
              <a:rPr lang="zh-CN" altLang="en-US" sz="2400">
                <a:ea typeface="新宋体" panose="02010609030101010101" charset="-122"/>
              </a:rPr>
              <a:t>表示顶点</a:t>
            </a:r>
            <a:r>
              <a:rPr lang="en-US" altLang="zh-CN" sz="2400">
                <a:ea typeface="新宋体" panose="02010609030101010101" charset="-122"/>
              </a:rPr>
              <a:t>i</a:t>
            </a:r>
            <a:r>
              <a:rPr lang="zh-CN" altLang="en-US" sz="2400">
                <a:ea typeface="新宋体" panose="02010609030101010101" charset="-122"/>
              </a:rPr>
              <a:t>所着颜色</a:t>
            </a:r>
            <a:r>
              <a:rPr lang="en-US" altLang="zh-CN" sz="2400">
                <a:ea typeface="新宋体" panose="02010609030101010101" charset="-122"/>
              </a:rPr>
              <a:t>x[i] </a:t>
            </a:r>
            <a:endParaRPr lang="en-US" altLang="zh-CN" sz="2400">
              <a:ea typeface="新宋体" panose="02010609030101010101" charset="-122"/>
            </a:endParaRPr>
          </a:p>
          <a:p>
            <a:pPr>
              <a:buClr>
                <a:schemeClr val="accent2"/>
              </a:buClr>
              <a:buFontTx/>
              <a:buChar char="•"/>
            </a:pPr>
            <a:r>
              <a:rPr lang="zh-CN" altLang="en-US" sz="2400">
                <a:ea typeface="新宋体" panose="02010609030101010101" charset="-122"/>
              </a:rPr>
              <a:t>可行性约束函数：顶点</a:t>
            </a:r>
            <a:r>
              <a:rPr lang="en-US" altLang="zh-CN" sz="2400">
                <a:ea typeface="新宋体" panose="02010609030101010101" charset="-122"/>
              </a:rPr>
              <a:t>i</a:t>
            </a:r>
            <a:r>
              <a:rPr lang="zh-CN" altLang="zh-CN" sz="2400">
                <a:ea typeface="新宋体" panose="02010609030101010101" charset="-122"/>
              </a:rPr>
              <a:t>与已着色的相邻顶点颜色不重复。</a:t>
            </a:r>
            <a:endParaRPr lang="zh-CN" altLang="en-US" sz="2400">
              <a:ea typeface="新宋体" panose="02010609030101010101" charset="-122"/>
            </a:endParaRPr>
          </a:p>
        </p:txBody>
      </p:sp>
      <p:sp>
        <p:nvSpPr>
          <p:cNvPr id="57347" name="Rectangle 3"/>
          <p:cNvSpPr>
            <a:spLocks noChangeArrowheads="1"/>
          </p:cNvSpPr>
          <p:nvPr/>
        </p:nvSpPr>
        <p:spPr bwMode="auto">
          <a:xfrm>
            <a:off x="611188"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en-US" sz="3900" b="1">
                <a:solidFill>
                  <a:schemeClr val="tx2"/>
                </a:solidFill>
                <a:effectLst>
                  <a:outerShdw blurRad="38100" dist="38100" dir="2700000" algn="tl">
                    <a:srgbClr val="C0C0C0"/>
                  </a:outerShdw>
                </a:effectLst>
                <a:ea typeface="黑体" panose="02010609060101010101" pitchFamily="49" charset="-122"/>
              </a:rPr>
              <a:t>图的m着色问题</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pic>
        <p:nvPicPr>
          <p:cNvPr id="57348" name="Picture 4" descr="t57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067175" y="2565400"/>
            <a:ext cx="5076825" cy="157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9" name="Text Box 5"/>
          <p:cNvSpPr txBox="1">
            <a:spLocks noChangeArrowheads="1"/>
          </p:cNvSpPr>
          <p:nvPr/>
        </p:nvSpPr>
        <p:spPr bwMode="auto">
          <a:xfrm>
            <a:off x="395288" y="1533525"/>
            <a:ext cx="4037012" cy="498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r>
              <a:rPr kumimoji="1" lang="en-US" altLang="zh-CN" sz="1600"/>
              <a:t>void Color::</a:t>
            </a:r>
            <a:r>
              <a:rPr kumimoji="1" lang="en-US" altLang="zh-CN" sz="1600" b="1"/>
              <a:t>Backtrack</a:t>
            </a:r>
            <a:r>
              <a:rPr kumimoji="1" lang="en-US" altLang="zh-CN" sz="1600"/>
              <a:t>(int t)</a:t>
            </a:r>
            <a:endParaRPr kumimoji="1" lang="en-US" altLang="zh-CN" sz="1600"/>
          </a:p>
          <a:p>
            <a:r>
              <a:rPr kumimoji="1" lang="en-US" altLang="zh-CN" sz="1600"/>
              <a:t>{</a:t>
            </a:r>
            <a:endParaRPr kumimoji="1" lang="en-US" altLang="zh-CN" sz="1600"/>
          </a:p>
          <a:p>
            <a:r>
              <a:rPr kumimoji="1" lang="en-US" altLang="zh-CN" sz="1600"/>
              <a:t>  if (t&gt;n) {</a:t>
            </a:r>
            <a:endParaRPr kumimoji="1" lang="en-US" altLang="zh-CN" sz="1600"/>
          </a:p>
          <a:p>
            <a:r>
              <a:rPr kumimoji="1" lang="en-US" altLang="zh-CN" sz="1600"/>
              <a:t>   sum++;</a:t>
            </a:r>
            <a:endParaRPr kumimoji="1" lang="en-US" altLang="zh-CN" sz="1600"/>
          </a:p>
          <a:p>
            <a:r>
              <a:rPr kumimoji="1" lang="en-US" altLang="zh-CN" sz="1600"/>
              <a:t>   for (int i=1; i&lt;=n; i++)</a:t>
            </a:r>
            <a:endParaRPr kumimoji="1" lang="en-US" altLang="zh-CN" sz="1600"/>
          </a:p>
          <a:p>
            <a:r>
              <a:rPr kumimoji="1" lang="en-US" altLang="zh-CN" sz="1600"/>
              <a:t>     cout &lt;&lt; x[i] &lt;&lt; ' ';</a:t>
            </a:r>
            <a:endParaRPr kumimoji="1" lang="en-US" altLang="zh-CN" sz="1600"/>
          </a:p>
          <a:p>
            <a:r>
              <a:rPr kumimoji="1" lang="en-US" altLang="zh-CN" sz="1600"/>
              <a:t>   cout &lt;&lt; endl;</a:t>
            </a:r>
            <a:endParaRPr kumimoji="1" lang="en-US" altLang="zh-CN" sz="1600"/>
          </a:p>
          <a:p>
            <a:r>
              <a:rPr kumimoji="1" lang="en-US" altLang="zh-CN" sz="1600"/>
              <a:t>   }</a:t>
            </a:r>
            <a:endParaRPr kumimoji="1" lang="en-US" altLang="zh-CN" sz="1600"/>
          </a:p>
          <a:p>
            <a:r>
              <a:rPr kumimoji="1" lang="en-US" altLang="zh-CN" sz="1600"/>
              <a:t>    else</a:t>
            </a:r>
            <a:endParaRPr kumimoji="1" lang="en-US" altLang="zh-CN" sz="1600"/>
          </a:p>
          <a:p>
            <a:r>
              <a:rPr kumimoji="1" lang="en-US" altLang="zh-CN" sz="1600"/>
              <a:t>      for (int i=1;i&lt;=m;i++) {</a:t>
            </a:r>
            <a:endParaRPr kumimoji="1" lang="en-US" altLang="zh-CN" sz="1600"/>
          </a:p>
          <a:p>
            <a:r>
              <a:rPr kumimoji="1" lang="en-US" altLang="zh-CN" sz="1600"/>
              <a:t>        x[t]=i;</a:t>
            </a:r>
            <a:endParaRPr kumimoji="1" lang="en-US" altLang="zh-CN" sz="1600"/>
          </a:p>
          <a:p>
            <a:r>
              <a:rPr kumimoji="1" lang="en-US" altLang="zh-CN" sz="1600"/>
              <a:t>        if (Ok(t)) Backtrack(t+1);</a:t>
            </a:r>
            <a:endParaRPr kumimoji="1" lang="en-US" altLang="zh-CN" sz="1600"/>
          </a:p>
          <a:p>
            <a:r>
              <a:rPr kumimoji="1" lang="en-US" altLang="zh-CN" sz="1600"/>
              <a:t>      }</a:t>
            </a:r>
            <a:endParaRPr kumimoji="1" lang="en-US" altLang="zh-CN" sz="1600"/>
          </a:p>
          <a:p>
            <a:r>
              <a:rPr kumimoji="1" lang="en-US" altLang="zh-CN" sz="1600"/>
              <a:t>}</a:t>
            </a:r>
            <a:endParaRPr kumimoji="1" lang="en-US" altLang="zh-CN" sz="1600"/>
          </a:p>
          <a:p>
            <a:r>
              <a:rPr kumimoji="1" lang="en-US" altLang="zh-CN" sz="1600"/>
              <a:t>bool Color::</a:t>
            </a:r>
            <a:r>
              <a:rPr kumimoji="1" lang="en-US" altLang="zh-CN" sz="1600" b="1"/>
              <a:t>Ok</a:t>
            </a:r>
            <a:r>
              <a:rPr kumimoji="1" lang="en-US" altLang="zh-CN" sz="1600"/>
              <a:t>(int k)</a:t>
            </a:r>
            <a:endParaRPr kumimoji="1" lang="en-US" altLang="zh-CN" sz="1600"/>
          </a:p>
          <a:p>
            <a:r>
              <a:rPr kumimoji="1" lang="en-US" altLang="zh-CN" sz="1600"/>
              <a:t>{// </a:t>
            </a:r>
            <a:r>
              <a:rPr kumimoji="1" lang="zh-CN" altLang="en-US" sz="1600"/>
              <a:t>检查颜色可用性</a:t>
            </a:r>
            <a:endParaRPr kumimoji="1" lang="zh-CN" altLang="en-US" sz="1600"/>
          </a:p>
          <a:p>
            <a:r>
              <a:rPr kumimoji="1" lang="zh-CN" altLang="en-US" sz="1600"/>
              <a:t>  </a:t>
            </a:r>
            <a:r>
              <a:rPr kumimoji="1" lang="en-US" altLang="zh-CN" sz="1600"/>
              <a:t>for (int j=1;j&lt;=n;j++)</a:t>
            </a:r>
            <a:endParaRPr kumimoji="1" lang="en-US" altLang="zh-CN" sz="1600"/>
          </a:p>
          <a:p>
            <a:r>
              <a:rPr kumimoji="1" lang="en-US" altLang="zh-CN" sz="1600"/>
              <a:t>    if ((a[k][j]==1)&amp;&amp;(x[j]==x[k])) return false;</a:t>
            </a:r>
            <a:endParaRPr kumimoji="1" lang="en-US" altLang="zh-CN" sz="1600"/>
          </a:p>
          <a:p>
            <a:r>
              <a:rPr kumimoji="1" lang="en-US" altLang="zh-CN" sz="1600"/>
              <a:t>  return true;</a:t>
            </a:r>
            <a:endParaRPr kumimoji="1" lang="en-US" altLang="zh-CN" sz="1600"/>
          </a:p>
          <a:p>
            <a:r>
              <a:rPr kumimoji="1" lang="en-US" altLang="zh-CN" sz="1600"/>
              <a:t>}</a:t>
            </a:r>
            <a:endParaRPr kumimoji="1" lang="en-US" altLang="zh-CN" sz="1600"/>
          </a:p>
        </p:txBody>
      </p:sp>
      <p:sp>
        <p:nvSpPr>
          <p:cNvPr id="57350" name="Rectangle 6"/>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sp>
        <p:nvSpPr>
          <p:cNvPr id="57351" name="Rectangle 7"/>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grpSp>
        <p:nvGrpSpPr>
          <p:cNvPr id="57352" name="Group 8"/>
          <p:cNvGrpSpPr/>
          <p:nvPr/>
        </p:nvGrpSpPr>
        <p:grpSpPr bwMode="auto">
          <a:xfrm>
            <a:off x="900113" y="1412875"/>
            <a:ext cx="7019925" cy="2965450"/>
            <a:chOff x="567" y="1421"/>
            <a:chExt cx="4422" cy="1868"/>
          </a:xfrm>
        </p:grpSpPr>
        <p:sp>
          <p:nvSpPr>
            <p:cNvPr id="57353" name="AutoShape 9"/>
            <p:cNvSpPr>
              <a:spLocks noChangeArrowheads="1"/>
            </p:cNvSpPr>
            <p:nvPr/>
          </p:nvSpPr>
          <p:spPr bwMode="auto">
            <a:xfrm>
              <a:off x="567" y="1421"/>
              <a:ext cx="4422" cy="1868"/>
            </a:xfrm>
            <a:prstGeom prst="roundRect">
              <a:avLst>
                <a:gd name="adj" fmla="val 16667"/>
              </a:avLst>
            </a:prstGeom>
            <a:solidFill>
              <a:schemeClr val="bg1"/>
            </a:solidFill>
            <a:ln w="38100">
              <a:solidFill>
                <a:srgbClr val="063DE8"/>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400" b="1">
                  <a:ea typeface="黑体" panose="02010609060101010101" pitchFamily="49" charset="-122"/>
                </a:rPr>
                <a:t>复杂度分析</a:t>
              </a:r>
              <a:endParaRPr lang="zh-CN" altLang="en-US" sz="2400" b="1">
                <a:ea typeface="黑体" panose="02010609060101010101" pitchFamily="49" charset="-122"/>
              </a:endParaRPr>
            </a:p>
            <a:p>
              <a:pPr eaLnBrk="0" hangingPunct="0"/>
              <a:r>
                <a:rPr lang="zh-CN" altLang="en-US" sz="2400">
                  <a:ea typeface="新宋体" panose="02010609030101010101" charset="-122"/>
                  <a:sym typeface="Wingdings" panose="05000000000000000000" pitchFamily="2" charset="2"/>
                </a:rPr>
                <a:t>图</a:t>
              </a:r>
              <a:r>
                <a:rPr lang="en-US" altLang="zh-CN" sz="2400">
                  <a:ea typeface="新宋体" panose="02010609030101010101" charset="-122"/>
                  <a:sym typeface="Wingdings" panose="05000000000000000000" pitchFamily="2" charset="2"/>
                </a:rPr>
                <a:t>m</a:t>
              </a:r>
              <a:r>
                <a:rPr lang="zh-CN" altLang="en-US" sz="2400">
                  <a:ea typeface="新宋体" panose="02010609030101010101" charset="-122"/>
                  <a:sym typeface="Wingdings" panose="05000000000000000000" pitchFamily="2" charset="2"/>
                </a:rPr>
                <a:t>可着色问题的解空间树中内结点个数是</a:t>
              </a:r>
              <a:endParaRPr lang="zh-CN" altLang="en-US" sz="2400">
                <a:ea typeface="新宋体" panose="02010609030101010101" charset="-122"/>
                <a:sym typeface="Wingdings" panose="05000000000000000000" pitchFamily="2" charset="2"/>
              </a:endParaRPr>
            </a:p>
            <a:p>
              <a:pPr eaLnBrk="0" hangingPunct="0"/>
              <a:r>
                <a:rPr lang="zh-CN" altLang="en-US" sz="2400">
                  <a:ea typeface="新宋体" panose="02010609030101010101" charset="-122"/>
                  <a:sym typeface="Wingdings" panose="05000000000000000000" pitchFamily="2" charset="2"/>
                </a:rPr>
                <a:t>对于每一个内结点，在最坏情况下，用</a:t>
              </a:r>
              <a:r>
                <a:rPr lang="en-US" altLang="zh-CN" sz="2400">
                  <a:ea typeface="新宋体" panose="02010609030101010101" charset="-122"/>
                  <a:sym typeface="Wingdings" panose="05000000000000000000" pitchFamily="2" charset="2"/>
                </a:rPr>
                <a:t>ok</a:t>
              </a:r>
              <a:r>
                <a:rPr lang="zh-CN" altLang="en-US" sz="2400">
                  <a:ea typeface="新宋体" panose="02010609030101010101" charset="-122"/>
                  <a:sym typeface="Wingdings" panose="05000000000000000000" pitchFamily="2" charset="2"/>
                </a:rPr>
                <a:t>检查当前扩展结点的每一个儿子所相应的颜色可用性需耗时</a:t>
              </a:r>
              <a:r>
                <a:rPr lang="en-US" altLang="zh-CN" sz="2400">
                  <a:ea typeface="新宋体" panose="02010609030101010101" charset="-122"/>
                  <a:sym typeface="Wingdings" panose="05000000000000000000" pitchFamily="2" charset="2"/>
                </a:rPr>
                <a:t>O(mn)</a:t>
              </a:r>
              <a:r>
                <a:rPr lang="zh-CN" altLang="en-US" sz="2400">
                  <a:ea typeface="新宋体" panose="02010609030101010101" charset="-122"/>
                  <a:sym typeface="Wingdings" panose="05000000000000000000" pitchFamily="2" charset="2"/>
                </a:rPr>
                <a:t>。因此，回溯法总的时间耗费是</a:t>
              </a:r>
              <a:endParaRPr lang="zh-CN" altLang="en-US" sz="2400">
                <a:ea typeface="新宋体" panose="02010609030101010101" charset="-122"/>
                <a:sym typeface="Wingdings" panose="05000000000000000000" pitchFamily="2" charset="2"/>
              </a:endParaRPr>
            </a:p>
            <a:p>
              <a:pPr eaLnBrk="0" hangingPunct="0"/>
              <a:endParaRPr lang="zh-CN" altLang="en-US" sz="2400">
                <a:ea typeface="新宋体" panose="02010609030101010101" charset="-122"/>
                <a:sym typeface="Wingdings" panose="05000000000000000000" pitchFamily="2" charset="2"/>
              </a:endParaRPr>
            </a:p>
            <a:p>
              <a:pPr eaLnBrk="0" hangingPunct="0"/>
              <a:endParaRPr lang="en-US" altLang="zh-CN" sz="2400">
                <a:ea typeface="新宋体" panose="02010609030101010101" charset="-122"/>
                <a:sym typeface="Wingdings" panose="05000000000000000000" pitchFamily="2" charset="2"/>
              </a:endParaRPr>
            </a:p>
          </p:txBody>
        </p:sp>
        <p:graphicFrame>
          <p:nvGraphicFramePr>
            <p:cNvPr id="57354" name="Object 10"/>
            <p:cNvGraphicFramePr>
              <a:graphicFrameLocks noChangeAspect="1"/>
            </p:cNvGraphicFramePr>
            <p:nvPr/>
          </p:nvGraphicFramePr>
          <p:xfrm>
            <a:off x="4286" y="1616"/>
            <a:ext cx="432" cy="452"/>
          </p:xfrm>
          <a:graphic>
            <a:graphicData uri="http://schemas.openxmlformats.org/presentationml/2006/ole">
              <mc:AlternateContent xmlns:mc="http://schemas.openxmlformats.org/markup-compatibility/2006">
                <mc:Choice xmlns:v="urn:schemas-microsoft-com:vml" Requires="v">
                  <p:oleObj spid="_x0000_s370690" name="公式" r:id="rId2" imgW="406400" imgH="431800" progId="Equation.3">
                    <p:embed/>
                  </p:oleObj>
                </mc:Choice>
                <mc:Fallback>
                  <p:oleObj name="公式" r:id="rId2" imgW="406400" imgH="431800" progId="Equation.3">
                    <p:embed/>
                    <p:pic>
                      <p:nvPicPr>
                        <p:cNvPr id="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 y="1616"/>
                          <a:ext cx="432" cy="4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355" name="Object 11"/>
            <p:cNvGraphicFramePr>
              <a:graphicFrameLocks noChangeAspect="1"/>
            </p:cNvGraphicFramePr>
            <p:nvPr/>
          </p:nvGraphicFramePr>
          <p:xfrm>
            <a:off x="1292" y="2704"/>
            <a:ext cx="2858" cy="459"/>
          </p:xfrm>
          <a:graphic>
            <a:graphicData uri="http://schemas.openxmlformats.org/presentationml/2006/ole">
              <mc:AlternateContent xmlns:mc="http://schemas.openxmlformats.org/markup-compatibility/2006">
                <mc:Choice xmlns:v="urn:schemas-microsoft-com:vml" Requires="v">
                  <p:oleObj spid="_x0000_s370691" name="公式" r:id="rId4" imgW="2667000" imgH="431800" progId="Equation.3">
                    <p:embed/>
                  </p:oleObj>
                </mc:Choice>
                <mc:Fallback>
                  <p:oleObj name="公式" r:id="rId4" imgW="2667000" imgH="431800" progId="Equation.3">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2" y="2704"/>
                          <a:ext cx="2858" cy="4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7352"/>
                                        </p:tgtEl>
                                        <p:attrNameLst>
                                          <p:attrName>style.visibility</p:attrName>
                                        </p:attrNameLst>
                                      </p:cBhvr>
                                      <p:to>
                                        <p:strVal val="visible"/>
                                      </p:to>
                                    </p:set>
                                    <p:animEffect transition="in" filter="blinds(horizontal)">
                                      <p:cBhvr>
                                        <p:cTn id="7" dur="500"/>
                                        <p:tgtEl>
                                          <p:spTgt spid="573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ctrTitle"/>
          </p:nvPr>
        </p:nvSpPr>
        <p:spPr/>
        <p:txBody>
          <a:bodyPr/>
          <a:lstStyle/>
          <a:p>
            <a:r>
              <a:rPr lang="zh-CN" altLang="en-US">
                <a:effectLst>
                  <a:outerShdw blurRad="38100" dist="38100" dir="2700000" algn="tl">
                    <a:srgbClr val="C0C0C0"/>
                  </a:outerShdw>
                </a:effectLst>
                <a:ea typeface="黑体" panose="02010609060101010101" pitchFamily="49" charset="-122"/>
              </a:rPr>
              <a:t>旅行售货员问题</a:t>
            </a:r>
            <a:endParaRPr lang="zh-CN" altLang="en-US">
              <a:effectLst>
                <a:outerShdw blurRad="38100" dist="38100" dir="2700000" algn="tl">
                  <a:srgbClr val="C0C0C0"/>
                </a:outerShdw>
              </a:effectLst>
              <a:ea typeface="黑体" panose="02010609060101010101" pitchFamily="49" charset="-122"/>
            </a:endParaRPr>
          </a:p>
        </p:txBody>
      </p:sp>
      <p:sp>
        <p:nvSpPr>
          <p:cNvPr id="15363" name="Rectangle 3"/>
          <p:cNvSpPr>
            <a:spLocks noGrp="1" noChangeArrowheads="1"/>
          </p:cNvSpPr>
          <p:nvPr>
            <p:ph type="subTitle" idx="1"/>
          </p:nvPr>
        </p:nvSpPr>
        <p:spPr/>
        <p:txBody>
          <a:bodyPr/>
          <a:lstStyle/>
          <a:p>
            <a:endParaRPr lang="zh-CN" altLang="zh-CN"/>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457200" y="122238"/>
            <a:ext cx="7543800" cy="1123950"/>
          </a:xfrm>
          <a:noFill/>
        </p:spPr>
        <p:txBody>
          <a:bodyPr lIns="92075" tIns="46038" rIns="92075" bIns="46038" anchor="ctr"/>
          <a:lstStyle/>
          <a:p>
            <a:r>
              <a:rPr lang="en-US" altLang="zh-CN"/>
              <a:t>Permutation tree: </a:t>
            </a:r>
            <a:r>
              <a:rPr lang="en-US" altLang="zh-CN" i="1"/>
              <a:t>n</a:t>
            </a:r>
            <a:r>
              <a:rPr lang="en-US" altLang="zh-CN"/>
              <a:t>=4</a:t>
            </a:r>
            <a:endParaRPr lang="en-US" altLang="zh-CN"/>
          </a:p>
        </p:txBody>
      </p:sp>
      <p:sp>
        <p:nvSpPr>
          <p:cNvPr id="36867" name="Oval 3"/>
          <p:cNvSpPr>
            <a:spLocks noChangeArrowheads="1"/>
          </p:cNvSpPr>
          <p:nvPr/>
        </p:nvSpPr>
        <p:spPr bwMode="auto">
          <a:xfrm>
            <a:off x="4211638" y="1125538"/>
            <a:ext cx="215900" cy="215900"/>
          </a:xfrm>
          <a:prstGeom prst="ellipse">
            <a:avLst/>
          </a:prstGeom>
          <a:solidFill>
            <a:srgbClr val="00FF0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8" name="Line 4"/>
          <p:cNvSpPr>
            <a:spLocks noChangeShapeType="1"/>
          </p:cNvSpPr>
          <p:nvPr/>
        </p:nvSpPr>
        <p:spPr bwMode="auto">
          <a:xfrm flipH="1">
            <a:off x="2286000" y="2060575"/>
            <a:ext cx="1925638" cy="835025"/>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69" name="Oval 5"/>
          <p:cNvSpPr>
            <a:spLocks noChangeArrowheads="1"/>
          </p:cNvSpPr>
          <p:nvPr/>
        </p:nvSpPr>
        <p:spPr bwMode="auto">
          <a:xfrm>
            <a:off x="2139950" y="29019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0" name="Rectangle 6"/>
          <p:cNvSpPr>
            <a:spLocks noChangeArrowheads="1"/>
          </p:cNvSpPr>
          <p:nvPr/>
        </p:nvSpPr>
        <p:spPr bwMode="auto">
          <a:xfrm>
            <a:off x="3995738" y="1341438"/>
            <a:ext cx="5572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1</a:t>
            </a:r>
            <a:endParaRPr lang="en-US" altLang="zh-CN" sz="3200">
              <a:solidFill>
                <a:schemeClr val="hlink"/>
              </a:solidFill>
              <a:latin typeface="Times New Roman" panose="02020603050405020304" pitchFamily="18" charset="0"/>
            </a:endParaRPr>
          </a:p>
        </p:txBody>
      </p:sp>
      <p:sp>
        <p:nvSpPr>
          <p:cNvPr id="36871" name="Line 7"/>
          <p:cNvSpPr>
            <a:spLocks noChangeShapeType="1"/>
          </p:cNvSpPr>
          <p:nvPr/>
        </p:nvSpPr>
        <p:spPr bwMode="auto">
          <a:xfrm>
            <a:off x="4427538" y="2060575"/>
            <a:ext cx="2049462" cy="835025"/>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72" name="Oval 8"/>
          <p:cNvSpPr>
            <a:spLocks noChangeArrowheads="1"/>
          </p:cNvSpPr>
          <p:nvPr/>
        </p:nvSpPr>
        <p:spPr bwMode="auto">
          <a:xfrm>
            <a:off x="6407150" y="29019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3" name="Rectangle 9"/>
          <p:cNvSpPr>
            <a:spLocks noChangeArrowheads="1"/>
          </p:cNvSpPr>
          <p:nvPr/>
        </p:nvSpPr>
        <p:spPr bwMode="auto">
          <a:xfrm>
            <a:off x="3995738" y="2133600"/>
            <a:ext cx="4667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3</a:t>
            </a:r>
            <a:endParaRPr lang="en-US" altLang="zh-CN" sz="3200">
              <a:solidFill>
                <a:schemeClr val="hlink"/>
              </a:solidFill>
              <a:latin typeface="Times New Roman" panose="02020603050405020304" pitchFamily="18" charset="0"/>
            </a:endParaRPr>
          </a:p>
        </p:txBody>
      </p:sp>
      <p:sp>
        <p:nvSpPr>
          <p:cNvPr id="36874" name="Line 10"/>
          <p:cNvSpPr>
            <a:spLocks noChangeShapeType="1"/>
          </p:cNvSpPr>
          <p:nvPr/>
        </p:nvSpPr>
        <p:spPr bwMode="auto">
          <a:xfrm flipH="1">
            <a:off x="1066800" y="3124200"/>
            <a:ext cx="1066800" cy="1066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75" name="Oval 11"/>
          <p:cNvSpPr>
            <a:spLocks noChangeArrowheads="1"/>
          </p:cNvSpPr>
          <p:nvPr/>
        </p:nvSpPr>
        <p:spPr bwMode="auto">
          <a:xfrm>
            <a:off x="996950" y="41973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6" name="Rectangle 12"/>
          <p:cNvSpPr>
            <a:spLocks noChangeArrowheads="1"/>
          </p:cNvSpPr>
          <p:nvPr/>
        </p:nvSpPr>
        <p:spPr bwMode="auto">
          <a:xfrm>
            <a:off x="0" y="2205038"/>
            <a:ext cx="539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2</a:t>
            </a:r>
            <a:endParaRPr lang="en-US" altLang="zh-CN" sz="3200">
              <a:solidFill>
                <a:schemeClr val="hlink"/>
              </a:solidFill>
              <a:latin typeface="Times New Roman" panose="02020603050405020304" pitchFamily="18" charset="0"/>
            </a:endParaRPr>
          </a:p>
        </p:txBody>
      </p:sp>
      <p:sp>
        <p:nvSpPr>
          <p:cNvPr id="36877" name="Oval 13"/>
          <p:cNvSpPr>
            <a:spLocks noChangeArrowheads="1"/>
          </p:cNvSpPr>
          <p:nvPr/>
        </p:nvSpPr>
        <p:spPr bwMode="auto">
          <a:xfrm>
            <a:off x="3419475" y="4149725"/>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8" name="Rectangle 14"/>
          <p:cNvSpPr>
            <a:spLocks noChangeArrowheads="1"/>
          </p:cNvSpPr>
          <p:nvPr/>
        </p:nvSpPr>
        <p:spPr bwMode="auto">
          <a:xfrm>
            <a:off x="1258888" y="3284538"/>
            <a:ext cx="45243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3</a:t>
            </a:r>
            <a:endParaRPr lang="en-US" altLang="zh-CN" sz="3200">
              <a:solidFill>
                <a:schemeClr val="hlink"/>
              </a:solidFill>
              <a:latin typeface="Times New Roman" panose="02020603050405020304" pitchFamily="18" charset="0"/>
            </a:endParaRPr>
          </a:p>
        </p:txBody>
      </p:sp>
      <p:sp>
        <p:nvSpPr>
          <p:cNvPr id="36879" name="Oval 15"/>
          <p:cNvSpPr>
            <a:spLocks noChangeArrowheads="1"/>
          </p:cNvSpPr>
          <p:nvPr/>
        </p:nvSpPr>
        <p:spPr bwMode="auto">
          <a:xfrm>
            <a:off x="4716463" y="407670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0" name="Rectangle 16"/>
          <p:cNvSpPr>
            <a:spLocks noChangeArrowheads="1"/>
          </p:cNvSpPr>
          <p:nvPr/>
        </p:nvSpPr>
        <p:spPr bwMode="auto">
          <a:xfrm>
            <a:off x="5508625" y="2133600"/>
            <a:ext cx="4111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4</a:t>
            </a:r>
            <a:endParaRPr lang="en-US" altLang="zh-CN" sz="3200">
              <a:solidFill>
                <a:schemeClr val="hlink"/>
              </a:solidFill>
              <a:latin typeface="Times New Roman" panose="02020603050405020304" pitchFamily="18" charset="0"/>
            </a:endParaRPr>
          </a:p>
        </p:txBody>
      </p:sp>
      <p:sp>
        <p:nvSpPr>
          <p:cNvPr id="36881" name="Line 17"/>
          <p:cNvSpPr>
            <a:spLocks noChangeShapeType="1"/>
          </p:cNvSpPr>
          <p:nvPr/>
        </p:nvSpPr>
        <p:spPr bwMode="auto">
          <a:xfrm>
            <a:off x="6588125" y="3068638"/>
            <a:ext cx="1031875" cy="89376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82" name="Oval 18"/>
          <p:cNvSpPr>
            <a:spLocks noChangeArrowheads="1"/>
          </p:cNvSpPr>
          <p:nvPr/>
        </p:nvSpPr>
        <p:spPr bwMode="auto">
          <a:xfrm>
            <a:off x="7626350" y="3968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3" name="Rectangle 19"/>
          <p:cNvSpPr>
            <a:spLocks noChangeArrowheads="1"/>
          </p:cNvSpPr>
          <p:nvPr/>
        </p:nvSpPr>
        <p:spPr bwMode="auto">
          <a:xfrm>
            <a:off x="7164388" y="3213100"/>
            <a:ext cx="4286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3</a:t>
            </a:r>
            <a:endParaRPr lang="en-US" altLang="zh-CN" sz="3200">
              <a:solidFill>
                <a:schemeClr val="hlink"/>
              </a:solidFill>
              <a:latin typeface="Times New Roman" panose="02020603050405020304" pitchFamily="18" charset="0"/>
            </a:endParaRPr>
          </a:p>
        </p:txBody>
      </p:sp>
      <p:sp>
        <p:nvSpPr>
          <p:cNvPr id="36884" name="Oval 20"/>
          <p:cNvSpPr>
            <a:spLocks noChangeArrowheads="1"/>
          </p:cNvSpPr>
          <p:nvPr/>
        </p:nvSpPr>
        <p:spPr bwMode="auto">
          <a:xfrm>
            <a:off x="900113" y="5373688"/>
            <a:ext cx="215900" cy="215900"/>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5" name="Oval 21"/>
          <p:cNvSpPr>
            <a:spLocks noChangeArrowheads="1"/>
          </p:cNvSpPr>
          <p:nvPr/>
        </p:nvSpPr>
        <p:spPr bwMode="auto">
          <a:xfrm>
            <a:off x="2124075" y="5373688"/>
            <a:ext cx="215900" cy="215900"/>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6" name="Oval 22"/>
          <p:cNvSpPr>
            <a:spLocks noChangeArrowheads="1"/>
          </p:cNvSpPr>
          <p:nvPr/>
        </p:nvSpPr>
        <p:spPr bwMode="auto">
          <a:xfrm>
            <a:off x="3419475" y="5300663"/>
            <a:ext cx="215900" cy="215900"/>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7" name="Oval 23"/>
          <p:cNvSpPr>
            <a:spLocks noChangeArrowheads="1"/>
          </p:cNvSpPr>
          <p:nvPr/>
        </p:nvSpPr>
        <p:spPr bwMode="auto">
          <a:xfrm>
            <a:off x="4716463" y="5300663"/>
            <a:ext cx="215900" cy="215900"/>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8" name="Oval 24"/>
          <p:cNvSpPr>
            <a:spLocks noChangeArrowheads="1"/>
          </p:cNvSpPr>
          <p:nvPr/>
        </p:nvSpPr>
        <p:spPr bwMode="auto">
          <a:xfrm>
            <a:off x="6227763" y="5300663"/>
            <a:ext cx="215900" cy="215900"/>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9" name="Oval 25"/>
          <p:cNvSpPr>
            <a:spLocks noChangeArrowheads="1"/>
          </p:cNvSpPr>
          <p:nvPr/>
        </p:nvSpPr>
        <p:spPr bwMode="auto">
          <a:xfrm>
            <a:off x="7667625" y="5300663"/>
            <a:ext cx="215900" cy="215900"/>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0" name="Rectangle 26"/>
          <p:cNvSpPr>
            <a:spLocks noChangeArrowheads="1"/>
          </p:cNvSpPr>
          <p:nvPr/>
        </p:nvSpPr>
        <p:spPr bwMode="auto">
          <a:xfrm>
            <a:off x="0" y="1412875"/>
            <a:ext cx="1066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1</a:t>
            </a:r>
            <a:endParaRPr lang="en-US" altLang="zh-CN" sz="3200">
              <a:solidFill>
                <a:schemeClr val="hlink"/>
              </a:solidFill>
              <a:latin typeface="Times New Roman" panose="02020603050405020304" pitchFamily="18" charset="0"/>
            </a:endParaRPr>
          </a:p>
        </p:txBody>
      </p:sp>
      <p:sp>
        <p:nvSpPr>
          <p:cNvPr id="36891" name="Rectangle 27"/>
          <p:cNvSpPr>
            <a:spLocks noChangeArrowheads="1"/>
          </p:cNvSpPr>
          <p:nvPr/>
        </p:nvSpPr>
        <p:spPr bwMode="auto">
          <a:xfrm>
            <a:off x="0" y="3213100"/>
            <a:ext cx="539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3</a:t>
            </a:r>
            <a:endParaRPr lang="en-US" altLang="zh-CN" sz="3200">
              <a:solidFill>
                <a:schemeClr val="hlink"/>
              </a:solidFill>
              <a:latin typeface="Times New Roman" panose="02020603050405020304" pitchFamily="18" charset="0"/>
            </a:endParaRPr>
          </a:p>
        </p:txBody>
      </p:sp>
      <p:sp>
        <p:nvSpPr>
          <p:cNvPr id="36892" name="Rectangle 28"/>
          <p:cNvSpPr>
            <a:spLocks noChangeArrowheads="1"/>
          </p:cNvSpPr>
          <p:nvPr/>
        </p:nvSpPr>
        <p:spPr bwMode="auto">
          <a:xfrm>
            <a:off x="0" y="4437063"/>
            <a:ext cx="539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4</a:t>
            </a:r>
            <a:endParaRPr lang="en-US" altLang="zh-CN" sz="3200">
              <a:solidFill>
                <a:schemeClr val="hlink"/>
              </a:solidFill>
              <a:latin typeface="Times New Roman" panose="02020603050405020304" pitchFamily="18" charset="0"/>
            </a:endParaRPr>
          </a:p>
        </p:txBody>
      </p:sp>
      <p:sp>
        <p:nvSpPr>
          <p:cNvPr id="36893" name="Oval 29"/>
          <p:cNvSpPr>
            <a:spLocks noChangeArrowheads="1"/>
          </p:cNvSpPr>
          <p:nvPr/>
        </p:nvSpPr>
        <p:spPr bwMode="auto">
          <a:xfrm>
            <a:off x="4211638" y="2852738"/>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4" name="Line 30"/>
          <p:cNvSpPr>
            <a:spLocks noChangeShapeType="1"/>
          </p:cNvSpPr>
          <p:nvPr/>
        </p:nvSpPr>
        <p:spPr bwMode="auto">
          <a:xfrm flipH="1">
            <a:off x="4284663" y="2133600"/>
            <a:ext cx="71437" cy="7191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5" name="Oval 31"/>
          <p:cNvSpPr>
            <a:spLocks noChangeArrowheads="1"/>
          </p:cNvSpPr>
          <p:nvPr/>
        </p:nvSpPr>
        <p:spPr bwMode="auto">
          <a:xfrm>
            <a:off x="2195513" y="4221163"/>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6" name="Oval 32"/>
          <p:cNvSpPr>
            <a:spLocks noChangeArrowheads="1"/>
          </p:cNvSpPr>
          <p:nvPr/>
        </p:nvSpPr>
        <p:spPr bwMode="auto">
          <a:xfrm>
            <a:off x="6156325" y="4005263"/>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7" name="Line 33"/>
          <p:cNvSpPr>
            <a:spLocks noChangeShapeType="1"/>
          </p:cNvSpPr>
          <p:nvPr/>
        </p:nvSpPr>
        <p:spPr bwMode="auto">
          <a:xfrm>
            <a:off x="2268538" y="3141663"/>
            <a:ext cx="0" cy="10795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8" name="Line 34"/>
          <p:cNvSpPr>
            <a:spLocks noChangeShapeType="1"/>
          </p:cNvSpPr>
          <p:nvPr/>
        </p:nvSpPr>
        <p:spPr bwMode="auto">
          <a:xfrm flipH="1">
            <a:off x="6300788" y="3141663"/>
            <a:ext cx="215900" cy="8636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9" name="Rectangle 35"/>
          <p:cNvSpPr>
            <a:spLocks noChangeArrowheads="1"/>
          </p:cNvSpPr>
          <p:nvPr/>
        </p:nvSpPr>
        <p:spPr bwMode="auto">
          <a:xfrm>
            <a:off x="2771775" y="2133600"/>
            <a:ext cx="5572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2</a:t>
            </a:r>
            <a:endParaRPr lang="en-US" altLang="zh-CN" sz="3200">
              <a:solidFill>
                <a:schemeClr val="hlink"/>
              </a:solidFill>
              <a:latin typeface="Times New Roman" panose="02020603050405020304" pitchFamily="18" charset="0"/>
            </a:endParaRPr>
          </a:p>
        </p:txBody>
      </p:sp>
      <p:sp>
        <p:nvSpPr>
          <p:cNvPr id="36900" name="Rectangle 36"/>
          <p:cNvSpPr>
            <a:spLocks noChangeArrowheads="1"/>
          </p:cNvSpPr>
          <p:nvPr/>
        </p:nvSpPr>
        <p:spPr bwMode="auto">
          <a:xfrm>
            <a:off x="6084888" y="3213100"/>
            <a:ext cx="5572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2</a:t>
            </a:r>
            <a:endParaRPr lang="en-US" altLang="zh-CN" sz="3200">
              <a:solidFill>
                <a:schemeClr val="hlink"/>
              </a:solidFill>
              <a:latin typeface="Times New Roman" panose="02020603050405020304" pitchFamily="18" charset="0"/>
            </a:endParaRPr>
          </a:p>
        </p:txBody>
      </p:sp>
      <p:sp>
        <p:nvSpPr>
          <p:cNvPr id="36901" name="Rectangle 37"/>
          <p:cNvSpPr>
            <a:spLocks noChangeArrowheads="1"/>
          </p:cNvSpPr>
          <p:nvPr/>
        </p:nvSpPr>
        <p:spPr bwMode="auto">
          <a:xfrm>
            <a:off x="1979613" y="4581525"/>
            <a:ext cx="4667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3</a:t>
            </a:r>
            <a:endParaRPr lang="en-US" altLang="zh-CN" sz="3200">
              <a:solidFill>
                <a:schemeClr val="hlink"/>
              </a:solidFill>
              <a:latin typeface="Times New Roman" panose="02020603050405020304" pitchFamily="18" charset="0"/>
            </a:endParaRPr>
          </a:p>
        </p:txBody>
      </p:sp>
      <p:sp>
        <p:nvSpPr>
          <p:cNvPr id="36902" name="Oval 38"/>
          <p:cNvSpPr>
            <a:spLocks noChangeArrowheads="1"/>
          </p:cNvSpPr>
          <p:nvPr/>
        </p:nvSpPr>
        <p:spPr bwMode="auto">
          <a:xfrm>
            <a:off x="4211638" y="1916113"/>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3" name="Line 39"/>
          <p:cNvSpPr>
            <a:spLocks noChangeShapeType="1"/>
          </p:cNvSpPr>
          <p:nvPr/>
        </p:nvSpPr>
        <p:spPr bwMode="auto">
          <a:xfrm>
            <a:off x="4356100" y="1341438"/>
            <a:ext cx="0" cy="57467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4" name="Line 40"/>
          <p:cNvSpPr>
            <a:spLocks noChangeShapeType="1"/>
          </p:cNvSpPr>
          <p:nvPr/>
        </p:nvSpPr>
        <p:spPr bwMode="auto">
          <a:xfrm>
            <a:off x="1042988" y="4365625"/>
            <a:ext cx="0" cy="100806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5" name="Line 41"/>
          <p:cNvSpPr>
            <a:spLocks noChangeShapeType="1"/>
          </p:cNvSpPr>
          <p:nvPr/>
        </p:nvSpPr>
        <p:spPr bwMode="auto">
          <a:xfrm>
            <a:off x="2268538" y="4437063"/>
            <a:ext cx="0" cy="9366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6" name="Line 42"/>
          <p:cNvSpPr>
            <a:spLocks noChangeShapeType="1"/>
          </p:cNvSpPr>
          <p:nvPr/>
        </p:nvSpPr>
        <p:spPr bwMode="auto">
          <a:xfrm>
            <a:off x="3492500" y="4365625"/>
            <a:ext cx="0" cy="935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7" name="Line 43"/>
          <p:cNvSpPr>
            <a:spLocks noChangeShapeType="1"/>
          </p:cNvSpPr>
          <p:nvPr/>
        </p:nvSpPr>
        <p:spPr bwMode="auto">
          <a:xfrm>
            <a:off x="4859338" y="4292600"/>
            <a:ext cx="0" cy="108108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8" name="Line 44"/>
          <p:cNvSpPr>
            <a:spLocks noChangeShapeType="1"/>
          </p:cNvSpPr>
          <p:nvPr/>
        </p:nvSpPr>
        <p:spPr bwMode="auto">
          <a:xfrm>
            <a:off x="6300788" y="4221163"/>
            <a:ext cx="0" cy="10795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9" name="Line 45"/>
          <p:cNvSpPr>
            <a:spLocks noChangeShapeType="1"/>
          </p:cNvSpPr>
          <p:nvPr/>
        </p:nvSpPr>
        <p:spPr bwMode="auto">
          <a:xfrm>
            <a:off x="7740650" y="4221163"/>
            <a:ext cx="0" cy="10795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0" name="Line 46"/>
          <p:cNvSpPr>
            <a:spLocks noChangeShapeType="1"/>
          </p:cNvSpPr>
          <p:nvPr/>
        </p:nvSpPr>
        <p:spPr bwMode="auto">
          <a:xfrm flipH="1">
            <a:off x="3563938" y="3068638"/>
            <a:ext cx="647700" cy="108108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1" name="Line 47"/>
          <p:cNvSpPr>
            <a:spLocks noChangeShapeType="1"/>
          </p:cNvSpPr>
          <p:nvPr/>
        </p:nvSpPr>
        <p:spPr bwMode="auto">
          <a:xfrm>
            <a:off x="4356100" y="3068638"/>
            <a:ext cx="431800" cy="100806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2" name="Rectangle 48"/>
          <p:cNvSpPr>
            <a:spLocks noChangeArrowheads="1"/>
          </p:cNvSpPr>
          <p:nvPr/>
        </p:nvSpPr>
        <p:spPr bwMode="auto">
          <a:xfrm>
            <a:off x="6011863" y="4437063"/>
            <a:ext cx="4286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3</a:t>
            </a:r>
            <a:endParaRPr lang="en-US" altLang="zh-CN" sz="3200">
              <a:solidFill>
                <a:schemeClr val="hlink"/>
              </a:solidFill>
              <a:latin typeface="Times New Roman" panose="02020603050405020304" pitchFamily="18" charset="0"/>
            </a:endParaRPr>
          </a:p>
        </p:txBody>
      </p:sp>
      <p:sp>
        <p:nvSpPr>
          <p:cNvPr id="36913" name="Rectangle 49"/>
          <p:cNvSpPr>
            <a:spLocks noChangeArrowheads="1"/>
          </p:cNvSpPr>
          <p:nvPr/>
        </p:nvSpPr>
        <p:spPr bwMode="auto">
          <a:xfrm>
            <a:off x="7380288" y="4365625"/>
            <a:ext cx="5572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2</a:t>
            </a:r>
            <a:endParaRPr lang="en-US" altLang="zh-CN" sz="3200">
              <a:solidFill>
                <a:schemeClr val="hlink"/>
              </a:solidFill>
              <a:latin typeface="Times New Roman" panose="02020603050405020304" pitchFamily="18" charset="0"/>
            </a:endParaRPr>
          </a:p>
        </p:txBody>
      </p:sp>
      <p:sp>
        <p:nvSpPr>
          <p:cNvPr id="36914" name="Rectangle 50"/>
          <p:cNvSpPr>
            <a:spLocks noChangeArrowheads="1"/>
          </p:cNvSpPr>
          <p:nvPr/>
        </p:nvSpPr>
        <p:spPr bwMode="auto">
          <a:xfrm>
            <a:off x="3492500" y="3284538"/>
            <a:ext cx="5572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2</a:t>
            </a:r>
            <a:endParaRPr lang="en-US" altLang="zh-CN" sz="3200">
              <a:solidFill>
                <a:schemeClr val="hlink"/>
              </a:solidFill>
              <a:latin typeface="Times New Roman" panose="02020603050405020304" pitchFamily="18" charset="0"/>
            </a:endParaRPr>
          </a:p>
        </p:txBody>
      </p:sp>
      <p:sp>
        <p:nvSpPr>
          <p:cNvPr id="36915" name="Rectangle 51"/>
          <p:cNvSpPr>
            <a:spLocks noChangeArrowheads="1"/>
          </p:cNvSpPr>
          <p:nvPr/>
        </p:nvSpPr>
        <p:spPr bwMode="auto">
          <a:xfrm>
            <a:off x="4500563" y="4437063"/>
            <a:ext cx="5572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2</a:t>
            </a:r>
            <a:endParaRPr lang="en-US" altLang="zh-CN" sz="3200">
              <a:solidFill>
                <a:schemeClr val="hlink"/>
              </a:solidFill>
              <a:latin typeface="Times New Roman" panose="02020603050405020304" pitchFamily="18" charset="0"/>
            </a:endParaRPr>
          </a:p>
        </p:txBody>
      </p:sp>
      <p:sp>
        <p:nvSpPr>
          <p:cNvPr id="36916" name="Rectangle 52"/>
          <p:cNvSpPr>
            <a:spLocks noChangeArrowheads="1"/>
          </p:cNvSpPr>
          <p:nvPr/>
        </p:nvSpPr>
        <p:spPr bwMode="auto">
          <a:xfrm>
            <a:off x="3203575" y="4508500"/>
            <a:ext cx="4111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4</a:t>
            </a:r>
            <a:endParaRPr lang="en-US" altLang="zh-CN" sz="3200">
              <a:solidFill>
                <a:schemeClr val="hlink"/>
              </a:solidFill>
              <a:latin typeface="Times New Roman" panose="02020603050405020304" pitchFamily="18" charset="0"/>
            </a:endParaRPr>
          </a:p>
        </p:txBody>
      </p:sp>
      <p:sp>
        <p:nvSpPr>
          <p:cNvPr id="36917" name="Rectangle 53"/>
          <p:cNvSpPr>
            <a:spLocks noChangeArrowheads="1"/>
          </p:cNvSpPr>
          <p:nvPr/>
        </p:nvSpPr>
        <p:spPr bwMode="auto">
          <a:xfrm>
            <a:off x="755650" y="4581525"/>
            <a:ext cx="4111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4</a:t>
            </a:r>
            <a:endParaRPr lang="en-US" altLang="zh-CN" sz="3200">
              <a:solidFill>
                <a:schemeClr val="hlink"/>
              </a:solidFill>
              <a:latin typeface="Times New Roman" panose="02020603050405020304" pitchFamily="18" charset="0"/>
            </a:endParaRPr>
          </a:p>
        </p:txBody>
      </p:sp>
      <p:sp>
        <p:nvSpPr>
          <p:cNvPr id="36918" name="Rectangle 54"/>
          <p:cNvSpPr>
            <a:spLocks noChangeArrowheads="1"/>
          </p:cNvSpPr>
          <p:nvPr/>
        </p:nvSpPr>
        <p:spPr bwMode="auto">
          <a:xfrm>
            <a:off x="1979613" y="3284538"/>
            <a:ext cx="41116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4</a:t>
            </a:r>
            <a:endParaRPr lang="en-US" altLang="zh-CN" sz="3200">
              <a:solidFill>
                <a:schemeClr val="hlink"/>
              </a:solidFill>
              <a:latin typeface="Times New Roman" panose="02020603050405020304" pitchFamily="18" charset="0"/>
            </a:endParaRPr>
          </a:p>
        </p:txBody>
      </p:sp>
      <p:sp>
        <p:nvSpPr>
          <p:cNvPr id="36919" name="Rectangle 55"/>
          <p:cNvSpPr>
            <a:spLocks noChangeArrowheads="1"/>
          </p:cNvSpPr>
          <p:nvPr/>
        </p:nvSpPr>
        <p:spPr bwMode="auto">
          <a:xfrm>
            <a:off x="4211638" y="3284538"/>
            <a:ext cx="41116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4</a:t>
            </a:r>
            <a:endParaRPr lang="en-US" altLang="zh-CN" sz="3200">
              <a:solidFill>
                <a:schemeClr val="hlink"/>
              </a:solidFill>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611188"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3900" b="1">
                <a:solidFill>
                  <a:schemeClr val="tx2"/>
                </a:solidFill>
                <a:effectLst>
                  <a:outerShdw blurRad="38100" dist="38100" dir="2700000" algn="tl">
                    <a:srgbClr val="C0C0C0"/>
                  </a:outerShdw>
                </a:effectLst>
                <a:ea typeface="黑体" panose="02010609060101010101" pitchFamily="49" charset="-122"/>
              </a:rPr>
              <a:t>旅行售货员问题</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sp>
        <p:nvSpPr>
          <p:cNvPr id="16387" name="Text Box 3"/>
          <p:cNvSpPr txBox="1">
            <a:spLocks noChangeArrowheads="1"/>
          </p:cNvSpPr>
          <p:nvPr/>
        </p:nvSpPr>
        <p:spPr bwMode="auto">
          <a:xfrm>
            <a:off x="395288" y="692150"/>
            <a:ext cx="8497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FontTx/>
              <a:buChar char="•"/>
            </a:pPr>
            <a:r>
              <a:rPr lang="zh-CN" altLang="en-US" sz="2400">
                <a:ea typeface="新宋体" panose="02010609030101010101" charset="-122"/>
              </a:rPr>
              <a:t>解空间：排列树</a:t>
            </a:r>
            <a:endParaRPr lang="zh-CN" altLang="en-US" sz="2400">
              <a:ea typeface="新宋体" panose="02010609030101010101" charset="-122"/>
            </a:endParaRPr>
          </a:p>
        </p:txBody>
      </p:sp>
      <p:sp>
        <p:nvSpPr>
          <p:cNvPr id="16388" name="Text Box 4"/>
          <p:cNvSpPr txBox="1">
            <a:spLocks noChangeArrowheads="1"/>
          </p:cNvSpPr>
          <p:nvPr/>
        </p:nvSpPr>
        <p:spPr bwMode="auto">
          <a:xfrm>
            <a:off x="250825" y="1149350"/>
            <a:ext cx="6169025" cy="547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r>
              <a:rPr kumimoji="1" lang="en-US" altLang="zh-CN" sz="1600"/>
              <a:t>template&lt;class Type&gt;</a:t>
            </a:r>
            <a:endParaRPr kumimoji="1" lang="en-US" altLang="zh-CN" sz="1600"/>
          </a:p>
          <a:p>
            <a:r>
              <a:rPr kumimoji="1" lang="en-US" altLang="zh-CN" sz="1600"/>
              <a:t>void Traveling&lt;Type&gt;::</a:t>
            </a:r>
            <a:r>
              <a:rPr kumimoji="1" lang="en-US" altLang="zh-CN" sz="1600" b="1"/>
              <a:t>Backtrack</a:t>
            </a:r>
            <a:r>
              <a:rPr kumimoji="1" lang="en-US" altLang="zh-CN" sz="1600"/>
              <a:t>(int i)</a:t>
            </a:r>
            <a:endParaRPr kumimoji="1" lang="en-US" altLang="zh-CN" sz="1600"/>
          </a:p>
          <a:p>
            <a:r>
              <a:rPr kumimoji="1" lang="en-US" altLang="zh-CN" sz="1600"/>
              <a:t>{</a:t>
            </a:r>
            <a:endParaRPr kumimoji="1" lang="en-US" altLang="zh-CN" sz="1600"/>
          </a:p>
          <a:p>
            <a:r>
              <a:rPr kumimoji="1" lang="en-US" altLang="zh-CN" sz="1600"/>
              <a:t>   if (i == n) {</a:t>
            </a:r>
            <a:endParaRPr kumimoji="1" lang="en-US" altLang="zh-CN" sz="1600"/>
          </a:p>
          <a:p>
            <a:r>
              <a:rPr kumimoji="1" lang="en-US" altLang="zh-CN" sz="1600"/>
              <a:t>      if (a[x[n-1]][x[n]] != NoEdge &amp;&amp; a[x[n]][1] != NoEdge &amp;&amp;</a:t>
            </a:r>
            <a:endParaRPr kumimoji="1" lang="en-US" altLang="zh-CN" sz="1600"/>
          </a:p>
          <a:p>
            <a:r>
              <a:rPr kumimoji="1" lang="en-US" altLang="zh-CN" sz="1600"/>
              <a:t>         (cc + a[x[n-1]][x[n]] + a[x[n]][1] &lt; bestc || bestc == NoEdge)) {</a:t>
            </a:r>
            <a:endParaRPr kumimoji="1" lang="en-US" altLang="zh-CN" sz="1600"/>
          </a:p>
          <a:p>
            <a:r>
              <a:rPr kumimoji="1" lang="en-US" altLang="zh-CN" sz="1600"/>
              <a:t>         for (int j = 1; j &lt;= n; j++) bestx[j] = x[j];</a:t>
            </a:r>
            <a:endParaRPr kumimoji="1" lang="en-US" altLang="zh-CN" sz="1600"/>
          </a:p>
          <a:p>
            <a:r>
              <a:rPr kumimoji="1" lang="en-US" altLang="zh-CN" sz="1600"/>
              <a:t>         bestc = cc + a[x[n-1]][x[n]] + a[x[n]][1];}</a:t>
            </a:r>
            <a:endParaRPr kumimoji="1" lang="en-US" altLang="zh-CN" sz="1600"/>
          </a:p>
          <a:p>
            <a:r>
              <a:rPr kumimoji="1" lang="en-US" altLang="zh-CN" sz="1600"/>
              <a:t>      }</a:t>
            </a:r>
            <a:endParaRPr kumimoji="1" lang="en-US" altLang="zh-CN" sz="1600"/>
          </a:p>
          <a:p>
            <a:r>
              <a:rPr kumimoji="1" lang="en-US" altLang="zh-CN" sz="1600"/>
              <a:t>   else {</a:t>
            </a:r>
            <a:endParaRPr kumimoji="1" lang="en-US" altLang="zh-CN" sz="1600"/>
          </a:p>
          <a:p>
            <a:r>
              <a:rPr kumimoji="1" lang="en-US" altLang="zh-CN" sz="1600"/>
              <a:t>      for (int j = i; j &lt;= n; j++)</a:t>
            </a:r>
            <a:endParaRPr kumimoji="1" lang="en-US" altLang="zh-CN" sz="1600"/>
          </a:p>
          <a:p>
            <a:r>
              <a:rPr kumimoji="1" lang="en-US" altLang="zh-CN" sz="1600"/>
              <a:t>         // </a:t>
            </a:r>
            <a:r>
              <a:rPr kumimoji="1" lang="zh-CN" altLang="en-US" sz="1600"/>
              <a:t>是否可进入</a:t>
            </a:r>
            <a:r>
              <a:rPr kumimoji="1" lang="en-US" altLang="zh-CN" sz="1600"/>
              <a:t>x[j]</a:t>
            </a:r>
            <a:r>
              <a:rPr kumimoji="1" lang="zh-CN" altLang="en-US" sz="1600"/>
              <a:t>子树</a:t>
            </a:r>
            <a:r>
              <a:rPr kumimoji="1" lang="en-US" altLang="zh-CN" sz="1600"/>
              <a:t>?</a:t>
            </a:r>
            <a:endParaRPr kumimoji="1" lang="en-US" altLang="zh-CN" sz="1600"/>
          </a:p>
          <a:p>
            <a:r>
              <a:rPr kumimoji="1" lang="en-US" altLang="zh-CN" sz="1600"/>
              <a:t>         if (a[x[i-1]][x[j]] != NoEdge &amp;&amp;</a:t>
            </a:r>
            <a:endParaRPr kumimoji="1" lang="en-US" altLang="zh-CN" sz="1600"/>
          </a:p>
          <a:p>
            <a:r>
              <a:rPr kumimoji="1" lang="en-US" altLang="zh-CN" sz="1600"/>
              <a:t>            (cc + a[x[i-1]][x[i]] &lt; bestc || bestc == NoEdge)) {</a:t>
            </a:r>
            <a:endParaRPr kumimoji="1" lang="en-US" altLang="zh-CN" sz="1600"/>
          </a:p>
          <a:p>
            <a:r>
              <a:rPr kumimoji="1" lang="en-US" altLang="zh-CN" sz="1600"/>
              <a:t>            // </a:t>
            </a:r>
            <a:r>
              <a:rPr kumimoji="1" lang="zh-CN" altLang="en-US" sz="1600"/>
              <a:t>搜索子树</a:t>
            </a:r>
            <a:endParaRPr kumimoji="1" lang="zh-CN" altLang="en-US" sz="1600"/>
          </a:p>
          <a:p>
            <a:r>
              <a:rPr kumimoji="1" lang="zh-CN" altLang="en-US" sz="1600"/>
              <a:t>            </a:t>
            </a:r>
            <a:r>
              <a:rPr kumimoji="1" lang="en-US" altLang="zh-CN" sz="1600"/>
              <a:t>Swap(x[i], x[j]);</a:t>
            </a:r>
            <a:endParaRPr kumimoji="1" lang="en-US" altLang="zh-CN" sz="1600"/>
          </a:p>
          <a:p>
            <a:r>
              <a:rPr kumimoji="1" lang="en-US" altLang="zh-CN" sz="1600"/>
              <a:t>            cc += a[x[i-1]][x[i]];</a:t>
            </a:r>
            <a:endParaRPr kumimoji="1" lang="en-US" altLang="zh-CN" sz="1600"/>
          </a:p>
          <a:p>
            <a:r>
              <a:rPr kumimoji="1" lang="en-US" altLang="zh-CN" sz="1600"/>
              <a:t>            Backtrack(i+1);</a:t>
            </a:r>
            <a:endParaRPr kumimoji="1" lang="en-US" altLang="zh-CN" sz="1600"/>
          </a:p>
          <a:p>
            <a:r>
              <a:rPr kumimoji="1" lang="en-US" altLang="zh-CN" sz="1600"/>
              <a:t>            cc -= a[x[i-1]][x[i]];</a:t>
            </a:r>
            <a:endParaRPr kumimoji="1" lang="en-US" altLang="zh-CN" sz="1600"/>
          </a:p>
          <a:p>
            <a:r>
              <a:rPr kumimoji="1" lang="en-US" altLang="zh-CN" sz="1600"/>
              <a:t>            Swap(x[i], x[j]);}</a:t>
            </a:r>
            <a:endParaRPr kumimoji="1" lang="en-US" altLang="zh-CN" sz="1600"/>
          </a:p>
          <a:p>
            <a:r>
              <a:rPr kumimoji="1" lang="en-US" altLang="zh-CN" sz="1600"/>
              <a:t>      }</a:t>
            </a:r>
            <a:endParaRPr kumimoji="1" lang="en-US" altLang="zh-CN" sz="1600"/>
          </a:p>
          <a:p>
            <a:r>
              <a:rPr kumimoji="1" lang="en-US" altLang="zh-CN" sz="1600"/>
              <a:t>}</a:t>
            </a:r>
            <a:endParaRPr kumimoji="1" lang="en-US" altLang="zh-CN" sz="1600"/>
          </a:p>
        </p:txBody>
      </p:sp>
      <p:sp>
        <p:nvSpPr>
          <p:cNvPr id="16389" name="AutoShape 5"/>
          <p:cNvSpPr>
            <a:spLocks noChangeArrowheads="1"/>
          </p:cNvSpPr>
          <p:nvPr/>
        </p:nvSpPr>
        <p:spPr bwMode="auto">
          <a:xfrm>
            <a:off x="611188" y="2205038"/>
            <a:ext cx="6902450" cy="1749425"/>
          </a:xfrm>
          <a:prstGeom prst="roundRect">
            <a:avLst>
              <a:gd name="adj" fmla="val 16667"/>
            </a:avLst>
          </a:prstGeom>
          <a:solidFill>
            <a:schemeClr val="bg1"/>
          </a:solidFill>
          <a:ln w="38100">
            <a:solidFill>
              <a:srgbClr val="063DE8"/>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400" b="1">
                <a:ea typeface="黑体" panose="02010609060101010101" pitchFamily="49" charset="-122"/>
              </a:rPr>
              <a:t>复杂度分析</a:t>
            </a:r>
            <a:endParaRPr lang="zh-CN" altLang="en-US" sz="2400" b="1">
              <a:ea typeface="黑体" panose="02010609060101010101" pitchFamily="49" charset="-122"/>
            </a:endParaRPr>
          </a:p>
          <a:p>
            <a:pPr eaLnBrk="0" hangingPunct="0"/>
            <a:r>
              <a:rPr lang="zh-CN" altLang="en-US" sz="2400">
                <a:ea typeface="新宋体" panose="02010609030101010101" charset="-122"/>
                <a:sym typeface="Wingdings" panose="05000000000000000000" pitchFamily="2" charset="2"/>
              </a:rPr>
              <a:t>算法</a:t>
            </a:r>
            <a:r>
              <a:rPr lang="en-US" altLang="zh-CN" sz="2400" b="1">
                <a:ea typeface="新宋体" panose="02010609030101010101" charset="-122"/>
                <a:sym typeface="Wingdings" panose="05000000000000000000" pitchFamily="2" charset="2"/>
              </a:rPr>
              <a:t>backtrack</a:t>
            </a:r>
            <a:r>
              <a:rPr lang="zh-CN" altLang="en-US" sz="2400">
                <a:ea typeface="新宋体" panose="02010609030101010101" charset="-122"/>
                <a:sym typeface="Wingdings" panose="05000000000000000000" pitchFamily="2" charset="2"/>
              </a:rPr>
              <a:t>在最坏情况下可能需要更新当前最优解</a:t>
            </a:r>
            <a:r>
              <a:rPr lang="en-US" altLang="zh-CN" sz="2400">
                <a:ea typeface="新宋体" panose="02010609030101010101" charset="-122"/>
                <a:sym typeface="Wingdings" panose="05000000000000000000" pitchFamily="2" charset="2"/>
              </a:rPr>
              <a:t>O((n-1)!)</a:t>
            </a:r>
            <a:r>
              <a:rPr lang="zh-CN" altLang="en-US" sz="2400">
                <a:ea typeface="新宋体" panose="02010609030101010101" charset="-122"/>
                <a:sym typeface="Wingdings" panose="05000000000000000000" pitchFamily="2" charset="2"/>
              </a:rPr>
              <a:t>次，每次更新</a:t>
            </a:r>
            <a:r>
              <a:rPr lang="en-US" altLang="zh-CN" sz="2400">
                <a:ea typeface="新宋体" panose="02010609030101010101" charset="-122"/>
                <a:sym typeface="Wingdings" panose="05000000000000000000" pitchFamily="2" charset="2"/>
              </a:rPr>
              <a:t>bestx</a:t>
            </a:r>
            <a:r>
              <a:rPr lang="zh-CN" altLang="en-US" sz="2400">
                <a:ea typeface="新宋体" panose="02010609030101010101" charset="-122"/>
                <a:sym typeface="Wingdings" panose="05000000000000000000" pitchFamily="2" charset="2"/>
              </a:rPr>
              <a:t>需计算时间</a:t>
            </a:r>
            <a:r>
              <a:rPr lang="en-US" altLang="zh-CN" sz="2400">
                <a:ea typeface="新宋体" panose="02010609030101010101" charset="-122"/>
                <a:sym typeface="Wingdings" panose="05000000000000000000" pitchFamily="2" charset="2"/>
              </a:rPr>
              <a:t>O(n)</a:t>
            </a:r>
            <a:r>
              <a:rPr lang="zh-CN" altLang="en-US" sz="2400">
                <a:ea typeface="新宋体" panose="02010609030101010101" charset="-122"/>
                <a:sym typeface="Wingdings" panose="05000000000000000000" pitchFamily="2" charset="2"/>
              </a:rPr>
              <a:t>，从而整个算法的计算时间复杂性为</a:t>
            </a:r>
            <a:r>
              <a:rPr lang="en-US" altLang="zh-CN" sz="2400">
                <a:ea typeface="新宋体" panose="02010609030101010101" charset="-122"/>
                <a:sym typeface="Wingdings" panose="05000000000000000000" pitchFamily="2" charset="2"/>
              </a:rPr>
              <a:t>O(n!)</a:t>
            </a:r>
            <a:r>
              <a:rPr lang="zh-CN" altLang="en-US" sz="2400">
                <a:ea typeface="新宋体" panose="02010609030101010101" charset="-122"/>
                <a:sym typeface="Wingdings" panose="05000000000000000000" pitchFamily="2" charset="2"/>
              </a:rPr>
              <a:t>。 </a:t>
            </a:r>
            <a:endParaRPr lang="zh-CN" altLang="en-US" sz="2400">
              <a:ea typeface="新宋体" panose="02010609030101010101" charset="-122"/>
              <a:sym typeface="Wingdings" panose="05000000000000000000"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389"/>
                                        </p:tgtEl>
                                        <p:attrNameLst>
                                          <p:attrName>style.visibility</p:attrName>
                                        </p:attrNameLst>
                                      </p:cBhvr>
                                      <p:to>
                                        <p:strVal val="visible"/>
                                      </p:to>
                                    </p:set>
                                    <p:animEffect transition="in" filter="blinds(horizontal)">
                                      <p:cBhvr>
                                        <p:cTn id="7" dur="500"/>
                                        <p:tgtEl>
                                          <p:spTgt spid="163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9"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457200" y="122238"/>
            <a:ext cx="7543800" cy="1123950"/>
          </a:xfrm>
          <a:noFill/>
        </p:spPr>
        <p:txBody>
          <a:bodyPr lIns="92075" tIns="46038" rIns="92075" bIns="46038" anchor="ctr"/>
          <a:lstStyle/>
          <a:p>
            <a:r>
              <a:rPr lang="en-US" altLang="zh-CN"/>
              <a:t>Backtracking</a:t>
            </a:r>
            <a:endParaRPr lang="en-US" altLang="zh-CN"/>
          </a:p>
        </p:txBody>
      </p:sp>
      <p:sp>
        <p:nvSpPr>
          <p:cNvPr id="37891" name="Oval 3"/>
          <p:cNvSpPr>
            <a:spLocks noChangeArrowheads="1"/>
          </p:cNvSpPr>
          <p:nvPr/>
        </p:nvSpPr>
        <p:spPr bwMode="auto">
          <a:xfrm>
            <a:off x="4211638" y="1125538"/>
            <a:ext cx="215900" cy="215900"/>
          </a:xfrm>
          <a:prstGeom prst="ellipse">
            <a:avLst/>
          </a:prstGeom>
          <a:solidFill>
            <a:srgbClr val="00FF0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892" name="Line 4"/>
          <p:cNvSpPr>
            <a:spLocks noChangeShapeType="1"/>
          </p:cNvSpPr>
          <p:nvPr/>
        </p:nvSpPr>
        <p:spPr bwMode="auto">
          <a:xfrm flipH="1">
            <a:off x="2286000" y="2060575"/>
            <a:ext cx="1925638" cy="835025"/>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893" name="Oval 5"/>
          <p:cNvSpPr>
            <a:spLocks noChangeArrowheads="1"/>
          </p:cNvSpPr>
          <p:nvPr/>
        </p:nvSpPr>
        <p:spPr bwMode="auto">
          <a:xfrm>
            <a:off x="2139950" y="29019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894" name="Rectangle 6"/>
          <p:cNvSpPr>
            <a:spLocks noChangeArrowheads="1"/>
          </p:cNvSpPr>
          <p:nvPr/>
        </p:nvSpPr>
        <p:spPr bwMode="auto">
          <a:xfrm>
            <a:off x="3995738" y="1341438"/>
            <a:ext cx="5572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1</a:t>
            </a:r>
            <a:endParaRPr lang="en-US" altLang="zh-CN" sz="3200">
              <a:solidFill>
                <a:schemeClr val="hlink"/>
              </a:solidFill>
              <a:latin typeface="Times New Roman" panose="02020603050405020304" pitchFamily="18" charset="0"/>
            </a:endParaRPr>
          </a:p>
        </p:txBody>
      </p:sp>
      <p:sp>
        <p:nvSpPr>
          <p:cNvPr id="37895" name="Line 7"/>
          <p:cNvSpPr>
            <a:spLocks noChangeShapeType="1"/>
          </p:cNvSpPr>
          <p:nvPr/>
        </p:nvSpPr>
        <p:spPr bwMode="auto">
          <a:xfrm>
            <a:off x="4427538" y="2060575"/>
            <a:ext cx="2049462" cy="835025"/>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896" name="Oval 8"/>
          <p:cNvSpPr>
            <a:spLocks noChangeArrowheads="1"/>
          </p:cNvSpPr>
          <p:nvPr/>
        </p:nvSpPr>
        <p:spPr bwMode="auto">
          <a:xfrm>
            <a:off x="6407150" y="29019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897" name="Rectangle 9"/>
          <p:cNvSpPr>
            <a:spLocks noChangeArrowheads="1"/>
          </p:cNvSpPr>
          <p:nvPr/>
        </p:nvSpPr>
        <p:spPr bwMode="auto">
          <a:xfrm>
            <a:off x="3995738" y="2133600"/>
            <a:ext cx="4667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3</a:t>
            </a:r>
            <a:endParaRPr lang="en-US" altLang="zh-CN" sz="3200">
              <a:solidFill>
                <a:schemeClr val="hlink"/>
              </a:solidFill>
              <a:latin typeface="Times New Roman" panose="02020603050405020304" pitchFamily="18" charset="0"/>
            </a:endParaRPr>
          </a:p>
        </p:txBody>
      </p:sp>
      <p:sp>
        <p:nvSpPr>
          <p:cNvPr id="37898" name="Line 10"/>
          <p:cNvSpPr>
            <a:spLocks noChangeShapeType="1"/>
          </p:cNvSpPr>
          <p:nvPr/>
        </p:nvSpPr>
        <p:spPr bwMode="auto">
          <a:xfrm flipH="1">
            <a:off x="1066800" y="3124200"/>
            <a:ext cx="1066800" cy="1066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899" name="Oval 11"/>
          <p:cNvSpPr>
            <a:spLocks noChangeArrowheads="1"/>
          </p:cNvSpPr>
          <p:nvPr/>
        </p:nvSpPr>
        <p:spPr bwMode="auto">
          <a:xfrm>
            <a:off x="996950" y="41973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0" name="Rectangle 12"/>
          <p:cNvSpPr>
            <a:spLocks noChangeArrowheads="1"/>
          </p:cNvSpPr>
          <p:nvPr/>
        </p:nvSpPr>
        <p:spPr bwMode="auto">
          <a:xfrm>
            <a:off x="0" y="2205038"/>
            <a:ext cx="539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2</a:t>
            </a:r>
            <a:endParaRPr lang="en-US" altLang="zh-CN" sz="3200">
              <a:solidFill>
                <a:schemeClr val="hlink"/>
              </a:solidFill>
              <a:latin typeface="Times New Roman" panose="02020603050405020304" pitchFamily="18" charset="0"/>
            </a:endParaRPr>
          </a:p>
        </p:txBody>
      </p:sp>
      <p:sp>
        <p:nvSpPr>
          <p:cNvPr id="37901" name="Oval 13"/>
          <p:cNvSpPr>
            <a:spLocks noChangeArrowheads="1"/>
          </p:cNvSpPr>
          <p:nvPr/>
        </p:nvSpPr>
        <p:spPr bwMode="auto">
          <a:xfrm>
            <a:off x="3419475" y="4149725"/>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2" name="Rectangle 14"/>
          <p:cNvSpPr>
            <a:spLocks noChangeArrowheads="1"/>
          </p:cNvSpPr>
          <p:nvPr/>
        </p:nvSpPr>
        <p:spPr bwMode="auto">
          <a:xfrm>
            <a:off x="1258888" y="3284538"/>
            <a:ext cx="45243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3</a:t>
            </a:r>
            <a:endParaRPr lang="en-US" altLang="zh-CN" sz="3200">
              <a:solidFill>
                <a:schemeClr val="hlink"/>
              </a:solidFill>
              <a:latin typeface="Times New Roman" panose="02020603050405020304" pitchFamily="18" charset="0"/>
            </a:endParaRPr>
          </a:p>
        </p:txBody>
      </p:sp>
      <p:sp>
        <p:nvSpPr>
          <p:cNvPr id="37903" name="Oval 15"/>
          <p:cNvSpPr>
            <a:spLocks noChangeArrowheads="1"/>
          </p:cNvSpPr>
          <p:nvPr/>
        </p:nvSpPr>
        <p:spPr bwMode="auto">
          <a:xfrm>
            <a:off x="4716463" y="407670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4" name="Rectangle 16"/>
          <p:cNvSpPr>
            <a:spLocks noChangeArrowheads="1"/>
          </p:cNvSpPr>
          <p:nvPr/>
        </p:nvSpPr>
        <p:spPr bwMode="auto">
          <a:xfrm>
            <a:off x="5508625" y="2133600"/>
            <a:ext cx="4111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4</a:t>
            </a:r>
            <a:endParaRPr lang="en-US" altLang="zh-CN" sz="3200">
              <a:solidFill>
                <a:schemeClr val="hlink"/>
              </a:solidFill>
              <a:latin typeface="Times New Roman" panose="02020603050405020304" pitchFamily="18" charset="0"/>
            </a:endParaRPr>
          </a:p>
        </p:txBody>
      </p:sp>
      <p:sp>
        <p:nvSpPr>
          <p:cNvPr id="37905" name="Line 17"/>
          <p:cNvSpPr>
            <a:spLocks noChangeShapeType="1"/>
          </p:cNvSpPr>
          <p:nvPr/>
        </p:nvSpPr>
        <p:spPr bwMode="auto">
          <a:xfrm>
            <a:off x="6588125" y="3068638"/>
            <a:ext cx="1031875" cy="89376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906" name="Oval 18"/>
          <p:cNvSpPr>
            <a:spLocks noChangeArrowheads="1"/>
          </p:cNvSpPr>
          <p:nvPr/>
        </p:nvSpPr>
        <p:spPr bwMode="auto">
          <a:xfrm>
            <a:off x="7626350" y="3968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7" name="Rectangle 19"/>
          <p:cNvSpPr>
            <a:spLocks noChangeArrowheads="1"/>
          </p:cNvSpPr>
          <p:nvPr/>
        </p:nvSpPr>
        <p:spPr bwMode="auto">
          <a:xfrm>
            <a:off x="7164388" y="3213100"/>
            <a:ext cx="4286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3</a:t>
            </a:r>
            <a:endParaRPr lang="en-US" altLang="zh-CN" sz="3200">
              <a:solidFill>
                <a:schemeClr val="hlink"/>
              </a:solidFill>
              <a:latin typeface="Times New Roman" panose="02020603050405020304" pitchFamily="18" charset="0"/>
            </a:endParaRPr>
          </a:p>
        </p:txBody>
      </p:sp>
      <p:sp>
        <p:nvSpPr>
          <p:cNvPr id="37908" name="Oval 20"/>
          <p:cNvSpPr>
            <a:spLocks noChangeArrowheads="1"/>
          </p:cNvSpPr>
          <p:nvPr/>
        </p:nvSpPr>
        <p:spPr bwMode="auto">
          <a:xfrm>
            <a:off x="900113" y="5373688"/>
            <a:ext cx="215900" cy="215900"/>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9" name="Oval 21"/>
          <p:cNvSpPr>
            <a:spLocks noChangeArrowheads="1"/>
          </p:cNvSpPr>
          <p:nvPr/>
        </p:nvSpPr>
        <p:spPr bwMode="auto">
          <a:xfrm>
            <a:off x="2124075" y="5373688"/>
            <a:ext cx="215900" cy="215900"/>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0" name="Oval 22"/>
          <p:cNvSpPr>
            <a:spLocks noChangeArrowheads="1"/>
          </p:cNvSpPr>
          <p:nvPr/>
        </p:nvSpPr>
        <p:spPr bwMode="auto">
          <a:xfrm>
            <a:off x="3419475" y="5300663"/>
            <a:ext cx="215900" cy="215900"/>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1" name="Oval 23"/>
          <p:cNvSpPr>
            <a:spLocks noChangeArrowheads="1"/>
          </p:cNvSpPr>
          <p:nvPr/>
        </p:nvSpPr>
        <p:spPr bwMode="auto">
          <a:xfrm>
            <a:off x="4716463" y="5373688"/>
            <a:ext cx="215900" cy="215900"/>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2" name="Oval 24"/>
          <p:cNvSpPr>
            <a:spLocks noChangeArrowheads="1"/>
          </p:cNvSpPr>
          <p:nvPr/>
        </p:nvSpPr>
        <p:spPr bwMode="auto">
          <a:xfrm>
            <a:off x="6227763" y="5300663"/>
            <a:ext cx="215900" cy="215900"/>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3" name="Oval 25"/>
          <p:cNvSpPr>
            <a:spLocks noChangeArrowheads="1"/>
          </p:cNvSpPr>
          <p:nvPr/>
        </p:nvSpPr>
        <p:spPr bwMode="auto">
          <a:xfrm>
            <a:off x="7667625" y="5300663"/>
            <a:ext cx="215900" cy="215900"/>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4" name="Rectangle 26"/>
          <p:cNvSpPr>
            <a:spLocks noChangeArrowheads="1"/>
          </p:cNvSpPr>
          <p:nvPr/>
        </p:nvSpPr>
        <p:spPr bwMode="auto">
          <a:xfrm>
            <a:off x="0" y="1412875"/>
            <a:ext cx="1066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1</a:t>
            </a:r>
            <a:endParaRPr lang="en-US" altLang="zh-CN" sz="3200">
              <a:solidFill>
                <a:schemeClr val="hlink"/>
              </a:solidFill>
              <a:latin typeface="Times New Roman" panose="02020603050405020304" pitchFamily="18" charset="0"/>
            </a:endParaRPr>
          </a:p>
        </p:txBody>
      </p:sp>
      <p:sp>
        <p:nvSpPr>
          <p:cNvPr id="37915" name="Rectangle 27"/>
          <p:cNvSpPr>
            <a:spLocks noChangeArrowheads="1"/>
          </p:cNvSpPr>
          <p:nvPr/>
        </p:nvSpPr>
        <p:spPr bwMode="auto">
          <a:xfrm>
            <a:off x="0" y="3213100"/>
            <a:ext cx="539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3</a:t>
            </a:r>
            <a:endParaRPr lang="en-US" altLang="zh-CN" sz="3200">
              <a:solidFill>
                <a:schemeClr val="hlink"/>
              </a:solidFill>
              <a:latin typeface="Times New Roman" panose="02020603050405020304" pitchFamily="18" charset="0"/>
            </a:endParaRPr>
          </a:p>
        </p:txBody>
      </p:sp>
      <p:sp>
        <p:nvSpPr>
          <p:cNvPr id="37916" name="Rectangle 28"/>
          <p:cNvSpPr>
            <a:spLocks noChangeArrowheads="1"/>
          </p:cNvSpPr>
          <p:nvPr/>
        </p:nvSpPr>
        <p:spPr bwMode="auto">
          <a:xfrm>
            <a:off x="0" y="4437063"/>
            <a:ext cx="539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4</a:t>
            </a:r>
            <a:endParaRPr lang="en-US" altLang="zh-CN" sz="3200">
              <a:solidFill>
                <a:schemeClr val="hlink"/>
              </a:solidFill>
              <a:latin typeface="Times New Roman" panose="02020603050405020304" pitchFamily="18" charset="0"/>
            </a:endParaRPr>
          </a:p>
        </p:txBody>
      </p:sp>
      <p:sp>
        <p:nvSpPr>
          <p:cNvPr id="37917" name="Oval 29"/>
          <p:cNvSpPr>
            <a:spLocks noChangeArrowheads="1"/>
          </p:cNvSpPr>
          <p:nvPr/>
        </p:nvSpPr>
        <p:spPr bwMode="auto">
          <a:xfrm>
            <a:off x="4211638" y="2852738"/>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8" name="Line 30"/>
          <p:cNvSpPr>
            <a:spLocks noChangeShapeType="1"/>
          </p:cNvSpPr>
          <p:nvPr/>
        </p:nvSpPr>
        <p:spPr bwMode="auto">
          <a:xfrm flipH="1">
            <a:off x="4284663" y="2133600"/>
            <a:ext cx="71437" cy="7191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9" name="Oval 31"/>
          <p:cNvSpPr>
            <a:spLocks noChangeArrowheads="1"/>
          </p:cNvSpPr>
          <p:nvPr/>
        </p:nvSpPr>
        <p:spPr bwMode="auto">
          <a:xfrm>
            <a:off x="2195513" y="4221163"/>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0" name="Oval 32"/>
          <p:cNvSpPr>
            <a:spLocks noChangeArrowheads="1"/>
          </p:cNvSpPr>
          <p:nvPr/>
        </p:nvSpPr>
        <p:spPr bwMode="auto">
          <a:xfrm>
            <a:off x="6156325" y="4005263"/>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1" name="Line 33"/>
          <p:cNvSpPr>
            <a:spLocks noChangeShapeType="1"/>
          </p:cNvSpPr>
          <p:nvPr/>
        </p:nvSpPr>
        <p:spPr bwMode="auto">
          <a:xfrm>
            <a:off x="2268538" y="3141663"/>
            <a:ext cx="0" cy="10795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2" name="Line 34"/>
          <p:cNvSpPr>
            <a:spLocks noChangeShapeType="1"/>
          </p:cNvSpPr>
          <p:nvPr/>
        </p:nvSpPr>
        <p:spPr bwMode="auto">
          <a:xfrm flipH="1">
            <a:off x="6300788" y="3141663"/>
            <a:ext cx="215900" cy="8636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3" name="Rectangle 35"/>
          <p:cNvSpPr>
            <a:spLocks noChangeArrowheads="1"/>
          </p:cNvSpPr>
          <p:nvPr/>
        </p:nvSpPr>
        <p:spPr bwMode="auto">
          <a:xfrm>
            <a:off x="2771775" y="2133600"/>
            <a:ext cx="5572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2</a:t>
            </a:r>
            <a:endParaRPr lang="en-US" altLang="zh-CN" sz="3200">
              <a:solidFill>
                <a:schemeClr val="hlink"/>
              </a:solidFill>
              <a:latin typeface="Times New Roman" panose="02020603050405020304" pitchFamily="18" charset="0"/>
            </a:endParaRPr>
          </a:p>
        </p:txBody>
      </p:sp>
      <p:sp>
        <p:nvSpPr>
          <p:cNvPr id="37924" name="Rectangle 36"/>
          <p:cNvSpPr>
            <a:spLocks noChangeArrowheads="1"/>
          </p:cNvSpPr>
          <p:nvPr/>
        </p:nvSpPr>
        <p:spPr bwMode="auto">
          <a:xfrm>
            <a:off x="6084888" y="3213100"/>
            <a:ext cx="5572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2</a:t>
            </a:r>
            <a:endParaRPr lang="en-US" altLang="zh-CN" sz="3200">
              <a:solidFill>
                <a:schemeClr val="hlink"/>
              </a:solidFill>
              <a:latin typeface="Times New Roman" panose="02020603050405020304" pitchFamily="18" charset="0"/>
            </a:endParaRPr>
          </a:p>
        </p:txBody>
      </p:sp>
      <p:sp>
        <p:nvSpPr>
          <p:cNvPr id="37925" name="Rectangle 37"/>
          <p:cNvSpPr>
            <a:spLocks noChangeArrowheads="1"/>
          </p:cNvSpPr>
          <p:nvPr/>
        </p:nvSpPr>
        <p:spPr bwMode="auto">
          <a:xfrm>
            <a:off x="1979613" y="4581525"/>
            <a:ext cx="4667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3</a:t>
            </a:r>
            <a:endParaRPr lang="en-US" altLang="zh-CN" sz="3200">
              <a:solidFill>
                <a:schemeClr val="hlink"/>
              </a:solidFill>
              <a:latin typeface="Times New Roman" panose="02020603050405020304" pitchFamily="18" charset="0"/>
            </a:endParaRPr>
          </a:p>
        </p:txBody>
      </p:sp>
      <p:sp>
        <p:nvSpPr>
          <p:cNvPr id="37926" name="Oval 38"/>
          <p:cNvSpPr>
            <a:spLocks noChangeArrowheads="1"/>
          </p:cNvSpPr>
          <p:nvPr/>
        </p:nvSpPr>
        <p:spPr bwMode="auto">
          <a:xfrm>
            <a:off x="4211638" y="1916113"/>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7" name="Line 39"/>
          <p:cNvSpPr>
            <a:spLocks noChangeShapeType="1"/>
          </p:cNvSpPr>
          <p:nvPr/>
        </p:nvSpPr>
        <p:spPr bwMode="auto">
          <a:xfrm>
            <a:off x="4356100" y="1341438"/>
            <a:ext cx="0" cy="57467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8" name="Line 40"/>
          <p:cNvSpPr>
            <a:spLocks noChangeShapeType="1"/>
          </p:cNvSpPr>
          <p:nvPr/>
        </p:nvSpPr>
        <p:spPr bwMode="auto">
          <a:xfrm>
            <a:off x="1042988" y="4365625"/>
            <a:ext cx="0" cy="100806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9" name="Line 41"/>
          <p:cNvSpPr>
            <a:spLocks noChangeShapeType="1"/>
          </p:cNvSpPr>
          <p:nvPr/>
        </p:nvSpPr>
        <p:spPr bwMode="auto">
          <a:xfrm>
            <a:off x="2268538" y="4437063"/>
            <a:ext cx="0" cy="9366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30" name="Line 42"/>
          <p:cNvSpPr>
            <a:spLocks noChangeShapeType="1"/>
          </p:cNvSpPr>
          <p:nvPr/>
        </p:nvSpPr>
        <p:spPr bwMode="auto">
          <a:xfrm>
            <a:off x="3492500" y="4365625"/>
            <a:ext cx="0" cy="935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31" name="Line 43"/>
          <p:cNvSpPr>
            <a:spLocks noChangeShapeType="1"/>
          </p:cNvSpPr>
          <p:nvPr/>
        </p:nvSpPr>
        <p:spPr bwMode="auto">
          <a:xfrm>
            <a:off x="4859338" y="4292600"/>
            <a:ext cx="0" cy="108108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32" name="Line 44"/>
          <p:cNvSpPr>
            <a:spLocks noChangeShapeType="1"/>
          </p:cNvSpPr>
          <p:nvPr/>
        </p:nvSpPr>
        <p:spPr bwMode="auto">
          <a:xfrm>
            <a:off x="6300788" y="4221163"/>
            <a:ext cx="0" cy="10795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33" name="Line 45"/>
          <p:cNvSpPr>
            <a:spLocks noChangeShapeType="1"/>
          </p:cNvSpPr>
          <p:nvPr/>
        </p:nvSpPr>
        <p:spPr bwMode="auto">
          <a:xfrm>
            <a:off x="7740650" y="4221163"/>
            <a:ext cx="0" cy="10795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34" name="Line 46"/>
          <p:cNvSpPr>
            <a:spLocks noChangeShapeType="1"/>
          </p:cNvSpPr>
          <p:nvPr/>
        </p:nvSpPr>
        <p:spPr bwMode="auto">
          <a:xfrm flipH="1">
            <a:off x="3563938" y="3068638"/>
            <a:ext cx="647700" cy="108108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35" name="Line 47"/>
          <p:cNvSpPr>
            <a:spLocks noChangeShapeType="1"/>
          </p:cNvSpPr>
          <p:nvPr/>
        </p:nvSpPr>
        <p:spPr bwMode="auto">
          <a:xfrm>
            <a:off x="4356100" y="3068638"/>
            <a:ext cx="431800" cy="100806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36" name="Rectangle 48"/>
          <p:cNvSpPr>
            <a:spLocks noChangeArrowheads="1"/>
          </p:cNvSpPr>
          <p:nvPr/>
        </p:nvSpPr>
        <p:spPr bwMode="auto">
          <a:xfrm>
            <a:off x="6011863" y="4437063"/>
            <a:ext cx="4286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3</a:t>
            </a:r>
            <a:endParaRPr lang="en-US" altLang="zh-CN" sz="3200">
              <a:solidFill>
                <a:schemeClr val="hlink"/>
              </a:solidFill>
              <a:latin typeface="Times New Roman" panose="02020603050405020304" pitchFamily="18" charset="0"/>
            </a:endParaRPr>
          </a:p>
        </p:txBody>
      </p:sp>
      <p:sp>
        <p:nvSpPr>
          <p:cNvPr id="37937" name="Rectangle 49"/>
          <p:cNvSpPr>
            <a:spLocks noChangeArrowheads="1"/>
          </p:cNvSpPr>
          <p:nvPr/>
        </p:nvSpPr>
        <p:spPr bwMode="auto">
          <a:xfrm>
            <a:off x="7380288" y="4365625"/>
            <a:ext cx="5572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2</a:t>
            </a:r>
            <a:endParaRPr lang="en-US" altLang="zh-CN" sz="3200">
              <a:solidFill>
                <a:schemeClr val="hlink"/>
              </a:solidFill>
              <a:latin typeface="Times New Roman" panose="02020603050405020304" pitchFamily="18" charset="0"/>
            </a:endParaRPr>
          </a:p>
        </p:txBody>
      </p:sp>
      <p:sp>
        <p:nvSpPr>
          <p:cNvPr id="37938" name="Rectangle 50"/>
          <p:cNvSpPr>
            <a:spLocks noChangeArrowheads="1"/>
          </p:cNvSpPr>
          <p:nvPr/>
        </p:nvSpPr>
        <p:spPr bwMode="auto">
          <a:xfrm>
            <a:off x="3492500" y="3284538"/>
            <a:ext cx="5572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2</a:t>
            </a:r>
            <a:endParaRPr lang="en-US" altLang="zh-CN" sz="3200">
              <a:solidFill>
                <a:schemeClr val="hlink"/>
              </a:solidFill>
              <a:latin typeface="Times New Roman" panose="02020603050405020304" pitchFamily="18" charset="0"/>
            </a:endParaRPr>
          </a:p>
        </p:txBody>
      </p:sp>
      <p:sp>
        <p:nvSpPr>
          <p:cNvPr id="37939" name="Rectangle 51"/>
          <p:cNvSpPr>
            <a:spLocks noChangeArrowheads="1"/>
          </p:cNvSpPr>
          <p:nvPr/>
        </p:nvSpPr>
        <p:spPr bwMode="auto">
          <a:xfrm>
            <a:off x="3203575" y="4508500"/>
            <a:ext cx="4111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4</a:t>
            </a:r>
            <a:endParaRPr lang="en-US" altLang="zh-CN" sz="3200">
              <a:solidFill>
                <a:schemeClr val="hlink"/>
              </a:solidFill>
              <a:latin typeface="Times New Roman" panose="02020603050405020304" pitchFamily="18" charset="0"/>
            </a:endParaRPr>
          </a:p>
        </p:txBody>
      </p:sp>
      <p:sp>
        <p:nvSpPr>
          <p:cNvPr id="37940" name="Rectangle 52"/>
          <p:cNvSpPr>
            <a:spLocks noChangeArrowheads="1"/>
          </p:cNvSpPr>
          <p:nvPr/>
        </p:nvSpPr>
        <p:spPr bwMode="auto">
          <a:xfrm>
            <a:off x="755650" y="4581525"/>
            <a:ext cx="4111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4</a:t>
            </a:r>
            <a:endParaRPr lang="en-US" altLang="zh-CN" sz="3200">
              <a:solidFill>
                <a:schemeClr val="hlink"/>
              </a:solidFill>
              <a:latin typeface="Times New Roman" panose="02020603050405020304" pitchFamily="18" charset="0"/>
            </a:endParaRPr>
          </a:p>
        </p:txBody>
      </p:sp>
      <p:sp>
        <p:nvSpPr>
          <p:cNvPr id="37941" name="Rectangle 53"/>
          <p:cNvSpPr>
            <a:spLocks noChangeArrowheads="1"/>
          </p:cNvSpPr>
          <p:nvPr/>
        </p:nvSpPr>
        <p:spPr bwMode="auto">
          <a:xfrm>
            <a:off x="1979613" y="3284538"/>
            <a:ext cx="41116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4</a:t>
            </a:r>
            <a:endParaRPr lang="en-US" altLang="zh-CN" sz="3200">
              <a:solidFill>
                <a:schemeClr val="hlink"/>
              </a:solidFill>
              <a:latin typeface="Times New Roman" panose="02020603050405020304" pitchFamily="18" charset="0"/>
            </a:endParaRPr>
          </a:p>
        </p:txBody>
      </p:sp>
      <p:sp>
        <p:nvSpPr>
          <p:cNvPr id="37942" name="Rectangle 54"/>
          <p:cNvSpPr>
            <a:spLocks noChangeArrowheads="1"/>
          </p:cNvSpPr>
          <p:nvPr/>
        </p:nvSpPr>
        <p:spPr bwMode="auto">
          <a:xfrm>
            <a:off x="4211638" y="3284538"/>
            <a:ext cx="41116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a:solidFill>
                  <a:schemeClr val="hlink"/>
                </a:solidFill>
                <a:latin typeface="Times New Roman" panose="02020603050405020304" pitchFamily="18" charset="0"/>
              </a:rPr>
              <a:t>4</a:t>
            </a:r>
            <a:endParaRPr lang="en-US" altLang="zh-CN" sz="3200">
              <a:solidFill>
                <a:schemeClr val="hlink"/>
              </a:solidFill>
              <a:latin typeface="Times New Roman" panose="02020603050405020304" pitchFamily="18" charset="0"/>
            </a:endParaRPr>
          </a:p>
        </p:txBody>
      </p:sp>
      <p:sp>
        <p:nvSpPr>
          <p:cNvPr id="37943" name="Oval 55"/>
          <p:cNvSpPr>
            <a:spLocks noChangeArrowheads="1"/>
          </p:cNvSpPr>
          <p:nvPr/>
        </p:nvSpPr>
        <p:spPr bwMode="auto">
          <a:xfrm>
            <a:off x="4067175" y="1052513"/>
            <a:ext cx="504825" cy="431800"/>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0</a:t>
            </a:r>
            <a:endParaRPr lang="en-US" altLang="zh-CN" sz="2400">
              <a:latin typeface="Times New Roman" panose="02020603050405020304" pitchFamily="18" charset="0"/>
            </a:endParaRPr>
          </a:p>
        </p:txBody>
      </p:sp>
      <p:sp>
        <p:nvSpPr>
          <p:cNvPr id="37944" name="Oval 56"/>
          <p:cNvSpPr>
            <a:spLocks noChangeArrowheads="1"/>
          </p:cNvSpPr>
          <p:nvPr/>
        </p:nvSpPr>
        <p:spPr bwMode="auto">
          <a:xfrm>
            <a:off x="4067175" y="1773238"/>
            <a:ext cx="504825" cy="431800"/>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0</a:t>
            </a:r>
            <a:endParaRPr lang="en-US" altLang="zh-CN" sz="2400">
              <a:latin typeface="Times New Roman" panose="02020603050405020304" pitchFamily="18" charset="0"/>
            </a:endParaRPr>
          </a:p>
        </p:txBody>
      </p:sp>
      <p:sp>
        <p:nvSpPr>
          <p:cNvPr id="37945" name="Oval 57"/>
          <p:cNvSpPr>
            <a:spLocks noChangeArrowheads="1"/>
          </p:cNvSpPr>
          <p:nvPr/>
        </p:nvSpPr>
        <p:spPr bwMode="auto">
          <a:xfrm>
            <a:off x="1979613" y="2781300"/>
            <a:ext cx="504825" cy="431800"/>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30</a:t>
            </a:r>
            <a:endParaRPr lang="en-US" altLang="zh-CN" sz="2400">
              <a:latin typeface="Times New Roman" panose="02020603050405020304" pitchFamily="18" charset="0"/>
            </a:endParaRPr>
          </a:p>
        </p:txBody>
      </p:sp>
      <p:sp>
        <p:nvSpPr>
          <p:cNvPr id="37946" name="Oval 58"/>
          <p:cNvSpPr>
            <a:spLocks noChangeArrowheads="1"/>
          </p:cNvSpPr>
          <p:nvPr/>
        </p:nvSpPr>
        <p:spPr bwMode="auto">
          <a:xfrm>
            <a:off x="4067175" y="2781300"/>
            <a:ext cx="504825" cy="431800"/>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6</a:t>
            </a:r>
            <a:endParaRPr lang="en-US" altLang="zh-CN" sz="2400">
              <a:latin typeface="Times New Roman" panose="02020603050405020304" pitchFamily="18" charset="0"/>
            </a:endParaRPr>
          </a:p>
        </p:txBody>
      </p:sp>
      <p:sp>
        <p:nvSpPr>
          <p:cNvPr id="37947" name="Oval 59"/>
          <p:cNvSpPr>
            <a:spLocks noChangeArrowheads="1"/>
          </p:cNvSpPr>
          <p:nvPr/>
        </p:nvSpPr>
        <p:spPr bwMode="auto">
          <a:xfrm>
            <a:off x="827088" y="4076700"/>
            <a:ext cx="504825" cy="431800"/>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35</a:t>
            </a:r>
            <a:endParaRPr lang="en-US" altLang="zh-CN" sz="2400">
              <a:latin typeface="Times New Roman" panose="02020603050405020304" pitchFamily="18" charset="0"/>
            </a:endParaRPr>
          </a:p>
        </p:txBody>
      </p:sp>
      <p:sp>
        <p:nvSpPr>
          <p:cNvPr id="37948" name="Oval 60"/>
          <p:cNvSpPr>
            <a:spLocks noChangeArrowheads="1"/>
          </p:cNvSpPr>
          <p:nvPr/>
        </p:nvSpPr>
        <p:spPr bwMode="auto">
          <a:xfrm>
            <a:off x="2051050" y="4076700"/>
            <a:ext cx="504825" cy="431800"/>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40</a:t>
            </a:r>
            <a:endParaRPr lang="en-US" altLang="zh-CN" sz="2400">
              <a:latin typeface="Times New Roman" panose="02020603050405020304" pitchFamily="18" charset="0"/>
            </a:endParaRPr>
          </a:p>
        </p:txBody>
      </p:sp>
      <p:sp>
        <p:nvSpPr>
          <p:cNvPr id="37949" name="Oval 61"/>
          <p:cNvSpPr>
            <a:spLocks noChangeArrowheads="1"/>
          </p:cNvSpPr>
          <p:nvPr/>
        </p:nvSpPr>
        <p:spPr bwMode="auto">
          <a:xfrm>
            <a:off x="3276600" y="4076700"/>
            <a:ext cx="504825" cy="431800"/>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11</a:t>
            </a:r>
            <a:endParaRPr lang="en-US" altLang="zh-CN" sz="2400">
              <a:latin typeface="Times New Roman" panose="02020603050405020304" pitchFamily="18" charset="0"/>
            </a:endParaRPr>
          </a:p>
        </p:txBody>
      </p:sp>
      <p:sp>
        <p:nvSpPr>
          <p:cNvPr id="37950" name="Oval 62"/>
          <p:cNvSpPr>
            <a:spLocks noChangeArrowheads="1"/>
          </p:cNvSpPr>
          <p:nvPr/>
        </p:nvSpPr>
        <p:spPr bwMode="auto">
          <a:xfrm>
            <a:off x="4572000" y="4005263"/>
            <a:ext cx="504825" cy="431800"/>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26</a:t>
            </a:r>
            <a:endParaRPr lang="en-US" altLang="zh-CN" sz="2400">
              <a:latin typeface="Times New Roman" panose="02020603050405020304" pitchFamily="18" charset="0"/>
            </a:endParaRPr>
          </a:p>
        </p:txBody>
      </p:sp>
      <p:sp>
        <p:nvSpPr>
          <p:cNvPr id="37951" name="Oval 63"/>
          <p:cNvSpPr>
            <a:spLocks noChangeArrowheads="1"/>
          </p:cNvSpPr>
          <p:nvPr/>
        </p:nvSpPr>
        <p:spPr bwMode="auto">
          <a:xfrm>
            <a:off x="827088" y="5229225"/>
            <a:ext cx="504825" cy="431800"/>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55</a:t>
            </a:r>
            <a:endParaRPr lang="en-US" altLang="zh-CN" sz="2400">
              <a:latin typeface="Times New Roman" panose="02020603050405020304" pitchFamily="18" charset="0"/>
            </a:endParaRPr>
          </a:p>
        </p:txBody>
      </p:sp>
      <p:pic>
        <p:nvPicPr>
          <p:cNvPr id="37952" name="Picture 6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16688" y="188913"/>
            <a:ext cx="2447925" cy="23796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953" name="Rectangle 65"/>
          <p:cNvSpPr>
            <a:spLocks noChangeArrowheads="1"/>
          </p:cNvSpPr>
          <p:nvPr/>
        </p:nvSpPr>
        <p:spPr bwMode="auto">
          <a:xfrm>
            <a:off x="755650" y="5876925"/>
            <a:ext cx="4889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400">
                <a:latin typeface="Times New Roman" panose="02020603050405020304" pitchFamily="18" charset="0"/>
              </a:rPr>
              <a:t>59</a:t>
            </a:r>
            <a:endParaRPr lang="en-US" altLang="zh-CN" sz="2400">
              <a:latin typeface="Times New Roman" panose="02020603050405020304" pitchFamily="18" charset="0"/>
            </a:endParaRPr>
          </a:p>
        </p:txBody>
      </p:sp>
      <p:sp>
        <p:nvSpPr>
          <p:cNvPr id="37954" name="Oval 66"/>
          <p:cNvSpPr>
            <a:spLocks noChangeArrowheads="1"/>
          </p:cNvSpPr>
          <p:nvPr/>
        </p:nvSpPr>
        <p:spPr bwMode="auto">
          <a:xfrm>
            <a:off x="1979613" y="5229225"/>
            <a:ext cx="504825" cy="431800"/>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60</a:t>
            </a:r>
            <a:endParaRPr lang="en-US" altLang="zh-CN" sz="2400">
              <a:latin typeface="Times New Roman" panose="02020603050405020304" pitchFamily="18" charset="0"/>
            </a:endParaRPr>
          </a:p>
        </p:txBody>
      </p:sp>
      <p:sp>
        <p:nvSpPr>
          <p:cNvPr id="37955" name="Oval 67"/>
          <p:cNvSpPr>
            <a:spLocks noChangeArrowheads="1"/>
          </p:cNvSpPr>
          <p:nvPr/>
        </p:nvSpPr>
        <p:spPr bwMode="auto">
          <a:xfrm>
            <a:off x="3276600" y="5229225"/>
            <a:ext cx="504825" cy="431800"/>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21</a:t>
            </a:r>
            <a:endParaRPr lang="en-US" altLang="zh-CN" sz="2400">
              <a:latin typeface="Times New Roman" panose="02020603050405020304" pitchFamily="18" charset="0"/>
            </a:endParaRPr>
          </a:p>
        </p:txBody>
      </p:sp>
      <p:sp>
        <p:nvSpPr>
          <p:cNvPr id="37956" name="Rectangle 68"/>
          <p:cNvSpPr>
            <a:spLocks noChangeArrowheads="1"/>
          </p:cNvSpPr>
          <p:nvPr/>
        </p:nvSpPr>
        <p:spPr bwMode="auto">
          <a:xfrm>
            <a:off x="3276600" y="5805488"/>
            <a:ext cx="4889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400">
                <a:latin typeface="Times New Roman" panose="02020603050405020304" pitchFamily="18" charset="0"/>
              </a:rPr>
              <a:t>25</a:t>
            </a:r>
            <a:endParaRPr lang="en-US" altLang="zh-CN" sz="2400">
              <a:latin typeface="Times New Roman" panose="02020603050405020304" pitchFamily="18" charset="0"/>
            </a:endParaRPr>
          </a:p>
        </p:txBody>
      </p:sp>
      <p:sp>
        <p:nvSpPr>
          <p:cNvPr id="37957" name="Oval 69"/>
          <p:cNvSpPr>
            <a:spLocks noChangeArrowheads="1"/>
          </p:cNvSpPr>
          <p:nvPr/>
        </p:nvSpPr>
        <p:spPr bwMode="auto">
          <a:xfrm>
            <a:off x="6227763" y="2781300"/>
            <a:ext cx="504825" cy="431800"/>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4</a:t>
            </a:r>
            <a:endParaRPr lang="en-US" altLang="zh-CN" sz="2400">
              <a:latin typeface="Times New Roman" panose="02020603050405020304" pitchFamily="18" charset="0"/>
            </a:endParaRPr>
          </a:p>
        </p:txBody>
      </p:sp>
      <p:sp>
        <p:nvSpPr>
          <p:cNvPr id="37958" name="Oval 70"/>
          <p:cNvSpPr>
            <a:spLocks noChangeArrowheads="1"/>
          </p:cNvSpPr>
          <p:nvPr/>
        </p:nvSpPr>
        <p:spPr bwMode="auto">
          <a:xfrm>
            <a:off x="6011863" y="3860800"/>
            <a:ext cx="504825" cy="431800"/>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14</a:t>
            </a:r>
            <a:endParaRPr lang="en-US" altLang="zh-CN" sz="2400">
              <a:latin typeface="Times New Roman" panose="02020603050405020304" pitchFamily="18" charset="0"/>
            </a:endParaRPr>
          </a:p>
        </p:txBody>
      </p:sp>
      <p:sp>
        <p:nvSpPr>
          <p:cNvPr id="37959" name="Oval 71"/>
          <p:cNvSpPr>
            <a:spLocks noChangeArrowheads="1"/>
          </p:cNvSpPr>
          <p:nvPr/>
        </p:nvSpPr>
        <p:spPr bwMode="auto">
          <a:xfrm>
            <a:off x="6084888" y="5157788"/>
            <a:ext cx="504825" cy="431800"/>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19</a:t>
            </a:r>
            <a:endParaRPr lang="en-US" altLang="zh-CN" sz="2400">
              <a:latin typeface="Times New Roman" panose="02020603050405020304" pitchFamily="18" charset="0"/>
            </a:endParaRPr>
          </a:p>
        </p:txBody>
      </p:sp>
      <p:sp>
        <p:nvSpPr>
          <p:cNvPr id="37960" name="Oval 72"/>
          <p:cNvSpPr>
            <a:spLocks noChangeArrowheads="1"/>
          </p:cNvSpPr>
          <p:nvPr/>
        </p:nvSpPr>
        <p:spPr bwMode="auto">
          <a:xfrm>
            <a:off x="7451725" y="3860800"/>
            <a:ext cx="504825" cy="431800"/>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24</a:t>
            </a:r>
            <a:endParaRPr lang="en-US" altLang="zh-CN" sz="2400">
              <a:latin typeface="Times New Roman" panose="02020603050405020304" pitchFamily="18" charset="0"/>
            </a:endParaRPr>
          </a:p>
        </p:txBody>
      </p:sp>
      <p:sp>
        <p:nvSpPr>
          <p:cNvPr id="37961" name="Oval 73"/>
          <p:cNvSpPr>
            <a:spLocks noChangeArrowheads="1"/>
          </p:cNvSpPr>
          <p:nvPr/>
        </p:nvSpPr>
        <p:spPr bwMode="auto">
          <a:xfrm>
            <a:off x="7524750" y="5157788"/>
            <a:ext cx="504825" cy="431800"/>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29</a:t>
            </a:r>
            <a:endParaRPr lang="en-US" altLang="zh-CN" sz="2400">
              <a:latin typeface="Times New Roman" panose="02020603050405020304" pitchFamily="18" charset="0"/>
            </a:endParaRPr>
          </a:p>
        </p:txBody>
      </p:sp>
      <p:sp>
        <p:nvSpPr>
          <p:cNvPr id="37962" name="Rectangle 74"/>
          <p:cNvSpPr>
            <a:spLocks noChangeArrowheads="1"/>
          </p:cNvSpPr>
          <p:nvPr/>
        </p:nvSpPr>
        <p:spPr bwMode="auto">
          <a:xfrm>
            <a:off x="7524750" y="5734050"/>
            <a:ext cx="4889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400">
                <a:latin typeface="Times New Roman" panose="02020603050405020304" pitchFamily="18" charset="0"/>
              </a:rPr>
              <a:t>59</a:t>
            </a:r>
            <a:endParaRPr lang="en-US" altLang="zh-CN" sz="2400">
              <a:latin typeface="Times New Roman" panose="02020603050405020304" pitchFamily="18" charset="0"/>
            </a:endParaRPr>
          </a:p>
        </p:txBody>
      </p:sp>
      <p:sp>
        <p:nvSpPr>
          <p:cNvPr id="37963" name="Rectangle 75"/>
          <p:cNvSpPr>
            <a:spLocks noChangeArrowheads="1"/>
          </p:cNvSpPr>
          <p:nvPr/>
        </p:nvSpPr>
        <p:spPr bwMode="auto">
          <a:xfrm>
            <a:off x="6084888" y="5734050"/>
            <a:ext cx="4889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400">
                <a:latin typeface="Times New Roman" panose="02020603050405020304" pitchFamily="18" charset="0"/>
              </a:rPr>
              <a:t>25</a:t>
            </a:r>
            <a:endParaRPr lang="en-US" altLang="zh-CN" sz="2400">
              <a:latin typeface="Times New Roman" panose="02020603050405020304" pitchFamily="18" charset="0"/>
            </a:endParaRPr>
          </a:p>
        </p:txBody>
      </p:sp>
      <p:sp>
        <p:nvSpPr>
          <p:cNvPr id="37964" name="Oval 76"/>
          <p:cNvSpPr>
            <a:spLocks noChangeArrowheads="1"/>
          </p:cNvSpPr>
          <p:nvPr/>
        </p:nvSpPr>
        <p:spPr bwMode="auto">
          <a:xfrm>
            <a:off x="4572000" y="4005263"/>
            <a:ext cx="503238" cy="431800"/>
          </a:xfrm>
          <a:prstGeom prst="ellipse">
            <a:avLst/>
          </a:prstGeom>
          <a:solidFill>
            <a:schemeClr val="tx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65" name="Oval 77"/>
          <p:cNvSpPr>
            <a:spLocks noChangeArrowheads="1"/>
          </p:cNvSpPr>
          <p:nvPr/>
        </p:nvSpPr>
        <p:spPr bwMode="auto">
          <a:xfrm>
            <a:off x="1979613" y="5229225"/>
            <a:ext cx="503237" cy="431800"/>
          </a:xfrm>
          <a:prstGeom prst="ellipse">
            <a:avLst/>
          </a:prstGeom>
          <a:solidFill>
            <a:schemeClr val="tx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66" name="Oval 78"/>
          <p:cNvSpPr>
            <a:spLocks noChangeArrowheads="1"/>
          </p:cNvSpPr>
          <p:nvPr/>
        </p:nvSpPr>
        <p:spPr bwMode="auto">
          <a:xfrm>
            <a:off x="4643438" y="333375"/>
            <a:ext cx="649287" cy="431800"/>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400">
                <a:latin typeface="Times New Roman" panose="02020603050405020304" pitchFamily="18" charset="0"/>
              </a:rPr>
              <a:t>B(i)</a:t>
            </a:r>
            <a:endParaRPr lang="en-US" altLang="zh-CN" sz="2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943"/>
                                        </p:tgtEl>
                                        <p:attrNameLst>
                                          <p:attrName>style.visibility</p:attrName>
                                        </p:attrNameLst>
                                      </p:cBhvr>
                                      <p:to>
                                        <p:strVal val="visible"/>
                                      </p:to>
                                    </p:set>
                                    <p:anim calcmode="lin" valueType="num">
                                      <p:cBhvr additive="base">
                                        <p:cTn id="7" dur="500" fill="hold"/>
                                        <p:tgtEl>
                                          <p:spTgt spid="37943"/>
                                        </p:tgtEl>
                                        <p:attrNameLst>
                                          <p:attrName>ppt_x</p:attrName>
                                        </p:attrNameLst>
                                      </p:cBhvr>
                                      <p:tavLst>
                                        <p:tav tm="0">
                                          <p:val>
                                            <p:strVal val="#ppt_x"/>
                                          </p:val>
                                        </p:tav>
                                        <p:tav tm="100000">
                                          <p:val>
                                            <p:strVal val="#ppt_x"/>
                                          </p:val>
                                        </p:tav>
                                      </p:tavLst>
                                    </p:anim>
                                    <p:anim calcmode="lin" valueType="num">
                                      <p:cBhvr additive="base">
                                        <p:cTn id="8" dur="500" fill="hold"/>
                                        <p:tgtEl>
                                          <p:spTgt spid="3794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7894"/>
                                        </p:tgtEl>
                                        <p:attrNameLst>
                                          <p:attrName>style.visibility</p:attrName>
                                        </p:attrNameLst>
                                      </p:cBhvr>
                                      <p:to>
                                        <p:strVal val="visible"/>
                                      </p:to>
                                    </p:set>
                                    <p:anim calcmode="lin" valueType="num">
                                      <p:cBhvr additive="base">
                                        <p:cTn id="13" dur="500" fill="hold"/>
                                        <p:tgtEl>
                                          <p:spTgt spid="37894"/>
                                        </p:tgtEl>
                                        <p:attrNameLst>
                                          <p:attrName>ppt_x</p:attrName>
                                        </p:attrNameLst>
                                      </p:cBhvr>
                                      <p:tavLst>
                                        <p:tav tm="0">
                                          <p:val>
                                            <p:strVal val="#ppt_x"/>
                                          </p:val>
                                        </p:tav>
                                        <p:tav tm="100000">
                                          <p:val>
                                            <p:strVal val="#ppt_x"/>
                                          </p:val>
                                        </p:tav>
                                      </p:tavLst>
                                    </p:anim>
                                    <p:anim calcmode="lin" valueType="num">
                                      <p:cBhvr additive="base">
                                        <p:cTn id="14" dur="500" fill="hold"/>
                                        <p:tgtEl>
                                          <p:spTgt spid="3789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7944"/>
                                        </p:tgtEl>
                                        <p:attrNameLst>
                                          <p:attrName>style.visibility</p:attrName>
                                        </p:attrNameLst>
                                      </p:cBhvr>
                                      <p:to>
                                        <p:strVal val="visible"/>
                                      </p:to>
                                    </p:set>
                                    <p:anim calcmode="lin" valueType="num">
                                      <p:cBhvr additive="base">
                                        <p:cTn id="19" dur="500" fill="hold"/>
                                        <p:tgtEl>
                                          <p:spTgt spid="37944"/>
                                        </p:tgtEl>
                                        <p:attrNameLst>
                                          <p:attrName>ppt_x</p:attrName>
                                        </p:attrNameLst>
                                      </p:cBhvr>
                                      <p:tavLst>
                                        <p:tav tm="0">
                                          <p:val>
                                            <p:strVal val="#ppt_x"/>
                                          </p:val>
                                        </p:tav>
                                        <p:tav tm="100000">
                                          <p:val>
                                            <p:strVal val="#ppt_x"/>
                                          </p:val>
                                        </p:tav>
                                      </p:tavLst>
                                    </p:anim>
                                    <p:anim calcmode="lin" valueType="num">
                                      <p:cBhvr additive="base">
                                        <p:cTn id="20" dur="500" fill="hold"/>
                                        <p:tgtEl>
                                          <p:spTgt spid="3794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7923"/>
                                        </p:tgtEl>
                                        <p:attrNameLst>
                                          <p:attrName>style.visibility</p:attrName>
                                        </p:attrNameLst>
                                      </p:cBhvr>
                                      <p:to>
                                        <p:strVal val="visible"/>
                                      </p:to>
                                    </p:set>
                                    <p:anim calcmode="lin" valueType="num">
                                      <p:cBhvr additive="base">
                                        <p:cTn id="25" dur="500" fill="hold"/>
                                        <p:tgtEl>
                                          <p:spTgt spid="37923"/>
                                        </p:tgtEl>
                                        <p:attrNameLst>
                                          <p:attrName>ppt_x</p:attrName>
                                        </p:attrNameLst>
                                      </p:cBhvr>
                                      <p:tavLst>
                                        <p:tav tm="0">
                                          <p:val>
                                            <p:strVal val="#ppt_x"/>
                                          </p:val>
                                        </p:tav>
                                        <p:tav tm="100000">
                                          <p:val>
                                            <p:strVal val="#ppt_x"/>
                                          </p:val>
                                        </p:tav>
                                      </p:tavLst>
                                    </p:anim>
                                    <p:anim calcmode="lin" valueType="num">
                                      <p:cBhvr additive="base">
                                        <p:cTn id="26" dur="500" fill="hold"/>
                                        <p:tgtEl>
                                          <p:spTgt spid="3792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7945"/>
                                        </p:tgtEl>
                                        <p:attrNameLst>
                                          <p:attrName>style.visibility</p:attrName>
                                        </p:attrNameLst>
                                      </p:cBhvr>
                                      <p:to>
                                        <p:strVal val="visible"/>
                                      </p:to>
                                    </p:set>
                                    <p:anim calcmode="lin" valueType="num">
                                      <p:cBhvr additive="base">
                                        <p:cTn id="31" dur="500" fill="hold"/>
                                        <p:tgtEl>
                                          <p:spTgt spid="37945"/>
                                        </p:tgtEl>
                                        <p:attrNameLst>
                                          <p:attrName>ppt_x</p:attrName>
                                        </p:attrNameLst>
                                      </p:cBhvr>
                                      <p:tavLst>
                                        <p:tav tm="0">
                                          <p:val>
                                            <p:strVal val="#ppt_x"/>
                                          </p:val>
                                        </p:tav>
                                        <p:tav tm="100000">
                                          <p:val>
                                            <p:strVal val="#ppt_x"/>
                                          </p:val>
                                        </p:tav>
                                      </p:tavLst>
                                    </p:anim>
                                    <p:anim calcmode="lin" valueType="num">
                                      <p:cBhvr additive="base">
                                        <p:cTn id="32" dur="500" fill="hold"/>
                                        <p:tgtEl>
                                          <p:spTgt spid="3794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7902"/>
                                        </p:tgtEl>
                                        <p:attrNameLst>
                                          <p:attrName>style.visibility</p:attrName>
                                        </p:attrNameLst>
                                      </p:cBhvr>
                                      <p:to>
                                        <p:strVal val="visible"/>
                                      </p:to>
                                    </p:set>
                                    <p:anim calcmode="lin" valueType="num">
                                      <p:cBhvr additive="base">
                                        <p:cTn id="37" dur="500" fill="hold"/>
                                        <p:tgtEl>
                                          <p:spTgt spid="37902"/>
                                        </p:tgtEl>
                                        <p:attrNameLst>
                                          <p:attrName>ppt_x</p:attrName>
                                        </p:attrNameLst>
                                      </p:cBhvr>
                                      <p:tavLst>
                                        <p:tav tm="0">
                                          <p:val>
                                            <p:strVal val="#ppt_x"/>
                                          </p:val>
                                        </p:tav>
                                        <p:tav tm="100000">
                                          <p:val>
                                            <p:strVal val="#ppt_x"/>
                                          </p:val>
                                        </p:tav>
                                      </p:tavLst>
                                    </p:anim>
                                    <p:anim calcmode="lin" valueType="num">
                                      <p:cBhvr additive="base">
                                        <p:cTn id="38" dur="500" fill="hold"/>
                                        <p:tgtEl>
                                          <p:spTgt spid="3790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7947"/>
                                        </p:tgtEl>
                                        <p:attrNameLst>
                                          <p:attrName>style.visibility</p:attrName>
                                        </p:attrNameLst>
                                      </p:cBhvr>
                                      <p:to>
                                        <p:strVal val="visible"/>
                                      </p:to>
                                    </p:set>
                                    <p:anim calcmode="lin" valueType="num">
                                      <p:cBhvr additive="base">
                                        <p:cTn id="43" dur="500" fill="hold"/>
                                        <p:tgtEl>
                                          <p:spTgt spid="37947"/>
                                        </p:tgtEl>
                                        <p:attrNameLst>
                                          <p:attrName>ppt_x</p:attrName>
                                        </p:attrNameLst>
                                      </p:cBhvr>
                                      <p:tavLst>
                                        <p:tav tm="0">
                                          <p:val>
                                            <p:strVal val="#ppt_x"/>
                                          </p:val>
                                        </p:tav>
                                        <p:tav tm="100000">
                                          <p:val>
                                            <p:strVal val="#ppt_x"/>
                                          </p:val>
                                        </p:tav>
                                      </p:tavLst>
                                    </p:anim>
                                    <p:anim calcmode="lin" valueType="num">
                                      <p:cBhvr additive="base">
                                        <p:cTn id="44" dur="500" fill="hold"/>
                                        <p:tgtEl>
                                          <p:spTgt spid="3794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7940"/>
                                        </p:tgtEl>
                                        <p:attrNameLst>
                                          <p:attrName>style.visibility</p:attrName>
                                        </p:attrNameLst>
                                      </p:cBhvr>
                                      <p:to>
                                        <p:strVal val="visible"/>
                                      </p:to>
                                    </p:set>
                                    <p:anim calcmode="lin" valueType="num">
                                      <p:cBhvr additive="base">
                                        <p:cTn id="49" dur="500" fill="hold"/>
                                        <p:tgtEl>
                                          <p:spTgt spid="37940"/>
                                        </p:tgtEl>
                                        <p:attrNameLst>
                                          <p:attrName>ppt_x</p:attrName>
                                        </p:attrNameLst>
                                      </p:cBhvr>
                                      <p:tavLst>
                                        <p:tav tm="0">
                                          <p:val>
                                            <p:strVal val="#ppt_x"/>
                                          </p:val>
                                        </p:tav>
                                        <p:tav tm="100000">
                                          <p:val>
                                            <p:strVal val="#ppt_x"/>
                                          </p:val>
                                        </p:tav>
                                      </p:tavLst>
                                    </p:anim>
                                    <p:anim calcmode="lin" valueType="num">
                                      <p:cBhvr additive="base">
                                        <p:cTn id="50" dur="500" fill="hold"/>
                                        <p:tgtEl>
                                          <p:spTgt spid="37940"/>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7951"/>
                                        </p:tgtEl>
                                        <p:attrNameLst>
                                          <p:attrName>style.visibility</p:attrName>
                                        </p:attrNameLst>
                                      </p:cBhvr>
                                      <p:to>
                                        <p:strVal val="visible"/>
                                      </p:to>
                                    </p:set>
                                    <p:anim calcmode="lin" valueType="num">
                                      <p:cBhvr additive="base">
                                        <p:cTn id="55" dur="500" fill="hold"/>
                                        <p:tgtEl>
                                          <p:spTgt spid="37951"/>
                                        </p:tgtEl>
                                        <p:attrNameLst>
                                          <p:attrName>ppt_x</p:attrName>
                                        </p:attrNameLst>
                                      </p:cBhvr>
                                      <p:tavLst>
                                        <p:tav tm="0">
                                          <p:val>
                                            <p:strVal val="#ppt_x"/>
                                          </p:val>
                                        </p:tav>
                                        <p:tav tm="100000">
                                          <p:val>
                                            <p:strVal val="#ppt_x"/>
                                          </p:val>
                                        </p:tav>
                                      </p:tavLst>
                                    </p:anim>
                                    <p:anim calcmode="lin" valueType="num">
                                      <p:cBhvr additive="base">
                                        <p:cTn id="56" dur="500" fill="hold"/>
                                        <p:tgtEl>
                                          <p:spTgt spid="37951"/>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7953"/>
                                        </p:tgtEl>
                                        <p:attrNameLst>
                                          <p:attrName>style.visibility</p:attrName>
                                        </p:attrNameLst>
                                      </p:cBhvr>
                                      <p:to>
                                        <p:strVal val="visible"/>
                                      </p:to>
                                    </p:set>
                                    <p:anim calcmode="lin" valueType="num">
                                      <p:cBhvr additive="base">
                                        <p:cTn id="61" dur="500" fill="hold"/>
                                        <p:tgtEl>
                                          <p:spTgt spid="37953"/>
                                        </p:tgtEl>
                                        <p:attrNameLst>
                                          <p:attrName>ppt_x</p:attrName>
                                        </p:attrNameLst>
                                      </p:cBhvr>
                                      <p:tavLst>
                                        <p:tav tm="0">
                                          <p:val>
                                            <p:strVal val="#ppt_x"/>
                                          </p:val>
                                        </p:tav>
                                        <p:tav tm="100000">
                                          <p:val>
                                            <p:strVal val="#ppt_x"/>
                                          </p:val>
                                        </p:tav>
                                      </p:tavLst>
                                    </p:anim>
                                    <p:anim calcmode="lin" valueType="num">
                                      <p:cBhvr additive="base">
                                        <p:cTn id="62" dur="500" fill="hold"/>
                                        <p:tgtEl>
                                          <p:spTgt spid="37953"/>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7941"/>
                                        </p:tgtEl>
                                        <p:attrNameLst>
                                          <p:attrName>style.visibility</p:attrName>
                                        </p:attrNameLst>
                                      </p:cBhvr>
                                      <p:to>
                                        <p:strVal val="visible"/>
                                      </p:to>
                                    </p:set>
                                    <p:anim calcmode="lin" valueType="num">
                                      <p:cBhvr additive="base">
                                        <p:cTn id="67" dur="500" fill="hold"/>
                                        <p:tgtEl>
                                          <p:spTgt spid="37941"/>
                                        </p:tgtEl>
                                        <p:attrNameLst>
                                          <p:attrName>ppt_x</p:attrName>
                                        </p:attrNameLst>
                                      </p:cBhvr>
                                      <p:tavLst>
                                        <p:tav tm="0">
                                          <p:val>
                                            <p:strVal val="#ppt_x"/>
                                          </p:val>
                                        </p:tav>
                                        <p:tav tm="100000">
                                          <p:val>
                                            <p:strVal val="#ppt_x"/>
                                          </p:val>
                                        </p:tav>
                                      </p:tavLst>
                                    </p:anim>
                                    <p:anim calcmode="lin" valueType="num">
                                      <p:cBhvr additive="base">
                                        <p:cTn id="68" dur="500" fill="hold"/>
                                        <p:tgtEl>
                                          <p:spTgt spid="37941"/>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7948"/>
                                        </p:tgtEl>
                                        <p:attrNameLst>
                                          <p:attrName>style.visibility</p:attrName>
                                        </p:attrNameLst>
                                      </p:cBhvr>
                                      <p:to>
                                        <p:strVal val="visible"/>
                                      </p:to>
                                    </p:set>
                                    <p:anim calcmode="lin" valueType="num">
                                      <p:cBhvr additive="base">
                                        <p:cTn id="73" dur="500" fill="hold"/>
                                        <p:tgtEl>
                                          <p:spTgt spid="37948"/>
                                        </p:tgtEl>
                                        <p:attrNameLst>
                                          <p:attrName>ppt_x</p:attrName>
                                        </p:attrNameLst>
                                      </p:cBhvr>
                                      <p:tavLst>
                                        <p:tav tm="0">
                                          <p:val>
                                            <p:strVal val="#ppt_x"/>
                                          </p:val>
                                        </p:tav>
                                        <p:tav tm="100000">
                                          <p:val>
                                            <p:strVal val="#ppt_x"/>
                                          </p:val>
                                        </p:tav>
                                      </p:tavLst>
                                    </p:anim>
                                    <p:anim calcmode="lin" valueType="num">
                                      <p:cBhvr additive="base">
                                        <p:cTn id="74" dur="500" fill="hold"/>
                                        <p:tgtEl>
                                          <p:spTgt spid="37948"/>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37925"/>
                                        </p:tgtEl>
                                        <p:attrNameLst>
                                          <p:attrName>style.visibility</p:attrName>
                                        </p:attrNameLst>
                                      </p:cBhvr>
                                      <p:to>
                                        <p:strVal val="visible"/>
                                      </p:to>
                                    </p:set>
                                    <p:anim calcmode="lin" valueType="num">
                                      <p:cBhvr additive="base">
                                        <p:cTn id="79" dur="500" fill="hold"/>
                                        <p:tgtEl>
                                          <p:spTgt spid="37925"/>
                                        </p:tgtEl>
                                        <p:attrNameLst>
                                          <p:attrName>ppt_x</p:attrName>
                                        </p:attrNameLst>
                                      </p:cBhvr>
                                      <p:tavLst>
                                        <p:tav tm="0">
                                          <p:val>
                                            <p:strVal val="#ppt_x"/>
                                          </p:val>
                                        </p:tav>
                                        <p:tav tm="100000">
                                          <p:val>
                                            <p:strVal val="#ppt_x"/>
                                          </p:val>
                                        </p:tav>
                                      </p:tavLst>
                                    </p:anim>
                                    <p:anim calcmode="lin" valueType="num">
                                      <p:cBhvr additive="base">
                                        <p:cTn id="80" dur="500" fill="hold"/>
                                        <p:tgtEl>
                                          <p:spTgt spid="37925"/>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37954"/>
                                        </p:tgtEl>
                                        <p:attrNameLst>
                                          <p:attrName>style.visibility</p:attrName>
                                        </p:attrNameLst>
                                      </p:cBhvr>
                                      <p:to>
                                        <p:strVal val="visible"/>
                                      </p:to>
                                    </p:set>
                                    <p:anim calcmode="lin" valueType="num">
                                      <p:cBhvr additive="base">
                                        <p:cTn id="85" dur="500" fill="hold"/>
                                        <p:tgtEl>
                                          <p:spTgt spid="37954"/>
                                        </p:tgtEl>
                                        <p:attrNameLst>
                                          <p:attrName>ppt_x</p:attrName>
                                        </p:attrNameLst>
                                      </p:cBhvr>
                                      <p:tavLst>
                                        <p:tav tm="0">
                                          <p:val>
                                            <p:strVal val="#ppt_x"/>
                                          </p:val>
                                        </p:tav>
                                        <p:tav tm="100000">
                                          <p:val>
                                            <p:strVal val="#ppt_x"/>
                                          </p:val>
                                        </p:tav>
                                      </p:tavLst>
                                    </p:anim>
                                    <p:anim calcmode="lin" valueType="num">
                                      <p:cBhvr additive="base">
                                        <p:cTn id="86" dur="500" fill="hold"/>
                                        <p:tgtEl>
                                          <p:spTgt spid="37954"/>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37965"/>
                                        </p:tgtEl>
                                        <p:attrNameLst>
                                          <p:attrName>style.visibility</p:attrName>
                                        </p:attrNameLst>
                                      </p:cBhvr>
                                      <p:to>
                                        <p:strVal val="visible"/>
                                      </p:to>
                                    </p:set>
                                    <p:anim calcmode="lin" valueType="num">
                                      <p:cBhvr additive="base">
                                        <p:cTn id="91" dur="500" fill="hold"/>
                                        <p:tgtEl>
                                          <p:spTgt spid="37965"/>
                                        </p:tgtEl>
                                        <p:attrNameLst>
                                          <p:attrName>ppt_x</p:attrName>
                                        </p:attrNameLst>
                                      </p:cBhvr>
                                      <p:tavLst>
                                        <p:tav tm="0">
                                          <p:val>
                                            <p:strVal val="#ppt_x"/>
                                          </p:val>
                                        </p:tav>
                                        <p:tav tm="100000">
                                          <p:val>
                                            <p:strVal val="#ppt_x"/>
                                          </p:val>
                                        </p:tav>
                                      </p:tavLst>
                                    </p:anim>
                                    <p:anim calcmode="lin" valueType="num">
                                      <p:cBhvr additive="base">
                                        <p:cTn id="92" dur="500" fill="hold"/>
                                        <p:tgtEl>
                                          <p:spTgt spid="37965"/>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xit" presetSubtype="4" fill="hold" grpId="1" nodeType="clickEffect">
                                  <p:stCondLst>
                                    <p:cond delay="0"/>
                                  </p:stCondLst>
                                  <p:childTnLst>
                                    <p:anim calcmode="lin" valueType="num">
                                      <p:cBhvr additive="base">
                                        <p:cTn id="96" dur="500"/>
                                        <p:tgtEl>
                                          <p:spTgt spid="37925"/>
                                        </p:tgtEl>
                                        <p:attrNameLst>
                                          <p:attrName>ppt_x</p:attrName>
                                        </p:attrNameLst>
                                      </p:cBhvr>
                                      <p:tavLst>
                                        <p:tav tm="0">
                                          <p:val>
                                            <p:strVal val="ppt_x"/>
                                          </p:val>
                                        </p:tav>
                                        <p:tav tm="100000">
                                          <p:val>
                                            <p:strVal val="ppt_x"/>
                                          </p:val>
                                        </p:tav>
                                      </p:tavLst>
                                    </p:anim>
                                    <p:anim calcmode="lin" valueType="num">
                                      <p:cBhvr additive="base">
                                        <p:cTn id="97" dur="500"/>
                                        <p:tgtEl>
                                          <p:spTgt spid="37925"/>
                                        </p:tgtEl>
                                        <p:attrNameLst>
                                          <p:attrName>ppt_y</p:attrName>
                                        </p:attrNameLst>
                                      </p:cBhvr>
                                      <p:tavLst>
                                        <p:tav tm="0">
                                          <p:val>
                                            <p:strVal val="ppt_y"/>
                                          </p:val>
                                        </p:tav>
                                        <p:tav tm="100000">
                                          <p:val>
                                            <p:strVal val="1+ppt_h/2"/>
                                          </p:val>
                                        </p:tav>
                                      </p:tavLst>
                                    </p:anim>
                                    <p:set>
                                      <p:cBhvr>
                                        <p:cTn id="98" dur="1" fill="hold">
                                          <p:stCondLst>
                                            <p:cond delay="499"/>
                                          </p:stCondLst>
                                        </p:cTn>
                                        <p:tgtEl>
                                          <p:spTgt spid="37925"/>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37897"/>
                                        </p:tgtEl>
                                        <p:attrNameLst>
                                          <p:attrName>style.visibility</p:attrName>
                                        </p:attrNameLst>
                                      </p:cBhvr>
                                      <p:to>
                                        <p:strVal val="visible"/>
                                      </p:to>
                                    </p:set>
                                    <p:anim calcmode="lin" valueType="num">
                                      <p:cBhvr additive="base">
                                        <p:cTn id="103" dur="500" fill="hold"/>
                                        <p:tgtEl>
                                          <p:spTgt spid="37897"/>
                                        </p:tgtEl>
                                        <p:attrNameLst>
                                          <p:attrName>ppt_x</p:attrName>
                                        </p:attrNameLst>
                                      </p:cBhvr>
                                      <p:tavLst>
                                        <p:tav tm="0">
                                          <p:val>
                                            <p:strVal val="#ppt_x"/>
                                          </p:val>
                                        </p:tav>
                                        <p:tav tm="100000">
                                          <p:val>
                                            <p:strVal val="#ppt_x"/>
                                          </p:val>
                                        </p:tav>
                                      </p:tavLst>
                                    </p:anim>
                                    <p:anim calcmode="lin" valueType="num">
                                      <p:cBhvr additive="base">
                                        <p:cTn id="104" dur="500" fill="hold"/>
                                        <p:tgtEl>
                                          <p:spTgt spid="37897"/>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37946"/>
                                        </p:tgtEl>
                                        <p:attrNameLst>
                                          <p:attrName>style.visibility</p:attrName>
                                        </p:attrNameLst>
                                      </p:cBhvr>
                                      <p:to>
                                        <p:strVal val="visible"/>
                                      </p:to>
                                    </p:set>
                                    <p:anim calcmode="lin" valueType="num">
                                      <p:cBhvr additive="base">
                                        <p:cTn id="109" dur="500" fill="hold"/>
                                        <p:tgtEl>
                                          <p:spTgt spid="37946"/>
                                        </p:tgtEl>
                                        <p:attrNameLst>
                                          <p:attrName>ppt_x</p:attrName>
                                        </p:attrNameLst>
                                      </p:cBhvr>
                                      <p:tavLst>
                                        <p:tav tm="0">
                                          <p:val>
                                            <p:strVal val="#ppt_x"/>
                                          </p:val>
                                        </p:tav>
                                        <p:tav tm="100000">
                                          <p:val>
                                            <p:strVal val="#ppt_x"/>
                                          </p:val>
                                        </p:tav>
                                      </p:tavLst>
                                    </p:anim>
                                    <p:anim calcmode="lin" valueType="num">
                                      <p:cBhvr additive="base">
                                        <p:cTn id="110" dur="500" fill="hold"/>
                                        <p:tgtEl>
                                          <p:spTgt spid="37946"/>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37938"/>
                                        </p:tgtEl>
                                        <p:attrNameLst>
                                          <p:attrName>style.visibility</p:attrName>
                                        </p:attrNameLst>
                                      </p:cBhvr>
                                      <p:to>
                                        <p:strVal val="visible"/>
                                      </p:to>
                                    </p:set>
                                    <p:anim calcmode="lin" valueType="num">
                                      <p:cBhvr additive="base">
                                        <p:cTn id="115" dur="500" fill="hold"/>
                                        <p:tgtEl>
                                          <p:spTgt spid="37938"/>
                                        </p:tgtEl>
                                        <p:attrNameLst>
                                          <p:attrName>ppt_x</p:attrName>
                                        </p:attrNameLst>
                                      </p:cBhvr>
                                      <p:tavLst>
                                        <p:tav tm="0">
                                          <p:val>
                                            <p:strVal val="#ppt_x"/>
                                          </p:val>
                                        </p:tav>
                                        <p:tav tm="100000">
                                          <p:val>
                                            <p:strVal val="#ppt_x"/>
                                          </p:val>
                                        </p:tav>
                                      </p:tavLst>
                                    </p:anim>
                                    <p:anim calcmode="lin" valueType="num">
                                      <p:cBhvr additive="base">
                                        <p:cTn id="116" dur="500" fill="hold"/>
                                        <p:tgtEl>
                                          <p:spTgt spid="37938"/>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grpId="0" nodeType="clickEffect">
                                  <p:stCondLst>
                                    <p:cond delay="0"/>
                                  </p:stCondLst>
                                  <p:childTnLst>
                                    <p:set>
                                      <p:cBhvr>
                                        <p:cTn id="120" dur="1" fill="hold">
                                          <p:stCondLst>
                                            <p:cond delay="0"/>
                                          </p:stCondLst>
                                        </p:cTn>
                                        <p:tgtEl>
                                          <p:spTgt spid="37949"/>
                                        </p:tgtEl>
                                        <p:attrNameLst>
                                          <p:attrName>style.visibility</p:attrName>
                                        </p:attrNameLst>
                                      </p:cBhvr>
                                      <p:to>
                                        <p:strVal val="visible"/>
                                      </p:to>
                                    </p:set>
                                    <p:anim calcmode="lin" valueType="num">
                                      <p:cBhvr additive="base">
                                        <p:cTn id="121" dur="500" fill="hold"/>
                                        <p:tgtEl>
                                          <p:spTgt spid="37949"/>
                                        </p:tgtEl>
                                        <p:attrNameLst>
                                          <p:attrName>ppt_x</p:attrName>
                                        </p:attrNameLst>
                                      </p:cBhvr>
                                      <p:tavLst>
                                        <p:tav tm="0">
                                          <p:val>
                                            <p:strVal val="#ppt_x"/>
                                          </p:val>
                                        </p:tav>
                                        <p:tav tm="100000">
                                          <p:val>
                                            <p:strVal val="#ppt_x"/>
                                          </p:val>
                                        </p:tav>
                                      </p:tavLst>
                                    </p:anim>
                                    <p:anim calcmode="lin" valueType="num">
                                      <p:cBhvr additive="base">
                                        <p:cTn id="122" dur="500" fill="hold"/>
                                        <p:tgtEl>
                                          <p:spTgt spid="37949"/>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grpId="0" nodeType="clickEffect">
                                  <p:stCondLst>
                                    <p:cond delay="0"/>
                                  </p:stCondLst>
                                  <p:childTnLst>
                                    <p:set>
                                      <p:cBhvr>
                                        <p:cTn id="126" dur="1" fill="hold">
                                          <p:stCondLst>
                                            <p:cond delay="0"/>
                                          </p:stCondLst>
                                        </p:cTn>
                                        <p:tgtEl>
                                          <p:spTgt spid="37939"/>
                                        </p:tgtEl>
                                        <p:attrNameLst>
                                          <p:attrName>style.visibility</p:attrName>
                                        </p:attrNameLst>
                                      </p:cBhvr>
                                      <p:to>
                                        <p:strVal val="visible"/>
                                      </p:to>
                                    </p:set>
                                    <p:anim calcmode="lin" valueType="num">
                                      <p:cBhvr additive="base">
                                        <p:cTn id="127" dur="500" fill="hold"/>
                                        <p:tgtEl>
                                          <p:spTgt spid="37939"/>
                                        </p:tgtEl>
                                        <p:attrNameLst>
                                          <p:attrName>ppt_x</p:attrName>
                                        </p:attrNameLst>
                                      </p:cBhvr>
                                      <p:tavLst>
                                        <p:tav tm="0">
                                          <p:val>
                                            <p:strVal val="#ppt_x"/>
                                          </p:val>
                                        </p:tav>
                                        <p:tav tm="100000">
                                          <p:val>
                                            <p:strVal val="#ppt_x"/>
                                          </p:val>
                                        </p:tav>
                                      </p:tavLst>
                                    </p:anim>
                                    <p:anim calcmode="lin" valueType="num">
                                      <p:cBhvr additive="base">
                                        <p:cTn id="128" dur="500" fill="hold"/>
                                        <p:tgtEl>
                                          <p:spTgt spid="37939"/>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grpId="0" nodeType="clickEffect">
                                  <p:stCondLst>
                                    <p:cond delay="0"/>
                                  </p:stCondLst>
                                  <p:childTnLst>
                                    <p:set>
                                      <p:cBhvr>
                                        <p:cTn id="132" dur="1" fill="hold">
                                          <p:stCondLst>
                                            <p:cond delay="0"/>
                                          </p:stCondLst>
                                        </p:cTn>
                                        <p:tgtEl>
                                          <p:spTgt spid="37955"/>
                                        </p:tgtEl>
                                        <p:attrNameLst>
                                          <p:attrName>style.visibility</p:attrName>
                                        </p:attrNameLst>
                                      </p:cBhvr>
                                      <p:to>
                                        <p:strVal val="visible"/>
                                      </p:to>
                                    </p:set>
                                    <p:anim calcmode="lin" valueType="num">
                                      <p:cBhvr additive="base">
                                        <p:cTn id="133" dur="500" fill="hold"/>
                                        <p:tgtEl>
                                          <p:spTgt spid="37955"/>
                                        </p:tgtEl>
                                        <p:attrNameLst>
                                          <p:attrName>ppt_x</p:attrName>
                                        </p:attrNameLst>
                                      </p:cBhvr>
                                      <p:tavLst>
                                        <p:tav tm="0">
                                          <p:val>
                                            <p:strVal val="#ppt_x"/>
                                          </p:val>
                                        </p:tav>
                                        <p:tav tm="100000">
                                          <p:val>
                                            <p:strVal val="#ppt_x"/>
                                          </p:val>
                                        </p:tav>
                                      </p:tavLst>
                                    </p:anim>
                                    <p:anim calcmode="lin" valueType="num">
                                      <p:cBhvr additive="base">
                                        <p:cTn id="134" dur="500" fill="hold"/>
                                        <p:tgtEl>
                                          <p:spTgt spid="37955"/>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grpId="0" nodeType="clickEffect">
                                  <p:stCondLst>
                                    <p:cond delay="0"/>
                                  </p:stCondLst>
                                  <p:childTnLst>
                                    <p:set>
                                      <p:cBhvr>
                                        <p:cTn id="138" dur="1" fill="hold">
                                          <p:stCondLst>
                                            <p:cond delay="0"/>
                                          </p:stCondLst>
                                        </p:cTn>
                                        <p:tgtEl>
                                          <p:spTgt spid="37956"/>
                                        </p:tgtEl>
                                        <p:attrNameLst>
                                          <p:attrName>style.visibility</p:attrName>
                                        </p:attrNameLst>
                                      </p:cBhvr>
                                      <p:to>
                                        <p:strVal val="visible"/>
                                      </p:to>
                                    </p:set>
                                    <p:anim calcmode="lin" valueType="num">
                                      <p:cBhvr additive="base">
                                        <p:cTn id="139" dur="500" fill="hold"/>
                                        <p:tgtEl>
                                          <p:spTgt spid="37956"/>
                                        </p:tgtEl>
                                        <p:attrNameLst>
                                          <p:attrName>ppt_x</p:attrName>
                                        </p:attrNameLst>
                                      </p:cBhvr>
                                      <p:tavLst>
                                        <p:tav tm="0">
                                          <p:val>
                                            <p:strVal val="#ppt_x"/>
                                          </p:val>
                                        </p:tav>
                                        <p:tav tm="100000">
                                          <p:val>
                                            <p:strVal val="#ppt_x"/>
                                          </p:val>
                                        </p:tav>
                                      </p:tavLst>
                                    </p:anim>
                                    <p:anim calcmode="lin" valueType="num">
                                      <p:cBhvr additive="base">
                                        <p:cTn id="140" dur="500" fill="hold"/>
                                        <p:tgtEl>
                                          <p:spTgt spid="37956"/>
                                        </p:tgtEl>
                                        <p:attrNameLst>
                                          <p:attrName>ppt_y</p:attrName>
                                        </p:attrNameLst>
                                      </p:cBhvr>
                                      <p:tavLst>
                                        <p:tav tm="0">
                                          <p:val>
                                            <p:strVal val="1+#ppt_h/2"/>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xit" presetSubtype="4" fill="hold" grpId="1" nodeType="clickEffect">
                                  <p:stCondLst>
                                    <p:cond delay="0"/>
                                  </p:stCondLst>
                                  <p:childTnLst>
                                    <p:anim calcmode="lin" valueType="num">
                                      <p:cBhvr additive="base">
                                        <p:cTn id="144" dur="500"/>
                                        <p:tgtEl>
                                          <p:spTgt spid="37953"/>
                                        </p:tgtEl>
                                        <p:attrNameLst>
                                          <p:attrName>ppt_x</p:attrName>
                                        </p:attrNameLst>
                                      </p:cBhvr>
                                      <p:tavLst>
                                        <p:tav tm="0">
                                          <p:val>
                                            <p:strVal val="ppt_x"/>
                                          </p:val>
                                        </p:tav>
                                        <p:tav tm="100000">
                                          <p:val>
                                            <p:strVal val="ppt_x"/>
                                          </p:val>
                                        </p:tav>
                                      </p:tavLst>
                                    </p:anim>
                                    <p:anim calcmode="lin" valueType="num">
                                      <p:cBhvr additive="base">
                                        <p:cTn id="145" dur="500"/>
                                        <p:tgtEl>
                                          <p:spTgt spid="37953"/>
                                        </p:tgtEl>
                                        <p:attrNameLst>
                                          <p:attrName>ppt_y</p:attrName>
                                        </p:attrNameLst>
                                      </p:cBhvr>
                                      <p:tavLst>
                                        <p:tav tm="0">
                                          <p:val>
                                            <p:strVal val="ppt_y"/>
                                          </p:val>
                                        </p:tav>
                                        <p:tav tm="100000">
                                          <p:val>
                                            <p:strVal val="1+ppt_h/2"/>
                                          </p:val>
                                        </p:tav>
                                      </p:tavLst>
                                    </p:anim>
                                    <p:set>
                                      <p:cBhvr>
                                        <p:cTn id="146" dur="1" fill="hold">
                                          <p:stCondLst>
                                            <p:cond delay="499"/>
                                          </p:stCondLst>
                                        </p:cTn>
                                        <p:tgtEl>
                                          <p:spTgt spid="37953"/>
                                        </p:tgtEl>
                                        <p:attrNameLst>
                                          <p:attrName>style.visibility</p:attrName>
                                        </p:attrNameLst>
                                      </p:cBhvr>
                                      <p:to>
                                        <p:strVal val="hidden"/>
                                      </p:to>
                                    </p:set>
                                  </p:childTnLst>
                                </p:cTn>
                              </p:par>
                            </p:childTnLst>
                          </p:cTn>
                        </p:par>
                      </p:childTnLst>
                    </p:cTn>
                  </p:par>
                  <p:par>
                    <p:cTn id="147" fill="hold">
                      <p:stCondLst>
                        <p:cond delay="indefinite"/>
                      </p:stCondLst>
                      <p:childTnLst>
                        <p:par>
                          <p:cTn id="148" fill="hold">
                            <p:stCondLst>
                              <p:cond delay="0"/>
                            </p:stCondLst>
                            <p:childTnLst>
                              <p:par>
                                <p:cTn id="149" presetID="2" presetClass="entr" presetSubtype="4" fill="hold" grpId="0" nodeType="clickEffect">
                                  <p:stCondLst>
                                    <p:cond delay="0"/>
                                  </p:stCondLst>
                                  <p:childTnLst>
                                    <p:set>
                                      <p:cBhvr>
                                        <p:cTn id="150" dur="1" fill="hold">
                                          <p:stCondLst>
                                            <p:cond delay="0"/>
                                          </p:stCondLst>
                                        </p:cTn>
                                        <p:tgtEl>
                                          <p:spTgt spid="37942"/>
                                        </p:tgtEl>
                                        <p:attrNameLst>
                                          <p:attrName>style.visibility</p:attrName>
                                        </p:attrNameLst>
                                      </p:cBhvr>
                                      <p:to>
                                        <p:strVal val="visible"/>
                                      </p:to>
                                    </p:set>
                                    <p:anim calcmode="lin" valueType="num">
                                      <p:cBhvr additive="base">
                                        <p:cTn id="151" dur="500" fill="hold"/>
                                        <p:tgtEl>
                                          <p:spTgt spid="37942"/>
                                        </p:tgtEl>
                                        <p:attrNameLst>
                                          <p:attrName>ppt_x</p:attrName>
                                        </p:attrNameLst>
                                      </p:cBhvr>
                                      <p:tavLst>
                                        <p:tav tm="0">
                                          <p:val>
                                            <p:strVal val="#ppt_x"/>
                                          </p:val>
                                        </p:tav>
                                        <p:tav tm="100000">
                                          <p:val>
                                            <p:strVal val="#ppt_x"/>
                                          </p:val>
                                        </p:tav>
                                      </p:tavLst>
                                    </p:anim>
                                    <p:anim calcmode="lin" valueType="num">
                                      <p:cBhvr additive="base">
                                        <p:cTn id="152" dur="500" fill="hold"/>
                                        <p:tgtEl>
                                          <p:spTgt spid="37942"/>
                                        </p:tgtEl>
                                        <p:attrNameLst>
                                          <p:attrName>ppt_y</p:attrName>
                                        </p:attrNameLst>
                                      </p:cBhvr>
                                      <p:tavLst>
                                        <p:tav tm="0">
                                          <p:val>
                                            <p:strVal val="1+#ppt_h/2"/>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2" presetClass="entr" presetSubtype="4" fill="hold" grpId="0" nodeType="clickEffect">
                                  <p:stCondLst>
                                    <p:cond delay="0"/>
                                  </p:stCondLst>
                                  <p:childTnLst>
                                    <p:set>
                                      <p:cBhvr>
                                        <p:cTn id="156" dur="1" fill="hold">
                                          <p:stCondLst>
                                            <p:cond delay="0"/>
                                          </p:stCondLst>
                                        </p:cTn>
                                        <p:tgtEl>
                                          <p:spTgt spid="37950"/>
                                        </p:tgtEl>
                                        <p:attrNameLst>
                                          <p:attrName>style.visibility</p:attrName>
                                        </p:attrNameLst>
                                      </p:cBhvr>
                                      <p:to>
                                        <p:strVal val="visible"/>
                                      </p:to>
                                    </p:set>
                                    <p:anim calcmode="lin" valueType="num">
                                      <p:cBhvr additive="base">
                                        <p:cTn id="157" dur="500" fill="hold"/>
                                        <p:tgtEl>
                                          <p:spTgt spid="37950"/>
                                        </p:tgtEl>
                                        <p:attrNameLst>
                                          <p:attrName>ppt_x</p:attrName>
                                        </p:attrNameLst>
                                      </p:cBhvr>
                                      <p:tavLst>
                                        <p:tav tm="0">
                                          <p:val>
                                            <p:strVal val="#ppt_x"/>
                                          </p:val>
                                        </p:tav>
                                        <p:tav tm="100000">
                                          <p:val>
                                            <p:strVal val="#ppt_x"/>
                                          </p:val>
                                        </p:tav>
                                      </p:tavLst>
                                    </p:anim>
                                    <p:anim calcmode="lin" valueType="num">
                                      <p:cBhvr additive="base">
                                        <p:cTn id="158" dur="500" fill="hold"/>
                                        <p:tgtEl>
                                          <p:spTgt spid="37950"/>
                                        </p:tgtEl>
                                        <p:attrNameLst>
                                          <p:attrName>ppt_y</p:attrName>
                                        </p:attrNameLst>
                                      </p:cBhvr>
                                      <p:tavLst>
                                        <p:tav tm="0">
                                          <p:val>
                                            <p:strVal val="1+#ppt_h/2"/>
                                          </p:val>
                                        </p:tav>
                                        <p:tav tm="100000">
                                          <p:val>
                                            <p:strVal val="#ppt_y"/>
                                          </p:val>
                                        </p:tav>
                                      </p:tavLst>
                                    </p:anim>
                                  </p:childTnLst>
                                </p:cTn>
                              </p:par>
                            </p:childTnLst>
                          </p:cTn>
                        </p:par>
                      </p:childTnLst>
                    </p:cTn>
                  </p:par>
                  <p:par>
                    <p:cTn id="159" fill="hold">
                      <p:stCondLst>
                        <p:cond delay="indefinite"/>
                      </p:stCondLst>
                      <p:childTnLst>
                        <p:par>
                          <p:cTn id="160" fill="hold">
                            <p:stCondLst>
                              <p:cond delay="0"/>
                            </p:stCondLst>
                            <p:childTnLst>
                              <p:par>
                                <p:cTn id="161" presetID="2" presetClass="entr" presetSubtype="4" fill="hold" grpId="0" nodeType="clickEffect">
                                  <p:stCondLst>
                                    <p:cond delay="0"/>
                                  </p:stCondLst>
                                  <p:childTnLst>
                                    <p:set>
                                      <p:cBhvr>
                                        <p:cTn id="162" dur="1" fill="hold">
                                          <p:stCondLst>
                                            <p:cond delay="0"/>
                                          </p:stCondLst>
                                        </p:cTn>
                                        <p:tgtEl>
                                          <p:spTgt spid="37964"/>
                                        </p:tgtEl>
                                        <p:attrNameLst>
                                          <p:attrName>style.visibility</p:attrName>
                                        </p:attrNameLst>
                                      </p:cBhvr>
                                      <p:to>
                                        <p:strVal val="visible"/>
                                      </p:to>
                                    </p:set>
                                    <p:anim calcmode="lin" valueType="num">
                                      <p:cBhvr additive="base">
                                        <p:cTn id="163" dur="500" fill="hold"/>
                                        <p:tgtEl>
                                          <p:spTgt spid="37964"/>
                                        </p:tgtEl>
                                        <p:attrNameLst>
                                          <p:attrName>ppt_x</p:attrName>
                                        </p:attrNameLst>
                                      </p:cBhvr>
                                      <p:tavLst>
                                        <p:tav tm="0">
                                          <p:val>
                                            <p:strVal val="#ppt_x"/>
                                          </p:val>
                                        </p:tav>
                                        <p:tav tm="100000">
                                          <p:val>
                                            <p:strVal val="#ppt_x"/>
                                          </p:val>
                                        </p:tav>
                                      </p:tavLst>
                                    </p:anim>
                                    <p:anim calcmode="lin" valueType="num">
                                      <p:cBhvr additive="base">
                                        <p:cTn id="164" dur="500" fill="hold"/>
                                        <p:tgtEl>
                                          <p:spTgt spid="37964"/>
                                        </p:tgtEl>
                                        <p:attrNameLst>
                                          <p:attrName>ppt_y</p:attrName>
                                        </p:attrNameLst>
                                      </p:cBhvr>
                                      <p:tavLst>
                                        <p:tav tm="0">
                                          <p:val>
                                            <p:strVal val="1+#ppt_h/2"/>
                                          </p:val>
                                        </p:tav>
                                        <p:tav tm="100000">
                                          <p:val>
                                            <p:strVal val="#ppt_y"/>
                                          </p:val>
                                        </p:tav>
                                      </p:tavLst>
                                    </p:anim>
                                  </p:childTnLst>
                                </p:cTn>
                              </p:par>
                            </p:childTnLst>
                          </p:cTn>
                        </p:par>
                      </p:childTnLst>
                    </p:cTn>
                  </p:par>
                  <p:par>
                    <p:cTn id="165" fill="hold">
                      <p:stCondLst>
                        <p:cond delay="indefinite"/>
                      </p:stCondLst>
                      <p:childTnLst>
                        <p:par>
                          <p:cTn id="166" fill="hold">
                            <p:stCondLst>
                              <p:cond delay="0"/>
                            </p:stCondLst>
                            <p:childTnLst>
                              <p:par>
                                <p:cTn id="167" presetID="2" presetClass="exit" presetSubtype="4" fill="hold" grpId="1" nodeType="clickEffect">
                                  <p:stCondLst>
                                    <p:cond delay="0"/>
                                  </p:stCondLst>
                                  <p:childTnLst>
                                    <p:anim calcmode="lin" valueType="num">
                                      <p:cBhvr additive="base">
                                        <p:cTn id="168" dur="500"/>
                                        <p:tgtEl>
                                          <p:spTgt spid="37942"/>
                                        </p:tgtEl>
                                        <p:attrNameLst>
                                          <p:attrName>ppt_x</p:attrName>
                                        </p:attrNameLst>
                                      </p:cBhvr>
                                      <p:tavLst>
                                        <p:tav tm="0">
                                          <p:val>
                                            <p:strVal val="ppt_x"/>
                                          </p:val>
                                        </p:tav>
                                        <p:tav tm="100000">
                                          <p:val>
                                            <p:strVal val="ppt_x"/>
                                          </p:val>
                                        </p:tav>
                                      </p:tavLst>
                                    </p:anim>
                                    <p:anim calcmode="lin" valueType="num">
                                      <p:cBhvr additive="base">
                                        <p:cTn id="169" dur="500"/>
                                        <p:tgtEl>
                                          <p:spTgt spid="37942"/>
                                        </p:tgtEl>
                                        <p:attrNameLst>
                                          <p:attrName>ppt_y</p:attrName>
                                        </p:attrNameLst>
                                      </p:cBhvr>
                                      <p:tavLst>
                                        <p:tav tm="0">
                                          <p:val>
                                            <p:strVal val="ppt_y"/>
                                          </p:val>
                                        </p:tav>
                                        <p:tav tm="100000">
                                          <p:val>
                                            <p:strVal val="1+ppt_h/2"/>
                                          </p:val>
                                        </p:tav>
                                      </p:tavLst>
                                    </p:anim>
                                    <p:set>
                                      <p:cBhvr>
                                        <p:cTn id="170" dur="1" fill="hold">
                                          <p:stCondLst>
                                            <p:cond delay="499"/>
                                          </p:stCondLst>
                                        </p:cTn>
                                        <p:tgtEl>
                                          <p:spTgt spid="37942"/>
                                        </p:tgtEl>
                                        <p:attrNameLst>
                                          <p:attrName>style.visibility</p:attrName>
                                        </p:attrNameLst>
                                      </p:cBhvr>
                                      <p:to>
                                        <p:strVal val="hidden"/>
                                      </p:to>
                                    </p:set>
                                  </p:childTnLst>
                                </p:cTn>
                              </p:par>
                            </p:childTnLst>
                          </p:cTn>
                        </p:par>
                      </p:childTnLst>
                    </p:cTn>
                  </p:par>
                  <p:par>
                    <p:cTn id="171" fill="hold">
                      <p:stCondLst>
                        <p:cond delay="indefinite"/>
                      </p:stCondLst>
                      <p:childTnLst>
                        <p:par>
                          <p:cTn id="172" fill="hold">
                            <p:stCondLst>
                              <p:cond delay="0"/>
                            </p:stCondLst>
                            <p:childTnLst>
                              <p:par>
                                <p:cTn id="173" presetID="2" presetClass="entr" presetSubtype="4" fill="hold" grpId="0" nodeType="clickEffect">
                                  <p:stCondLst>
                                    <p:cond delay="0"/>
                                  </p:stCondLst>
                                  <p:childTnLst>
                                    <p:set>
                                      <p:cBhvr>
                                        <p:cTn id="174" dur="1" fill="hold">
                                          <p:stCondLst>
                                            <p:cond delay="0"/>
                                          </p:stCondLst>
                                        </p:cTn>
                                        <p:tgtEl>
                                          <p:spTgt spid="37904"/>
                                        </p:tgtEl>
                                        <p:attrNameLst>
                                          <p:attrName>style.visibility</p:attrName>
                                        </p:attrNameLst>
                                      </p:cBhvr>
                                      <p:to>
                                        <p:strVal val="visible"/>
                                      </p:to>
                                    </p:set>
                                    <p:anim calcmode="lin" valueType="num">
                                      <p:cBhvr additive="base">
                                        <p:cTn id="175" dur="500" fill="hold"/>
                                        <p:tgtEl>
                                          <p:spTgt spid="37904"/>
                                        </p:tgtEl>
                                        <p:attrNameLst>
                                          <p:attrName>ppt_x</p:attrName>
                                        </p:attrNameLst>
                                      </p:cBhvr>
                                      <p:tavLst>
                                        <p:tav tm="0">
                                          <p:val>
                                            <p:strVal val="#ppt_x"/>
                                          </p:val>
                                        </p:tav>
                                        <p:tav tm="100000">
                                          <p:val>
                                            <p:strVal val="#ppt_x"/>
                                          </p:val>
                                        </p:tav>
                                      </p:tavLst>
                                    </p:anim>
                                    <p:anim calcmode="lin" valueType="num">
                                      <p:cBhvr additive="base">
                                        <p:cTn id="176" dur="500" fill="hold"/>
                                        <p:tgtEl>
                                          <p:spTgt spid="37904"/>
                                        </p:tgtEl>
                                        <p:attrNameLst>
                                          <p:attrName>ppt_y</p:attrName>
                                        </p:attrNameLst>
                                      </p:cBhvr>
                                      <p:tavLst>
                                        <p:tav tm="0">
                                          <p:val>
                                            <p:strVal val="1+#ppt_h/2"/>
                                          </p:val>
                                        </p:tav>
                                        <p:tav tm="100000">
                                          <p:val>
                                            <p:strVal val="#ppt_y"/>
                                          </p:val>
                                        </p:tav>
                                      </p:tavLst>
                                    </p:anim>
                                  </p:childTnLst>
                                </p:cTn>
                              </p:par>
                            </p:childTnLst>
                          </p:cTn>
                        </p:par>
                      </p:childTnLst>
                    </p:cTn>
                  </p:par>
                  <p:par>
                    <p:cTn id="177" fill="hold">
                      <p:stCondLst>
                        <p:cond delay="indefinite"/>
                      </p:stCondLst>
                      <p:childTnLst>
                        <p:par>
                          <p:cTn id="178" fill="hold">
                            <p:stCondLst>
                              <p:cond delay="0"/>
                            </p:stCondLst>
                            <p:childTnLst>
                              <p:par>
                                <p:cTn id="179" presetID="2" presetClass="entr" presetSubtype="4" fill="hold" grpId="0" nodeType="clickEffect">
                                  <p:stCondLst>
                                    <p:cond delay="0"/>
                                  </p:stCondLst>
                                  <p:childTnLst>
                                    <p:set>
                                      <p:cBhvr>
                                        <p:cTn id="180" dur="1" fill="hold">
                                          <p:stCondLst>
                                            <p:cond delay="0"/>
                                          </p:stCondLst>
                                        </p:cTn>
                                        <p:tgtEl>
                                          <p:spTgt spid="37957"/>
                                        </p:tgtEl>
                                        <p:attrNameLst>
                                          <p:attrName>style.visibility</p:attrName>
                                        </p:attrNameLst>
                                      </p:cBhvr>
                                      <p:to>
                                        <p:strVal val="visible"/>
                                      </p:to>
                                    </p:set>
                                    <p:anim calcmode="lin" valueType="num">
                                      <p:cBhvr additive="base">
                                        <p:cTn id="181" dur="500" fill="hold"/>
                                        <p:tgtEl>
                                          <p:spTgt spid="37957"/>
                                        </p:tgtEl>
                                        <p:attrNameLst>
                                          <p:attrName>ppt_x</p:attrName>
                                        </p:attrNameLst>
                                      </p:cBhvr>
                                      <p:tavLst>
                                        <p:tav tm="0">
                                          <p:val>
                                            <p:strVal val="#ppt_x"/>
                                          </p:val>
                                        </p:tav>
                                        <p:tav tm="100000">
                                          <p:val>
                                            <p:strVal val="#ppt_x"/>
                                          </p:val>
                                        </p:tav>
                                      </p:tavLst>
                                    </p:anim>
                                    <p:anim calcmode="lin" valueType="num">
                                      <p:cBhvr additive="base">
                                        <p:cTn id="182" dur="500" fill="hold"/>
                                        <p:tgtEl>
                                          <p:spTgt spid="37957"/>
                                        </p:tgtEl>
                                        <p:attrNameLst>
                                          <p:attrName>ppt_y</p:attrName>
                                        </p:attrNameLst>
                                      </p:cBhvr>
                                      <p:tavLst>
                                        <p:tav tm="0">
                                          <p:val>
                                            <p:strVal val="1+#ppt_h/2"/>
                                          </p:val>
                                        </p:tav>
                                        <p:tav tm="100000">
                                          <p:val>
                                            <p:strVal val="#ppt_y"/>
                                          </p:val>
                                        </p:tav>
                                      </p:tavLst>
                                    </p:anim>
                                  </p:childTnLst>
                                </p:cTn>
                              </p:par>
                            </p:childTnLst>
                          </p:cTn>
                        </p:par>
                      </p:childTnLst>
                    </p:cTn>
                  </p:par>
                  <p:par>
                    <p:cTn id="183" fill="hold">
                      <p:stCondLst>
                        <p:cond delay="indefinite"/>
                      </p:stCondLst>
                      <p:childTnLst>
                        <p:par>
                          <p:cTn id="184" fill="hold">
                            <p:stCondLst>
                              <p:cond delay="0"/>
                            </p:stCondLst>
                            <p:childTnLst>
                              <p:par>
                                <p:cTn id="185" presetID="2" presetClass="entr" presetSubtype="4" fill="hold" grpId="0" nodeType="clickEffect">
                                  <p:stCondLst>
                                    <p:cond delay="0"/>
                                  </p:stCondLst>
                                  <p:childTnLst>
                                    <p:set>
                                      <p:cBhvr>
                                        <p:cTn id="186" dur="1" fill="hold">
                                          <p:stCondLst>
                                            <p:cond delay="0"/>
                                          </p:stCondLst>
                                        </p:cTn>
                                        <p:tgtEl>
                                          <p:spTgt spid="37924"/>
                                        </p:tgtEl>
                                        <p:attrNameLst>
                                          <p:attrName>style.visibility</p:attrName>
                                        </p:attrNameLst>
                                      </p:cBhvr>
                                      <p:to>
                                        <p:strVal val="visible"/>
                                      </p:to>
                                    </p:set>
                                    <p:anim calcmode="lin" valueType="num">
                                      <p:cBhvr additive="base">
                                        <p:cTn id="187" dur="500" fill="hold"/>
                                        <p:tgtEl>
                                          <p:spTgt spid="37924"/>
                                        </p:tgtEl>
                                        <p:attrNameLst>
                                          <p:attrName>ppt_x</p:attrName>
                                        </p:attrNameLst>
                                      </p:cBhvr>
                                      <p:tavLst>
                                        <p:tav tm="0">
                                          <p:val>
                                            <p:strVal val="#ppt_x"/>
                                          </p:val>
                                        </p:tav>
                                        <p:tav tm="100000">
                                          <p:val>
                                            <p:strVal val="#ppt_x"/>
                                          </p:val>
                                        </p:tav>
                                      </p:tavLst>
                                    </p:anim>
                                    <p:anim calcmode="lin" valueType="num">
                                      <p:cBhvr additive="base">
                                        <p:cTn id="188" dur="500" fill="hold"/>
                                        <p:tgtEl>
                                          <p:spTgt spid="37924"/>
                                        </p:tgtEl>
                                        <p:attrNameLst>
                                          <p:attrName>ppt_y</p:attrName>
                                        </p:attrNameLst>
                                      </p:cBhvr>
                                      <p:tavLst>
                                        <p:tav tm="0">
                                          <p:val>
                                            <p:strVal val="1+#ppt_h/2"/>
                                          </p:val>
                                        </p:tav>
                                        <p:tav tm="100000">
                                          <p:val>
                                            <p:strVal val="#ppt_y"/>
                                          </p:val>
                                        </p:tav>
                                      </p:tavLst>
                                    </p:anim>
                                  </p:childTnLst>
                                </p:cTn>
                              </p:par>
                            </p:childTnLst>
                          </p:cTn>
                        </p:par>
                      </p:childTnLst>
                    </p:cTn>
                  </p:par>
                  <p:par>
                    <p:cTn id="189" fill="hold">
                      <p:stCondLst>
                        <p:cond delay="indefinite"/>
                      </p:stCondLst>
                      <p:childTnLst>
                        <p:par>
                          <p:cTn id="190" fill="hold">
                            <p:stCondLst>
                              <p:cond delay="0"/>
                            </p:stCondLst>
                            <p:childTnLst>
                              <p:par>
                                <p:cTn id="191" presetID="2" presetClass="entr" presetSubtype="4" fill="hold" grpId="0" nodeType="clickEffect">
                                  <p:stCondLst>
                                    <p:cond delay="0"/>
                                  </p:stCondLst>
                                  <p:childTnLst>
                                    <p:set>
                                      <p:cBhvr>
                                        <p:cTn id="192" dur="1" fill="hold">
                                          <p:stCondLst>
                                            <p:cond delay="0"/>
                                          </p:stCondLst>
                                        </p:cTn>
                                        <p:tgtEl>
                                          <p:spTgt spid="37958"/>
                                        </p:tgtEl>
                                        <p:attrNameLst>
                                          <p:attrName>style.visibility</p:attrName>
                                        </p:attrNameLst>
                                      </p:cBhvr>
                                      <p:to>
                                        <p:strVal val="visible"/>
                                      </p:to>
                                    </p:set>
                                    <p:anim calcmode="lin" valueType="num">
                                      <p:cBhvr additive="base">
                                        <p:cTn id="193" dur="500" fill="hold"/>
                                        <p:tgtEl>
                                          <p:spTgt spid="37958"/>
                                        </p:tgtEl>
                                        <p:attrNameLst>
                                          <p:attrName>ppt_x</p:attrName>
                                        </p:attrNameLst>
                                      </p:cBhvr>
                                      <p:tavLst>
                                        <p:tav tm="0">
                                          <p:val>
                                            <p:strVal val="#ppt_x"/>
                                          </p:val>
                                        </p:tav>
                                        <p:tav tm="100000">
                                          <p:val>
                                            <p:strVal val="#ppt_x"/>
                                          </p:val>
                                        </p:tav>
                                      </p:tavLst>
                                    </p:anim>
                                    <p:anim calcmode="lin" valueType="num">
                                      <p:cBhvr additive="base">
                                        <p:cTn id="194" dur="500" fill="hold"/>
                                        <p:tgtEl>
                                          <p:spTgt spid="37958"/>
                                        </p:tgtEl>
                                        <p:attrNameLst>
                                          <p:attrName>ppt_y</p:attrName>
                                        </p:attrNameLst>
                                      </p:cBhvr>
                                      <p:tavLst>
                                        <p:tav tm="0">
                                          <p:val>
                                            <p:strVal val="1+#ppt_h/2"/>
                                          </p:val>
                                        </p:tav>
                                        <p:tav tm="100000">
                                          <p:val>
                                            <p:strVal val="#ppt_y"/>
                                          </p:val>
                                        </p:tav>
                                      </p:tavLst>
                                    </p:anim>
                                  </p:childTnLst>
                                </p:cTn>
                              </p:par>
                            </p:childTnLst>
                          </p:cTn>
                        </p:par>
                      </p:childTnLst>
                    </p:cTn>
                  </p:par>
                  <p:par>
                    <p:cTn id="195" fill="hold">
                      <p:stCondLst>
                        <p:cond delay="indefinite"/>
                      </p:stCondLst>
                      <p:childTnLst>
                        <p:par>
                          <p:cTn id="196" fill="hold">
                            <p:stCondLst>
                              <p:cond delay="0"/>
                            </p:stCondLst>
                            <p:childTnLst>
                              <p:par>
                                <p:cTn id="197" presetID="2" presetClass="entr" presetSubtype="4" fill="hold" grpId="0" nodeType="clickEffect">
                                  <p:stCondLst>
                                    <p:cond delay="0"/>
                                  </p:stCondLst>
                                  <p:childTnLst>
                                    <p:set>
                                      <p:cBhvr>
                                        <p:cTn id="198" dur="1" fill="hold">
                                          <p:stCondLst>
                                            <p:cond delay="0"/>
                                          </p:stCondLst>
                                        </p:cTn>
                                        <p:tgtEl>
                                          <p:spTgt spid="37936"/>
                                        </p:tgtEl>
                                        <p:attrNameLst>
                                          <p:attrName>style.visibility</p:attrName>
                                        </p:attrNameLst>
                                      </p:cBhvr>
                                      <p:to>
                                        <p:strVal val="visible"/>
                                      </p:to>
                                    </p:set>
                                    <p:anim calcmode="lin" valueType="num">
                                      <p:cBhvr additive="base">
                                        <p:cTn id="199" dur="500" fill="hold"/>
                                        <p:tgtEl>
                                          <p:spTgt spid="37936"/>
                                        </p:tgtEl>
                                        <p:attrNameLst>
                                          <p:attrName>ppt_x</p:attrName>
                                        </p:attrNameLst>
                                      </p:cBhvr>
                                      <p:tavLst>
                                        <p:tav tm="0">
                                          <p:val>
                                            <p:strVal val="#ppt_x"/>
                                          </p:val>
                                        </p:tav>
                                        <p:tav tm="100000">
                                          <p:val>
                                            <p:strVal val="#ppt_x"/>
                                          </p:val>
                                        </p:tav>
                                      </p:tavLst>
                                    </p:anim>
                                    <p:anim calcmode="lin" valueType="num">
                                      <p:cBhvr additive="base">
                                        <p:cTn id="200" dur="500" fill="hold"/>
                                        <p:tgtEl>
                                          <p:spTgt spid="37936"/>
                                        </p:tgtEl>
                                        <p:attrNameLst>
                                          <p:attrName>ppt_y</p:attrName>
                                        </p:attrNameLst>
                                      </p:cBhvr>
                                      <p:tavLst>
                                        <p:tav tm="0">
                                          <p:val>
                                            <p:strVal val="1+#ppt_h/2"/>
                                          </p:val>
                                        </p:tav>
                                        <p:tav tm="100000">
                                          <p:val>
                                            <p:strVal val="#ppt_y"/>
                                          </p:val>
                                        </p:tav>
                                      </p:tavLst>
                                    </p:anim>
                                  </p:childTnLst>
                                </p:cTn>
                              </p:par>
                            </p:childTnLst>
                          </p:cTn>
                        </p:par>
                      </p:childTnLst>
                    </p:cTn>
                  </p:par>
                  <p:par>
                    <p:cTn id="201" fill="hold">
                      <p:stCondLst>
                        <p:cond delay="indefinite"/>
                      </p:stCondLst>
                      <p:childTnLst>
                        <p:par>
                          <p:cTn id="202" fill="hold">
                            <p:stCondLst>
                              <p:cond delay="0"/>
                            </p:stCondLst>
                            <p:childTnLst>
                              <p:par>
                                <p:cTn id="203" presetID="2" presetClass="entr" presetSubtype="4" fill="hold" grpId="0" nodeType="clickEffect">
                                  <p:stCondLst>
                                    <p:cond delay="0"/>
                                  </p:stCondLst>
                                  <p:childTnLst>
                                    <p:set>
                                      <p:cBhvr>
                                        <p:cTn id="204" dur="1" fill="hold">
                                          <p:stCondLst>
                                            <p:cond delay="0"/>
                                          </p:stCondLst>
                                        </p:cTn>
                                        <p:tgtEl>
                                          <p:spTgt spid="37959"/>
                                        </p:tgtEl>
                                        <p:attrNameLst>
                                          <p:attrName>style.visibility</p:attrName>
                                        </p:attrNameLst>
                                      </p:cBhvr>
                                      <p:to>
                                        <p:strVal val="visible"/>
                                      </p:to>
                                    </p:set>
                                    <p:anim calcmode="lin" valueType="num">
                                      <p:cBhvr additive="base">
                                        <p:cTn id="205" dur="500" fill="hold"/>
                                        <p:tgtEl>
                                          <p:spTgt spid="37959"/>
                                        </p:tgtEl>
                                        <p:attrNameLst>
                                          <p:attrName>ppt_x</p:attrName>
                                        </p:attrNameLst>
                                      </p:cBhvr>
                                      <p:tavLst>
                                        <p:tav tm="0">
                                          <p:val>
                                            <p:strVal val="#ppt_x"/>
                                          </p:val>
                                        </p:tav>
                                        <p:tav tm="100000">
                                          <p:val>
                                            <p:strVal val="#ppt_x"/>
                                          </p:val>
                                        </p:tav>
                                      </p:tavLst>
                                    </p:anim>
                                    <p:anim calcmode="lin" valueType="num">
                                      <p:cBhvr additive="base">
                                        <p:cTn id="206" dur="500" fill="hold"/>
                                        <p:tgtEl>
                                          <p:spTgt spid="37959"/>
                                        </p:tgtEl>
                                        <p:attrNameLst>
                                          <p:attrName>ppt_y</p:attrName>
                                        </p:attrNameLst>
                                      </p:cBhvr>
                                      <p:tavLst>
                                        <p:tav tm="0">
                                          <p:val>
                                            <p:strVal val="1+#ppt_h/2"/>
                                          </p:val>
                                        </p:tav>
                                        <p:tav tm="100000">
                                          <p:val>
                                            <p:strVal val="#ppt_y"/>
                                          </p:val>
                                        </p:tav>
                                      </p:tavLst>
                                    </p:anim>
                                  </p:childTnLst>
                                </p:cTn>
                              </p:par>
                            </p:childTnLst>
                          </p:cTn>
                        </p:par>
                      </p:childTnLst>
                    </p:cTn>
                  </p:par>
                  <p:par>
                    <p:cTn id="207" fill="hold">
                      <p:stCondLst>
                        <p:cond delay="indefinite"/>
                      </p:stCondLst>
                      <p:childTnLst>
                        <p:par>
                          <p:cTn id="208" fill="hold">
                            <p:stCondLst>
                              <p:cond delay="0"/>
                            </p:stCondLst>
                            <p:childTnLst>
                              <p:par>
                                <p:cTn id="209" presetID="2" presetClass="entr" presetSubtype="4" fill="hold" grpId="0" nodeType="clickEffect">
                                  <p:stCondLst>
                                    <p:cond delay="0"/>
                                  </p:stCondLst>
                                  <p:childTnLst>
                                    <p:set>
                                      <p:cBhvr>
                                        <p:cTn id="210" dur="1" fill="hold">
                                          <p:stCondLst>
                                            <p:cond delay="0"/>
                                          </p:stCondLst>
                                        </p:cTn>
                                        <p:tgtEl>
                                          <p:spTgt spid="37963"/>
                                        </p:tgtEl>
                                        <p:attrNameLst>
                                          <p:attrName>style.visibility</p:attrName>
                                        </p:attrNameLst>
                                      </p:cBhvr>
                                      <p:to>
                                        <p:strVal val="visible"/>
                                      </p:to>
                                    </p:set>
                                    <p:anim calcmode="lin" valueType="num">
                                      <p:cBhvr additive="base">
                                        <p:cTn id="211" dur="500" fill="hold"/>
                                        <p:tgtEl>
                                          <p:spTgt spid="37963"/>
                                        </p:tgtEl>
                                        <p:attrNameLst>
                                          <p:attrName>ppt_x</p:attrName>
                                        </p:attrNameLst>
                                      </p:cBhvr>
                                      <p:tavLst>
                                        <p:tav tm="0">
                                          <p:val>
                                            <p:strVal val="#ppt_x"/>
                                          </p:val>
                                        </p:tav>
                                        <p:tav tm="100000">
                                          <p:val>
                                            <p:strVal val="#ppt_x"/>
                                          </p:val>
                                        </p:tav>
                                      </p:tavLst>
                                    </p:anim>
                                    <p:anim calcmode="lin" valueType="num">
                                      <p:cBhvr additive="base">
                                        <p:cTn id="212" dur="500" fill="hold"/>
                                        <p:tgtEl>
                                          <p:spTgt spid="37963"/>
                                        </p:tgtEl>
                                        <p:attrNameLst>
                                          <p:attrName>ppt_y</p:attrName>
                                        </p:attrNameLst>
                                      </p:cBhvr>
                                      <p:tavLst>
                                        <p:tav tm="0">
                                          <p:val>
                                            <p:strVal val="1+#ppt_h/2"/>
                                          </p:val>
                                        </p:tav>
                                        <p:tav tm="100000">
                                          <p:val>
                                            <p:strVal val="#ppt_y"/>
                                          </p:val>
                                        </p:tav>
                                      </p:tavLst>
                                    </p:anim>
                                  </p:childTnLst>
                                </p:cTn>
                              </p:par>
                            </p:childTnLst>
                          </p:cTn>
                        </p:par>
                      </p:childTnLst>
                    </p:cTn>
                  </p:par>
                  <p:par>
                    <p:cTn id="213" fill="hold">
                      <p:stCondLst>
                        <p:cond delay="indefinite"/>
                      </p:stCondLst>
                      <p:childTnLst>
                        <p:par>
                          <p:cTn id="214" fill="hold">
                            <p:stCondLst>
                              <p:cond delay="0"/>
                            </p:stCondLst>
                            <p:childTnLst>
                              <p:par>
                                <p:cTn id="215" presetID="2" presetClass="entr" presetSubtype="4" fill="hold" grpId="0" nodeType="clickEffect">
                                  <p:stCondLst>
                                    <p:cond delay="0"/>
                                  </p:stCondLst>
                                  <p:childTnLst>
                                    <p:set>
                                      <p:cBhvr>
                                        <p:cTn id="216" dur="1" fill="hold">
                                          <p:stCondLst>
                                            <p:cond delay="0"/>
                                          </p:stCondLst>
                                        </p:cTn>
                                        <p:tgtEl>
                                          <p:spTgt spid="37907"/>
                                        </p:tgtEl>
                                        <p:attrNameLst>
                                          <p:attrName>style.visibility</p:attrName>
                                        </p:attrNameLst>
                                      </p:cBhvr>
                                      <p:to>
                                        <p:strVal val="visible"/>
                                      </p:to>
                                    </p:set>
                                    <p:anim calcmode="lin" valueType="num">
                                      <p:cBhvr additive="base">
                                        <p:cTn id="217" dur="500" fill="hold"/>
                                        <p:tgtEl>
                                          <p:spTgt spid="37907"/>
                                        </p:tgtEl>
                                        <p:attrNameLst>
                                          <p:attrName>ppt_x</p:attrName>
                                        </p:attrNameLst>
                                      </p:cBhvr>
                                      <p:tavLst>
                                        <p:tav tm="0">
                                          <p:val>
                                            <p:strVal val="#ppt_x"/>
                                          </p:val>
                                        </p:tav>
                                        <p:tav tm="100000">
                                          <p:val>
                                            <p:strVal val="#ppt_x"/>
                                          </p:val>
                                        </p:tav>
                                      </p:tavLst>
                                    </p:anim>
                                    <p:anim calcmode="lin" valueType="num">
                                      <p:cBhvr additive="base">
                                        <p:cTn id="218" dur="500" fill="hold"/>
                                        <p:tgtEl>
                                          <p:spTgt spid="37907"/>
                                        </p:tgtEl>
                                        <p:attrNameLst>
                                          <p:attrName>ppt_y</p:attrName>
                                        </p:attrNameLst>
                                      </p:cBhvr>
                                      <p:tavLst>
                                        <p:tav tm="0">
                                          <p:val>
                                            <p:strVal val="1+#ppt_h/2"/>
                                          </p:val>
                                        </p:tav>
                                        <p:tav tm="100000">
                                          <p:val>
                                            <p:strVal val="#ppt_y"/>
                                          </p:val>
                                        </p:tav>
                                      </p:tavLst>
                                    </p:anim>
                                  </p:childTnLst>
                                </p:cTn>
                              </p:par>
                            </p:childTnLst>
                          </p:cTn>
                        </p:par>
                      </p:childTnLst>
                    </p:cTn>
                  </p:par>
                  <p:par>
                    <p:cTn id="219" fill="hold">
                      <p:stCondLst>
                        <p:cond delay="indefinite"/>
                      </p:stCondLst>
                      <p:childTnLst>
                        <p:par>
                          <p:cTn id="220" fill="hold">
                            <p:stCondLst>
                              <p:cond delay="0"/>
                            </p:stCondLst>
                            <p:childTnLst>
                              <p:par>
                                <p:cTn id="221" presetID="2" presetClass="entr" presetSubtype="4" fill="hold" grpId="0" nodeType="clickEffect">
                                  <p:stCondLst>
                                    <p:cond delay="0"/>
                                  </p:stCondLst>
                                  <p:childTnLst>
                                    <p:set>
                                      <p:cBhvr>
                                        <p:cTn id="222" dur="1" fill="hold">
                                          <p:stCondLst>
                                            <p:cond delay="0"/>
                                          </p:stCondLst>
                                        </p:cTn>
                                        <p:tgtEl>
                                          <p:spTgt spid="37960"/>
                                        </p:tgtEl>
                                        <p:attrNameLst>
                                          <p:attrName>style.visibility</p:attrName>
                                        </p:attrNameLst>
                                      </p:cBhvr>
                                      <p:to>
                                        <p:strVal val="visible"/>
                                      </p:to>
                                    </p:set>
                                    <p:anim calcmode="lin" valueType="num">
                                      <p:cBhvr additive="base">
                                        <p:cTn id="223" dur="500" fill="hold"/>
                                        <p:tgtEl>
                                          <p:spTgt spid="37960"/>
                                        </p:tgtEl>
                                        <p:attrNameLst>
                                          <p:attrName>ppt_x</p:attrName>
                                        </p:attrNameLst>
                                      </p:cBhvr>
                                      <p:tavLst>
                                        <p:tav tm="0">
                                          <p:val>
                                            <p:strVal val="#ppt_x"/>
                                          </p:val>
                                        </p:tav>
                                        <p:tav tm="100000">
                                          <p:val>
                                            <p:strVal val="#ppt_x"/>
                                          </p:val>
                                        </p:tav>
                                      </p:tavLst>
                                    </p:anim>
                                    <p:anim calcmode="lin" valueType="num">
                                      <p:cBhvr additive="base">
                                        <p:cTn id="224" dur="500" fill="hold"/>
                                        <p:tgtEl>
                                          <p:spTgt spid="37960"/>
                                        </p:tgtEl>
                                        <p:attrNameLst>
                                          <p:attrName>ppt_y</p:attrName>
                                        </p:attrNameLst>
                                      </p:cBhvr>
                                      <p:tavLst>
                                        <p:tav tm="0">
                                          <p:val>
                                            <p:strVal val="1+#ppt_h/2"/>
                                          </p:val>
                                        </p:tav>
                                        <p:tav tm="100000">
                                          <p:val>
                                            <p:strVal val="#ppt_y"/>
                                          </p:val>
                                        </p:tav>
                                      </p:tavLst>
                                    </p:anim>
                                  </p:childTnLst>
                                </p:cTn>
                              </p:par>
                            </p:childTnLst>
                          </p:cTn>
                        </p:par>
                      </p:childTnLst>
                    </p:cTn>
                  </p:par>
                  <p:par>
                    <p:cTn id="225" fill="hold">
                      <p:stCondLst>
                        <p:cond delay="indefinite"/>
                      </p:stCondLst>
                      <p:childTnLst>
                        <p:par>
                          <p:cTn id="226" fill="hold">
                            <p:stCondLst>
                              <p:cond delay="0"/>
                            </p:stCondLst>
                            <p:childTnLst>
                              <p:par>
                                <p:cTn id="227" presetID="2" presetClass="entr" presetSubtype="4" fill="hold" grpId="0" nodeType="clickEffect">
                                  <p:stCondLst>
                                    <p:cond delay="0"/>
                                  </p:stCondLst>
                                  <p:childTnLst>
                                    <p:set>
                                      <p:cBhvr>
                                        <p:cTn id="228" dur="1" fill="hold">
                                          <p:stCondLst>
                                            <p:cond delay="0"/>
                                          </p:stCondLst>
                                        </p:cTn>
                                        <p:tgtEl>
                                          <p:spTgt spid="37937"/>
                                        </p:tgtEl>
                                        <p:attrNameLst>
                                          <p:attrName>style.visibility</p:attrName>
                                        </p:attrNameLst>
                                      </p:cBhvr>
                                      <p:to>
                                        <p:strVal val="visible"/>
                                      </p:to>
                                    </p:set>
                                    <p:anim calcmode="lin" valueType="num">
                                      <p:cBhvr additive="base">
                                        <p:cTn id="229" dur="500" fill="hold"/>
                                        <p:tgtEl>
                                          <p:spTgt spid="37937"/>
                                        </p:tgtEl>
                                        <p:attrNameLst>
                                          <p:attrName>ppt_x</p:attrName>
                                        </p:attrNameLst>
                                      </p:cBhvr>
                                      <p:tavLst>
                                        <p:tav tm="0">
                                          <p:val>
                                            <p:strVal val="#ppt_x"/>
                                          </p:val>
                                        </p:tav>
                                        <p:tav tm="100000">
                                          <p:val>
                                            <p:strVal val="#ppt_x"/>
                                          </p:val>
                                        </p:tav>
                                      </p:tavLst>
                                    </p:anim>
                                    <p:anim calcmode="lin" valueType="num">
                                      <p:cBhvr additive="base">
                                        <p:cTn id="230" dur="500" fill="hold"/>
                                        <p:tgtEl>
                                          <p:spTgt spid="37937"/>
                                        </p:tgtEl>
                                        <p:attrNameLst>
                                          <p:attrName>ppt_y</p:attrName>
                                        </p:attrNameLst>
                                      </p:cBhvr>
                                      <p:tavLst>
                                        <p:tav tm="0">
                                          <p:val>
                                            <p:strVal val="1+#ppt_h/2"/>
                                          </p:val>
                                        </p:tav>
                                        <p:tav tm="100000">
                                          <p:val>
                                            <p:strVal val="#ppt_y"/>
                                          </p:val>
                                        </p:tav>
                                      </p:tavLst>
                                    </p:anim>
                                  </p:childTnLst>
                                </p:cTn>
                              </p:par>
                            </p:childTnLst>
                          </p:cTn>
                        </p:par>
                      </p:childTnLst>
                    </p:cTn>
                  </p:par>
                  <p:par>
                    <p:cTn id="231" fill="hold">
                      <p:stCondLst>
                        <p:cond delay="indefinite"/>
                      </p:stCondLst>
                      <p:childTnLst>
                        <p:par>
                          <p:cTn id="232" fill="hold">
                            <p:stCondLst>
                              <p:cond delay="0"/>
                            </p:stCondLst>
                            <p:childTnLst>
                              <p:par>
                                <p:cTn id="233" presetID="2" presetClass="entr" presetSubtype="4" fill="hold" grpId="0" nodeType="clickEffect">
                                  <p:stCondLst>
                                    <p:cond delay="0"/>
                                  </p:stCondLst>
                                  <p:childTnLst>
                                    <p:set>
                                      <p:cBhvr>
                                        <p:cTn id="234" dur="1" fill="hold">
                                          <p:stCondLst>
                                            <p:cond delay="0"/>
                                          </p:stCondLst>
                                        </p:cTn>
                                        <p:tgtEl>
                                          <p:spTgt spid="37961"/>
                                        </p:tgtEl>
                                        <p:attrNameLst>
                                          <p:attrName>style.visibility</p:attrName>
                                        </p:attrNameLst>
                                      </p:cBhvr>
                                      <p:to>
                                        <p:strVal val="visible"/>
                                      </p:to>
                                    </p:set>
                                    <p:anim calcmode="lin" valueType="num">
                                      <p:cBhvr additive="base">
                                        <p:cTn id="235" dur="500" fill="hold"/>
                                        <p:tgtEl>
                                          <p:spTgt spid="37961"/>
                                        </p:tgtEl>
                                        <p:attrNameLst>
                                          <p:attrName>ppt_x</p:attrName>
                                        </p:attrNameLst>
                                      </p:cBhvr>
                                      <p:tavLst>
                                        <p:tav tm="0">
                                          <p:val>
                                            <p:strVal val="#ppt_x"/>
                                          </p:val>
                                        </p:tav>
                                        <p:tav tm="100000">
                                          <p:val>
                                            <p:strVal val="#ppt_x"/>
                                          </p:val>
                                        </p:tav>
                                      </p:tavLst>
                                    </p:anim>
                                    <p:anim calcmode="lin" valueType="num">
                                      <p:cBhvr additive="base">
                                        <p:cTn id="236" dur="500" fill="hold"/>
                                        <p:tgtEl>
                                          <p:spTgt spid="37961"/>
                                        </p:tgtEl>
                                        <p:attrNameLst>
                                          <p:attrName>ppt_y</p:attrName>
                                        </p:attrNameLst>
                                      </p:cBhvr>
                                      <p:tavLst>
                                        <p:tav tm="0">
                                          <p:val>
                                            <p:strVal val="1+#ppt_h/2"/>
                                          </p:val>
                                        </p:tav>
                                        <p:tav tm="100000">
                                          <p:val>
                                            <p:strVal val="#ppt_y"/>
                                          </p:val>
                                        </p:tav>
                                      </p:tavLst>
                                    </p:anim>
                                  </p:childTnLst>
                                </p:cTn>
                              </p:par>
                            </p:childTnLst>
                          </p:cTn>
                        </p:par>
                      </p:childTnLst>
                    </p:cTn>
                  </p:par>
                  <p:par>
                    <p:cTn id="237" fill="hold">
                      <p:stCondLst>
                        <p:cond delay="indefinite"/>
                      </p:stCondLst>
                      <p:childTnLst>
                        <p:par>
                          <p:cTn id="238" fill="hold">
                            <p:stCondLst>
                              <p:cond delay="0"/>
                            </p:stCondLst>
                            <p:childTnLst>
                              <p:par>
                                <p:cTn id="239" presetID="2" presetClass="entr" presetSubtype="4" fill="hold" grpId="0" nodeType="clickEffect">
                                  <p:stCondLst>
                                    <p:cond delay="0"/>
                                  </p:stCondLst>
                                  <p:childTnLst>
                                    <p:set>
                                      <p:cBhvr>
                                        <p:cTn id="240" dur="1" fill="hold">
                                          <p:stCondLst>
                                            <p:cond delay="0"/>
                                          </p:stCondLst>
                                        </p:cTn>
                                        <p:tgtEl>
                                          <p:spTgt spid="37962"/>
                                        </p:tgtEl>
                                        <p:attrNameLst>
                                          <p:attrName>style.visibility</p:attrName>
                                        </p:attrNameLst>
                                      </p:cBhvr>
                                      <p:to>
                                        <p:strVal val="visible"/>
                                      </p:to>
                                    </p:set>
                                    <p:anim calcmode="lin" valueType="num">
                                      <p:cBhvr additive="base">
                                        <p:cTn id="241" dur="500" fill="hold"/>
                                        <p:tgtEl>
                                          <p:spTgt spid="37962"/>
                                        </p:tgtEl>
                                        <p:attrNameLst>
                                          <p:attrName>ppt_x</p:attrName>
                                        </p:attrNameLst>
                                      </p:cBhvr>
                                      <p:tavLst>
                                        <p:tav tm="0">
                                          <p:val>
                                            <p:strVal val="#ppt_x"/>
                                          </p:val>
                                        </p:tav>
                                        <p:tav tm="100000">
                                          <p:val>
                                            <p:strVal val="#ppt_x"/>
                                          </p:val>
                                        </p:tav>
                                      </p:tavLst>
                                    </p:anim>
                                    <p:anim calcmode="lin" valueType="num">
                                      <p:cBhvr additive="base">
                                        <p:cTn id="242" dur="500" fill="hold"/>
                                        <p:tgtEl>
                                          <p:spTgt spid="37962"/>
                                        </p:tgtEl>
                                        <p:attrNameLst>
                                          <p:attrName>ppt_y</p:attrName>
                                        </p:attrNameLst>
                                      </p:cBhvr>
                                      <p:tavLst>
                                        <p:tav tm="0">
                                          <p:val>
                                            <p:strVal val="1+#ppt_h/2"/>
                                          </p:val>
                                        </p:tav>
                                        <p:tav tm="100000">
                                          <p:val>
                                            <p:strVal val="#ppt_y"/>
                                          </p:val>
                                        </p:tav>
                                      </p:tavLst>
                                    </p:anim>
                                  </p:childTnLst>
                                </p:cTn>
                              </p:par>
                            </p:childTnLst>
                          </p:cTn>
                        </p:par>
                      </p:childTnLst>
                    </p:cTn>
                  </p:par>
                  <p:par>
                    <p:cTn id="243" fill="hold">
                      <p:stCondLst>
                        <p:cond delay="indefinite"/>
                      </p:stCondLst>
                      <p:childTnLst>
                        <p:par>
                          <p:cTn id="244" fill="hold">
                            <p:stCondLst>
                              <p:cond delay="0"/>
                            </p:stCondLst>
                            <p:childTnLst>
                              <p:par>
                                <p:cTn id="245" presetID="2" presetClass="exit" presetSubtype="4" fill="hold" grpId="1" nodeType="clickEffect">
                                  <p:stCondLst>
                                    <p:cond delay="0"/>
                                  </p:stCondLst>
                                  <p:childTnLst>
                                    <p:anim calcmode="lin" valueType="num">
                                      <p:cBhvr additive="base">
                                        <p:cTn id="246" dur="500"/>
                                        <p:tgtEl>
                                          <p:spTgt spid="37962"/>
                                        </p:tgtEl>
                                        <p:attrNameLst>
                                          <p:attrName>ppt_x</p:attrName>
                                        </p:attrNameLst>
                                      </p:cBhvr>
                                      <p:tavLst>
                                        <p:tav tm="0">
                                          <p:val>
                                            <p:strVal val="ppt_x"/>
                                          </p:val>
                                        </p:tav>
                                        <p:tav tm="100000">
                                          <p:val>
                                            <p:strVal val="ppt_x"/>
                                          </p:val>
                                        </p:tav>
                                      </p:tavLst>
                                    </p:anim>
                                    <p:anim calcmode="lin" valueType="num">
                                      <p:cBhvr additive="base">
                                        <p:cTn id="247" dur="500"/>
                                        <p:tgtEl>
                                          <p:spTgt spid="37962"/>
                                        </p:tgtEl>
                                        <p:attrNameLst>
                                          <p:attrName>ppt_y</p:attrName>
                                        </p:attrNameLst>
                                      </p:cBhvr>
                                      <p:tavLst>
                                        <p:tav tm="0">
                                          <p:val>
                                            <p:strVal val="ppt_y"/>
                                          </p:val>
                                        </p:tav>
                                        <p:tav tm="100000">
                                          <p:val>
                                            <p:strVal val="1+ppt_h/2"/>
                                          </p:val>
                                        </p:tav>
                                      </p:tavLst>
                                    </p:anim>
                                    <p:set>
                                      <p:cBhvr>
                                        <p:cTn id="248" dur="1" fill="hold">
                                          <p:stCondLst>
                                            <p:cond delay="499"/>
                                          </p:stCondLst>
                                        </p:cTn>
                                        <p:tgtEl>
                                          <p:spTgt spid="3796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4" grpId="0"/>
      <p:bldP spid="37897" grpId="0"/>
      <p:bldP spid="37902" grpId="0"/>
      <p:bldP spid="37904" grpId="0"/>
      <p:bldP spid="37907" grpId="0"/>
      <p:bldP spid="37923" grpId="0"/>
      <p:bldP spid="37924" grpId="0"/>
      <p:bldP spid="37925" grpId="0"/>
      <p:bldP spid="37925" grpId="1"/>
      <p:bldP spid="37936" grpId="0"/>
      <p:bldP spid="37937" grpId="0"/>
      <p:bldP spid="37938" grpId="0"/>
      <p:bldP spid="37939" grpId="0"/>
      <p:bldP spid="37940" grpId="0"/>
      <p:bldP spid="37941" grpId="0"/>
      <p:bldP spid="37942" grpId="0"/>
      <p:bldP spid="37942" grpId="1"/>
      <p:bldP spid="37943" grpId="0" animBg="1"/>
      <p:bldP spid="37944" grpId="0" animBg="1"/>
      <p:bldP spid="37945" grpId="0" animBg="1"/>
      <p:bldP spid="37946" grpId="0" animBg="1"/>
      <p:bldP spid="37947" grpId="0" animBg="1"/>
      <p:bldP spid="37948" grpId="0" animBg="1"/>
      <p:bldP spid="37949" grpId="0" animBg="1"/>
      <p:bldP spid="37950" grpId="0" animBg="1"/>
      <p:bldP spid="37951" grpId="0" animBg="1"/>
      <p:bldP spid="37953" grpId="0"/>
      <p:bldP spid="37953" grpId="1"/>
      <p:bldP spid="37954" grpId="0" animBg="1"/>
      <p:bldP spid="37955" grpId="0" animBg="1"/>
      <p:bldP spid="37956" grpId="0"/>
      <p:bldP spid="37957" grpId="0" animBg="1"/>
      <p:bldP spid="37958" grpId="0" animBg="1"/>
      <p:bldP spid="37959" grpId="0" animBg="1"/>
      <p:bldP spid="37960" grpId="0" animBg="1"/>
      <p:bldP spid="37961" grpId="0" animBg="1"/>
      <p:bldP spid="37962" grpId="0"/>
      <p:bldP spid="37962" grpId="1"/>
      <p:bldP spid="37963" grpId="0"/>
      <p:bldP spid="37964" grpId="0" animBg="1"/>
      <p:bldP spid="37965"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ctrTitle"/>
          </p:nvPr>
        </p:nvSpPr>
        <p:spPr/>
        <p:txBody>
          <a:bodyPr/>
          <a:lstStyle/>
          <a:p>
            <a:r>
              <a:rPr lang="zh-CN" altLang="en-US">
                <a:effectLst>
                  <a:outerShdw blurRad="38100" dist="38100" dir="2700000" algn="tl">
                    <a:srgbClr val="C0C0C0"/>
                  </a:outerShdw>
                </a:effectLst>
                <a:ea typeface="黑体" panose="02010609060101010101" pitchFamily="49" charset="-122"/>
              </a:rPr>
              <a:t>圆排列问题</a:t>
            </a:r>
            <a:endParaRPr lang="zh-CN" altLang="en-US">
              <a:effectLst>
                <a:outerShdw blurRad="38100" dist="38100" dir="2700000" algn="tl">
                  <a:srgbClr val="C0C0C0"/>
                </a:outerShdw>
              </a:effectLst>
              <a:ea typeface="黑体" panose="02010609060101010101" pitchFamily="49" charset="-122"/>
            </a:endParaRPr>
          </a:p>
        </p:txBody>
      </p:sp>
      <p:sp>
        <p:nvSpPr>
          <p:cNvPr id="47107" name="Rectangle 3"/>
          <p:cNvSpPr>
            <a:spLocks noGrp="1" noChangeArrowheads="1"/>
          </p:cNvSpPr>
          <p:nvPr>
            <p:ph type="subTitle" idx="1"/>
          </p:nvPr>
        </p:nvSpPr>
        <p:spPr/>
        <p:txBody>
          <a:bodyPr/>
          <a:lstStyle/>
          <a:p>
            <a:endParaRPr lang="zh-CN" altLang="zh-CN"/>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611188"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en-US" sz="3900" b="1">
                <a:solidFill>
                  <a:schemeClr val="tx2"/>
                </a:solidFill>
                <a:effectLst>
                  <a:outerShdw blurRad="38100" dist="38100" dir="2700000" algn="tl">
                    <a:srgbClr val="C0C0C0"/>
                  </a:outerShdw>
                </a:effectLst>
                <a:ea typeface="黑体" panose="02010609060101010101" pitchFamily="49" charset="-122"/>
              </a:rPr>
              <a:t>圆排列问题</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sp>
        <p:nvSpPr>
          <p:cNvPr id="17411" name="Text Box 3"/>
          <p:cNvSpPr txBox="1">
            <a:spLocks noChangeArrowheads="1"/>
          </p:cNvSpPr>
          <p:nvPr/>
        </p:nvSpPr>
        <p:spPr bwMode="auto">
          <a:xfrm>
            <a:off x="250825" y="908050"/>
            <a:ext cx="8569325"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latin typeface="黑体" panose="02010609060101010101" pitchFamily="49" charset="-122"/>
                <a:ea typeface="黑体" panose="02010609060101010101" pitchFamily="49" charset="-122"/>
              </a:rPr>
              <a:t>给定</a:t>
            </a:r>
            <a:r>
              <a:rPr lang="en-US" altLang="zh-CN" sz="2400">
                <a:latin typeface="黑体" panose="02010609060101010101" pitchFamily="49" charset="-122"/>
                <a:ea typeface="黑体" panose="02010609060101010101" pitchFamily="49" charset="-122"/>
              </a:rPr>
              <a:t>n</a:t>
            </a:r>
            <a:r>
              <a:rPr lang="zh-CN" altLang="en-US" sz="2400">
                <a:latin typeface="黑体" panose="02010609060101010101" pitchFamily="49" charset="-122"/>
                <a:ea typeface="黑体" panose="02010609060101010101" pitchFamily="49" charset="-122"/>
              </a:rPr>
              <a:t>个大小不等的圆</a:t>
            </a:r>
            <a:r>
              <a:rPr lang="en-US" altLang="zh-CN" sz="2400">
                <a:latin typeface="黑体" panose="02010609060101010101" pitchFamily="49" charset="-122"/>
                <a:ea typeface="黑体" panose="02010609060101010101" pitchFamily="49" charset="-122"/>
              </a:rPr>
              <a:t>c1,c2,</a:t>
            </a:r>
            <a:r>
              <a:rPr lang="en-US" altLang="zh-CN" sz="2400">
                <a:latin typeface="Arial" panose="020B0604020202020204"/>
                <a:ea typeface="黑体" panose="02010609060101010101" pitchFamily="49" charset="-122"/>
              </a:rPr>
              <a:t>…</a:t>
            </a:r>
            <a:r>
              <a:rPr lang="en-US" altLang="zh-CN" sz="2400">
                <a:latin typeface="黑体" panose="02010609060101010101" pitchFamily="49" charset="-122"/>
                <a:ea typeface="黑体" panose="02010609060101010101" pitchFamily="49" charset="-122"/>
              </a:rPr>
              <a:t>,cn</a:t>
            </a:r>
            <a:r>
              <a:rPr lang="zh-CN" altLang="en-US" sz="2400">
                <a:latin typeface="黑体" panose="02010609060101010101" pitchFamily="49" charset="-122"/>
                <a:ea typeface="黑体" panose="02010609060101010101" pitchFamily="49" charset="-122"/>
              </a:rPr>
              <a:t>，现要将这</a:t>
            </a:r>
            <a:r>
              <a:rPr lang="en-US" altLang="zh-CN" sz="2400">
                <a:latin typeface="黑体" panose="02010609060101010101" pitchFamily="49" charset="-122"/>
                <a:ea typeface="黑体" panose="02010609060101010101" pitchFamily="49" charset="-122"/>
              </a:rPr>
              <a:t>n</a:t>
            </a:r>
            <a:r>
              <a:rPr lang="zh-CN" altLang="en-US" sz="2400">
                <a:latin typeface="黑体" panose="02010609060101010101" pitchFamily="49" charset="-122"/>
                <a:ea typeface="黑体" panose="02010609060101010101" pitchFamily="49" charset="-122"/>
              </a:rPr>
              <a:t>个圆排进一个矩形框中，且要求各圆与矩形框的底边相切。圆排列问题要求从</a:t>
            </a:r>
            <a:r>
              <a:rPr lang="en-US" altLang="zh-CN" sz="2400">
                <a:latin typeface="黑体" panose="02010609060101010101" pitchFamily="49" charset="-122"/>
                <a:ea typeface="黑体" panose="02010609060101010101" pitchFamily="49" charset="-122"/>
              </a:rPr>
              <a:t>n</a:t>
            </a:r>
            <a:r>
              <a:rPr lang="zh-CN" altLang="en-US" sz="2400">
                <a:latin typeface="黑体" panose="02010609060101010101" pitchFamily="49" charset="-122"/>
                <a:ea typeface="黑体" panose="02010609060101010101" pitchFamily="49" charset="-122"/>
              </a:rPr>
              <a:t>个圆的所有排列中找出有最小长度的圆排列。例如，当</a:t>
            </a:r>
            <a:r>
              <a:rPr lang="en-US" altLang="zh-CN" sz="2400">
                <a:latin typeface="黑体" panose="02010609060101010101" pitchFamily="49" charset="-122"/>
                <a:ea typeface="黑体" panose="02010609060101010101" pitchFamily="49" charset="-122"/>
              </a:rPr>
              <a:t>n=3</a:t>
            </a:r>
            <a:r>
              <a:rPr lang="zh-CN" altLang="en-US" sz="2400">
                <a:latin typeface="黑体" panose="02010609060101010101" pitchFamily="49" charset="-122"/>
                <a:ea typeface="黑体" panose="02010609060101010101" pitchFamily="49" charset="-122"/>
              </a:rPr>
              <a:t>，且所给的</a:t>
            </a:r>
            <a:r>
              <a:rPr lang="en-US" altLang="zh-CN" sz="2400">
                <a:latin typeface="黑体" panose="02010609060101010101" pitchFamily="49" charset="-122"/>
                <a:ea typeface="黑体" panose="02010609060101010101" pitchFamily="49" charset="-122"/>
              </a:rPr>
              <a:t>3</a:t>
            </a:r>
            <a:r>
              <a:rPr lang="zh-CN" altLang="en-US" sz="2400">
                <a:latin typeface="黑体" panose="02010609060101010101" pitchFamily="49" charset="-122"/>
                <a:ea typeface="黑体" panose="02010609060101010101" pitchFamily="49" charset="-122"/>
              </a:rPr>
              <a:t>个圆的半径分别为</a:t>
            </a:r>
            <a:r>
              <a:rPr lang="en-US" altLang="zh-CN" sz="2400">
                <a:latin typeface="黑体" panose="02010609060101010101" pitchFamily="49" charset="-122"/>
                <a:ea typeface="黑体" panose="02010609060101010101" pitchFamily="49" charset="-122"/>
              </a:rPr>
              <a:t>1</a:t>
            </a:r>
            <a:r>
              <a:rPr lang="zh-CN" altLang="en-US" sz="2400">
                <a:latin typeface="黑体" panose="02010609060101010101" pitchFamily="49" charset="-122"/>
                <a:ea typeface="黑体" panose="02010609060101010101" pitchFamily="49" charset="-122"/>
              </a:rPr>
              <a:t>，</a:t>
            </a:r>
            <a:r>
              <a:rPr lang="en-US" altLang="zh-CN" sz="2400">
                <a:latin typeface="黑体" panose="02010609060101010101" pitchFamily="49" charset="-122"/>
                <a:ea typeface="黑体" panose="02010609060101010101" pitchFamily="49" charset="-122"/>
              </a:rPr>
              <a:t>1</a:t>
            </a:r>
            <a:r>
              <a:rPr lang="zh-CN" altLang="en-US" sz="2400">
                <a:latin typeface="黑体" panose="02010609060101010101" pitchFamily="49" charset="-122"/>
                <a:ea typeface="黑体" panose="02010609060101010101" pitchFamily="49" charset="-122"/>
              </a:rPr>
              <a:t>，</a:t>
            </a:r>
            <a:r>
              <a:rPr lang="en-US" altLang="zh-CN" sz="2400">
                <a:latin typeface="黑体" panose="02010609060101010101" pitchFamily="49" charset="-122"/>
                <a:ea typeface="黑体" panose="02010609060101010101" pitchFamily="49" charset="-122"/>
              </a:rPr>
              <a:t>2</a:t>
            </a:r>
            <a:r>
              <a:rPr lang="zh-CN" altLang="en-US" sz="2400">
                <a:latin typeface="黑体" panose="02010609060101010101" pitchFamily="49" charset="-122"/>
                <a:ea typeface="黑体" panose="02010609060101010101" pitchFamily="49" charset="-122"/>
              </a:rPr>
              <a:t>时，这</a:t>
            </a:r>
            <a:r>
              <a:rPr lang="en-US" altLang="zh-CN" sz="2400">
                <a:latin typeface="黑体" panose="02010609060101010101" pitchFamily="49" charset="-122"/>
                <a:ea typeface="黑体" panose="02010609060101010101" pitchFamily="49" charset="-122"/>
              </a:rPr>
              <a:t>3</a:t>
            </a:r>
            <a:r>
              <a:rPr lang="zh-CN" altLang="en-US" sz="2400">
                <a:latin typeface="黑体" panose="02010609060101010101" pitchFamily="49" charset="-122"/>
                <a:ea typeface="黑体" panose="02010609060101010101" pitchFamily="49" charset="-122"/>
              </a:rPr>
              <a:t>个圆的最小长度的圆排列如图所示。其最小长度为</a:t>
            </a:r>
            <a:endParaRPr lang="zh-CN" altLang="en-US" sz="2400">
              <a:latin typeface="黑体" panose="02010609060101010101" pitchFamily="49" charset="-122"/>
              <a:ea typeface="黑体" panose="02010609060101010101" pitchFamily="49" charset="-122"/>
            </a:endParaRPr>
          </a:p>
        </p:txBody>
      </p:sp>
      <p:sp>
        <p:nvSpPr>
          <p:cNvPr id="17412" name="Rectangle 4"/>
          <p:cNvSpPr>
            <a:spLocks noChangeArrowheads="1"/>
          </p:cNvSpPr>
          <p:nvPr/>
        </p:nvSpPr>
        <p:spPr bwMode="auto">
          <a:xfrm>
            <a:off x="0" y="3319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graphicFrame>
        <p:nvGraphicFramePr>
          <p:cNvPr id="17413" name="Object 5"/>
          <p:cNvGraphicFramePr>
            <a:graphicFrameLocks noChangeAspect="1"/>
          </p:cNvGraphicFramePr>
          <p:nvPr/>
        </p:nvGraphicFramePr>
        <p:xfrm>
          <a:off x="4284663" y="2349500"/>
          <a:ext cx="1079500" cy="442913"/>
        </p:xfrm>
        <a:graphic>
          <a:graphicData uri="http://schemas.openxmlformats.org/presentationml/2006/ole">
            <mc:AlternateContent xmlns:mc="http://schemas.openxmlformats.org/markup-compatibility/2006">
              <mc:Choice xmlns:v="urn:schemas-microsoft-com:vml" Requires="v">
                <p:oleObj spid="_x0000_s371714" name="公式" r:id="rId1" imgW="532765" imgH="215900" progId="Equation.3">
                  <p:embed/>
                </p:oleObj>
              </mc:Choice>
              <mc:Fallback>
                <p:oleObj name="公式" r:id="rId1" imgW="532765" imgH="2159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4663" y="2349500"/>
                        <a:ext cx="1079500" cy="442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7414" name="Picture 6" descr="t58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513" y="3068638"/>
            <a:ext cx="4105275" cy="2687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611188"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en-US" sz="3900" b="1">
                <a:solidFill>
                  <a:schemeClr val="tx2"/>
                </a:solidFill>
                <a:effectLst>
                  <a:outerShdw blurRad="38100" dist="38100" dir="2700000" algn="tl">
                    <a:srgbClr val="C0C0C0"/>
                  </a:outerShdw>
                </a:effectLst>
                <a:ea typeface="黑体" panose="02010609060101010101" pitchFamily="49" charset="-122"/>
              </a:rPr>
              <a:t>圆排列问题</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sp>
        <p:nvSpPr>
          <p:cNvPr id="18435" name="Text Box 3"/>
          <p:cNvSpPr txBox="1">
            <a:spLocks noChangeArrowheads="1"/>
          </p:cNvSpPr>
          <p:nvPr/>
        </p:nvSpPr>
        <p:spPr bwMode="auto">
          <a:xfrm>
            <a:off x="4284663" y="765175"/>
            <a:ext cx="4019550" cy="2563813"/>
          </a:xfrm>
          <a:prstGeom prst="rect">
            <a:avLst/>
          </a:prstGeom>
          <a:solidFill>
            <a:srgbClr val="FFCC00"/>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r>
              <a:rPr kumimoji="1" lang="en-US" altLang="zh-CN"/>
              <a:t>float Circle::</a:t>
            </a:r>
            <a:r>
              <a:rPr kumimoji="1" lang="en-US" altLang="zh-CN" b="1"/>
              <a:t>Center</a:t>
            </a:r>
            <a:r>
              <a:rPr kumimoji="1" lang="en-US" altLang="zh-CN"/>
              <a:t>(int t)</a:t>
            </a:r>
            <a:endParaRPr kumimoji="1" lang="en-US" altLang="zh-CN"/>
          </a:p>
          <a:p>
            <a:r>
              <a:rPr kumimoji="1" lang="en-US" altLang="zh-CN"/>
              <a:t>{// </a:t>
            </a:r>
            <a:r>
              <a:rPr kumimoji="1" lang="zh-CN" altLang="en-US"/>
              <a:t>计算当前所选择圆的圆心横坐标</a:t>
            </a:r>
            <a:endParaRPr kumimoji="1" lang="zh-CN" altLang="en-US"/>
          </a:p>
          <a:p>
            <a:r>
              <a:rPr kumimoji="1" lang="zh-CN" altLang="en-US"/>
              <a:t>    </a:t>
            </a:r>
            <a:r>
              <a:rPr kumimoji="1" lang="en-US" altLang="zh-CN"/>
              <a:t>float temp=0;</a:t>
            </a:r>
            <a:endParaRPr kumimoji="1" lang="en-US" altLang="zh-CN"/>
          </a:p>
          <a:p>
            <a:r>
              <a:rPr kumimoji="1" lang="en-US" altLang="zh-CN"/>
              <a:t>    for (int j=1;j&lt;t;j++) {</a:t>
            </a:r>
            <a:endParaRPr kumimoji="1" lang="en-US" altLang="zh-CN"/>
          </a:p>
          <a:p>
            <a:r>
              <a:rPr kumimoji="1" lang="en-US" altLang="zh-CN"/>
              <a:t>        float valuex=x[j]+2.0*sqrt(r[t]*r[j]);</a:t>
            </a:r>
            <a:endParaRPr kumimoji="1" lang="en-US" altLang="zh-CN"/>
          </a:p>
          <a:p>
            <a:r>
              <a:rPr kumimoji="1" lang="en-US" altLang="zh-CN"/>
              <a:t>        if (valuex&gt;temp) temp=valuex;</a:t>
            </a:r>
            <a:endParaRPr kumimoji="1" lang="en-US" altLang="zh-CN"/>
          </a:p>
          <a:p>
            <a:r>
              <a:rPr kumimoji="1" lang="en-US" altLang="zh-CN"/>
              <a:t>        }</a:t>
            </a:r>
            <a:endParaRPr kumimoji="1" lang="en-US" altLang="zh-CN"/>
          </a:p>
          <a:p>
            <a:r>
              <a:rPr kumimoji="1" lang="en-US" altLang="zh-CN"/>
              <a:t>    return temp;</a:t>
            </a:r>
            <a:endParaRPr kumimoji="1" lang="en-US" altLang="zh-CN"/>
          </a:p>
          <a:p>
            <a:r>
              <a:rPr kumimoji="1" lang="en-US" altLang="zh-CN"/>
              <a:t>}</a:t>
            </a:r>
            <a:endParaRPr kumimoji="1" lang="en-US" altLang="zh-CN"/>
          </a:p>
        </p:txBody>
      </p:sp>
      <p:sp>
        <p:nvSpPr>
          <p:cNvPr id="18436" name="Text Box 4"/>
          <p:cNvSpPr txBox="1">
            <a:spLocks noChangeArrowheads="1"/>
          </p:cNvSpPr>
          <p:nvPr/>
        </p:nvSpPr>
        <p:spPr bwMode="auto">
          <a:xfrm>
            <a:off x="4284663" y="3500438"/>
            <a:ext cx="4608512" cy="2838450"/>
          </a:xfrm>
          <a:prstGeom prst="rect">
            <a:avLst/>
          </a:prstGeom>
          <a:solidFill>
            <a:srgbClr val="FFCC00"/>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kumimoji="1" lang="en-US" altLang="zh-CN"/>
              <a:t>void Circle::</a:t>
            </a:r>
            <a:r>
              <a:rPr kumimoji="1" lang="en-US" altLang="zh-CN" b="1"/>
              <a:t>Compute</a:t>
            </a:r>
            <a:r>
              <a:rPr kumimoji="1" lang="en-US" altLang="zh-CN"/>
              <a:t>(void)</a:t>
            </a:r>
            <a:endParaRPr kumimoji="1" lang="en-US" altLang="zh-CN"/>
          </a:p>
          <a:p>
            <a:r>
              <a:rPr kumimoji="1" lang="en-US" altLang="zh-CN"/>
              <a:t>{// </a:t>
            </a:r>
            <a:r>
              <a:rPr kumimoji="1" lang="zh-CN" altLang="en-US"/>
              <a:t>计算当前圆排列的长度</a:t>
            </a:r>
            <a:endParaRPr kumimoji="1" lang="zh-CN" altLang="en-US"/>
          </a:p>
          <a:p>
            <a:r>
              <a:rPr kumimoji="1" lang="zh-CN" altLang="en-US"/>
              <a:t>    </a:t>
            </a:r>
            <a:r>
              <a:rPr kumimoji="1" lang="en-US" altLang="zh-CN"/>
              <a:t>float low=0,</a:t>
            </a:r>
            <a:endParaRPr kumimoji="1" lang="en-US" altLang="zh-CN"/>
          </a:p>
          <a:p>
            <a:r>
              <a:rPr kumimoji="1" lang="en-US" altLang="zh-CN"/>
              <a:t>        high=0;</a:t>
            </a:r>
            <a:endParaRPr kumimoji="1" lang="en-US" altLang="zh-CN"/>
          </a:p>
          <a:p>
            <a:r>
              <a:rPr kumimoji="1" lang="en-US" altLang="zh-CN"/>
              <a:t>    for (int i=1;i&lt;=n;i++) {</a:t>
            </a:r>
            <a:endParaRPr kumimoji="1" lang="en-US" altLang="zh-CN"/>
          </a:p>
          <a:p>
            <a:r>
              <a:rPr kumimoji="1" lang="en-US" altLang="zh-CN"/>
              <a:t>        if (x[i]-r[i]&lt;low) low=x[i]-r[i];</a:t>
            </a:r>
            <a:endParaRPr kumimoji="1" lang="en-US" altLang="zh-CN"/>
          </a:p>
          <a:p>
            <a:r>
              <a:rPr kumimoji="1" lang="en-US" altLang="zh-CN"/>
              <a:t>        if (x[i]+r[i]&gt;high) high=x[i]+r[i];</a:t>
            </a:r>
            <a:endParaRPr kumimoji="1" lang="en-US" altLang="zh-CN"/>
          </a:p>
          <a:p>
            <a:r>
              <a:rPr kumimoji="1" lang="en-US" altLang="zh-CN"/>
              <a:t>        }</a:t>
            </a:r>
            <a:endParaRPr kumimoji="1" lang="en-US" altLang="zh-CN"/>
          </a:p>
          <a:p>
            <a:r>
              <a:rPr kumimoji="1" lang="en-US" altLang="zh-CN"/>
              <a:t>    if (high-low&lt;min) min=high-low;</a:t>
            </a:r>
            <a:endParaRPr kumimoji="1" lang="en-US" altLang="zh-CN"/>
          </a:p>
          <a:p>
            <a:r>
              <a:rPr kumimoji="1" lang="en-US" altLang="zh-CN"/>
              <a:t>}</a:t>
            </a:r>
            <a:endParaRPr kumimoji="1" lang="en-US" altLang="zh-CN"/>
          </a:p>
        </p:txBody>
      </p:sp>
      <p:sp>
        <p:nvSpPr>
          <p:cNvPr id="18437" name="Text Box 5"/>
          <p:cNvSpPr txBox="1">
            <a:spLocks noChangeArrowheads="1"/>
          </p:cNvSpPr>
          <p:nvPr/>
        </p:nvSpPr>
        <p:spPr bwMode="auto">
          <a:xfrm>
            <a:off x="250825" y="788988"/>
            <a:ext cx="4103688" cy="3514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r>
              <a:rPr kumimoji="1" lang="en-US" altLang="zh-CN" sz="1600"/>
              <a:t>void Circle::</a:t>
            </a:r>
            <a:r>
              <a:rPr kumimoji="1" lang="en-US" altLang="zh-CN" sz="1600" b="1"/>
              <a:t>Backtrack</a:t>
            </a:r>
            <a:r>
              <a:rPr kumimoji="1" lang="en-US" altLang="zh-CN" sz="1600"/>
              <a:t>(int t)</a:t>
            </a:r>
            <a:endParaRPr kumimoji="1" lang="en-US" altLang="zh-CN" sz="1600"/>
          </a:p>
          <a:p>
            <a:r>
              <a:rPr kumimoji="1" lang="en-US" altLang="zh-CN" sz="1600"/>
              <a:t>{</a:t>
            </a:r>
            <a:endParaRPr kumimoji="1" lang="en-US" altLang="zh-CN" sz="1600"/>
          </a:p>
          <a:p>
            <a:r>
              <a:rPr kumimoji="1" lang="en-US" altLang="zh-CN" sz="1600"/>
              <a:t>    if (t&gt;n) Compute();</a:t>
            </a:r>
            <a:endParaRPr kumimoji="1" lang="en-US" altLang="zh-CN" sz="1600"/>
          </a:p>
          <a:p>
            <a:r>
              <a:rPr kumimoji="1" lang="en-US" altLang="zh-CN" sz="1600"/>
              <a:t>    else</a:t>
            </a:r>
            <a:endParaRPr kumimoji="1" lang="en-US" altLang="zh-CN" sz="1600"/>
          </a:p>
          <a:p>
            <a:r>
              <a:rPr kumimoji="1" lang="en-US" altLang="zh-CN" sz="1600"/>
              <a:t>      for (int j = t; j &lt;= n; j++) {</a:t>
            </a:r>
            <a:endParaRPr kumimoji="1" lang="en-US" altLang="zh-CN" sz="1600"/>
          </a:p>
          <a:p>
            <a:r>
              <a:rPr kumimoji="1" lang="en-US" altLang="zh-CN" sz="1600"/>
              <a:t>            Swap(r[t], r[j]);</a:t>
            </a:r>
            <a:endParaRPr kumimoji="1" lang="en-US" altLang="zh-CN" sz="1600"/>
          </a:p>
          <a:p>
            <a:r>
              <a:rPr kumimoji="1" lang="en-US" altLang="zh-CN" sz="1600"/>
              <a:t>            float centerx=Center(t);</a:t>
            </a:r>
            <a:endParaRPr kumimoji="1" lang="en-US" altLang="zh-CN" sz="1600"/>
          </a:p>
          <a:p>
            <a:r>
              <a:rPr kumimoji="1" lang="en-US" altLang="zh-CN" sz="1600"/>
              <a:t>            if (centerx+r[t]+r[1]&lt;min) {//</a:t>
            </a:r>
            <a:r>
              <a:rPr kumimoji="1" lang="zh-CN" altLang="en-US" sz="1600"/>
              <a:t>下界约束</a:t>
            </a:r>
            <a:endParaRPr kumimoji="1" lang="zh-CN" altLang="en-US" sz="1600"/>
          </a:p>
          <a:p>
            <a:r>
              <a:rPr kumimoji="1" lang="zh-CN" altLang="en-US" sz="1600"/>
              <a:t>              </a:t>
            </a:r>
            <a:r>
              <a:rPr kumimoji="1" lang="en-US" altLang="zh-CN" sz="1600"/>
              <a:t>x[t]=centerx;</a:t>
            </a:r>
            <a:endParaRPr kumimoji="1" lang="en-US" altLang="zh-CN" sz="1600"/>
          </a:p>
          <a:p>
            <a:r>
              <a:rPr kumimoji="1" lang="en-US" altLang="zh-CN" sz="1600"/>
              <a:t>              Backtrack(t+1);</a:t>
            </a:r>
            <a:endParaRPr kumimoji="1" lang="en-US" altLang="zh-CN" sz="1600"/>
          </a:p>
          <a:p>
            <a:r>
              <a:rPr kumimoji="1" lang="en-US" altLang="zh-CN" sz="1600"/>
              <a:t>              }</a:t>
            </a:r>
            <a:endParaRPr kumimoji="1" lang="en-US" altLang="zh-CN" sz="1600"/>
          </a:p>
          <a:p>
            <a:r>
              <a:rPr kumimoji="1" lang="en-US" altLang="zh-CN" sz="1600"/>
              <a:t>            Swap(r[t], r[j]);</a:t>
            </a:r>
            <a:endParaRPr kumimoji="1" lang="en-US" altLang="zh-CN" sz="1600"/>
          </a:p>
          <a:p>
            <a:r>
              <a:rPr kumimoji="1" lang="en-US" altLang="zh-CN" sz="1600"/>
              <a:t>            }</a:t>
            </a:r>
            <a:endParaRPr kumimoji="1" lang="en-US" altLang="zh-CN" sz="1600"/>
          </a:p>
          <a:p>
            <a:r>
              <a:rPr kumimoji="1" lang="en-US" altLang="zh-CN" sz="1600"/>
              <a:t>}</a:t>
            </a:r>
            <a:endParaRPr kumimoji="1" lang="en-US" altLang="zh-CN" sz="1600"/>
          </a:p>
        </p:txBody>
      </p:sp>
      <p:pic>
        <p:nvPicPr>
          <p:cNvPr id="18438" name="Picture 6" descr="t58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2988" y="4868863"/>
            <a:ext cx="2376487"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9" name="AutoShape 7"/>
          <p:cNvSpPr>
            <a:spLocks noChangeArrowheads="1"/>
          </p:cNvSpPr>
          <p:nvPr/>
        </p:nvSpPr>
        <p:spPr bwMode="auto">
          <a:xfrm>
            <a:off x="612775" y="2205038"/>
            <a:ext cx="6899275" cy="1749425"/>
          </a:xfrm>
          <a:prstGeom prst="roundRect">
            <a:avLst>
              <a:gd name="adj" fmla="val 16667"/>
            </a:avLst>
          </a:prstGeom>
          <a:solidFill>
            <a:schemeClr val="bg1"/>
          </a:solidFill>
          <a:ln w="38100">
            <a:solidFill>
              <a:srgbClr val="063DE8"/>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400" b="1">
                <a:ea typeface="黑体" panose="02010609060101010101" pitchFamily="49" charset="-122"/>
              </a:rPr>
              <a:t>复杂度分析</a:t>
            </a:r>
            <a:endParaRPr lang="zh-CN" altLang="en-US" sz="2400" b="1">
              <a:ea typeface="黑体" panose="02010609060101010101" pitchFamily="49" charset="-122"/>
            </a:endParaRPr>
          </a:p>
          <a:p>
            <a:pPr eaLnBrk="0" hangingPunct="0"/>
            <a:r>
              <a:rPr lang="zh-CN" altLang="en-US" sz="2400">
                <a:ea typeface="新宋体" panose="02010609030101010101" charset="-122"/>
                <a:sym typeface="Wingdings" panose="05000000000000000000" pitchFamily="2" charset="2"/>
              </a:rPr>
              <a:t>由于算法</a:t>
            </a:r>
            <a:r>
              <a:rPr lang="en-US" altLang="zh-CN" sz="2400" b="1">
                <a:ea typeface="新宋体" panose="02010609030101010101" charset="-122"/>
                <a:sym typeface="Wingdings" panose="05000000000000000000" pitchFamily="2" charset="2"/>
              </a:rPr>
              <a:t>backtrack</a:t>
            </a:r>
            <a:r>
              <a:rPr lang="zh-CN" altLang="en-US" sz="2400">
                <a:ea typeface="新宋体" panose="02010609030101010101" charset="-122"/>
                <a:sym typeface="Wingdings" panose="05000000000000000000" pitchFamily="2" charset="2"/>
              </a:rPr>
              <a:t>在最坏情况下可能需要计算</a:t>
            </a:r>
            <a:r>
              <a:rPr lang="en-US" altLang="zh-CN" sz="2400">
                <a:ea typeface="新宋体" panose="02010609030101010101" charset="-122"/>
                <a:sym typeface="Wingdings" panose="05000000000000000000" pitchFamily="2" charset="2"/>
              </a:rPr>
              <a:t>O(n!)</a:t>
            </a:r>
            <a:r>
              <a:rPr lang="zh-CN" altLang="en-US" sz="2400">
                <a:ea typeface="新宋体" panose="02010609030101010101" charset="-122"/>
                <a:sym typeface="Wingdings" panose="05000000000000000000" pitchFamily="2" charset="2"/>
              </a:rPr>
              <a:t>次当前圆排列长度，每次计算需</a:t>
            </a:r>
            <a:r>
              <a:rPr lang="en-US" altLang="zh-CN" sz="2400">
                <a:ea typeface="新宋体" panose="02010609030101010101" charset="-122"/>
                <a:sym typeface="Wingdings" panose="05000000000000000000" pitchFamily="2" charset="2"/>
              </a:rPr>
              <a:t>O(n)</a:t>
            </a:r>
            <a:r>
              <a:rPr lang="zh-CN" altLang="en-US" sz="2400">
                <a:ea typeface="新宋体" panose="02010609030101010101" charset="-122"/>
                <a:sym typeface="Wingdings" panose="05000000000000000000" pitchFamily="2" charset="2"/>
              </a:rPr>
              <a:t>计算时间，从而整个算法的计算时间复杂性为</a:t>
            </a:r>
            <a:r>
              <a:rPr lang="en-US" altLang="zh-CN" sz="2400">
                <a:ea typeface="新宋体" panose="02010609030101010101" charset="-122"/>
                <a:sym typeface="Wingdings" panose="05000000000000000000" pitchFamily="2" charset="2"/>
              </a:rPr>
              <a:t>O((n+1)!) </a:t>
            </a:r>
            <a:endParaRPr lang="en-US" altLang="zh-CN" sz="2400">
              <a:ea typeface="新宋体" panose="02010609030101010101" charset="-122"/>
              <a:sym typeface="Wingdings" panose="05000000000000000000" pitchFamily="2" charset="2"/>
            </a:endParaRPr>
          </a:p>
        </p:txBody>
      </p:sp>
      <p:sp>
        <p:nvSpPr>
          <p:cNvPr id="18440" name="Text Box 8"/>
          <p:cNvSpPr txBox="1">
            <a:spLocks noChangeArrowheads="1"/>
          </p:cNvSpPr>
          <p:nvPr/>
        </p:nvSpPr>
        <p:spPr bwMode="auto">
          <a:xfrm>
            <a:off x="395288" y="1989138"/>
            <a:ext cx="8280400" cy="1968500"/>
          </a:xfrm>
          <a:prstGeom prst="rect">
            <a:avLst/>
          </a:prstGeom>
          <a:solidFill>
            <a:schemeClr val="hlink"/>
          </a:solidFill>
          <a:ln w="508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FontTx/>
              <a:buChar char="•"/>
            </a:pPr>
            <a:r>
              <a:rPr lang="zh-CN" altLang="en-US" sz="2400">
                <a:ea typeface="新宋体" panose="02010609030101010101" charset="-122"/>
              </a:rPr>
              <a:t>上述算法尚有许多改进的余地。例如，象</a:t>
            </a:r>
            <a:r>
              <a:rPr lang="en-US" altLang="zh-CN" sz="2400">
                <a:ea typeface="新宋体" panose="02010609030101010101" charset="-122"/>
              </a:rPr>
              <a:t>1,2,…,n-1,n</a:t>
            </a:r>
            <a:r>
              <a:rPr lang="zh-CN" altLang="en-US" sz="2400">
                <a:ea typeface="新宋体" panose="02010609030101010101" charset="-122"/>
              </a:rPr>
              <a:t>和</a:t>
            </a:r>
            <a:r>
              <a:rPr lang="en-US" altLang="zh-CN" sz="2400">
                <a:ea typeface="新宋体" panose="02010609030101010101" charset="-122"/>
              </a:rPr>
              <a:t>n,n-1, …,2,1</a:t>
            </a:r>
            <a:r>
              <a:rPr lang="zh-CN" altLang="en-US" sz="2400">
                <a:ea typeface="新宋体" panose="02010609030101010101" charset="-122"/>
              </a:rPr>
              <a:t>这种互为镜像的排列具有相同的圆排列长度，只计算一个就够了，可减少约一半的计算量。另一方面，如果所给的</a:t>
            </a:r>
            <a:r>
              <a:rPr lang="en-US" altLang="zh-CN" sz="2400">
                <a:ea typeface="新宋体" panose="02010609030101010101" charset="-122"/>
              </a:rPr>
              <a:t>n</a:t>
            </a:r>
            <a:r>
              <a:rPr lang="zh-CN" altLang="en-US" sz="2400">
                <a:ea typeface="新宋体" panose="02010609030101010101" charset="-122"/>
              </a:rPr>
              <a:t>个圆中有</a:t>
            </a:r>
            <a:r>
              <a:rPr lang="en-US" altLang="zh-CN" sz="2400">
                <a:ea typeface="新宋体" panose="02010609030101010101" charset="-122"/>
              </a:rPr>
              <a:t>k</a:t>
            </a:r>
            <a:r>
              <a:rPr lang="zh-CN" altLang="en-US" sz="2400">
                <a:ea typeface="新宋体" panose="02010609030101010101" charset="-122"/>
              </a:rPr>
              <a:t>个圆有相同的半径，则这</a:t>
            </a:r>
            <a:r>
              <a:rPr lang="en-US" altLang="zh-CN" sz="2400">
                <a:ea typeface="新宋体" panose="02010609030101010101" charset="-122"/>
              </a:rPr>
              <a:t>k</a:t>
            </a:r>
            <a:r>
              <a:rPr lang="zh-CN" altLang="en-US" sz="2400">
                <a:ea typeface="新宋体" panose="02010609030101010101" charset="-122"/>
              </a:rPr>
              <a:t>个圆产生的</a:t>
            </a:r>
            <a:r>
              <a:rPr lang="en-US" altLang="zh-CN" sz="2400">
                <a:ea typeface="新宋体" panose="02010609030101010101" charset="-122"/>
              </a:rPr>
              <a:t>k!</a:t>
            </a:r>
            <a:r>
              <a:rPr lang="zh-CN" altLang="en-US" sz="2400">
                <a:ea typeface="新宋体" panose="02010609030101010101" charset="-122"/>
              </a:rPr>
              <a:t>个完全相同的圆排列，只计算一个就够了。 </a:t>
            </a:r>
            <a:endParaRPr lang="zh-CN" altLang="en-US" sz="2400">
              <a:ea typeface="新宋体" panose="0201060903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439"/>
                                        </p:tgtEl>
                                        <p:attrNameLst>
                                          <p:attrName>style.visibility</p:attrName>
                                        </p:attrNameLst>
                                      </p:cBhvr>
                                      <p:to>
                                        <p:strVal val="visible"/>
                                      </p:to>
                                    </p:set>
                                    <p:animEffect transition="in" filter="blinds(horizontal)">
                                      <p:cBhvr>
                                        <p:cTn id="7" dur="500"/>
                                        <p:tgtEl>
                                          <p:spTgt spid="1843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440"/>
                                        </p:tgtEl>
                                        <p:attrNameLst>
                                          <p:attrName>style.visibility</p:attrName>
                                        </p:attrNameLst>
                                      </p:cBhvr>
                                      <p:to>
                                        <p:strVal val="visible"/>
                                      </p:to>
                                    </p:set>
                                    <p:animEffect transition="in" filter="blinds(horizontal)">
                                      <p:cBhvr>
                                        <p:cTn id="12" dur="500"/>
                                        <p:tgtEl>
                                          <p:spTgt spid="184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9" grpId="0" animBg="1"/>
      <p:bldP spid="18440"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ctrTitle"/>
          </p:nvPr>
        </p:nvSpPr>
        <p:spPr/>
        <p:txBody>
          <a:bodyPr/>
          <a:lstStyle/>
          <a:p>
            <a:r>
              <a:rPr lang="zh-CN" altLang="en-US">
                <a:effectLst>
                  <a:outerShdw blurRad="38100" dist="38100" dir="2700000" algn="tl">
                    <a:srgbClr val="C0C0C0"/>
                  </a:outerShdw>
                </a:effectLst>
                <a:ea typeface="黑体" panose="02010609060101010101" pitchFamily="49" charset="-122"/>
              </a:rPr>
              <a:t>电路板排列问题</a:t>
            </a:r>
            <a:endParaRPr lang="zh-CN" altLang="en-US">
              <a:effectLst>
                <a:outerShdw blurRad="38100" dist="38100" dir="2700000" algn="tl">
                  <a:srgbClr val="C0C0C0"/>
                </a:outerShdw>
              </a:effectLst>
              <a:ea typeface="黑体" panose="02010609060101010101" pitchFamily="49" charset="-122"/>
            </a:endParaRPr>
          </a:p>
        </p:txBody>
      </p:sp>
      <p:sp>
        <p:nvSpPr>
          <p:cNvPr id="59395" name="Rectangle 3"/>
          <p:cNvSpPr>
            <a:spLocks noGrp="1" noChangeArrowheads="1"/>
          </p:cNvSpPr>
          <p:nvPr>
            <p:ph type="subTitle" idx="1"/>
          </p:nvPr>
        </p:nvSpPr>
        <p:spPr/>
        <p:txBody>
          <a:bodyPr/>
          <a:lstStyle/>
          <a:p>
            <a:endParaRPr lang="zh-CN" altLang="zh-CN"/>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zh-CN" altLang="en-US">
                <a:effectLst>
                  <a:outerShdw blurRad="38100" dist="38100" dir="2700000" algn="tl">
                    <a:srgbClr val="C0C0C0"/>
                  </a:outerShdw>
                </a:effectLst>
                <a:ea typeface="黑体" panose="02010609060101010101" pitchFamily="49" charset="-122"/>
              </a:rPr>
              <a:t>电路板排列问题</a:t>
            </a:r>
            <a:endParaRPr lang="zh-CN" altLang="en-US">
              <a:effectLst>
                <a:outerShdw blurRad="38100" dist="38100" dir="2700000" algn="tl">
                  <a:srgbClr val="C0C0C0"/>
                </a:outerShdw>
              </a:effectLst>
              <a:ea typeface="黑体" panose="02010609060101010101" pitchFamily="49" charset="-122"/>
            </a:endParaRPr>
          </a:p>
        </p:txBody>
      </p:sp>
      <p:sp>
        <p:nvSpPr>
          <p:cNvPr id="58371" name="Rectangle 3"/>
          <p:cNvSpPr>
            <a:spLocks noGrp="1" noChangeArrowheads="1"/>
          </p:cNvSpPr>
          <p:nvPr>
            <p:ph type="body" idx="1"/>
          </p:nvPr>
        </p:nvSpPr>
        <p:spPr>
          <a:xfrm>
            <a:off x="457200" y="1719263"/>
            <a:ext cx="8229600" cy="4805362"/>
          </a:xfrm>
        </p:spPr>
        <p:txBody>
          <a:bodyPr/>
          <a:lstStyle/>
          <a:p>
            <a:pPr>
              <a:lnSpc>
                <a:spcPct val="80000"/>
              </a:lnSpc>
            </a:pPr>
            <a:r>
              <a:rPr lang="en-US" altLang="zh-CN" sz="2100"/>
              <a:t>n</a:t>
            </a:r>
            <a:r>
              <a:rPr lang="zh-CN" altLang="en-US" sz="2100"/>
              <a:t>个电路板的每一种排列定义了一种放置方法。令</a:t>
            </a:r>
            <a:r>
              <a:rPr lang="en-US" altLang="zh-CN" sz="2100"/>
              <a:t>B= {b1 , ., bn }</a:t>
            </a:r>
            <a:r>
              <a:rPr lang="zh-CN" altLang="en-US" sz="2100"/>
              <a:t>表示这</a:t>
            </a:r>
            <a:r>
              <a:rPr lang="en-US" altLang="zh-CN" sz="2100"/>
              <a:t>n</a:t>
            </a:r>
            <a:r>
              <a:rPr lang="zh-CN" altLang="en-US" sz="2100"/>
              <a:t>个电路板。</a:t>
            </a:r>
            <a:r>
              <a:rPr lang="en-US" altLang="zh-CN" sz="2100"/>
              <a:t>m</a:t>
            </a:r>
            <a:r>
              <a:rPr lang="zh-CN" altLang="en-US" sz="2100"/>
              <a:t>个网组集合</a:t>
            </a:r>
            <a:r>
              <a:rPr lang="en-US" altLang="zh-CN" sz="2100"/>
              <a:t>L= {N1,., Nm }</a:t>
            </a:r>
            <a:r>
              <a:rPr lang="zh-CN" altLang="en-US" sz="2100"/>
              <a:t>由电路板定义，</a:t>
            </a:r>
            <a:r>
              <a:rPr lang="en-US" altLang="zh-CN" sz="2100"/>
              <a:t>Ni </a:t>
            </a:r>
            <a:r>
              <a:rPr lang="zh-CN" altLang="en-US" sz="2100"/>
              <a:t>是</a:t>
            </a:r>
            <a:r>
              <a:rPr lang="en-US" altLang="zh-CN" sz="2100"/>
              <a:t>B</a:t>
            </a:r>
            <a:r>
              <a:rPr lang="zh-CN" altLang="en-US" sz="2100"/>
              <a:t>的子集，子集中的元素需要连接起来。实际中用电线将插有这些电路板的插槽连接起来。</a:t>
            </a:r>
            <a:endParaRPr lang="zh-CN" altLang="en-US" sz="2100"/>
          </a:p>
          <a:p>
            <a:pPr>
              <a:lnSpc>
                <a:spcPct val="80000"/>
              </a:lnSpc>
            </a:pPr>
            <a:r>
              <a:rPr lang="zh-CN" altLang="en-US" sz="2100"/>
              <a:t>例  令</a:t>
            </a:r>
            <a:r>
              <a:rPr lang="en-US" altLang="zh-CN" sz="2100"/>
              <a:t>n=8, m= 5</a:t>
            </a:r>
            <a:r>
              <a:rPr lang="zh-CN" altLang="en-US" sz="2100"/>
              <a:t>。集合</a:t>
            </a:r>
            <a:r>
              <a:rPr lang="en-US" altLang="zh-CN" sz="2100"/>
              <a:t>B</a:t>
            </a:r>
            <a:r>
              <a:rPr lang="zh-CN" altLang="en-US" sz="2100"/>
              <a:t>和</a:t>
            </a:r>
            <a:r>
              <a:rPr lang="en-US" altLang="zh-CN" sz="2100"/>
              <a:t>L</a:t>
            </a:r>
            <a:r>
              <a:rPr lang="zh-CN" altLang="en-US" sz="2100"/>
              <a:t>如下：</a:t>
            </a:r>
            <a:endParaRPr lang="zh-CN" altLang="en-US" sz="2100"/>
          </a:p>
          <a:p>
            <a:pPr lvl="1">
              <a:lnSpc>
                <a:spcPct val="80000"/>
              </a:lnSpc>
              <a:buFont typeface="Wingdings" panose="05000000000000000000" pitchFamily="2" charset="2"/>
              <a:buNone/>
            </a:pPr>
            <a:r>
              <a:rPr lang="en-US" altLang="zh-CN" sz="2000"/>
              <a:t>B= {b1, b2, b3, b4, b5, b6, b7, b8 }</a:t>
            </a:r>
            <a:endParaRPr lang="en-US" altLang="zh-CN" sz="2000"/>
          </a:p>
          <a:p>
            <a:pPr lvl="1">
              <a:lnSpc>
                <a:spcPct val="80000"/>
              </a:lnSpc>
              <a:buFont typeface="Wingdings" panose="05000000000000000000" pitchFamily="2" charset="2"/>
              <a:buNone/>
            </a:pPr>
            <a:r>
              <a:rPr lang="en-US" altLang="zh-CN" sz="2000"/>
              <a:t>L= {N1, N2, N3, N4, N5 }</a:t>
            </a:r>
            <a:endParaRPr lang="en-US" altLang="zh-CN" sz="2000"/>
          </a:p>
          <a:p>
            <a:pPr lvl="1">
              <a:lnSpc>
                <a:spcPct val="80000"/>
              </a:lnSpc>
              <a:buFont typeface="Wingdings" panose="05000000000000000000" pitchFamily="2" charset="2"/>
              <a:buNone/>
            </a:pPr>
            <a:r>
              <a:rPr lang="en-US" altLang="zh-CN" sz="2000"/>
              <a:t>N1 = {b4, b5, b6 }</a:t>
            </a:r>
            <a:endParaRPr lang="en-US" altLang="zh-CN" sz="2000"/>
          </a:p>
          <a:p>
            <a:pPr lvl="1">
              <a:lnSpc>
                <a:spcPct val="80000"/>
              </a:lnSpc>
              <a:buFont typeface="Wingdings" panose="05000000000000000000" pitchFamily="2" charset="2"/>
              <a:buNone/>
            </a:pPr>
            <a:r>
              <a:rPr lang="en-US" altLang="zh-CN" sz="2000"/>
              <a:t>N2 = {b2, b3 }</a:t>
            </a:r>
            <a:endParaRPr lang="en-US" altLang="zh-CN" sz="2000"/>
          </a:p>
          <a:p>
            <a:pPr lvl="1">
              <a:lnSpc>
                <a:spcPct val="80000"/>
              </a:lnSpc>
              <a:buFont typeface="Wingdings" panose="05000000000000000000" pitchFamily="2" charset="2"/>
              <a:buNone/>
            </a:pPr>
            <a:r>
              <a:rPr lang="en-US" altLang="zh-CN" sz="2000"/>
              <a:t>N3 = {b1, b3 }</a:t>
            </a:r>
            <a:endParaRPr lang="en-US" altLang="zh-CN" sz="2000"/>
          </a:p>
          <a:p>
            <a:pPr lvl="1">
              <a:lnSpc>
                <a:spcPct val="80000"/>
              </a:lnSpc>
              <a:buFont typeface="Wingdings" panose="05000000000000000000" pitchFamily="2" charset="2"/>
              <a:buNone/>
            </a:pPr>
            <a:r>
              <a:rPr lang="en-US" altLang="zh-CN" sz="2000"/>
              <a:t>N4 = {b3, b6 }</a:t>
            </a:r>
            <a:endParaRPr lang="en-US" altLang="zh-CN" sz="2000"/>
          </a:p>
          <a:p>
            <a:pPr lvl="1">
              <a:lnSpc>
                <a:spcPct val="80000"/>
              </a:lnSpc>
              <a:buFont typeface="Wingdings" panose="05000000000000000000" pitchFamily="2" charset="2"/>
              <a:buNone/>
            </a:pPr>
            <a:r>
              <a:rPr lang="en-US" altLang="zh-CN" sz="2000"/>
              <a:t>N5 = {b7, b8 }</a:t>
            </a:r>
            <a:endParaRPr lang="en-US" altLang="zh-CN" sz="2000"/>
          </a:p>
          <a:p>
            <a:pPr>
              <a:lnSpc>
                <a:spcPct val="80000"/>
              </a:lnSpc>
            </a:pPr>
            <a:r>
              <a:rPr lang="zh-CN" altLang="en-US" sz="2100"/>
              <a:t>令</a:t>
            </a:r>
            <a:r>
              <a:rPr lang="en-US" altLang="zh-CN" sz="2100"/>
              <a:t>x </a:t>
            </a:r>
            <a:r>
              <a:rPr lang="zh-CN" altLang="en-US" sz="2100"/>
              <a:t>为电路板的一个排列。电路板</a:t>
            </a:r>
            <a:r>
              <a:rPr lang="en-US" altLang="zh-CN" sz="2100"/>
              <a:t>xi </a:t>
            </a:r>
            <a:r>
              <a:rPr lang="zh-CN" altLang="en-US" sz="2100"/>
              <a:t>被放置到机箱的插槽</a:t>
            </a:r>
            <a:r>
              <a:rPr lang="en-US" altLang="zh-CN" sz="2100"/>
              <a:t>i </a:t>
            </a:r>
            <a:r>
              <a:rPr lang="zh-CN" altLang="en-US" sz="2100"/>
              <a:t>中。</a:t>
            </a:r>
            <a:r>
              <a:rPr lang="en-US" altLang="zh-CN" sz="2100"/>
              <a:t>density(x) </a:t>
            </a:r>
            <a:r>
              <a:rPr lang="zh-CN" altLang="en-US" sz="2100"/>
              <a:t>为机箱中任意一对相邻插槽间所连电线数目中的最大值</a:t>
            </a:r>
            <a:endParaRPr lang="zh-CN" altLang="en-US" sz="2100"/>
          </a:p>
          <a:p>
            <a:pPr>
              <a:lnSpc>
                <a:spcPct val="80000"/>
              </a:lnSpc>
            </a:pPr>
            <a:r>
              <a:rPr lang="zh-CN" altLang="en-US" sz="2100"/>
              <a:t>电路板排列问题的目标是找到一种电路板的排列方式，使其有最小的</a:t>
            </a:r>
            <a:r>
              <a:rPr lang="en-US" altLang="zh-CN" sz="2100"/>
              <a:t>density</a:t>
            </a:r>
            <a:r>
              <a:rPr lang="zh-CN" altLang="en-US" sz="2100"/>
              <a:t>。  </a:t>
            </a:r>
            <a:endParaRPr lang="zh-CN" altLang="en-US" sz="2100"/>
          </a:p>
          <a:p>
            <a:pPr>
              <a:lnSpc>
                <a:spcPct val="80000"/>
              </a:lnSpc>
            </a:pPr>
            <a:endParaRPr lang="en-US" altLang="zh-CN" sz="210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ctrTitle"/>
          </p:nvPr>
        </p:nvSpPr>
        <p:spPr/>
        <p:txBody>
          <a:bodyPr/>
          <a:lstStyle/>
          <a:p>
            <a:r>
              <a:rPr lang="zh-CN" altLang="en-US">
                <a:effectLst>
                  <a:outerShdw blurRad="38100" dist="38100" dir="2700000" algn="tl">
                    <a:srgbClr val="C0C0C0"/>
                  </a:outerShdw>
                </a:effectLst>
                <a:ea typeface="黑体" panose="02010609060101010101" pitchFamily="49" charset="-122"/>
              </a:rPr>
              <a:t>连续邮资问题</a:t>
            </a:r>
            <a:endParaRPr lang="zh-CN" altLang="en-US">
              <a:effectLst>
                <a:outerShdw blurRad="38100" dist="38100" dir="2700000" algn="tl">
                  <a:srgbClr val="C0C0C0"/>
                </a:outerShdw>
              </a:effectLst>
              <a:ea typeface="黑体" panose="02010609060101010101" pitchFamily="49" charset="-122"/>
            </a:endParaRPr>
          </a:p>
        </p:txBody>
      </p:sp>
      <p:sp>
        <p:nvSpPr>
          <p:cNvPr id="48131" name="Rectangle 3"/>
          <p:cNvSpPr>
            <a:spLocks noGrp="1" noChangeArrowheads="1"/>
          </p:cNvSpPr>
          <p:nvPr>
            <p:ph type="subTitle" idx="1"/>
          </p:nvPr>
        </p:nvSpPr>
        <p:spPr/>
        <p:txBody>
          <a:bodyPr/>
          <a:lstStyle/>
          <a:p>
            <a:endParaRPr lang="zh-CN" altLang="zh-CN"/>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611188"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3900" b="1">
                <a:solidFill>
                  <a:schemeClr val="tx2"/>
                </a:solidFill>
                <a:effectLst>
                  <a:outerShdw blurRad="38100" dist="38100" dir="2700000" algn="tl">
                    <a:srgbClr val="C0C0C0"/>
                  </a:outerShdw>
                </a:effectLst>
                <a:ea typeface="黑体" panose="02010609060101010101" pitchFamily="49" charset="-122"/>
              </a:rPr>
              <a:t>连续邮资问题</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sp>
        <p:nvSpPr>
          <p:cNvPr id="19459" name="Text Box 3"/>
          <p:cNvSpPr txBox="1">
            <a:spLocks noChangeArrowheads="1"/>
          </p:cNvSpPr>
          <p:nvPr/>
        </p:nvSpPr>
        <p:spPr bwMode="auto">
          <a:xfrm>
            <a:off x="179388" y="908050"/>
            <a:ext cx="8589962"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800">
                <a:latin typeface="黑体" panose="02010609060101010101" pitchFamily="49" charset="-122"/>
                <a:ea typeface="黑体" panose="02010609060101010101" pitchFamily="49" charset="-122"/>
              </a:rPr>
              <a:t>假设国家发行了</a:t>
            </a:r>
            <a:r>
              <a:rPr lang="en-US" altLang="zh-CN" sz="2800">
                <a:latin typeface="黑体" panose="02010609060101010101" pitchFamily="49" charset="-122"/>
                <a:ea typeface="黑体" panose="02010609060101010101" pitchFamily="49" charset="-122"/>
              </a:rPr>
              <a:t>n</a:t>
            </a:r>
            <a:r>
              <a:rPr lang="zh-CN" altLang="en-US" sz="2800">
                <a:latin typeface="黑体" panose="02010609060101010101" pitchFamily="49" charset="-122"/>
                <a:ea typeface="黑体" panose="02010609060101010101" pitchFamily="49" charset="-122"/>
              </a:rPr>
              <a:t>种不同面值的邮票，并且规定每张信封上最多只允许贴</a:t>
            </a:r>
            <a:r>
              <a:rPr lang="en-US" altLang="zh-CN" sz="2800">
                <a:latin typeface="黑体" panose="02010609060101010101" pitchFamily="49" charset="-122"/>
                <a:ea typeface="黑体" panose="02010609060101010101" pitchFamily="49" charset="-122"/>
              </a:rPr>
              <a:t>m</a:t>
            </a:r>
            <a:r>
              <a:rPr lang="zh-CN" altLang="en-US" sz="2800">
                <a:latin typeface="黑体" panose="02010609060101010101" pitchFamily="49" charset="-122"/>
                <a:ea typeface="黑体" panose="02010609060101010101" pitchFamily="49" charset="-122"/>
              </a:rPr>
              <a:t>张邮票。连续邮资问题要求对于给定的</a:t>
            </a:r>
            <a:r>
              <a:rPr lang="en-US" altLang="zh-CN" sz="2800">
                <a:latin typeface="黑体" panose="02010609060101010101" pitchFamily="49" charset="-122"/>
                <a:ea typeface="黑体" panose="02010609060101010101" pitchFamily="49" charset="-122"/>
              </a:rPr>
              <a:t>n</a:t>
            </a:r>
            <a:r>
              <a:rPr lang="zh-CN" altLang="en-US" sz="2800">
                <a:latin typeface="黑体" panose="02010609060101010101" pitchFamily="49" charset="-122"/>
                <a:ea typeface="黑体" panose="02010609060101010101" pitchFamily="49" charset="-122"/>
              </a:rPr>
              <a:t>和</a:t>
            </a:r>
            <a:r>
              <a:rPr lang="en-US" altLang="zh-CN" sz="2800">
                <a:latin typeface="黑体" panose="02010609060101010101" pitchFamily="49" charset="-122"/>
                <a:ea typeface="黑体" panose="02010609060101010101" pitchFamily="49" charset="-122"/>
              </a:rPr>
              <a:t>m</a:t>
            </a:r>
            <a:r>
              <a:rPr lang="zh-CN" altLang="en-US" sz="2800">
                <a:latin typeface="黑体" panose="02010609060101010101" pitchFamily="49" charset="-122"/>
                <a:ea typeface="黑体" panose="02010609060101010101" pitchFamily="49" charset="-122"/>
              </a:rPr>
              <a:t>的值，给出邮票面值的最佳设计，在</a:t>
            </a:r>
            <a:r>
              <a:rPr lang="en-US" altLang="zh-CN" sz="2800">
                <a:latin typeface="黑体" panose="02010609060101010101" pitchFamily="49" charset="-122"/>
                <a:ea typeface="黑体" panose="02010609060101010101" pitchFamily="49" charset="-122"/>
              </a:rPr>
              <a:t>1</a:t>
            </a:r>
            <a:r>
              <a:rPr lang="zh-CN" altLang="en-US" sz="2800">
                <a:latin typeface="黑体" panose="02010609060101010101" pitchFamily="49" charset="-122"/>
                <a:ea typeface="黑体" panose="02010609060101010101" pitchFamily="49" charset="-122"/>
              </a:rPr>
              <a:t>张信封上可贴出从邮资</a:t>
            </a:r>
            <a:r>
              <a:rPr lang="en-US" altLang="zh-CN" sz="2800">
                <a:latin typeface="黑体" panose="02010609060101010101" pitchFamily="49" charset="-122"/>
                <a:ea typeface="黑体" panose="02010609060101010101" pitchFamily="49" charset="-122"/>
              </a:rPr>
              <a:t>1</a:t>
            </a:r>
            <a:r>
              <a:rPr lang="zh-CN" altLang="en-US" sz="2800">
                <a:latin typeface="黑体" panose="02010609060101010101" pitchFamily="49" charset="-122"/>
                <a:ea typeface="黑体" panose="02010609060101010101" pitchFamily="49" charset="-122"/>
              </a:rPr>
              <a:t>开始，增量为</a:t>
            </a:r>
            <a:r>
              <a:rPr lang="en-US" altLang="zh-CN" sz="2800">
                <a:latin typeface="黑体" panose="02010609060101010101" pitchFamily="49" charset="-122"/>
                <a:ea typeface="黑体" panose="02010609060101010101" pitchFamily="49" charset="-122"/>
              </a:rPr>
              <a:t>1</a:t>
            </a:r>
            <a:r>
              <a:rPr lang="zh-CN" altLang="en-US" sz="2800">
                <a:latin typeface="黑体" panose="02010609060101010101" pitchFamily="49" charset="-122"/>
                <a:ea typeface="黑体" panose="02010609060101010101" pitchFamily="49" charset="-122"/>
              </a:rPr>
              <a:t>的最大连续邮资区间。</a:t>
            </a:r>
            <a:endParaRPr lang="zh-CN" altLang="en-US" sz="2800">
              <a:latin typeface="黑体" panose="02010609060101010101" pitchFamily="49" charset="-122"/>
              <a:ea typeface="黑体" panose="02010609060101010101" pitchFamily="49" charset="-122"/>
            </a:endParaRPr>
          </a:p>
        </p:txBody>
      </p:sp>
      <p:sp>
        <p:nvSpPr>
          <p:cNvPr id="19460" name="Text Box 4"/>
          <p:cNvSpPr txBox="1">
            <a:spLocks noChangeArrowheads="1"/>
          </p:cNvSpPr>
          <p:nvPr/>
        </p:nvSpPr>
        <p:spPr bwMode="auto">
          <a:xfrm>
            <a:off x="250825" y="3500438"/>
            <a:ext cx="8516938" cy="946150"/>
          </a:xfrm>
          <a:prstGeom prst="rect">
            <a:avLst/>
          </a:prstGeom>
          <a:solidFill>
            <a:srgbClr val="FFCC00"/>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800">
                <a:ea typeface="新宋体" panose="02010609030101010101" charset="-122"/>
              </a:rPr>
              <a:t>例如，当</a:t>
            </a:r>
            <a:r>
              <a:rPr lang="en-US" altLang="zh-CN" sz="2800">
                <a:ea typeface="新宋体" panose="02010609030101010101" charset="-122"/>
              </a:rPr>
              <a:t>n=5</a:t>
            </a:r>
            <a:r>
              <a:rPr lang="zh-CN" altLang="en-US" sz="2800">
                <a:ea typeface="新宋体" panose="02010609030101010101" charset="-122"/>
              </a:rPr>
              <a:t>和</a:t>
            </a:r>
            <a:r>
              <a:rPr lang="en-US" altLang="zh-CN" sz="2800">
                <a:ea typeface="新宋体" panose="02010609030101010101" charset="-122"/>
              </a:rPr>
              <a:t>m=4</a:t>
            </a:r>
            <a:r>
              <a:rPr lang="zh-CN" altLang="en-US" sz="2800">
                <a:ea typeface="新宋体" panose="02010609030101010101" charset="-122"/>
              </a:rPr>
              <a:t>时，面值为</a:t>
            </a:r>
            <a:r>
              <a:rPr lang="en-US" altLang="zh-CN" sz="2800">
                <a:ea typeface="新宋体" panose="02010609030101010101" charset="-122"/>
              </a:rPr>
              <a:t>(1,3,11,15,32)</a:t>
            </a:r>
            <a:r>
              <a:rPr lang="zh-CN" altLang="en-US" sz="2800">
                <a:ea typeface="新宋体" panose="02010609030101010101" charset="-122"/>
              </a:rPr>
              <a:t>的</a:t>
            </a:r>
            <a:r>
              <a:rPr lang="en-US" altLang="zh-CN" sz="2800">
                <a:ea typeface="新宋体" panose="02010609030101010101" charset="-122"/>
              </a:rPr>
              <a:t>5</a:t>
            </a:r>
            <a:r>
              <a:rPr lang="zh-CN" altLang="en-US" sz="2800">
                <a:ea typeface="新宋体" panose="02010609030101010101" charset="-122"/>
              </a:rPr>
              <a:t>种邮票可以贴出邮资的最大连续邮资区间是</a:t>
            </a:r>
            <a:r>
              <a:rPr lang="en-US" altLang="zh-CN" sz="2800">
                <a:ea typeface="新宋体" panose="02010609030101010101" charset="-122"/>
              </a:rPr>
              <a:t>1</a:t>
            </a:r>
            <a:r>
              <a:rPr lang="zh-CN" altLang="en-US" sz="2800">
                <a:ea typeface="新宋体" panose="02010609030101010101" charset="-122"/>
              </a:rPr>
              <a:t>到</a:t>
            </a:r>
            <a:r>
              <a:rPr lang="en-US" altLang="zh-CN" sz="2800">
                <a:ea typeface="新宋体" panose="02010609030101010101" charset="-122"/>
              </a:rPr>
              <a:t>70</a:t>
            </a:r>
            <a:r>
              <a:rPr lang="zh-CN" altLang="en-US" sz="2800">
                <a:ea typeface="新宋体" panose="02010609030101010101" charset="-122"/>
              </a:rPr>
              <a:t>。</a:t>
            </a:r>
            <a:endParaRPr lang="zh-CN" altLang="en-US" sz="2800">
              <a:ea typeface="新宋体" panose="02010609030101010101" charset="-122"/>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611188"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3900" b="1">
                <a:solidFill>
                  <a:schemeClr val="tx2"/>
                </a:solidFill>
                <a:effectLst>
                  <a:outerShdw blurRad="38100" dist="38100" dir="2700000" algn="tl">
                    <a:srgbClr val="C0C0C0"/>
                  </a:outerShdw>
                </a:effectLst>
                <a:ea typeface="黑体" panose="02010609060101010101" pitchFamily="49" charset="-122"/>
              </a:rPr>
              <a:t>连续邮资问题</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sp>
        <p:nvSpPr>
          <p:cNvPr id="20483" name="Text Box 3"/>
          <p:cNvSpPr txBox="1">
            <a:spLocks noChangeArrowheads="1"/>
          </p:cNvSpPr>
          <p:nvPr/>
        </p:nvSpPr>
        <p:spPr bwMode="auto">
          <a:xfrm>
            <a:off x="250825" y="692150"/>
            <a:ext cx="8372475"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FontTx/>
              <a:buChar char="•"/>
            </a:pPr>
            <a:r>
              <a:rPr lang="zh-CN" altLang="en-US" sz="2400">
                <a:ea typeface="新宋体" panose="02010609030101010101" charset="-122"/>
              </a:rPr>
              <a:t>解向量：用</a:t>
            </a:r>
            <a:r>
              <a:rPr lang="en-US" altLang="zh-CN" sz="2400">
                <a:ea typeface="新宋体" panose="02010609030101010101" charset="-122"/>
              </a:rPr>
              <a:t>n</a:t>
            </a:r>
            <a:r>
              <a:rPr lang="zh-CN" altLang="en-US" sz="2400">
                <a:ea typeface="新宋体" panose="02010609030101010101" charset="-122"/>
              </a:rPr>
              <a:t>元组</a:t>
            </a:r>
            <a:r>
              <a:rPr lang="en-US" altLang="zh-CN" sz="2400">
                <a:ea typeface="新宋体" panose="02010609030101010101" charset="-122"/>
              </a:rPr>
              <a:t>x[1:n]</a:t>
            </a:r>
            <a:r>
              <a:rPr lang="zh-CN" altLang="en-US" sz="2400">
                <a:ea typeface="新宋体" panose="02010609030101010101" charset="-122"/>
              </a:rPr>
              <a:t>表示</a:t>
            </a:r>
            <a:r>
              <a:rPr lang="en-US" altLang="zh-CN" sz="2400">
                <a:ea typeface="新宋体" panose="02010609030101010101" charset="-122"/>
              </a:rPr>
              <a:t>n</a:t>
            </a:r>
            <a:r>
              <a:rPr lang="zh-CN" altLang="en-US" sz="2400">
                <a:ea typeface="新宋体" panose="02010609030101010101" charset="-122"/>
              </a:rPr>
              <a:t>种不同的邮票面值，并约定它们从小到大排列。</a:t>
            </a:r>
            <a:r>
              <a:rPr lang="en-US" altLang="zh-CN" sz="2400">
                <a:ea typeface="新宋体" panose="02010609030101010101" charset="-122"/>
              </a:rPr>
              <a:t>x[1]=1</a:t>
            </a:r>
            <a:r>
              <a:rPr lang="zh-CN" altLang="en-US" sz="2400">
                <a:ea typeface="新宋体" panose="02010609030101010101" charset="-122"/>
              </a:rPr>
              <a:t>是唯一的选择。</a:t>
            </a:r>
            <a:endParaRPr lang="zh-CN" altLang="en-US" sz="2400">
              <a:ea typeface="新宋体" panose="02010609030101010101" charset="-122"/>
            </a:endParaRPr>
          </a:p>
          <a:p>
            <a:pPr>
              <a:buClr>
                <a:schemeClr val="accent2"/>
              </a:buClr>
              <a:buFontTx/>
              <a:buChar char="•"/>
            </a:pPr>
            <a:r>
              <a:rPr lang="zh-CN" altLang="en-US" sz="2400">
                <a:ea typeface="新宋体" panose="02010609030101010101" charset="-122"/>
              </a:rPr>
              <a:t>可行性约束函数：已选定</a:t>
            </a:r>
            <a:r>
              <a:rPr lang="en-US" altLang="zh-CN" sz="2400">
                <a:ea typeface="新宋体" panose="02010609030101010101" charset="-122"/>
              </a:rPr>
              <a:t>x[1:i-1]</a:t>
            </a:r>
            <a:r>
              <a:rPr lang="zh-CN" altLang="en-US" sz="2400">
                <a:ea typeface="新宋体" panose="02010609030101010101" charset="-122"/>
              </a:rPr>
              <a:t>，最大连续邮资区间是</a:t>
            </a:r>
            <a:r>
              <a:rPr lang="en-US" altLang="zh-CN" sz="2400">
                <a:ea typeface="新宋体" panose="02010609030101010101" charset="-122"/>
              </a:rPr>
              <a:t>[1:r]</a:t>
            </a:r>
            <a:r>
              <a:rPr lang="zh-CN" altLang="en-US" sz="2400">
                <a:ea typeface="新宋体" panose="02010609030101010101" charset="-122"/>
              </a:rPr>
              <a:t>，接下来</a:t>
            </a:r>
            <a:r>
              <a:rPr lang="en-US" altLang="zh-CN" sz="2400">
                <a:ea typeface="新宋体" panose="02010609030101010101" charset="-122"/>
              </a:rPr>
              <a:t>x[i]</a:t>
            </a:r>
            <a:r>
              <a:rPr lang="zh-CN" altLang="en-US" sz="2400">
                <a:ea typeface="新宋体" panose="02010609030101010101" charset="-122"/>
              </a:rPr>
              <a:t>的可取值范围是</a:t>
            </a:r>
            <a:r>
              <a:rPr lang="en-US" altLang="zh-CN" sz="2400">
                <a:ea typeface="新宋体" panose="02010609030101010101" charset="-122"/>
              </a:rPr>
              <a:t>[x[i-1]+1:r+1]</a:t>
            </a:r>
            <a:r>
              <a:rPr lang="zh-CN" altLang="en-US" sz="2400">
                <a:ea typeface="新宋体" panose="02010609030101010101" charset="-122"/>
              </a:rPr>
              <a:t>。</a:t>
            </a:r>
            <a:endParaRPr lang="zh-CN" altLang="en-US" sz="2400">
              <a:ea typeface="新宋体" panose="02010609030101010101" charset="-122"/>
            </a:endParaRPr>
          </a:p>
        </p:txBody>
      </p:sp>
      <p:sp>
        <p:nvSpPr>
          <p:cNvPr id="20484" name="Text Box 4"/>
          <p:cNvSpPr txBox="1">
            <a:spLocks noChangeArrowheads="1"/>
          </p:cNvSpPr>
          <p:nvPr/>
        </p:nvSpPr>
        <p:spPr bwMode="auto">
          <a:xfrm>
            <a:off x="250825" y="2349500"/>
            <a:ext cx="8516938" cy="4108450"/>
          </a:xfrm>
          <a:prstGeom prst="rect">
            <a:avLst/>
          </a:prstGeom>
          <a:solidFill>
            <a:srgbClr val="FFCC00"/>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latin typeface="黑体" panose="02010609060101010101" pitchFamily="49" charset="-122"/>
                <a:ea typeface="黑体" panose="02010609060101010101" pitchFamily="49" charset="-122"/>
              </a:rPr>
              <a:t>如何确定</a:t>
            </a:r>
            <a:r>
              <a:rPr lang="en-US" altLang="zh-CN" sz="2400">
                <a:latin typeface="黑体" panose="02010609060101010101" pitchFamily="49" charset="-122"/>
                <a:ea typeface="黑体" panose="02010609060101010101" pitchFamily="49" charset="-122"/>
              </a:rPr>
              <a:t>r</a:t>
            </a:r>
            <a:r>
              <a:rPr lang="zh-CN" altLang="en-US" sz="2400">
                <a:latin typeface="黑体" panose="02010609060101010101" pitchFamily="49" charset="-122"/>
                <a:ea typeface="黑体" panose="02010609060101010101" pitchFamily="49" charset="-122"/>
              </a:rPr>
              <a:t>的值？</a:t>
            </a:r>
            <a:endParaRPr lang="zh-CN" altLang="en-US" sz="2400">
              <a:latin typeface="黑体" panose="02010609060101010101" pitchFamily="49" charset="-122"/>
              <a:ea typeface="黑体" panose="02010609060101010101" pitchFamily="49" charset="-122"/>
            </a:endParaRPr>
          </a:p>
          <a:p>
            <a:r>
              <a:rPr lang="zh-CN" altLang="en-US" sz="2400">
                <a:ea typeface="新宋体" panose="02010609030101010101" charset="-122"/>
              </a:rPr>
              <a:t>计算</a:t>
            </a:r>
            <a:r>
              <a:rPr lang="en-US" altLang="zh-CN" sz="2400">
                <a:ea typeface="新宋体" panose="02010609030101010101" charset="-122"/>
              </a:rPr>
              <a:t>X[1:i]</a:t>
            </a:r>
            <a:r>
              <a:rPr lang="zh-CN" altLang="en-US" sz="2400">
                <a:ea typeface="新宋体" panose="02010609030101010101" charset="-122"/>
              </a:rPr>
              <a:t>的最大连续邮资区间在本算法中被频繁使用到，因此势必要找到一个高效的方法。考虑到直接递归的求解复杂度太高，我们不妨尝试计算用不超过</a:t>
            </a:r>
            <a:r>
              <a:rPr lang="en-US" altLang="zh-CN" sz="2400">
                <a:ea typeface="新宋体" panose="02010609030101010101" charset="-122"/>
              </a:rPr>
              <a:t>m</a:t>
            </a:r>
            <a:r>
              <a:rPr lang="zh-CN" altLang="en-US" sz="2400">
                <a:ea typeface="新宋体" panose="02010609030101010101" charset="-122"/>
              </a:rPr>
              <a:t>张面值为</a:t>
            </a:r>
            <a:r>
              <a:rPr lang="en-US" altLang="zh-CN" sz="2400">
                <a:ea typeface="新宋体" panose="02010609030101010101" charset="-122"/>
              </a:rPr>
              <a:t>x[1:i]</a:t>
            </a:r>
            <a:r>
              <a:rPr lang="zh-CN" altLang="en-US" sz="2400">
                <a:ea typeface="新宋体" panose="02010609030101010101" charset="-122"/>
              </a:rPr>
              <a:t>的邮票贴出邮资</a:t>
            </a:r>
            <a:r>
              <a:rPr lang="en-US" altLang="zh-CN" sz="2400">
                <a:ea typeface="新宋体" panose="02010609030101010101" charset="-122"/>
              </a:rPr>
              <a:t>k</a:t>
            </a:r>
            <a:r>
              <a:rPr lang="zh-CN" altLang="en-US" sz="2400">
                <a:ea typeface="新宋体" panose="02010609030101010101" charset="-122"/>
              </a:rPr>
              <a:t>所需的最少邮票数</a:t>
            </a:r>
            <a:r>
              <a:rPr lang="en-US" altLang="zh-CN" sz="2400">
                <a:ea typeface="新宋体" panose="02010609030101010101" charset="-122"/>
              </a:rPr>
              <a:t>y[k]</a:t>
            </a:r>
            <a:r>
              <a:rPr lang="zh-CN" altLang="en-US" sz="2400">
                <a:ea typeface="新宋体" panose="02010609030101010101" charset="-122"/>
              </a:rPr>
              <a:t>。通过</a:t>
            </a:r>
            <a:r>
              <a:rPr lang="en-US" altLang="zh-CN" sz="2400">
                <a:ea typeface="新宋体" panose="02010609030101010101" charset="-122"/>
              </a:rPr>
              <a:t>y[k]</a:t>
            </a:r>
            <a:r>
              <a:rPr lang="zh-CN" altLang="en-US" sz="2400">
                <a:ea typeface="新宋体" panose="02010609030101010101" charset="-122"/>
              </a:rPr>
              <a:t>可以很快推出</a:t>
            </a:r>
            <a:r>
              <a:rPr lang="en-US" altLang="zh-CN" sz="2400">
                <a:ea typeface="新宋体" panose="02010609030101010101" charset="-122"/>
              </a:rPr>
              <a:t>r</a:t>
            </a:r>
            <a:r>
              <a:rPr lang="zh-CN" altLang="en-US" sz="2400">
                <a:ea typeface="新宋体" panose="02010609030101010101" charset="-122"/>
              </a:rPr>
              <a:t>的值。事实上，</a:t>
            </a:r>
            <a:r>
              <a:rPr lang="en-US" altLang="zh-CN" sz="2400">
                <a:ea typeface="新宋体" panose="02010609030101010101" charset="-122"/>
              </a:rPr>
              <a:t>y[k]</a:t>
            </a:r>
            <a:r>
              <a:rPr lang="zh-CN" altLang="en-US" sz="2400">
                <a:ea typeface="新宋体" panose="02010609030101010101" charset="-122"/>
              </a:rPr>
              <a:t>可以通过递推在</a:t>
            </a:r>
            <a:r>
              <a:rPr lang="en-US" altLang="zh-CN" sz="2400">
                <a:ea typeface="新宋体" panose="02010609030101010101" charset="-122"/>
              </a:rPr>
              <a:t>O(n)</a:t>
            </a:r>
            <a:r>
              <a:rPr lang="zh-CN" altLang="en-US" sz="2400">
                <a:ea typeface="新宋体" panose="02010609030101010101" charset="-122"/>
              </a:rPr>
              <a:t>时间内解决：</a:t>
            </a:r>
            <a:endParaRPr lang="zh-CN" altLang="en-US" sz="2400">
              <a:ea typeface="新宋体" panose="02010609030101010101" charset="-122"/>
            </a:endParaRPr>
          </a:p>
          <a:p>
            <a:r>
              <a:rPr lang="en-US" altLang="zh-CN" sz="2400" b="1">
                <a:ea typeface="新宋体" panose="02010609030101010101" charset="-122"/>
              </a:rPr>
              <a:t>for</a:t>
            </a:r>
            <a:r>
              <a:rPr lang="en-US" altLang="zh-CN" sz="2400">
                <a:ea typeface="新宋体" panose="02010609030101010101" charset="-122"/>
              </a:rPr>
              <a:t> (int j=0; j&lt;= x[i-2]*(m-1);j++)</a:t>
            </a:r>
            <a:endParaRPr lang="en-US" altLang="zh-CN" sz="2400">
              <a:ea typeface="新宋体" panose="02010609030101010101" charset="-122"/>
            </a:endParaRPr>
          </a:p>
          <a:p>
            <a:r>
              <a:rPr lang="en-US" altLang="zh-CN" sz="2400">
                <a:ea typeface="新宋体" panose="02010609030101010101" charset="-122"/>
              </a:rPr>
              <a:t>        </a:t>
            </a:r>
            <a:r>
              <a:rPr lang="en-US" altLang="zh-CN" sz="2400" b="1">
                <a:ea typeface="新宋体" panose="02010609030101010101" charset="-122"/>
              </a:rPr>
              <a:t>if</a:t>
            </a:r>
            <a:r>
              <a:rPr lang="en-US" altLang="zh-CN" sz="2400">
                <a:ea typeface="新宋体" panose="02010609030101010101" charset="-122"/>
              </a:rPr>
              <a:t> (y[j]&lt;m)</a:t>
            </a:r>
            <a:endParaRPr lang="en-US" altLang="zh-CN" sz="2400">
              <a:ea typeface="新宋体" panose="02010609030101010101" charset="-122"/>
            </a:endParaRPr>
          </a:p>
          <a:p>
            <a:r>
              <a:rPr lang="en-US" altLang="zh-CN" sz="2400">
                <a:ea typeface="新宋体" panose="02010609030101010101" charset="-122"/>
              </a:rPr>
              <a:t>          </a:t>
            </a:r>
            <a:r>
              <a:rPr lang="en-US" altLang="zh-CN" sz="2400" b="1">
                <a:ea typeface="新宋体" panose="02010609030101010101" charset="-122"/>
              </a:rPr>
              <a:t>for</a:t>
            </a:r>
            <a:r>
              <a:rPr lang="en-US" altLang="zh-CN" sz="2400">
                <a:ea typeface="新宋体" panose="02010609030101010101" charset="-122"/>
              </a:rPr>
              <a:t> (int k=1;k&lt;=m-y[j];k++)</a:t>
            </a:r>
            <a:endParaRPr lang="en-US" altLang="zh-CN" sz="2400">
              <a:ea typeface="新宋体" panose="02010609030101010101" charset="-122"/>
            </a:endParaRPr>
          </a:p>
          <a:p>
            <a:r>
              <a:rPr lang="en-US" altLang="zh-CN" sz="2400">
                <a:ea typeface="新宋体" panose="02010609030101010101" charset="-122"/>
              </a:rPr>
              <a:t>            </a:t>
            </a:r>
            <a:r>
              <a:rPr lang="en-US" altLang="zh-CN" sz="2400" b="1">
                <a:ea typeface="新宋体" panose="02010609030101010101" charset="-122"/>
              </a:rPr>
              <a:t>if</a:t>
            </a:r>
            <a:r>
              <a:rPr lang="en-US" altLang="zh-CN" sz="2400">
                <a:ea typeface="新宋体" panose="02010609030101010101" charset="-122"/>
              </a:rPr>
              <a:t> (y[j]+k&lt;y[j+x[i-1]*k]) y[j+x[i-1]*k]=y[j]+k;</a:t>
            </a:r>
            <a:endParaRPr lang="en-US" altLang="zh-CN" sz="2400">
              <a:ea typeface="新宋体" panose="02010609030101010101" charset="-122"/>
            </a:endParaRPr>
          </a:p>
          <a:p>
            <a:r>
              <a:rPr lang="en-US" altLang="zh-CN" sz="2400">
                <a:ea typeface="新宋体" panose="02010609030101010101" charset="-122"/>
              </a:rPr>
              <a:t>     </a:t>
            </a:r>
            <a:r>
              <a:rPr lang="en-US" altLang="zh-CN" sz="2400" b="1">
                <a:ea typeface="新宋体" panose="02010609030101010101" charset="-122"/>
              </a:rPr>
              <a:t> while </a:t>
            </a:r>
            <a:r>
              <a:rPr lang="en-US" altLang="zh-CN" sz="2400">
                <a:ea typeface="新宋体" panose="02010609030101010101" charset="-122"/>
              </a:rPr>
              <a:t>(y[r]&lt;maxint) r++;</a:t>
            </a:r>
            <a:endParaRPr lang="en-US" altLang="zh-CN" sz="2400">
              <a:ea typeface="新宋体" panose="02010609030101010101" charset="-122"/>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611188"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en-US" sz="3900" b="1">
                <a:solidFill>
                  <a:schemeClr val="tx2"/>
                </a:solidFill>
                <a:effectLst>
                  <a:outerShdw blurRad="38100" dist="38100" dir="2700000" algn="tl">
                    <a:srgbClr val="C0C0C0"/>
                  </a:outerShdw>
                </a:effectLst>
                <a:ea typeface="黑体" panose="02010609060101010101" pitchFamily="49" charset="-122"/>
              </a:rPr>
              <a:t>回溯法效率分析</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sp>
        <p:nvSpPr>
          <p:cNvPr id="21507" name="Text Box 3"/>
          <p:cNvSpPr txBox="1">
            <a:spLocks noChangeArrowheads="1"/>
          </p:cNvSpPr>
          <p:nvPr/>
        </p:nvSpPr>
        <p:spPr bwMode="auto">
          <a:xfrm>
            <a:off x="323850" y="836613"/>
            <a:ext cx="8496300" cy="4789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800">
                <a:ea typeface="新宋体" panose="02010609030101010101" charset="-122"/>
              </a:rPr>
              <a:t>通过前面具体实例的讨论容易看出，回溯算法的效率在很大程度上依赖于以下因素：</a:t>
            </a:r>
            <a:endParaRPr lang="zh-CN" altLang="en-US" sz="2800">
              <a:ea typeface="新宋体" panose="02010609030101010101" charset="-122"/>
            </a:endParaRPr>
          </a:p>
          <a:p>
            <a:r>
              <a:rPr lang="en-US" altLang="zh-CN" sz="2800">
                <a:ea typeface="新宋体" panose="02010609030101010101" charset="-122"/>
              </a:rPr>
              <a:t>(1)</a:t>
            </a:r>
            <a:r>
              <a:rPr lang="zh-CN" altLang="en-US" sz="2800">
                <a:ea typeface="新宋体" panose="02010609030101010101" charset="-122"/>
              </a:rPr>
              <a:t>产生</a:t>
            </a:r>
            <a:r>
              <a:rPr lang="en-US" altLang="zh-CN" sz="2800">
                <a:ea typeface="新宋体" panose="02010609030101010101" charset="-122"/>
              </a:rPr>
              <a:t>x[k]</a:t>
            </a:r>
            <a:r>
              <a:rPr lang="zh-CN" altLang="en-US" sz="2800">
                <a:ea typeface="新宋体" panose="02010609030101010101" charset="-122"/>
              </a:rPr>
              <a:t>的时间；</a:t>
            </a:r>
            <a:endParaRPr lang="zh-CN" altLang="en-US" sz="2800">
              <a:ea typeface="新宋体" panose="02010609030101010101" charset="-122"/>
            </a:endParaRPr>
          </a:p>
          <a:p>
            <a:r>
              <a:rPr lang="en-US" altLang="zh-CN" sz="2800">
                <a:ea typeface="新宋体" panose="02010609030101010101" charset="-122"/>
              </a:rPr>
              <a:t>(2)</a:t>
            </a:r>
            <a:r>
              <a:rPr lang="zh-CN" altLang="en-US" sz="2800">
                <a:ea typeface="新宋体" panose="02010609030101010101" charset="-122"/>
              </a:rPr>
              <a:t>满足显约束的</a:t>
            </a:r>
            <a:r>
              <a:rPr lang="en-US" altLang="zh-CN" sz="2800">
                <a:ea typeface="新宋体" panose="02010609030101010101" charset="-122"/>
              </a:rPr>
              <a:t>x[k]</a:t>
            </a:r>
            <a:r>
              <a:rPr lang="zh-CN" altLang="en-US" sz="2800">
                <a:ea typeface="新宋体" panose="02010609030101010101" charset="-122"/>
              </a:rPr>
              <a:t>值的个数；</a:t>
            </a:r>
            <a:endParaRPr lang="zh-CN" altLang="en-US" sz="2800">
              <a:ea typeface="新宋体" panose="02010609030101010101" charset="-122"/>
            </a:endParaRPr>
          </a:p>
          <a:p>
            <a:r>
              <a:rPr lang="en-US" altLang="zh-CN" sz="2800">
                <a:ea typeface="新宋体" panose="02010609030101010101" charset="-122"/>
              </a:rPr>
              <a:t>(3)</a:t>
            </a:r>
            <a:r>
              <a:rPr lang="zh-CN" altLang="en-US" sz="2800">
                <a:ea typeface="新宋体" panose="02010609030101010101" charset="-122"/>
              </a:rPr>
              <a:t>计算约束函数</a:t>
            </a:r>
            <a:r>
              <a:rPr lang="en-US" altLang="zh-CN" sz="2800" b="1">
                <a:ea typeface="新宋体" panose="02010609030101010101" charset="-122"/>
              </a:rPr>
              <a:t>constraint</a:t>
            </a:r>
            <a:r>
              <a:rPr lang="zh-CN" altLang="en-US" sz="2800">
                <a:ea typeface="新宋体" panose="02010609030101010101" charset="-122"/>
              </a:rPr>
              <a:t>的时间；</a:t>
            </a:r>
            <a:endParaRPr lang="zh-CN" altLang="en-US" sz="2800">
              <a:ea typeface="新宋体" panose="02010609030101010101" charset="-122"/>
            </a:endParaRPr>
          </a:p>
          <a:p>
            <a:r>
              <a:rPr lang="en-US" altLang="zh-CN" sz="2800">
                <a:ea typeface="新宋体" panose="02010609030101010101" charset="-122"/>
              </a:rPr>
              <a:t>(4)</a:t>
            </a:r>
            <a:r>
              <a:rPr lang="zh-CN" altLang="en-US" sz="2800">
                <a:ea typeface="新宋体" panose="02010609030101010101" charset="-122"/>
              </a:rPr>
              <a:t>计算上界函数</a:t>
            </a:r>
            <a:r>
              <a:rPr lang="en-US" altLang="zh-CN" sz="2800" b="1">
                <a:ea typeface="新宋体" panose="02010609030101010101" charset="-122"/>
              </a:rPr>
              <a:t>bound</a:t>
            </a:r>
            <a:r>
              <a:rPr lang="zh-CN" altLang="en-US" sz="2800">
                <a:ea typeface="新宋体" panose="02010609030101010101" charset="-122"/>
              </a:rPr>
              <a:t>的时间；</a:t>
            </a:r>
            <a:endParaRPr lang="zh-CN" altLang="en-US" sz="2800">
              <a:ea typeface="新宋体" panose="02010609030101010101" charset="-122"/>
            </a:endParaRPr>
          </a:p>
          <a:p>
            <a:r>
              <a:rPr lang="en-US" altLang="zh-CN" sz="2800">
                <a:ea typeface="新宋体" panose="02010609030101010101" charset="-122"/>
              </a:rPr>
              <a:t>(5)</a:t>
            </a:r>
            <a:r>
              <a:rPr lang="zh-CN" altLang="en-US" sz="2800">
                <a:ea typeface="新宋体" panose="02010609030101010101" charset="-122"/>
              </a:rPr>
              <a:t>满足约束函数和上界函数约束的所有</a:t>
            </a:r>
            <a:r>
              <a:rPr lang="en-US" altLang="zh-CN" sz="2800">
                <a:ea typeface="新宋体" panose="02010609030101010101" charset="-122"/>
              </a:rPr>
              <a:t>x[k]</a:t>
            </a:r>
            <a:r>
              <a:rPr lang="zh-CN" altLang="en-US" sz="2800">
                <a:ea typeface="新宋体" panose="02010609030101010101" charset="-122"/>
              </a:rPr>
              <a:t>的个数。</a:t>
            </a:r>
            <a:endParaRPr lang="zh-CN" altLang="en-US" sz="2800">
              <a:ea typeface="新宋体" panose="02010609030101010101" charset="-122"/>
            </a:endParaRPr>
          </a:p>
          <a:p>
            <a:r>
              <a:rPr lang="zh-CN" altLang="en-US" sz="2800">
                <a:ea typeface="新宋体" panose="02010609030101010101" charset="-122"/>
              </a:rPr>
              <a:t>好的约束函数能显著地减少所生成的结点数。但这样的约束函数往往计算量较大。因此，</a:t>
            </a:r>
            <a:r>
              <a:rPr lang="zh-CN" altLang="en-US" sz="2800">
                <a:ea typeface="黑体" panose="02010609060101010101" pitchFamily="49" charset="-122"/>
              </a:rPr>
              <a:t>在选择约束函数时通常存在生成结点数与约束函数计算量之间的折衷。</a:t>
            </a:r>
            <a:endParaRPr lang="zh-CN" altLang="en-US" sz="2800">
              <a:ea typeface="黑体" panose="02010609060101010101" pitchFamily="49" charset="-122"/>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611188"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en-US" sz="3900" b="1">
                <a:solidFill>
                  <a:schemeClr val="tx2"/>
                </a:solidFill>
                <a:effectLst>
                  <a:outerShdw blurRad="38100" dist="38100" dir="2700000" algn="tl">
                    <a:srgbClr val="C0C0C0"/>
                  </a:outerShdw>
                </a:effectLst>
                <a:ea typeface="黑体" panose="02010609060101010101" pitchFamily="49" charset="-122"/>
              </a:rPr>
              <a:t>重排原理</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sp>
        <p:nvSpPr>
          <p:cNvPr id="22531" name="Text Box 3"/>
          <p:cNvSpPr txBox="1">
            <a:spLocks noChangeArrowheads="1"/>
          </p:cNvSpPr>
          <p:nvPr/>
        </p:nvSpPr>
        <p:spPr bwMode="auto">
          <a:xfrm>
            <a:off x="323850" y="836613"/>
            <a:ext cx="8569325"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对于许多问题而言，在搜索试探时选取</a:t>
            </a:r>
            <a:r>
              <a:rPr lang="en-US" altLang="zh-CN" sz="2400">
                <a:ea typeface="新宋体" panose="02010609030101010101" charset="-122"/>
              </a:rPr>
              <a:t>x[i]</a:t>
            </a:r>
            <a:r>
              <a:rPr lang="zh-CN" altLang="en-US" sz="2400">
                <a:ea typeface="新宋体" panose="02010609030101010101" charset="-122"/>
              </a:rPr>
              <a:t>的值顺序是任意的。</a:t>
            </a:r>
            <a:r>
              <a:rPr lang="zh-CN" altLang="en-US" sz="2400" b="1">
                <a:solidFill>
                  <a:srgbClr val="FF3300"/>
                </a:solidFill>
                <a:ea typeface="黑体" panose="02010609060101010101" pitchFamily="49" charset="-122"/>
              </a:rPr>
              <a:t>在其它条件相当的前提下，让可取值最少的</a:t>
            </a:r>
            <a:r>
              <a:rPr lang="en-US" altLang="zh-CN" sz="2400" b="1">
                <a:solidFill>
                  <a:srgbClr val="FF3300"/>
                </a:solidFill>
                <a:ea typeface="黑体" panose="02010609060101010101" pitchFamily="49" charset="-122"/>
              </a:rPr>
              <a:t>x[i]</a:t>
            </a:r>
            <a:r>
              <a:rPr lang="zh-CN" altLang="en-US" sz="2400" b="1">
                <a:solidFill>
                  <a:srgbClr val="FF3300"/>
                </a:solidFill>
                <a:ea typeface="黑体" panose="02010609060101010101" pitchFamily="49" charset="-122"/>
              </a:rPr>
              <a:t>优先</a:t>
            </a:r>
            <a:r>
              <a:rPr lang="zh-CN" altLang="en-US" sz="2400">
                <a:ea typeface="新宋体" panose="02010609030101010101" charset="-122"/>
              </a:rPr>
              <a:t>。从图中关于同一问题的</a:t>
            </a:r>
            <a:r>
              <a:rPr lang="en-US" altLang="zh-CN" sz="2400">
                <a:ea typeface="新宋体" panose="02010609030101010101" charset="-122"/>
              </a:rPr>
              <a:t>2</a:t>
            </a:r>
            <a:r>
              <a:rPr lang="zh-CN" altLang="en-US" sz="2400">
                <a:ea typeface="新宋体" panose="02010609030101010101" charset="-122"/>
              </a:rPr>
              <a:t>棵不同解空间树，可以体会到这种策略的潜力。</a:t>
            </a:r>
            <a:endParaRPr lang="zh-CN" altLang="en-US" sz="2400">
              <a:ea typeface="新宋体" panose="02010609030101010101" charset="-122"/>
            </a:endParaRPr>
          </a:p>
        </p:txBody>
      </p:sp>
      <p:pic>
        <p:nvPicPr>
          <p:cNvPr id="22532" name="Picture 4" descr="t510a"/>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76375" y="1989138"/>
            <a:ext cx="5183188"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5" descr="t510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250" y="3573463"/>
            <a:ext cx="5184775" cy="1398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4" name="Text Box 6"/>
          <p:cNvSpPr txBox="1">
            <a:spLocks noChangeArrowheads="1"/>
          </p:cNvSpPr>
          <p:nvPr/>
        </p:nvSpPr>
        <p:spPr bwMode="auto">
          <a:xfrm>
            <a:off x="303213" y="5103813"/>
            <a:ext cx="8589962" cy="1552575"/>
          </a:xfrm>
          <a:prstGeom prst="rect">
            <a:avLst/>
          </a:prstGeom>
          <a:solidFill>
            <a:srgbClr val="FFCC00"/>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图</a:t>
            </a:r>
            <a:r>
              <a:rPr lang="en-US" altLang="zh-CN" sz="2400">
                <a:ea typeface="新宋体" panose="02010609030101010101" charset="-122"/>
              </a:rPr>
              <a:t>(a)</a:t>
            </a:r>
            <a:r>
              <a:rPr lang="zh-CN" altLang="en-US" sz="2400">
                <a:ea typeface="新宋体" panose="02010609030101010101" charset="-122"/>
              </a:rPr>
              <a:t>中，从第</a:t>
            </a:r>
            <a:r>
              <a:rPr lang="en-US" altLang="zh-CN" sz="2400">
                <a:ea typeface="新宋体" panose="02010609030101010101" charset="-122"/>
              </a:rPr>
              <a:t>1</a:t>
            </a:r>
            <a:r>
              <a:rPr lang="zh-CN" altLang="en-US" sz="2400">
                <a:ea typeface="新宋体" panose="02010609030101010101" charset="-122"/>
              </a:rPr>
              <a:t>层剪去</a:t>
            </a:r>
            <a:r>
              <a:rPr lang="en-US" altLang="zh-CN" sz="2400">
                <a:ea typeface="新宋体" panose="02010609030101010101" charset="-122"/>
              </a:rPr>
              <a:t>1</a:t>
            </a:r>
            <a:r>
              <a:rPr lang="zh-CN" altLang="en-US" sz="2400">
                <a:ea typeface="新宋体" panose="02010609030101010101" charset="-122"/>
              </a:rPr>
              <a:t>棵子树，则从所有应当考虑的</a:t>
            </a:r>
            <a:r>
              <a:rPr lang="en-US" altLang="zh-CN" sz="2400">
                <a:ea typeface="新宋体" panose="02010609030101010101" charset="-122"/>
              </a:rPr>
              <a:t>3</a:t>
            </a:r>
            <a:r>
              <a:rPr lang="zh-CN" altLang="en-US" sz="2400">
                <a:ea typeface="新宋体" panose="02010609030101010101" charset="-122"/>
              </a:rPr>
              <a:t>元组中一次消去</a:t>
            </a:r>
            <a:r>
              <a:rPr lang="en-US" altLang="zh-CN" sz="2400">
                <a:ea typeface="新宋体" panose="02010609030101010101" charset="-122"/>
              </a:rPr>
              <a:t>12</a:t>
            </a:r>
            <a:r>
              <a:rPr lang="zh-CN" altLang="en-US" sz="2400">
                <a:ea typeface="新宋体" panose="02010609030101010101" charset="-122"/>
              </a:rPr>
              <a:t>个</a:t>
            </a:r>
            <a:r>
              <a:rPr lang="en-US" altLang="zh-CN" sz="2400">
                <a:ea typeface="新宋体" panose="02010609030101010101" charset="-122"/>
              </a:rPr>
              <a:t>3</a:t>
            </a:r>
            <a:r>
              <a:rPr lang="zh-CN" altLang="en-US" sz="2400">
                <a:ea typeface="新宋体" panose="02010609030101010101" charset="-122"/>
              </a:rPr>
              <a:t>元组。对于图</a:t>
            </a:r>
            <a:r>
              <a:rPr lang="en-US" altLang="zh-CN" sz="2400">
                <a:ea typeface="新宋体" panose="02010609030101010101" charset="-122"/>
              </a:rPr>
              <a:t>(b)</a:t>
            </a:r>
            <a:r>
              <a:rPr lang="zh-CN" altLang="en-US" sz="2400">
                <a:ea typeface="新宋体" panose="02010609030101010101" charset="-122"/>
              </a:rPr>
              <a:t>，虽然同样从第</a:t>
            </a:r>
            <a:r>
              <a:rPr lang="en-US" altLang="zh-CN" sz="2400">
                <a:ea typeface="新宋体" panose="02010609030101010101" charset="-122"/>
              </a:rPr>
              <a:t>1</a:t>
            </a:r>
            <a:r>
              <a:rPr lang="zh-CN" altLang="en-US" sz="2400">
                <a:ea typeface="新宋体" panose="02010609030101010101" charset="-122"/>
              </a:rPr>
              <a:t>层剪去</a:t>
            </a:r>
            <a:r>
              <a:rPr lang="en-US" altLang="zh-CN" sz="2400">
                <a:ea typeface="新宋体" panose="02010609030101010101" charset="-122"/>
              </a:rPr>
              <a:t>1</a:t>
            </a:r>
            <a:r>
              <a:rPr lang="zh-CN" altLang="en-US" sz="2400">
                <a:ea typeface="新宋体" panose="02010609030101010101" charset="-122"/>
              </a:rPr>
              <a:t>棵子树，却只从应当考虑的</a:t>
            </a:r>
            <a:r>
              <a:rPr lang="en-US" altLang="zh-CN" sz="2400">
                <a:ea typeface="新宋体" panose="02010609030101010101" charset="-122"/>
              </a:rPr>
              <a:t>3</a:t>
            </a:r>
            <a:r>
              <a:rPr lang="zh-CN" altLang="en-US" sz="2400">
                <a:ea typeface="新宋体" panose="02010609030101010101" charset="-122"/>
              </a:rPr>
              <a:t>元组中消去</a:t>
            </a:r>
            <a:r>
              <a:rPr lang="en-US" altLang="zh-CN" sz="2400">
                <a:ea typeface="新宋体" panose="02010609030101010101" charset="-122"/>
              </a:rPr>
              <a:t>8</a:t>
            </a:r>
            <a:r>
              <a:rPr lang="zh-CN" altLang="en-US" sz="2400">
                <a:ea typeface="新宋体" panose="02010609030101010101" charset="-122"/>
              </a:rPr>
              <a:t>个</a:t>
            </a:r>
            <a:r>
              <a:rPr lang="en-US" altLang="zh-CN" sz="2400">
                <a:ea typeface="新宋体" panose="02010609030101010101" charset="-122"/>
              </a:rPr>
              <a:t>3</a:t>
            </a:r>
            <a:r>
              <a:rPr lang="zh-CN" altLang="en-US" sz="2400">
                <a:ea typeface="新宋体" panose="02010609030101010101" charset="-122"/>
              </a:rPr>
              <a:t>元组。前者的效果明显比后者好。</a:t>
            </a:r>
            <a:endParaRPr lang="zh-CN" altLang="en-US" sz="2400">
              <a:ea typeface="新宋体" panose="02010609030101010101" charset="-122"/>
            </a:endParaRPr>
          </a:p>
        </p:txBody>
      </p:sp>
      <p:sp>
        <p:nvSpPr>
          <p:cNvPr id="22535" name="Text Box 7"/>
          <p:cNvSpPr txBox="1">
            <a:spLocks noChangeArrowheads="1"/>
          </p:cNvSpPr>
          <p:nvPr/>
        </p:nvSpPr>
        <p:spPr bwMode="auto">
          <a:xfrm>
            <a:off x="6856413" y="2800350"/>
            <a:ext cx="5572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r>
              <a:rPr lang="en-US" altLang="zh-CN" sz="2400">
                <a:ea typeface="新宋体" panose="02010609030101010101" charset="-122"/>
              </a:rPr>
              <a:t>(a)</a:t>
            </a:r>
            <a:endParaRPr lang="en-US" altLang="zh-CN" sz="2400">
              <a:ea typeface="新宋体" panose="02010609030101010101" charset="-122"/>
            </a:endParaRPr>
          </a:p>
        </p:txBody>
      </p:sp>
      <p:sp>
        <p:nvSpPr>
          <p:cNvPr id="22536" name="Text Box 8"/>
          <p:cNvSpPr txBox="1">
            <a:spLocks noChangeArrowheads="1"/>
          </p:cNvSpPr>
          <p:nvPr/>
        </p:nvSpPr>
        <p:spPr bwMode="auto">
          <a:xfrm>
            <a:off x="6948488" y="4221163"/>
            <a:ext cx="5572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r>
              <a:rPr lang="en-US" altLang="zh-CN" sz="2400">
                <a:ea typeface="新宋体" panose="02010609030101010101" charset="-122"/>
              </a:rPr>
              <a:t>(b)</a:t>
            </a:r>
            <a:endParaRPr lang="en-US" altLang="zh-CN" sz="2400">
              <a:ea typeface="新宋体" panose="02010609030101010101" charset="-122"/>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78F36D58-D9C7-4F65-B614-769A831545C6}" type="slidenum">
              <a:rPr lang="en-US" altLang="zh-CN"/>
            </a:fld>
            <a:endParaRPr lang="en-US" altLang="zh-CN"/>
          </a:p>
        </p:txBody>
      </p:sp>
      <p:sp>
        <p:nvSpPr>
          <p:cNvPr id="361474" name="Rectangle 2"/>
          <p:cNvSpPr>
            <a:spLocks noGrp="1" noChangeArrowheads="1"/>
          </p:cNvSpPr>
          <p:nvPr>
            <p:ph type="title"/>
          </p:nvPr>
        </p:nvSpPr>
        <p:spPr/>
        <p:txBody>
          <a:bodyPr/>
          <a:lstStyle/>
          <a:p>
            <a:r>
              <a:rPr lang="zh-CN" altLang="en-US"/>
              <a:t>本周任务</a:t>
            </a:r>
            <a:endParaRPr lang="zh-CN" altLang="en-US"/>
          </a:p>
        </p:txBody>
      </p:sp>
      <p:sp>
        <p:nvSpPr>
          <p:cNvPr id="361475" name="Rectangle 3"/>
          <p:cNvSpPr>
            <a:spLocks noGrp="1" noChangeArrowheads="1"/>
          </p:cNvSpPr>
          <p:nvPr>
            <p:ph type="body" idx="1"/>
          </p:nvPr>
        </p:nvSpPr>
        <p:spPr/>
        <p:txBody>
          <a:bodyPr/>
          <a:lstStyle/>
          <a:p>
            <a:r>
              <a:rPr lang="zh-CN" altLang="en-US" dirty="0"/>
              <a:t>课后习题</a:t>
            </a:r>
            <a:r>
              <a:rPr lang="en-US" altLang="zh-CN" dirty="0"/>
              <a:t>5-1</a:t>
            </a:r>
            <a:r>
              <a:rPr lang="zh-CN" altLang="en-US" dirty="0"/>
              <a:t>，</a:t>
            </a:r>
            <a:r>
              <a:rPr lang="en-US" altLang="zh-CN" dirty="0" smtClean="0"/>
              <a:t>5-2</a:t>
            </a:r>
            <a:r>
              <a:rPr lang="zh-CN" altLang="en-US" dirty="0" smtClean="0"/>
              <a:t>，</a:t>
            </a:r>
            <a:r>
              <a:rPr lang="en-US" altLang="zh-CN" dirty="0"/>
              <a:t>5-7</a:t>
            </a:r>
            <a:r>
              <a:rPr lang="zh-CN" altLang="en-US" dirty="0"/>
              <a:t>，</a:t>
            </a:r>
            <a:r>
              <a:rPr lang="en-US" altLang="zh-CN" dirty="0"/>
              <a:t>5-16</a:t>
            </a:r>
            <a:r>
              <a:rPr lang="zh-CN" altLang="en-US" dirty="0"/>
              <a:t>，</a:t>
            </a:r>
            <a:r>
              <a:rPr lang="en-US" altLang="zh-CN" dirty="0"/>
              <a:t>5-25</a:t>
            </a:r>
            <a:endParaRPr lang="en-US" altLang="zh-CN" dirty="0"/>
          </a:p>
          <a:p>
            <a:r>
              <a:rPr lang="zh-CN" altLang="en-US" dirty="0" smtClean="0"/>
              <a:t>附加题</a:t>
            </a:r>
            <a:endParaRPr lang="en-US" altLang="zh-CN" dirty="0"/>
          </a:p>
          <a:p>
            <a:pPr lvl="1"/>
            <a:r>
              <a:rPr lang="zh-CN" altLang="en-US" dirty="0"/>
              <a:t>证明放在</a:t>
            </a:r>
            <a:r>
              <a:rPr lang="en-US" altLang="zh-CN" dirty="0"/>
              <a:t>xi</a:t>
            </a:r>
            <a:r>
              <a:rPr lang="zh-CN" altLang="en-US" dirty="0"/>
              <a:t>和</a:t>
            </a:r>
            <a:r>
              <a:rPr lang="en-US" altLang="zh-CN" dirty="0" err="1"/>
              <a:t>xj</a:t>
            </a:r>
            <a:r>
              <a:rPr lang="zh-CN" altLang="en-US" dirty="0"/>
              <a:t>位置上的两个皇后在同一对角线上当且仅当</a:t>
            </a:r>
            <a:endParaRPr lang="zh-CN" altLang="en-US" dirty="0"/>
          </a:p>
          <a:p>
            <a:pPr lvl="2"/>
            <a:r>
              <a:rPr lang="en-US" altLang="zh-CN" dirty="0"/>
              <a:t>Xi-</a:t>
            </a:r>
            <a:r>
              <a:rPr lang="en-US" altLang="zh-CN" dirty="0" err="1"/>
              <a:t>xj</a:t>
            </a:r>
            <a:r>
              <a:rPr lang="en-US" altLang="zh-CN" dirty="0"/>
              <a:t>=</a:t>
            </a:r>
            <a:r>
              <a:rPr lang="en-US" altLang="zh-CN" dirty="0" err="1"/>
              <a:t>i</a:t>
            </a:r>
            <a:r>
              <a:rPr lang="en-US" altLang="zh-CN" dirty="0"/>
              <a:t>-j</a:t>
            </a:r>
            <a:r>
              <a:rPr lang="zh-CN" altLang="en-US" dirty="0"/>
              <a:t>或</a:t>
            </a:r>
            <a:r>
              <a:rPr lang="en-US" altLang="zh-CN" dirty="0"/>
              <a:t>xi-</a:t>
            </a:r>
            <a:r>
              <a:rPr lang="en-US" altLang="zh-CN" dirty="0" err="1"/>
              <a:t>xj</a:t>
            </a:r>
            <a:r>
              <a:rPr lang="en-US" altLang="zh-CN" dirty="0"/>
              <a:t>=j-I</a:t>
            </a:r>
            <a:endParaRPr lang="en-US" altLang="zh-CN" dirty="0"/>
          </a:p>
          <a:p>
            <a:pPr lvl="1"/>
            <a:r>
              <a:rPr lang="zh-CN" altLang="en-US" dirty="0"/>
              <a:t>设计一个回溯算法求解马周游问题：给出一个</a:t>
            </a:r>
            <a:r>
              <a:rPr lang="en-US" altLang="zh-CN" dirty="0"/>
              <a:t>8*8</a:t>
            </a:r>
            <a:r>
              <a:rPr lang="zh-CN" altLang="en-US" dirty="0"/>
              <a:t>的棋盘，一个放在棋盘某个位置上的马是否可以恰好访问每个方格一次，并回到起始位置上？</a:t>
            </a:r>
            <a:endParaRPr lang="zh-CN" alt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6350" cap="flat" cmpd="sng" algn="ctr">
          <a:solidFill>
            <a:schemeClr val="tx1"/>
          </a:solidFill>
          <a:prstDash val="solid"/>
          <a:round/>
          <a:headEnd type="none" w="med" len="med"/>
          <a:tailEnd type="none" w="med" len="med"/>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6350" cap="flat" cmpd="sng" algn="ctr">
          <a:solidFill>
            <a:schemeClr val="tx1"/>
          </a:solidFill>
          <a:prstDash val="solid"/>
          <a:round/>
          <a:headEnd type="none" w="med" len="med"/>
          <a:tailEnd type="none" w="med" len="med"/>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Network</Template>
  <TotalTime>0</TotalTime>
  <Words>11985</Words>
  <Application>WPS 演示</Application>
  <PresentationFormat>全屏显示(4:3)</PresentationFormat>
  <Paragraphs>1055</Paragraphs>
  <Slides>67</Slides>
  <Notes>1</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14</vt:i4>
      </vt:variant>
      <vt:variant>
        <vt:lpstr>幻灯片标题</vt:lpstr>
      </vt:variant>
      <vt:variant>
        <vt:i4>67</vt:i4>
      </vt:variant>
    </vt:vector>
  </HeadingPairs>
  <TitlesOfParts>
    <vt:vector size="99" baseType="lpstr">
      <vt:lpstr>Arial</vt:lpstr>
      <vt:lpstr>宋体</vt:lpstr>
      <vt:lpstr>Wingdings</vt:lpstr>
      <vt:lpstr>Times New Roman</vt:lpstr>
      <vt:lpstr>黑体</vt:lpstr>
      <vt:lpstr>Symbol</vt:lpstr>
      <vt:lpstr>华文新魏</vt:lpstr>
      <vt:lpstr>Arial</vt:lpstr>
      <vt:lpstr>微软雅黑</vt:lpstr>
      <vt:lpstr>Arial Unicode MS</vt:lpstr>
      <vt:lpstr>楷体_GB2312</vt:lpstr>
      <vt:lpstr>新宋体</vt:lpstr>
      <vt:lpstr>Times</vt:lpstr>
      <vt:lpstr>Verdana</vt:lpstr>
      <vt:lpstr>Symbol</vt:lpstr>
      <vt:lpstr>Wingdings</vt:lpstr>
      <vt:lpstr>楷体_GB2312</vt:lpstr>
      <vt:lpstr>Network</vt:lpstr>
      <vt:lpstr>Equation.3</vt:lpstr>
      <vt:lpstr>Equation.3</vt:lpstr>
      <vt:lpstr>Paint.Picture</vt:lpstr>
      <vt:lpstr>Equation.3</vt:lpstr>
      <vt:lpstr>Equation.3</vt:lpstr>
      <vt:lpstr>Equation.3</vt:lpstr>
      <vt:lpstr>Equation.3</vt:lpstr>
      <vt:lpstr>Equation.3</vt:lpstr>
      <vt:lpstr>Equation.3</vt:lpstr>
      <vt:lpstr>Equation.3</vt:lpstr>
      <vt:lpstr>Equation.3</vt:lpstr>
      <vt:lpstr>Equation.3</vt:lpstr>
      <vt:lpstr>Equation.3</vt:lpstr>
      <vt:lpstr>Equation.3</vt:lpstr>
      <vt:lpstr>第5章  回溯法</vt:lpstr>
      <vt:lpstr>PowerPoint 演示文稿</vt:lpstr>
      <vt:lpstr>PowerPoint 演示文稿</vt:lpstr>
      <vt:lpstr>PowerPoint 演示文稿</vt:lpstr>
      <vt:lpstr>PowerPoint 演示文稿</vt:lpstr>
      <vt:lpstr>PowerPoint 演示文稿</vt:lpstr>
      <vt:lpstr>问题的解空间</vt:lpstr>
      <vt:lpstr>通常将解空间组织成树或图的形式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常用剪枝函数</vt:lpstr>
      <vt:lpstr>PowerPoint 演示文稿</vt:lpstr>
      <vt:lpstr>PowerPoint 演示文稿</vt:lpstr>
      <vt:lpstr>装载问题</vt:lpstr>
      <vt:lpstr>PowerPoint 演示文稿</vt:lpstr>
      <vt:lpstr>PowerPoint 演示文稿</vt:lpstr>
      <vt:lpstr>最优装载问题 Subtree: n=4</vt:lpstr>
      <vt:lpstr>Backtracking for n=4,w=[8,6,2,3], W=12</vt:lpstr>
      <vt:lpstr>Backtracking n=4,w=[8,6,2,3], W=12</vt:lpstr>
      <vt:lpstr>PowerPoint 演示文稿</vt:lpstr>
      <vt:lpstr>批处理作业调度</vt:lpstr>
      <vt:lpstr>PowerPoint 演示文稿</vt:lpstr>
      <vt:lpstr>PowerPoint 演示文稿</vt:lpstr>
      <vt:lpstr>符号三角形问题</vt:lpstr>
      <vt:lpstr>PowerPoint 演示文稿</vt:lpstr>
      <vt:lpstr>PowerPoint 演示文稿</vt:lpstr>
      <vt:lpstr>n后问题</vt:lpstr>
      <vt:lpstr>PowerPoint 演示文稿</vt:lpstr>
      <vt:lpstr>PowerPoint 演示文稿</vt:lpstr>
      <vt:lpstr>PowerPoint 演示文稿</vt:lpstr>
      <vt:lpstr>0-1背包问题</vt:lpstr>
      <vt:lpstr>0-1背包问题</vt:lpstr>
      <vt:lpstr>Subtree: n=4</vt:lpstr>
      <vt:lpstr>0-1背包问题</vt:lpstr>
      <vt:lpstr>0-1背包问题</vt:lpstr>
      <vt:lpstr>n=4, W=7, v=[4,7,9,10], w=[1,2,3,5]      v/w=[4, 3.5, 3, 2]. </vt:lpstr>
      <vt:lpstr>PowerPoint 演示文稿</vt:lpstr>
      <vt:lpstr>最大团问题</vt:lpstr>
      <vt:lpstr>PowerPoint 演示文稿</vt:lpstr>
      <vt:lpstr>PowerPoint 演示文稿</vt:lpstr>
      <vt:lpstr>PowerPoint 演示文稿</vt:lpstr>
      <vt:lpstr>图的m着色问题</vt:lpstr>
      <vt:lpstr>PowerPoint 演示文稿</vt:lpstr>
      <vt:lpstr>四色原理 </vt:lpstr>
      <vt:lpstr>PowerPoint 演示文稿</vt:lpstr>
      <vt:lpstr>旅行售货员问题</vt:lpstr>
      <vt:lpstr>Permutation tree: n=4</vt:lpstr>
      <vt:lpstr>PowerPoint 演示文稿</vt:lpstr>
      <vt:lpstr>Backtracking</vt:lpstr>
      <vt:lpstr>圆排列问题</vt:lpstr>
      <vt:lpstr>PowerPoint 演示文稿</vt:lpstr>
      <vt:lpstr>PowerPoint 演示文稿</vt:lpstr>
      <vt:lpstr>电路板排列问题</vt:lpstr>
      <vt:lpstr>电路板排列问题</vt:lpstr>
      <vt:lpstr>连续邮资问题</vt:lpstr>
      <vt:lpstr>PowerPoint 演示文稿</vt:lpstr>
      <vt:lpstr>PowerPoint 演示文稿</vt:lpstr>
      <vt:lpstr>PowerPoint 演示文稿</vt:lpstr>
      <vt:lpstr>PowerPoint 演示文稿</vt:lpstr>
      <vt:lpstr>本周任务</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dc:creator>
  <cp:lastModifiedBy>Administrator</cp:lastModifiedBy>
  <cp:revision>77</cp:revision>
  <cp:lastPrinted>2113-01-01T00:00:00Z</cp:lastPrinted>
  <dcterms:created xsi:type="dcterms:W3CDTF">2003-05-27T06:14:00Z</dcterms:created>
  <dcterms:modified xsi:type="dcterms:W3CDTF">2019-11-27T09:25:24Z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2052-11.1.0.8976</vt:lpwstr>
  </property>
</Properties>
</file>