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7"/>
  </p:handoutMasterIdLst>
  <p:sldIdLst>
    <p:sldId id="257" r:id="rId3"/>
    <p:sldId id="331" r:id="rId5"/>
    <p:sldId id="312" r:id="rId6"/>
    <p:sldId id="328" r:id="rId7"/>
    <p:sldId id="329" r:id="rId8"/>
    <p:sldId id="330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9500"/>
  </p:normalViewPr>
  <p:slideViewPr>
    <p:cSldViewPr showGuides="1">
      <p:cViewPr varScale="1">
        <p:scale>
          <a:sx n="128" d="100"/>
          <a:sy n="128" d="100"/>
        </p:scale>
        <p:origin x="113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69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5" Type="http://schemas.openxmlformats.org/officeDocument/2006/relationships/image" Target="../media/image16.wmf"/><Relationship Id="rId14" Type="http://schemas.openxmlformats.org/officeDocument/2006/relationships/image" Target="../media/image15.wmf"/><Relationship Id="rId13" Type="http://schemas.openxmlformats.org/officeDocument/2006/relationships/image" Target="../media/image14.wmf"/><Relationship Id="rId12" Type="http://schemas.openxmlformats.org/officeDocument/2006/relationships/image" Target="../media/image13.wmf"/><Relationship Id="rId11" Type="http://schemas.openxmlformats.org/officeDocument/2006/relationships/image" Target="../media/image12.wmf"/><Relationship Id="rId10" Type="http://schemas.openxmlformats.org/officeDocument/2006/relationships/image" Target="../media/image11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ECB15E-5EBB-491A-89B3-1CBCB368DC5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51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p>
            <a:pPr lvl="0" eaLnBrk="1" hangingPunct="1"/>
            <a:r>
              <a:rPr lang="zh-CN" altLang="en-US" dirty="0"/>
              <a:t>欢迎辞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/>
          <p:nvPr/>
        </p:nvSpPr>
        <p:spPr>
          <a:xfrm>
            <a:off x="7315200" y="1066800"/>
            <a:ext cx="0" cy="449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51" name="Group 8"/>
          <p:cNvGrpSpPr/>
          <p:nvPr/>
        </p:nvGrpSpPr>
        <p:grpSpPr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2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2" name="Line 40"/>
          <p:cNvSpPr/>
          <p:nvPr/>
        </p:nvSpPr>
        <p:spPr>
          <a:xfrm>
            <a:off x="304800" y="281940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7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D2F8B9-D1BE-4176-8EF8-2DF3992C57B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Line 2"/>
          <p:cNvSpPr/>
          <p:nvPr/>
        </p:nvSpPr>
        <p:spPr>
          <a:xfrm>
            <a:off x="7962900" y="152400"/>
            <a:ext cx="0" cy="1524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1F128B-8BD9-4E06-9A0C-6E7E5A929C9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2" name="Group 8"/>
          <p:cNvGrpSpPr/>
          <p:nvPr/>
        </p:nvGrpSpPr>
        <p:grpSpPr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4" Type="http://schemas.openxmlformats.org/officeDocument/2006/relationships/vmlDrawing" Target="../drawings/vmlDrawing1.vml"/><Relationship Id="rId33" Type="http://schemas.openxmlformats.org/officeDocument/2006/relationships/slideLayout" Target="../slideLayouts/slideLayout12.xml"/><Relationship Id="rId32" Type="http://schemas.openxmlformats.org/officeDocument/2006/relationships/oleObject" Target="../embeddings/oleObject17.bin"/><Relationship Id="rId31" Type="http://schemas.openxmlformats.org/officeDocument/2006/relationships/image" Target="../media/image16.wmf"/><Relationship Id="rId30" Type="http://schemas.openxmlformats.org/officeDocument/2006/relationships/oleObject" Target="../embeddings/oleObject16.bin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5.bin"/><Relationship Id="rId28" Type="http://schemas.openxmlformats.org/officeDocument/2006/relationships/image" Target="../media/image15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4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3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2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1.wmf"/><Relationship Id="rId2" Type="http://schemas.openxmlformats.org/officeDocument/2006/relationships/image" Target="../media/image2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0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8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wmf"/><Relationship Id="rId1" Type="http://schemas.openxmlformats.org/officeDocument/2006/relationships/oleObject" Target="../embeddings/oleObject19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20.bin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21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6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22.bin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7.wmf"/><Relationship Id="rId1" Type="http://schemas.openxmlformats.org/officeDocument/2006/relationships/oleObject" Target="../embeddings/oleObject24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25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wmf"/><Relationship Id="rId1" Type="http://schemas.openxmlformats.org/officeDocument/2006/relationships/oleObject" Target="../embeddings/oleObject26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27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wmf"/><Relationship Id="rId1" Type="http://schemas.openxmlformats.org/officeDocument/2006/relationships/oleObject" Target="../embeddings/oleObject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7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1557338"/>
            <a:ext cx="6696075" cy="10795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第</a:t>
            </a:r>
            <a:r>
              <a:rPr kumimoji="0" lang="en-US" altLang="zh-CN" sz="6000" b="1" i="0" u="none" strike="noStrike" kern="120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2</a:t>
            </a:r>
            <a:r>
              <a:rPr kumimoji="0" lang="zh-CN" altLang="en-US" sz="6000" b="1" i="0" u="none" strike="noStrike" kern="120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章</a:t>
            </a:r>
            <a:br>
              <a:rPr kumimoji="0" lang="zh-CN" altLang="en-US" sz="6000" b="1" i="0" u="none" strike="noStrike" kern="120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</a:br>
            <a:r>
              <a:rPr kumimoji="0" lang="zh-CN" altLang="en-US" sz="6000" b="1" i="0" u="none" strike="noStrike" kern="120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递归与分治策略</a:t>
            </a:r>
            <a:endParaRPr kumimoji="0" lang="zh-CN" altLang="en-US" sz="6000" b="1" i="0" u="none" strike="noStrike" kern="1200" cap="none" spc="0" normalizeH="0" baseline="0" noProof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7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6147" name="Rectangle 4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p>
            <a:pPr eaLnBrk="1" hangingPunct="1">
              <a:buClrTx/>
              <a:buSzTx/>
              <a:buFontTx/>
            </a:pPr>
            <a:r>
              <a:rPr lang="zh-CN" altLang="en-US" kern="1200" dirty="0">
                <a:latin typeface="+mj-lt"/>
                <a:ea typeface="+mj-ea"/>
                <a:cs typeface="+mj-cs"/>
              </a:rPr>
              <a:t>递归篇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6148" name="Rectangle 5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buSzPct val="70000"/>
            </a:pPr>
            <a:endParaRPr lang="zh-CN" altLang="zh-CN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上节课提到的插入排序</a:t>
            </a:r>
            <a:endParaRPr lang="zh-CN" altLang="en-US" dirty="0"/>
          </a:p>
        </p:txBody>
      </p:sp>
      <p:pic>
        <p:nvPicPr>
          <p:cNvPr id="717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1844675"/>
            <a:ext cx="5545138" cy="4127500"/>
          </a:xfrm>
          <a:prstGeom prst="rect">
            <a:avLst/>
          </a:prstGeom>
          <a:noFill/>
          <a:ln w="2540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7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8195" name="Rectangle 2"/>
          <p:cNvSpPr/>
          <p:nvPr/>
        </p:nvSpPr>
        <p:spPr>
          <a:xfrm>
            <a:off x="468313" y="1484313"/>
            <a:ext cx="6480175" cy="44783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lang="en-US" altLang="zh-CN" sz="3200" dirty="0">
                <a:latin typeface="Times New Roman" panose="02020603050405020304" pitchFamily="18" charset="0"/>
              </a:rPr>
              <a:t>InsertSort(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</a:rPr>
              <a:t>1  </a:t>
            </a:r>
            <a:r>
              <a:rPr lang="en-US" altLang="zh-CN" sz="3200" b="1" dirty="0">
                <a:latin typeface="Times New Roman" panose="02020603050405020304" pitchFamily="18" charset="0"/>
              </a:rPr>
              <a:t>for 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j</a:t>
            </a:r>
            <a:r>
              <a:rPr lang="en-US" altLang="zh-CN" sz="3200" dirty="0">
                <a:latin typeface="Times New Roman" panose="02020603050405020304" pitchFamily="18" charset="0"/>
              </a:rPr>
              <a:t>←2 </a:t>
            </a:r>
            <a:r>
              <a:rPr lang="en-US" altLang="zh-CN" sz="3200" b="1" dirty="0">
                <a:latin typeface="Times New Roman" panose="02020603050405020304" pitchFamily="18" charset="0"/>
              </a:rPr>
              <a:t>to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length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]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</a:rPr>
              <a:t>2      </a:t>
            </a:r>
            <a:r>
              <a:rPr lang="en-US" altLang="zh-CN" sz="3200" b="1" dirty="0">
                <a:latin typeface="Times New Roman" panose="02020603050405020304" pitchFamily="18" charset="0"/>
              </a:rPr>
              <a:t>do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key</a:t>
            </a:r>
            <a:r>
              <a:rPr lang="en-US" altLang="zh-CN" sz="3200" dirty="0">
                <a:latin typeface="Times New Roman" panose="02020603050405020304" pitchFamily="18" charset="0"/>
              </a:rPr>
              <a:t> ←</a:t>
            </a:r>
            <a:r>
              <a:rPr lang="en-US" altLang="zh-CN" sz="3200" i="1" dirty="0">
                <a:latin typeface="Times New Roman" panose="02020603050405020304" pitchFamily="18" charset="0"/>
              </a:rPr>
              <a:t> A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j</a:t>
            </a:r>
            <a:r>
              <a:rPr lang="en-US" altLang="zh-CN" sz="3200" dirty="0">
                <a:latin typeface="Times New Roman" panose="02020603050405020304" pitchFamily="18" charset="0"/>
              </a:rPr>
              <a:t>]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</a:rPr>
              <a:t>3 //Insert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j</a:t>
            </a:r>
            <a:r>
              <a:rPr lang="en-US" altLang="zh-CN" sz="3200" dirty="0">
                <a:latin typeface="Times New Roman" panose="02020603050405020304" pitchFamily="18" charset="0"/>
              </a:rPr>
              <a:t>] into the sorted 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[1.. </a:t>
            </a:r>
            <a:r>
              <a:rPr lang="en-US" altLang="zh-CN" sz="3200" i="1" dirty="0">
                <a:latin typeface="Times New Roman" panose="02020603050405020304" pitchFamily="18" charset="0"/>
              </a:rPr>
              <a:t>j</a:t>
            </a:r>
            <a:r>
              <a:rPr lang="en-US" altLang="zh-CN" sz="3200" dirty="0">
                <a:latin typeface="Times New Roman" panose="02020603050405020304" pitchFamily="18" charset="0"/>
              </a:rPr>
              <a:t>-1]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</a:rPr>
              <a:t>4           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← </a:t>
            </a:r>
            <a:r>
              <a:rPr lang="en-US" altLang="zh-CN" sz="3200" i="1" dirty="0">
                <a:latin typeface="Times New Roman" panose="02020603050405020304" pitchFamily="18" charset="0"/>
              </a:rPr>
              <a:t>j</a:t>
            </a:r>
            <a:r>
              <a:rPr lang="en-US" altLang="zh-CN" sz="3200" dirty="0">
                <a:latin typeface="Times New Roman" panose="02020603050405020304" pitchFamily="18" charset="0"/>
              </a:rPr>
              <a:t> - 1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</a:rPr>
              <a:t>5   </a:t>
            </a:r>
            <a:r>
              <a:rPr lang="en-US" altLang="zh-CN" sz="3200" b="1" dirty="0">
                <a:latin typeface="Times New Roman" panose="02020603050405020304" pitchFamily="18" charset="0"/>
              </a:rPr>
              <a:t>       while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i &gt; </a:t>
            </a:r>
            <a:r>
              <a:rPr lang="en-US" altLang="zh-CN" sz="3200" dirty="0">
                <a:latin typeface="Times New Roman" panose="02020603050405020304" pitchFamily="18" charset="0"/>
              </a:rPr>
              <a:t>0 and</a:t>
            </a:r>
            <a:r>
              <a:rPr lang="en-US" altLang="zh-CN" sz="3200" i="1" dirty="0">
                <a:latin typeface="Times New Roman" panose="02020603050405020304" pitchFamily="18" charset="0"/>
              </a:rPr>
              <a:t> A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en-US" altLang="zh-CN" sz="3200" i="1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&gt;</a:t>
            </a:r>
            <a:r>
              <a:rPr lang="en-US" altLang="zh-CN" sz="3200" i="1" dirty="0">
                <a:latin typeface="Times New Roman" panose="02020603050405020304" pitchFamily="18" charset="0"/>
              </a:rPr>
              <a:t> key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do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</a:rPr>
              <a:t>6                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 + 1]←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]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</a:rPr>
              <a:t>7                 </a:t>
            </a:r>
            <a:r>
              <a:rPr lang="en-US" altLang="zh-CN" sz="3200" i="1" dirty="0">
                <a:latin typeface="Times New Roman" panose="02020603050405020304" pitchFamily="18" charset="0"/>
              </a:rPr>
              <a:t>i </a:t>
            </a:r>
            <a:r>
              <a:rPr lang="en-US" altLang="zh-CN" sz="3200" dirty="0">
                <a:latin typeface="Times New Roman" panose="02020603050405020304" pitchFamily="18" charset="0"/>
              </a:rPr>
              <a:t>← 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 - 1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</a:rPr>
              <a:t>8         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 + 1] ← key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b="0" dirty="0"/>
              <a:t>算法效率分析</a:t>
            </a:r>
            <a:endParaRPr lang="zh-CN" altLang="en-US" b="0" dirty="0"/>
          </a:p>
        </p:txBody>
      </p:sp>
      <p:graphicFrame>
        <p:nvGraphicFramePr>
          <p:cNvPr id="8197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7032625" y="1887538"/>
          <a:ext cx="4191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39700" imgH="215900" progId="Equation.3">
                  <p:embed/>
                </p:oleObj>
              </mc:Choice>
              <mc:Fallback>
                <p:oleObj name="" r:id="rId1" imgW="1397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7032625" y="1887538"/>
                        <a:ext cx="419100" cy="6302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5"/>
          <p:cNvGraphicFramePr>
            <a:graphicFrameLocks noChangeAspect="1"/>
          </p:cNvGraphicFramePr>
          <p:nvPr>
            <p:ph sz="quarter" idx="3"/>
          </p:nvPr>
        </p:nvGraphicFramePr>
        <p:xfrm>
          <a:off x="8061325" y="2098675"/>
          <a:ext cx="327025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27000" imgH="139700" progId="Equation.3">
                  <p:embed/>
                </p:oleObj>
              </mc:Choice>
              <mc:Fallback>
                <p:oleObj name="" r:id="rId3" imgW="127000" imgH="1397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8061325" y="2098675"/>
                        <a:ext cx="327025" cy="3508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6"/>
          <p:cNvSpPr/>
          <p:nvPr/>
        </p:nvSpPr>
        <p:spPr>
          <a:xfrm>
            <a:off x="6084888" y="1341438"/>
            <a:ext cx="2879725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algn="ctr"/>
            <a:r>
              <a:rPr lang="en-US" altLang="zh-CN" sz="3200" dirty="0">
                <a:latin typeface="Times New Roman" panose="02020603050405020304" pitchFamily="18" charset="0"/>
              </a:rPr>
              <a:t>Cost   times 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8200" name="Object 7"/>
          <p:cNvGraphicFramePr>
            <a:graphicFrameLocks noChangeAspect="1"/>
          </p:cNvGraphicFramePr>
          <p:nvPr/>
        </p:nvGraphicFramePr>
        <p:xfrm>
          <a:off x="7019925" y="2276475"/>
          <a:ext cx="495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165100" imgH="215900" progId="Equation.3">
                  <p:embed/>
                </p:oleObj>
              </mc:Choice>
              <mc:Fallback>
                <p:oleObj name="" r:id="rId5" imgW="165100" imgH="215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19925" y="2276475"/>
                        <a:ext cx="495300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8"/>
          <p:cNvGraphicFramePr>
            <a:graphicFrameLocks noChangeAspect="1"/>
          </p:cNvGraphicFramePr>
          <p:nvPr/>
        </p:nvGraphicFramePr>
        <p:xfrm>
          <a:off x="8027988" y="2420938"/>
          <a:ext cx="5048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304165" imgH="177800" progId="Equation.3">
                  <p:embed/>
                </p:oleObj>
              </mc:Choice>
              <mc:Fallback>
                <p:oleObj name="" r:id="rId7" imgW="304165" imgH="177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27988" y="2420938"/>
                        <a:ext cx="504825" cy="433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9"/>
          <p:cNvGraphicFramePr>
            <a:graphicFrameLocks noChangeAspect="1"/>
          </p:cNvGraphicFramePr>
          <p:nvPr/>
        </p:nvGraphicFramePr>
        <p:xfrm>
          <a:off x="7112000" y="2997200"/>
          <a:ext cx="3810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9" imgW="127000" imgH="177165" progId="Equation.3">
                  <p:embed/>
                </p:oleObj>
              </mc:Choice>
              <mc:Fallback>
                <p:oleObj name="" r:id="rId9" imgW="127000" imgH="17716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12000" y="2997200"/>
                        <a:ext cx="3810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0"/>
          <p:cNvGraphicFramePr>
            <a:graphicFrameLocks noChangeAspect="1"/>
          </p:cNvGraphicFramePr>
          <p:nvPr/>
        </p:nvGraphicFramePr>
        <p:xfrm>
          <a:off x="7956550" y="2924175"/>
          <a:ext cx="647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1" imgW="304165" imgH="177800" progId="Equation.3">
                  <p:embed/>
                </p:oleObj>
              </mc:Choice>
              <mc:Fallback>
                <p:oleObj name="" r:id="rId11" imgW="304165" imgH="177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56550" y="2924175"/>
                        <a:ext cx="647700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1"/>
          <p:cNvGraphicFramePr>
            <a:graphicFrameLocks noChangeAspect="1"/>
          </p:cNvGraphicFramePr>
          <p:nvPr/>
        </p:nvGraphicFramePr>
        <p:xfrm>
          <a:off x="7019925" y="3213100"/>
          <a:ext cx="495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3" imgW="165100" imgH="215900" progId="Equation.3">
                  <p:embed/>
                </p:oleObj>
              </mc:Choice>
              <mc:Fallback>
                <p:oleObj name="" r:id="rId13" imgW="165100" imgH="2159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19925" y="3213100"/>
                        <a:ext cx="495300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12"/>
          <p:cNvGraphicFramePr>
            <a:graphicFrameLocks noChangeAspect="1"/>
          </p:cNvGraphicFramePr>
          <p:nvPr/>
        </p:nvGraphicFramePr>
        <p:xfrm>
          <a:off x="7956550" y="3357563"/>
          <a:ext cx="5762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5" imgW="304165" imgH="177800" progId="Equation.3">
                  <p:embed/>
                </p:oleObj>
              </mc:Choice>
              <mc:Fallback>
                <p:oleObj name="" r:id="rId15" imgW="304165" imgH="1778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56550" y="3357563"/>
                        <a:ext cx="576263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13"/>
          <p:cNvGraphicFramePr>
            <a:graphicFrameLocks noChangeAspect="1"/>
          </p:cNvGraphicFramePr>
          <p:nvPr/>
        </p:nvGraphicFramePr>
        <p:xfrm>
          <a:off x="7019925" y="3770313"/>
          <a:ext cx="5508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7" imgW="152400" imgH="228600" progId="Equation.3">
                  <p:embed/>
                </p:oleObj>
              </mc:Choice>
              <mc:Fallback>
                <p:oleObj name="" r:id="rId17" imgW="152400" imgH="2286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019925" y="3770313"/>
                        <a:ext cx="550863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14"/>
          <p:cNvGraphicFramePr>
            <a:graphicFrameLocks noChangeAspect="1"/>
          </p:cNvGraphicFramePr>
          <p:nvPr/>
        </p:nvGraphicFramePr>
        <p:xfrm>
          <a:off x="7885113" y="3844925"/>
          <a:ext cx="935037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9" imgW="482600" imgH="304800" progId="Equation.3">
                  <p:embed/>
                </p:oleObj>
              </mc:Choice>
              <mc:Fallback>
                <p:oleObj name="" r:id="rId19" imgW="482600" imgH="304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85113" y="3844925"/>
                        <a:ext cx="935037" cy="63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15"/>
          <p:cNvGraphicFramePr>
            <a:graphicFrameLocks noChangeAspect="1"/>
          </p:cNvGraphicFramePr>
          <p:nvPr/>
        </p:nvGraphicFramePr>
        <p:xfrm>
          <a:off x="7054850" y="4273550"/>
          <a:ext cx="495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21" imgW="165100" imgH="228600" progId="Equation.3">
                  <p:embed/>
                </p:oleObj>
              </mc:Choice>
              <mc:Fallback>
                <p:oleObj name="" r:id="rId21" imgW="165100" imgH="2286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054850" y="4273550"/>
                        <a:ext cx="4953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9" name="Object 16"/>
          <p:cNvGraphicFramePr>
            <a:graphicFrameLocks noChangeAspect="1"/>
          </p:cNvGraphicFramePr>
          <p:nvPr/>
        </p:nvGraphicFramePr>
        <p:xfrm>
          <a:off x="7054850" y="4778375"/>
          <a:ext cx="495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23" imgW="165100" imgH="228600" progId="Equation.3">
                  <p:embed/>
                </p:oleObj>
              </mc:Choice>
              <mc:Fallback>
                <p:oleObj name="" r:id="rId23" imgW="165100" imgH="228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054850" y="4778375"/>
                        <a:ext cx="4953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0" name="Object 17"/>
          <p:cNvGraphicFramePr>
            <a:graphicFrameLocks noChangeAspect="1"/>
          </p:cNvGraphicFramePr>
          <p:nvPr/>
        </p:nvGraphicFramePr>
        <p:xfrm>
          <a:off x="7073900" y="5281613"/>
          <a:ext cx="457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5" imgW="152400" imgH="228600" progId="Equation.3">
                  <p:embed/>
                </p:oleObj>
              </mc:Choice>
              <mc:Fallback>
                <p:oleObj name="" r:id="rId25" imgW="152400" imgH="2286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073900" y="5281613"/>
                        <a:ext cx="4572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1" name="Object 18"/>
          <p:cNvGraphicFramePr>
            <a:graphicFrameLocks noChangeAspect="1"/>
          </p:cNvGraphicFramePr>
          <p:nvPr/>
        </p:nvGraphicFramePr>
        <p:xfrm>
          <a:off x="7643813" y="4365625"/>
          <a:ext cx="1500187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27" imgW="774065" imgH="304800" progId="Equation.3">
                  <p:embed/>
                </p:oleObj>
              </mc:Choice>
              <mc:Fallback>
                <p:oleObj name="" r:id="rId27" imgW="774065" imgH="3048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643813" y="4365625"/>
                        <a:ext cx="1500187" cy="63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" name="Object 19"/>
          <p:cNvGraphicFramePr>
            <a:graphicFrameLocks noChangeAspect="1"/>
          </p:cNvGraphicFramePr>
          <p:nvPr/>
        </p:nvGraphicFramePr>
        <p:xfrm>
          <a:off x="7643813" y="4868863"/>
          <a:ext cx="1500187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9" imgW="774065" imgH="304800" progId="Equation.3">
                  <p:embed/>
                </p:oleObj>
              </mc:Choice>
              <mc:Fallback>
                <p:oleObj name="" r:id="rId29" imgW="774065" imgH="3048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643813" y="4868863"/>
                        <a:ext cx="1500187" cy="633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3" name="Object 20"/>
          <p:cNvGraphicFramePr>
            <a:graphicFrameLocks noChangeAspect="1"/>
          </p:cNvGraphicFramePr>
          <p:nvPr/>
        </p:nvGraphicFramePr>
        <p:xfrm>
          <a:off x="7956550" y="5445125"/>
          <a:ext cx="647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0" imgW="304165" imgH="177800" progId="Equation.3">
                  <p:embed/>
                </p:oleObj>
              </mc:Choice>
              <mc:Fallback>
                <p:oleObj name="" r:id="rId30" imgW="304165" imgH="1778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956550" y="5445125"/>
                        <a:ext cx="647700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165" name="Group 21"/>
          <p:cNvGrpSpPr/>
          <p:nvPr/>
        </p:nvGrpSpPr>
        <p:grpSpPr>
          <a:xfrm>
            <a:off x="4643438" y="333375"/>
            <a:ext cx="3673475" cy="1079500"/>
            <a:chOff x="2653" y="391"/>
            <a:chExt cx="2314" cy="680"/>
          </a:xfrm>
        </p:grpSpPr>
        <p:sp>
          <p:nvSpPr>
            <p:cNvPr id="8216" name="Text Box 22"/>
            <p:cNvSpPr txBox="1"/>
            <p:nvPr/>
          </p:nvSpPr>
          <p:spPr>
            <a:xfrm>
              <a:off x="2653" y="391"/>
              <a:ext cx="2314" cy="658"/>
            </a:xfrm>
            <a:prstGeom prst="rect">
              <a:avLst/>
            </a:prstGeom>
            <a:solidFill>
              <a:srgbClr val="FFFF00"/>
            </a:solidFill>
            <a:ln w="38100" cap="flat" cmpd="sng">
              <a:solidFill>
                <a:srgbClr val="F7240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3907F1"/>
                  </a:solidFill>
                  <a:latin typeface="宋体" panose="02010600030101010101" pitchFamily="2" charset="-122"/>
                </a:rPr>
                <a:t>约定：在算法伪代码中，执行一行代码仅花常数时间。第</a:t>
              </a:r>
              <a:r>
                <a:rPr lang="en-US" altLang="zh-CN" sz="2000" b="1" dirty="0">
                  <a:solidFill>
                    <a:srgbClr val="3907F1"/>
                  </a:solidFill>
                  <a:latin typeface="宋体" panose="02010600030101010101" pitchFamily="2" charset="-122"/>
                </a:rPr>
                <a:t>i</a:t>
              </a:r>
              <a:r>
                <a:rPr lang="zh-CN" altLang="en-US" sz="2000" b="1" dirty="0">
                  <a:solidFill>
                    <a:srgbClr val="3907F1"/>
                  </a:solidFill>
                  <a:latin typeface="宋体" panose="02010600030101010101" pitchFamily="2" charset="-122"/>
                </a:rPr>
                <a:t>行花费常数时间</a:t>
              </a:r>
              <a:endParaRPr lang="zh-CN" altLang="en-US" sz="2000" b="1" dirty="0">
                <a:solidFill>
                  <a:srgbClr val="3907F1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8217" name="Object 23"/>
            <p:cNvGraphicFramePr>
              <a:graphicFrameLocks noChangeAspect="1"/>
            </p:cNvGraphicFramePr>
            <p:nvPr/>
          </p:nvGraphicFramePr>
          <p:xfrm>
            <a:off x="3726" y="753"/>
            <a:ext cx="24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32" imgW="165100" imgH="215900" progId="Equation.3">
                    <p:embed/>
                  </p:oleObj>
                </mc:Choice>
                <mc:Fallback>
                  <p:oleObj name="" r:id="rId32" imgW="165100" imgH="2159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26" y="753"/>
                          <a:ext cx="243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4168" name="Rectangle 24"/>
          <p:cNvSpPr/>
          <p:nvPr/>
        </p:nvSpPr>
        <p:spPr>
          <a:xfrm>
            <a:off x="3924300" y="6237288"/>
            <a:ext cx="5038725" cy="395287"/>
          </a:xfrm>
          <a:prstGeom prst="rect">
            <a:avLst/>
          </a:prstGeom>
          <a:solidFill>
            <a:srgbClr val="FFFF00"/>
          </a:solidFill>
          <a:ln w="28575" cap="flat" cmpd="sng">
            <a:solidFill>
              <a:srgbClr val="F7240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i="1" dirty="0">
                <a:latin typeface="Arial" panose="020B0604020202020204" pitchFamily="34" charset="0"/>
              </a:rPr>
              <a:t>tj </a:t>
            </a:r>
            <a:r>
              <a:rPr lang="zh-CN" altLang="en-US" b="1" dirty="0">
                <a:latin typeface="Arial" panose="020B0604020202020204" pitchFamily="34" charset="0"/>
              </a:rPr>
              <a:t>表示在</a:t>
            </a:r>
            <a:r>
              <a:rPr lang="en-US" altLang="zh-CN" b="1" dirty="0">
                <a:latin typeface="Arial" panose="020B0604020202020204" pitchFamily="34" charset="0"/>
              </a:rPr>
              <a:t>for</a:t>
            </a:r>
            <a:r>
              <a:rPr lang="zh-CN" altLang="en-US" b="1" dirty="0">
                <a:latin typeface="Arial" panose="020B0604020202020204" pitchFamily="34" charset="0"/>
              </a:rPr>
              <a:t>循环的迭代</a:t>
            </a:r>
            <a:r>
              <a:rPr lang="en-US" altLang="zh-CN" b="1" dirty="0">
                <a:latin typeface="Arial" panose="020B0604020202020204" pitchFamily="34" charset="0"/>
              </a:rPr>
              <a:t>j</a:t>
            </a:r>
            <a:r>
              <a:rPr lang="zh-CN" altLang="en-US" b="1" dirty="0">
                <a:latin typeface="Arial" panose="020B0604020202020204" pitchFamily="34" charset="0"/>
              </a:rPr>
              <a:t>中，</a:t>
            </a:r>
            <a:r>
              <a:rPr lang="en-US" altLang="zh-CN" b="1" dirty="0">
                <a:latin typeface="Arial" panose="020B0604020202020204" pitchFamily="34" charset="0"/>
              </a:rPr>
              <a:t>while</a:t>
            </a:r>
            <a:r>
              <a:rPr lang="zh-CN" altLang="en-US" b="1" dirty="0">
                <a:latin typeface="Arial" panose="020B0604020202020204" pitchFamily="34" charset="0"/>
              </a:rPr>
              <a:t>循环的次数。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3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6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9219" name="Rectangle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8583613" cy="4760913"/>
          </a:xfrm>
        </p:spPr>
        <p:txBody>
          <a:bodyPr vert="horz" wrap="square" lIns="91440" tIns="45720" rIns="91440" bIns="45720" anchor="t"/>
          <a:p>
            <a:pPr eaLnBrk="1" hangingPunct="1"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zh-CN" altLang="en-US" sz="3500" dirty="0"/>
              <a:t>把算法执行每行的次数与执行每行所需要的时间相乘，然后把所有的时间求和：</a:t>
            </a:r>
            <a:endParaRPr lang="zh-CN" altLang="en-US" sz="3500" dirty="0"/>
          </a:p>
          <a:p>
            <a:pPr eaLnBrk="1" hangingPunct="1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endParaRPr lang="zh-CN" altLang="en-US" sz="3500" dirty="0"/>
          </a:p>
          <a:p>
            <a:pPr eaLnBrk="1" hangingPunct="1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endParaRPr lang="zh-CN" altLang="en-US" sz="3500" dirty="0"/>
          </a:p>
          <a:p>
            <a:pPr eaLnBrk="1" hangingPunct="1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endParaRPr lang="zh-CN" altLang="en-US" sz="3500" dirty="0"/>
          </a:p>
          <a:p>
            <a:pPr eaLnBrk="1" hangingPunct="1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endParaRPr lang="zh-CN" altLang="en-US" sz="3500" dirty="0"/>
          </a:p>
          <a:p>
            <a:pPr eaLnBrk="1" hangingPunct="1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500" dirty="0"/>
              <a:t>   </a:t>
            </a:r>
            <a:endParaRPr lang="zh-CN" altLang="en-US" sz="3500" dirty="0"/>
          </a:p>
        </p:txBody>
      </p:sp>
      <p:graphicFrame>
        <p:nvGraphicFramePr>
          <p:cNvPr id="9220" name="Object 3"/>
          <p:cNvGraphicFramePr>
            <a:graphicFrameLocks noChangeAspect="1"/>
          </p:cNvGraphicFramePr>
          <p:nvPr>
            <p:ph sz="half" idx="2"/>
          </p:nvPr>
        </p:nvGraphicFramePr>
        <p:xfrm>
          <a:off x="900113" y="3008313"/>
          <a:ext cx="7254875" cy="193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3314700" imgH="914400" progId="Equation.3">
                  <p:embed/>
                </p:oleObj>
              </mc:Choice>
              <mc:Fallback>
                <p:oleObj name="" r:id="rId1" imgW="3314700" imgH="9144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900113" y="3008313"/>
                        <a:ext cx="7254875" cy="1935162"/>
                      </a:xfrm>
                      <a:prstGeom prst="rect">
                        <a:avLst/>
                      </a:prstGeom>
                      <a:solidFill>
                        <a:srgbClr val="FFCC00">
                          <a:alpha val="100000"/>
                        </a:srgbClr>
                      </a:solidFill>
                      <a:ln w="38100">
                        <a:solidFill>
                          <a:srgbClr val="2605A1">
                            <a:alpha val="100000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10243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/>
            <a:endParaRPr lang="zh-CN" altLang="zh-CN" dirty="0"/>
          </a:p>
        </p:txBody>
      </p:sp>
      <p:pic>
        <p:nvPicPr>
          <p:cNvPr id="1024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316038"/>
            <a:ext cx="8674100" cy="5208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5" name="Rectangle 4"/>
          <p:cNvSpPr/>
          <p:nvPr/>
        </p:nvSpPr>
        <p:spPr>
          <a:xfrm>
            <a:off x="827088" y="333375"/>
            <a:ext cx="4572000" cy="954088"/>
          </a:xfrm>
          <a:prstGeom prst="rect">
            <a:avLst/>
          </a:prstGeom>
          <a:solidFill>
            <a:srgbClr val="FFCC00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5          while 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i &gt; 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0 and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 A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[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]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&gt;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 key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 do</a:t>
            </a:r>
            <a:endParaRPr lang="en-US" altLang="zh-CN" b="1" dirty="0">
              <a:solidFill>
                <a:srgbClr val="3907F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6                 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A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[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 + 1]← 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A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[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] </a:t>
            </a:r>
            <a:endParaRPr lang="en-US" altLang="zh-CN" b="1" dirty="0">
              <a:solidFill>
                <a:srgbClr val="3907F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7                 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i 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← </a:t>
            </a:r>
            <a:r>
              <a:rPr lang="en-US" altLang="zh-CN" b="1" i="1" dirty="0">
                <a:solidFill>
                  <a:srgbClr val="3907F1"/>
                </a:solidFill>
                <a:latin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3907F1"/>
                </a:solidFill>
                <a:latin typeface="Arial" panose="020B0604020202020204" pitchFamily="34" charset="0"/>
              </a:rPr>
              <a:t> - 1 </a:t>
            </a:r>
            <a:endParaRPr lang="en-US" altLang="zh-CN" b="1" dirty="0">
              <a:solidFill>
                <a:srgbClr val="3907F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/>
            <a:endParaRPr lang="zh-CN" altLang="zh-CN" dirty="0"/>
          </a:p>
        </p:txBody>
      </p:sp>
      <p:pic>
        <p:nvPicPr>
          <p:cNvPr id="1126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981075"/>
            <a:ext cx="8569325" cy="5294313"/>
          </a:xfrm>
          <a:prstGeom prst="rect">
            <a:avLst/>
          </a:prstGeom>
          <a:noFill/>
          <a:ln w="2540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pic>
        <p:nvPicPr>
          <p:cNvPr id="1229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981075"/>
            <a:ext cx="8404225" cy="4984750"/>
          </a:xfrm>
          <a:prstGeom prst="rect">
            <a:avLst/>
          </a:prstGeom>
          <a:noFill/>
          <a:ln w="2540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pic>
        <p:nvPicPr>
          <p:cNvPr id="1331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914400"/>
            <a:ext cx="8178800" cy="5029200"/>
          </a:xfrm>
          <a:prstGeom prst="rect">
            <a:avLst/>
          </a:prstGeom>
          <a:noFill/>
          <a:ln w="2540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endParaRPr lang="zh-CN" altLang="zh-CN" dirty="0"/>
          </a:p>
        </p:txBody>
      </p:sp>
      <p:pic>
        <p:nvPicPr>
          <p:cNvPr id="14340" name="Picture 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79388" y="573088"/>
            <a:ext cx="8713787" cy="5800725"/>
          </a:xfrm>
          <a:ln w="25400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pic>
        <p:nvPicPr>
          <p:cNvPr id="15363" name="Picture 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0" y="692150"/>
            <a:ext cx="9144000" cy="5684838"/>
          </a:xfrm>
          <a:ln w="25400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pic>
        <p:nvPicPr>
          <p:cNvPr id="16387" name="Picture 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50825" y="636588"/>
            <a:ext cx="8713788" cy="5529262"/>
          </a:xfrm>
          <a:ln w="25400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pic>
        <p:nvPicPr>
          <p:cNvPr id="17411" name="Picture 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23850" y="981075"/>
            <a:ext cx="8496300" cy="5292725"/>
          </a:xfrm>
          <a:ln w="25400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pic>
        <p:nvPicPr>
          <p:cNvPr id="18435" name="Picture 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23850" y="276225"/>
            <a:ext cx="8640763" cy="6465888"/>
          </a:xfrm>
          <a:solidFill>
            <a:schemeClr val="bg1">
              <a:alpha val="100000"/>
            </a:schemeClr>
          </a:solidFill>
          <a:ln w="25400"/>
        </p:spPr>
      </p:pic>
      <p:sp>
        <p:nvSpPr>
          <p:cNvPr id="18436" name="Rectangle 5"/>
          <p:cNvSpPr/>
          <p:nvPr/>
        </p:nvSpPr>
        <p:spPr>
          <a:xfrm>
            <a:off x="179388" y="476250"/>
            <a:ext cx="4824412" cy="431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pic>
        <p:nvPicPr>
          <p:cNvPr id="19459" name="Picture 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23850" y="476250"/>
            <a:ext cx="8640763" cy="5637213"/>
          </a:xfrm>
          <a:ln w="25400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pic>
        <p:nvPicPr>
          <p:cNvPr id="20483" name="Picture 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50825" y="692150"/>
            <a:ext cx="8675688" cy="5314950"/>
          </a:xfrm>
          <a:ln w="25400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pic>
        <p:nvPicPr>
          <p:cNvPr id="21507" name="Picture 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79388" y="476250"/>
            <a:ext cx="8964612" cy="5521325"/>
          </a:xfrm>
          <a:ln w="25400"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pic>
        <p:nvPicPr>
          <p:cNvPr id="22531" name="Picture 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95288" y="260350"/>
            <a:ext cx="8569325" cy="6281738"/>
          </a:xfrm>
          <a:ln w="25400"/>
        </p:spPr>
      </p:pic>
      <p:sp>
        <p:nvSpPr>
          <p:cNvPr id="22532" name="Rectangle 5"/>
          <p:cNvSpPr/>
          <p:nvPr/>
        </p:nvSpPr>
        <p:spPr>
          <a:xfrm>
            <a:off x="468313" y="549275"/>
            <a:ext cx="2374900" cy="431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6147" name="Rectangle 2"/>
          <p:cNvSpPr>
            <a:spLocks noGrp="1"/>
          </p:cNvSpPr>
          <p:nvPr>
            <p:ph idx="1"/>
          </p:nvPr>
        </p:nvSpPr>
        <p:spPr>
          <a:xfrm>
            <a:off x="457200" y="1125538"/>
            <a:ext cx="8362950" cy="5472112"/>
          </a:xfrm>
        </p:spPr>
        <p:txBody>
          <a:bodyPr vert="horz" wrap="square" lIns="91440" tIns="45720" rIns="91440" bIns="45720" anchor="t"/>
          <a:p>
            <a:pPr hangingPunct="1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3907F1"/>
                </a:solidFill>
              </a:rPr>
              <a:t>      </a:t>
            </a:r>
            <a:r>
              <a:rPr lang="zh-CN" altLang="en-US" sz="2800" b="1" dirty="0">
                <a:solidFill>
                  <a:srgbClr val="3907F1"/>
                </a:solidFill>
              </a:rPr>
              <a:t>学习要点</a:t>
            </a:r>
            <a:r>
              <a:rPr lang="en-US" altLang="zh-CN" sz="2800" b="1" dirty="0">
                <a:solidFill>
                  <a:srgbClr val="3907F1"/>
                </a:solidFill>
              </a:rPr>
              <a:t>:</a:t>
            </a:r>
            <a:endParaRPr lang="en-US" altLang="zh-CN" sz="2800" b="1" dirty="0">
              <a:solidFill>
                <a:srgbClr val="3907F1"/>
              </a:solidFill>
            </a:endParaRP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000" dirty="0"/>
              <a:t>理解递归的概念。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000" dirty="0"/>
              <a:t>掌握设计有效算法的分治策略。</a:t>
            </a:r>
            <a:endParaRPr lang="zh-CN" altLang="en-US" sz="20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000" dirty="0"/>
              <a:t>通过下面的范例学习分治策略设计技巧。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）二分搜索技术； 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）大整数乘法；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</a:t>
            </a:r>
            <a:r>
              <a:rPr lang="en-US" altLang="zh-CN" sz="2000" dirty="0"/>
              <a:t>Strassen</a:t>
            </a:r>
            <a:r>
              <a:rPr lang="zh-CN" altLang="en-US" sz="2000" dirty="0"/>
              <a:t>矩阵乘法；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）棋盘覆盖；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5</a:t>
            </a:r>
            <a:r>
              <a:rPr lang="zh-CN" altLang="en-US" sz="2000" dirty="0"/>
              <a:t>）合并排序和快速排序；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6</a:t>
            </a:r>
            <a:r>
              <a:rPr lang="zh-CN" altLang="en-US" sz="2000" dirty="0"/>
              <a:t>）线性时间选择；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7</a:t>
            </a:r>
            <a:r>
              <a:rPr lang="zh-CN" altLang="en-US" sz="2000" dirty="0"/>
              <a:t>）最接近点对问题；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8</a:t>
            </a:r>
            <a:r>
              <a:rPr lang="zh-CN" altLang="en-US" sz="2000" dirty="0"/>
              <a:t>）循环赛日程表。</a:t>
            </a:r>
            <a:endParaRPr lang="zh-CN" altLang="en-US" sz="2000" dirty="0"/>
          </a:p>
        </p:txBody>
      </p:sp>
      <p:sp>
        <p:nvSpPr>
          <p:cNvPr id="6148" name="Rectangle 3"/>
          <p:cNvSpPr>
            <a:spLocks noGrp="1"/>
          </p:cNvSpPr>
          <p:nvPr>
            <p:ph type="title"/>
          </p:nvPr>
        </p:nvSpPr>
        <p:spPr>
          <a:xfrm>
            <a:off x="395288" y="333375"/>
            <a:ext cx="7543800" cy="720725"/>
          </a:xfrm>
        </p:spPr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递归与分治策略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递归的故事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467544" y="1927373"/>
            <a:ext cx="8229600" cy="4525963"/>
          </a:xfrm>
          <a:effectLst/>
          <a:scene3d>
            <a:camera prst="orthographicFront"/>
            <a:lightRig rig="balanced" dir="t"/>
          </a:scene3d>
          <a:sp3d prstMaterial="plastic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从前有座山，山里有座庙，庙里有个老和尚，老和尚对小和尚说：</a:t>
            </a:r>
            <a:endParaRPr kumimoji="0" lang="en-US" altLang="zh-CN" sz="30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92150" marR="0" lvl="1" indent="-3479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从前有座山，山里有座庙，庙里有个老和尚，老和尚对小和尚说：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87425" marR="0" lvl="2" indent="-29400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从前有座山，山里有座庙，庙里有个老和尚，老和尚对小和尚说：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81430" marR="0" lvl="3" indent="-2921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从前有座山，山里有座庙，庙里有个老和尚，老和尚对小和尚说：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598930" marR="0" lvl="4" indent="-31623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598930" marR="0" lvl="4" indent="-31623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从前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有座山，山里有座庙，庙里有个老和尚，老和尚对小和尚说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598930" marR="0" lvl="4" indent="-31623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514600" marR="0" lvl="5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595959"/>
                </a:solidFill>
                <a:latin typeface="Century Gothic" panose="020B0502020202020204" pitchFamily="34" charset="0"/>
              </a:rPr>
            </a:fld>
            <a:endParaRPr lang="en-US" altLang="zh-CN" sz="1200" dirty="0">
              <a:solidFill>
                <a:srgbClr val="595959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4643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4025" y="5373688"/>
            <a:ext cx="1079500" cy="107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云形标注 5"/>
          <p:cNvSpPr/>
          <p:nvPr/>
        </p:nvSpPr>
        <p:spPr>
          <a:xfrm>
            <a:off x="755650" y="3573463"/>
            <a:ext cx="3816350" cy="2663825"/>
          </a:xfrm>
          <a:prstGeom prst="cloudCallout">
            <a:avLst>
              <a:gd name="adj1" fmla="val -8149"/>
              <a:gd name="adj2" fmla="val 478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有限性：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算法中每条指令的执行次数是有限的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6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9219" name="Rectangle 4"/>
          <p:cNvSpPr>
            <a:spLocks noGrp="1"/>
          </p:cNvSpPr>
          <p:nvPr>
            <p:ph idx="1"/>
          </p:nvPr>
        </p:nvSpPr>
        <p:spPr>
          <a:xfrm>
            <a:off x="682625" y="1746250"/>
            <a:ext cx="7772400" cy="4006850"/>
          </a:xfrm>
        </p:spPr>
        <p:txBody>
          <a:bodyPr vert="horz" wrap="square" lIns="91440" tIns="45720" rIns="91440" bIns="45720" anchor="t"/>
          <a:p>
            <a:pPr eaLnBrk="1" hangingPunct="1"/>
            <a:r>
              <a:rPr lang="zh-CN" altLang="en-US" sz="2100" dirty="0">
                <a:latin typeface="新宋体" panose="02010609030101010101" charset="-122"/>
                <a:ea typeface="新宋体" panose="02010609030101010101" charset="-122"/>
              </a:rPr>
              <a:t>将要求解的较大规模的问题分割成</a:t>
            </a:r>
            <a:r>
              <a:rPr lang="en-US" altLang="zh-CN" sz="2100" dirty="0">
                <a:latin typeface="新宋体" panose="02010609030101010101" charset="-122"/>
                <a:ea typeface="新宋体" panose="02010609030101010101" charset="-122"/>
              </a:rPr>
              <a:t>k</a:t>
            </a:r>
            <a:r>
              <a:rPr lang="zh-CN" altLang="en-US" sz="2100" dirty="0">
                <a:latin typeface="新宋体" panose="02010609030101010101" charset="-122"/>
                <a:ea typeface="新宋体" panose="02010609030101010101" charset="-122"/>
              </a:rPr>
              <a:t>个更小规模的子问题。</a:t>
            </a:r>
            <a:endParaRPr lang="zh-CN" altLang="en-US" sz="21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算法总体思想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221" name="Oval 5"/>
          <p:cNvSpPr/>
          <p:nvPr/>
        </p:nvSpPr>
        <p:spPr>
          <a:xfrm>
            <a:off x="4284663" y="3500438"/>
            <a:ext cx="800100" cy="60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3200" dirty="0"/>
              <a:t>n</a:t>
            </a:r>
            <a:endParaRPr lang="en-US" altLang="zh-CN" sz="3200" dirty="0"/>
          </a:p>
        </p:txBody>
      </p:sp>
      <p:cxnSp>
        <p:nvCxnSpPr>
          <p:cNvPr id="9222" name="AutoShape 6"/>
          <p:cNvCxnSpPr>
            <a:stCxn id="9221" idx="4"/>
            <a:endCxn id="9229" idx="0"/>
          </p:cNvCxnSpPr>
          <p:nvPr/>
        </p:nvCxnSpPr>
        <p:spPr>
          <a:xfrm>
            <a:off x="4684713" y="4119563"/>
            <a:ext cx="3621087" cy="8128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223" name="AutoShape 7"/>
          <p:cNvCxnSpPr>
            <a:stCxn id="9221" idx="4"/>
            <a:endCxn id="9226" idx="0"/>
          </p:cNvCxnSpPr>
          <p:nvPr/>
        </p:nvCxnSpPr>
        <p:spPr>
          <a:xfrm flipH="1">
            <a:off x="1266825" y="4119563"/>
            <a:ext cx="3417888" cy="7620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224" name="AutoShape 8"/>
          <p:cNvCxnSpPr>
            <a:stCxn id="9221" idx="4"/>
            <a:endCxn id="9227" idx="0"/>
          </p:cNvCxnSpPr>
          <p:nvPr/>
        </p:nvCxnSpPr>
        <p:spPr>
          <a:xfrm flipH="1">
            <a:off x="3613150" y="4119563"/>
            <a:ext cx="1071563" cy="8128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225" name="AutoShape 9"/>
          <p:cNvCxnSpPr>
            <a:stCxn id="9221" idx="4"/>
            <a:endCxn id="9228" idx="0"/>
          </p:cNvCxnSpPr>
          <p:nvPr/>
        </p:nvCxnSpPr>
        <p:spPr>
          <a:xfrm>
            <a:off x="4684713" y="4119563"/>
            <a:ext cx="1274762" cy="8128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226" name="AutoShape 10"/>
          <p:cNvSpPr/>
          <p:nvPr/>
        </p:nvSpPr>
        <p:spPr>
          <a:xfrm>
            <a:off x="428625" y="4891088"/>
            <a:ext cx="1676400" cy="1473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2800" b="1" dirty="0"/>
              <a:t>T(n/2)</a:t>
            </a:r>
            <a:endParaRPr lang="en-US" altLang="zh-CN" sz="2800" b="1" dirty="0"/>
          </a:p>
        </p:txBody>
      </p:sp>
      <p:sp>
        <p:nvSpPr>
          <p:cNvPr id="9227" name="AutoShape 11"/>
          <p:cNvSpPr/>
          <p:nvPr/>
        </p:nvSpPr>
        <p:spPr>
          <a:xfrm>
            <a:off x="2774950" y="4941888"/>
            <a:ext cx="1676400" cy="1473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2800" b="1" dirty="0"/>
              <a:t>T(n/2)</a:t>
            </a:r>
            <a:endParaRPr lang="en-US" altLang="zh-CN" sz="2800" b="1" dirty="0"/>
          </a:p>
        </p:txBody>
      </p:sp>
      <p:sp>
        <p:nvSpPr>
          <p:cNvPr id="9228" name="AutoShape 12"/>
          <p:cNvSpPr/>
          <p:nvPr/>
        </p:nvSpPr>
        <p:spPr>
          <a:xfrm>
            <a:off x="5121275" y="4941888"/>
            <a:ext cx="1676400" cy="1473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2800" b="1" dirty="0"/>
              <a:t>T(n/2)</a:t>
            </a:r>
            <a:endParaRPr lang="en-US" altLang="zh-CN" sz="2800" b="1" dirty="0"/>
          </a:p>
        </p:txBody>
      </p:sp>
      <p:sp>
        <p:nvSpPr>
          <p:cNvPr id="9229" name="AutoShape 13"/>
          <p:cNvSpPr/>
          <p:nvPr/>
        </p:nvSpPr>
        <p:spPr>
          <a:xfrm>
            <a:off x="7467600" y="4941888"/>
            <a:ext cx="1676400" cy="1473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2800" b="1" dirty="0"/>
              <a:t>T(n/2)</a:t>
            </a:r>
            <a:endParaRPr lang="en-US" altLang="zh-CN" sz="2800" b="1" dirty="0"/>
          </a:p>
        </p:txBody>
      </p:sp>
      <p:sp>
        <p:nvSpPr>
          <p:cNvPr id="9230" name="AutoShape 14"/>
          <p:cNvSpPr/>
          <p:nvPr/>
        </p:nvSpPr>
        <p:spPr>
          <a:xfrm>
            <a:off x="609600" y="3214688"/>
            <a:ext cx="1295400" cy="1066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3200" dirty="0"/>
              <a:t>T(n)</a:t>
            </a:r>
            <a:endParaRPr lang="en-US" altLang="zh-CN" sz="3200" dirty="0"/>
          </a:p>
        </p:txBody>
      </p:sp>
      <p:sp>
        <p:nvSpPr>
          <p:cNvPr id="9231" name="Text Box 15"/>
          <p:cNvSpPr txBox="1"/>
          <p:nvPr/>
        </p:nvSpPr>
        <p:spPr>
          <a:xfrm>
            <a:off x="2895600" y="3549650"/>
            <a:ext cx="1066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dirty="0"/>
              <a:t>=</a:t>
            </a:r>
            <a:endParaRPr lang="en-US" altLang="zh-CN" sz="3200" dirty="0"/>
          </a:p>
        </p:txBody>
      </p:sp>
      <p:sp>
        <p:nvSpPr>
          <p:cNvPr id="9233" name="Text Box 17"/>
          <p:cNvSpPr txBox="1"/>
          <p:nvPr/>
        </p:nvSpPr>
        <p:spPr>
          <a:xfrm>
            <a:off x="1042988" y="1700213"/>
            <a:ext cx="7345362" cy="1311275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4000" dirty="0">
                <a:latin typeface="Arial" panose="020B0604020202020204" pitchFamily="34" charset="0"/>
                <a:ea typeface="Arial Unicode MS" panose="020B0604020202020204" charset="-122"/>
              </a:rPr>
              <a:t>                                                       </a:t>
            </a:r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  <a:p>
            <a:pPr eaLnBrk="1" hangingPunct="1"/>
            <a:r>
              <a:rPr lang="en-US" altLang="zh-CN" sz="4000" dirty="0">
                <a:latin typeface="Arial" panose="020B0604020202020204" pitchFamily="34" charset="0"/>
                <a:ea typeface="Arial Unicode MS" panose="020B0604020202020204" charset="-122"/>
              </a:rPr>
              <a:t> </a:t>
            </a:r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4213" y="1752600"/>
            <a:ext cx="7772400" cy="1295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/>
            <a:r>
              <a:rPr lang="zh-CN" altLang="en-US" sz="2100" dirty="0">
                <a:latin typeface="新宋体" panose="02010609030101010101" charset="-122"/>
                <a:ea typeface="新宋体" panose="02010609030101010101" charset="-122"/>
              </a:rPr>
              <a:t>对这</a:t>
            </a:r>
            <a:r>
              <a:rPr lang="en-US" altLang="zh-CN" sz="2100" dirty="0">
                <a:latin typeface="新宋体" panose="02010609030101010101" charset="-122"/>
                <a:ea typeface="新宋体" panose="02010609030101010101" charset="-122"/>
              </a:rPr>
              <a:t>k</a:t>
            </a:r>
            <a:r>
              <a:rPr lang="zh-CN" altLang="en-US" sz="2100" dirty="0">
                <a:latin typeface="新宋体" panose="02010609030101010101" charset="-122"/>
                <a:ea typeface="新宋体" panose="02010609030101010101" charset="-122"/>
              </a:rPr>
              <a:t>个子问题分别求解。如果子问题的规模仍然不够小，则再划分为</a:t>
            </a:r>
            <a:r>
              <a:rPr lang="en-US" altLang="zh-CN" sz="2100" dirty="0">
                <a:latin typeface="新宋体" panose="02010609030101010101" charset="-122"/>
                <a:ea typeface="新宋体" panose="02010609030101010101" charset="-122"/>
              </a:rPr>
              <a:t>k</a:t>
            </a:r>
            <a:r>
              <a:rPr lang="zh-CN" altLang="en-US" sz="2100" dirty="0">
                <a:latin typeface="新宋体" panose="02010609030101010101" charset="-122"/>
                <a:ea typeface="新宋体" panose="02010609030101010101" charset="-122"/>
              </a:rPr>
              <a:t>个子问题，如此递归的进行下去，直到问题规模足够小，很容易求出其解为止。</a:t>
            </a:r>
            <a:endParaRPr lang="zh-CN" altLang="en-US" sz="2100" dirty="0">
              <a:latin typeface="新宋体" panose="02010609030101010101" charset="-122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3" grpId="0" bldLvl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4213" y="3333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算法总体思想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244" name="Rectangle 3"/>
          <p:cNvSpPr/>
          <p:nvPr/>
        </p:nvSpPr>
        <p:spPr>
          <a:xfrm>
            <a:off x="684213" y="1628775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/>
            <a:r>
              <a:rPr lang="zh-CN" altLang="en-US" sz="2100" dirty="0">
                <a:latin typeface="新宋体" panose="02010609030101010101" charset="-122"/>
                <a:ea typeface="新宋体" panose="02010609030101010101" charset="-122"/>
              </a:rPr>
              <a:t>对这</a:t>
            </a:r>
            <a:r>
              <a:rPr lang="en-US" altLang="zh-CN" sz="2100" dirty="0">
                <a:latin typeface="新宋体" panose="02010609030101010101" charset="-122"/>
                <a:ea typeface="新宋体" panose="02010609030101010101" charset="-122"/>
              </a:rPr>
              <a:t>k</a:t>
            </a:r>
            <a:r>
              <a:rPr lang="zh-CN" altLang="en-US" sz="2100" dirty="0">
                <a:latin typeface="新宋体" panose="02010609030101010101" charset="-122"/>
                <a:ea typeface="新宋体" panose="02010609030101010101" charset="-122"/>
              </a:rPr>
              <a:t>个子问题分别求解。如果子问题的规模仍然不够小，则再划分为</a:t>
            </a:r>
            <a:r>
              <a:rPr lang="en-US" altLang="zh-CN" sz="2100" dirty="0">
                <a:latin typeface="新宋体" panose="02010609030101010101" charset="-122"/>
                <a:ea typeface="新宋体" panose="02010609030101010101" charset="-122"/>
              </a:rPr>
              <a:t>k</a:t>
            </a:r>
            <a:r>
              <a:rPr lang="zh-CN" altLang="en-US" sz="2100" dirty="0">
                <a:latin typeface="新宋体" panose="02010609030101010101" charset="-122"/>
                <a:ea typeface="新宋体" panose="02010609030101010101" charset="-122"/>
              </a:rPr>
              <a:t>个子问题，如此递归的进行下去，直到问题规模足够小，很容易求出其解为止。</a:t>
            </a:r>
            <a:endParaRPr lang="zh-CN" altLang="en-US" sz="21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0245" name="Oval 4"/>
          <p:cNvSpPr/>
          <p:nvPr/>
        </p:nvSpPr>
        <p:spPr>
          <a:xfrm>
            <a:off x="4284663" y="3500438"/>
            <a:ext cx="800100" cy="60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3200" dirty="0"/>
              <a:t>n</a:t>
            </a:r>
            <a:endParaRPr lang="en-US" altLang="zh-CN" sz="3200" dirty="0"/>
          </a:p>
        </p:txBody>
      </p:sp>
      <p:cxnSp>
        <p:nvCxnSpPr>
          <p:cNvPr id="10246" name="AutoShape 5"/>
          <p:cNvCxnSpPr>
            <a:stCxn id="10245" idx="4"/>
          </p:cNvCxnSpPr>
          <p:nvPr/>
        </p:nvCxnSpPr>
        <p:spPr>
          <a:xfrm>
            <a:off x="4684713" y="4119563"/>
            <a:ext cx="3621087" cy="8128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247" name="AutoShape 6"/>
          <p:cNvCxnSpPr>
            <a:stCxn id="10245" idx="4"/>
          </p:cNvCxnSpPr>
          <p:nvPr/>
        </p:nvCxnSpPr>
        <p:spPr>
          <a:xfrm flipH="1">
            <a:off x="1266825" y="4119563"/>
            <a:ext cx="3417888" cy="7620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248" name="AutoShape 7"/>
          <p:cNvCxnSpPr>
            <a:stCxn id="10245" idx="4"/>
          </p:cNvCxnSpPr>
          <p:nvPr/>
        </p:nvCxnSpPr>
        <p:spPr>
          <a:xfrm flipH="1">
            <a:off x="3613150" y="4119563"/>
            <a:ext cx="1071563" cy="8128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249" name="AutoShape 8"/>
          <p:cNvCxnSpPr>
            <a:stCxn id="10245" idx="4"/>
          </p:cNvCxnSpPr>
          <p:nvPr/>
        </p:nvCxnSpPr>
        <p:spPr>
          <a:xfrm>
            <a:off x="4684713" y="4119563"/>
            <a:ext cx="1274762" cy="8128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0250" name="AutoShape 9"/>
          <p:cNvSpPr/>
          <p:nvPr/>
        </p:nvSpPr>
        <p:spPr>
          <a:xfrm>
            <a:off x="609600" y="3214688"/>
            <a:ext cx="1295400" cy="1066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3200" dirty="0"/>
              <a:t>T(n)</a:t>
            </a:r>
            <a:endParaRPr lang="en-US" altLang="zh-CN" sz="3200" dirty="0"/>
          </a:p>
        </p:txBody>
      </p:sp>
      <p:sp>
        <p:nvSpPr>
          <p:cNvPr id="10251" name="Text Box 10"/>
          <p:cNvSpPr txBox="1"/>
          <p:nvPr/>
        </p:nvSpPr>
        <p:spPr>
          <a:xfrm>
            <a:off x="2895600" y="3549650"/>
            <a:ext cx="1066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dirty="0"/>
              <a:t>=</a:t>
            </a:r>
            <a:endParaRPr lang="en-US" altLang="zh-CN" sz="3200" dirty="0"/>
          </a:p>
        </p:txBody>
      </p:sp>
      <p:grpSp>
        <p:nvGrpSpPr>
          <p:cNvPr id="10252" name="Group 11"/>
          <p:cNvGrpSpPr/>
          <p:nvPr/>
        </p:nvGrpSpPr>
        <p:grpSpPr>
          <a:xfrm>
            <a:off x="250825" y="5013325"/>
            <a:ext cx="1981200" cy="1422400"/>
            <a:chOff x="96" y="1296"/>
            <a:chExt cx="1488" cy="1104"/>
          </a:xfrm>
        </p:grpSpPr>
        <p:sp>
          <p:nvSpPr>
            <p:cNvPr id="10285" name="Oval 12"/>
            <p:cNvSpPr/>
            <p:nvPr/>
          </p:nvSpPr>
          <p:spPr>
            <a:xfrm>
              <a:off x="624" y="1296"/>
              <a:ext cx="504" cy="38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2800" dirty="0"/>
                <a:t>n/2</a:t>
              </a:r>
              <a:endParaRPr lang="en-US" altLang="zh-CN" sz="2800" dirty="0"/>
            </a:p>
          </p:txBody>
        </p:sp>
        <p:cxnSp>
          <p:nvCxnSpPr>
            <p:cNvPr id="10286" name="AutoShape 13"/>
            <p:cNvCxnSpPr>
              <a:stCxn id="10285" idx="4"/>
              <a:endCxn id="10293" idx="0"/>
            </p:cNvCxnSpPr>
            <p:nvPr/>
          </p:nvCxnSpPr>
          <p:spPr>
            <a:xfrm>
              <a:off x="876" y="1686"/>
              <a:ext cx="576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87" name="AutoShape 14"/>
            <p:cNvCxnSpPr>
              <a:stCxn id="10285" idx="4"/>
              <a:endCxn id="10290" idx="0"/>
            </p:cNvCxnSpPr>
            <p:nvPr/>
          </p:nvCxnSpPr>
          <p:spPr>
            <a:xfrm flipH="1">
              <a:off x="228" y="1686"/>
              <a:ext cx="648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88" name="AutoShape 15"/>
            <p:cNvCxnSpPr>
              <a:stCxn id="10285" idx="4"/>
              <a:endCxn id="10291" idx="0"/>
            </p:cNvCxnSpPr>
            <p:nvPr/>
          </p:nvCxnSpPr>
          <p:spPr>
            <a:xfrm flipH="1">
              <a:off x="636" y="1686"/>
              <a:ext cx="240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89" name="AutoShape 16"/>
            <p:cNvCxnSpPr>
              <a:stCxn id="10285" idx="4"/>
              <a:endCxn id="10292" idx="0"/>
            </p:cNvCxnSpPr>
            <p:nvPr/>
          </p:nvCxnSpPr>
          <p:spPr>
            <a:xfrm>
              <a:off x="876" y="1686"/>
              <a:ext cx="168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0290" name="AutoShape 17"/>
            <p:cNvSpPr/>
            <p:nvPr/>
          </p:nvSpPr>
          <p:spPr>
            <a:xfrm>
              <a:off x="96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91" name="AutoShape 18"/>
            <p:cNvSpPr/>
            <p:nvPr/>
          </p:nvSpPr>
          <p:spPr>
            <a:xfrm>
              <a:off x="504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92" name="AutoShape 19"/>
            <p:cNvSpPr/>
            <p:nvPr/>
          </p:nvSpPr>
          <p:spPr>
            <a:xfrm>
              <a:off x="912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93" name="AutoShape 20"/>
            <p:cNvSpPr/>
            <p:nvPr/>
          </p:nvSpPr>
          <p:spPr>
            <a:xfrm>
              <a:off x="1320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</p:grpSp>
      <p:grpSp>
        <p:nvGrpSpPr>
          <p:cNvPr id="10253" name="Group 21"/>
          <p:cNvGrpSpPr/>
          <p:nvPr/>
        </p:nvGrpSpPr>
        <p:grpSpPr>
          <a:xfrm>
            <a:off x="2627313" y="5013325"/>
            <a:ext cx="1981200" cy="1422400"/>
            <a:chOff x="96" y="1296"/>
            <a:chExt cx="1488" cy="1104"/>
          </a:xfrm>
        </p:grpSpPr>
        <p:sp>
          <p:nvSpPr>
            <p:cNvPr id="10276" name="Oval 22"/>
            <p:cNvSpPr/>
            <p:nvPr/>
          </p:nvSpPr>
          <p:spPr>
            <a:xfrm>
              <a:off x="624" y="1296"/>
              <a:ext cx="504" cy="38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2800" dirty="0"/>
                <a:t>n/2</a:t>
              </a:r>
              <a:endParaRPr lang="en-US" altLang="zh-CN" sz="2800" dirty="0"/>
            </a:p>
          </p:txBody>
        </p:sp>
        <p:cxnSp>
          <p:nvCxnSpPr>
            <p:cNvPr id="10277" name="AutoShape 23"/>
            <p:cNvCxnSpPr>
              <a:stCxn id="10276" idx="4"/>
              <a:endCxn id="10284" idx="0"/>
            </p:cNvCxnSpPr>
            <p:nvPr/>
          </p:nvCxnSpPr>
          <p:spPr>
            <a:xfrm>
              <a:off x="876" y="1686"/>
              <a:ext cx="576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78" name="AutoShape 24"/>
            <p:cNvCxnSpPr>
              <a:stCxn id="10276" idx="4"/>
              <a:endCxn id="10281" idx="0"/>
            </p:cNvCxnSpPr>
            <p:nvPr/>
          </p:nvCxnSpPr>
          <p:spPr>
            <a:xfrm flipH="1">
              <a:off x="228" y="1686"/>
              <a:ext cx="648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79" name="AutoShape 25"/>
            <p:cNvCxnSpPr>
              <a:stCxn id="10276" idx="4"/>
              <a:endCxn id="10282" idx="0"/>
            </p:cNvCxnSpPr>
            <p:nvPr/>
          </p:nvCxnSpPr>
          <p:spPr>
            <a:xfrm flipH="1">
              <a:off x="636" y="1686"/>
              <a:ext cx="240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80" name="AutoShape 26"/>
            <p:cNvCxnSpPr>
              <a:stCxn id="10276" idx="4"/>
              <a:endCxn id="10283" idx="0"/>
            </p:cNvCxnSpPr>
            <p:nvPr/>
          </p:nvCxnSpPr>
          <p:spPr>
            <a:xfrm>
              <a:off x="876" y="1686"/>
              <a:ext cx="168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0281" name="AutoShape 27"/>
            <p:cNvSpPr/>
            <p:nvPr/>
          </p:nvSpPr>
          <p:spPr>
            <a:xfrm>
              <a:off x="96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82" name="AutoShape 28"/>
            <p:cNvSpPr/>
            <p:nvPr/>
          </p:nvSpPr>
          <p:spPr>
            <a:xfrm>
              <a:off x="504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83" name="AutoShape 29"/>
            <p:cNvSpPr/>
            <p:nvPr/>
          </p:nvSpPr>
          <p:spPr>
            <a:xfrm>
              <a:off x="912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84" name="AutoShape 30"/>
            <p:cNvSpPr/>
            <p:nvPr/>
          </p:nvSpPr>
          <p:spPr>
            <a:xfrm>
              <a:off x="1320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</p:grpSp>
      <p:grpSp>
        <p:nvGrpSpPr>
          <p:cNvPr id="10254" name="Group 31"/>
          <p:cNvGrpSpPr/>
          <p:nvPr/>
        </p:nvGrpSpPr>
        <p:grpSpPr>
          <a:xfrm>
            <a:off x="4932363" y="5013325"/>
            <a:ext cx="1981200" cy="1422400"/>
            <a:chOff x="96" y="1296"/>
            <a:chExt cx="1488" cy="1104"/>
          </a:xfrm>
        </p:grpSpPr>
        <p:sp>
          <p:nvSpPr>
            <p:cNvPr id="10267" name="Oval 32"/>
            <p:cNvSpPr/>
            <p:nvPr/>
          </p:nvSpPr>
          <p:spPr>
            <a:xfrm>
              <a:off x="624" y="1296"/>
              <a:ext cx="504" cy="38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2800" dirty="0"/>
                <a:t>n/2</a:t>
              </a:r>
              <a:endParaRPr lang="en-US" altLang="zh-CN" sz="2800" dirty="0"/>
            </a:p>
          </p:txBody>
        </p:sp>
        <p:cxnSp>
          <p:nvCxnSpPr>
            <p:cNvPr id="10268" name="AutoShape 33"/>
            <p:cNvCxnSpPr>
              <a:stCxn id="10267" idx="4"/>
              <a:endCxn id="10275" idx="0"/>
            </p:cNvCxnSpPr>
            <p:nvPr/>
          </p:nvCxnSpPr>
          <p:spPr>
            <a:xfrm>
              <a:off x="876" y="1686"/>
              <a:ext cx="576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69" name="AutoShape 34"/>
            <p:cNvCxnSpPr>
              <a:stCxn id="10267" idx="4"/>
              <a:endCxn id="10272" idx="0"/>
            </p:cNvCxnSpPr>
            <p:nvPr/>
          </p:nvCxnSpPr>
          <p:spPr>
            <a:xfrm flipH="1">
              <a:off x="228" y="1686"/>
              <a:ext cx="648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70" name="AutoShape 35"/>
            <p:cNvCxnSpPr>
              <a:stCxn id="10267" idx="4"/>
              <a:endCxn id="10273" idx="0"/>
            </p:cNvCxnSpPr>
            <p:nvPr/>
          </p:nvCxnSpPr>
          <p:spPr>
            <a:xfrm flipH="1">
              <a:off x="636" y="1686"/>
              <a:ext cx="240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71" name="AutoShape 36"/>
            <p:cNvCxnSpPr>
              <a:stCxn id="10267" idx="4"/>
              <a:endCxn id="10274" idx="0"/>
            </p:cNvCxnSpPr>
            <p:nvPr/>
          </p:nvCxnSpPr>
          <p:spPr>
            <a:xfrm>
              <a:off x="876" y="1686"/>
              <a:ext cx="168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0272" name="AutoShape 37"/>
            <p:cNvSpPr/>
            <p:nvPr/>
          </p:nvSpPr>
          <p:spPr>
            <a:xfrm>
              <a:off x="96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73" name="AutoShape 38"/>
            <p:cNvSpPr/>
            <p:nvPr/>
          </p:nvSpPr>
          <p:spPr>
            <a:xfrm>
              <a:off x="504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74" name="AutoShape 39"/>
            <p:cNvSpPr/>
            <p:nvPr/>
          </p:nvSpPr>
          <p:spPr>
            <a:xfrm>
              <a:off x="912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75" name="AutoShape 40"/>
            <p:cNvSpPr/>
            <p:nvPr/>
          </p:nvSpPr>
          <p:spPr>
            <a:xfrm>
              <a:off x="1320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</p:grpSp>
      <p:grpSp>
        <p:nvGrpSpPr>
          <p:cNvPr id="10255" name="Group 41"/>
          <p:cNvGrpSpPr/>
          <p:nvPr/>
        </p:nvGrpSpPr>
        <p:grpSpPr>
          <a:xfrm>
            <a:off x="7162800" y="5013325"/>
            <a:ext cx="1981200" cy="1422400"/>
            <a:chOff x="96" y="1296"/>
            <a:chExt cx="1488" cy="1104"/>
          </a:xfrm>
        </p:grpSpPr>
        <p:sp>
          <p:nvSpPr>
            <p:cNvPr id="10258" name="Oval 42"/>
            <p:cNvSpPr/>
            <p:nvPr/>
          </p:nvSpPr>
          <p:spPr>
            <a:xfrm>
              <a:off x="624" y="1296"/>
              <a:ext cx="504" cy="38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2800" dirty="0"/>
                <a:t>n/2</a:t>
              </a:r>
              <a:endParaRPr lang="en-US" altLang="zh-CN" sz="2800" dirty="0"/>
            </a:p>
          </p:txBody>
        </p:sp>
        <p:cxnSp>
          <p:nvCxnSpPr>
            <p:cNvPr id="10259" name="AutoShape 43"/>
            <p:cNvCxnSpPr>
              <a:stCxn id="10258" idx="4"/>
              <a:endCxn id="10266" idx="0"/>
            </p:cNvCxnSpPr>
            <p:nvPr/>
          </p:nvCxnSpPr>
          <p:spPr>
            <a:xfrm>
              <a:off x="876" y="1686"/>
              <a:ext cx="576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60" name="AutoShape 44"/>
            <p:cNvCxnSpPr>
              <a:stCxn id="10258" idx="4"/>
              <a:endCxn id="10263" idx="0"/>
            </p:cNvCxnSpPr>
            <p:nvPr/>
          </p:nvCxnSpPr>
          <p:spPr>
            <a:xfrm flipH="1">
              <a:off x="228" y="1686"/>
              <a:ext cx="648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61" name="AutoShape 45"/>
            <p:cNvCxnSpPr>
              <a:stCxn id="10258" idx="4"/>
              <a:endCxn id="10264" idx="0"/>
            </p:cNvCxnSpPr>
            <p:nvPr/>
          </p:nvCxnSpPr>
          <p:spPr>
            <a:xfrm flipH="1">
              <a:off x="636" y="1686"/>
              <a:ext cx="240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262" name="AutoShape 46"/>
            <p:cNvCxnSpPr>
              <a:stCxn id="10258" idx="4"/>
              <a:endCxn id="10265" idx="0"/>
            </p:cNvCxnSpPr>
            <p:nvPr/>
          </p:nvCxnSpPr>
          <p:spPr>
            <a:xfrm>
              <a:off x="876" y="1686"/>
              <a:ext cx="168" cy="500"/>
            </a:xfrm>
            <a:prstGeom prst="straightConnector1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0263" name="AutoShape 47"/>
            <p:cNvSpPr/>
            <p:nvPr/>
          </p:nvSpPr>
          <p:spPr>
            <a:xfrm>
              <a:off x="96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64" name="AutoShape 48"/>
            <p:cNvSpPr/>
            <p:nvPr/>
          </p:nvSpPr>
          <p:spPr>
            <a:xfrm>
              <a:off x="504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65" name="AutoShape 49"/>
            <p:cNvSpPr/>
            <p:nvPr/>
          </p:nvSpPr>
          <p:spPr>
            <a:xfrm>
              <a:off x="912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0266" name="AutoShape 50"/>
            <p:cNvSpPr/>
            <p:nvPr/>
          </p:nvSpPr>
          <p:spPr>
            <a:xfrm>
              <a:off x="1320" y="2192"/>
              <a:ext cx="264" cy="2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</p:grpSp>
      <p:sp>
        <p:nvSpPr>
          <p:cNvPr id="3" name="Text Box 52"/>
          <p:cNvSpPr txBox="1"/>
          <p:nvPr/>
        </p:nvSpPr>
        <p:spPr>
          <a:xfrm>
            <a:off x="1042988" y="1700213"/>
            <a:ext cx="7345362" cy="1311275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4000" dirty="0">
                <a:latin typeface="Arial" panose="020B0604020202020204" pitchFamily="34" charset="0"/>
                <a:ea typeface="Arial Unicode MS" panose="020B0604020202020204" charset="-122"/>
              </a:rPr>
              <a:t>                                                       </a:t>
            </a:r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  <a:p>
            <a:pPr eaLnBrk="1" hangingPunct="1"/>
            <a:r>
              <a:rPr lang="en-US" altLang="zh-CN" sz="4000" dirty="0">
                <a:latin typeface="Arial" panose="020B0604020202020204" pitchFamily="34" charset="0"/>
                <a:ea typeface="Arial Unicode MS" panose="020B0604020202020204" charset="-122"/>
              </a:rPr>
              <a:t> </a:t>
            </a:r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4" name="Rectangle 51"/>
          <p:cNvSpPr/>
          <p:nvPr/>
        </p:nvSpPr>
        <p:spPr>
          <a:xfrm>
            <a:off x="684213" y="1628775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/>
            <a:r>
              <a:rPr lang="zh-CN" altLang="en-US" sz="2100" dirty="0">
                <a:ea typeface="新宋体" panose="02010609030101010101" charset="-122"/>
              </a:rPr>
              <a:t>将求出的小规模的问题的解合并为一个更大规模的问题的解，自底向上逐步求出原来问题的解。</a:t>
            </a:r>
            <a:endParaRPr lang="zh-CN" altLang="en-US" sz="2100" dirty="0"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4213" y="3333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算法总体思想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268" name="Rectangle 3"/>
          <p:cNvSpPr/>
          <p:nvPr/>
        </p:nvSpPr>
        <p:spPr>
          <a:xfrm>
            <a:off x="684213" y="1628775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/>
            <a:r>
              <a:rPr lang="zh-CN" altLang="en-US" sz="2100" dirty="0">
                <a:ea typeface="新宋体" panose="02010609030101010101" charset="-122"/>
              </a:rPr>
              <a:t>将求出的小规模的问题的解合并为一个更大规模的问题的解，自底向上逐步求出原来问题的解。</a:t>
            </a:r>
            <a:endParaRPr lang="zh-CN" altLang="en-US" sz="2100" dirty="0">
              <a:ea typeface="新宋体" panose="02010609030101010101" charset="-122"/>
            </a:endParaRPr>
          </a:p>
        </p:txBody>
      </p:sp>
      <p:sp>
        <p:nvSpPr>
          <p:cNvPr id="11269" name="Oval 4"/>
          <p:cNvSpPr/>
          <p:nvPr/>
        </p:nvSpPr>
        <p:spPr>
          <a:xfrm>
            <a:off x="4284663" y="3500438"/>
            <a:ext cx="800100" cy="60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3200" dirty="0"/>
              <a:t>n</a:t>
            </a:r>
            <a:endParaRPr lang="en-US" altLang="zh-CN" sz="3200" dirty="0"/>
          </a:p>
        </p:txBody>
      </p:sp>
      <p:cxnSp>
        <p:nvCxnSpPr>
          <p:cNvPr id="11270" name="AutoShape 5"/>
          <p:cNvCxnSpPr>
            <a:stCxn id="11269" idx="4"/>
          </p:cNvCxnSpPr>
          <p:nvPr/>
        </p:nvCxnSpPr>
        <p:spPr>
          <a:xfrm>
            <a:off x="4684713" y="4119563"/>
            <a:ext cx="3621087" cy="8128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1271" name="AutoShape 6"/>
          <p:cNvCxnSpPr>
            <a:stCxn id="11269" idx="4"/>
          </p:cNvCxnSpPr>
          <p:nvPr/>
        </p:nvCxnSpPr>
        <p:spPr>
          <a:xfrm flipH="1">
            <a:off x="1266825" y="4119563"/>
            <a:ext cx="3417888" cy="7620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1272" name="AutoShape 7"/>
          <p:cNvCxnSpPr>
            <a:stCxn id="11269" idx="4"/>
          </p:cNvCxnSpPr>
          <p:nvPr/>
        </p:nvCxnSpPr>
        <p:spPr>
          <a:xfrm flipH="1">
            <a:off x="3613150" y="4119563"/>
            <a:ext cx="1071563" cy="8128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1273" name="AutoShape 8"/>
          <p:cNvCxnSpPr>
            <a:stCxn id="11269" idx="4"/>
          </p:cNvCxnSpPr>
          <p:nvPr/>
        </p:nvCxnSpPr>
        <p:spPr>
          <a:xfrm>
            <a:off x="4684713" y="4119563"/>
            <a:ext cx="1274762" cy="812800"/>
          </a:xfrm>
          <a:prstGeom prst="straightConnector1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274" name="AutoShape 9"/>
          <p:cNvSpPr/>
          <p:nvPr/>
        </p:nvSpPr>
        <p:spPr>
          <a:xfrm>
            <a:off x="609600" y="3214688"/>
            <a:ext cx="1295400" cy="1066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3200" dirty="0"/>
              <a:t>T(n)</a:t>
            </a:r>
            <a:endParaRPr lang="en-US" altLang="zh-CN" sz="3200" dirty="0"/>
          </a:p>
        </p:txBody>
      </p:sp>
      <p:sp>
        <p:nvSpPr>
          <p:cNvPr id="11275" name="Text Box 10"/>
          <p:cNvSpPr txBox="1"/>
          <p:nvPr/>
        </p:nvSpPr>
        <p:spPr>
          <a:xfrm>
            <a:off x="2895600" y="3549650"/>
            <a:ext cx="1066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dirty="0"/>
              <a:t>=</a:t>
            </a:r>
            <a:endParaRPr lang="en-US" altLang="zh-CN" sz="3200" dirty="0"/>
          </a:p>
        </p:txBody>
      </p:sp>
      <p:grpSp>
        <p:nvGrpSpPr>
          <p:cNvPr id="11276" name="Group 11"/>
          <p:cNvGrpSpPr/>
          <p:nvPr/>
        </p:nvGrpSpPr>
        <p:grpSpPr>
          <a:xfrm>
            <a:off x="250825" y="5013325"/>
            <a:ext cx="1981200" cy="1422400"/>
            <a:chOff x="158" y="3158"/>
            <a:chExt cx="1248" cy="896"/>
          </a:xfrm>
        </p:grpSpPr>
        <p:sp>
          <p:nvSpPr>
            <p:cNvPr id="11307" name="Oval 12"/>
            <p:cNvSpPr/>
            <p:nvPr/>
          </p:nvSpPr>
          <p:spPr>
            <a:xfrm>
              <a:off x="601" y="3158"/>
              <a:ext cx="423" cy="312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2800" dirty="0"/>
                <a:t>n/2</a:t>
              </a:r>
              <a:endParaRPr lang="en-US" altLang="zh-CN" sz="2800" dirty="0"/>
            </a:p>
          </p:txBody>
        </p:sp>
        <p:cxnSp>
          <p:nvCxnSpPr>
            <p:cNvPr id="11308" name="AutoShape 13"/>
            <p:cNvCxnSpPr>
              <a:stCxn id="11307" idx="4"/>
              <a:endCxn id="11315" idx="0"/>
            </p:cNvCxnSpPr>
            <p:nvPr/>
          </p:nvCxnSpPr>
          <p:spPr>
            <a:xfrm>
              <a:off x="812" y="3475"/>
              <a:ext cx="483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309" name="AutoShape 14"/>
            <p:cNvCxnSpPr>
              <a:stCxn id="11307" idx="4"/>
              <a:endCxn id="11312" idx="0"/>
            </p:cNvCxnSpPr>
            <p:nvPr/>
          </p:nvCxnSpPr>
          <p:spPr>
            <a:xfrm flipH="1">
              <a:off x="269" y="3475"/>
              <a:ext cx="543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310" name="AutoShape 15"/>
            <p:cNvCxnSpPr>
              <a:stCxn id="11307" idx="4"/>
              <a:endCxn id="11313" idx="0"/>
            </p:cNvCxnSpPr>
            <p:nvPr/>
          </p:nvCxnSpPr>
          <p:spPr>
            <a:xfrm flipH="1">
              <a:off x="611" y="3475"/>
              <a:ext cx="201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311" name="AutoShape 16"/>
            <p:cNvCxnSpPr>
              <a:stCxn id="11307" idx="4"/>
              <a:endCxn id="11314" idx="0"/>
            </p:cNvCxnSpPr>
            <p:nvPr/>
          </p:nvCxnSpPr>
          <p:spPr>
            <a:xfrm>
              <a:off x="812" y="3475"/>
              <a:ext cx="141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11312" name="AutoShape 17"/>
            <p:cNvSpPr/>
            <p:nvPr/>
          </p:nvSpPr>
          <p:spPr>
            <a:xfrm>
              <a:off x="158" y="3885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313" name="AutoShape 18"/>
            <p:cNvSpPr/>
            <p:nvPr/>
          </p:nvSpPr>
          <p:spPr>
            <a:xfrm>
              <a:off x="500" y="3885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314" name="AutoShape 19"/>
            <p:cNvSpPr/>
            <p:nvPr/>
          </p:nvSpPr>
          <p:spPr>
            <a:xfrm>
              <a:off x="842" y="3885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315" name="AutoShape 20"/>
            <p:cNvSpPr/>
            <p:nvPr/>
          </p:nvSpPr>
          <p:spPr>
            <a:xfrm>
              <a:off x="1185" y="3885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</p:grpSp>
      <p:grpSp>
        <p:nvGrpSpPr>
          <p:cNvPr id="11277" name="Group 21"/>
          <p:cNvGrpSpPr/>
          <p:nvPr/>
        </p:nvGrpSpPr>
        <p:grpSpPr>
          <a:xfrm>
            <a:off x="2627313" y="5013325"/>
            <a:ext cx="1981200" cy="1422400"/>
            <a:chOff x="158" y="3158"/>
            <a:chExt cx="1248" cy="896"/>
          </a:xfrm>
        </p:grpSpPr>
        <p:sp>
          <p:nvSpPr>
            <p:cNvPr id="11298" name="Oval 22"/>
            <p:cNvSpPr/>
            <p:nvPr/>
          </p:nvSpPr>
          <p:spPr>
            <a:xfrm>
              <a:off x="601" y="3158"/>
              <a:ext cx="423" cy="312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2800" dirty="0"/>
                <a:t>n/2</a:t>
              </a:r>
              <a:endParaRPr lang="en-US" altLang="zh-CN" sz="2800" dirty="0"/>
            </a:p>
          </p:txBody>
        </p:sp>
        <p:cxnSp>
          <p:nvCxnSpPr>
            <p:cNvPr id="11299" name="AutoShape 23"/>
            <p:cNvCxnSpPr>
              <a:stCxn id="11298" idx="4"/>
              <a:endCxn id="11306" idx="0"/>
            </p:cNvCxnSpPr>
            <p:nvPr/>
          </p:nvCxnSpPr>
          <p:spPr>
            <a:xfrm>
              <a:off x="812" y="3475"/>
              <a:ext cx="483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300" name="AutoShape 24"/>
            <p:cNvCxnSpPr>
              <a:stCxn id="11298" idx="4"/>
              <a:endCxn id="11303" idx="0"/>
            </p:cNvCxnSpPr>
            <p:nvPr/>
          </p:nvCxnSpPr>
          <p:spPr>
            <a:xfrm flipH="1">
              <a:off x="269" y="3475"/>
              <a:ext cx="543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301" name="AutoShape 25"/>
            <p:cNvCxnSpPr>
              <a:stCxn id="11298" idx="4"/>
              <a:endCxn id="11304" idx="0"/>
            </p:cNvCxnSpPr>
            <p:nvPr/>
          </p:nvCxnSpPr>
          <p:spPr>
            <a:xfrm flipH="1">
              <a:off x="611" y="3475"/>
              <a:ext cx="201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302" name="AutoShape 26"/>
            <p:cNvCxnSpPr>
              <a:stCxn id="11298" idx="4"/>
              <a:endCxn id="11305" idx="0"/>
            </p:cNvCxnSpPr>
            <p:nvPr/>
          </p:nvCxnSpPr>
          <p:spPr>
            <a:xfrm>
              <a:off x="812" y="3475"/>
              <a:ext cx="141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11303" name="AutoShape 27"/>
            <p:cNvSpPr/>
            <p:nvPr/>
          </p:nvSpPr>
          <p:spPr>
            <a:xfrm>
              <a:off x="158" y="3885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304" name="AutoShape 28"/>
            <p:cNvSpPr/>
            <p:nvPr/>
          </p:nvSpPr>
          <p:spPr>
            <a:xfrm>
              <a:off x="500" y="3885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305" name="AutoShape 29"/>
            <p:cNvSpPr/>
            <p:nvPr/>
          </p:nvSpPr>
          <p:spPr>
            <a:xfrm>
              <a:off x="842" y="3885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306" name="AutoShape 30"/>
            <p:cNvSpPr/>
            <p:nvPr/>
          </p:nvSpPr>
          <p:spPr>
            <a:xfrm>
              <a:off x="1185" y="3885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</p:grpSp>
      <p:grpSp>
        <p:nvGrpSpPr>
          <p:cNvPr id="11278" name="Group 31"/>
          <p:cNvGrpSpPr/>
          <p:nvPr/>
        </p:nvGrpSpPr>
        <p:grpSpPr>
          <a:xfrm>
            <a:off x="4932363" y="5013325"/>
            <a:ext cx="1981200" cy="1422400"/>
            <a:chOff x="158" y="3158"/>
            <a:chExt cx="1248" cy="896"/>
          </a:xfrm>
        </p:grpSpPr>
        <p:sp>
          <p:nvSpPr>
            <p:cNvPr id="11289" name="Oval 32"/>
            <p:cNvSpPr/>
            <p:nvPr/>
          </p:nvSpPr>
          <p:spPr>
            <a:xfrm>
              <a:off x="601" y="3158"/>
              <a:ext cx="423" cy="312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2800" dirty="0"/>
                <a:t>n/2</a:t>
              </a:r>
              <a:endParaRPr lang="en-US" altLang="zh-CN" sz="2800" dirty="0"/>
            </a:p>
          </p:txBody>
        </p:sp>
        <p:cxnSp>
          <p:nvCxnSpPr>
            <p:cNvPr id="11290" name="AutoShape 33"/>
            <p:cNvCxnSpPr>
              <a:stCxn id="11289" idx="4"/>
              <a:endCxn id="11297" idx="0"/>
            </p:cNvCxnSpPr>
            <p:nvPr/>
          </p:nvCxnSpPr>
          <p:spPr>
            <a:xfrm>
              <a:off x="812" y="3475"/>
              <a:ext cx="483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291" name="AutoShape 34"/>
            <p:cNvCxnSpPr>
              <a:stCxn id="11289" idx="4"/>
              <a:endCxn id="11294" idx="0"/>
            </p:cNvCxnSpPr>
            <p:nvPr/>
          </p:nvCxnSpPr>
          <p:spPr>
            <a:xfrm flipH="1">
              <a:off x="269" y="3475"/>
              <a:ext cx="543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292" name="AutoShape 35"/>
            <p:cNvCxnSpPr>
              <a:stCxn id="11289" idx="4"/>
              <a:endCxn id="11295" idx="0"/>
            </p:cNvCxnSpPr>
            <p:nvPr/>
          </p:nvCxnSpPr>
          <p:spPr>
            <a:xfrm flipH="1">
              <a:off x="611" y="3475"/>
              <a:ext cx="201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293" name="AutoShape 36"/>
            <p:cNvCxnSpPr>
              <a:stCxn id="11289" idx="4"/>
              <a:endCxn id="11296" idx="0"/>
            </p:cNvCxnSpPr>
            <p:nvPr/>
          </p:nvCxnSpPr>
          <p:spPr>
            <a:xfrm>
              <a:off x="812" y="3475"/>
              <a:ext cx="141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11294" name="AutoShape 37"/>
            <p:cNvSpPr/>
            <p:nvPr/>
          </p:nvSpPr>
          <p:spPr>
            <a:xfrm>
              <a:off x="158" y="3885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295" name="AutoShape 38"/>
            <p:cNvSpPr/>
            <p:nvPr/>
          </p:nvSpPr>
          <p:spPr>
            <a:xfrm>
              <a:off x="500" y="3885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296" name="AutoShape 39"/>
            <p:cNvSpPr/>
            <p:nvPr/>
          </p:nvSpPr>
          <p:spPr>
            <a:xfrm>
              <a:off x="842" y="3885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297" name="AutoShape 40"/>
            <p:cNvSpPr/>
            <p:nvPr/>
          </p:nvSpPr>
          <p:spPr>
            <a:xfrm>
              <a:off x="1185" y="3885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</p:grpSp>
      <p:grpSp>
        <p:nvGrpSpPr>
          <p:cNvPr id="11279" name="Group 41"/>
          <p:cNvGrpSpPr/>
          <p:nvPr/>
        </p:nvGrpSpPr>
        <p:grpSpPr>
          <a:xfrm>
            <a:off x="7162800" y="5013325"/>
            <a:ext cx="1981200" cy="1422400"/>
            <a:chOff x="158" y="3158"/>
            <a:chExt cx="1248" cy="896"/>
          </a:xfrm>
        </p:grpSpPr>
        <p:sp>
          <p:nvSpPr>
            <p:cNvPr id="11280" name="Oval 42"/>
            <p:cNvSpPr/>
            <p:nvPr/>
          </p:nvSpPr>
          <p:spPr>
            <a:xfrm>
              <a:off x="601" y="3158"/>
              <a:ext cx="423" cy="312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2800" dirty="0"/>
                <a:t>n/2</a:t>
              </a:r>
              <a:endParaRPr lang="en-US" altLang="zh-CN" sz="2800" dirty="0"/>
            </a:p>
          </p:txBody>
        </p:sp>
        <p:cxnSp>
          <p:nvCxnSpPr>
            <p:cNvPr id="11281" name="AutoShape 43"/>
            <p:cNvCxnSpPr>
              <a:stCxn id="11280" idx="4"/>
              <a:endCxn id="11288" idx="0"/>
            </p:cNvCxnSpPr>
            <p:nvPr/>
          </p:nvCxnSpPr>
          <p:spPr>
            <a:xfrm>
              <a:off x="812" y="3475"/>
              <a:ext cx="483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282" name="AutoShape 44"/>
            <p:cNvCxnSpPr>
              <a:stCxn id="11280" idx="4"/>
              <a:endCxn id="11285" idx="0"/>
            </p:cNvCxnSpPr>
            <p:nvPr/>
          </p:nvCxnSpPr>
          <p:spPr>
            <a:xfrm flipH="1">
              <a:off x="269" y="3475"/>
              <a:ext cx="543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283" name="AutoShape 45"/>
            <p:cNvCxnSpPr>
              <a:stCxn id="11280" idx="4"/>
              <a:endCxn id="11286" idx="0"/>
            </p:cNvCxnSpPr>
            <p:nvPr/>
          </p:nvCxnSpPr>
          <p:spPr>
            <a:xfrm flipH="1">
              <a:off x="611" y="3475"/>
              <a:ext cx="201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1284" name="AutoShape 46"/>
            <p:cNvCxnSpPr>
              <a:stCxn id="11280" idx="4"/>
              <a:endCxn id="11287" idx="0"/>
            </p:cNvCxnSpPr>
            <p:nvPr/>
          </p:nvCxnSpPr>
          <p:spPr>
            <a:xfrm>
              <a:off x="812" y="3475"/>
              <a:ext cx="141" cy="405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11285" name="AutoShape 47"/>
            <p:cNvSpPr/>
            <p:nvPr/>
          </p:nvSpPr>
          <p:spPr>
            <a:xfrm>
              <a:off x="158" y="3885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286" name="AutoShape 48"/>
            <p:cNvSpPr/>
            <p:nvPr/>
          </p:nvSpPr>
          <p:spPr>
            <a:xfrm>
              <a:off x="500" y="3885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287" name="AutoShape 49"/>
            <p:cNvSpPr/>
            <p:nvPr/>
          </p:nvSpPr>
          <p:spPr>
            <a:xfrm>
              <a:off x="842" y="3885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  <p:sp>
          <p:nvSpPr>
            <p:cNvPr id="11288" name="AutoShape 50"/>
            <p:cNvSpPr/>
            <p:nvPr/>
          </p:nvSpPr>
          <p:spPr>
            <a:xfrm>
              <a:off x="1185" y="3885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1600" b="1" dirty="0"/>
                <a:t>T(n/4)</a:t>
              </a:r>
              <a:endParaRPr lang="en-US" altLang="zh-CN" sz="1600" b="1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4213" y="3333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算法总体思想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292" name="Rectangle 3"/>
          <p:cNvSpPr/>
          <p:nvPr/>
        </p:nvSpPr>
        <p:spPr>
          <a:xfrm>
            <a:off x="684213" y="1628775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/>
            <a:r>
              <a:rPr lang="zh-CN" altLang="en-US" sz="2100" dirty="0">
                <a:ea typeface="新宋体" panose="02010609030101010101" charset="-122"/>
              </a:rPr>
              <a:t>将求出的小规模的问题的解合并为一个更大规模的问题的解，自底向上逐步求出原来问题的解。</a:t>
            </a:r>
            <a:endParaRPr lang="zh-CN" altLang="en-US" sz="2100" dirty="0">
              <a:ea typeface="新宋体" panose="02010609030101010101" charset="-122"/>
            </a:endParaRPr>
          </a:p>
        </p:txBody>
      </p:sp>
      <p:grpSp>
        <p:nvGrpSpPr>
          <p:cNvPr id="12293" name="Group 4"/>
          <p:cNvGrpSpPr/>
          <p:nvPr/>
        </p:nvGrpSpPr>
        <p:grpSpPr>
          <a:xfrm>
            <a:off x="250825" y="3214688"/>
            <a:ext cx="8893175" cy="3221037"/>
            <a:chOff x="158" y="2025"/>
            <a:chExt cx="5602" cy="2029"/>
          </a:xfrm>
        </p:grpSpPr>
        <p:sp>
          <p:nvSpPr>
            <p:cNvPr id="12296" name="Oval 5"/>
            <p:cNvSpPr/>
            <p:nvPr/>
          </p:nvSpPr>
          <p:spPr>
            <a:xfrm>
              <a:off x="2699" y="2205"/>
              <a:ext cx="504" cy="384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3200" dirty="0"/>
                <a:t>n</a:t>
              </a:r>
              <a:endParaRPr lang="en-US" altLang="zh-CN" sz="3200" dirty="0"/>
            </a:p>
          </p:txBody>
        </p:sp>
        <p:cxnSp>
          <p:nvCxnSpPr>
            <p:cNvPr id="12297" name="AutoShape 6"/>
            <p:cNvCxnSpPr>
              <a:stCxn id="12296" idx="4"/>
            </p:cNvCxnSpPr>
            <p:nvPr/>
          </p:nvCxnSpPr>
          <p:spPr>
            <a:xfrm>
              <a:off x="2951" y="2595"/>
              <a:ext cx="2281" cy="512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2298" name="AutoShape 7"/>
            <p:cNvCxnSpPr>
              <a:stCxn id="12296" idx="4"/>
            </p:cNvCxnSpPr>
            <p:nvPr/>
          </p:nvCxnSpPr>
          <p:spPr>
            <a:xfrm flipH="1">
              <a:off x="798" y="2595"/>
              <a:ext cx="2153" cy="480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2299" name="AutoShape 8"/>
            <p:cNvCxnSpPr>
              <a:stCxn id="12296" idx="4"/>
            </p:cNvCxnSpPr>
            <p:nvPr/>
          </p:nvCxnSpPr>
          <p:spPr>
            <a:xfrm flipH="1">
              <a:off x="2276" y="2595"/>
              <a:ext cx="675" cy="512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12300" name="AutoShape 9"/>
            <p:cNvCxnSpPr>
              <a:stCxn id="12296" idx="4"/>
            </p:cNvCxnSpPr>
            <p:nvPr/>
          </p:nvCxnSpPr>
          <p:spPr>
            <a:xfrm>
              <a:off x="2951" y="2595"/>
              <a:ext cx="803" cy="512"/>
            </a:xfrm>
            <a:prstGeom prst="straightConnector1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12301" name="AutoShape 10"/>
            <p:cNvSpPr/>
            <p:nvPr/>
          </p:nvSpPr>
          <p:spPr>
            <a:xfrm>
              <a:off x="384" y="2025"/>
              <a:ext cx="816" cy="67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sz="3200" dirty="0"/>
                <a:t>T(n)</a:t>
              </a:r>
              <a:endParaRPr lang="en-US" altLang="zh-CN" sz="3200" dirty="0"/>
            </a:p>
          </p:txBody>
        </p:sp>
        <p:sp>
          <p:nvSpPr>
            <p:cNvPr id="12302" name="Text Box 11"/>
            <p:cNvSpPr txBox="1"/>
            <p:nvPr/>
          </p:nvSpPr>
          <p:spPr>
            <a:xfrm>
              <a:off x="1824" y="2236"/>
              <a:ext cx="6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dirty="0"/>
                <a:t>=</a:t>
              </a:r>
              <a:endParaRPr lang="en-US" altLang="zh-CN" sz="3200" dirty="0"/>
            </a:p>
          </p:txBody>
        </p:sp>
        <p:grpSp>
          <p:nvGrpSpPr>
            <p:cNvPr id="12303" name="Group 12"/>
            <p:cNvGrpSpPr/>
            <p:nvPr/>
          </p:nvGrpSpPr>
          <p:grpSpPr>
            <a:xfrm>
              <a:off x="158" y="3158"/>
              <a:ext cx="1248" cy="896"/>
              <a:chOff x="158" y="3158"/>
              <a:chExt cx="1248" cy="896"/>
            </a:xfrm>
          </p:grpSpPr>
          <p:sp>
            <p:nvSpPr>
              <p:cNvPr id="12334" name="Oval 13"/>
              <p:cNvSpPr/>
              <p:nvPr/>
            </p:nvSpPr>
            <p:spPr>
              <a:xfrm>
                <a:off x="601" y="3158"/>
                <a:ext cx="423" cy="312"/>
              </a:xfrm>
              <a:prstGeom prst="ellipse">
                <a:avLst/>
              </a:prstGeom>
              <a:solidFill>
                <a:srgbClr val="FF0000"/>
              </a:solidFill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2800" dirty="0"/>
                  <a:t>n/2</a:t>
                </a:r>
                <a:endParaRPr lang="en-US" altLang="zh-CN" sz="2800" dirty="0"/>
              </a:p>
            </p:txBody>
          </p:sp>
          <p:cxnSp>
            <p:nvCxnSpPr>
              <p:cNvPr id="12335" name="AutoShape 14"/>
              <p:cNvCxnSpPr>
                <a:stCxn id="12334" idx="4"/>
                <a:endCxn id="12342" idx="0"/>
              </p:cNvCxnSpPr>
              <p:nvPr/>
            </p:nvCxnSpPr>
            <p:spPr>
              <a:xfrm>
                <a:off x="812" y="3475"/>
                <a:ext cx="483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36" name="AutoShape 15"/>
              <p:cNvCxnSpPr>
                <a:stCxn id="12334" idx="4"/>
                <a:endCxn id="12339" idx="0"/>
              </p:cNvCxnSpPr>
              <p:nvPr/>
            </p:nvCxnSpPr>
            <p:spPr>
              <a:xfrm flipH="1">
                <a:off x="269" y="3475"/>
                <a:ext cx="543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37" name="AutoShape 16"/>
              <p:cNvCxnSpPr>
                <a:stCxn id="12334" idx="4"/>
                <a:endCxn id="12340" idx="0"/>
              </p:cNvCxnSpPr>
              <p:nvPr/>
            </p:nvCxnSpPr>
            <p:spPr>
              <a:xfrm flipH="1">
                <a:off x="611" y="3475"/>
                <a:ext cx="201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38" name="AutoShape 17"/>
              <p:cNvCxnSpPr>
                <a:stCxn id="12334" idx="4"/>
                <a:endCxn id="12341" idx="0"/>
              </p:cNvCxnSpPr>
              <p:nvPr/>
            </p:nvCxnSpPr>
            <p:spPr>
              <a:xfrm>
                <a:off x="812" y="3475"/>
                <a:ext cx="141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sp>
            <p:nvSpPr>
              <p:cNvPr id="12339" name="AutoShape 18"/>
              <p:cNvSpPr/>
              <p:nvPr/>
            </p:nvSpPr>
            <p:spPr>
              <a:xfrm>
                <a:off x="158" y="3885"/>
                <a:ext cx="221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40" name="AutoShape 19"/>
              <p:cNvSpPr/>
              <p:nvPr/>
            </p:nvSpPr>
            <p:spPr>
              <a:xfrm>
                <a:off x="500" y="3885"/>
                <a:ext cx="222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41" name="AutoShape 20"/>
              <p:cNvSpPr/>
              <p:nvPr/>
            </p:nvSpPr>
            <p:spPr>
              <a:xfrm>
                <a:off x="842" y="3885"/>
                <a:ext cx="222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42" name="AutoShape 21"/>
              <p:cNvSpPr/>
              <p:nvPr/>
            </p:nvSpPr>
            <p:spPr>
              <a:xfrm>
                <a:off x="1185" y="3885"/>
                <a:ext cx="221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</p:grpSp>
        <p:grpSp>
          <p:nvGrpSpPr>
            <p:cNvPr id="12304" name="Group 22"/>
            <p:cNvGrpSpPr/>
            <p:nvPr/>
          </p:nvGrpSpPr>
          <p:grpSpPr>
            <a:xfrm>
              <a:off x="1655" y="3158"/>
              <a:ext cx="1248" cy="896"/>
              <a:chOff x="158" y="3158"/>
              <a:chExt cx="1248" cy="896"/>
            </a:xfrm>
          </p:grpSpPr>
          <p:sp>
            <p:nvSpPr>
              <p:cNvPr id="12325" name="Oval 23"/>
              <p:cNvSpPr/>
              <p:nvPr/>
            </p:nvSpPr>
            <p:spPr>
              <a:xfrm>
                <a:off x="601" y="3158"/>
                <a:ext cx="423" cy="312"/>
              </a:xfrm>
              <a:prstGeom prst="ellipse">
                <a:avLst/>
              </a:prstGeom>
              <a:solidFill>
                <a:srgbClr val="FF0000"/>
              </a:solidFill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2800" dirty="0"/>
                  <a:t>n/2</a:t>
                </a:r>
                <a:endParaRPr lang="en-US" altLang="zh-CN" sz="2800" dirty="0"/>
              </a:p>
            </p:txBody>
          </p:sp>
          <p:cxnSp>
            <p:nvCxnSpPr>
              <p:cNvPr id="12326" name="AutoShape 24"/>
              <p:cNvCxnSpPr>
                <a:stCxn id="12325" idx="4"/>
                <a:endCxn id="12333" idx="0"/>
              </p:cNvCxnSpPr>
              <p:nvPr/>
            </p:nvCxnSpPr>
            <p:spPr>
              <a:xfrm>
                <a:off x="812" y="3475"/>
                <a:ext cx="483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27" name="AutoShape 25"/>
              <p:cNvCxnSpPr>
                <a:stCxn id="12325" idx="4"/>
                <a:endCxn id="12330" idx="0"/>
              </p:cNvCxnSpPr>
              <p:nvPr/>
            </p:nvCxnSpPr>
            <p:spPr>
              <a:xfrm flipH="1">
                <a:off x="269" y="3475"/>
                <a:ext cx="543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28" name="AutoShape 26"/>
              <p:cNvCxnSpPr>
                <a:stCxn id="12325" idx="4"/>
                <a:endCxn id="12331" idx="0"/>
              </p:cNvCxnSpPr>
              <p:nvPr/>
            </p:nvCxnSpPr>
            <p:spPr>
              <a:xfrm flipH="1">
                <a:off x="611" y="3475"/>
                <a:ext cx="201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29" name="AutoShape 27"/>
              <p:cNvCxnSpPr>
                <a:stCxn id="12325" idx="4"/>
                <a:endCxn id="12332" idx="0"/>
              </p:cNvCxnSpPr>
              <p:nvPr/>
            </p:nvCxnSpPr>
            <p:spPr>
              <a:xfrm>
                <a:off x="812" y="3475"/>
                <a:ext cx="141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sp>
            <p:nvSpPr>
              <p:cNvPr id="12330" name="AutoShape 28"/>
              <p:cNvSpPr/>
              <p:nvPr/>
            </p:nvSpPr>
            <p:spPr>
              <a:xfrm>
                <a:off x="158" y="3885"/>
                <a:ext cx="221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31" name="AutoShape 29"/>
              <p:cNvSpPr/>
              <p:nvPr/>
            </p:nvSpPr>
            <p:spPr>
              <a:xfrm>
                <a:off x="500" y="3885"/>
                <a:ext cx="222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32" name="AutoShape 30"/>
              <p:cNvSpPr/>
              <p:nvPr/>
            </p:nvSpPr>
            <p:spPr>
              <a:xfrm>
                <a:off x="842" y="3885"/>
                <a:ext cx="222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33" name="AutoShape 31"/>
              <p:cNvSpPr/>
              <p:nvPr/>
            </p:nvSpPr>
            <p:spPr>
              <a:xfrm>
                <a:off x="1185" y="3885"/>
                <a:ext cx="221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</p:grpSp>
        <p:grpSp>
          <p:nvGrpSpPr>
            <p:cNvPr id="12305" name="Group 32"/>
            <p:cNvGrpSpPr/>
            <p:nvPr/>
          </p:nvGrpSpPr>
          <p:grpSpPr>
            <a:xfrm>
              <a:off x="3107" y="3158"/>
              <a:ext cx="1248" cy="896"/>
              <a:chOff x="158" y="3158"/>
              <a:chExt cx="1248" cy="896"/>
            </a:xfrm>
          </p:grpSpPr>
          <p:sp>
            <p:nvSpPr>
              <p:cNvPr id="12316" name="Oval 33"/>
              <p:cNvSpPr/>
              <p:nvPr/>
            </p:nvSpPr>
            <p:spPr>
              <a:xfrm>
                <a:off x="601" y="3158"/>
                <a:ext cx="423" cy="312"/>
              </a:xfrm>
              <a:prstGeom prst="ellipse">
                <a:avLst/>
              </a:prstGeom>
              <a:solidFill>
                <a:srgbClr val="FF0000"/>
              </a:solidFill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2800" dirty="0"/>
                  <a:t>n/2</a:t>
                </a:r>
                <a:endParaRPr lang="en-US" altLang="zh-CN" sz="2800" dirty="0"/>
              </a:p>
            </p:txBody>
          </p:sp>
          <p:cxnSp>
            <p:nvCxnSpPr>
              <p:cNvPr id="12317" name="AutoShape 34"/>
              <p:cNvCxnSpPr>
                <a:stCxn id="12316" idx="4"/>
                <a:endCxn id="12324" idx="0"/>
              </p:cNvCxnSpPr>
              <p:nvPr/>
            </p:nvCxnSpPr>
            <p:spPr>
              <a:xfrm>
                <a:off x="812" y="3475"/>
                <a:ext cx="483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18" name="AutoShape 35"/>
              <p:cNvCxnSpPr>
                <a:stCxn id="12316" idx="4"/>
                <a:endCxn id="12321" idx="0"/>
              </p:cNvCxnSpPr>
              <p:nvPr/>
            </p:nvCxnSpPr>
            <p:spPr>
              <a:xfrm flipH="1">
                <a:off x="269" y="3475"/>
                <a:ext cx="543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19" name="AutoShape 36"/>
              <p:cNvCxnSpPr>
                <a:stCxn id="12316" idx="4"/>
                <a:endCxn id="12322" idx="0"/>
              </p:cNvCxnSpPr>
              <p:nvPr/>
            </p:nvCxnSpPr>
            <p:spPr>
              <a:xfrm flipH="1">
                <a:off x="611" y="3475"/>
                <a:ext cx="201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20" name="AutoShape 37"/>
              <p:cNvCxnSpPr>
                <a:stCxn id="12316" idx="4"/>
                <a:endCxn id="12323" idx="0"/>
              </p:cNvCxnSpPr>
              <p:nvPr/>
            </p:nvCxnSpPr>
            <p:spPr>
              <a:xfrm>
                <a:off x="812" y="3475"/>
                <a:ext cx="141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sp>
            <p:nvSpPr>
              <p:cNvPr id="12321" name="AutoShape 38"/>
              <p:cNvSpPr/>
              <p:nvPr/>
            </p:nvSpPr>
            <p:spPr>
              <a:xfrm>
                <a:off x="158" y="3885"/>
                <a:ext cx="221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22" name="AutoShape 39"/>
              <p:cNvSpPr/>
              <p:nvPr/>
            </p:nvSpPr>
            <p:spPr>
              <a:xfrm>
                <a:off x="500" y="3885"/>
                <a:ext cx="222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23" name="AutoShape 40"/>
              <p:cNvSpPr/>
              <p:nvPr/>
            </p:nvSpPr>
            <p:spPr>
              <a:xfrm>
                <a:off x="842" y="3885"/>
                <a:ext cx="222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24" name="AutoShape 41"/>
              <p:cNvSpPr/>
              <p:nvPr/>
            </p:nvSpPr>
            <p:spPr>
              <a:xfrm>
                <a:off x="1185" y="3885"/>
                <a:ext cx="221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</p:grpSp>
        <p:grpSp>
          <p:nvGrpSpPr>
            <p:cNvPr id="12306" name="Group 42"/>
            <p:cNvGrpSpPr/>
            <p:nvPr/>
          </p:nvGrpSpPr>
          <p:grpSpPr>
            <a:xfrm>
              <a:off x="4512" y="3158"/>
              <a:ext cx="1248" cy="896"/>
              <a:chOff x="158" y="3158"/>
              <a:chExt cx="1248" cy="896"/>
            </a:xfrm>
          </p:grpSpPr>
          <p:sp>
            <p:nvSpPr>
              <p:cNvPr id="12307" name="Oval 43"/>
              <p:cNvSpPr/>
              <p:nvPr/>
            </p:nvSpPr>
            <p:spPr>
              <a:xfrm>
                <a:off x="601" y="3158"/>
                <a:ext cx="423" cy="312"/>
              </a:xfrm>
              <a:prstGeom prst="ellipse">
                <a:avLst/>
              </a:prstGeom>
              <a:solidFill>
                <a:srgbClr val="FF0000"/>
              </a:solidFill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2800" dirty="0"/>
                  <a:t>n/2</a:t>
                </a:r>
                <a:endParaRPr lang="en-US" altLang="zh-CN" sz="2800" dirty="0"/>
              </a:p>
            </p:txBody>
          </p:sp>
          <p:cxnSp>
            <p:nvCxnSpPr>
              <p:cNvPr id="12308" name="AutoShape 44"/>
              <p:cNvCxnSpPr>
                <a:stCxn id="12307" idx="4"/>
                <a:endCxn id="12315" idx="0"/>
              </p:cNvCxnSpPr>
              <p:nvPr/>
            </p:nvCxnSpPr>
            <p:spPr>
              <a:xfrm>
                <a:off x="812" y="3475"/>
                <a:ext cx="483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09" name="AutoShape 45"/>
              <p:cNvCxnSpPr>
                <a:stCxn id="12307" idx="4"/>
                <a:endCxn id="12312" idx="0"/>
              </p:cNvCxnSpPr>
              <p:nvPr/>
            </p:nvCxnSpPr>
            <p:spPr>
              <a:xfrm flipH="1">
                <a:off x="269" y="3475"/>
                <a:ext cx="543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10" name="AutoShape 46"/>
              <p:cNvCxnSpPr>
                <a:stCxn id="12307" idx="4"/>
                <a:endCxn id="12313" idx="0"/>
              </p:cNvCxnSpPr>
              <p:nvPr/>
            </p:nvCxnSpPr>
            <p:spPr>
              <a:xfrm flipH="1">
                <a:off x="611" y="3475"/>
                <a:ext cx="201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cxnSp>
            <p:nvCxnSpPr>
              <p:cNvPr id="12311" name="AutoShape 47"/>
              <p:cNvCxnSpPr>
                <a:stCxn id="12307" idx="4"/>
                <a:endCxn id="12314" idx="0"/>
              </p:cNvCxnSpPr>
              <p:nvPr/>
            </p:nvCxnSpPr>
            <p:spPr>
              <a:xfrm>
                <a:off x="812" y="3475"/>
                <a:ext cx="141" cy="405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 w="med" len="med"/>
                <a:tailEnd type="none" w="med" len="med"/>
              </a:ln>
            </p:spPr>
          </p:cxnSp>
          <p:sp>
            <p:nvSpPr>
              <p:cNvPr id="12312" name="AutoShape 48"/>
              <p:cNvSpPr/>
              <p:nvPr/>
            </p:nvSpPr>
            <p:spPr>
              <a:xfrm>
                <a:off x="158" y="3885"/>
                <a:ext cx="221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13" name="AutoShape 49"/>
              <p:cNvSpPr/>
              <p:nvPr/>
            </p:nvSpPr>
            <p:spPr>
              <a:xfrm>
                <a:off x="500" y="3885"/>
                <a:ext cx="222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14" name="AutoShape 50"/>
              <p:cNvSpPr/>
              <p:nvPr/>
            </p:nvSpPr>
            <p:spPr>
              <a:xfrm>
                <a:off x="842" y="3885"/>
                <a:ext cx="222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  <p:sp>
            <p:nvSpPr>
              <p:cNvPr id="12315" name="AutoShape 51"/>
              <p:cNvSpPr/>
              <p:nvPr/>
            </p:nvSpPr>
            <p:spPr>
              <a:xfrm>
                <a:off x="1185" y="3885"/>
                <a:ext cx="221" cy="169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sz="1600" b="1" dirty="0"/>
                  <a:t>T(n/4)</a:t>
                </a:r>
                <a:endParaRPr lang="en-US" altLang="zh-CN" sz="1600" b="1" dirty="0"/>
              </a:p>
            </p:txBody>
          </p:sp>
        </p:grpSp>
      </p:grpSp>
      <p:sp>
        <p:nvSpPr>
          <p:cNvPr id="3" name="Text Box 53"/>
          <p:cNvSpPr txBox="1"/>
          <p:nvPr/>
        </p:nvSpPr>
        <p:spPr>
          <a:xfrm>
            <a:off x="0" y="3141663"/>
            <a:ext cx="9144000" cy="3749675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4000" dirty="0">
                <a:latin typeface="Arial" panose="020B0604020202020204" pitchFamily="34" charset="0"/>
                <a:ea typeface="Arial Unicode MS" panose="020B0604020202020204" charset="-122"/>
              </a:rPr>
              <a:t>                                                       </a:t>
            </a:r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  <a:p>
            <a:pPr eaLnBrk="1" hangingPunct="1"/>
            <a:r>
              <a:rPr lang="en-US" altLang="zh-CN" sz="4000" dirty="0">
                <a:latin typeface="Arial" panose="020B0604020202020204" pitchFamily="34" charset="0"/>
                <a:ea typeface="Arial Unicode MS" panose="020B0604020202020204" charset="-122"/>
              </a:rPr>
              <a:t> </a:t>
            </a:r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  <a:p>
            <a:pPr eaLnBrk="1" hangingPunct="1"/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  <a:p>
            <a:pPr eaLnBrk="1" hangingPunct="1"/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  <a:p>
            <a:pPr eaLnBrk="1" hangingPunct="1"/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  <a:p>
            <a:pPr eaLnBrk="1" hangingPunct="1"/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4" name="Text Box 52"/>
          <p:cNvSpPr txBox="1"/>
          <p:nvPr/>
        </p:nvSpPr>
        <p:spPr>
          <a:xfrm>
            <a:off x="250825" y="3357563"/>
            <a:ext cx="8712200" cy="1800225"/>
          </a:xfrm>
          <a:prstGeom prst="rect">
            <a:avLst/>
          </a:prstGeom>
          <a:noFill/>
          <a:ln w="63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分治法的设计思想是，将一个难以直接解决的大问题，</a:t>
            </a:r>
            <a:endParaRPr lang="zh-CN" altLang="en-US" sz="2800" b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分割成一些规模较小的相同问题，以便各个击破，</a:t>
            </a:r>
            <a:endParaRPr lang="zh-CN" altLang="en-US" sz="2800" b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分而治之。</a:t>
            </a:r>
            <a:endParaRPr lang="zh-CN" altLang="en-US" sz="2800" b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	</a:t>
            </a:r>
            <a:r>
              <a:rPr lang="zh-CN" altLang="en-US" sz="2800" b="1" dirty="0">
                <a:solidFill>
                  <a:srgbClr val="FF99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						</a:t>
            </a:r>
            <a:endParaRPr lang="zh-CN" altLang="en-US" sz="2800" b="1" dirty="0">
              <a:solidFill>
                <a:srgbClr val="FF99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682625" y="1819275"/>
            <a:ext cx="7772400" cy="4003675"/>
          </a:xfrm>
        </p:spPr>
        <p:txBody>
          <a:bodyPr vert="horz"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ea typeface="新宋体" panose="02010609030101010101" charset="-122"/>
              </a:rPr>
              <a:t>直接或间接地调用自身的算法称为</a:t>
            </a:r>
            <a:r>
              <a:rPr lang="zh-CN" altLang="en-US" sz="2600" b="1" dirty="0">
                <a:ea typeface="黑体" panose="02010609060101010101" pitchFamily="49" charset="-122"/>
              </a:rPr>
              <a:t>递归算法</a:t>
            </a:r>
            <a:r>
              <a:rPr lang="zh-CN" altLang="en-US" sz="2600" dirty="0">
                <a:ea typeface="新宋体" panose="02010609030101010101" charset="-122"/>
              </a:rPr>
              <a:t>。用函数自身给出定义的函数称为</a:t>
            </a:r>
            <a:r>
              <a:rPr lang="zh-CN" altLang="en-US" sz="2600" b="1" dirty="0">
                <a:ea typeface="黑体" panose="02010609060101010101" pitchFamily="49" charset="-122"/>
              </a:rPr>
              <a:t>递归函数</a:t>
            </a:r>
            <a:r>
              <a:rPr lang="zh-CN" altLang="en-US" sz="2600" dirty="0">
                <a:ea typeface="新宋体" panose="02010609030101010101" charset="-122"/>
              </a:rPr>
              <a:t>。</a:t>
            </a:r>
            <a:endParaRPr lang="zh-CN" altLang="en-US" sz="2600" dirty="0">
              <a:ea typeface="新宋体" panose="02010609030101010101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ea typeface="新宋体" panose="02010609030101010101" charset="-122"/>
              </a:rPr>
              <a:t>由分治法产生的子问题往往是原问题的较小模式，这就为使用递归技术提供了方便。在这种情况下，反复应用分治手段，可以使子问题与原问题类型一致而其规模却不断缩小，最终使子问题缩小到很容易直接求出其解。这自然导致递归过程的产生。</a:t>
            </a:r>
            <a:endParaRPr lang="zh-CN" altLang="en-US" sz="2600" dirty="0">
              <a:ea typeface="新宋体" panose="02010609030101010101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ea typeface="新宋体" panose="02010609030101010101" charset="-122"/>
              </a:rPr>
              <a:t>分治与递归像一对孪生兄弟，经常同时应用在算法设计之中，并由此产生许多高效算法。</a:t>
            </a:r>
            <a:endParaRPr lang="zh-CN" altLang="en-US" sz="2600" dirty="0">
              <a:ea typeface="新宋体" panose="02010609030101010101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600" dirty="0">
              <a:ea typeface="新宋体" panose="02010609030101010101" charset="-122"/>
            </a:endParaRPr>
          </a:p>
        </p:txBody>
      </p:sp>
      <p:sp>
        <p:nvSpPr>
          <p:cNvPr id="13316" name="Text Box 4"/>
          <p:cNvSpPr txBox="1"/>
          <p:nvPr/>
        </p:nvSpPr>
        <p:spPr>
          <a:xfrm>
            <a:off x="2555875" y="6021388"/>
            <a:ext cx="2927350" cy="457200"/>
          </a:xfrm>
          <a:prstGeom prst="rect">
            <a:avLst/>
          </a:prstGeom>
          <a:noFill/>
          <a:ln w="6350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下面来看几个实例。</a:t>
            </a:r>
            <a:endParaRPr lang="zh-CN" alt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40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charRg st="40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50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charRg st="150" end="1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90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charRg st="190" end="1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  <p:bldP spid="133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4340" name="Text Box 3"/>
          <p:cNvSpPr txBox="1"/>
          <p:nvPr/>
        </p:nvSpPr>
        <p:spPr>
          <a:xfrm>
            <a:off x="433388" y="1773238"/>
            <a:ext cx="8710612" cy="822325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阶乘函数</a:t>
            </a:r>
            <a:endParaRPr lang="zh-CN" altLang="en-US" sz="2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阶乘函数可递归地定义为：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2555875" y="3141663"/>
          <a:ext cx="338455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282700" imgH="457200" progId="Equation.3">
                  <p:embed/>
                </p:oleObj>
              </mc:Choice>
              <mc:Fallback>
                <p:oleObj name="" r:id="rId1" imgW="1282700" imgH="457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5875" y="3141663"/>
                        <a:ext cx="3384550" cy="1204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AutoShape 7"/>
          <p:cNvSpPr/>
          <p:nvPr/>
        </p:nvSpPr>
        <p:spPr>
          <a:xfrm>
            <a:off x="6516688" y="2492375"/>
            <a:ext cx="1865312" cy="865188"/>
          </a:xfrm>
          <a:prstGeom prst="wedgeRoundRectCallout">
            <a:avLst>
              <a:gd name="adj1" fmla="val -70083"/>
              <a:gd name="adj2" fmla="val 63759"/>
              <a:gd name="adj3" fmla="val 16667"/>
            </a:avLst>
          </a:prstGeom>
          <a:solidFill>
            <a:srgbClr val="FFFF99"/>
          </a:solidFill>
          <a:ln w="63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边界条件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4346" name="AutoShape 10"/>
          <p:cNvSpPr/>
          <p:nvPr/>
        </p:nvSpPr>
        <p:spPr>
          <a:xfrm>
            <a:off x="6084888" y="4292600"/>
            <a:ext cx="1768475" cy="792163"/>
          </a:xfrm>
          <a:prstGeom prst="wedgeRoundRectCallout">
            <a:avLst>
              <a:gd name="adj1" fmla="val -48296"/>
              <a:gd name="adj2" fmla="val -77255"/>
              <a:gd name="adj3" fmla="val 16667"/>
            </a:avLst>
          </a:prstGeom>
          <a:solidFill>
            <a:srgbClr val="FFFF99"/>
          </a:solidFill>
          <a:ln w="63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递归方程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4348" name="Text Box 12"/>
          <p:cNvSpPr txBox="1"/>
          <p:nvPr/>
        </p:nvSpPr>
        <p:spPr>
          <a:xfrm>
            <a:off x="827088" y="5300663"/>
            <a:ext cx="7345362" cy="118745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latin typeface="Arial" panose="020B0604020202020204" pitchFamily="34" charset="0"/>
                <a:ea typeface="新宋体" panose="02010609030101010101" charset="-122"/>
              </a:rPr>
              <a:t>边界条件与递归方程是递归函数的二个要素，递归函数只有具备了这两个要素，才能在有限次计算后得出结果。</a:t>
            </a:r>
            <a:endParaRPr lang="zh-CN" altLang="en-US" sz="2400" dirty="0">
              <a:latin typeface="Arial" panose="020B0604020202020204" pitchFamily="34" charset="0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" grpId="0" bldLvl="0" animBg="1"/>
      <p:bldP spid="14346" grpId="0" bldLvl="0" animBg="1"/>
      <p:bldP spid="1434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364" name="Text Box 3"/>
          <p:cNvSpPr txBox="1"/>
          <p:nvPr/>
        </p:nvSpPr>
        <p:spPr>
          <a:xfrm>
            <a:off x="433388" y="1700213"/>
            <a:ext cx="8710612" cy="118745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Fibonacci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数列</a:t>
            </a:r>
            <a:endParaRPr lang="zh-CN" altLang="en-US" sz="2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无穷数列1，1，2，3，5，8，13，21，34，55，</a:t>
            </a:r>
            <a:r>
              <a:rPr lang="zh-CN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新宋体" panose="02010609030101010101" charset="-122"/>
              </a:rPr>
              <a:t>……</a:t>
            </a:r>
            <a:r>
              <a:rPr lang="zh-CN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，称为Fibonacci数列。它可以递归地定义为：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5365" name="Rectangle 4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6350">
            <a:noFill/>
          </a:ln>
        </p:spPr>
        <p:txBody>
          <a:bodyPr wrap="none" anchor="ctr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366" name="AutoShape 6"/>
          <p:cNvSpPr/>
          <p:nvPr/>
        </p:nvSpPr>
        <p:spPr>
          <a:xfrm>
            <a:off x="6443663" y="2636838"/>
            <a:ext cx="2014537" cy="863600"/>
          </a:xfrm>
          <a:prstGeom prst="wedgeRoundRectCallout">
            <a:avLst>
              <a:gd name="adj1" fmla="val -69935"/>
              <a:gd name="adj2" fmla="val 63787"/>
              <a:gd name="adj3" fmla="val 16667"/>
            </a:avLst>
          </a:prstGeom>
          <a:solidFill>
            <a:srgbClr val="FFFF99"/>
          </a:solidFill>
          <a:ln w="63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边界条件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5369" name="AutoShape 9"/>
          <p:cNvSpPr/>
          <p:nvPr/>
        </p:nvSpPr>
        <p:spPr>
          <a:xfrm>
            <a:off x="6443663" y="3933825"/>
            <a:ext cx="1938337" cy="795338"/>
          </a:xfrm>
          <a:prstGeom prst="wedgeRoundRectCallout">
            <a:avLst>
              <a:gd name="adj1" fmla="val -65806"/>
              <a:gd name="adj2" fmla="val 4690"/>
              <a:gd name="adj3" fmla="val 16667"/>
            </a:avLst>
          </a:prstGeom>
          <a:solidFill>
            <a:srgbClr val="FFFF99"/>
          </a:solidFill>
          <a:ln w="63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递归方程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1547813" y="3068638"/>
          <a:ext cx="4464050" cy="147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59000" imgH="711200" progId="Equation.3">
                  <p:embed/>
                </p:oleObj>
              </mc:Choice>
              <mc:Fallback>
                <p:oleObj name="" r:id="rId1" imgW="21590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3068638"/>
                        <a:ext cx="4464050" cy="1474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Text Box 13"/>
          <p:cNvSpPr txBox="1"/>
          <p:nvPr/>
        </p:nvSpPr>
        <p:spPr>
          <a:xfrm>
            <a:off x="323850" y="4575175"/>
            <a:ext cx="7345363" cy="2282825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latin typeface="Arial" panose="020B0604020202020204" pitchFamily="34" charset="0"/>
              </a:rPr>
              <a:t>第</a:t>
            </a:r>
            <a:r>
              <a:rPr lang="en-US" altLang="zh-CN" sz="2400" dirty="0">
                <a:latin typeface="Arial" panose="020B0604020202020204" pitchFamily="34" charset="0"/>
              </a:rPr>
              <a:t>n</a:t>
            </a:r>
            <a:r>
              <a:rPr lang="zh-CN" altLang="en-US" sz="2400" dirty="0">
                <a:latin typeface="Arial" panose="020B0604020202020204" pitchFamily="34" charset="0"/>
              </a:rPr>
              <a:t>个</a:t>
            </a:r>
            <a:r>
              <a:rPr lang="en-US" altLang="zh-CN" sz="2400" dirty="0">
                <a:latin typeface="Arial" panose="020B0604020202020204" pitchFamily="34" charset="0"/>
              </a:rPr>
              <a:t>Fibonacci</a:t>
            </a:r>
            <a:r>
              <a:rPr lang="zh-CN" altLang="en-US" sz="2400" dirty="0">
                <a:latin typeface="Arial" panose="020B0604020202020204" pitchFamily="34" charset="0"/>
              </a:rPr>
              <a:t>数可递归地计算如下：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int </a:t>
            </a:r>
            <a:r>
              <a:rPr lang="en-US" altLang="zh-CN" sz="2400" b="1" dirty="0">
                <a:latin typeface="Arial" panose="020B0604020202020204" pitchFamily="34" charset="0"/>
              </a:rPr>
              <a:t>fibonacci</a:t>
            </a:r>
            <a:r>
              <a:rPr lang="en-US" altLang="zh-CN" sz="2400" dirty="0">
                <a:latin typeface="Arial" panose="020B0604020202020204" pitchFamily="34" charset="0"/>
              </a:rPr>
              <a:t>(int n)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   {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       </a:t>
            </a:r>
            <a:r>
              <a:rPr lang="en-US" altLang="zh-CN" sz="2400" b="1" dirty="0">
                <a:latin typeface="Arial" panose="020B0604020202020204" pitchFamily="34" charset="0"/>
              </a:rPr>
              <a:t>if</a:t>
            </a:r>
            <a:r>
              <a:rPr lang="en-US" altLang="zh-CN" sz="2400" dirty="0">
                <a:latin typeface="Arial" panose="020B0604020202020204" pitchFamily="34" charset="0"/>
              </a:rPr>
              <a:t> (n &lt;= 1) </a:t>
            </a:r>
            <a:r>
              <a:rPr lang="en-US" altLang="zh-CN" sz="2400" b="1" dirty="0">
                <a:latin typeface="Arial" panose="020B0604020202020204" pitchFamily="34" charset="0"/>
              </a:rPr>
              <a:t>return</a:t>
            </a:r>
            <a:r>
              <a:rPr lang="en-US" altLang="zh-CN" sz="2400" dirty="0">
                <a:latin typeface="Arial" panose="020B0604020202020204" pitchFamily="34" charset="0"/>
              </a:rPr>
              <a:t> 1;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       </a:t>
            </a:r>
            <a:r>
              <a:rPr lang="en-US" altLang="zh-CN" sz="2400" b="1" dirty="0">
                <a:latin typeface="Arial" panose="020B0604020202020204" pitchFamily="34" charset="0"/>
              </a:rPr>
              <a:t>return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fibonacci</a:t>
            </a:r>
            <a:r>
              <a:rPr lang="en-US" altLang="zh-CN" sz="2400" dirty="0">
                <a:latin typeface="Arial" panose="020B0604020202020204" pitchFamily="34" charset="0"/>
              </a:rPr>
              <a:t>(n-1)+</a:t>
            </a:r>
            <a:r>
              <a:rPr lang="en-US" altLang="zh-CN" sz="2400" b="1" dirty="0">
                <a:latin typeface="Arial" panose="020B0604020202020204" pitchFamily="34" charset="0"/>
              </a:rPr>
              <a:t>fibonacci</a:t>
            </a:r>
            <a:r>
              <a:rPr lang="en-US" altLang="zh-CN" sz="2400" dirty="0">
                <a:latin typeface="Arial" panose="020B0604020202020204" pitchFamily="34" charset="0"/>
              </a:rPr>
              <a:t>(n-2);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   }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bldLvl="0" animBg="1"/>
      <p:bldP spid="15369" grpId="0" bldLvl="0" animBg="1"/>
      <p:bldP spid="1537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388" name="Text Box 3"/>
          <p:cNvSpPr txBox="1"/>
          <p:nvPr/>
        </p:nvSpPr>
        <p:spPr>
          <a:xfrm>
            <a:off x="433388" y="1700213"/>
            <a:ext cx="8710612" cy="1552575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en-US" altLang="en-US" sz="2400" b="1" dirty="0">
                <a:solidFill>
                  <a:schemeClr val="accent2"/>
                </a:solidFill>
                <a:latin typeface="Arial" panose="020B0604020202020204" pitchFamily="34" charset="0"/>
              </a:rPr>
              <a:t>Ackerman</a:t>
            </a:r>
            <a:r>
              <a:rPr lang="en-US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zh-CN" altLang="en-US" sz="2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当一个函数及它的一个变量是由函数自身定义时，称这个函数是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双递归函数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Ackerman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函数</a:t>
            </a:r>
            <a:r>
              <a:rPr lang="en-US" altLang="zh-CN" sz="2400" b="1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A(n</a:t>
            </a:r>
            <a:r>
              <a:rPr lang="zh-CN" altLang="en-US" sz="2400" b="1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m)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定义如下：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6389" name="Rectangle 4"/>
          <p:cNvSpPr/>
          <p:nvPr/>
        </p:nvSpPr>
        <p:spPr>
          <a:xfrm>
            <a:off x="0" y="2971800"/>
            <a:ext cx="9144000" cy="0"/>
          </a:xfrm>
          <a:prstGeom prst="rect">
            <a:avLst/>
          </a:prstGeom>
          <a:noFill/>
          <a:ln w="6350">
            <a:noFill/>
          </a:ln>
        </p:spPr>
        <p:txBody>
          <a:bodyPr wrap="none" anchor="ctr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258888" y="3500438"/>
          <a:ext cx="6769100" cy="246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514600" imgH="914400" progId="Equation.3">
                  <p:embed/>
                </p:oleObj>
              </mc:Choice>
              <mc:Fallback>
                <p:oleObj name="" r:id="rId1" imgW="2514600" imgH="9144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8888" y="3500438"/>
                        <a:ext cx="6769100" cy="2462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412" name="Text Box 3"/>
          <p:cNvSpPr txBox="1"/>
          <p:nvPr/>
        </p:nvSpPr>
        <p:spPr>
          <a:xfrm>
            <a:off x="433388" y="1700213"/>
            <a:ext cx="8710612" cy="822325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en-US" altLang="en-US" sz="2400" b="1" dirty="0">
                <a:solidFill>
                  <a:schemeClr val="accent2"/>
                </a:solidFill>
                <a:latin typeface="Arial" panose="020B0604020202020204" pitchFamily="34" charset="0"/>
              </a:rPr>
              <a:t>Ackerman</a:t>
            </a:r>
            <a:r>
              <a:rPr lang="en-US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zh-CN" altLang="en-US" sz="2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前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例中的函数都可以找到相应的非递归方式定义：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7413" name="Rectangle 4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6350">
            <a:noFill/>
          </a:ln>
        </p:spPr>
        <p:txBody>
          <a:bodyPr wrap="none" anchor="ctr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539750" y="2636838"/>
          <a:ext cx="410368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485900" imgH="203200" progId="Equation.3">
                  <p:embed/>
                </p:oleObj>
              </mc:Choice>
              <mc:Fallback>
                <p:oleObj name="" r:id="rId1" imgW="1485900" imgH="2032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750" y="2636838"/>
                        <a:ext cx="4103688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Rectangle 6"/>
          <p:cNvSpPr/>
          <p:nvPr/>
        </p:nvSpPr>
        <p:spPr>
          <a:xfrm>
            <a:off x="0" y="3138488"/>
            <a:ext cx="9144000" cy="0"/>
          </a:xfrm>
          <a:prstGeom prst="rect">
            <a:avLst/>
          </a:prstGeom>
          <a:noFill/>
          <a:ln w="6350">
            <a:noFill/>
          </a:ln>
        </p:spPr>
        <p:txBody>
          <a:bodyPr wrap="none" anchor="ctr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539750" y="3649663"/>
          <a:ext cx="6553200" cy="155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2451100" imgH="584200" progId="Equation.3">
                  <p:embed/>
                </p:oleObj>
              </mc:Choice>
              <mc:Fallback>
                <p:oleObj name="" r:id="rId3" imgW="2451100" imgH="584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750" y="3649663"/>
                        <a:ext cx="6553200" cy="1554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Text Box 8"/>
          <p:cNvSpPr txBox="1"/>
          <p:nvPr/>
        </p:nvSpPr>
        <p:spPr>
          <a:xfrm>
            <a:off x="433388" y="5445125"/>
            <a:ext cx="8710612" cy="45720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本例中的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Ackerman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函数却无法找到非递归的定义。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type="body" sz="half" idx="1"/>
          </p:nvPr>
        </p:nvSpPr>
        <p:spPr>
          <a:xfrm>
            <a:off x="684213" y="2005013"/>
            <a:ext cx="7556500" cy="4232275"/>
          </a:xfrm>
        </p:spPr>
        <p:txBody>
          <a:bodyPr vert="horz" wrap="square" lIns="91440" tIns="45720" rIns="91440" bIns="45720" anchor="t"/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例</a:t>
            </a:r>
            <a:r>
              <a:rPr lang="en-US" altLang="zh-CN" sz="2200" b="1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3  </a:t>
            </a:r>
            <a:r>
              <a:rPr lang="en-US" altLang="en-US" sz="2200" b="1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Ackerman函数</a:t>
            </a:r>
            <a:endParaRPr lang="zh-CN" altLang="en-US" sz="22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A(n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m)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的自变量</a:t>
            </a: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m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的每一个值都定义了一个单变量函数：</a:t>
            </a:r>
            <a:endParaRPr lang="zh-CN" altLang="en-US" sz="2200" dirty="0"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M=0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时，</a:t>
            </a: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A(n,0)=n+2</a:t>
            </a:r>
            <a:endParaRPr lang="en-US" altLang="zh-CN" sz="2200" dirty="0"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M=1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时，</a:t>
            </a: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A(n,1)=A(A(n-1,1),0)=A(n-1,1)+2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，和</a:t>
            </a: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A(1,1)=2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故</a:t>
            </a: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A(n,1)=2*n</a:t>
            </a:r>
            <a:endParaRPr lang="en-US" altLang="zh-CN" sz="2200" dirty="0"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M=2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时，</a:t>
            </a: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A(n,2)=A(A(n-1,2),1)=2A(n-1,2)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，和</a:t>
            </a: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A(1,2)=A(A(0,2),1)=A(1,1)=2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，故</a:t>
            </a: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A(n,2)= 2^n 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。</a:t>
            </a:r>
            <a:endParaRPr lang="zh-CN" altLang="en-US" sz="2200" dirty="0"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endParaRPr lang="zh-CN" altLang="en-US" sz="2200" dirty="0"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endParaRPr lang="zh-CN" altLang="en-US" sz="2200" dirty="0"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endParaRPr lang="zh-CN" altLang="en-US" sz="2200" dirty="0"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M=3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时，类似的可以推出</a:t>
            </a:r>
            <a:endParaRPr lang="zh-CN" altLang="en-US" sz="2200" dirty="0"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M=4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时，</a:t>
            </a:r>
            <a:r>
              <a:rPr lang="en-US" altLang="zh-CN" sz="2200" dirty="0">
                <a:latin typeface="新宋体" panose="02010609030101010101" charset="-122"/>
                <a:ea typeface="新宋体" panose="02010609030101010101" charset="-122"/>
              </a:rPr>
              <a:t>A(n,4)</a:t>
            </a:r>
            <a:r>
              <a:rPr lang="zh-CN" altLang="en-US" sz="2200" dirty="0">
                <a:latin typeface="新宋体" panose="02010609030101010101" charset="-122"/>
                <a:ea typeface="新宋体" panose="02010609030101010101" charset="-122"/>
              </a:rPr>
              <a:t>的增长速度非常快，以至于没有适当的数学式子来表示这一函数。</a:t>
            </a:r>
            <a:endParaRPr lang="zh-CN" altLang="en-US" sz="2200" dirty="0"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endParaRPr lang="en-US" altLang="zh-CN" sz="22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graphicFrame>
        <p:nvGraphicFramePr>
          <p:cNvPr id="18437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4140200" y="4305300"/>
          <a:ext cx="1160463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30200" imgH="419100" progId="Equation.3">
                  <p:embed/>
                </p:oleObj>
              </mc:Choice>
              <mc:Fallback>
                <p:oleObj name="" r:id="rId1" imgW="330200" imgH="4191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4140200" y="4305300"/>
                        <a:ext cx="1160463" cy="12842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lnSpc>
                <a:spcPct val="8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例</a:t>
            </a:r>
            <a:r>
              <a:rPr lang="en-US" altLang="zh-CN" sz="2600" b="1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3  </a:t>
            </a:r>
            <a:r>
              <a:rPr lang="en-US" altLang="en-US" sz="2600" b="1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Ackerman函数</a:t>
            </a:r>
            <a:endParaRPr lang="zh-CN" altLang="en-US" sz="2600" b="1" dirty="0">
              <a:solidFill>
                <a:schemeClr val="accent2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定义单变量的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Ackerman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函数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A(n)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为，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A(n)=A(n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n)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定义其拟逆函数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α(n)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为：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α(n)=min{k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｜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A(k)≥n}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。即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α(n)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是使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n≤A(k)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成立的最小的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k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值。</a:t>
            </a:r>
            <a:endParaRPr lang="zh-CN" altLang="en-US" sz="26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α(n)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在复杂度分析中常遇到。对于通常所见到的正整数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，有</a:t>
            </a:r>
            <a:r>
              <a:rPr lang="en-US" altLang="zh-CN" sz="2600" b="1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α(n)≤4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。但在理论上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α(n)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没有上界，随着</a:t>
            </a:r>
            <a:r>
              <a:rPr lang="en-US" altLang="zh-CN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6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的增加，它以难以想象的慢速度趋向正无穷大。</a:t>
            </a:r>
            <a:endParaRPr lang="zh-CN" altLang="en-US" sz="26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600" dirty="0">
              <a:latin typeface="新宋体" panose="02010609030101010101" charset="-122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1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charRg st="15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5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charRg st="50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105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charRg st="105" end="1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484" name="Text Box 3"/>
          <p:cNvSpPr txBox="1"/>
          <p:nvPr/>
        </p:nvSpPr>
        <p:spPr>
          <a:xfrm>
            <a:off x="250825" y="1700213"/>
            <a:ext cx="8618538" cy="1114425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 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排列问题</a:t>
            </a:r>
            <a:endParaRPr lang="zh-CN" altLang="en-US" sz="2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设计一个递归算法生成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个元素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{r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,r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…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,r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的全排列。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endParaRPr lang="en-US" altLang="zh-CN" sz="2400" dirty="0">
              <a:solidFill>
                <a:schemeClr val="accent2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" name="Text Box 4"/>
          <p:cNvSpPr txBox="1"/>
          <p:nvPr/>
        </p:nvSpPr>
        <p:spPr>
          <a:xfrm>
            <a:off x="250825" y="2565400"/>
            <a:ext cx="8020050" cy="1552575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R={r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,r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…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,r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是要进行排列的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个元素，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=R-{r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集合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中元素的全排列记为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perm(X)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(r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)perm(X)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表示在全排列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perm(X)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的每一个排列前加上前缀得到的排列。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R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的全排列可归纳定义如下：</a:t>
            </a:r>
            <a:r>
              <a:rPr lang="zh-CN" altLang="en-US" sz="2400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 </a:t>
            </a:r>
            <a:endParaRPr lang="zh-CN" altLang="en-US" sz="2400" dirty="0">
              <a:solidFill>
                <a:schemeClr val="accent2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0485" name="Text Box 5"/>
          <p:cNvSpPr txBox="1"/>
          <p:nvPr/>
        </p:nvSpPr>
        <p:spPr>
          <a:xfrm>
            <a:off x="395288" y="4365625"/>
            <a:ext cx="8020050" cy="1193800"/>
          </a:xfrm>
          <a:prstGeom prst="rect">
            <a:avLst/>
          </a:prstGeom>
          <a:noFill/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当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n=1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时，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perm(R)=(r)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，其中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r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是集合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R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中唯一的元素；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当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n&gt;1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时，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perm(R)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由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(r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)perm(R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(r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)perm(R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…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(r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)perm(R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构成。</a:t>
            </a:r>
            <a:r>
              <a:rPr lang="zh-CN" altLang="en-US" sz="2400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 </a:t>
            </a:r>
            <a:endParaRPr lang="zh-CN" altLang="en-US" sz="2400" dirty="0">
              <a:solidFill>
                <a:schemeClr val="accent2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485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zh-CN" altLang="en-US" sz="1000" dirty="0"/>
            </a:fld>
            <a:endParaRPr lang="zh-CN" altLang="en-US" sz="1000" dirty="0"/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1371600" y="333375"/>
            <a:ext cx="7772400" cy="685800"/>
          </a:xfrm>
        </p:spPr>
        <p:txBody>
          <a:bodyPr vert="horz" wrap="square" lIns="91440" tIns="45720" rIns="91440" bIns="45720" anchor="b"/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生成排列</a:t>
            </a:r>
            <a:endParaRPr lang="en-US" altLang="zh-CN" sz="3600" dirty="0">
              <a:solidFill>
                <a:schemeClr val="accent2"/>
              </a:solidFill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323850" y="1268413"/>
            <a:ext cx="8569325" cy="5040312"/>
          </a:xfrm>
        </p:spPr>
        <p:txBody>
          <a:bodyPr vert="horz" wrap="square" lIns="91440" tIns="45720" rIns="91440" bIns="45720" anchor="t"/>
          <a:p>
            <a:pPr marL="533400" indent="-533400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问题是生成</a:t>
            </a:r>
            <a:r>
              <a:rPr lang="en-US" altLang="zh-CN" dirty="0"/>
              <a:t>{1,2,…,</a:t>
            </a:r>
            <a:r>
              <a:rPr lang="en-US" altLang="zh-CN" i="1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的所有</a:t>
            </a:r>
            <a:r>
              <a:rPr lang="en-US" altLang="zh-CN" i="1" dirty="0"/>
              <a:t>n</a:t>
            </a:r>
            <a:r>
              <a:rPr lang="en-US" altLang="zh-CN" dirty="0"/>
              <a:t>!</a:t>
            </a:r>
            <a:r>
              <a:rPr lang="zh-CN" altLang="en-US" dirty="0"/>
              <a:t>个排列</a:t>
            </a:r>
            <a:endParaRPr lang="en-US" altLang="zh-CN" dirty="0"/>
          </a:p>
          <a:p>
            <a:pPr marL="533400" indent="-533400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想法 </a:t>
            </a:r>
            <a:r>
              <a:rPr lang="en-US" altLang="zh-CN" dirty="0">
                <a:solidFill>
                  <a:schemeClr val="hlink"/>
                </a:solidFill>
              </a:rPr>
              <a:t>1:</a:t>
            </a:r>
            <a:r>
              <a:rPr lang="en-US" altLang="zh-CN" dirty="0"/>
              <a:t>  </a:t>
            </a:r>
            <a:r>
              <a:rPr lang="zh-CN" altLang="en-US" b="1" dirty="0"/>
              <a:t>固定位置放元素</a:t>
            </a:r>
            <a:r>
              <a:rPr lang="zh-CN" altLang="en-US" dirty="0"/>
              <a:t> </a:t>
            </a:r>
            <a:endParaRPr lang="en-US" altLang="zh-CN" dirty="0"/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dirty="0"/>
              <a:t>      假设我们能够生成</a:t>
            </a:r>
            <a:r>
              <a:rPr lang="en-US" altLang="zh-CN" i="1" dirty="0"/>
              <a:t>n</a:t>
            </a:r>
            <a:r>
              <a:rPr lang="en-US" altLang="zh-CN" dirty="0"/>
              <a:t>-1</a:t>
            </a:r>
            <a:r>
              <a:rPr lang="zh-CN" altLang="en-US" dirty="0"/>
              <a:t>个元素的所有排列，我们可以得到如下算法：</a:t>
            </a:r>
            <a:endParaRPr lang="zh-CN" altLang="en-US" dirty="0"/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dirty="0"/>
              <a:t>      生成元素</a:t>
            </a:r>
            <a:r>
              <a:rPr lang="en-US" altLang="zh-CN" dirty="0"/>
              <a:t>{</a:t>
            </a:r>
            <a:r>
              <a:rPr lang="en-US" altLang="zh-CN" sz="3200" dirty="0"/>
              <a:t>2,3,…,</a:t>
            </a:r>
            <a:r>
              <a:rPr lang="en-US" altLang="zh-CN" sz="3200" i="1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的所有排列，并且将元素</a:t>
            </a:r>
            <a:r>
              <a:rPr lang="en-US" altLang="zh-CN" dirty="0"/>
              <a:t>1</a:t>
            </a:r>
            <a:r>
              <a:rPr lang="zh-CN" altLang="en-US" dirty="0"/>
              <a:t>放到每个排列的开头；</a:t>
            </a:r>
            <a:endParaRPr lang="zh-CN" altLang="en-US" dirty="0"/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dirty="0"/>
              <a:t>      接着，生成元素</a:t>
            </a:r>
            <a:r>
              <a:rPr lang="en-US" altLang="zh-CN" dirty="0"/>
              <a:t>{</a:t>
            </a:r>
            <a:r>
              <a:rPr lang="en-US" altLang="zh-CN" sz="3200" dirty="0"/>
              <a:t>1,3,…,</a:t>
            </a:r>
            <a:r>
              <a:rPr lang="en-US" altLang="zh-CN" sz="3200" i="1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的所有排列，并将数字</a:t>
            </a:r>
            <a:r>
              <a:rPr lang="en-US" altLang="zh-CN" dirty="0"/>
              <a:t>2</a:t>
            </a:r>
            <a:r>
              <a:rPr lang="zh-CN" altLang="en-US" dirty="0"/>
              <a:t>放到每个排列的开头；</a:t>
            </a:r>
            <a:endParaRPr lang="zh-CN" altLang="en-US" dirty="0"/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dirty="0"/>
              <a:t>      重复这个过程，直到元素</a:t>
            </a:r>
            <a:r>
              <a:rPr lang="en-US" altLang="zh-CN" dirty="0"/>
              <a:t>{</a:t>
            </a:r>
            <a:r>
              <a:rPr lang="en-US" altLang="zh-CN" sz="3200" dirty="0"/>
              <a:t>2,3,…,</a:t>
            </a:r>
            <a:r>
              <a:rPr lang="en-US" altLang="zh-CN" sz="3200" i="1" dirty="0"/>
              <a:t>n-</a:t>
            </a:r>
            <a:r>
              <a:rPr lang="en-US" altLang="zh-CN" sz="3200" dirty="0"/>
              <a:t>1</a:t>
            </a:r>
            <a:r>
              <a:rPr lang="en-US" altLang="zh-CN" dirty="0"/>
              <a:t>}</a:t>
            </a:r>
            <a:r>
              <a:rPr lang="zh-CN" altLang="en-US" dirty="0"/>
              <a:t>的所有排列都产生，并将元素</a:t>
            </a:r>
            <a:r>
              <a:rPr lang="en-US" altLang="zh-CN" sz="3200" i="1" dirty="0"/>
              <a:t>n</a:t>
            </a:r>
            <a:r>
              <a:rPr lang="zh-CN" altLang="en-US" dirty="0"/>
              <a:t>放到每个排列的开头。</a:t>
            </a:r>
            <a:endParaRPr lang="zh-CN" altLang="en-US" dirty="0"/>
          </a:p>
        </p:txBody>
      </p:sp>
      <p:sp>
        <p:nvSpPr>
          <p:cNvPr id="21509" name="Rectangle 4"/>
          <p:cNvSpPr/>
          <p:nvPr/>
        </p:nvSpPr>
        <p:spPr>
          <a:xfrm>
            <a:off x="4284663" y="3357563"/>
            <a:ext cx="4465637" cy="38163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609600" lvl="0" indent="-609600" eaLnBrk="1" hangingPunct="1">
              <a:buClr>
                <a:schemeClr val="folHlink"/>
              </a:buClr>
              <a:buSzPct val="60000"/>
              <a:buNone/>
            </a:pPr>
            <a:endParaRPr lang="zh-CN" altLang="en-US" sz="1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zh-CN" altLang="en-US" sz="1000" dirty="0"/>
            </a:fld>
            <a:endParaRPr lang="zh-CN" altLang="en-US" sz="1000" dirty="0"/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endParaRPr lang="zh-CN" altLang="en-US"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381000" y="1341438"/>
            <a:ext cx="8574088" cy="4791075"/>
          </a:xfrm>
        </p:spPr>
        <p:txBody>
          <a:bodyPr vert="horz" wrap="square" lIns="91440" tIns="45720" rIns="91440" bIns="45720" anchor="t"/>
          <a:p>
            <a:pPr marL="381000" indent="-381000" eaLnBrk="1" hangingPunct="1">
              <a:buNone/>
            </a:pPr>
            <a:r>
              <a:rPr lang="en-US" altLang="zh-CN" dirty="0"/>
              <a:t>GeneratingPerm1()</a:t>
            </a:r>
            <a:endParaRPr lang="en-US" altLang="zh-CN" dirty="0"/>
          </a:p>
          <a:p>
            <a:pPr marL="381000" indent="-381000" eaLnBrk="1" hangingPunct="1">
              <a:buNone/>
            </a:pPr>
            <a:r>
              <a:rPr lang="en-US" altLang="zh-CN" dirty="0"/>
              <a:t>1   </a:t>
            </a:r>
            <a:r>
              <a:rPr lang="en-US" altLang="zh-CN" b="1" dirty="0">
                <a:solidFill>
                  <a:srgbClr val="996633"/>
                </a:solidFill>
              </a:rPr>
              <a:t>for</a:t>
            </a:r>
            <a:r>
              <a:rPr lang="en-US" altLang="zh-CN" dirty="0"/>
              <a:t> </a:t>
            </a:r>
            <a:r>
              <a:rPr lang="en-US" altLang="zh-CN" i="1" dirty="0"/>
              <a:t>j</a:t>
            </a:r>
            <a:r>
              <a:rPr lang="en-US" altLang="zh-CN" dirty="0">
                <a:cs typeface="Times New Roman" panose="02020603050405020304" pitchFamily="18" charset="0"/>
              </a:rPr>
              <a:t>←</a:t>
            </a:r>
            <a:r>
              <a:rPr lang="en-US" altLang="zh-CN" dirty="0"/>
              <a:t>1 </a:t>
            </a:r>
            <a:r>
              <a:rPr lang="en-US" altLang="zh-CN" b="1" dirty="0">
                <a:solidFill>
                  <a:srgbClr val="996633"/>
                </a:solidFill>
              </a:rPr>
              <a:t>to</a:t>
            </a:r>
            <a:r>
              <a:rPr lang="en-US" altLang="zh-CN" dirty="0"/>
              <a:t>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996633"/>
                </a:solidFill>
              </a:rPr>
              <a:t>do</a:t>
            </a:r>
            <a:r>
              <a:rPr lang="en-US" altLang="zh-CN" dirty="0"/>
              <a:t> </a:t>
            </a:r>
            <a:endParaRPr lang="en-US" altLang="zh-CN" dirty="0"/>
          </a:p>
          <a:p>
            <a:pPr marL="381000" indent="-381000" eaLnBrk="1" hangingPunct="1">
              <a:buFontTx/>
              <a:buNone/>
            </a:pPr>
            <a:r>
              <a:rPr lang="en-US" altLang="zh-CN" dirty="0"/>
              <a:t>2        P[</a:t>
            </a:r>
            <a:r>
              <a:rPr lang="en-US" altLang="zh-CN" i="1" dirty="0"/>
              <a:t>j</a:t>
            </a:r>
            <a:r>
              <a:rPr lang="en-US" altLang="zh-CN" dirty="0"/>
              <a:t>] ←</a:t>
            </a:r>
            <a:r>
              <a:rPr lang="en-US" altLang="zh-CN" i="1" dirty="0"/>
              <a:t>j</a:t>
            </a:r>
            <a:endParaRPr lang="en-US" altLang="zh-CN" i="1" dirty="0"/>
          </a:p>
          <a:p>
            <a:pPr marL="381000" indent="-381000" eaLnBrk="1" hangingPunct="1">
              <a:buFontTx/>
              <a:buNone/>
            </a:pPr>
            <a:r>
              <a:rPr lang="en-US" altLang="zh-CN" dirty="0"/>
              <a:t>3   Perm1(1)</a:t>
            </a:r>
            <a:endParaRPr lang="en-US" altLang="zh-CN" dirty="0"/>
          </a:p>
          <a:p>
            <a:pPr marL="381000" indent="-381000" eaLnBrk="1" hangingPunct="1">
              <a:buFontTx/>
              <a:buNone/>
            </a:pPr>
            <a:endParaRPr lang="en-US" altLang="zh-CN" dirty="0"/>
          </a:p>
        </p:txBody>
      </p:sp>
      <p:sp>
        <p:nvSpPr>
          <p:cNvPr id="22533" name="Rectangle 4"/>
          <p:cNvSpPr/>
          <p:nvPr/>
        </p:nvSpPr>
        <p:spPr>
          <a:xfrm>
            <a:off x="3492500" y="3357563"/>
            <a:ext cx="5257800" cy="3081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/>
            <a:r>
              <a:rPr lang="en-US" altLang="zh-CN" sz="2800" dirty="0">
                <a:latin typeface="Times New Roman" panose="02020603050405020304" pitchFamily="18" charset="0"/>
              </a:rPr>
              <a:t>Perm1(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2800" dirty="0">
                <a:latin typeface="Times New Roman" panose="02020603050405020304" pitchFamily="18" charset="0"/>
              </a:rPr>
              <a:t>1  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sz="2800" dirty="0">
                <a:latin typeface="Times New Roman" panose="02020603050405020304" pitchFamily="18" charset="0"/>
              </a:rPr>
              <a:t> output P[1..</a:t>
            </a:r>
            <a:r>
              <a:rPr lang="en-US" altLang="zh-CN" sz="2800" i="1" dirty="0"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   else</a:t>
            </a:r>
            <a:endParaRPr lang="en-US" altLang="zh-CN" sz="2800" b="1" dirty="0">
              <a:solidFill>
                <a:srgbClr val="996633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2800" dirty="0">
                <a:latin typeface="Times New Roman" panose="02020603050405020304" pitchFamily="18" charset="0"/>
              </a:rPr>
              <a:t>3        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←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to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n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do</a:t>
            </a:r>
            <a:endParaRPr lang="en-US" altLang="zh-CN" sz="2800" b="1" dirty="0">
              <a:solidFill>
                <a:srgbClr val="996633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2800" dirty="0">
                <a:latin typeface="Times New Roman" panose="02020603050405020304" pitchFamily="18" charset="0"/>
              </a:rPr>
              <a:t>4                P[</a:t>
            </a:r>
            <a:r>
              <a:rPr lang="en-US" altLang="zh-CN" sz="2800" i="1" dirty="0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] ↔ P[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2800" dirty="0">
                <a:latin typeface="Times New Roman" panose="02020603050405020304" pitchFamily="18" charset="0"/>
              </a:rPr>
              <a:t>5                Perm1(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</a:rPr>
              <a:t>+1)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2800" dirty="0">
                <a:latin typeface="Times New Roman" panose="02020603050405020304" pitchFamily="18" charset="0"/>
              </a:rPr>
              <a:t>6                P[</a:t>
            </a:r>
            <a:r>
              <a:rPr lang="en-US" altLang="zh-CN" sz="2800" i="1" dirty="0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] ↔P[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zh-CN" altLang="en-US" sz="1000" dirty="0"/>
            </a:fld>
            <a:endParaRPr lang="zh-CN" altLang="en-US" sz="1000" dirty="0"/>
          </a:p>
        </p:txBody>
      </p:sp>
      <p:sp>
        <p:nvSpPr>
          <p:cNvPr id="23555" name="Rectangle 2"/>
          <p:cNvSpPr>
            <a:spLocks noGrp="1"/>
          </p:cNvSpPr>
          <p:nvPr>
            <p:ph idx="1"/>
          </p:nvPr>
        </p:nvSpPr>
        <p:spPr>
          <a:xfrm>
            <a:off x="1222375" y="404813"/>
            <a:ext cx="7921625" cy="503237"/>
          </a:xfrm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/>
              <a:t>Illustration for </a:t>
            </a:r>
            <a:r>
              <a:rPr lang="en-US" altLang="zh-CN" i="1" dirty="0"/>
              <a:t>n</a:t>
            </a:r>
            <a:r>
              <a:rPr lang="en-US" altLang="zh-CN" dirty="0"/>
              <a:t>=3.</a:t>
            </a:r>
            <a:endParaRPr lang="en-US" altLang="zh-CN" dirty="0"/>
          </a:p>
        </p:txBody>
      </p:sp>
      <p:sp>
        <p:nvSpPr>
          <p:cNvPr id="23556" name="Rectangle 3"/>
          <p:cNvSpPr/>
          <p:nvPr/>
        </p:nvSpPr>
        <p:spPr>
          <a:xfrm>
            <a:off x="3708400" y="1196975"/>
            <a:ext cx="1296988" cy="4333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Perm1(1)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3557" name="Line 4"/>
          <p:cNvSpPr/>
          <p:nvPr/>
        </p:nvSpPr>
        <p:spPr>
          <a:xfrm flipH="1">
            <a:off x="2195513" y="1628775"/>
            <a:ext cx="2160587" cy="7921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58" name="Line 5"/>
          <p:cNvSpPr/>
          <p:nvPr/>
        </p:nvSpPr>
        <p:spPr>
          <a:xfrm>
            <a:off x="4356100" y="1628775"/>
            <a:ext cx="2447925" cy="7207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59" name="Line 6"/>
          <p:cNvSpPr/>
          <p:nvPr/>
        </p:nvSpPr>
        <p:spPr>
          <a:xfrm flipH="1">
            <a:off x="900113" y="2852738"/>
            <a:ext cx="1008062" cy="12969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60" name="Line 7"/>
          <p:cNvSpPr/>
          <p:nvPr/>
        </p:nvSpPr>
        <p:spPr>
          <a:xfrm>
            <a:off x="1908175" y="2852738"/>
            <a:ext cx="431800" cy="12969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61" name="Line 8"/>
          <p:cNvSpPr/>
          <p:nvPr/>
        </p:nvSpPr>
        <p:spPr>
          <a:xfrm>
            <a:off x="4572000" y="2781300"/>
            <a:ext cx="647700" cy="1368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62" name="Line 9"/>
          <p:cNvSpPr/>
          <p:nvPr/>
        </p:nvSpPr>
        <p:spPr>
          <a:xfrm>
            <a:off x="6877050" y="2781300"/>
            <a:ext cx="1295400" cy="1368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63" name="Rectangle 10"/>
          <p:cNvSpPr/>
          <p:nvPr/>
        </p:nvSpPr>
        <p:spPr>
          <a:xfrm>
            <a:off x="2051050" y="1700213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[1]=1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64" name="Rectangle 11"/>
          <p:cNvSpPr/>
          <p:nvPr/>
        </p:nvSpPr>
        <p:spPr>
          <a:xfrm>
            <a:off x="1476375" y="2420938"/>
            <a:ext cx="1296988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Perm1(2)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3565" name="Rectangle 12"/>
          <p:cNvSpPr/>
          <p:nvPr/>
        </p:nvSpPr>
        <p:spPr>
          <a:xfrm>
            <a:off x="3779838" y="2349500"/>
            <a:ext cx="1296987" cy="4333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Perm1(2)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3566" name="Rectangle 13"/>
          <p:cNvSpPr/>
          <p:nvPr/>
        </p:nvSpPr>
        <p:spPr>
          <a:xfrm>
            <a:off x="179388" y="4149725"/>
            <a:ext cx="1296987" cy="4333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Perm1(3)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3567" name="Rectangle 14"/>
          <p:cNvSpPr/>
          <p:nvPr/>
        </p:nvSpPr>
        <p:spPr>
          <a:xfrm>
            <a:off x="1763713" y="4149725"/>
            <a:ext cx="1296987" cy="4333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Perm1(3)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3568" name="Rectangle 15"/>
          <p:cNvSpPr/>
          <p:nvPr/>
        </p:nvSpPr>
        <p:spPr>
          <a:xfrm>
            <a:off x="3276600" y="4149725"/>
            <a:ext cx="1296988" cy="4333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Perm1(3)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3569" name="Rectangle 16"/>
          <p:cNvSpPr/>
          <p:nvPr/>
        </p:nvSpPr>
        <p:spPr>
          <a:xfrm>
            <a:off x="4716463" y="4149725"/>
            <a:ext cx="1296987" cy="4333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Perm1(3)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3570" name="Line 21"/>
          <p:cNvSpPr/>
          <p:nvPr/>
        </p:nvSpPr>
        <p:spPr>
          <a:xfrm flipH="1">
            <a:off x="971550" y="4581525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71" name="Line 22"/>
          <p:cNvSpPr/>
          <p:nvPr/>
        </p:nvSpPr>
        <p:spPr>
          <a:xfrm flipH="1">
            <a:off x="2555875" y="4581525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72" name="Line 23"/>
          <p:cNvSpPr/>
          <p:nvPr/>
        </p:nvSpPr>
        <p:spPr>
          <a:xfrm flipH="1">
            <a:off x="5364163" y="4581525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73" name="Line 24"/>
          <p:cNvSpPr/>
          <p:nvPr/>
        </p:nvSpPr>
        <p:spPr>
          <a:xfrm>
            <a:off x="8243888" y="4581525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74" name="Rectangle 25"/>
          <p:cNvSpPr/>
          <p:nvPr/>
        </p:nvSpPr>
        <p:spPr>
          <a:xfrm>
            <a:off x="395288" y="3068638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75" name="Rectangle 26"/>
          <p:cNvSpPr/>
          <p:nvPr/>
        </p:nvSpPr>
        <p:spPr>
          <a:xfrm>
            <a:off x="0" y="4941888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[3]=3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76" name="Rectangle 27"/>
          <p:cNvSpPr/>
          <p:nvPr/>
        </p:nvSpPr>
        <p:spPr>
          <a:xfrm>
            <a:off x="1979613" y="3068638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[2]=3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77" name="Rectangle 28"/>
          <p:cNvSpPr/>
          <p:nvPr/>
        </p:nvSpPr>
        <p:spPr>
          <a:xfrm>
            <a:off x="1619250" y="4941888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78" name="Line 29"/>
          <p:cNvSpPr/>
          <p:nvPr/>
        </p:nvSpPr>
        <p:spPr>
          <a:xfrm flipH="1">
            <a:off x="3851275" y="2781300"/>
            <a:ext cx="504825" cy="1368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79" name="Line 30"/>
          <p:cNvSpPr/>
          <p:nvPr/>
        </p:nvSpPr>
        <p:spPr>
          <a:xfrm>
            <a:off x="4356100" y="1628775"/>
            <a:ext cx="0" cy="7207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80" name="Line 33"/>
          <p:cNvSpPr/>
          <p:nvPr/>
        </p:nvSpPr>
        <p:spPr>
          <a:xfrm flipH="1">
            <a:off x="3851275" y="4581525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81" name="Rectangle 34"/>
          <p:cNvSpPr/>
          <p:nvPr/>
        </p:nvSpPr>
        <p:spPr>
          <a:xfrm>
            <a:off x="7596188" y="4149725"/>
            <a:ext cx="1296987" cy="4333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Perm1(3)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3582" name="Rectangle 35"/>
          <p:cNvSpPr/>
          <p:nvPr/>
        </p:nvSpPr>
        <p:spPr>
          <a:xfrm>
            <a:off x="6156325" y="4149725"/>
            <a:ext cx="1296988" cy="4333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Perm1(3)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3583" name="Rectangle 36"/>
          <p:cNvSpPr/>
          <p:nvPr/>
        </p:nvSpPr>
        <p:spPr>
          <a:xfrm>
            <a:off x="6084888" y="2349500"/>
            <a:ext cx="1296987" cy="4333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Perm1(2)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3584" name="Line 37"/>
          <p:cNvSpPr/>
          <p:nvPr/>
        </p:nvSpPr>
        <p:spPr>
          <a:xfrm flipH="1">
            <a:off x="6732588" y="2781300"/>
            <a:ext cx="144462" cy="1368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85" name="Line 38"/>
          <p:cNvSpPr/>
          <p:nvPr/>
        </p:nvSpPr>
        <p:spPr>
          <a:xfrm>
            <a:off x="6732588" y="4581525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86" name="Rectangle 39"/>
          <p:cNvSpPr/>
          <p:nvPr/>
        </p:nvSpPr>
        <p:spPr>
          <a:xfrm>
            <a:off x="3708400" y="1700213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[1]=2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87" name="Rectangle 40"/>
          <p:cNvSpPr/>
          <p:nvPr/>
        </p:nvSpPr>
        <p:spPr>
          <a:xfrm>
            <a:off x="5651500" y="1628775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[1]=3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88" name="Rectangle 41"/>
          <p:cNvSpPr/>
          <p:nvPr/>
        </p:nvSpPr>
        <p:spPr>
          <a:xfrm>
            <a:off x="3132138" y="3068638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89" name="Rectangle 42"/>
          <p:cNvSpPr/>
          <p:nvPr/>
        </p:nvSpPr>
        <p:spPr>
          <a:xfrm>
            <a:off x="2843213" y="4941888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[3]=3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90" name="Rectangle 43"/>
          <p:cNvSpPr/>
          <p:nvPr/>
        </p:nvSpPr>
        <p:spPr>
          <a:xfrm>
            <a:off x="4787900" y="3068638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[2]=3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91" name="Rectangle 44"/>
          <p:cNvSpPr/>
          <p:nvPr/>
        </p:nvSpPr>
        <p:spPr>
          <a:xfrm>
            <a:off x="4427538" y="4941888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92" name="Rectangle 45"/>
          <p:cNvSpPr/>
          <p:nvPr/>
        </p:nvSpPr>
        <p:spPr>
          <a:xfrm>
            <a:off x="5867400" y="3068638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93" name="Rectangle 46"/>
          <p:cNvSpPr/>
          <p:nvPr/>
        </p:nvSpPr>
        <p:spPr>
          <a:xfrm>
            <a:off x="7235825" y="4868863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94" name="Rectangle 47"/>
          <p:cNvSpPr/>
          <p:nvPr/>
        </p:nvSpPr>
        <p:spPr>
          <a:xfrm>
            <a:off x="5795963" y="4868863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3595" name="Rectangle 48"/>
          <p:cNvSpPr/>
          <p:nvPr/>
        </p:nvSpPr>
        <p:spPr>
          <a:xfrm>
            <a:off x="7380288" y="3068638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zh-CN" altLang="en-US" sz="1000" dirty="0"/>
            </a:fld>
            <a:endParaRPr lang="zh-CN" altLang="en-US" sz="1000" dirty="0"/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时间复杂度分析</a:t>
            </a:r>
            <a:endParaRPr lang="zh-CN" altLang="en-US" dirty="0"/>
          </a:p>
        </p:txBody>
      </p:sp>
      <p:graphicFrame>
        <p:nvGraphicFramePr>
          <p:cNvPr id="24580" name="Object 3"/>
          <p:cNvGraphicFramePr>
            <a:graphicFrameLocks noChangeAspect="1"/>
          </p:cNvGraphicFramePr>
          <p:nvPr>
            <p:ph idx="1"/>
          </p:nvPr>
        </p:nvGraphicFramePr>
        <p:xfrm>
          <a:off x="1941513" y="2276475"/>
          <a:ext cx="384333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879600" imgH="457200" progId="Equation.3">
                  <p:embed/>
                </p:oleObj>
              </mc:Choice>
              <mc:Fallback>
                <p:oleObj name="" r:id="rId1" imgW="1879600" imgH="457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941513" y="2276475"/>
                        <a:ext cx="3843337" cy="9350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4"/>
          <p:cNvSpPr/>
          <p:nvPr/>
        </p:nvSpPr>
        <p:spPr>
          <a:xfrm>
            <a:off x="911225" y="1341438"/>
            <a:ext cx="79819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递归方程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zh-CN" altLang="en-US" sz="1000" dirty="0"/>
            </a:fld>
            <a:endParaRPr lang="zh-CN" altLang="en-US" sz="1000" dirty="0"/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endParaRPr lang="zh-CN" altLang="en-US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0" y="1341438"/>
            <a:ext cx="8964613" cy="5111750"/>
          </a:xfrm>
        </p:spPr>
        <p:txBody>
          <a:bodyPr vert="horz" wrap="square" lIns="91440" tIns="45720" rIns="91440" bIns="45720" anchor="t"/>
          <a:p>
            <a:pPr marL="533400" indent="-533400" eaLnBrk="1" hangingPunct="1"/>
            <a:r>
              <a:rPr lang="zh-CN" altLang="en-US" dirty="0">
                <a:solidFill>
                  <a:schemeClr val="hlink"/>
                </a:solidFill>
              </a:rPr>
              <a:t>想法 </a:t>
            </a:r>
            <a:r>
              <a:rPr lang="en-US" altLang="zh-CN" dirty="0">
                <a:solidFill>
                  <a:schemeClr val="hlink"/>
                </a:solidFill>
              </a:rPr>
              <a:t>2:</a:t>
            </a:r>
            <a:r>
              <a:rPr lang="zh-CN" altLang="en-US" b="1" dirty="0"/>
              <a:t>固定元素找位置</a:t>
            </a:r>
            <a:r>
              <a:rPr lang="zh-CN" altLang="en-US" dirty="0"/>
              <a:t> 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/>
              <a:t>首先，我们把</a:t>
            </a:r>
            <a:r>
              <a:rPr lang="en-US" altLang="zh-CN" i="1" dirty="0"/>
              <a:t>n</a:t>
            </a:r>
            <a:r>
              <a:rPr lang="zh-CN" altLang="en-US" dirty="0"/>
              <a:t>放在的位置</a:t>
            </a:r>
            <a:r>
              <a:rPr lang="en-US" altLang="zh-CN" dirty="0"/>
              <a:t>P[1]</a:t>
            </a:r>
            <a:r>
              <a:rPr lang="zh-CN" altLang="en-US" dirty="0"/>
              <a:t>上，并且用子数组</a:t>
            </a:r>
            <a:r>
              <a:rPr lang="en-US" altLang="zh-CN" dirty="0"/>
              <a:t>P[2..</a:t>
            </a:r>
            <a:r>
              <a:rPr lang="en-US" altLang="zh-CN" i="1" dirty="0"/>
              <a:t>n</a:t>
            </a:r>
            <a:r>
              <a:rPr lang="en-US" altLang="zh-CN" dirty="0"/>
              <a:t>]</a:t>
            </a:r>
            <a:r>
              <a:rPr lang="zh-CN" altLang="en-US" dirty="0"/>
              <a:t>来产生前</a:t>
            </a:r>
            <a:r>
              <a:rPr lang="en-US" altLang="zh-CN" i="1" dirty="0"/>
              <a:t>n</a:t>
            </a:r>
            <a:r>
              <a:rPr lang="en-US" altLang="zh-CN" dirty="0"/>
              <a:t>-1</a:t>
            </a:r>
            <a:r>
              <a:rPr lang="zh-CN" altLang="en-US" dirty="0"/>
              <a:t>个数的排列；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/>
              <a:t>接着，我们将</a:t>
            </a:r>
            <a:r>
              <a:rPr lang="en-US" altLang="zh-CN" i="1" dirty="0"/>
              <a:t>n</a:t>
            </a:r>
            <a:r>
              <a:rPr lang="zh-CN" altLang="en-US" dirty="0"/>
              <a:t>放在</a:t>
            </a:r>
            <a:r>
              <a:rPr lang="en-US" altLang="zh-CN" dirty="0"/>
              <a:t>P[2]</a:t>
            </a:r>
            <a:r>
              <a:rPr lang="zh-CN" altLang="en-US" dirty="0"/>
              <a:t>上，并且用子数组</a:t>
            </a:r>
            <a:r>
              <a:rPr lang="en-US" altLang="zh-CN" dirty="0"/>
              <a:t>P[1]</a:t>
            </a:r>
            <a:r>
              <a:rPr lang="zh-CN" altLang="en-US" dirty="0"/>
              <a:t>和</a:t>
            </a:r>
            <a:r>
              <a:rPr lang="en-US" altLang="zh-CN" dirty="0"/>
              <a:t>P[3..</a:t>
            </a:r>
            <a:r>
              <a:rPr lang="en-US" altLang="zh-CN" i="1" dirty="0"/>
              <a:t>n</a:t>
            </a:r>
            <a:r>
              <a:rPr lang="en-US" altLang="zh-CN" dirty="0"/>
              <a:t>]</a:t>
            </a:r>
            <a:r>
              <a:rPr lang="zh-CN" altLang="en-US" dirty="0"/>
              <a:t>来产生前</a:t>
            </a:r>
            <a:r>
              <a:rPr lang="en-US" altLang="zh-CN" i="1" dirty="0"/>
              <a:t>n</a:t>
            </a:r>
            <a:r>
              <a:rPr lang="en-US" altLang="zh-CN" dirty="0"/>
              <a:t>-1</a:t>
            </a:r>
            <a:r>
              <a:rPr lang="zh-CN" altLang="en-US" dirty="0"/>
              <a:t>个数的排列；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/>
              <a:t>然后，我们将</a:t>
            </a:r>
            <a:r>
              <a:rPr lang="en-US" altLang="zh-CN" i="1" dirty="0"/>
              <a:t>n</a:t>
            </a:r>
            <a:r>
              <a:rPr lang="zh-CN" altLang="en-US" dirty="0"/>
              <a:t>放在</a:t>
            </a:r>
            <a:r>
              <a:rPr lang="en-US" altLang="zh-CN" dirty="0"/>
              <a:t>P[3]</a:t>
            </a:r>
            <a:r>
              <a:rPr lang="zh-CN" altLang="en-US" dirty="0"/>
              <a:t>上，并且用子数组</a:t>
            </a:r>
            <a:r>
              <a:rPr lang="en-US" altLang="zh-CN" dirty="0"/>
              <a:t>P[1..2]</a:t>
            </a:r>
            <a:r>
              <a:rPr lang="zh-CN" altLang="en-US" dirty="0"/>
              <a:t>和</a:t>
            </a:r>
            <a:r>
              <a:rPr lang="en-US" altLang="zh-CN" dirty="0"/>
              <a:t>P[4..</a:t>
            </a:r>
            <a:r>
              <a:rPr lang="en-US" altLang="zh-CN" i="1" dirty="0"/>
              <a:t>n</a:t>
            </a:r>
            <a:r>
              <a:rPr lang="en-US" altLang="zh-CN" dirty="0"/>
              <a:t>]</a:t>
            </a:r>
            <a:r>
              <a:rPr lang="zh-CN" altLang="en-US" dirty="0"/>
              <a:t>来产生前</a:t>
            </a:r>
            <a:r>
              <a:rPr lang="en-US" altLang="zh-CN" i="1" dirty="0"/>
              <a:t>n</a:t>
            </a:r>
            <a:r>
              <a:rPr lang="en-US" altLang="zh-CN" dirty="0"/>
              <a:t>-1</a:t>
            </a:r>
            <a:r>
              <a:rPr lang="zh-CN" altLang="en-US" dirty="0"/>
              <a:t>个数的排列；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/>
              <a:t>重复上述过程直到我们将</a:t>
            </a:r>
            <a:r>
              <a:rPr lang="en-US" altLang="zh-CN" i="1" dirty="0"/>
              <a:t>n</a:t>
            </a:r>
            <a:r>
              <a:rPr lang="zh-CN" altLang="en-US" dirty="0"/>
              <a:t>放在</a:t>
            </a:r>
            <a:r>
              <a:rPr lang="en-US" altLang="zh-CN" dirty="0"/>
              <a:t>P[</a:t>
            </a:r>
            <a:r>
              <a:rPr lang="en-US" altLang="zh-CN" i="1" dirty="0"/>
              <a:t>n</a:t>
            </a:r>
            <a:r>
              <a:rPr lang="en-US" altLang="zh-CN" dirty="0"/>
              <a:t>]</a:t>
            </a:r>
            <a:r>
              <a:rPr lang="zh-CN" altLang="en-US" dirty="0"/>
              <a:t>上，并且用子数组</a:t>
            </a:r>
            <a:r>
              <a:rPr lang="en-US" altLang="zh-CN" dirty="0"/>
              <a:t>P[1..</a:t>
            </a:r>
            <a:r>
              <a:rPr lang="en-US" altLang="zh-CN" i="1" dirty="0"/>
              <a:t>n</a:t>
            </a:r>
            <a:r>
              <a:rPr lang="en-US" altLang="zh-CN" dirty="0"/>
              <a:t>]</a:t>
            </a:r>
            <a:r>
              <a:rPr lang="zh-CN" altLang="en-US" dirty="0"/>
              <a:t>来产生前</a:t>
            </a:r>
            <a:r>
              <a:rPr lang="en-US" altLang="zh-CN" i="1" dirty="0"/>
              <a:t>n</a:t>
            </a:r>
            <a:r>
              <a:rPr lang="en-US" altLang="zh-CN" dirty="0"/>
              <a:t>-1</a:t>
            </a:r>
            <a:r>
              <a:rPr lang="zh-CN" altLang="en-US" dirty="0"/>
              <a:t>个数的排列。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zh-CN" altLang="en-US" sz="1000" dirty="0"/>
            </a:fld>
            <a:endParaRPr lang="zh-CN" altLang="en-US" sz="1000" dirty="0"/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endParaRPr lang="zh-CN" altLang="en-US" dirty="0"/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marL="381000" indent="-381000" eaLnBrk="1" hangingPunct="1">
              <a:buNone/>
            </a:pPr>
            <a:r>
              <a:rPr lang="en-US" altLang="zh-CN" dirty="0"/>
              <a:t>GeneratingPerm2()</a:t>
            </a:r>
            <a:endParaRPr lang="en-US" altLang="zh-CN" dirty="0"/>
          </a:p>
          <a:p>
            <a:pPr marL="381000" indent="-381000" eaLnBrk="1" hangingPunct="1">
              <a:buNone/>
            </a:pPr>
            <a:r>
              <a:rPr lang="en-US" altLang="zh-CN" dirty="0"/>
              <a:t>1   </a:t>
            </a:r>
            <a:r>
              <a:rPr lang="en-US" altLang="zh-CN" b="1" dirty="0">
                <a:solidFill>
                  <a:srgbClr val="996633"/>
                </a:solidFill>
              </a:rPr>
              <a:t>for</a:t>
            </a:r>
            <a:r>
              <a:rPr lang="en-US" altLang="zh-CN" dirty="0"/>
              <a:t> </a:t>
            </a:r>
            <a:r>
              <a:rPr lang="en-US" altLang="zh-CN" i="1" dirty="0"/>
              <a:t>j</a:t>
            </a:r>
            <a:r>
              <a:rPr lang="en-US" altLang="zh-CN" dirty="0">
                <a:cs typeface="Times New Roman" panose="02020603050405020304" pitchFamily="18" charset="0"/>
              </a:rPr>
              <a:t>←</a:t>
            </a:r>
            <a:r>
              <a:rPr lang="en-US" altLang="zh-CN" dirty="0"/>
              <a:t>1 </a:t>
            </a:r>
            <a:r>
              <a:rPr lang="en-US" altLang="zh-CN" b="1" dirty="0">
                <a:solidFill>
                  <a:srgbClr val="996633"/>
                </a:solidFill>
              </a:rPr>
              <a:t>to</a:t>
            </a:r>
            <a:r>
              <a:rPr lang="en-US" altLang="zh-CN" dirty="0"/>
              <a:t> </a:t>
            </a:r>
            <a:r>
              <a:rPr lang="en-US" altLang="zh-CN" i="1" dirty="0"/>
              <a:t>n </a:t>
            </a:r>
            <a:r>
              <a:rPr lang="en-US" altLang="zh-CN" b="1" dirty="0">
                <a:solidFill>
                  <a:srgbClr val="996633"/>
                </a:solidFill>
              </a:rPr>
              <a:t>do </a:t>
            </a:r>
            <a:endParaRPr lang="en-US" altLang="zh-CN" b="1" dirty="0">
              <a:solidFill>
                <a:srgbClr val="996633"/>
              </a:solidFill>
            </a:endParaRPr>
          </a:p>
          <a:p>
            <a:pPr marL="381000" indent="-381000" eaLnBrk="1" hangingPunct="1">
              <a:buNone/>
            </a:pPr>
            <a:r>
              <a:rPr lang="en-US" altLang="zh-CN" dirty="0"/>
              <a:t>2       P[</a:t>
            </a:r>
            <a:r>
              <a:rPr lang="en-US" altLang="zh-CN" i="1" dirty="0"/>
              <a:t>j</a:t>
            </a:r>
            <a:r>
              <a:rPr lang="en-US" altLang="zh-CN" dirty="0"/>
              <a:t>] ←0</a:t>
            </a:r>
            <a:endParaRPr lang="en-US" altLang="zh-CN" dirty="0"/>
          </a:p>
          <a:p>
            <a:pPr marL="381000" indent="-381000" eaLnBrk="1" hangingPunct="1">
              <a:buNone/>
            </a:pPr>
            <a:r>
              <a:rPr lang="en-US" altLang="zh-CN" dirty="0"/>
              <a:t>3   Perm2(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pPr marL="381000" indent="-381000" eaLnBrk="1" hangingPunct="1">
              <a:buFontTx/>
              <a:buNone/>
            </a:pPr>
            <a:endParaRPr lang="en-US" altLang="zh-CN" dirty="0"/>
          </a:p>
        </p:txBody>
      </p:sp>
      <p:sp>
        <p:nvSpPr>
          <p:cNvPr id="26629" name="Rectangle 4"/>
          <p:cNvSpPr/>
          <p:nvPr/>
        </p:nvSpPr>
        <p:spPr>
          <a:xfrm>
            <a:off x="4140200" y="2852738"/>
            <a:ext cx="4572000" cy="350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/>
            <a:r>
              <a:rPr lang="en-US" altLang="zh-CN" sz="2800" dirty="0">
                <a:latin typeface="Times New Roman" panose="02020603050405020304" pitchFamily="18" charset="0"/>
              </a:rPr>
              <a:t>Perm2(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2800" dirty="0">
                <a:latin typeface="Times New Roman" panose="02020603050405020304" pitchFamily="18" charset="0"/>
              </a:rPr>
              <a:t>1 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 if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</a:rPr>
              <a:t>=0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sz="2800" dirty="0">
                <a:latin typeface="Times New Roman" panose="02020603050405020304" pitchFamily="18" charset="0"/>
              </a:rPr>
              <a:t> output P[1..</a:t>
            </a:r>
            <a:r>
              <a:rPr lang="en-US" altLang="zh-CN" sz="2800" i="1" dirty="0"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2800" dirty="0">
                <a:latin typeface="Times New Roman" panose="02020603050405020304" pitchFamily="18" charset="0"/>
              </a:rPr>
              <a:t>2  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else</a:t>
            </a:r>
            <a:endParaRPr lang="en-US" altLang="zh-CN" sz="2800" b="1" dirty="0">
              <a:solidFill>
                <a:srgbClr val="996633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buAutoNum type="arabicPlain" startAt="3"/>
            </a:pPr>
            <a:r>
              <a:rPr lang="en-US" altLang="zh-CN" sz="2800" dirty="0">
                <a:latin typeface="Times New Roman" panose="02020603050405020304" pitchFamily="18" charset="0"/>
              </a:rPr>
              <a:t>     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zh-CN" sz="2800" i="1" dirty="0">
                <a:latin typeface="Times New Roman" panose="02020603050405020304" pitchFamily="18" charset="0"/>
              </a:rPr>
              <a:t> j</a:t>
            </a:r>
            <a:r>
              <a:rPr lang="en-US" altLang="zh-CN" sz="2800" dirty="0">
                <a:latin typeface="Times New Roman" panose="02020603050405020304" pitchFamily="18" charset="0"/>
              </a:rPr>
              <a:t>←1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to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do</a:t>
            </a:r>
            <a:endParaRPr lang="en-US" altLang="zh-CN" sz="2800" b="1" dirty="0">
              <a:solidFill>
                <a:srgbClr val="996633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buAutoNum type="arabicPlain" startAt="3"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2800" dirty="0">
                <a:latin typeface="Times New Roman" panose="02020603050405020304" pitchFamily="18" charset="0"/>
              </a:rPr>
              <a:t> P[</a:t>
            </a:r>
            <a:r>
              <a:rPr lang="en-US" altLang="zh-CN" sz="2800" i="1" dirty="0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]=0 </a:t>
            </a:r>
            <a:r>
              <a:rPr lang="en-US" altLang="zh-CN" sz="28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then</a:t>
            </a:r>
            <a:endParaRPr lang="en-US" altLang="zh-CN" sz="2800" b="1" dirty="0">
              <a:solidFill>
                <a:srgbClr val="996633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buAutoNum type="arabicPlain" startAt="3"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   P[</a:t>
            </a:r>
            <a:r>
              <a:rPr lang="en-US" altLang="zh-CN" sz="2800" i="1" dirty="0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] ←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buAutoNum type="arabicPlain" startAt="3"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   Perm2(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</a:rPr>
              <a:t>-1)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buAutoNum type="arabicPlain" startAt="3"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   P[</a:t>
            </a:r>
            <a:r>
              <a:rPr lang="en-US" altLang="zh-CN" sz="2800" i="1" dirty="0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] ←0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zh-CN" altLang="en-US" sz="1000" dirty="0"/>
            </a:fld>
            <a:endParaRPr lang="zh-CN" altLang="en-US" sz="1000" dirty="0"/>
          </a:p>
        </p:txBody>
      </p:sp>
      <p:sp>
        <p:nvSpPr>
          <p:cNvPr id="27651" name="Rectangle 2"/>
          <p:cNvSpPr>
            <a:spLocks noGrp="1"/>
          </p:cNvSpPr>
          <p:nvPr>
            <p:ph idx="1"/>
          </p:nvPr>
        </p:nvSpPr>
        <p:spPr>
          <a:xfrm>
            <a:off x="1222375" y="404813"/>
            <a:ext cx="7921625" cy="503237"/>
          </a:xfrm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sz="3200" dirty="0">
                <a:solidFill>
                  <a:srgbClr val="996633"/>
                </a:solidFill>
              </a:rPr>
              <a:t>Illustration for </a:t>
            </a:r>
            <a:r>
              <a:rPr lang="en-US" altLang="zh-CN" sz="3200" i="1" dirty="0">
                <a:solidFill>
                  <a:srgbClr val="996633"/>
                </a:solidFill>
              </a:rPr>
              <a:t>n</a:t>
            </a:r>
            <a:r>
              <a:rPr lang="en-US" altLang="zh-CN" sz="3200" dirty="0">
                <a:solidFill>
                  <a:srgbClr val="996633"/>
                </a:solidFill>
              </a:rPr>
              <a:t>=3</a:t>
            </a:r>
            <a:endParaRPr lang="en-US" altLang="zh-CN" sz="3200" dirty="0">
              <a:solidFill>
                <a:srgbClr val="996633"/>
              </a:solidFill>
            </a:endParaRPr>
          </a:p>
        </p:txBody>
      </p:sp>
      <p:sp>
        <p:nvSpPr>
          <p:cNvPr id="27652" name="Rectangle 17"/>
          <p:cNvSpPr/>
          <p:nvPr/>
        </p:nvSpPr>
        <p:spPr>
          <a:xfrm>
            <a:off x="3708400" y="1557338"/>
            <a:ext cx="1296988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Perm2(3)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53" name="Line 24"/>
          <p:cNvSpPr/>
          <p:nvPr/>
        </p:nvSpPr>
        <p:spPr>
          <a:xfrm flipH="1">
            <a:off x="2195513" y="1989138"/>
            <a:ext cx="2160587" cy="7921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54" name="Line 26"/>
          <p:cNvSpPr/>
          <p:nvPr/>
        </p:nvSpPr>
        <p:spPr>
          <a:xfrm>
            <a:off x="4356100" y="1989138"/>
            <a:ext cx="2447925" cy="7207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55" name="Line 28"/>
          <p:cNvSpPr/>
          <p:nvPr/>
        </p:nvSpPr>
        <p:spPr>
          <a:xfrm flipH="1">
            <a:off x="900113" y="3213100"/>
            <a:ext cx="1008062" cy="1296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56" name="Line 29"/>
          <p:cNvSpPr/>
          <p:nvPr/>
        </p:nvSpPr>
        <p:spPr>
          <a:xfrm>
            <a:off x="1908175" y="3213100"/>
            <a:ext cx="431800" cy="1296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57" name="Line 30"/>
          <p:cNvSpPr/>
          <p:nvPr/>
        </p:nvSpPr>
        <p:spPr>
          <a:xfrm>
            <a:off x="4572000" y="3141663"/>
            <a:ext cx="647700" cy="1368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58" name="Line 31"/>
          <p:cNvSpPr/>
          <p:nvPr/>
        </p:nvSpPr>
        <p:spPr>
          <a:xfrm>
            <a:off x="6877050" y="3141663"/>
            <a:ext cx="1295400" cy="1368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59" name="Rectangle 37"/>
          <p:cNvSpPr/>
          <p:nvPr/>
        </p:nvSpPr>
        <p:spPr>
          <a:xfrm>
            <a:off x="2268538" y="2060575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[1]=3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60" name="Rectangle 38"/>
          <p:cNvSpPr/>
          <p:nvPr/>
        </p:nvSpPr>
        <p:spPr>
          <a:xfrm>
            <a:off x="1476375" y="2781300"/>
            <a:ext cx="1296988" cy="4333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Perm2(2)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61" name="Rectangle 39"/>
          <p:cNvSpPr/>
          <p:nvPr/>
        </p:nvSpPr>
        <p:spPr>
          <a:xfrm>
            <a:off x="3779838" y="2709863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Perm2(2)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62" name="Rectangle 40"/>
          <p:cNvSpPr/>
          <p:nvPr/>
        </p:nvSpPr>
        <p:spPr>
          <a:xfrm>
            <a:off x="179388" y="4510088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Perm2(1)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63" name="Rectangle 41"/>
          <p:cNvSpPr/>
          <p:nvPr/>
        </p:nvSpPr>
        <p:spPr>
          <a:xfrm>
            <a:off x="1763713" y="4510088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Perm2(1)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64" name="Rectangle 42"/>
          <p:cNvSpPr/>
          <p:nvPr/>
        </p:nvSpPr>
        <p:spPr>
          <a:xfrm>
            <a:off x="3276600" y="4510088"/>
            <a:ext cx="1296988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Perm2(1)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65" name="Rectangle 43"/>
          <p:cNvSpPr/>
          <p:nvPr/>
        </p:nvSpPr>
        <p:spPr>
          <a:xfrm>
            <a:off x="4716463" y="4510088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Perm2(1)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66" name="Rectangle 44"/>
          <p:cNvSpPr/>
          <p:nvPr/>
        </p:nvSpPr>
        <p:spPr>
          <a:xfrm>
            <a:off x="179388" y="6094413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Perm2(0)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67" name="Rectangle 46"/>
          <p:cNvSpPr/>
          <p:nvPr/>
        </p:nvSpPr>
        <p:spPr>
          <a:xfrm>
            <a:off x="1763713" y="6094413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Perm2(0)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68" name="Rectangle 47"/>
          <p:cNvSpPr/>
          <p:nvPr/>
        </p:nvSpPr>
        <p:spPr>
          <a:xfrm>
            <a:off x="6227763" y="6094413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Perm2(0)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69" name="Rectangle 51"/>
          <p:cNvSpPr/>
          <p:nvPr/>
        </p:nvSpPr>
        <p:spPr>
          <a:xfrm>
            <a:off x="7596188" y="6094413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Perm2(0)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70" name="Line 52"/>
          <p:cNvSpPr/>
          <p:nvPr/>
        </p:nvSpPr>
        <p:spPr>
          <a:xfrm flipH="1">
            <a:off x="971550" y="4941888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71" name="Line 54"/>
          <p:cNvSpPr/>
          <p:nvPr/>
        </p:nvSpPr>
        <p:spPr>
          <a:xfrm flipH="1">
            <a:off x="2555875" y="4941888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72" name="Line 57"/>
          <p:cNvSpPr/>
          <p:nvPr/>
        </p:nvSpPr>
        <p:spPr>
          <a:xfrm flipH="1">
            <a:off x="5364163" y="4941888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73" name="Line 58"/>
          <p:cNvSpPr/>
          <p:nvPr/>
        </p:nvSpPr>
        <p:spPr>
          <a:xfrm>
            <a:off x="8243888" y="4941888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74" name="Rectangle 60"/>
          <p:cNvSpPr/>
          <p:nvPr/>
        </p:nvSpPr>
        <p:spPr>
          <a:xfrm>
            <a:off x="395288" y="3429000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75" name="Rectangle 61"/>
          <p:cNvSpPr/>
          <p:nvPr/>
        </p:nvSpPr>
        <p:spPr>
          <a:xfrm>
            <a:off x="0" y="5302250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76" name="Rectangle 62"/>
          <p:cNvSpPr/>
          <p:nvPr/>
        </p:nvSpPr>
        <p:spPr>
          <a:xfrm>
            <a:off x="1979613" y="3429000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77" name="Rectangle 63"/>
          <p:cNvSpPr/>
          <p:nvPr/>
        </p:nvSpPr>
        <p:spPr>
          <a:xfrm>
            <a:off x="1619250" y="5302250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78" name="Line 64"/>
          <p:cNvSpPr/>
          <p:nvPr/>
        </p:nvSpPr>
        <p:spPr>
          <a:xfrm flipH="1">
            <a:off x="3851275" y="3141663"/>
            <a:ext cx="504825" cy="1368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79" name="Line 65"/>
          <p:cNvSpPr/>
          <p:nvPr/>
        </p:nvSpPr>
        <p:spPr>
          <a:xfrm>
            <a:off x="4356100" y="1989138"/>
            <a:ext cx="0" cy="7207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80" name="Rectangle 66"/>
          <p:cNvSpPr/>
          <p:nvPr/>
        </p:nvSpPr>
        <p:spPr>
          <a:xfrm>
            <a:off x="3276600" y="6094413"/>
            <a:ext cx="1296988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Perm2(0)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81" name="Rectangle 67"/>
          <p:cNvSpPr/>
          <p:nvPr/>
        </p:nvSpPr>
        <p:spPr>
          <a:xfrm>
            <a:off x="4716463" y="6094413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Perm2(0)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82" name="Line 69"/>
          <p:cNvSpPr/>
          <p:nvPr/>
        </p:nvSpPr>
        <p:spPr>
          <a:xfrm flipH="1">
            <a:off x="3851275" y="4941888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83" name="Rectangle 70"/>
          <p:cNvSpPr/>
          <p:nvPr/>
        </p:nvSpPr>
        <p:spPr>
          <a:xfrm>
            <a:off x="7596188" y="4510088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Perm2(1)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84" name="Rectangle 71"/>
          <p:cNvSpPr/>
          <p:nvPr/>
        </p:nvSpPr>
        <p:spPr>
          <a:xfrm>
            <a:off x="6156325" y="4510088"/>
            <a:ext cx="1296988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Perm2(1)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85" name="Rectangle 72"/>
          <p:cNvSpPr/>
          <p:nvPr/>
        </p:nvSpPr>
        <p:spPr>
          <a:xfrm>
            <a:off x="6084888" y="2709863"/>
            <a:ext cx="1296987" cy="4333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/>
            <a:r>
              <a:rPr lang="en-US" altLang="zh-CN" sz="2400" dirty="0">
                <a:latin typeface="Arial" panose="020B0604020202020204" pitchFamily="34" charset="0"/>
              </a:rPr>
              <a:t>Perm2(2)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7686" name="Line 73"/>
          <p:cNvSpPr/>
          <p:nvPr/>
        </p:nvSpPr>
        <p:spPr>
          <a:xfrm flipH="1">
            <a:off x="6732588" y="3141663"/>
            <a:ext cx="144462" cy="1368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87" name="Line 74"/>
          <p:cNvSpPr/>
          <p:nvPr/>
        </p:nvSpPr>
        <p:spPr>
          <a:xfrm>
            <a:off x="6732588" y="4941888"/>
            <a:ext cx="0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88" name="Rectangle 75"/>
          <p:cNvSpPr/>
          <p:nvPr/>
        </p:nvSpPr>
        <p:spPr>
          <a:xfrm>
            <a:off x="3708400" y="2060575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[2]=3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89" name="Rectangle 76"/>
          <p:cNvSpPr/>
          <p:nvPr/>
        </p:nvSpPr>
        <p:spPr>
          <a:xfrm>
            <a:off x="5580063" y="1989138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[3]=3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90" name="Rectangle 77"/>
          <p:cNvSpPr/>
          <p:nvPr/>
        </p:nvSpPr>
        <p:spPr>
          <a:xfrm>
            <a:off x="3132138" y="3429000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[1]=2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91" name="Rectangle 78"/>
          <p:cNvSpPr/>
          <p:nvPr/>
        </p:nvSpPr>
        <p:spPr>
          <a:xfrm>
            <a:off x="2843213" y="5302250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92" name="Rectangle 79"/>
          <p:cNvSpPr/>
          <p:nvPr/>
        </p:nvSpPr>
        <p:spPr>
          <a:xfrm>
            <a:off x="4787900" y="3429000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[3]=2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93" name="Rectangle 80"/>
          <p:cNvSpPr/>
          <p:nvPr/>
        </p:nvSpPr>
        <p:spPr>
          <a:xfrm>
            <a:off x="4427538" y="5302250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[1]=1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94" name="Rectangle 81"/>
          <p:cNvSpPr/>
          <p:nvPr/>
        </p:nvSpPr>
        <p:spPr>
          <a:xfrm>
            <a:off x="5867400" y="3429000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[1]=2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95" name="Rectangle 82"/>
          <p:cNvSpPr/>
          <p:nvPr/>
        </p:nvSpPr>
        <p:spPr>
          <a:xfrm>
            <a:off x="7235825" y="5229225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[1]=1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96" name="Rectangle 83"/>
          <p:cNvSpPr/>
          <p:nvPr/>
        </p:nvSpPr>
        <p:spPr>
          <a:xfrm>
            <a:off x="5795963" y="5229225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[2]=1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97" name="Rectangle 84"/>
          <p:cNvSpPr/>
          <p:nvPr/>
        </p:nvSpPr>
        <p:spPr>
          <a:xfrm>
            <a:off x="7380288" y="3429000"/>
            <a:ext cx="10493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[2]=2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7698" name="Rectangle 85"/>
          <p:cNvSpPr/>
          <p:nvPr/>
        </p:nvSpPr>
        <p:spPr>
          <a:xfrm>
            <a:off x="6767513" y="0"/>
            <a:ext cx="2376487" cy="204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/>
            <a:r>
              <a:rPr lang="en-US" altLang="zh-CN" sz="1600" dirty="0">
                <a:latin typeface="Times New Roman" panose="02020603050405020304" pitchFamily="18" charset="0"/>
              </a:rPr>
              <a:t>Perm2(</a:t>
            </a:r>
            <a:r>
              <a:rPr lang="en-US" altLang="zh-CN" sz="1600" i="1" dirty="0">
                <a:latin typeface="Times New Roman" panose="02020603050405020304" pitchFamily="18" charset="0"/>
              </a:rPr>
              <a:t>m</a:t>
            </a:r>
            <a:r>
              <a:rPr lang="en-US" altLang="zh-CN" sz="1600" dirty="0">
                <a:latin typeface="Times New Roman" panose="02020603050405020304" pitchFamily="18" charset="0"/>
              </a:rPr>
              <a:t>)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1600" dirty="0">
                <a:latin typeface="Times New Roman" panose="02020603050405020304" pitchFamily="18" charset="0"/>
              </a:rPr>
              <a:t>1  </a:t>
            </a:r>
            <a:r>
              <a:rPr lang="en-US" altLang="zh-CN" sz="16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 if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i="1" dirty="0">
                <a:latin typeface="Times New Roman" panose="02020603050405020304" pitchFamily="18" charset="0"/>
              </a:rPr>
              <a:t>m</a:t>
            </a:r>
            <a:r>
              <a:rPr lang="en-US" altLang="zh-CN" sz="1600" dirty="0">
                <a:latin typeface="Times New Roman" panose="02020603050405020304" pitchFamily="18" charset="0"/>
              </a:rPr>
              <a:t>=0 </a:t>
            </a:r>
            <a:r>
              <a:rPr lang="en-US" altLang="zh-CN" sz="16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sz="1600" dirty="0">
                <a:latin typeface="Times New Roman" panose="02020603050405020304" pitchFamily="18" charset="0"/>
              </a:rPr>
              <a:t> output P</a:t>
            </a:r>
            <a:endParaRPr lang="en-US" altLang="zh-CN" sz="10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1600" dirty="0">
                <a:latin typeface="Times New Roman" panose="02020603050405020304" pitchFamily="18" charset="0"/>
              </a:rPr>
              <a:t>2   </a:t>
            </a:r>
            <a:r>
              <a:rPr lang="en-US" altLang="zh-CN" sz="16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else</a:t>
            </a:r>
            <a:endParaRPr lang="en-US" altLang="zh-CN" sz="1600" b="1" dirty="0">
              <a:solidFill>
                <a:srgbClr val="996633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buAutoNum type="arabicPlain" startAt="3"/>
            </a:pPr>
            <a:r>
              <a:rPr lang="en-US" altLang="zh-CN" sz="1600" dirty="0">
                <a:latin typeface="Times New Roman" panose="02020603050405020304" pitchFamily="18" charset="0"/>
              </a:rPr>
              <a:t>      </a:t>
            </a:r>
            <a:r>
              <a:rPr lang="en-US" altLang="zh-CN" sz="16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zh-CN" sz="1600" i="1" dirty="0">
                <a:latin typeface="Times New Roman" panose="02020603050405020304" pitchFamily="18" charset="0"/>
              </a:rPr>
              <a:t> j</a:t>
            </a:r>
            <a:r>
              <a:rPr lang="en-US" altLang="zh-CN" sz="1600" dirty="0">
                <a:latin typeface="Times New Roman" panose="02020603050405020304" pitchFamily="18" charset="0"/>
              </a:rPr>
              <a:t>←1 </a:t>
            </a:r>
            <a:r>
              <a:rPr lang="en-US" altLang="zh-CN" sz="16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to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i="1" dirty="0">
                <a:latin typeface="Times New Roman" panose="02020603050405020304" pitchFamily="18" charset="0"/>
              </a:rPr>
              <a:t>n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do</a:t>
            </a:r>
            <a:endParaRPr lang="en-US" altLang="zh-CN" sz="1600" b="1" dirty="0">
              <a:solidFill>
                <a:srgbClr val="996633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buAutoNum type="arabicPlain" startAt="3"/>
            </a:pPr>
            <a:r>
              <a:rPr lang="en-US" altLang="zh-CN" sz="1600" dirty="0">
                <a:latin typeface="Times New Roman" panose="02020603050405020304" pitchFamily="18" charset="0"/>
              </a:rPr>
              <a:t>         </a:t>
            </a:r>
            <a:r>
              <a:rPr lang="en-US" altLang="zh-CN" sz="16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1600" dirty="0">
                <a:latin typeface="Times New Roman" panose="02020603050405020304" pitchFamily="18" charset="0"/>
              </a:rPr>
              <a:t> P[</a:t>
            </a:r>
            <a:r>
              <a:rPr lang="en-US" altLang="zh-CN" sz="1600" i="1" dirty="0">
                <a:latin typeface="Times New Roman" panose="02020603050405020304" pitchFamily="18" charset="0"/>
              </a:rPr>
              <a:t>j</a:t>
            </a:r>
            <a:r>
              <a:rPr lang="en-US" altLang="zh-CN" sz="1600" dirty="0">
                <a:latin typeface="Times New Roman" panose="02020603050405020304" pitchFamily="18" charset="0"/>
              </a:rPr>
              <a:t>]=0 </a:t>
            </a:r>
            <a:r>
              <a:rPr lang="en-US" altLang="zh-CN" sz="1600" b="1" dirty="0">
                <a:solidFill>
                  <a:srgbClr val="996633"/>
                </a:solidFill>
                <a:latin typeface="Times New Roman" panose="02020603050405020304" pitchFamily="18" charset="0"/>
              </a:rPr>
              <a:t>then</a:t>
            </a:r>
            <a:endParaRPr lang="en-US" altLang="zh-CN" sz="1600" b="1" dirty="0">
              <a:solidFill>
                <a:srgbClr val="996633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buAutoNum type="arabicPlain" startAt="3"/>
            </a:pPr>
            <a:r>
              <a:rPr lang="en-US" altLang="zh-CN" sz="1600" dirty="0">
                <a:latin typeface="Times New Roman" panose="02020603050405020304" pitchFamily="18" charset="0"/>
              </a:rPr>
              <a:t>             P[</a:t>
            </a:r>
            <a:r>
              <a:rPr lang="en-US" altLang="zh-CN" sz="1600" i="1" dirty="0">
                <a:latin typeface="Times New Roman" panose="02020603050405020304" pitchFamily="18" charset="0"/>
              </a:rPr>
              <a:t>j</a:t>
            </a:r>
            <a:r>
              <a:rPr lang="en-US" altLang="zh-CN" sz="1600" dirty="0">
                <a:latin typeface="Times New Roman" panose="02020603050405020304" pitchFamily="18" charset="0"/>
              </a:rPr>
              <a:t>] ←</a:t>
            </a:r>
            <a:r>
              <a:rPr lang="en-US" altLang="zh-CN" sz="1600" i="1" dirty="0">
                <a:latin typeface="Times New Roman" panose="02020603050405020304" pitchFamily="18" charset="0"/>
              </a:rPr>
              <a:t>m</a:t>
            </a:r>
            <a:endParaRPr lang="en-US" altLang="zh-CN" sz="1600" i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buAutoNum type="arabicPlain" startAt="3"/>
            </a:pPr>
            <a:r>
              <a:rPr lang="en-US" altLang="zh-CN" sz="1600" dirty="0">
                <a:latin typeface="Times New Roman" panose="02020603050405020304" pitchFamily="18" charset="0"/>
              </a:rPr>
              <a:t>             Perm2(</a:t>
            </a:r>
            <a:r>
              <a:rPr lang="en-US" altLang="zh-CN" sz="1600" i="1" dirty="0">
                <a:latin typeface="Times New Roman" panose="02020603050405020304" pitchFamily="18" charset="0"/>
              </a:rPr>
              <a:t>m</a:t>
            </a:r>
            <a:r>
              <a:rPr lang="en-US" altLang="zh-CN" sz="1600" dirty="0">
                <a:latin typeface="Times New Roman" panose="02020603050405020304" pitchFamily="18" charset="0"/>
              </a:rPr>
              <a:t>-1)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buAutoNum type="arabicPlain" startAt="3"/>
            </a:pPr>
            <a:r>
              <a:rPr lang="en-US" altLang="zh-CN" sz="1600" dirty="0">
                <a:latin typeface="Times New Roman" panose="02020603050405020304" pitchFamily="18" charset="0"/>
              </a:rPr>
              <a:t>             P[</a:t>
            </a:r>
            <a:r>
              <a:rPr lang="en-US" altLang="zh-CN" sz="1600" i="1" dirty="0">
                <a:latin typeface="Times New Roman" panose="02020603050405020304" pitchFamily="18" charset="0"/>
              </a:rPr>
              <a:t>j</a:t>
            </a:r>
            <a:r>
              <a:rPr lang="en-US" altLang="zh-CN" sz="1600" dirty="0">
                <a:latin typeface="Times New Roman" panose="02020603050405020304" pitchFamily="18" charset="0"/>
              </a:rPr>
              <a:t>] ←0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zh-CN" altLang="en-US" sz="1000" dirty="0"/>
            </a:fld>
            <a:endParaRPr lang="zh-CN" altLang="en-US" sz="1000" dirty="0"/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时间复杂度分析</a:t>
            </a:r>
            <a:endParaRPr lang="zh-CN" altLang="en-US" dirty="0"/>
          </a:p>
        </p:txBody>
      </p:sp>
      <p:graphicFrame>
        <p:nvGraphicFramePr>
          <p:cNvPr id="28676" name="Object 3"/>
          <p:cNvGraphicFramePr>
            <a:graphicFrameLocks noChangeAspect="1"/>
          </p:cNvGraphicFramePr>
          <p:nvPr>
            <p:ph idx="1"/>
          </p:nvPr>
        </p:nvGraphicFramePr>
        <p:xfrm>
          <a:off x="2306638" y="2325688"/>
          <a:ext cx="3608387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879600" imgH="457200" progId="Equation.3">
                  <p:embed/>
                </p:oleObj>
              </mc:Choice>
              <mc:Fallback>
                <p:oleObj name="" r:id="rId1" imgW="1879600" imgH="457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306638" y="2325688"/>
                        <a:ext cx="3608387" cy="8778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Rectangle 4"/>
          <p:cNvSpPr/>
          <p:nvPr/>
        </p:nvSpPr>
        <p:spPr>
          <a:xfrm>
            <a:off x="911225" y="1341438"/>
            <a:ext cx="79819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递归方程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700" name="Text Box 3"/>
          <p:cNvSpPr txBox="1"/>
          <p:nvPr/>
        </p:nvSpPr>
        <p:spPr>
          <a:xfrm>
            <a:off x="250825" y="1700213"/>
            <a:ext cx="8618538" cy="220980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整数划分问题</a:t>
            </a:r>
            <a:endParaRPr lang="zh-CN" altLang="en-US" sz="2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将正整数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表示成一系列正整数之和：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n=n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+n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+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…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+n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k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其中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≥n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≥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…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≥n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k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≥1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k≥1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正整数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的这种表示称为正整数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的划分。求正整数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的不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同划分个数。 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endParaRPr lang="en-US" altLang="zh-CN" sz="2400" dirty="0">
              <a:solidFill>
                <a:schemeClr val="accent2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1508" name="Text Box 4"/>
          <p:cNvSpPr txBox="1"/>
          <p:nvPr/>
        </p:nvSpPr>
        <p:spPr>
          <a:xfrm>
            <a:off x="250825" y="3500438"/>
            <a:ext cx="8618538" cy="264795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例如正整数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6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有如下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种不同的划分：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6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；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5+1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；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4+2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4+1+1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；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3+3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3+2+1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3+1+1+1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；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2+2+2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2+2+1+1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2+1+1+1+1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；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1+1+1+1+1+1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2534" name="Text Box 6"/>
          <p:cNvSpPr txBox="1"/>
          <p:nvPr/>
        </p:nvSpPr>
        <p:spPr>
          <a:xfrm>
            <a:off x="395288" y="5305425"/>
            <a:ext cx="7489825" cy="118745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(2) q(n,m)=q(n,n),m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  <a:sym typeface="Symbol" panose="05050102010706020507" pitchFamily="18" charset="2"/>
              </a:rPr>
              <a:t>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n;</a:t>
            </a:r>
            <a:endParaRPr lang="en-US" altLang="zh-CN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最大加数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实际上不能大于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。因此，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q(1,m)=1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endParaRPr lang="en-US" altLang="zh-CN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grpSp>
        <p:nvGrpSpPr>
          <p:cNvPr id="22531" name="Group 3"/>
          <p:cNvGrpSpPr/>
          <p:nvPr/>
        </p:nvGrpSpPr>
        <p:grpSpPr>
          <a:xfrm>
            <a:off x="611188" y="3933825"/>
            <a:ext cx="8058150" cy="1211263"/>
            <a:chOff x="204" y="2422"/>
            <a:chExt cx="5076" cy="763"/>
          </a:xfrm>
        </p:grpSpPr>
        <p:sp>
          <p:nvSpPr>
            <p:cNvPr id="30732" name="Text Box 4"/>
            <p:cNvSpPr txBox="1"/>
            <p:nvPr/>
          </p:nvSpPr>
          <p:spPr>
            <a:xfrm>
              <a:off x="204" y="2422"/>
              <a:ext cx="5076" cy="74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(1) q(n,1)=1,n</a:t>
              </a:r>
              <a:r>
                <a:rPr lang="en-US" altLang="zh-CN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  <a:sym typeface="Symbol" panose="05050102010706020507" pitchFamily="18" charset="2"/>
                </a:rPr>
                <a:t></a:t>
              </a:r>
              <a:r>
                <a:rPr lang="en-US" altLang="zh-CN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1;</a:t>
              </a:r>
              <a:endPara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endParaRPr>
            </a:p>
            <a:p>
              <a:pPr eaLnBrk="1" hangingPunct="1"/>
              <a:r>
                <a:rPr lang="zh-CN" altLang="en-US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当最大加数</a:t>
              </a:r>
              <a:r>
                <a:rPr lang="en-US" altLang="zh-CN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n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1</a:t>
              </a:r>
              <a:r>
                <a:rPr lang="zh-CN" altLang="en-US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不大于</a:t>
              </a:r>
              <a:r>
                <a:rPr lang="en-US" altLang="zh-CN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1</a:t>
              </a:r>
              <a:r>
                <a:rPr lang="zh-CN" altLang="en-US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时，任何正整数</a:t>
              </a:r>
              <a:r>
                <a:rPr lang="en-US" altLang="zh-CN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n</a:t>
              </a:r>
              <a:r>
                <a:rPr lang="zh-CN" altLang="en-US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只有一种划分形式，</a:t>
              </a:r>
              <a:endPara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endParaRPr>
            </a:p>
            <a:p>
              <a:pPr eaLnBrk="1" hangingPunct="1"/>
              <a:r>
                <a:rPr lang="zh-CN" altLang="en-US" sz="2400" dirty="0">
                  <a:solidFill>
                    <a:srgbClr val="000000"/>
                  </a:solidFill>
                  <a:latin typeface="新宋体" panose="02010609030101010101" charset="-122"/>
                  <a:ea typeface="新宋体" panose="02010609030101010101" charset="-122"/>
                </a:rPr>
                <a:t>即</a:t>
              </a:r>
              <a:endPara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endParaRPr>
            </a:p>
          </p:txBody>
        </p:sp>
        <p:graphicFrame>
          <p:nvGraphicFramePr>
            <p:cNvPr id="30733" name="Object 5"/>
            <p:cNvGraphicFramePr>
              <a:graphicFrameLocks noChangeAspect="1"/>
            </p:cNvGraphicFramePr>
            <p:nvPr/>
          </p:nvGraphicFramePr>
          <p:xfrm>
            <a:off x="476" y="2840"/>
            <a:ext cx="99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" imgW="989965" imgH="342900" progId="Equation.3">
                    <p:embed/>
                  </p:oleObj>
                </mc:Choice>
                <mc:Fallback>
                  <p:oleObj name="" r:id="rId1" imgW="989965" imgH="3429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76" y="2840"/>
                          <a:ext cx="998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46" name="Text Box 18"/>
          <p:cNvSpPr txBox="1"/>
          <p:nvPr/>
        </p:nvSpPr>
        <p:spPr>
          <a:xfrm>
            <a:off x="0" y="4005263"/>
            <a:ext cx="9144000" cy="2530475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4000" dirty="0">
                <a:latin typeface="Arial" panose="020B0604020202020204" pitchFamily="34" charset="0"/>
                <a:ea typeface="Arial Unicode MS" panose="020B0604020202020204" charset="-122"/>
              </a:rPr>
              <a:t>                                                       </a:t>
            </a:r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  <a:p>
            <a:pPr eaLnBrk="1" hangingPunct="1"/>
            <a:r>
              <a:rPr lang="en-US" altLang="zh-CN" sz="4000" dirty="0">
                <a:latin typeface="Arial" panose="020B0604020202020204" pitchFamily="34" charset="0"/>
                <a:ea typeface="Arial Unicode MS" panose="020B0604020202020204" charset="-122"/>
              </a:rPr>
              <a:t> </a:t>
            </a:r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  <a:p>
            <a:pPr eaLnBrk="1" hangingPunct="1"/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  <a:p>
            <a:pPr eaLnBrk="1" hangingPunct="1"/>
            <a:endParaRPr lang="en-US" altLang="zh-CN" sz="4000" dirty="0"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22530" name="Text Box 2"/>
          <p:cNvSpPr txBox="1"/>
          <p:nvPr/>
        </p:nvSpPr>
        <p:spPr>
          <a:xfrm>
            <a:off x="395288" y="5300663"/>
            <a:ext cx="7092950" cy="1187450"/>
          </a:xfrm>
          <a:prstGeom prst="rect">
            <a:avLst/>
          </a:prstGeom>
          <a:noFill/>
          <a:ln w="63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(4) q(n,m)=q(n,m-1)+q(n-m,m),n&gt;m&gt;1;</a:t>
            </a:r>
            <a:endParaRPr lang="en-US" altLang="zh-CN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正整数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的最大加数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不大于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m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的划分由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=m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的划分和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≤n-1 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的划分组成。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2535" name="Text Box 7"/>
          <p:cNvSpPr txBox="1"/>
          <p:nvPr/>
        </p:nvSpPr>
        <p:spPr>
          <a:xfrm>
            <a:off x="611188" y="4005263"/>
            <a:ext cx="7092950" cy="822325"/>
          </a:xfrm>
          <a:prstGeom prst="rect">
            <a:avLst/>
          </a:prstGeom>
          <a:noFill/>
          <a:ln w="63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(3) q(n,n)=1+q(n,n-1);</a:t>
            </a:r>
            <a:endParaRPr lang="en-US" altLang="zh-CN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正整数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的划分由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=n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的划分和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≤n-1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的划分组成。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729" name="Text Box 10"/>
          <p:cNvSpPr txBox="1"/>
          <p:nvPr/>
        </p:nvSpPr>
        <p:spPr>
          <a:xfrm>
            <a:off x="250825" y="1700213"/>
            <a:ext cx="8618538" cy="235585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整数划分问题</a:t>
            </a:r>
            <a:endParaRPr lang="zh-CN" altLang="en-US" sz="2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前面的几个例子中，问题本身都具有比较明显的递归关系，因而容易用递归函数直接求解。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在本例中，如果设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p(n)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为正整数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的划分数，则难以找到递归关系，因此考虑增加一个自变量：将最大加数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不大于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m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的划分个数记作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q(n,m)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。可以建立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q(n,m)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的如下递归关系。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endParaRPr lang="en-US" altLang="zh-CN" sz="2400" dirty="0">
              <a:solidFill>
                <a:schemeClr val="accent2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0730" name="Rectangle 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6350">
            <a:noFill/>
          </a:ln>
        </p:spPr>
        <p:txBody>
          <a:bodyPr wrap="none" anchor="ctr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31" name="Rectangle 12"/>
          <p:cNvSpPr/>
          <p:nvPr/>
        </p:nvSpPr>
        <p:spPr>
          <a:xfrm>
            <a:off x="0" y="2971800"/>
            <a:ext cx="9144000" cy="0"/>
          </a:xfrm>
          <a:prstGeom prst="rect">
            <a:avLst/>
          </a:prstGeom>
          <a:noFill/>
          <a:ln w="6350">
            <a:noFill/>
          </a:ln>
        </p:spPr>
        <p:txBody>
          <a:bodyPr wrap="none" anchor="ctr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/>
      <p:bldP spid="22546" grpId="0" bldLvl="0" animBg="1"/>
      <p:bldP spid="22530" grpId="0"/>
      <p:bldP spid="2253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395288" y="3716338"/>
          <a:ext cx="7848600" cy="236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3035300" imgH="914400" progId="Equation.3">
                  <p:embed/>
                </p:oleObj>
              </mc:Choice>
              <mc:Fallback>
                <p:oleObj name="" r:id="rId1" imgW="3035300" imgH="9144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3716338"/>
                        <a:ext cx="7848600" cy="2360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2.1  </a:t>
            </a:r>
            <a:r>
              <a:rPr kumimoji="0" lang="zh-CN" altLang="en-US" sz="39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递归的概念</a:t>
            </a:r>
            <a:endParaRPr kumimoji="0" lang="zh-CN" altLang="en-US" sz="39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1749" name="Text Box 6"/>
          <p:cNvSpPr txBox="1"/>
          <p:nvPr/>
        </p:nvSpPr>
        <p:spPr>
          <a:xfrm>
            <a:off x="250825" y="1700213"/>
            <a:ext cx="8618538" cy="235585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整数划分问题</a:t>
            </a:r>
            <a:endParaRPr lang="zh-CN" altLang="en-US" sz="2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前面的几个例子中，问题本身都具有比较明显的递归关系，因而容易用递归函数直接求解。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在本例中，如果设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p(n)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为正整数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的划分数，则难以找到递归关系，因此考虑增加一个自变量：将最大加数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不大于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m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的划分个数记作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q(n,m)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。可以建立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q(n,m)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的如下递归关系。</a:t>
            </a:r>
            <a:endParaRPr lang="zh-CN" altLang="en-US" sz="2400" dirty="0">
              <a:solidFill>
                <a:srgbClr val="00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eaLnBrk="1" hangingPunct="1"/>
            <a:endParaRPr lang="en-US" altLang="zh-CN" sz="2400" dirty="0">
              <a:solidFill>
                <a:schemeClr val="accent2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45063" name="Text Box 7"/>
          <p:cNvSpPr txBox="1"/>
          <p:nvPr/>
        </p:nvSpPr>
        <p:spPr>
          <a:xfrm>
            <a:off x="1763713" y="6092825"/>
            <a:ext cx="4603750" cy="457200"/>
          </a:xfrm>
          <a:prstGeom prst="rect">
            <a:avLst/>
          </a:prstGeom>
          <a:noFill/>
          <a:ln w="6350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正整数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的划分数</a:t>
            </a:r>
            <a:r>
              <a:rPr lang="en-US" altLang="zh-CN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p(n)=q(n,n)</a:t>
            </a:r>
            <a:r>
              <a:rPr lang="zh-CN" altLang="en-US" sz="2400" dirty="0">
                <a:solidFill>
                  <a:srgbClr val="000000"/>
                </a:solidFill>
                <a:latin typeface="新宋体" panose="02010609030101010101" charset="-122"/>
                <a:ea typeface="新宋体" panose="02010609030101010101" charset="-122"/>
              </a:rPr>
              <a:t>。</a:t>
            </a:r>
            <a:r>
              <a:rPr lang="zh-CN" altLang="en-US" sz="2400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 </a:t>
            </a:r>
            <a:endParaRPr lang="zh-CN" altLang="en-US" sz="2400" dirty="0">
              <a:solidFill>
                <a:schemeClr val="accent2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3" grpId="0"/>
    </p:bld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0</TotalTime>
  <Words>5386</Words>
  <Application>WPS 演示</Application>
  <PresentationFormat>全屏显示(4:3)</PresentationFormat>
  <Paragraphs>654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28</vt:i4>
      </vt:variant>
      <vt:variant>
        <vt:lpstr>幻灯片标题</vt:lpstr>
      </vt:variant>
      <vt:variant>
        <vt:i4>43</vt:i4>
      </vt:variant>
    </vt:vector>
  </HeadingPairs>
  <TitlesOfParts>
    <vt:vector size="90" baseType="lpstr">
      <vt:lpstr>Arial</vt:lpstr>
      <vt:lpstr>宋体</vt:lpstr>
      <vt:lpstr>Wingdings</vt:lpstr>
      <vt:lpstr>黑体</vt:lpstr>
      <vt:lpstr>Times New Roman</vt:lpstr>
      <vt:lpstr>Times</vt:lpstr>
      <vt:lpstr>微软雅黑</vt:lpstr>
      <vt:lpstr>Arial Unicode MS</vt:lpstr>
      <vt:lpstr>Symbol</vt:lpstr>
      <vt:lpstr>Century Gothic</vt:lpstr>
      <vt:lpstr>楷体_GB2312</vt:lpstr>
      <vt:lpstr>新宋体</vt:lpstr>
      <vt:lpstr>Arial Rounded MT Bold</vt:lpstr>
      <vt:lpstr>华文行楷</vt:lpstr>
      <vt:lpstr>Symbol</vt:lpstr>
      <vt:lpstr>Times</vt:lpstr>
      <vt:lpstr>华文行楷</vt:lpstr>
      <vt:lpstr>楷体_GB2312</vt:lpstr>
      <vt:lpstr>Network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第2章 递归与分治策略</vt:lpstr>
      <vt:lpstr>递归篇</vt:lpstr>
      <vt:lpstr>上节课提到的插入排序</vt:lpstr>
      <vt:lpstr>算法效率分析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递归与分治策略</vt:lpstr>
      <vt:lpstr>递归的故事</vt:lpstr>
      <vt:lpstr>算法总体思想</vt:lpstr>
      <vt:lpstr>PowerPoint 演示文稿</vt:lpstr>
      <vt:lpstr>PowerPoint 演示文稿</vt:lpstr>
      <vt:lpstr>PowerPoint 演示文稿</vt:lpstr>
      <vt:lpstr>2.1  递归的概念</vt:lpstr>
      <vt:lpstr>2.1  递归的概念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生成排列</vt:lpstr>
      <vt:lpstr>PowerPoint 演示文稿</vt:lpstr>
      <vt:lpstr>PowerPoint 演示文稿</vt:lpstr>
      <vt:lpstr>时间复杂度分析</vt:lpstr>
      <vt:lpstr>PowerPoint 演示文稿</vt:lpstr>
      <vt:lpstr>PowerPoint 演示文稿</vt:lpstr>
      <vt:lpstr>PowerPoint 演示文稿</vt:lpstr>
      <vt:lpstr>时间复杂度分析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 递归与分治策略</dc:title>
  <dc:creator>wang</dc:creator>
  <cp:lastModifiedBy>Administrator</cp:lastModifiedBy>
  <cp:revision>91</cp:revision>
  <cp:lastPrinted>2015-10-02T03:11:00Z</cp:lastPrinted>
  <dcterms:created xsi:type="dcterms:W3CDTF">2003-07-22T09:28:00Z</dcterms:created>
  <dcterms:modified xsi:type="dcterms:W3CDTF">2019-09-30T09:29:09Z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